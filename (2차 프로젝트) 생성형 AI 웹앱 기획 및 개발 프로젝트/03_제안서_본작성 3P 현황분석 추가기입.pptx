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2" r:id="rId2"/>
    <p:sldId id="289" r:id="rId3"/>
    <p:sldId id="259" r:id="rId4"/>
    <p:sldId id="295" r:id="rId5"/>
    <p:sldId id="292" r:id="rId6"/>
    <p:sldId id="297" r:id="rId7"/>
    <p:sldId id="298" r:id="rId8"/>
    <p:sldId id="299" r:id="rId9"/>
    <p:sldId id="296" r:id="rId10"/>
    <p:sldId id="290" r:id="rId11"/>
    <p:sldId id="257" r:id="rId12"/>
    <p:sldId id="291" r:id="rId13"/>
    <p:sldId id="287" r:id="rId14"/>
    <p:sldId id="283" r:id="rId15"/>
    <p:sldId id="279" r:id="rId16"/>
    <p:sldId id="286" r:id="rId17"/>
    <p:sldId id="281" r:id="rId18"/>
    <p:sldId id="261" r:id="rId19"/>
    <p:sldId id="293" r:id="rId20"/>
    <p:sldId id="262" r:id="rId21"/>
    <p:sldId id="294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746"/>
    <a:srgbClr val="F7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D40B9-442F-4379-B62C-50857005B014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AA1BA-B990-416E-92A8-7DD949855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65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3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99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15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25F1-9B96-434A-8F84-8E13385EE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8E24B-0332-48A5-BE72-7D6D7D5BC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54645-9418-4B00-808B-DCEA688D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10861-48B6-481D-92FB-14BBA461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56A97-60F8-410D-AC45-02B24A7A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3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4A16-7AFC-4E56-8116-359F22C1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6CDDD-6F0D-43D5-ACE9-CEE3629D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E97C0-0245-40CD-B32D-9A086157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1660-6F35-43EF-AA03-C9BAD6FB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00E5-7CAF-4E82-8745-DD95AF19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6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4B64-C4A1-4716-B6AA-9B1CFFB1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953C3-DC54-4B4F-936F-728ADFFFC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72A36-20C6-4384-9DB7-D8B15FB2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DD8A-B8D6-4223-B25E-1D027961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1C47-2930-4438-B29E-CB3587BB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8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5231-41DC-42AC-A996-A5876576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DF20-D71D-4455-9FB6-D9529AB5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126F5-90A0-49BC-B18A-E120A5B5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EDDDC-330C-4B8D-A3A2-D04878B3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BFB2-4AEF-4875-B5DD-4B00B66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F090D-5DD0-45A9-A07D-462AFDBB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581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60F6A-6F0D-4372-BB37-75AFDBB6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076-985E-4AE1-A13D-DB6E53A0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903C3-EFE3-4915-98D7-E22FC994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897D4-6C75-4354-835C-B88FCF75C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F3649-5C4B-4FA7-9082-F0226512E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454A8-E9EA-42F6-B46C-170C30CB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80141-BAED-4F7F-8403-7075ADB8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EE564-FC66-4A86-AF92-DFB13604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15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065A-E81B-4517-B4E7-4EC02FF7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6D705-C0B5-4213-A274-07C65FD1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75015-697E-45BF-8C33-976681E8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BA8F-2031-4F60-BBFC-E8758451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28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32EF1-D7E3-4909-8D32-C27D2E2BD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A86A5-7B94-431F-ADF6-637C10AC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0DB09-3EFF-4D81-B13F-8437B391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79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F734-C3B4-497A-94B3-566C3A20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84BF-856F-48C1-9D83-76115021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37885-2C0F-46EA-AC64-F71778F37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B7929-0F58-4F77-9E7D-3404B37A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31AD-4D8D-49B5-BF0A-E76592F0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14CB-8911-447F-84E7-92D96B9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2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FE16-EF20-469F-B4C1-2BB4ADBB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EEDCF2-7A87-4013-8665-D8A009774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7F6E-DEF1-4591-8CE4-5034CEFD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3A68D-BD39-409C-85CD-07FE60E7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A09B-3F3E-43B2-B916-AB21917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F1E6-7205-4AAA-A142-33EFA8824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40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6845-87EE-49C4-A54D-4DD88F5DE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F6E6A-4977-4CEC-A8D9-7064A8462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0440-3E4A-48C3-AACE-31A03175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55132-9CD7-4D8C-9500-57BA9DAA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02DDC-0868-49FA-A7B5-3DBED67D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3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B7006-E9B3-4984-8A5C-936F1BA9A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41A9-D43B-4632-BCCA-A9418D8D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B6C7C-AFE8-4214-B42F-E7F25661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8BBB-3BCE-46E4-84F5-006AEA9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7C3B-1CFD-4E17-ABB5-5ABD3B8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97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B4B4F1C-6A2C-42AD-91C2-CF0DFB3D0BC7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23227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96E590-9872-4B78-AF25-07765B3C7807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F8AB425-CE47-448A-A682-729483C69FDC}"/>
              </a:ext>
            </a:extLst>
          </p:cNvPr>
          <p:cNvSpPr/>
          <p:nvPr userDrawn="1"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294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8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3928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독립검증형 송금방지턱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823960" y="65196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30" dirty="0">
                <a:solidFill>
                  <a:srgbClr val="9CA9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FINANCIAL SAFETY PROPOSAL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5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EEB8-1A5C-44A5-B5C2-7E736071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D718-3418-4B18-B782-CCF9CEDA8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CCEB8-E72F-428B-8B58-F801AD8B6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F8D4E-5FA8-4A72-865B-9A72DC512BFC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2DB2-CDF2-401D-A12A-A35C25BBD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13C4-3B0A-46FB-A37B-2C939FBD8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49241-5778-423C-A2FB-A524109A9B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1" r:id="rId14"/>
    <p:sldLayoutId id="2147483662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10" Type="http://schemas.openxmlformats.org/officeDocument/2006/relationships/image" Target="../media/image25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0C0CB8F-415D-407B-8561-941E5B4C4356}"/>
              </a:ext>
            </a:extLst>
          </p:cNvPr>
          <p:cNvSpPr txBox="1"/>
          <p:nvPr/>
        </p:nvSpPr>
        <p:spPr>
          <a:xfrm>
            <a:off x="491798" y="3677109"/>
            <a:ext cx="6104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AI </a:t>
            </a:r>
            <a:r>
              <a:rPr lang="ko-KR" altLang="en-US" sz="140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독립검증 기반 보이스피싱 금융안전 서비스 제안서</a:t>
            </a:r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1E31A4B3-526D-4E88-A19C-2D7AFA70D160}"/>
              </a:ext>
            </a:extLst>
          </p:cNvPr>
          <p:cNvSpPr txBox="1"/>
          <p:nvPr/>
        </p:nvSpPr>
        <p:spPr>
          <a:xfrm>
            <a:off x="547516" y="616712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ko-KR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Team. </a:t>
            </a:r>
            <a:r>
              <a:rPr lang="ko-KR" altLang="en-US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rPr>
              <a:t>가드레일즈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7B1A6ED6-773F-42B8-8ED8-17738C505C8C}"/>
              </a:ext>
            </a:extLst>
          </p:cNvPr>
          <p:cNvSpPr/>
          <p:nvPr/>
        </p:nvSpPr>
        <p:spPr>
          <a:xfrm>
            <a:off x="7048500" y="0"/>
            <a:ext cx="514045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E268D-001A-4A65-B643-028EB914480F}"/>
              </a:ext>
            </a:extLst>
          </p:cNvPr>
          <p:cNvGrpSpPr/>
          <p:nvPr/>
        </p:nvGrpSpPr>
        <p:grpSpPr>
          <a:xfrm>
            <a:off x="547517" y="766064"/>
            <a:ext cx="5294484" cy="3352801"/>
            <a:chOff x="550563" y="766064"/>
            <a:chExt cx="5689815" cy="3352801"/>
          </a:xfrm>
        </p:grpSpPr>
        <p:sp>
          <p:nvSpPr>
            <p:cNvPr id="59" name="Shape 9">
              <a:extLst>
                <a:ext uri="{FF2B5EF4-FFF2-40B4-BE49-F238E27FC236}">
                  <a16:creationId xmlns:a16="http://schemas.microsoft.com/office/drawing/2014/main" id="{634C45B3-C238-4E3E-AEED-0B9672BB4F65}"/>
                </a:ext>
              </a:extLst>
            </p:cNvPr>
            <p:cNvSpPr/>
            <p:nvPr/>
          </p:nvSpPr>
          <p:spPr>
            <a:xfrm>
              <a:off x="550563" y="766064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</p:sp>
        <p:sp>
          <p:nvSpPr>
            <p:cNvPr id="57" name="Shape 9">
              <a:extLst>
                <a:ext uri="{FF2B5EF4-FFF2-40B4-BE49-F238E27FC236}">
                  <a16:creationId xmlns:a16="http://schemas.microsoft.com/office/drawing/2014/main" id="{09CB9E57-402C-4513-8361-0726DA1036CA}"/>
                </a:ext>
              </a:extLst>
            </p:cNvPr>
            <p:cNvSpPr/>
            <p:nvPr/>
          </p:nvSpPr>
          <p:spPr>
            <a:xfrm>
              <a:off x="550563" y="3543131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7C5AD97E-4F05-4367-AE0F-6916A16D68BF}"/>
                </a:ext>
              </a:extLst>
            </p:cNvPr>
            <p:cNvSpPr/>
            <p:nvPr/>
          </p:nvSpPr>
          <p:spPr>
            <a:xfrm>
              <a:off x="550563" y="4118865"/>
              <a:ext cx="5689815" cy="0"/>
            </a:xfrm>
            <a:prstGeom prst="line">
              <a:avLst/>
            </a:prstGeom>
            <a:noFill/>
            <a:ln w="12700">
              <a:solidFill>
                <a:srgbClr val="2A537D"/>
              </a:solidFill>
              <a:prstDash val="solid"/>
              <a:headEnd type="none"/>
              <a:tailEnd type="none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2DDACD-5AE2-44C9-8A2E-B51DE4B0AB0E}"/>
              </a:ext>
            </a:extLst>
          </p:cNvPr>
          <p:cNvGrpSpPr/>
          <p:nvPr/>
        </p:nvGrpSpPr>
        <p:grpSpPr>
          <a:xfrm>
            <a:off x="547516" y="593683"/>
            <a:ext cx="6104020" cy="2949448"/>
            <a:chOff x="550564" y="585216"/>
            <a:chExt cx="6104020" cy="2949448"/>
          </a:xfrm>
        </p:grpSpPr>
        <p:sp>
          <p:nvSpPr>
            <p:cNvPr id="7" name="Shape 5"/>
            <p:cNvSpPr/>
            <p:nvPr/>
          </p:nvSpPr>
          <p:spPr>
            <a:xfrm>
              <a:off x="550564" y="585216"/>
              <a:ext cx="2240280" cy="310896"/>
            </a:xfrm>
            <a:prstGeom prst="roundRect">
              <a:avLst>
                <a:gd name="adj" fmla="val 50000"/>
              </a:avLst>
            </a:prstGeom>
            <a:solidFill>
              <a:srgbClr val="18395D"/>
            </a:solidFill>
            <a:ln w="10160">
              <a:solidFill>
                <a:srgbClr val="244F7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623716" y="621792"/>
              <a:ext cx="209397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2026 </a:t>
              </a:r>
              <a:r>
                <a:rPr lang="ko-KR" alt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금융 </a:t>
              </a:r>
              <a:r>
                <a:rPr lang="en-US" sz="105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  <a:cs typeface="NanumSquare Bold" pitchFamily="34" charset="-120"/>
                </a:rPr>
                <a:t>AI Challenge</a:t>
              </a:r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550564" y="850392"/>
              <a:ext cx="6104020" cy="26842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보이스피싱이 만든 혼란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 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속에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금융소비자가 혼자 있지 않도록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함께 확인하고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  <a:p>
              <a:pPr marL="0" indent="0" algn="l">
                <a:buNone/>
              </a:pP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한 번 더 막아주는 </a:t>
              </a:r>
              <a:r>
                <a:rPr lang="en-US" altLang="ko-KR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AI</a:t>
              </a:r>
              <a:r>
                <a:rPr lang="ko-KR" altLang="en-US" sz="2800" b="1" dirty="0">
                  <a:solidFill>
                    <a:srgbClr val="0E2746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솔루션</a:t>
              </a:r>
              <a:endParaRPr lang="en-US" altLang="ko-KR" sz="2800" b="1" dirty="0">
                <a:solidFill>
                  <a:srgbClr val="0E2746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84BCE10-6885-4AD1-A68A-60F056C73D54}"/>
              </a:ext>
            </a:extLst>
          </p:cNvPr>
          <p:cNvSpPr/>
          <p:nvPr/>
        </p:nvSpPr>
        <p:spPr>
          <a:xfrm>
            <a:off x="7953865" y="766064"/>
            <a:ext cx="3340100" cy="6518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스마트폰 디바이스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안에 앱 로고</a:t>
            </a:r>
          </a:p>
        </p:txBody>
      </p:sp>
    </p:spTree>
    <p:extLst>
      <p:ext uri="{BB962C8B-B14F-4D97-AF65-F5344CB8AC3E}">
        <p14:creationId xmlns:p14="http://schemas.microsoft.com/office/powerpoint/2010/main" val="221824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6E8D74D-AC22-40D6-AD00-C60A385F8D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0" r="5720"/>
          <a:stretch/>
        </p:blipFill>
        <p:spPr>
          <a:xfrm>
            <a:off x="0" y="-12700"/>
            <a:ext cx="12192000" cy="6883400"/>
          </a:xfrm>
          <a:prstGeom prst="rect">
            <a:avLst/>
          </a:prstGeom>
        </p:spPr>
      </p:pic>
      <p:sp>
        <p:nvSpPr>
          <p:cNvPr id="13" name="Shape 0">
            <a:extLst>
              <a:ext uri="{FF2B5EF4-FFF2-40B4-BE49-F238E27FC236}">
                <a16:creationId xmlns:a16="http://schemas.microsoft.com/office/drawing/2014/main" id="{513B6724-1F32-4AB3-95A3-5DF13A0497F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1842F57-B99E-45AA-9322-69849BDD5513}"/>
              </a:ext>
            </a:extLst>
          </p:cNvPr>
          <p:cNvGrpSpPr/>
          <p:nvPr/>
        </p:nvGrpSpPr>
        <p:grpSpPr>
          <a:xfrm>
            <a:off x="676209" y="614224"/>
            <a:ext cx="10701275" cy="5835195"/>
            <a:chOff x="676209" y="626924"/>
            <a:chExt cx="10701275" cy="58351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8ADCEB-E50C-42A8-8F4D-A33A939F0E5D}"/>
                </a:ext>
              </a:extLst>
            </p:cNvPr>
            <p:cNvSpPr txBox="1"/>
            <p:nvPr/>
          </p:nvSpPr>
          <p:spPr>
            <a:xfrm>
              <a:off x="3051175" y="626924"/>
              <a:ext cx="6102350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사람의 불안과 취약점을 이용해</a:t>
              </a:r>
              <a:endParaRPr lang="en-US" altLang="ko-KR" sz="20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잘못된 판단을 유도하는 금융 범죄</a:t>
              </a:r>
            </a:p>
            <a:p>
              <a:pPr marL="0" indent="0" algn="ctr">
                <a:buNone/>
              </a:pPr>
              <a:r>
                <a:rPr lang="ko-KR" altLang="en-US" sz="6000" b="1" dirty="0">
                  <a:solidFill>
                    <a:schemeClr val="bg1"/>
                  </a:solidFill>
                  <a:latin typeface="페이퍼로지 9 Black" pitchFamily="2" charset="-127"/>
                  <a:ea typeface="페이퍼로지 9 Black" pitchFamily="2" charset="-127"/>
                  <a:cs typeface="NanumSquare Bold" pitchFamily="34" charset="-120"/>
                </a:rPr>
                <a:t>보이스피싱</a:t>
              </a:r>
              <a:endParaRPr lang="en-US" altLang="ko-KR" sz="6000" b="1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  <a:cs typeface="NanumSquare Bold" pitchFamily="34" charset="-12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2EADBD-3891-42CD-8D93-52D2B87ED37A}"/>
                </a:ext>
              </a:extLst>
            </p:cNvPr>
            <p:cNvSpPr txBox="1"/>
            <p:nvPr/>
          </p:nvSpPr>
          <p:spPr>
            <a:xfrm>
              <a:off x="2749550" y="5261790"/>
              <a:ext cx="668985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딥페이크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전화 가로채기</a:t>
              </a:r>
              <a:r>
                <a:rPr lang="en-US" altLang="ko-KR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… </a:t>
              </a: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끝없이 발전하는 수법</a:t>
              </a:r>
              <a:endParaRPr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피해를 막기위한 정부와 금융 기관의 끝없는 사투</a:t>
              </a:r>
              <a:endParaRPr lang="en-US" altLang="ko-KR" sz="14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0" indent="0" algn="ctr">
                <a:buNone/>
              </a:pPr>
              <a:endParaRPr lang="en-US" altLang="ko-KR" sz="4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pPr marL="0" indent="0" algn="ctr">
                <a:buNone/>
              </a:pP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원이라도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단 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1</a:t>
              </a:r>
              <a:r>
                <a:rPr lang="ko-KR" altLang="en-US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명이라도</a:t>
              </a:r>
              <a:r>
                <a:rPr lang="en-US" altLang="ko-KR" sz="20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더 지키기 위해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  <a:p>
              <a:pPr marL="0" indent="0" algn="ctr">
                <a:buNone/>
              </a:pPr>
              <a:r>
                <a:rPr lang="ko-KR" altLang="en-US" sz="20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  <a:cs typeface="NanumSquare Bold" pitchFamily="34" charset="-120"/>
                </a:rPr>
                <a:t>함께 고민하고 해결해야 할 중대한 사회적 문제</a:t>
              </a:r>
              <a:endParaRPr lang="en-US" altLang="ko-KR" sz="20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  <a:cs typeface="NanumSquare Bold" pitchFamily="34" charset="-12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DD5DB-927E-4576-9A6F-EF9B87C9EA69}"/>
                </a:ext>
              </a:extLst>
            </p:cNvPr>
            <p:cNvSpPr/>
            <p:nvPr/>
          </p:nvSpPr>
          <p:spPr>
            <a:xfrm>
              <a:off x="676209" y="2630839"/>
              <a:ext cx="3359152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노인들에게 ‘100억원’ 뜯어낸 피싱 일당… 112 신고 전화까지 가로챘다 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매일경제</a:t>
              </a:r>
              <a:r>
                <a:rPr lang="en-US" altLang="ko-KR" sz="1400" b="0" i="0" dirty="0">
                  <a:effectLst/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43EDA0-F05D-4C52-A723-643E3D87EDEC}"/>
                </a:ext>
              </a:extLst>
            </p:cNvPr>
            <p:cNvSpPr/>
            <p:nvPr/>
          </p:nvSpPr>
          <p:spPr>
            <a:xfrm>
              <a:off x="7921497" y="2893792"/>
              <a:ext cx="293687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보이스피싱 피해액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반토막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’… </a:t>
              </a:r>
            </a:p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월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337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억원으로 올해 최저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한국일보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43F7C86-A66C-4412-878D-BBA05B9DA175}"/>
                </a:ext>
              </a:extLst>
            </p:cNvPr>
            <p:cNvSpPr/>
            <p:nvPr/>
          </p:nvSpPr>
          <p:spPr>
            <a:xfrm>
              <a:off x="2093784" y="3497536"/>
              <a:ext cx="3214816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오늘 소방점검 나가요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"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전화에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덜컥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’..</a:t>
              </a:r>
            </a:p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알고보니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'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노쇼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’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제주방송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81DD3-DA06-47E6-8A81-238A4BEB83AC}"/>
                </a:ext>
              </a:extLst>
            </p:cNvPr>
            <p:cNvSpPr/>
            <p:nvPr/>
          </p:nvSpPr>
          <p:spPr>
            <a:xfrm>
              <a:off x="7402384" y="4054327"/>
              <a:ext cx="3975100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경찰청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-KT,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협업으로 보이스피싱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구매대행 사기 불법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010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번호 변작 중계소 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115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개소 단속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정책브리핑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17E3725-0C33-4292-A88D-07EA5E88446D}"/>
                </a:ext>
              </a:extLst>
            </p:cNvPr>
            <p:cNvSpPr txBox="1"/>
            <p:nvPr/>
          </p:nvSpPr>
          <p:spPr>
            <a:xfrm>
              <a:off x="5421715" y="2198340"/>
              <a:ext cx="13612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범죄 </a:t>
              </a:r>
              <a:r>
                <a:rPr lang="en-US" altLang="ko-KR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vs </a:t>
              </a:r>
              <a:r>
                <a:rPr lang="ko-KR" altLang="en-US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대책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B5F2574-374C-4458-803C-1D887BF70E66}"/>
                </a:ext>
              </a:extLst>
            </p:cNvPr>
            <p:cNvSpPr/>
            <p:nvPr/>
          </p:nvSpPr>
          <p:spPr>
            <a:xfrm>
              <a:off x="1269936" y="4370417"/>
              <a:ext cx="2765425" cy="545534"/>
            </a:xfrm>
            <a:prstGeom prst="rect">
              <a:avLst/>
            </a:prstGeom>
            <a:solidFill>
              <a:schemeClr val="bg1"/>
            </a:solidFill>
            <a:ln w="12700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대출 미끼로 계좌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·OTP 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받아 보이스피싱 자금세탁</a:t>
              </a:r>
              <a:r>
                <a:rPr lang="en-US" altLang="ko-KR" sz="1400" dirty="0">
                  <a:latin typeface="페이퍼로지 7 Bold" pitchFamily="2" charset="-127"/>
                  <a:ea typeface="페이퍼로지 7 Bold" pitchFamily="2" charset="-127"/>
                </a:rPr>
                <a:t>…3</a:t>
              </a:r>
              <a:r>
                <a:rPr lang="ko-KR" altLang="en-US" sz="1400" dirty="0">
                  <a:latin typeface="페이퍼로지 7 Bold" pitchFamily="2" charset="-127"/>
                  <a:ea typeface="페이퍼로지 7 Bold" pitchFamily="2" charset="-127"/>
                </a:rPr>
                <a:t>명 구속 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400" dirty="0">
                  <a:latin typeface="페이퍼로지 4 Regular" pitchFamily="2" charset="-127"/>
                  <a:ea typeface="페이퍼로지 4 Regular" pitchFamily="2" charset="-127"/>
                </a:rPr>
                <a:t>서울신문</a:t>
              </a:r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8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현황분석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이미 사회가 이 문제를 방치하고 있지 않다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보호체계를 세 주체로 나누어 정리하고, “기존 대응은 효과가 있다”는 전제를 명확히 만드는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090672" cy="304495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157984"/>
            <a:ext cx="475488" cy="475488"/>
          </a:xfrm>
          <a:prstGeom prst="ellipse">
            <a:avLst/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2167128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72184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금융기관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932688" y="2926080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28620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이상거래</a:t>
            </a: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탐지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-AI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기술 접목과 기관 간 정보 공유를 통해 대규모 금융사기 피해를 예방하는 성과를 거두었다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" y="3374136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33856" y="3215639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ASAP 등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</a:t>
            </a: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위험정보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금융회사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통신사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수사기관이 보이스피싱과 관련된 외부 위험 정보를 실시간으로 공유하고 차단하는 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기반 플랫폼</a:t>
            </a:r>
            <a:b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총 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46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만 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r>
              <a:rPr lang="ko-KR" alt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천건의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의심정보를 공유하며 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663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억 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천만원의 피해를 차단했다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" y="3822192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33856" y="3771899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지연이체 ·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지급정지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피해를 예방하고 은닉 자금을 차단하는데 핵심적인 성과를 거두었다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" y="4270248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33856" y="4160519"/>
            <a:ext cx="2286000" cy="4575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전자금융사기 예방서비스</a:t>
            </a:r>
            <a:b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</a:b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-1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일 누적 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100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만원 이상 </a:t>
            </a:r>
            <a:r>
              <a:rPr lang="ko-KR" altLang="en-US" sz="1150" dirty="0" err="1">
                <a:solidFill>
                  <a:srgbClr val="FF0000"/>
                </a:solidFill>
                <a:latin typeface="NanumSquare" pitchFamily="34" charset="0"/>
              </a:rPr>
              <a:t>이체등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 주요거래시 본인 명의 </a:t>
            </a:r>
            <a:r>
              <a:rPr lang="ko-KR" altLang="en-US" sz="1150" dirty="0" err="1">
                <a:solidFill>
                  <a:srgbClr val="FF0000"/>
                </a:solidFill>
                <a:latin typeface="NanumSquare" pitchFamily="34" charset="0"/>
              </a:rPr>
              <a:t>휴대폰등으로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 추가 인증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(ARS)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거친 후 거래가능</a:t>
            </a:r>
            <a:b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</a:b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-1~7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월 보이스피싱 발생건수 </a:t>
            </a:r>
            <a:r>
              <a:rPr lang="ko-KR" altLang="en-US" sz="1150" dirty="0" err="1">
                <a:solidFill>
                  <a:srgbClr val="FF0000"/>
                </a:solidFill>
                <a:latin typeface="NanumSquare" pitchFamily="34" charset="0"/>
              </a:rPr>
              <a:t>전녕동기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 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54%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감소함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.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133088" y="1920240"/>
            <a:ext cx="3090672" cy="304495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2157984"/>
            <a:ext cx="475488" cy="475488"/>
          </a:xfrm>
          <a:prstGeom prst="ellipse">
            <a:avLst/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52544" y="2167128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7CF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65192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정부 · 공공기관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4425696" y="2926080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26864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신고 ·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피해구제</a:t>
            </a: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체계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원스톱 신고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단계별 피해 구제 절차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25696" y="3374136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26864" y="3264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 ·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홍보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범정부 대응 및 콘텐츠 배포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생활 밀착형 현장홍보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찾아가는 현장교육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25696" y="3822192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26864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법적 기준 및 처벌 강화</a:t>
            </a:r>
            <a:b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</a:b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-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형법상 사기죄 징역 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20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년 벌금 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5000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만원 이하로 상향되어 가중 시 최대 징역 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30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년 처벌 가능함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.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425696" y="4270248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26864" y="4160519"/>
            <a:ext cx="2286000" cy="5489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공식기관 </a:t>
            </a:r>
            <a:r>
              <a:rPr lang="en-US" sz="1150" dirty="0" err="1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확인</a:t>
            </a:r>
            <a:r>
              <a:rPr 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채널</a:t>
            </a:r>
            <a:br>
              <a:rPr 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서류의 진위여부를 실시간으로 확인할 수 있는 대표적 공식채널</a:t>
            </a:r>
            <a:br>
              <a:rPr lang="en-US" altLang="ko-KR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altLang="ko-KR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 err="1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대검창철</a:t>
            </a:r>
            <a:r>
              <a:rPr lang="ko-KR" alt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1150" dirty="0" err="1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찐센터</a:t>
            </a:r>
            <a:r>
              <a:rPr lang="en-US" altLang="ko-KR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highlight>
                  <a:srgbClr val="FFFF00"/>
                </a:highlight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보호나라</a:t>
            </a:r>
            <a:endParaRPr lang="en-US" sz="1150" dirty="0">
              <a:highlight>
                <a:srgbClr val="FFFF00"/>
              </a:highlight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26096" y="1920240"/>
            <a:ext cx="3090672" cy="304495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45552" y="2157984"/>
            <a:ext cx="475488" cy="475488"/>
          </a:xfrm>
          <a:prstGeom prst="ellipse">
            <a:avLst/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45552" y="2167128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통신사 · 보안업체</a:t>
            </a:r>
            <a:endParaRPr lang="en-US" sz="1620" dirty="0"/>
          </a:p>
        </p:txBody>
      </p:sp>
      <p:sp>
        <p:nvSpPr>
          <p:cNvPr id="38" name="Shape 36"/>
          <p:cNvSpPr/>
          <p:nvPr/>
        </p:nvSpPr>
        <p:spPr>
          <a:xfrm>
            <a:off x="7918704" y="2926080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19872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스팸번호</a:t>
            </a: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탐지</a:t>
            </a:r>
            <a:endParaRPr lang="en-US" sz="1150" dirty="0">
              <a:solidFill>
                <a:srgbClr val="10213D"/>
              </a:solidFill>
              <a:latin typeface="NanumSquare" pitchFamily="34" charset="0"/>
              <a:ea typeface="NanumSquare" pitchFamily="34" charset="-122"/>
              <a:cs typeface="NanumSquare" pitchFamily="34" charset="-120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통신사 주요 앱별 탐지 서비스</a:t>
            </a:r>
            <a:b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</a:b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아까 찾은 통신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3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사 </a:t>
            </a:r>
            <a:r>
              <a:rPr lang="ko-KR" alt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탐지앱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(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예 </a:t>
            </a:r>
            <a:r>
              <a:rPr lang="ko-KR" alt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에이닷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,</a:t>
            </a:r>
            <a:r>
              <a:rPr lang="ko-KR" alt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익시오등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</a:rPr>
              <a:t>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918704" y="3374136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19872" y="3264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 앱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차단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-AI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분석과 경찰청 연계 시스템을 통해 보이스피싱 및 악성 앱 탐지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/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차단 기능</a:t>
            </a:r>
            <a:b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-AI </a:t>
            </a:r>
            <a:r>
              <a:rPr lang="ko-KR" alt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스미싱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차단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경찰청 현장 출동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ASAP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18704" y="3822192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29016" y="3867596"/>
            <a:ext cx="2286000" cy="292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l">
              <a:buNone/>
            </a:pP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발신번호 </a:t>
            </a:r>
            <a:r>
              <a:rPr lang="ko-KR" altLang="en-US" sz="1150" dirty="0" err="1">
                <a:solidFill>
                  <a:srgbClr val="FF0000"/>
                </a:solidFill>
                <a:latin typeface="NanumSquare" pitchFamily="34" charset="0"/>
              </a:rPr>
              <a:t>변작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 차단</a:t>
            </a:r>
            <a:b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</a:b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-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보이스피싱 조직이 해외 인터넷 전화를 국내 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</a:rPr>
              <a:t>010 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</a:rPr>
              <a:t>휴대전화 번호나 공공 금융기관 번호로 속여 발신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918704" y="4270248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19872" y="4160519"/>
            <a:ext cx="2286000" cy="5123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통신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기반</a:t>
            </a: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위험신호</a:t>
            </a:r>
            <a:b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인공지능과 빅데이터를 활용해 통화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/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문자 기반의 위험 신호를 실시간으로 감지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차단함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b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음성패턴 분석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통화내용 실시간 분석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비정상 회선 이용패턴</a:t>
            </a:r>
            <a:r>
              <a:rPr lang="en-US" altLang="ko-KR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, </a:t>
            </a:r>
            <a:r>
              <a:rPr lang="ko-KR" alt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유관기관 실시간 정보공유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5230368"/>
            <a:ext cx="10076688" cy="713232"/>
          </a:xfrm>
          <a:prstGeom prst="roundRect">
            <a:avLst>
              <a:gd name="adj" fmla="val 20513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7824" y="5385816"/>
            <a:ext cx="7114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안전장치는 실제 예방·차단 효과를 만들어내고 있다</a:t>
            </a:r>
            <a:endParaRPr lang="en-US" sz="1520" dirty="0"/>
          </a:p>
        </p:txBody>
      </p:sp>
      <p:sp>
        <p:nvSpPr>
          <p:cNvPr id="48" name="Shape 46"/>
          <p:cNvSpPr/>
          <p:nvPr/>
        </p:nvSpPr>
        <p:spPr>
          <a:xfrm>
            <a:off x="8641080" y="5422392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714232" y="544982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대표 성과 1~3건</a:t>
            </a:r>
            <a:endParaRPr lang="en-US" sz="10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A0D3830-2A68-05EE-78AB-04F2E4A5CC71}"/>
              </a:ext>
            </a:extLst>
          </p:cNvPr>
          <p:cNvGrpSpPr/>
          <p:nvPr/>
        </p:nvGrpSpPr>
        <p:grpSpPr>
          <a:xfrm>
            <a:off x="521208" y="7041195"/>
            <a:ext cx="10314432" cy="621792"/>
            <a:chOff x="548640" y="5413248"/>
            <a:chExt cx="10314432" cy="621792"/>
          </a:xfrm>
        </p:grpSpPr>
        <p:sp>
          <p:nvSpPr>
            <p:cNvPr id="54" name="Shape 40">
              <a:extLst>
                <a:ext uri="{FF2B5EF4-FFF2-40B4-BE49-F238E27FC236}">
                  <a16:creationId xmlns:a16="http://schemas.microsoft.com/office/drawing/2014/main" id="{5A3D2984-DE95-E759-310A-9343A5A61B5B}"/>
                </a:ext>
              </a:extLst>
            </p:cNvPr>
            <p:cNvSpPr/>
            <p:nvPr/>
          </p:nvSpPr>
          <p:spPr>
            <a:xfrm>
              <a:off x="548640" y="5413248"/>
              <a:ext cx="10314432" cy="621792"/>
            </a:xfrm>
            <a:prstGeom prst="roundRect">
              <a:avLst>
                <a:gd name="adj" fmla="val 17647"/>
              </a:avLst>
            </a:prstGeom>
            <a:solidFill>
              <a:srgbClr val="0A3D31"/>
            </a:solidFill>
            <a:ln w="12700">
              <a:solidFill>
                <a:srgbClr val="0A3D31"/>
              </a:solidFill>
              <a:prstDash val="solid"/>
            </a:ln>
          </p:spPr>
        </p:sp>
        <p:sp>
          <p:nvSpPr>
            <p:cNvPr id="55" name="Text 41">
              <a:extLst>
                <a:ext uri="{FF2B5EF4-FFF2-40B4-BE49-F238E27FC236}">
                  <a16:creationId xmlns:a16="http://schemas.microsoft.com/office/drawing/2014/main" id="{11986C9E-9072-B0EC-21DC-0D7A43E02789}"/>
                </a:ext>
              </a:extLst>
            </p:cNvPr>
            <p:cNvSpPr/>
            <p:nvPr/>
          </p:nvSpPr>
          <p:spPr>
            <a:xfrm>
              <a:off x="804672" y="5596128"/>
              <a:ext cx="2011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30" b="1" dirty="0">
                  <a:solidFill>
                    <a:srgbClr val="B8E7D5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대표 성과 / 효과 데이터 영역</a:t>
              </a:r>
              <a:endParaRPr lang="en-US" sz="1030" dirty="0"/>
            </a:p>
          </p:txBody>
        </p:sp>
        <p:sp>
          <p:nvSpPr>
            <p:cNvPr id="56" name="Text 42">
              <a:extLst>
                <a:ext uri="{FF2B5EF4-FFF2-40B4-BE49-F238E27FC236}">
                  <a16:creationId xmlns:a16="http://schemas.microsoft.com/office/drawing/2014/main" id="{B045BE66-50F4-0281-00FF-2DD0759E3539}"/>
                </a:ext>
              </a:extLst>
            </p:cNvPr>
            <p:cNvSpPr/>
            <p:nvPr/>
          </p:nvSpPr>
          <p:spPr>
            <a:xfrm>
              <a:off x="2788920" y="5568696"/>
              <a:ext cx="765352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FDS · ASAP 등 기존 안전장치가 실제 효과를 내고 있다는 근거 1~3건 배치</a:t>
              </a:r>
              <a:endParaRPr lang="en-US" sz="1100" dirty="0"/>
            </a:p>
          </p:txBody>
        </p:sp>
      </p:grpSp>
      <p:sp>
        <p:nvSpPr>
          <p:cNvPr id="57" name="Text 41">
            <a:extLst>
              <a:ext uri="{FF2B5EF4-FFF2-40B4-BE49-F238E27FC236}">
                <a16:creationId xmlns:a16="http://schemas.microsoft.com/office/drawing/2014/main" id="{96D9ADFE-2D9D-913B-F0DA-B706E0E1AA3D}"/>
              </a:ext>
            </a:extLst>
          </p:cNvPr>
          <p:cNvSpPr txBox="1"/>
          <p:nvPr/>
        </p:nvSpPr>
        <p:spPr>
          <a:xfrm>
            <a:off x="8110728" y="3634847"/>
            <a:ext cx="2286000" cy="2042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의심 문자 · </a:t>
            </a:r>
            <a:r>
              <a:rPr lang="en-US" sz="1150" dirty="0" err="1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전화</a:t>
            </a:r>
            <a:r>
              <a:rPr 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50" dirty="0" err="1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탐지</a:t>
            </a:r>
            <a:br>
              <a:rPr 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</a:br>
            <a:r>
              <a:rPr 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-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스팸번호 탐지와 같은 분류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.(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통신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r>
              <a:rPr lang="ko-KR" altLang="en-US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</a:t>
            </a:r>
            <a:r>
              <a:rPr lang="en-US" altLang="ko-KR" sz="1150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)</a:t>
            </a:r>
            <a:endParaRPr lang="en-US" sz="11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619D41-1D28-0C91-FD52-3DCDE8226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17" y="1478099"/>
            <a:ext cx="4147042" cy="48181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2CD5D13-F079-C7AC-F93C-372DDC3F79F4}"/>
              </a:ext>
            </a:extLst>
          </p:cNvPr>
          <p:cNvSpPr/>
          <p:nvPr/>
        </p:nvSpPr>
        <p:spPr>
          <a:xfrm>
            <a:off x="357051" y="217714"/>
            <a:ext cx="4049486" cy="88827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피해구제 신고센터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B4190C-AF9A-B8FE-ED25-40E5F17EA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402" y="2608318"/>
            <a:ext cx="4635862" cy="36879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51B0C9-F89B-CD89-65BA-816101D49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402" y="217714"/>
            <a:ext cx="2079582" cy="22903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BA59119-D031-35FF-F5B4-9347E7634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849" y="217714"/>
            <a:ext cx="2128838" cy="21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3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C08827-E502-9E98-93C7-A5712B5128B0}"/>
              </a:ext>
            </a:extLst>
          </p:cNvPr>
          <p:cNvSpPr/>
          <p:nvPr/>
        </p:nvSpPr>
        <p:spPr>
          <a:xfrm>
            <a:off x="357051" y="217714"/>
            <a:ext cx="4049486" cy="88827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공식기관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7010FD-358F-32F7-321B-1144C5DED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962" y="1293508"/>
            <a:ext cx="4049486" cy="439193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AA0E1F-967B-0F51-BEE6-FC557AF76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538" y="1672046"/>
            <a:ext cx="4164635" cy="21294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6F0A29C-6471-215B-D789-42404945F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51" y="1672046"/>
            <a:ext cx="3165231" cy="390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78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12B116-E387-25B6-FD84-781055E5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11" y="261257"/>
            <a:ext cx="2801273" cy="34065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853BFA-D81D-358C-A6D4-88D65ADF429D}"/>
              </a:ext>
            </a:extLst>
          </p:cNvPr>
          <p:cNvSpPr txBox="1"/>
          <p:nvPr/>
        </p:nvSpPr>
        <p:spPr>
          <a:xfrm>
            <a:off x="1249319" y="3667805"/>
            <a:ext cx="3039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LGU+ </a:t>
            </a:r>
            <a:r>
              <a:rPr lang="ko-KR" altLang="en-US" dirty="0" err="1"/>
              <a:t>안티딥보이스</a:t>
            </a:r>
            <a:r>
              <a:rPr lang="en-US" altLang="ko-KR" dirty="0"/>
              <a:t>(</a:t>
            </a:r>
            <a:r>
              <a:rPr lang="ko-KR" altLang="en-US" dirty="0" err="1"/>
              <a:t>익시오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FC1E3-5543-F53D-E050-BA1223D30481}"/>
              </a:ext>
            </a:extLst>
          </p:cNvPr>
          <p:cNvSpPr txBox="1"/>
          <p:nvPr/>
        </p:nvSpPr>
        <p:spPr>
          <a:xfrm>
            <a:off x="9312259" y="261257"/>
            <a:ext cx="131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Kt </a:t>
            </a:r>
            <a:r>
              <a:rPr lang="ko-KR" altLang="en-US" dirty="0" err="1"/>
              <a:t>후후앱</a:t>
            </a:r>
            <a:endParaRPr lang="ko-KR" altLang="en-US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EBA226B3-408B-A39F-F00B-1620444E8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259" y="3852471"/>
            <a:ext cx="2777977" cy="244438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1472E8-227A-FD30-23A5-5D8F44612DD0}"/>
              </a:ext>
            </a:extLst>
          </p:cNvPr>
          <p:cNvSpPr txBox="1"/>
          <p:nvPr/>
        </p:nvSpPr>
        <p:spPr>
          <a:xfrm>
            <a:off x="8675231" y="3171549"/>
            <a:ext cx="1733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Skt</a:t>
            </a:r>
            <a:r>
              <a:rPr lang="en-US" altLang="ko-KR" dirty="0"/>
              <a:t> </a:t>
            </a:r>
            <a:r>
              <a:rPr lang="ko-KR" altLang="en-US" dirty="0" err="1"/>
              <a:t>에이닷</a:t>
            </a:r>
            <a:r>
              <a:rPr lang="ko-KR" altLang="en-US" dirty="0"/>
              <a:t> 앱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635CD0B-C586-4018-550D-219847571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475" y="3516902"/>
            <a:ext cx="3926784" cy="307925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8BADE3E-AD4F-1F5B-4E1E-538DDD28A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651" y="175416"/>
            <a:ext cx="3184720" cy="290383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7198F60-6F4D-9F1F-18C9-9B5D71E9B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571" y="261258"/>
            <a:ext cx="2623735" cy="340654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55A72B-5F9E-9505-C447-D778C2CF7588}"/>
              </a:ext>
            </a:extLst>
          </p:cNvPr>
          <p:cNvSpPr/>
          <p:nvPr/>
        </p:nvSpPr>
        <p:spPr>
          <a:xfrm>
            <a:off x="679268" y="4772297"/>
            <a:ext cx="4049486" cy="88827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통신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사 </a:t>
            </a:r>
            <a:r>
              <a:rPr lang="en-US" altLang="ko-KR" dirty="0" err="1">
                <a:solidFill>
                  <a:schemeClr val="bg1"/>
                </a:solidFill>
              </a:rPr>
              <a:t>skt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en-US" altLang="ko-KR" dirty="0" err="1">
                <a:solidFill>
                  <a:schemeClr val="bg1"/>
                </a:solidFill>
              </a:rPr>
              <a:t>lgu</a:t>
            </a:r>
            <a:r>
              <a:rPr lang="en-US" altLang="ko-KR" dirty="0">
                <a:solidFill>
                  <a:schemeClr val="bg1"/>
                </a:solidFill>
              </a:rPr>
              <a:t>+, kt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7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DF8930E-4484-BB5E-9DCF-83993803B892}"/>
              </a:ext>
            </a:extLst>
          </p:cNvPr>
          <p:cNvSpPr/>
          <p:nvPr/>
        </p:nvSpPr>
        <p:spPr>
          <a:xfrm>
            <a:off x="357051" y="217714"/>
            <a:ext cx="4049486" cy="88827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금융 위원회</a:t>
            </a:r>
            <a:r>
              <a:rPr lang="en-US" altLang="ko-KR" dirty="0">
                <a:solidFill>
                  <a:schemeClr val="bg1"/>
                </a:solidFill>
              </a:rPr>
              <a:t>(ASAP)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FD7DD6-B56F-0441-FFE9-C7425D193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0" y="1348486"/>
            <a:ext cx="3204755" cy="31364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F58443F-B49E-DBBB-9A5B-824AA565B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348486"/>
            <a:ext cx="2753227" cy="30305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C5BDE7-9DCC-B75D-EDCE-71EDF97B9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617" y="372290"/>
            <a:ext cx="3803469" cy="380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6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35DA530-0C28-113D-15F3-B0695428F60C}"/>
              </a:ext>
            </a:extLst>
          </p:cNvPr>
          <p:cNvSpPr/>
          <p:nvPr/>
        </p:nvSpPr>
        <p:spPr>
          <a:xfrm>
            <a:off x="357051" y="217714"/>
            <a:ext cx="4049486" cy="888275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보이스피싱 통합대응단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B0FB26CC-F7FB-8BD7-249E-E788E7350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660192"/>
            <a:ext cx="5400040" cy="22250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F27E9-4F83-69DE-9B00-8959307EE72E}"/>
              </a:ext>
            </a:extLst>
          </p:cNvPr>
          <p:cNvSpPr txBox="1"/>
          <p:nvPr/>
        </p:nvSpPr>
        <p:spPr>
          <a:xfrm>
            <a:off x="447040" y="1198424"/>
            <a:ext cx="292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연도별 스팸 </a:t>
            </a:r>
            <a:r>
              <a:rPr lang="ko-KR" altLang="en-US" dirty="0" err="1"/>
              <a:t>수신량</a:t>
            </a:r>
            <a:r>
              <a:rPr lang="ko-KR" altLang="en-US" dirty="0"/>
              <a:t> 현황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2E6FFF-1B25-DC30-FCA2-C17BA8DFB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922" y="956378"/>
            <a:ext cx="3657600" cy="1439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61A9C-564D-D436-2297-2D3F373587EF}"/>
              </a:ext>
            </a:extLst>
          </p:cNvPr>
          <p:cNvSpPr txBox="1"/>
          <p:nvPr/>
        </p:nvSpPr>
        <p:spPr>
          <a:xfrm>
            <a:off x="6167015" y="217714"/>
            <a:ext cx="55285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-25</a:t>
            </a:r>
            <a:r>
              <a:rPr lang="ko-KR" altLang="ko-KR" sz="1400" dirty="0"/>
              <a:t>년 </a:t>
            </a:r>
            <a:r>
              <a:rPr lang="en-US" altLang="ko-KR" sz="1400" dirty="0"/>
              <a:t>8</a:t>
            </a:r>
            <a:r>
              <a:rPr lang="ko-KR" altLang="ko-KR" sz="1400" dirty="0"/>
              <a:t>월 </a:t>
            </a:r>
            <a:r>
              <a:rPr lang="en-US" altLang="ko-KR" sz="1400" dirty="0"/>
              <a:t>“</a:t>
            </a:r>
            <a:r>
              <a:rPr lang="ko-KR" altLang="ko-KR" sz="1400" dirty="0"/>
              <a:t>보이스피싱 근절 종합대책</a:t>
            </a:r>
            <a:r>
              <a:rPr lang="en-US" altLang="ko-KR" sz="1400" dirty="0"/>
              <a:t>” </a:t>
            </a:r>
            <a:r>
              <a:rPr lang="ko-KR" altLang="ko-KR" sz="1400" dirty="0"/>
              <a:t>수립</a:t>
            </a:r>
            <a:r>
              <a:rPr lang="en-US" altLang="ko-KR" sz="1400" dirty="0"/>
              <a:t>/</a:t>
            </a:r>
            <a:r>
              <a:rPr lang="ko-KR" altLang="ko-KR" sz="1400" dirty="0"/>
              <a:t>실행 대응 체계 완비</a:t>
            </a:r>
          </a:p>
          <a:p>
            <a:pPr fontAlgn="base"/>
            <a:r>
              <a:rPr lang="en-US" altLang="ko-KR" sz="1400" dirty="0"/>
              <a:t>-</a:t>
            </a:r>
            <a:r>
              <a:rPr lang="ko-KR" altLang="ko-KR" sz="1400" dirty="0"/>
              <a:t>범죄 이용 전화번호 긴급 차단</a:t>
            </a:r>
            <a:r>
              <a:rPr lang="en-US" altLang="ko-KR" sz="1400" dirty="0"/>
              <a:t>/</a:t>
            </a:r>
            <a:r>
              <a:rPr lang="ko-KR" altLang="ko-KR" sz="1400" dirty="0"/>
              <a:t>전기통신금융사기 통합대응단 출범</a:t>
            </a:r>
            <a:r>
              <a:rPr lang="en-US" altLang="ko-KR" sz="1400" dirty="0"/>
              <a:t>/</a:t>
            </a:r>
            <a:r>
              <a:rPr lang="ko-KR" altLang="ko-KR" sz="1400" dirty="0"/>
              <a:t>정보공유 </a:t>
            </a:r>
            <a:r>
              <a:rPr lang="en-US" altLang="ko-KR" sz="1400" dirty="0"/>
              <a:t>AI</a:t>
            </a:r>
            <a:r>
              <a:rPr lang="ko-KR" altLang="ko-KR" sz="1400" dirty="0" err="1"/>
              <a:t>플랫폼등</a:t>
            </a:r>
            <a:endParaRPr lang="ko-KR" altLang="ko-KR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02DA4BF-5FC1-E93F-933A-EA6E9846F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522" y="2525161"/>
            <a:ext cx="1770845" cy="23476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86B42CE-9AB9-0B4B-89C5-208C46BD0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907" y="2657272"/>
            <a:ext cx="1532586" cy="15434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F4F2F00-4107-8A2D-8339-B71507B8F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7478" y="4300968"/>
            <a:ext cx="2176530" cy="21400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CF3F1E-975D-7E80-5BC4-C50A1EEE6D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40" y="4262057"/>
            <a:ext cx="2292439" cy="221790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D33D2E-D75C-BB9C-D63D-D156992251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5471" y="2519324"/>
            <a:ext cx="1719330" cy="173152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6445FBA-BE84-9F73-4988-8CF6FDC38D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6885" y="4300968"/>
            <a:ext cx="1880315" cy="18936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51E16E6-89E9-1488-91AA-11F201AF9A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197" y="4524703"/>
            <a:ext cx="1577662" cy="144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22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3366C4-9503-4C26-8E4D-48B424529072}"/>
              </a:ext>
            </a:extLst>
          </p:cNvPr>
          <p:cNvSpPr txBox="1"/>
          <p:nvPr/>
        </p:nvSpPr>
        <p:spPr>
          <a:xfrm>
            <a:off x="3050177" y="3246511"/>
            <a:ext cx="610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성과가 </a:t>
            </a:r>
            <a:r>
              <a:rPr lang="ko-KR" altLang="en-US" sz="1800" dirty="0" err="1"/>
              <a:t>어떻다ㅏ</a:t>
            </a:r>
            <a:r>
              <a:rPr lang="en-US" altLang="ko-KR" sz="1800" dirty="0"/>
              <a:t>~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46504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>
            <a:extLst>
              <a:ext uri="{FF2B5EF4-FFF2-40B4-BE49-F238E27FC236}">
                <a16:creationId xmlns:a16="http://schemas.microsoft.com/office/drawing/2014/main" id="{8180EA9B-D86F-480A-827F-E6A6E0D31C69}"/>
              </a:ext>
            </a:extLst>
          </p:cNvPr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54" name="Shape 1">
            <a:extLst>
              <a:ext uri="{FF2B5EF4-FFF2-40B4-BE49-F238E27FC236}">
                <a16:creationId xmlns:a16="http://schemas.microsoft.com/office/drawing/2014/main" id="{A1E94AE9-4178-4DF3-81BE-A4F0E14FB13D}"/>
              </a:ext>
            </a:extLst>
          </p:cNvPr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0261E3B0-CF1D-4497-96E2-3E47E2AE44B6}"/>
              </a:ext>
            </a:extLst>
          </p:cNvPr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77510202-A46B-4098-B6BE-16242DFE16B5}"/>
              </a:ext>
            </a:extLst>
          </p:cNvPr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14DC0ADE-DD2D-4DB4-9ADF-13F891CE62C7}"/>
              </a:ext>
            </a:extLst>
          </p:cNvPr>
          <p:cNvSpPr txBox="1"/>
          <p:nvPr/>
        </p:nvSpPr>
        <p:spPr>
          <a:xfrm>
            <a:off x="-64242" y="162899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  <a:cs typeface="NanumSquare Bold" pitchFamily="34" charset="-120"/>
              </a:rPr>
              <a:t>현황분석</a:t>
            </a:r>
            <a:endParaRPr lang="en-US" sz="1050" dirty="0">
              <a:solidFill>
                <a:srgbClr val="0E2746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3AB1DBD-1697-472F-9AD7-5B9857EAF0DD}"/>
              </a:ext>
            </a:extLst>
          </p:cNvPr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보이스피싱</a:t>
            </a:r>
            <a:r>
              <a:rPr lang="en-US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 </a:t>
            </a:r>
            <a:r>
              <a:rPr lang="ko-KR" altLang="en-US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심각하다 사회적 문제다</a:t>
            </a:r>
            <a:r>
              <a:rPr lang="en-US" altLang="ko-KR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~</a:t>
            </a:r>
            <a:r>
              <a:rPr lang="en-US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(</a:t>
            </a:r>
            <a:r>
              <a:rPr lang="ko-KR" altLang="en-US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규모</a:t>
            </a:r>
            <a:r>
              <a:rPr lang="en-US" altLang="ko-KR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, </a:t>
            </a:r>
            <a:r>
              <a:rPr lang="ko-KR" altLang="en-US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피해액</a:t>
            </a:r>
            <a:r>
              <a:rPr lang="en-US" altLang="ko-KR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, </a:t>
            </a:r>
            <a:r>
              <a:rPr lang="ko-KR" altLang="en-US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건수</a:t>
            </a:r>
            <a:r>
              <a:rPr lang="en-US" altLang="ko-KR" sz="2800" b="1" dirty="0">
                <a:solidFill>
                  <a:srgbClr val="10213D"/>
                </a:solidFill>
                <a:latin typeface="페이퍼로지 8 ExtraBold" pitchFamily="2" charset="-127"/>
                <a:ea typeface="페이퍼로지 8 ExtraBold" pitchFamily="2" charset="-127"/>
                <a:cs typeface="NanumSquare Bold" pitchFamily="34" charset="-120"/>
              </a:rPr>
              <a:t>)</a:t>
            </a:r>
            <a:endParaRPr lang="en-US" sz="28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CC2DE4C-207C-45EF-9A0E-5F6667FDA2C7}"/>
              </a:ext>
            </a:extLst>
          </p:cNvPr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 규모를 하나의 숫자가 아니라 여러 관점의 데이터로 입체적으로 </a:t>
            </a:r>
            <a:r>
              <a:rPr lang="en-US" sz="1230" dirty="0" err="1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보여주는</a:t>
            </a: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페</a:t>
            </a:r>
            <a:r>
              <a:rPr lang="ko-KR" alt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이지</a:t>
            </a:r>
            <a:endParaRPr lang="en-US" sz="123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719C591-4120-47B4-8354-388AFCB921A9}"/>
              </a:ext>
            </a:extLst>
          </p:cNvPr>
          <p:cNvGrpSpPr/>
          <p:nvPr/>
        </p:nvGrpSpPr>
        <p:grpSpPr>
          <a:xfrm>
            <a:off x="594360" y="1874520"/>
            <a:ext cx="5678424" cy="2514600"/>
            <a:chOff x="594360" y="1874520"/>
            <a:chExt cx="5678424" cy="2514600"/>
          </a:xfrm>
        </p:grpSpPr>
        <p:sp>
          <p:nvSpPr>
            <p:cNvPr id="61" name="Shape 8">
              <a:extLst>
                <a:ext uri="{FF2B5EF4-FFF2-40B4-BE49-F238E27FC236}">
                  <a16:creationId xmlns:a16="http://schemas.microsoft.com/office/drawing/2014/main" id="{FDEF35F2-D1F4-4887-A609-BA9297CA0228}"/>
                </a:ext>
              </a:extLst>
            </p:cNvPr>
            <p:cNvSpPr/>
            <p:nvPr/>
          </p:nvSpPr>
          <p:spPr>
            <a:xfrm>
              <a:off x="594360" y="1874520"/>
              <a:ext cx="2743200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62" name="Text 9">
              <a:extLst>
                <a:ext uri="{FF2B5EF4-FFF2-40B4-BE49-F238E27FC236}">
                  <a16:creationId xmlns:a16="http://schemas.microsoft.com/office/drawing/2014/main" id="{12A47BCB-8AF9-4C04-9759-8727F0A409F5}"/>
                </a:ext>
              </a:extLst>
            </p:cNvPr>
            <p:cNvSpPr txBox="1"/>
            <p:nvPr/>
          </p:nvSpPr>
          <p:spPr>
            <a:xfrm>
              <a:off x="758952" y="2002536"/>
              <a:ext cx="241401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50" b="1" dirty="0">
                  <a:solidFill>
                    <a:srgbClr val="10213D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rPr>
                <a:t>연도별 피해금액</a:t>
              </a:r>
              <a:endParaRPr lang="en-US" sz="1250" dirty="0"/>
            </a:p>
          </p:txBody>
        </p:sp>
        <p:sp>
          <p:nvSpPr>
            <p:cNvPr id="63" name="Text 10">
              <a:extLst>
                <a:ext uri="{FF2B5EF4-FFF2-40B4-BE49-F238E27FC236}">
                  <a16:creationId xmlns:a16="http://schemas.microsoft.com/office/drawing/2014/main" id="{2C160D50-4548-4A3D-8684-3583A52F96B2}"/>
                </a:ext>
              </a:extLst>
            </p:cNvPr>
            <p:cNvSpPr txBox="1"/>
            <p:nvPr/>
          </p:nvSpPr>
          <p:spPr>
            <a:xfrm>
              <a:off x="758952" y="3959352"/>
              <a:ext cx="24140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60" dirty="0">
                  <a:solidFill>
                    <a:srgbClr val="66768F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추이 그래프 또는 공식 통계 삽입</a:t>
              </a:r>
              <a:endParaRPr lang="en-US" sz="960" dirty="0"/>
            </a:p>
          </p:txBody>
        </p:sp>
        <p:sp>
          <p:nvSpPr>
            <p:cNvPr id="64" name="Shape 11">
              <a:extLst>
                <a:ext uri="{FF2B5EF4-FFF2-40B4-BE49-F238E27FC236}">
                  <a16:creationId xmlns:a16="http://schemas.microsoft.com/office/drawing/2014/main" id="{73796C11-C11E-4D1F-9792-3EFE50D16463}"/>
                </a:ext>
              </a:extLst>
            </p:cNvPr>
            <p:cNvSpPr/>
            <p:nvPr/>
          </p:nvSpPr>
          <p:spPr>
            <a:xfrm>
              <a:off x="868680" y="3538728"/>
              <a:ext cx="216823" cy="438912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65" name="Shape 12">
              <a:extLst>
                <a:ext uri="{FF2B5EF4-FFF2-40B4-BE49-F238E27FC236}">
                  <a16:creationId xmlns:a16="http://schemas.microsoft.com/office/drawing/2014/main" id="{5EED1F45-78FE-4B51-B499-0756BD49BCB5}"/>
                </a:ext>
              </a:extLst>
            </p:cNvPr>
            <p:cNvSpPr/>
            <p:nvPr/>
          </p:nvSpPr>
          <p:spPr>
            <a:xfrm>
              <a:off x="1285646" y="3300984"/>
              <a:ext cx="216823" cy="676656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66" name="Shape 13">
              <a:extLst>
                <a:ext uri="{FF2B5EF4-FFF2-40B4-BE49-F238E27FC236}">
                  <a16:creationId xmlns:a16="http://schemas.microsoft.com/office/drawing/2014/main" id="{28EE592E-04F9-4AB3-AA2E-5A3D6B739044}"/>
                </a:ext>
              </a:extLst>
            </p:cNvPr>
            <p:cNvSpPr/>
            <p:nvPr/>
          </p:nvSpPr>
          <p:spPr>
            <a:xfrm>
              <a:off x="1702613" y="3136392"/>
              <a:ext cx="216823" cy="841248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67" name="Shape 14">
              <a:extLst>
                <a:ext uri="{FF2B5EF4-FFF2-40B4-BE49-F238E27FC236}">
                  <a16:creationId xmlns:a16="http://schemas.microsoft.com/office/drawing/2014/main" id="{48DB68B6-D3D9-48F8-A264-99B1E70AECCA}"/>
                </a:ext>
              </a:extLst>
            </p:cNvPr>
            <p:cNvSpPr/>
            <p:nvPr/>
          </p:nvSpPr>
          <p:spPr>
            <a:xfrm>
              <a:off x="2119579" y="2898648"/>
              <a:ext cx="216823" cy="1078992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68" name="Shape 15">
              <a:extLst>
                <a:ext uri="{FF2B5EF4-FFF2-40B4-BE49-F238E27FC236}">
                  <a16:creationId xmlns:a16="http://schemas.microsoft.com/office/drawing/2014/main" id="{79B9A372-BC97-4865-9134-FE92088AB51B}"/>
                </a:ext>
              </a:extLst>
            </p:cNvPr>
            <p:cNvSpPr/>
            <p:nvPr/>
          </p:nvSpPr>
          <p:spPr>
            <a:xfrm>
              <a:off x="2536546" y="2679192"/>
              <a:ext cx="216823" cy="1298448"/>
            </a:xfrm>
            <a:prstGeom prst="roundRect">
              <a:avLst/>
            </a:prstGeom>
            <a:solidFill>
              <a:srgbClr val="1F5EFF"/>
            </a:solidFill>
            <a:ln w="12700">
              <a:solidFill>
                <a:srgbClr val="1F5EFF"/>
              </a:solidFill>
              <a:prstDash val="solid"/>
            </a:ln>
          </p:spPr>
        </p:sp>
        <p:sp>
          <p:nvSpPr>
            <p:cNvPr id="69" name="Shape 16">
              <a:extLst>
                <a:ext uri="{FF2B5EF4-FFF2-40B4-BE49-F238E27FC236}">
                  <a16:creationId xmlns:a16="http://schemas.microsoft.com/office/drawing/2014/main" id="{90CE88F0-C280-44FC-A4B8-28236EF0AF3F}"/>
                </a:ext>
              </a:extLst>
            </p:cNvPr>
            <p:cNvSpPr/>
            <p:nvPr/>
          </p:nvSpPr>
          <p:spPr>
            <a:xfrm>
              <a:off x="841248" y="3977640"/>
              <a:ext cx="2240280" cy="0"/>
            </a:xfrm>
            <a:prstGeom prst="line">
              <a:avLst/>
            </a:prstGeom>
            <a:noFill/>
            <a:ln w="10160">
              <a:solidFill>
                <a:srgbClr val="D9E5F6"/>
              </a:solidFill>
              <a:prstDash val="solid"/>
              <a:headEnd type="none"/>
              <a:tailEnd type="none"/>
            </a:ln>
          </p:spPr>
        </p:sp>
        <p:sp>
          <p:nvSpPr>
            <p:cNvPr id="70" name="Shape 17">
              <a:extLst>
                <a:ext uri="{FF2B5EF4-FFF2-40B4-BE49-F238E27FC236}">
                  <a16:creationId xmlns:a16="http://schemas.microsoft.com/office/drawing/2014/main" id="{1A08A152-D703-405B-A4EF-BC48D530D548}"/>
                </a:ext>
              </a:extLst>
            </p:cNvPr>
            <p:cNvSpPr/>
            <p:nvPr/>
          </p:nvSpPr>
          <p:spPr>
            <a:xfrm>
              <a:off x="3529584" y="1874520"/>
              <a:ext cx="2743200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prstDash val="solid"/>
            </a:ln>
          </p:spPr>
        </p:sp>
        <p:sp>
          <p:nvSpPr>
            <p:cNvPr id="71" name="Text 18">
              <a:extLst>
                <a:ext uri="{FF2B5EF4-FFF2-40B4-BE49-F238E27FC236}">
                  <a16:creationId xmlns:a16="http://schemas.microsoft.com/office/drawing/2014/main" id="{3B24358B-CB67-481F-A259-C72D90518166}"/>
                </a:ext>
              </a:extLst>
            </p:cNvPr>
            <p:cNvSpPr txBox="1"/>
            <p:nvPr/>
          </p:nvSpPr>
          <p:spPr>
            <a:xfrm>
              <a:off x="3694176" y="2002536"/>
              <a:ext cx="241401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250" b="1" dirty="0">
                  <a:solidFill>
                    <a:srgbClr val="10213D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rPr>
                <a:t>연도별 피해건수</a:t>
              </a:r>
              <a:endParaRPr lang="en-US" sz="1250" dirty="0"/>
            </a:p>
          </p:txBody>
        </p:sp>
        <p:sp>
          <p:nvSpPr>
            <p:cNvPr id="72" name="Text 19">
              <a:extLst>
                <a:ext uri="{FF2B5EF4-FFF2-40B4-BE49-F238E27FC236}">
                  <a16:creationId xmlns:a16="http://schemas.microsoft.com/office/drawing/2014/main" id="{F3293E6D-2EBB-41DB-8AE4-8CE9F186643D}"/>
                </a:ext>
              </a:extLst>
            </p:cNvPr>
            <p:cNvSpPr txBox="1"/>
            <p:nvPr/>
          </p:nvSpPr>
          <p:spPr>
            <a:xfrm>
              <a:off x="3694176" y="3959352"/>
              <a:ext cx="241401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60" dirty="0">
                  <a:solidFill>
                    <a:srgbClr val="66768F"/>
                  </a:solidFill>
                  <a:latin typeface="NanumSquare" pitchFamily="34" charset="0"/>
                  <a:ea typeface="NanumSquare" pitchFamily="34" charset="-122"/>
                  <a:cs typeface="NanumSquare" pitchFamily="34" charset="-120"/>
                </a:rPr>
                <a:t>건수 변화와 피해금액을 함께 비교</a:t>
              </a:r>
              <a:endParaRPr lang="en-US" sz="960" dirty="0"/>
            </a:p>
          </p:txBody>
        </p:sp>
        <p:sp>
          <p:nvSpPr>
            <p:cNvPr id="73" name="Shape 20">
              <a:extLst>
                <a:ext uri="{FF2B5EF4-FFF2-40B4-BE49-F238E27FC236}">
                  <a16:creationId xmlns:a16="http://schemas.microsoft.com/office/drawing/2014/main" id="{304A9E25-342C-4DFB-9AB7-449D24718B9A}"/>
                </a:ext>
              </a:extLst>
            </p:cNvPr>
            <p:cNvSpPr/>
            <p:nvPr/>
          </p:nvSpPr>
          <p:spPr>
            <a:xfrm>
              <a:off x="3803904" y="3538728"/>
              <a:ext cx="216823" cy="438912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74" name="Shape 21">
              <a:extLst>
                <a:ext uri="{FF2B5EF4-FFF2-40B4-BE49-F238E27FC236}">
                  <a16:creationId xmlns:a16="http://schemas.microsoft.com/office/drawing/2014/main" id="{ECB1D966-9935-488E-99B1-B39759C1DCFA}"/>
                </a:ext>
              </a:extLst>
            </p:cNvPr>
            <p:cNvSpPr/>
            <p:nvPr/>
          </p:nvSpPr>
          <p:spPr>
            <a:xfrm>
              <a:off x="4220870" y="3300984"/>
              <a:ext cx="216823" cy="676656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75" name="Shape 22">
              <a:extLst>
                <a:ext uri="{FF2B5EF4-FFF2-40B4-BE49-F238E27FC236}">
                  <a16:creationId xmlns:a16="http://schemas.microsoft.com/office/drawing/2014/main" id="{46A267BE-AC89-49F6-9DD3-4D70F3E975CE}"/>
                </a:ext>
              </a:extLst>
            </p:cNvPr>
            <p:cNvSpPr/>
            <p:nvPr/>
          </p:nvSpPr>
          <p:spPr>
            <a:xfrm>
              <a:off x="4637837" y="3136392"/>
              <a:ext cx="216823" cy="841248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76" name="Shape 23">
              <a:extLst>
                <a:ext uri="{FF2B5EF4-FFF2-40B4-BE49-F238E27FC236}">
                  <a16:creationId xmlns:a16="http://schemas.microsoft.com/office/drawing/2014/main" id="{C8C0432F-0B36-476D-875A-3C342A1558BF}"/>
                </a:ext>
              </a:extLst>
            </p:cNvPr>
            <p:cNvSpPr/>
            <p:nvPr/>
          </p:nvSpPr>
          <p:spPr>
            <a:xfrm>
              <a:off x="5054803" y="2898648"/>
              <a:ext cx="216823" cy="1078992"/>
            </a:xfrm>
            <a:prstGeom prst="roundRect">
              <a:avLst/>
            </a:prstGeom>
            <a:solidFill>
              <a:srgbClr val="D7E7FF"/>
            </a:solidFill>
            <a:ln w="12700">
              <a:solidFill>
                <a:srgbClr val="D7E7FF"/>
              </a:solidFill>
              <a:prstDash val="solid"/>
            </a:ln>
          </p:spPr>
        </p:sp>
        <p:sp>
          <p:nvSpPr>
            <p:cNvPr id="77" name="Shape 24">
              <a:extLst>
                <a:ext uri="{FF2B5EF4-FFF2-40B4-BE49-F238E27FC236}">
                  <a16:creationId xmlns:a16="http://schemas.microsoft.com/office/drawing/2014/main" id="{544B7B28-015A-45A7-888C-C63BFB6C1145}"/>
                </a:ext>
              </a:extLst>
            </p:cNvPr>
            <p:cNvSpPr/>
            <p:nvPr/>
          </p:nvSpPr>
          <p:spPr>
            <a:xfrm>
              <a:off x="5471770" y="2679192"/>
              <a:ext cx="216823" cy="1298448"/>
            </a:xfrm>
            <a:prstGeom prst="roundRect">
              <a:avLst/>
            </a:prstGeom>
            <a:solidFill>
              <a:srgbClr val="2F7CF6"/>
            </a:solidFill>
            <a:ln w="12700">
              <a:solidFill>
                <a:srgbClr val="2F7CF6"/>
              </a:solidFill>
              <a:prstDash val="solid"/>
            </a:ln>
          </p:spPr>
        </p:sp>
        <p:sp>
          <p:nvSpPr>
            <p:cNvPr id="78" name="Shape 25">
              <a:extLst>
                <a:ext uri="{FF2B5EF4-FFF2-40B4-BE49-F238E27FC236}">
                  <a16:creationId xmlns:a16="http://schemas.microsoft.com/office/drawing/2014/main" id="{419763C3-B904-411C-A6E8-3091C252D595}"/>
                </a:ext>
              </a:extLst>
            </p:cNvPr>
            <p:cNvSpPr/>
            <p:nvPr/>
          </p:nvSpPr>
          <p:spPr>
            <a:xfrm>
              <a:off x="3776472" y="3977640"/>
              <a:ext cx="2240280" cy="0"/>
            </a:xfrm>
            <a:prstGeom prst="line">
              <a:avLst/>
            </a:prstGeom>
            <a:noFill/>
            <a:ln w="10160">
              <a:solidFill>
                <a:srgbClr val="D9E5F6"/>
              </a:solidFill>
              <a:prstDash val="solid"/>
              <a:headEnd type="none"/>
              <a:tailEnd type="none"/>
            </a:ln>
          </p:spPr>
        </p:sp>
      </p:grpSp>
      <p:sp>
        <p:nvSpPr>
          <p:cNvPr id="79" name="Shape 26">
            <a:extLst>
              <a:ext uri="{FF2B5EF4-FFF2-40B4-BE49-F238E27FC236}">
                <a16:creationId xmlns:a16="http://schemas.microsoft.com/office/drawing/2014/main" id="{A7822292-EFB9-4591-A057-B7B63F322242}"/>
              </a:ext>
            </a:extLst>
          </p:cNvPr>
          <p:cNvSpPr/>
          <p:nvPr/>
        </p:nvSpPr>
        <p:spPr>
          <a:xfrm>
            <a:off x="6464808" y="1874520"/>
            <a:ext cx="2304288" cy="25146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80" name="Text 27">
            <a:extLst>
              <a:ext uri="{FF2B5EF4-FFF2-40B4-BE49-F238E27FC236}">
                <a16:creationId xmlns:a16="http://schemas.microsoft.com/office/drawing/2014/main" id="{AF19EAE1-BE0A-42FE-9520-B50F2163691B}"/>
              </a:ext>
            </a:extLst>
          </p:cNvPr>
          <p:cNvSpPr txBox="1"/>
          <p:nvPr/>
        </p:nvSpPr>
        <p:spPr>
          <a:xfrm>
            <a:off x="6629400" y="200253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1인당 피해금액</a:t>
            </a:r>
            <a:endParaRPr lang="en-US" sz="1250" dirty="0"/>
          </a:p>
        </p:txBody>
      </p:sp>
      <p:sp>
        <p:nvSpPr>
          <p:cNvPr id="81" name="Text 28">
            <a:extLst>
              <a:ext uri="{FF2B5EF4-FFF2-40B4-BE49-F238E27FC236}">
                <a16:creationId xmlns:a16="http://schemas.microsoft.com/office/drawing/2014/main" id="{59284FB0-2412-4F31-AC80-57BB2DED9AC1}"/>
              </a:ext>
            </a:extLst>
          </p:cNvPr>
          <p:cNvSpPr txBox="1"/>
          <p:nvPr/>
        </p:nvSpPr>
        <p:spPr>
          <a:xfrm>
            <a:off x="6629400" y="395935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평균 피해 수준 / 중앙값 등</a:t>
            </a:r>
            <a:endParaRPr lang="en-US" sz="960" dirty="0"/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FC45CB01-4A88-4D3C-939A-AAEA3BCD2B40}"/>
              </a:ext>
            </a:extLst>
          </p:cNvPr>
          <p:cNvSpPr/>
          <p:nvPr/>
        </p:nvSpPr>
        <p:spPr>
          <a:xfrm>
            <a:off x="6739128" y="3538728"/>
            <a:ext cx="171176" cy="43891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83" name="Shape 30">
            <a:extLst>
              <a:ext uri="{FF2B5EF4-FFF2-40B4-BE49-F238E27FC236}">
                <a16:creationId xmlns:a16="http://schemas.microsoft.com/office/drawing/2014/main" id="{1E87147C-646D-4D80-AD02-B4D6F70963F3}"/>
              </a:ext>
            </a:extLst>
          </p:cNvPr>
          <p:cNvSpPr/>
          <p:nvPr/>
        </p:nvSpPr>
        <p:spPr>
          <a:xfrm>
            <a:off x="7068312" y="3300984"/>
            <a:ext cx="171176" cy="676656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84" name="Shape 31">
            <a:extLst>
              <a:ext uri="{FF2B5EF4-FFF2-40B4-BE49-F238E27FC236}">
                <a16:creationId xmlns:a16="http://schemas.microsoft.com/office/drawing/2014/main" id="{AFD44F45-0575-4344-BDF4-17227C94E152}"/>
              </a:ext>
            </a:extLst>
          </p:cNvPr>
          <p:cNvSpPr/>
          <p:nvPr/>
        </p:nvSpPr>
        <p:spPr>
          <a:xfrm>
            <a:off x="7397496" y="3136392"/>
            <a:ext cx="171176" cy="841248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85" name="Shape 32">
            <a:extLst>
              <a:ext uri="{FF2B5EF4-FFF2-40B4-BE49-F238E27FC236}">
                <a16:creationId xmlns:a16="http://schemas.microsoft.com/office/drawing/2014/main" id="{9BDA66B5-5029-4B16-A7DE-D3507027D131}"/>
              </a:ext>
            </a:extLst>
          </p:cNvPr>
          <p:cNvSpPr/>
          <p:nvPr/>
        </p:nvSpPr>
        <p:spPr>
          <a:xfrm>
            <a:off x="7726680" y="2898648"/>
            <a:ext cx="171176" cy="107899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86" name="Shape 33">
            <a:extLst>
              <a:ext uri="{FF2B5EF4-FFF2-40B4-BE49-F238E27FC236}">
                <a16:creationId xmlns:a16="http://schemas.microsoft.com/office/drawing/2014/main" id="{941C3B78-B85C-481C-B785-428B6FF26838}"/>
              </a:ext>
            </a:extLst>
          </p:cNvPr>
          <p:cNvSpPr/>
          <p:nvPr/>
        </p:nvSpPr>
        <p:spPr>
          <a:xfrm>
            <a:off x="8055864" y="2679192"/>
            <a:ext cx="171176" cy="1298448"/>
          </a:xfrm>
          <a:prstGeom prst="roundRect">
            <a:avLst/>
          </a:prstGeom>
          <a:solidFill>
            <a:srgbClr val="49A8FF"/>
          </a:solidFill>
          <a:ln w="12700">
            <a:solidFill>
              <a:srgbClr val="49A8FF"/>
            </a:solidFill>
            <a:prstDash val="solid"/>
          </a:ln>
        </p:spPr>
      </p:sp>
      <p:sp>
        <p:nvSpPr>
          <p:cNvPr id="87" name="Shape 34">
            <a:extLst>
              <a:ext uri="{FF2B5EF4-FFF2-40B4-BE49-F238E27FC236}">
                <a16:creationId xmlns:a16="http://schemas.microsoft.com/office/drawing/2014/main" id="{9FAEF357-70F7-44CA-BC92-EF6B199C921E}"/>
              </a:ext>
            </a:extLst>
          </p:cNvPr>
          <p:cNvSpPr/>
          <p:nvPr/>
        </p:nvSpPr>
        <p:spPr>
          <a:xfrm>
            <a:off x="6711696" y="3977640"/>
            <a:ext cx="1801368" cy="0"/>
          </a:xfrm>
          <a:prstGeom prst="line">
            <a:avLst/>
          </a:prstGeom>
          <a:noFill/>
          <a:ln w="10160">
            <a:solidFill>
              <a:srgbClr val="D9E5F6"/>
            </a:solidFill>
            <a:prstDash val="solid"/>
            <a:headEnd type="none"/>
            <a:tailEnd type="none"/>
          </a:ln>
        </p:spPr>
      </p:sp>
      <p:sp>
        <p:nvSpPr>
          <p:cNvPr id="88" name="Shape 35">
            <a:extLst>
              <a:ext uri="{FF2B5EF4-FFF2-40B4-BE49-F238E27FC236}">
                <a16:creationId xmlns:a16="http://schemas.microsoft.com/office/drawing/2014/main" id="{0880C97D-A674-46DC-BAE0-97A7ACF72752}"/>
              </a:ext>
            </a:extLst>
          </p:cNvPr>
          <p:cNvSpPr/>
          <p:nvPr/>
        </p:nvSpPr>
        <p:spPr>
          <a:xfrm>
            <a:off x="8961120" y="1874520"/>
            <a:ext cx="2624328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89" name="Text 36">
            <a:extLst>
              <a:ext uri="{FF2B5EF4-FFF2-40B4-BE49-F238E27FC236}">
                <a16:creationId xmlns:a16="http://schemas.microsoft.com/office/drawing/2014/main" id="{A679DCD1-6AA3-4B90-ABDA-F673DBA87026}"/>
              </a:ext>
            </a:extLst>
          </p:cNvPr>
          <p:cNvSpPr txBox="1"/>
          <p:nvPr/>
        </p:nvSpPr>
        <p:spPr>
          <a:xfrm>
            <a:off x="9125712" y="2002536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피해유형</a:t>
            </a:r>
            <a:endParaRPr lang="en-US" sz="1250" dirty="0"/>
          </a:p>
        </p:txBody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2C6708DC-8C19-4D21-9B5B-6C227234372B}"/>
              </a:ext>
            </a:extLst>
          </p:cNvPr>
          <p:cNvSpPr txBox="1"/>
          <p:nvPr/>
        </p:nvSpPr>
        <p:spPr>
          <a:xfrm>
            <a:off x="9125712" y="39593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기관사칭 · 대출빙자 · 기타</a:t>
            </a:r>
            <a:endParaRPr lang="en-US" sz="960" dirty="0"/>
          </a:p>
        </p:txBody>
      </p:sp>
      <p:sp>
        <p:nvSpPr>
          <p:cNvPr id="91" name="Shape 38">
            <a:extLst>
              <a:ext uri="{FF2B5EF4-FFF2-40B4-BE49-F238E27FC236}">
                <a16:creationId xmlns:a16="http://schemas.microsoft.com/office/drawing/2014/main" id="{EC1DCE97-8F05-45E6-82D8-98A1E6F967D0}"/>
              </a:ext>
            </a:extLst>
          </p:cNvPr>
          <p:cNvSpPr/>
          <p:nvPr/>
        </p:nvSpPr>
        <p:spPr>
          <a:xfrm>
            <a:off x="9235440" y="3538728"/>
            <a:ext cx="204460" cy="43891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92" name="Shape 39">
            <a:extLst>
              <a:ext uri="{FF2B5EF4-FFF2-40B4-BE49-F238E27FC236}">
                <a16:creationId xmlns:a16="http://schemas.microsoft.com/office/drawing/2014/main" id="{265C3FAE-D1B3-4A57-B65D-F9B0E300725E}"/>
              </a:ext>
            </a:extLst>
          </p:cNvPr>
          <p:cNvSpPr/>
          <p:nvPr/>
        </p:nvSpPr>
        <p:spPr>
          <a:xfrm>
            <a:off x="9628632" y="3300984"/>
            <a:ext cx="204460" cy="676656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93" name="Shape 40">
            <a:extLst>
              <a:ext uri="{FF2B5EF4-FFF2-40B4-BE49-F238E27FC236}">
                <a16:creationId xmlns:a16="http://schemas.microsoft.com/office/drawing/2014/main" id="{710BCE73-09FE-4D9A-9A06-264B3FAF1302}"/>
              </a:ext>
            </a:extLst>
          </p:cNvPr>
          <p:cNvSpPr/>
          <p:nvPr/>
        </p:nvSpPr>
        <p:spPr>
          <a:xfrm>
            <a:off x="10021824" y="3136392"/>
            <a:ext cx="204460" cy="841248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94" name="Shape 41">
            <a:extLst>
              <a:ext uri="{FF2B5EF4-FFF2-40B4-BE49-F238E27FC236}">
                <a16:creationId xmlns:a16="http://schemas.microsoft.com/office/drawing/2014/main" id="{0BB18C9E-5325-4520-8770-C0AFCD3C1A6D}"/>
              </a:ext>
            </a:extLst>
          </p:cNvPr>
          <p:cNvSpPr/>
          <p:nvPr/>
        </p:nvSpPr>
        <p:spPr>
          <a:xfrm>
            <a:off x="10415016" y="2898648"/>
            <a:ext cx="204460" cy="107899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95" name="Shape 42">
            <a:extLst>
              <a:ext uri="{FF2B5EF4-FFF2-40B4-BE49-F238E27FC236}">
                <a16:creationId xmlns:a16="http://schemas.microsoft.com/office/drawing/2014/main" id="{AF9F248D-CBC4-425A-B4A0-54E152A8AFA7}"/>
              </a:ext>
            </a:extLst>
          </p:cNvPr>
          <p:cNvSpPr/>
          <p:nvPr/>
        </p:nvSpPr>
        <p:spPr>
          <a:xfrm>
            <a:off x="10808208" y="2679192"/>
            <a:ext cx="204460" cy="1298448"/>
          </a:xfrm>
          <a:prstGeom prst="roundRect">
            <a:avLst/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96" name="Shape 43">
            <a:extLst>
              <a:ext uri="{FF2B5EF4-FFF2-40B4-BE49-F238E27FC236}">
                <a16:creationId xmlns:a16="http://schemas.microsoft.com/office/drawing/2014/main" id="{C25775C4-9236-4EC4-832A-7AA894E0FE27}"/>
              </a:ext>
            </a:extLst>
          </p:cNvPr>
          <p:cNvSpPr/>
          <p:nvPr/>
        </p:nvSpPr>
        <p:spPr>
          <a:xfrm>
            <a:off x="9208008" y="3977640"/>
            <a:ext cx="2121408" cy="0"/>
          </a:xfrm>
          <a:prstGeom prst="line">
            <a:avLst/>
          </a:prstGeom>
          <a:noFill/>
          <a:ln w="10160">
            <a:solidFill>
              <a:srgbClr val="D9E5F6"/>
            </a:solidFill>
            <a:prstDash val="solid"/>
            <a:headEnd type="none"/>
            <a:tailEnd type="none"/>
          </a:ln>
        </p:spPr>
      </p:sp>
      <p:sp>
        <p:nvSpPr>
          <p:cNvPr id="97" name="Shape 44">
            <a:extLst>
              <a:ext uri="{FF2B5EF4-FFF2-40B4-BE49-F238E27FC236}">
                <a16:creationId xmlns:a16="http://schemas.microsoft.com/office/drawing/2014/main" id="{A76E8C5A-17D3-408B-A296-8675D799E942}"/>
              </a:ext>
            </a:extLst>
          </p:cNvPr>
          <p:cNvSpPr/>
          <p:nvPr/>
        </p:nvSpPr>
        <p:spPr>
          <a:xfrm>
            <a:off x="594360" y="4681728"/>
            <a:ext cx="10991088" cy="1115568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98" name="Text 45">
            <a:extLst>
              <a:ext uri="{FF2B5EF4-FFF2-40B4-BE49-F238E27FC236}">
                <a16:creationId xmlns:a16="http://schemas.microsoft.com/office/drawing/2014/main" id="{4F2E3DE0-CD98-4D61-9489-686484F3DB48}"/>
              </a:ext>
            </a:extLst>
          </p:cNvPr>
          <p:cNvSpPr txBox="1"/>
          <p:nvPr/>
        </p:nvSpPr>
        <p:spPr>
          <a:xfrm>
            <a:off x="804672" y="4882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DATA STORY</a:t>
            </a:r>
            <a:endParaRPr lang="en-US" sz="1050" dirty="0"/>
          </a:p>
        </p:txBody>
      </p:sp>
      <p:sp>
        <p:nvSpPr>
          <p:cNvPr id="99" name="Text 46">
            <a:extLst>
              <a:ext uri="{FF2B5EF4-FFF2-40B4-BE49-F238E27FC236}">
                <a16:creationId xmlns:a16="http://schemas.microsoft.com/office/drawing/2014/main" id="{0B5B3FD0-3C34-4F2A-83DD-E040A5BDE933}"/>
              </a:ext>
            </a:extLst>
          </p:cNvPr>
          <p:cNvSpPr txBox="1"/>
          <p:nvPr/>
        </p:nvSpPr>
        <p:spPr>
          <a:xfrm>
            <a:off x="1901952" y="4828032"/>
            <a:ext cx="9125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“규모” → “누가” → “어떤 방식으로” → “얼마나 크게” 피해를 입는지 순서로 데이터 스토리를 구성</a:t>
            </a:r>
            <a:endParaRPr lang="en-US" sz="1420" dirty="0"/>
          </a:p>
        </p:txBody>
      </p:sp>
      <p:sp>
        <p:nvSpPr>
          <p:cNvPr id="100" name="Text 47">
            <a:extLst>
              <a:ext uri="{FF2B5EF4-FFF2-40B4-BE49-F238E27FC236}">
                <a16:creationId xmlns:a16="http://schemas.microsoft.com/office/drawing/2014/main" id="{0920DF68-F97F-4A31-A0B4-2A8D6DF41329}"/>
              </a:ext>
            </a:extLst>
          </p:cNvPr>
          <p:cNvSpPr txBox="1"/>
          <p:nvPr/>
        </p:nvSpPr>
        <p:spPr>
          <a:xfrm>
            <a:off x="1901952" y="5266944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실제 수치는 경찰청·금융감독원 등 검증된 공식 통계로 교체</a:t>
            </a:r>
            <a:endParaRPr lang="en-US" sz="1030" dirty="0"/>
          </a:p>
        </p:txBody>
      </p:sp>
      <p:sp>
        <p:nvSpPr>
          <p:cNvPr id="101" name="Slide Number Placeholder 0">
            <a:extLst>
              <a:ext uri="{FF2B5EF4-FFF2-40B4-BE49-F238E27FC236}">
                <a16:creationId xmlns:a16="http://schemas.microsoft.com/office/drawing/2014/main" id="{B62526B2-5F3F-4EBB-A2DC-93B7F89FFF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1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F7B5A"/>
          </a:solidFill>
          <a:ln w="12700">
            <a:solidFill>
              <a:srgbClr val="0F7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4480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현황분석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문제의 심각성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 규모를 객관적 데이터로 한눈에 보여주는 레이아웃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EDF8F3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48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연도별 피해금액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73352" y="2441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수치 입력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2048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피해건수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4495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05072" y="2441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수치 입력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048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1인당 피해금액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2359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31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DATA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36792" y="2441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수치 입력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543800" y="1874520"/>
            <a:ext cx="4096512" cy="3364992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44968" y="20391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연도별 피해 추이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27848" y="4818888"/>
            <a:ext cx="3346704" cy="0"/>
          </a:xfrm>
          <a:prstGeom prst="line">
            <a:avLst/>
          </a:prstGeom>
          <a:noFill/>
          <a:ln w="13970">
            <a:solidFill>
              <a:srgbClr val="CB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27848" y="2423160"/>
            <a:ext cx="0" cy="2395728"/>
          </a:xfrm>
          <a:prstGeom prst="line">
            <a:avLst/>
          </a:prstGeom>
          <a:noFill/>
          <a:ln w="13970">
            <a:solidFill>
              <a:srgbClr val="CBD5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888395"/>
            <a:ext cx="494508" cy="0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1228" y="3589386"/>
            <a:ext cx="525414" cy="99670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6642" y="3689055"/>
            <a:ext cx="525414" cy="0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92056" y="3250509"/>
            <a:ext cx="494508" cy="119604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86564" y="3370113"/>
            <a:ext cx="525414" cy="0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11978" y="2971434"/>
            <a:ext cx="525414" cy="119604"/>
          </a:xfrm>
          <a:prstGeom prst="line">
            <a:avLst/>
          </a:prstGeom>
          <a:noFill/>
          <a:ln w="26670">
            <a:solidFill>
              <a:srgbClr val="0F7B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4928616"/>
            <a:ext cx="3090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70817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실제 데이터·그래프로 교체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6583680" cy="2075688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12700">
            <a:solidFill>
              <a:srgbClr val="D8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3401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추가로 보여줄 수 있는 데이터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6384" y="3730752"/>
            <a:ext cx="132588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79933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피해유형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258568" y="3730752"/>
            <a:ext cx="132588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95144" y="3799332"/>
            <a:ext cx="1252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기관사칭 유형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3730752" y="3730752"/>
            <a:ext cx="141732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3799332"/>
            <a:ext cx="1344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연령별 피해현황</a:t>
            </a:r>
            <a:endParaRPr lang="en-US" sz="870" dirty="0">
              <a:solidFill>
                <a:srgbClr val="FF0000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294376" y="3730752"/>
            <a:ext cx="1261872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0952" y="379933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 집중 구간</a:t>
            </a:r>
            <a:endParaRPr lang="en-US" sz="870" dirty="0">
              <a:solidFill>
                <a:srgbClr val="FF0000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86384" y="4160520"/>
            <a:ext cx="137160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22910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증가율 / 전년비</a:t>
            </a:r>
            <a:endParaRPr lang="en-US" sz="870" dirty="0">
              <a:solidFill>
                <a:srgbClr val="FF0000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313432" y="4160520"/>
            <a:ext cx="1572768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50008" y="422910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000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유형별 평균 피해액</a:t>
            </a:r>
            <a:endParaRPr lang="en-US" sz="870" dirty="0">
              <a:solidFill>
                <a:srgbClr val="FF0000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050792" y="4160520"/>
            <a:ext cx="1170432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87368" y="422910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 특성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5376672" y="4160520"/>
            <a:ext cx="1280160" cy="283464"/>
          </a:xfrm>
          <a:prstGeom prst="roundRect">
            <a:avLst>
              <a:gd name="adj" fmla="val 38710"/>
            </a:avLst>
          </a:prstGeom>
          <a:solidFill>
            <a:srgbClr val="EDF8F3"/>
          </a:solidFill>
          <a:ln w="12700">
            <a:solidFill>
              <a:srgbClr val="EDF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13248" y="4229100"/>
            <a:ext cx="12070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7B5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최신 수법 변화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804672" y="472744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29403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TIP  숫자를 많이 넣기보다 “규모 · 증가 · 집중” 3가지 메시지로 정리</a:t>
            </a:r>
            <a:endParaRPr lang="en-US" sz="97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3928D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956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ACDD1C-A272-4C44-B771-2EF8E15D3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47" y="893445"/>
            <a:ext cx="4845462" cy="2395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4DF127-77A7-4B7A-901B-03ADBC7E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25" y="893445"/>
            <a:ext cx="4514372" cy="23957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673A47-A18C-4255-AD6F-E5547B119FE6}"/>
              </a:ext>
            </a:extLst>
          </p:cNvPr>
          <p:cNvSpPr txBox="1"/>
          <p:nvPr/>
        </p:nvSpPr>
        <p:spPr>
          <a:xfrm>
            <a:off x="847725" y="3648075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사례당 평균 금액</a:t>
            </a:r>
          </a:p>
        </p:txBody>
      </p:sp>
    </p:spTree>
    <p:extLst>
      <p:ext uri="{BB962C8B-B14F-4D97-AF65-F5344CB8AC3E}">
        <p14:creationId xmlns:p14="http://schemas.microsoft.com/office/powerpoint/2010/main" val="79594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060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303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58368" y="5852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문제도출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731520"/>
            <a:ext cx="10515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많은</a:t>
            </a: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 안전장치가 이미 존재하고 실제 효과도 있는데,</a:t>
            </a:r>
            <a:endParaRPr lang="en-US" sz="2800" dirty="0"/>
          </a:p>
          <a:p>
            <a:pPr marL="0" indent="0" algn="l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왜 여전히 보이스피싱 피해가 발생하고 있을까</a:t>
            </a:r>
            <a:r>
              <a:rPr lang="en-US" altLang="ko-KR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6F48BE-8EEC-4F2F-B9D7-F907ACFE0119}"/>
              </a:ext>
            </a:extLst>
          </p:cNvPr>
          <p:cNvGrpSpPr/>
          <p:nvPr/>
        </p:nvGrpSpPr>
        <p:grpSpPr>
          <a:xfrm>
            <a:off x="6807708" y="4269369"/>
            <a:ext cx="4572000" cy="658368"/>
            <a:chOff x="694944" y="4270248"/>
            <a:chExt cx="4572000" cy="658368"/>
          </a:xfrm>
        </p:grpSpPr>
        <p:sp>
          <p:nvSpPr>
            <p:cNvPr id="10" name="Shape 8"/>
            <p:cNvSpPr/>
            <p:nvPr/>
          </p:nvSpPr>
          <p:spPr>
            <a:xfrm>
              <a:off x="694944" y="4270248"/>
              <a:ext cx="4572000" cy="658368"/>
            </a:xfrm>
            <a:prstGeom prst="roundRect">
              <a:avLst>
                <a:gd name="adj" fmla="val 22222"/>
              </a:avLst>
            </a:prstGeom>
            <a:solidFill>
              <a:srgbClr val="123153"/>
            </a:solidFill>
            <a:ln w="10160">
              <a:solidFill>
                <a:srgbClr val="274F78"/>
              </a:solidFill>
              <a:prstDash val="solid"/>
            </a:ln>
          </p:spPr>
        </p:sp>
        <p:sp>
          <p:nvSpPr>
            <p:cNvPr id="11" name="Text 9"/>
            <p:cNvSpPr txBox="1"/>
            <p:nvPr/>
          </p:nvSpPr>
          <p:spPr>
            <a:xfrm>
              <a:off x="932688" y="4443984"/>
              <a:ext cx="409651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40" b="1" dirty="0">
                  <a:solidFill>
                    <a:srgbClr val="C5D6E8"/>
                  </a:solidFill>
                  <a:latin typeface="NanumSquare Bold" pitchFamily="34" charset="0"/>
                  <a:ea typeface="NanumSquare Bold" pitchFamily="34" charset="-122"/>
                  <a:cs typeface="NanumSquare Bold" pitchFamily="34" charset="-120"/>
                </a:rPr>
                <a:t>기존 대응의 부재가 아니라, 보호구간의 공백을 찾는다</a:t>
              </a:r>
              <a:endParaRPr lang="en-US" sz="134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44784" y="6510528"/>
            <a:ext cx="905256" cy="548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0E1509-1D52-43B5-BE36-43494829A4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919"/>
          <a:stretch/>
        </p:blipFill>
        <p:spPr>
          <a:xfrm>
            <a:off x="676656" y="2669305"/>
            <a:ext cx="5450205" cy="30335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49FD82-9651-4AA1-905E-9E7012097D73}"/>
              </a:ext>
            </a:extLst>
          </p:cNvPr>
          <p:cNvSpPr txBox="1"/>
          <p:nvPr/>
        </p:nvSpPr>
        <p:spPr>
          <a:xfrm>
            <a:off x="7462266" y="3332188"/>
            <a:ext cx="3917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예방 수칙의 부제</a:t>
            </a:r>
            <a:r>
              <a:rPr lang="en-US" altLang="ko-KR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?</a:t>
            </a:r>
          </a:p>
          <a:p>
            <a:pPr marL="0" indent="0" algn="l">
              <a:buNone/>
            </a:pPr>
            <a:r>
              <a:rPr lang="ko-KR" altLang="en-US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사</a:t>
            </a:r>
            <a:r>
              <a:rPr lang="en-US" altLang="ko-KR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……..</a:t>
            </a:r>
          </a:p>
        </p:txBody>
      </p:sp>
    </p:spTree>
    <p:extLst>
      <p:ext uri="{BB962C8B-B14F-4D97-AF65-F5344CB8AC3E}">
        <p14:creationId xmlns:p14="http://schemas.microsoft.com/office/powerpoint/2010/main" val="87013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016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문제도출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보호체계가 개입하는 구간과, 통화 중 판단 공백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진행 흐름을 시간축으로 놓고 기존 기능의 트리거·개입 시점을 구조적으로 보여주는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04672" y="2761488"/>
            <a:ext cx="10479024" cy="0"/>
          </a:xfrm>
          <a:prstGeom prst="line">
            <a:avLst/>
          </a:prstGeom>
          <a:noFill/>
          <a:ln w="40640">
            <a:solidFill>
              <a:srgbClr val="AFC7E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5840" y="2587752"/>
            <a:ext cx="347472" cy="347472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전</a:t>
            </a:r>
            <a:endParaRPr lang="en-US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42976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 차단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접촉 단계</a:t>
            </a:r>
            <a:endParaRPr lang="en-US" sz="124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위험번호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악성앱 탐지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04688" y="2587752"/>
            <a:ext cx="347472" cy="347472"/>
          </a:xfrm>
          <a:prstGeom prst="ellipse">
            <a:avLst/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중</a:t>
            </a:r>
            <a:endParaRPr lang="en-US" sz="1240" dirty="0"/>
          </a:p>
        </p:txBody>
      </p:sp>
      <p:sp>
        <p:nvSpPr>
          <p:cNvPr id="19" name="Text 17"/>
          <p:cNvSpPr txBox="1"/>
          <p:nvPr/>
        </p:nvSpPr>
        <p:spPr>
          <a:xfrm>
            <a:off x="4928616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형성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심리적 압박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4555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 시도</a:t>
            </a:r>
            <a:endParaRPr lang="en-US" sz="124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· ASAP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04120" y="2587752"/>
            <a:ext cx="347472" cy="34747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007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거래 후</a:t>
            </a:r>
            <a:endParaRPr lang="en-US" sz="1240" dirty="0"/>
          </a:p>
        </p:txBody>
      </p:sp>
      <p:sp>
        <p:nvSpPr>
          <p:cNvPr id="25" name="Text 23"/>
          <p:cNvSpPr txBox="1"/>
          <p:nvPr/>
        </p:nvSpPr>
        <p:spPr>
          <a:xfrm>
            <a:off x="952804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지급정지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피해구제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1901952"/>
            <a:ext cx="2505456" cy="2670048"/>
          </a:xfrm>
          <a:prstGeom prst="roundRect">
            <a:avLst>
              <a:gd name="adj" fmla="val 7299"/>
            </a:avLst>
          </a:prstGeom>
          <a:solidFill>
            <a:srgbClr val="FFF6F7"/>
          </a:solidFill>
          <a:ln w="10160">
            <a:solidFill>
              <a:srgbClr val="FFD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211226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84064" y="21396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공백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2660904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내용이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판단을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바꾸는 순간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373989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장치가 존재해도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“상황의 진위”를 즉시 검증하기 어렵다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" y="5285232"/>
            <a:ext cx="10625328" cy="566928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2416" y="54315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핵심: 보호장치 사이의 빈 구간은 ‘통화 속 판단이 형성되는 시간’에 존재할 수 있다.</a:t>
            </a:r>
            <a:endParaRPr lang="en-US" sz="13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C5BB59-1D02-4ABB-8083-EA7E83293219}"/>
              </a:ext>
            </a:extLst>
          </p:cNvPr>
          <p:cNvSpPr/>
          <p:nvPr/>
        </p:nvSpPr>
        <p:spPr>
          <a:xfrm>
            <a:off x="3352800" y="1727199"/>
            <a:ext cx="4986867" cy="3268133"/>
          </a:xfrm>
          <a:prstGeom prst="round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보이스피싱 수법 분석</a:t>
            </a:r>
            <a:r>
              <a:rPr lang="en-US" altLang="ko-KR" dirty="0">
                <a:solidFill>
                  <a:schemeClr val="bg1"/>
                </a:solidFill>
              </a:rPr>
              <a:t>!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830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전략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보이스피싱은 ‘거짓 정보’뿐 아니라 ‘거짓 판단’을 유도한다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가지 전략이 결합해 피해자의 판단 환경 자체를 장악하는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58952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9344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우위</a:t>
            </a:r>
            <a:endParaRPr lang="en-US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정교한 개인정보·절차 설명으로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“상대가 더 많이 알고 있다”는 인상 형성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15384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B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심리적 압박</a:t>
            </a:r>
            <a:endParaRPr lang="en-US" sz="162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권위 · 공포 · 긴급성으로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차분하게 비교·검토할 시간을 축소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671816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CD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22208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차단</a:t>
            </a:r>
            <a:endParaRPr lang="en-US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7918704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비밀유지 · 연락 제한 ·</a:t>
            </a:r>
            <a:endParaRPr lang="en-US" sz="1130" dirty="0"/>
          </a:p>
          <a:p>
            <a:pPr marL="0" indent="0" algn="l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확인 절차 방해로 독립적 판단을 차단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639312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95744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72968" y="4782312"/>
            <a:ext cx="5833872" cy="850392"/>
          </a:xfrm>
          <a:prstGeom prst="roundRect">
            <a:avLst>
              <a:gd name="adj" fmla="val 19355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38144" y="5001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요소가 결합하면 범죄자는 피해자의 “판단 환경”을 장악한다</a:t>
            </a:r>
            <a:endParaRPr lang="en-US" sz="16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6FB03-DC66-44F9-B8C6-CA052B0E3538}"/>
              </a:ext>
            </a:extLst>
          </p:cNvPr>
          <p:cNvSpPr txBox="1"/>
          <p:nvPr/>
        </p:nvSpPr>
        <p:spPr>
          <a:xfrm>
            <a:off x="4842934" y="73820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연령별 취약성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BEE45-68C9-4DBF-A291-79588BD65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995" y="1432408"/>
            <a:ext cx="7240010" cy="657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1F80D0-09F6-4E22-BC66-C9B7A6C7F561}"/>
              </a:ext>
            </a:extLst>
          </p:cNvPr>
          <p:cNvSpPr/>
          <p:nvPr/>
        </p:nvSpPr>
        <p:spPr>
          <a:xfrm>
            <a:off x="3254928" y="2609334"/>
            <a:ext cx="6002867" cy="2658534"/>
          </a:xfrm>
          <a:prstGeom prst="rect">
            <a:avLst/>
          </a:prstGeom>
          <a:solidFill>
            <a:schemeClr val="tx1"/>
          </a:solidFill>
          <a:ln w="12700">
            <a:solidFill>
              <a:srgbClr val="0E2746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연령별 나이 비중 변화</a:t>
            </a:r>
          </a:p>
        </p:txBody>
      </p:sp>
    </p:spTree>
    <p:extLst>
      <p:ext uri="{BB962C8B-B14F-4D97-AF65-F5344CB8AC3E}">
        <p14:creationId xmlns:p14="http://schemas.microsoft.com/office/powerpoint/2010/main" val="1073232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연령·유형별로 서로 다른 판단 공백이 나타난다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20대와 고령층의 취약성을 단순 “주의 부족”이 아니라 정보·경험·검증 구조의 차이로 설명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76656" y="1883664"/>
            <a:ext cx="5175504" cy="333756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13055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21579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20대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기준의 공백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136392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금융·행정·수사 절차에 대한 경험이 적을 경우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“정상적인 절차가 무엇인지” 비교할 기준점이 부족할 수 있다.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96112" y="4242816"/>
            <a:ext cx="4425696" cy="621792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공격: 권위·기관사칭 → 정상 절차로 오인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108192" y="1883664"/>
            <a:ext cx="5175504" cy="333756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213055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1579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고령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02B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정보·검증의 공백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36392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디지털·금융환경이 빠르게 변하면서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정보를 검색·비교·확인하는 과정 자체가 부담이 될 수 있다.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327648" y="4242816"/>
            <a:ext cx="4425696" cy="621792"/>
          </a:xfrm>
          <a:prstGeom prst="roundRect">
            <a:avLst>
              <a:gd name="adj" fmla="val 17647"/>
            </a:avLst>
          </a:prstGeom>
          <a:solidFill>
            <a:srgbClr val="EDF2F8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4407408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5" b="1" dirty="0">
                <a:solidFill>
                  <a:srgbClr val="102B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공격: 반복 설명·다중 사칭 → 혼돈과 신뢰 강화</a:t>
            </a:r>
            <a:endParaRPr lang="en-US" sz="1135" dirty="0"/>
          </a:p>
        </p:txBody>
      </p:sp>
      <p:sp>
        <p:nvSpPr>
          <p:cNvPr id="24" name="Shape 22"/>
          <p:cNvSpPr/>
          <p:nvPr/>
        </p:nvSpPr>
        <p:spPr>
          <a:xfrm>
            <a:off x="676656" y="5458968"/>
            <a:ext cx="10607040" cy="402336"/>
          </a:xfrm>
          <a:prstGeom prst="roundRect">
            <a:avLst>
              <a:gd name="adj" fmla="val 31818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5541264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하단에는 “연령별 피해 현황 그래프” 또는 관련 설문·논문 근거를 삽입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핵심은 연령이 아니라, 취약성과 공격방식의 결합이다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20대·고령층을 넘어 일반 금융소비자도 특정 상황에서는 판단이 흔들릴 수 있다는 확장 메시지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누구나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03704" y="19842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취약해질 수 있는 순간이 있다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정교한 개인정보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이름·직장·거래정보를 알고 접근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“진짜 기관 같다”는 신뢰 강화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059936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61104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갑작스러운 공포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수사·체포·자산동결 등 위협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차분한 판단보다 즉시 대응 선택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406640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7808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충분하지 않은 시간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당장 처리해야 한다는 압박</a:t>
            </a:r>
            <a:endParaRPr lang="en-US" sz="1060" dirty="0"/>
          </a:p>
          <a:p>
            <a:pPr marL="0" indent="0" algn="l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가족·기관에 확인할 시간을 제거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353312" y="5102352"/>
            <a:ext cx="9491472" cy="749808"/>
          </a:xfrm>
          <a:prstGeom prst="roundRect">
            <a:avLst>
              <a:gd name="adj" fmla="val 2195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64208" y="532180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사람마다 취약성은 다르고, 범죄자는 그 취약성과 맞는 공격방식을 선택한다</a:t>
            </a:r>
            <a:endParaRPr lang="en-US" sz="14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피해가 발생하는 구조를 종합하면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전략 × 피해자의 취약성 × 외부 검증 제한이 결합해 잘못된 판단과 송금으로 이어지는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 전략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정보비대칭 · 권위 · 공포 · 긴급성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30752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취약성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경험 부족 · 정보격차 · 순간 부담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711696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제한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시간압박 · 비밀유지 · 확인 방해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381744" y="2926080"/>
            <a:ext cx="694944" cy="0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49840" y="2331720"/>
            <a:ext cx="1426464" cy="1143000"/>
          </a:xfrm>
          <a:prstGeom prst="roundRect">
            <a:avLst>
              <a:gd name="adj" fmla="val 14400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68712" y="253288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환경 붕괴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853928" y="3694176"/>
            <a:ext cx="0" cy="658368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13648" y="4526280"/>
            <a:ext cx="2907792" cy="996696"/>
          </a:xfrm>
          <a:prstGeom prst="roundRect">
            <a:avLst>
              <a:gd name="adj" fmla="val 16514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48371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잘못된 판단 → 송금 → 실제 피해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749808" y="4315968"/>
            <a:ext cx="7223760" cy="1197864"/>
          </a:xfrm>
          <a:prstGeom prst="roundRect">
            <a:avLst>
              <a:gd name="adj" fmla="val 1374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문제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48056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현재 상황이 정상인지 보이스피싱인지</a:t>
            </a:r>
            <a:endParaRPr lang="en-US" sz="1630" dirty="0"/>
          </a:p>
          <a:p>
            <a:pPr marL="0" indent="0" algn="l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스스로 검증하기 어려워지는 순간이 존재한다</a:t>
            </a:r>
            <a:endParaRPr lang="en-US" sz="16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조작된 상황에서도 피해자는 혼자 판단한다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문제의 본질을 “정보 부족”이 아니라 “판단과 금융행동의 개인 의존성”으로 정의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9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보이스피싱의 핵심 문제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04288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최종 판단과 금융행동이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개인에게 크게 의존한다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58952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2286000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44368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72384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흔들림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471416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9784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혼자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656832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C6FE7"/>
          </a:solidFill>
          <a:ln w="10160">
            <a:solidFill>
              <a:srgbClr val="2C6F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43216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842248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0616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28816" y="3456432"/>
            <a:ext cx="0" cy="1920240"/>
          </a:xfrm>
          <a:prstGeom prst="line">
            <a:avLst/>
          </a:prstGeom>
          <a:noFill/>
          <a:ln w="20320">
            <a:solidFill>
              <a:srgbClr val="1F5EFF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742432" y="3063240"/>
            <a:ext cx="1572768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316382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검증?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2560320" y="5422392"/>
            <a:ext cx="7040880" cy="521208"/>
          </a:xfrm>
          <a:prstGeom prst="roundRect">
            <a:avLst>
              <a:gd name="adj" fmla="val 2456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70632" y="5550408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과정에 객관적인 제3자의 판단을 개입시킬 수 있다면?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인사이트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가지 인사이트가 하나의 방향을 가리킨다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예방정보를 더 주는 것보다, 판단이 흔들리는 순간에 독립 검증과 금융행동 지연을 결합해야 한다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09397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1305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05740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부족만의 문제가 아니다</a:t>
            </a:r>
            <a:endParaRPr lang="en-US" sz="1530" dirty="0"/>
          </a:p>
        </p:txBody>
      </p:sp>
      <p:sp>
        <p:nvSpPr>
          <p:cNvPr id="14" name="Text 12"/>
          <p:cNvSpPr txBox="1"/>
          <p:nvPr/>
        </p:nvSpPr>
        <p:spPr>
          <a:xfrm>
            <a:off x="5641848" y="206654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보이스피싱은 피해자의 판단 환경 자체를 조작한다.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299923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191256"/>
            <a:ext cx="438912" cy="43891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2278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15468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피해자를 혼자 판단하게 두어서는 안 된다</a:t>
            </a:r>
            <a:endParaRPr lang="en-US" sz="1530" dirty="0"/>
          </a:p>
        </p:txBody>
      </p:sp>
      <p:sp>
        <p:nvSpPr>
          <p:cNvPr id="19" name="Text 17"/>
          <p:cNvSpPr txBox="1"/>
          <p:nvPr/>
        </p:nvSpPr>
        <p:spPr>
          <a:xfrm>
            <a:off x="5641848" y="316382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 밖에서 보는 독립적인 제3자의 검토가 필요하다.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409651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28853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325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425196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검증하는 동안 송금이 가능하면 늦을 수 있다</a:t>
            </a:r>
            <a:endParaRPr lang="en-US" sz="153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426110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검증이 끝날 때까지 금융행동을 잠시 멈출 수 있어야 한다.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74520" y="5358384"/>
            <a:ext cx="8412480" cy="603504"/>
          </a:xfrm>
          <a:prstGeom prst="roundRect">
            <a:avLst>
              <a:gd name="adj" fmla="val 24242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57984" y="552297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새로운 정보 하나가 아니라, “상황 밖에서 바라보는 독립적 외부 검증”이 필요하다</a:t>
            </a:r>
            <a:endParaRPr lang="en-US" sz="13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해결방안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판단과 송금 사이에 ‘금융 방지턱’을 만든다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판단이 즉시 금융피해로 이어지지 않도록 한 번 더 멈춰 세우는 보호구간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1911096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385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구조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947672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94560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흔들림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374136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86784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9936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166360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3248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1F3"/>
          </a:solidFill>
          <a:ln w="10160">
            <a:solidFill>
              <a:srgbClr val="FFD1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A53F4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913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94106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제안 구조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04288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94560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67712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위험탐지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0752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136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867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 방지턱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498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7424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155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독립검증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786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90688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안전한 재판단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710928" y="1911096"/>
            <a:ext cx="1828800" cy="3483864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76104" y="21854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2743200"/>
            <a:ext cx="1353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대신하지 않고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040112" y="3657600"/>
            <a:ext cx="1188720" cy="0"/>
          </a:xfrm>
          <a:prstGeom prst="line">
            <a:avLst/>
          </a:prstGeom>
          <a:noFill/>
          <a:ln w="12700">
            <a:solidFill>
              <a:srgbClr val="315B84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39136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1330" dirty="0"/>
          </a:p>
          <a:p>
            <a:pPr marL="0" indent="0" algn="ctr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</a:t>
            </a:r>
            <a:endParaRPr lang="en-US" sz="13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제안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 송금방지턱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위험 탐지부터 다중검증까지 연결되는 5단계 금융안전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85800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통화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 탐지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832104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사칭·권위·긴급성·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요구 신호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487168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53512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7248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5B9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위험도·근거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산출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18688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3099816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위험한지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근거와 함께 제시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754880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21224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7CC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역할별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맞춤 브리프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0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367528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피해자·신뢰인·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금융기관별 정보 분리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022592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88936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62672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95D2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04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7662672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54112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7635240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신뢰인 공동검토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및 일시 보류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290304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756648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30384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30384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AEDC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05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독립검증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연결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021824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금융기관·공식기관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1920240" y="5486400"/>
            <a:ext cx="8357616" cy="466344"/>
          </a:xfrm>
          <a:prstGeom prst="roundRect">
            <a:avLst>
              <a:gd name="adj" fmla="val 31373"/>
            </a:avLst>
          </a:prstGeom>
          <a:solidFill>
            <a:srgbClr val="102F50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57984" y="5596128"/>
            <a:ext cx="7900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D4E4F3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탐지 → 근거 → 공유 → 보류 → 검증 : “판단”과 “금융행동”을 동시에 보호</a:t>
            </a:r>
            <a:endParaRPr lang="en-US" sz="124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구조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관계자마다 서로 다른 역할로 개입한다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동일한 정보를 모두에게 보내지 않고, 각 주체에게 필요한 정보와 권한만 제공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144475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40280" y="1847088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3432" y="19476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제공 정보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82512" y="1847088"/>
            <a:ext cx="269748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9476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847088"/>
            <a:ext cx="226771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2872" y="19476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접근 원칙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2414016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252374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2414016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25237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위험도 · 근거 · 행동 안내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382512" y="2414016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25237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종료 · 재확인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189720" y="2414016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25237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본인 의사결정 지원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13232" y="3127248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323697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신뢰인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40280" y="3127248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31720" y="3236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상황요약 · AI 분석 · 요구금액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382512" y="3127248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3952" y="32369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거래별 공동검토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189720" y="3127248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81160" y="323697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최소 필요 정보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713232" y="3840480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395020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금융기관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40280" y="3840480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3172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거래위험 · 요구금액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6382512" y="3840480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3950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 · 보류 · 차단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9189720" y="3840480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81160" y="39502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보호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713232" y="4553712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46634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기관 담당자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40280" y="4553712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317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사칭정보 · 확인요청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6382512" y="4553712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진위검증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9189720" y="4553712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81160" y="46634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진위확인만 제공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713232" y="5468112"/>
            <a:ext cx="10744200" cy="457200"/>
          </a:xfrm>
          <a:prstGeom prst="roundRect">
            <a:avLst>
              <a:gd name="adj" fmla="val 28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" y="5568696"/>
            <a:ext cx="10259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PRIVACY BY ROLE  |  필요한 정보만 · 필요한 주체에게 · 필요한 순간에</a:t>
            </a:r>
            <a:endParaRPr lang="en-US" sz="118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58521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CLOSING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 대신하지 않는다.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258568"/>
            <a:ext cx="7498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멈춘다.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776472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위험을 탐지하고, 외부의 독립적인 주체가 상황을 검증하며,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검증이 끝날 때까지 위험한 금융거래를 잠시 보류하는 구조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39328" y="1353312"/>
            <a:ext cx="2962656" cy="4005072"/>
          </a:xfrm>
          <a:prstGeom prst="roundRect">
            <a:avLst>
              <a:gd name="adj" fmla="val 7407"/>
            </a:avLst>
          </a:prstGeom>
          <a:solidFill>
            <a:srgbClr val="103256"/>
          </a:solidFill>
          <a:ln w="10160">
            <a:solidFill>
              <a:srgbClr val="2A5A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68512" y="18470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08592" y="2020824"/>
            <a:ext cx="502920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893808" y="184708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40112" y="2386584"/>
            <a:ext cx="0" cy="54864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217152" y="30815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32520" y="4325112"/>
            <a:ext cx="2139696" cy="0"/>
          </a:xfrm>
          <a:prstGeom prst="line">
            <a:avLst/>
          </a:prstGeom>
          <a:noFill/>
          <a:ln w="12700">
            <a:solidFill>
              <a:srgbClr val="315C8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814816" y="4590288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송금방지턱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907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84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BLUE PROPOSAL TEMPLATE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12700">
          <a:solidFill>
            <a:srgbClr val="0E2746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1694</Words>
  <Application>Microsoft Office PowerPoint</Application>
  <PresentationFormat>Widescreen</PresentationFormat>
  <Paragraphs>352</Paragraphs>
  <Slides>30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NanumSquare</vt:lpstr>
      <vt:lpstr>NanumSquare Bold</vt:lpstr>
      <vt:lpstr>맑은 고딕</vt:lpstr>
      <vt:lpstr>페이퍼로지 4 Regular</vt:lpstr>
      <vt:lpstr>페이퍼로지 7 Bold</vt:lpstr>
      <vt:lpstr>페이퍼로지 8 ExtraBold</vt:lpstr>
      <vt:lpstr>페이퍼로지 9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mbc</dc:creator>
  <cp:lastModifiedBy>mbc</cp:lastModifiedBy>
  <cp:revision>37</cp:revision>
  <dcterms:created xsi:type="dcterms:W3CDTF">2026-08-25T03:40:06Z</dcterms:created>
  <dcterms:modified xsi:type="dcterms:W3CDTF">2026-08-26T08:13:32Z</dcterms:modified>
</cp:coreProperties>
</file>