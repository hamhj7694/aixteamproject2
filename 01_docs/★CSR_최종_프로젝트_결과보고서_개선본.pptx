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4" r:id="rId2"/>
    <p:sldMasterId id="2147483656" r:id="rId3"/>
    <p:sldMasterId id="2147483658" r:id="rId4"/>
  </p:sldMasterIdLst>
  <p:notesMasterIdLst>
    <p:notesMasterId r:id="rId5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72" r:id="rId12"/>
    <p:sldId id="361" r:id="rId13"/>
    <p:sldId id="362" r:id="rId14"/>
    <p:sldId id="274" r:id="rId15"/>
    <p:sldId id="273" r:id="rId16"/>
    <p:sldId id="263" r:id="rId17"/>
    <p:sldId id="264" r:id="rId18"/>
    <p:sldId id="265" r:id="rId19"/>
    <p:sldId id="266" r:id="rId20"/>
    <p:sldId id="267" r:id="rId21"/>
    <p:sldId id="356" r:id="rId22"/>
    <p:sldId id="358" r:id="rId23"/>
    <p:sldId id="359" r:id="rId24"/>
    <p:sldId id="271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360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9" r:id="rId5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61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move the slide</a:t>
            </a: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3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39" name="PlaceHolder 4"/>
          <p:cNvSpPr>
            <a:spLocks noGrp="1"/>
          </p:cNvSpPr>
          <p:nvPr>
            <p:ph type="dt" idx="7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0" name="PlaceHolder 5"/>
          <p:cNvSpPr>
            <a:spLocks noGrp="1"/>
          </p:cNvSpPr>
          <p:nvPr>
            <p:ph type="ftr" idx="8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</a:p>
        </p:txBody>
      </p:sp>
      <p:sp>
        <p:nvSpPr>
          <p:cNvPr id="41" name="PlaceHolder 6"/>
          <p:cNvSpPr>
            <a:spLocks noGrp="1"/>
          </p:cNvSpPr>
          <p:nvPr>
            <p:ph type="sldNum" idx="9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48EB0A7-1E42-40A9-BA8F-FFCBB57D8571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결과보고서 양식 표지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CSR 01~05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초안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훈련기관명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종료일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멘토 표기는 팀 확인 후 입력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53" name="PlaceHolder 3"/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팀별 프로젝트 결과보고서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.pptx, 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쪽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56" name="PlaceHolder 3"/>
          <p:cNvSpPr>
            <a:spLocks noGrp="1"/>
          </p:cNvSpPr>
          <p:nvPr>
            <p:ph type="sldNum" idx="1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근거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수료증 내용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(6).xlsx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팀원 직접 작성 수행내역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붙여넣은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(1)(20260929-074711)(2).md.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1·2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장의 내용을 통합했고 멘토는 자문 역할로만 표기했습니다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59" name="PlaceHolder 3"/>
          <p:cNvSpPr>
            <a:spLocks noGrp="1"/>
          </p:cNvSpPr>
          <p:nvPr>
            <p:ph type="sldNum" idx="1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근거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수료증 내용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(6).xlsx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분석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상단은 사건 진행 순서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중단은 파트별 구현 책임으로 구분했습니다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 전송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PROPOSED Fact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확인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금융 판단에는 담당자 검토가 필요합니다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62" name="PlaceHolder 3"/>
          <p:cNvSpPr>
            <a:spLocks noGrp="1"/>
          </p:cNvSpPr>
          <p:nvPr>
            <p:ph type="sldNum" idx="1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근거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Notion Export.zip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최종 분석 정리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완성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모델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대시보드 기록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제출일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근거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붙여넣은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(1)(20260929-074711)(2).md.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오래된 미완료 체크리스트보다 후반 산출물 기록을 우선했습니다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65" name="PlaceHolder 3"/>
          <p:cNvSpPr>
            <a:spLocks noGrp="1"/>
          </p:cNvSpPr>
          <p:nvPr>
            <p:ph type="sldNum" idx="1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PlaceHolder 3"/>
          <p:cNvSpPr>
            <a:spLocks noGrp="1"/>
          </p:cNvSpPr>
          <p:nvPr>
            <p:ph type="sldNum" idx="2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[Sources]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사용자 제공 서비스 강점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통화 발화에서 사칭 대상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주장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요구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압박 맥락을 구조화해 은행 확인업무에 제공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-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 개념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Customer/Bank/Verification Agent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동일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Shared Case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에서 확인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설득 근거를 병렬 축적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95" name="PlaceHolder 3"/>
          <p:cNvSpPr>
            <a:spLocks noGrp="1"/>
          </p:cNvSpPr>
          <p:nvPr>
            <p:ph type="sldNum" idx="2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READ-ONLY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2~3, 4, 6~8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 추천은 발송 초안이며 직원 선택 이후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queue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넣은 질문의 순차 진행은 구현되어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활성 정황과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PROPOSED Fact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확정 전에도 업무 맥락에서 활용됩니다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직원 확정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있지만 현재 기본 화면의 필수 단계로 표현하지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추출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job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지연 때문에 고객 응답 저장과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Context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갱신의 즉시 완료는 보장하지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금융기관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수사기관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지급정지 실연동은 없으며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내부 조치와 확인 결과 기록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시뮬레이션 범위입니다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92" name="PlaceHolder 3"/>
          <p:cNvSpPr>
            <a:spLocks noGrp="1"/>
          </p:cNvSpPr>
          <p:nvPr>
            <p:ph type="sldNum" idx="2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6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8" name="PlaceHolder 3"/>
          <p:cNvSpPr>
            <a:spLocks noGrp="1"/>
          </p:cNvSpPr>
          <p:nvPr>
            <p:ph type="sldNum" idx="1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1" name="PlaceHolder 3"/>
          <p:cNvSpPr>
            <a:spLocks noGrp="1"/>
          </p:cNvSpPr>
          <p:nvPr>
            <p:ph type="sldNum" idx="1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1BC9E81-8B0B-4576-B878-7F8659EBD108}" type="slidenum">
              <a:rPr lang="en-US" sz="18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14</a:t>
            </a:fld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7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4" name="PlaceHolder 3"/>
          <p:cNvSpPr>
            <a:spLocks noGrp="1"/>
          </p:cNvSpPr>
          <p:nvPr>
            <p:ph type="sldNum" idx="1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9"/>
          </p:nvPr>
        </p:nvSpPr>
        <p:spPr/>
        <p:txBody>
          <a:bodyPr/>
          <a:lstStyle/>
          <a:p>
            <a:pPr indent="0" algn="r">
              <a:buNone/>
            </a:pPr>
            <a:fld id="{E48EB0A7-1E42-40A9-BA8F-FFCBB57D8571}" type="slidenum">
              <a:rPr lang="en-US" sz="1400" b="0" u="none" strike="noStrike" smtClean="0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069240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7863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16836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738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 최신 작업본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4~14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 슬라이드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특히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6~7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 및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12~14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통신사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AI·ASAP·FDS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역할별로 병렬 제시하며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세 체계가 모두 하나의 직렬 시스템으로 실연동된다는 의미가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CSR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기존 탐지체계와 별도로 탐지 이후 대응 업무에 집중하는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B2B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워크스페이스를 지향합니다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 사례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통계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법률의 세부 주장은 이번 개요에서 재현하지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86" name="PlaceHolder 3"/>
          <p:cNvSpPr>
            <a:spLocks noGrp="1"/>
          </p:cNvSpPr>
          <p:nvPr>
            <p:ph type="sldNum" idx="2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197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출처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 최신 작업본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12~14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 슬라이드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7~8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절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 역할 및 수행 일정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번 슬라이드의 기간 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일정은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구간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8/20~9/30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 요약했습니다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8/6~8/19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차 프로젝트 경험은 상세 수행 절차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 수행 일정에서 다룰 수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온디바이스 분석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가공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은행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Web/App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적용 목표이며 현재 연결 완료가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JSON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만 사용한다고 적법성이나 개인정보 보호가 자동 보장되는 것은 아닙니다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규제 샌드박스를 통신비밀보호법의 자동 예외로 표현하지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인증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·RBAC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일부 구현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로그인 세션 미완성입니다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데모는 분석 입력 원문을 저장하므로 무보관 원칙을 현재 구현 사실로 제시하지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기대효과는 정성적 목표이며 피해 감소율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업무시간 단축률을 산정하지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198" name="PlaceHolder 3"/>
          <p:cNvSpPr>
            <a:spLocks noGrp="1"/>
          </p:cNvSpPr>
          <p:nvPr>
            <p:ph type="sldNum" idx="2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0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PlaceHolder 3"/>
          <p:cNvSpPr>
            <a:spLocks noGrp="1"/>
          </p:cNvSpPr>
          <p:nvPr>
            <p:ph type="sldNum" idx="2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3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PlaceHolder 3"/>
          <p:cNvSpPr>
            <a:spLocks noGrp="1"/>
          </p:cNvSpPr>
          <p:nvPr>
            <p:ph type="sldNum" idx="27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6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PlaceHolder 3"/>
          <p:cNvSpPr>
            <a:spLocks noGrp="1"/>
          </p:cNvSpPr>
          <p:nvPr>
            <p:ph type="sldNum" idx="28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09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사건 발생 전에 은행 직원의 이름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직무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담당 업무와 처리 가능 영역을 등록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관리할 수 있는 담당자 디렉터리를 제공합니다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이후 보이스피싱 정황이 탐지되어 새로운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가 생성되면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담당자가 최초로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에 접속하는 시점에 배정 화면을 자동으로 표시합니다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배정 화면에서는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위험도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사기 유형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필요한 대응 업무와 사전에 등록된 담당자의 역할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전문 영역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배정 상태를 비교해 적합한 담당자를 추천합니다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은행 직원은 추천 목록을 검토한 뒤 담당자를 직접 선택하거나 여러 담당자에게 역할별로 배정할 수 있으며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최종 배정 결과는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Case </a:t>
            </a:r>
            <a:r>
              <a:rPr lang="ko-K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정보에 저장되어 이후 처리 이력과 협업 기준으로 활용됩니다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PlaceHolder 3"/>
          <p:cNvSpPr>
            <a:spLocks noGrp="1"/>
          </p:cNvSpPr>
          <p:nvPr>
            <p:ph type="sldNum" idx="29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PlaceHolder 3"/>
          <p:cNvSpPr>
            <a:spLocks noGrp="1"/>
          </p:cNvSpPr>
          <p:nvPr>
            <p:ph type="sldNum" idx="3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6" name="PlaceHolder 3"/>
          <p:cNvSpPr>
            <a:spLocks noGrp="1"/>
          </p:cNvSpPr>
          <p:nvPr>
            <p:ph type="sldNum" idx="31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18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9" name="PlaceHolder 3"/>
          <p:cNvSpPr>
            <a:spLocks noGrp="1"/>
          </p:cNvSpPr>
          <p:nvPr>
            <p:ph type="sldNum" idx="32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1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제출요건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팀별 프로젝트 결과보고서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14(05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 평가 의견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 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CSR_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상세수행절차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팀장작업본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4~14.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구현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기준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READ-ONLY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수정본의 서비스 방향 및 디자인을 유지하여 자체평가 항목을 보완했습니다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화면의 기획 의도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구현 성과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부합 정도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실무 활용 가능성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·10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점 만점 평가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범위는 공식 요구사항에 대응합니다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점수는 근거와 팀 합의가 없으므로 확정하지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현행 통신사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AI·ASAP·FDS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별도 유지하며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CSR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은 탐지 이후 업무지원 워크스페이스입니다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ML·STT·LLM·Demo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는 학생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의 입력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분석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Adapter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질문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production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연결과 고객 응답→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Fact→Context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연결은 구현돼 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Fact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후보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·AI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제안은 확정 사실과 구분됩니다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전체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Browser E2E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완료는 주장하지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22" name="PlaceHolder 3"/>
          <p:cNvSpPr>
            <a:spLocks noGrp="1"/>
          </p:cNvSpPr>
          <p:nvPr>
            <p:ph type="sldNum" idx="33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1224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제출요건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2.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팀별 프로젝트 결과보고서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(6).pptx,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14(05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자체 평가 의견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).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 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CSR_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서비스정의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상세수행절차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_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팀장작업본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.pptx,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슬라이드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4~14.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구현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·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검증 기준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: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최신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MVP_v3 READ-ONLY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교차 검증 결과 마크다운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(1).md.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기존 수정본의 서비스 방향 및 디자인을 유지하여 자체평가 항목을 보완했습니다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  <a:p>
            <a:pPr indent="0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한계는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PoC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와 실서비스 적용 사이의 차이입니다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운영 로그인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/RBAC,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공식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Verification RAG production,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실제 외부 금융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기관 연계는 완료되지 않았습니다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내부 검색이나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Mock/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내부 거래 데이터를 실서비스 연동으로 해석하지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FDS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를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CSR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안으로 통합하는 일을 핵심 미완료로 평가하지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현재 입력 원문 저장 경로와 향후 온디바이스 정황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JSON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전달 방향을 구분했습니다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정량 개선율을 주장하지 않습니다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</a:p>
        </p:txBody>
      </p:sp>
      <p:sp>
        <p:nvSpPr>
          <p:cNvPr id="1225" name="PlaceHolder 3"/>
          <p:cNvSpPr>
            <a:spLocks noGrp="1"/>
          </p:cNvSpPr>
          <p:nvPr>
            <p:ph type="sldNum" idx="3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1189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95;p49"/>
          <p:cNvCxnSpPr/>
          <p:nvPr/>
        </p:nvCxnSpPr>
        <p:spPr>
          <a:xfrm>
            <a:off x="548640" y="6464520"/>
            <a:ext cx="11110680" cy="720"/>
          </a:xfrm>
          <a:prstGeom prst="straightConnector1">
            <a:avLst/>
          </a:prstGeom>
          <a:ln w="10150">
            <a:solidFill>
              <a:srgbClr val="244465"/>
            </a:solidFill>
            <a:round/>
          </a:ln>
        </p:spPr>
      </p:cxnSp>
      <p:sp>
        <p:nvSpPr>
          <p:cNvPr id="3" name="PlaceHolder 1"/>
          <p:cNvSpPr>
            <a:spLocks noGrp="1"/>
          </p:cNvSpPr>
          <p:nvPr>
            <p:ph type="sldNum" idx="1"/>
          </p:nvPr>
        </p:nvSpPr>
        <p:spPr>
          <a:xfrm>
            <a:off x="11475720" y="6510600"/>
            <a:ext cx="273600" cy="16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6D86A6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1DF05B-BC37-444F-92E2-4E072C4E1002}" type="slidenum">
              <a:rPr lang="en-US" sz="900" b="0" u="none" strike="noStrike">
                <a:solidFill>
                  <a:srgbClr val="6D86A6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9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Google Shape;97;p49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360" rIns="90000" bIns="363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/>
        </p:nvSpPr>
        <p:spPr>
          <a:xfrm>
            <a:off x="0" y="73080"/>
            <a:ext cx="12191400" cy="6784560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" name="Shape 0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548640" y="6464520"/>
            <a:ext cx="11109960" cy="360"/>
          </a:xfrm>
          <a:prstGeom prst="line">
            <a:avLst/>
          </a:prstGeom>
          <a:ln w="10160">
            <a:solidFill>
              <a:srgbClr val="DCE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sldNum" idx="2"/>
          </p:nvPr>
        </p:nvSpPr>
        <p:spPr>
          <a:xfrm>
            <a:off x="11475720" y="6510600"/>
            <a:ext cx="273960" cy="164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900" b="0" u="none" strike="noStrike">
                <a:solidFill>
                  <a:srgbClr val="7B8CA8"/>
                </a:solidFill>
                <a:effectLst/>
                <a:uFillTx/>
                <a:latin typeface="NanumSquare"/>
                <a:ea typeface="NanumSquare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3492E2-02E4-43E0-B6CF-8D58A6B47411}" type="slidenum">
              <a:rPr lang="en-US" sz="900" b="0" u="none" strike="noStrike">
                <a:solidFill>
                  <a:srgbClr val="7B8CA8"/>
                </a:solidFill>
                <a:effectLst/>
                <a:uFillTx/>
                <a:latin typeface="NanumSquare"/>
                <a:ea typeface="NanumSquare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Malgun Gothic"/>
                <a:ea typeface="Malgun Gothic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C36D0D5-C5F0-4BFE-B1F5-514F16384ED7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Malgun Gothic"/>
                <a:ea typeface="Malgun Gothic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to edit the title text format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to edit the outline text format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Second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Third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Fourth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21;p37"/>
          <p:cNvSpPr/>
          <p:nvPr/>
        </p:nvSpPr>
        <p:spPr>
          <a:xfrm>
            <a:off x="0" y="73080"/>
            <a:ext cx="12191040" cy="6784200"/>
          </a:xfrm>
          <a:prstGeom prst="rect">
            <a:avLst/>
          </a:prstGeom>
          <a:solidFill>
            <a:srgbClr val="F7FA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9" name="Google Shape;22;p37"/>
          <p:cNvSpPr/>
          <p:nvPr/>
        </p:nvSpPr>
        <p:spPr>
          <a:xfrm>
            <a:off x="0" y="0"/>
            <a:ext cx="12191040" cy="7236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360" rIns="90000" bIns="3636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  <a:ea typeface="Arial"/>
            </a:endParaRPr>
          </a:p>
        </p:txBody>
      </p:sp>
      <p:cxnSp>
        <p:nvCxnSpPr>
          <p:cNvPr id="20" name="Google Shape;23;p37"/>
          <p:cNvCxnSpPr/>
          <p:nvPr/>
        </p:nvCxnSpPr>
        <p:spPr>
          <a:xfrm>
            <a:off x="548640" y="6464520"/>
            <a:ext cx="11110680" cy="720"/>
          </a:xfrm>
          <a:prstGeom prst="straightConnector1">
            <a:avLst/>
          </a:prstGeom>
          <a:ln w="10150">
            <a:solidFill>
              <a:srgbClr val="DCE8FA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sldNum" idx="6"/>
          </p:nvPr>
        </p:nvSpPr>
        <p:spPr>
          <a:xfrm>
            <a:off x="11475720" y="6510600"/>
            <a:ext cx="273600" cy="163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900" b="0" u="none" strike="noStrike">
                <a:solidFill>
                  <a:srgbClr val="7B8CA8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005E093-DB82-4EDF-92E9-213725D2C537}" type="slidenum">
              <a:rPr lang="en-US" sz="900" b="0" u="none" strike="noStrike">
                <a:solidFill>
                  <a:srgbClr val="7B8CA8"/>
                </a:solidFill>
                <a:effectLst/>
                <a:uFillTx/>
                <a:latin typeface="Arial"/>
                <a:ea typeface="Arial"/>
              </a:rPr>
              <a:t>‹#›</a:t>
            </a:fld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to edit the title text format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Click to edit the outline text format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Second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Third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Fourth Outline Level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DARK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95;p49"/>
          <p:cNvCxnSpPr/>
          <p:nvPr/>
        </p:nvCxnSpPr>
        <p:spPr>
          <a:xfrm>
            <a:off x="548640" y="6464520"/>
            <a:ext cx="11110320" cy="360"/>
          </a:xfrm>
          <a:prstGeom prst="straightConnector1">
            <a:avLst/>
          </a:prstGeom>
          <a:ln w="10150">
            <a:solidFill>
              <a:srgbClr val="244465"/>
            </a:solidFill>
            <a:round/>
          </a:ln>
        </p:spPr>
      </p:cxnSp>
      <p:sp>
        <p:nvSpPr>
          <p:cNvPr id="35" name="PlaceHolder 1">
            <a:extLst>
              <a:ext uri="{FF2B5EF4-FFF2-40B4-BE49-F238E27FC236}">
                <a16:creationId xmlns:a16="http://schemas.microsoft.com/office/drawing/2014/main" id="{57C152BA-3FCF-46B9-964B-EA481CBDAA74}"/>
              </a:ext>
            </a:extLst>
          </p:cNvPr>
          <p:cNvSpPr>
            <a:spLocks noGrp="1"/>
          </p:cNvSpPr>
          <p:nvPr>
            <p:ph type="sldNum" idx="15"/>
          </p:nvPr>
        </p:nvSpPr>
        <p:spPr>
          <a:xfrm>
            <a:off x="11475720" y="6510600"/>
            <a:ext cx="273960" cy="16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sz="900" b="0" u="none">
                <a:solidFill>
                  <a:srgbClr val="6D86A6"/>
                </a:solidFill>
                <a:latin typeface="Arial"/>
                <a:ea typeface="Arial"/>
                <a:cs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EAF7038-6CF7-447E-841A-E2FE4EEEF634}" type="slidenum">
              <a:rPr sz="900" b="0" u="none">
                <a:solidFill>
                  <a:srgbClr val="6D86A6"/>
                </a:solidFill>
                <a:latin typeface="Arial"/>
                <a:ea typeface="Arial"/>
                <a:cs typeface="Arial"/>
              </a:rPr>
              <a:t>‹#›</a:t>
            </a:fld>
            <a:endParaRPr sz="900" b="0" u="none">
              <a:solidFill>
                <a:srgbClr val="FFFFFF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6" name="Google Shape;97;p49">
            <a:extLst>
              <a:ext uri="{FF2B5EF4-FFF2-40B4-BE49-F238E27FC236}">
                <a16:creationId xmlns:a16="http://schemas.microsoft.com/office/drawing/2014/main" id="{79BDB7EC-8FEF-4CB0-A923-AE538FDE9FC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6360" bIns="36360" anchor="ctr">
            <a:noAutofit/>
          </a:bodyPr>
          <a:lstStyle/>
          <a:p>
            <a:pPr>
              <a:buNone/>
            </a:pPr>
            <a:endParaRPr sz="1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9399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LIGHT">
    <p:bg>
      <p:bgPr>
        <a:solidFill>
          <a:srgbClr val="F7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B9BABCA-8F5D-4C86-A07A-BAECAF610FF4}"/>
              </a:ext>
            </a:extLst>
          </p:cNvPr>
          <p:cNvSpPr/>
          <p:nvPr userDrawn="1"/>
        </p:nvSpPr>
        <p:spPr>
          <a:xfrm>
            <a:off x="0" y="73152"/>
            <a:ext cx="12191695" cy="6784848"/>
          </a:xfrm>
          <a:prstGeom prst="rect">
            <a:avLst/>
          </a:prstGeom>
          <a:solidFill>
            <a:srgbClr val="F7FA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45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6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title text format</a:t>
            </a: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1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18" Type="http://schemas.openxmlformats.org/officeDocument/2006/relationships/image" Target="../media/image42.png"/><Relationship Id="rId3" Type="http://schemas.openxmlformats.org/officeDocument/2006/relationships/image" Target="../media/image27.jpeg"/><Relationship Id="rId21" Type="http://schemas.openxmlformats.org/officeDocument/2006/relationships/image" Target="../media/image45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40.png"/><Relationship Id="rId20" Type="http://schemas.openxmlformats.org/officeDocument/2006/relationships/image" Target="../media/image44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5" Type="http://schemas.openxmlformats.org/officeDocument/2006/relationships/image" Target="../media/image39.png"/><Relationship Id="rId10" Type="http://schemas.openxmlformats.org/officeDocument/2006/relationships/image" Target="../media/image34.png"/><Relationship Id="rId19" Type="http://schemas.openxmlformats.org/officeDocument/2006/relationships/image" Target="../media/image43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Relationship Id="rId22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13.209.110.99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CMtKe8XOseI" TargetMode="Externa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CMtKe8XOseI?feature=oembed" TargetMode="External"/><Relationship Id="rId4" Type="http://schemas.openxmlformats.org/officeDocument/2006/relationships/image" Target="../media/image77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10"/>
          <p:cNvSpPr/>
          <p:nvPr/>
        </p:nvSpPr>
        <p:spPr>
          <a:xfrm>
            <a:off x="0" y="0"/>
            <a:ext cx="209160" cy="6857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3" name="Rectangle 1"/>
          <p:cNvSpPr/>
          <p:nvPr/>
        </p:nvSpPr>
        <p:spPr>
          <a:xfrm>
            <a:off x="7543800" y="0"/>
            <a:ext cx="4647960" cy="6857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4" name="Rectangle 2"/>
          <p:cNvSpPr/>
          <p:nvPr/>
        </p:nvSpPr>
        <p:spPr>
          <a:xfrm>
            <a:off x="666720" y="704880"/>
            <a:ext cx="68576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2026 MBC</a:t>
            </a:r>
            <a:r>
              <a:rPr lang="ko-KR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아카데미 </a:t>
            </a:r>
            <a:r>
              <a:rPr lang="en-US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AI+X </a:t>
            </a:r>
            <a:r>
              <a:rPr lang="ko-KR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팀별 프로젝트 결과보고서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5" name="Rectangle 3"/>
          <p:cNvSpPr/>
          <p:nvPr/>
        </p:nvSpPr>
        <p:spPr>
          <a:xfrm>
            <a:off x="666720" y="1380960"/>
            <a:ext cx="571464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6450" b="1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CSR</a:t>
            </a:r>
            <a:endParaRPr lang="en-US" sz="645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6" name="Rectangle 4"/>
          <p:cNvSpPr/>
          <p:nvPr/>
        </p:nvSpPr>
        <p:spPr>
          <a:xfrm>
            <a:off x="685800" y="2533680"/>
            <a:ext cx="642888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31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Share Room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7" name="Rectangle 5"/>
          <p:cNvSpPr/>
          <p:nvPr/>
        </p:nvSpPr>
        <p:spPr>
          <a:xfrm>
            <a:off x="685800" y="4010040"/>
            <a:ext cx="6286320" cy="1142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보이스피싱 탐지 이후의</a:t>
            </a:r>
            <a:r>
              <a:rPr lang="en-US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조사와 고객 소통을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하나의 공간에서 대응할 수 있는 </a:t>
            </a:r>
            <a:r>
              <a:rPr lang="en-US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sz="2020" b="0" u="none" strike="noStrike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협업 워크스페이스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Rectangle 6"/>
          <p:cNvSpPr/>
          <p:nvPr/>
        </p:nvSpPr>
        <p:spPr>
          <a:xfrm>
            <a:off x="685800" y="5210280"/>
            <a:ext cx="581004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Rectangle 7"/>
          <p:cNvSpPr/>
          <p:nvPr/>
        </p:nvSpPr>
        <p:spPr>
          <a:xfrm>
            <a:off x="695160" y="5410080"/>
            <a:ext cx="6190920" cy="33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8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팀명  우리의 사회적 책임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Rectangle 8"/>
          <p:cNvSpPr/>
          <p:nvPr/>
        </p:nvSpPr>
        <p:spPr>
          <a:xfrm>
            <a:off x="695160" y="5800680"/>
            <a:ext cx="619092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프로젝트 기간  </a:t>
            </a:r>
            <a:r>
              <a:rPr lang="en-US" sz="128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2026.08.20 ~ 2026.09.30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1" name="Rectangle 9"/>
          <p:cNvSpPr/>
          <p:nvPr/>
        </p:nvSpPr>
        <p:spPr>
          <a:xfrm>
            <a:off x="7934400" y="1352520"/>
            <a:ext cx="3524040" cy="403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70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보이스피싱 정황 확인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270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조치 가이드 제공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sz="270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협업 워크스페이스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2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27"/>
          <p:cNvSpPr/>
          <p:nvPr/>
        </p:nvSpPr>
        <p:spPr>
          <a:xfrm>
            <a:off x="0" y="0"/>
            <a:ext cx="12191760" cy="7596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4" name="Rectangle 1"/>
          <p:cNvSpPr/>
          <p:nvPr/>
        </p:nvSpPr>
        <p:spPr>
          <a:xfrm>
            <a:off x="609480" y="450000"/>
            <a:ext cx="80960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CONTENTS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5" name="Rectangle 2"/>
          <p:cNvSpPr/>
          <p:nvPr/>
        </p:nvSpPr>
        <p:spPr>
          <a:xfrm>
            <a:off x="609480" y="861840"/>
            <a:ext cx="10953360" cy="54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480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목차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6" name="Rectangle 4"/>
          <p:cNvSpPr/>
          <p:nvPr/>
        </p:nvSpPr>
        <p:spPr>
          <a:xfrm>
            <a:off x="609480" y="6429240"/>
            <a:ext cx="1097244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7" name="Rectangle 5"/>
          <p:cNvSpPr/>
          <p:nvPr/>
        </p:nvSpPr>
        <p:spPr>
          <a:xfrm>
            <a:off x="609480" y="6496200"/>
            <a:ext cx="4285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CSR   CASE SHARE ROOM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8" name="Rectangle 6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9" name="Rectangle 7"/>
          <p:cNvSpPr/>
          <p:nvPr/>
        </p:nvSpPr>
        <p:spPr>
          <a:xfrm>
            <a:off x="723960" y="241920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0" name="Rectangle 8"/>
          <p:cNvSpPr/>
          <p:nvPr/>
        </p:nvSpPr>
        <p:spPr>
          <a:xfrm>
            <a:off x="743040" y="175248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1" name="Rectangle 9"/>
          <p:cNvSpPr/>
          <p:nvPr/>
        </p:nvSpPr>
        <p:spPr>
          <a:xfrm>
            <a:off x="1523880" y="175248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sz="195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2" name="Rectangle 10"/>
          <p:cNvSpPr/>
          <p:nvPr/>
        </p:nvSpPr>
        <p:spPr>
          <a:xfrm>
            <a:off x="6069600" y="175248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주 책임과 기여 </a:t>
            </a:r>
            <a:r>
              <a:rPr lang="en-US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altLang="en-US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개발 영역</a:t>
            </a:r>
            <a:r>
              <a:rPr lang="ko-KR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 dirty="0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수행 일정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3" name="Rectangle 11"/>
          <p:cNvSpPr/>
          <p:nvPr/>
        </p:nvSpPr>
        <p:spPr>
          <a:xfrm>
            <a:off x="723960" y="325764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4" name="Rectangle 12"/>
          <p:cNvSpPr/>
          <p:nvPr/>
        </p:nvSpPr>
        <p:spPr>
          <a:xfrm>
            <a:off x="743040" y="259092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02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5" name="Rectangle 13"/>
          <p:cNvSpPr/>
          <p:nvPr/>
        </p:nvSpPr>
        <p:spPr>
          <a:xfrm>
            <a:off x="1523880" y="259092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프로젝트 개요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6" name="Rectangle 14"/>
          <p:cNvSpPr/>
          <p:nvPr/>
        </p:nvSpPr>
        <p:spPr>
          <a:xfrm>
            <a:off x="6069600" y="259092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기획 배경과 현행 체계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 방향 소개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제한 사항 및 구현 범위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7" name="Rectangle 15"/>
          <p:cNvSpPr/>
          <p:nvPr/>
        </p:nvSpPr>
        <p:spPr>
          <a:xfrm>
            <a:off x="723960" y="409572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8" name="Rectangle 16"/>
          <p:cNvSpPr/>
          <p:nvPr/>
        </p:nvSpPr>
        <p:spPr>
          <a:xfrm>
            <a:off x="743040" y="342900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03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69" name="Rectangle 17"/>
          <p:cNvSpPr/>
          <p:nvPr/>
        </p:nvSpPr>
        <p:spPr>
          <a:xfrm>
            <a:off x="1523880" y="342900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상세 수행 절차 및 방법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0" name="Rectangle 18"/>
          <p:cNvSpPr/>
          <p:nvPr/>
        </p:nvSpPr>
        <p:spPr>
          <a:xfrm>
            <a:off x="6069600" y="342900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기능 구현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고도화 과정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사항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1" name="Rectangle 19"/>
          <p:cNvSpPr/>
          <p:nvPr/>
        </p:nvSpPr>
        <p:spPr>
          <a:xfrm>
            <a:off x="723960" y="493380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2" name="Rectangle 20"/>
          <p:cNvSpPr/>
          <p:nvPr/>
        </p:nvSpPr>
        <p:spPr>
          <a:xfrm>
            <a:off x="743040" y="426708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04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3" name="Rectangle 21"/>
          <p:cNvSpPr/>
          <p:nvPr/>
        </p:nvSpPr>
        <p:spPr>
          <a:xfrm>
            <a:off x="1523880" y="426708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시나리오 기반 제작물 시연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4" name="Rectangle 22"/>
          <p:cNvSpPr/>
          <p:nvPr/>
        </p:nvSpPr>
        <p:spPr>
          <a:xfrm>
            <a:off x="6069600" y="426708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사건 발생 이후 시나리오 시연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5" name="Rectangle 23"/>
          <p:cNvSpPr/>
          <p:nvPr/>
        </p:nvSpPr>
        <p:spPr>
          <a:xfrm>
            <a:off x="723960" y="5772240"/>
            <a:ext cx="10686600" cy="18720"/>
          </a:xfrm>
          <a:prstGeom prst="rect">
            <a:avLst/>
          </a:prstGeom>
          <a:solidFill>
            <a:srgbClr val="D7E3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5920" rIns="90000" bIns="-259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6" name="Rectangle 24"/>
          <p:cNvSpPr/>
          <p:nvPr/>
        </p:nvSpPr>
        <p:spPr>
          <a:xfrm>
            <a:off x="743040" y="5105520"/>
            <a:ext cx="5713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70" b="1" u="none" strike="noStrike">
                <a:solidFill>
                  <a:srgbClr val="1868B7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05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" name="Rectangle 25"/>
          <p:cNvSpPr/>
          <p:nvPr/>
        </p:nvSpPr>
        <p:spPr>
          <a:xfrm>
            <a:off x="1523880" y="5105520"/>
            <a:ext cx="46670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자체 평가 의견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" name="Rectangle 26"/>
          <p:cNvSpPr/>
          <p:nvPr/>
        </p:nvSpPr>
        <p:spPr>
          <a:xfrm>
            <a:off x="6069600" y="5105520"/>
            <a:ext cx="54457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달성도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한계 </a:t>
            </a:r>
            <a:r>
              <a:rPr lang="en-US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</a:t>
            </a:r>
            <a:r>
              <a:rPr lang="ko-KR" sz="1500" b="0" u="none" strike="noStrike">
                <a:solidFill>
                  <a:srgbClr val="51647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향후 과제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0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1" name="Rectangle 6"/>
          <p:cNvSpPr/>
          <p:nvPr/>
        </p:nvSpPr>
        <p:spPr>
          <a:xfrm>
            <a:off x="1743120" y="2349720"/>
            <a:ext cx="87055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sz="4800" b="1" u="none" strike="noStrike" dirty="0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 dirty="0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주 책임과 기여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altLang="en-US" sz="2200" b="0" u="none" strike="noStrike" dirty="0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개발 영역</a:t>
            </a:r>
            <a:endParaRPr lang="en-US" altLang="ko-KR" sz="2200" b="0" u="none" strike="noStrike" dirty="0">
              <a:solidFill>
                <a:schemeClr val="lt1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 dirty="0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수행 일정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3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84" name="직사각형 83"/>
          <p:cNvSpPr/>
          <p:nvPr/>
        </p:nvSpPr>
        <p:spPr>
          <a:xfrm>
            <a:off x="552599" y="266760"/>
            <a:ext cx="4135941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050" b="1" u="none" strike="noStrike" dirty="0">
                <a:solidFill>
                  <a:srgbClr val="00B0F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ko-KR" sz="1050" b="1" u="none" strike="noStrike" dirty="0">
                <a:solidFill>
                  <a:srgbClr val="00B0F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altLang="ko-KR" sz="1050" b="0" u="none" strike="noStrike" dirty="0">
              <a:solidFill>
                <a:srgbClr val="00B0F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552600" y="685800"/>
            <a:ext cx="106675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팀원별 주 책임과 대표 기여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552600" y="11905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팀원의 책임</a:t>
            </a:r>
            <a:r>
              <a:rPr lang="en-US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실제 수행</a:t>
            </a:r>
            <a:r>
              <a:rPr lang="en-US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기여를 한 장에 정리했습니다</a:t>
            </a:r>
            <a:r>
              <a:rPr lang="en-US" sz="1350" b="0" u="none" strike="noStrike" dirty="0">
                <a:solidFill>
                  <a:srgbClr val="BDD0E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sz="135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7" name="사각형: 둥근 모서리 86"/>
          <p:cNvSpPr/>
          <p:nvPr/>
        </p:nvSpPr>
        <p:spPr>
          <a:xfrm>
            <a:off x="552600" y="1724040"/>
            <a:ext cx="3524040" cy="38574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DCE6F3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552600" y="1724040"/>
            <a:ext cx="3524040" cy="7596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762120" y="1895400"/>
            <a:ext cx="3104640" cy="209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1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TEAM LEAD</a:t>
            </a:r>
            <a:endParaRPr lang="en-US" sz="113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762120" y="215280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10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함형준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762120" y="2543040"/>
            <a:ext cx="31046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ML </a:t>
            </a:r>
            <a:r>
              <a:rPr lang="ko-KR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위험 분석 </a:t>
            </a:r>
            <a:r>
              <a:rPr lang="en-US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LLM </a:t>
            </a:r>
            <a:r>
              <a:rPr lang="ko-KR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사건 맥락 구조화 </a:t>
            </a:r>
            <a:r>
              <a:rPr lang="en-US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endParaRPr lang="en-US" sz="139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39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시스템 통합</a:t>
            </a:r>
            <a:endParaRPr lang="en-US" sz="139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762120" y="3076560"/>
            <a:ext cx="310464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62120" y="3152880"/>
            <a:ext cx="1142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주요 수행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628560" y="3400560"/>
            <a:ext cx="3379658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 기획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·Case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업무 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Workflow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설계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RPA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기반 영상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음원 데이터 수집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alt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허깅페이스 </a:t>
            </a:r>
            <a:r>
              <a:rPr lang="en-US" altLang="ko-KR" sz="1200" dirty="0">
                <a:solidFill>
                  <a:srgbClr val="122B4C"/>
                </a:solidFill>
                <a:latin typeface="페이퍼로지 5 Medium" pitchFamily="2" charset="-127"/>
                <a:ea typeface="페이퍼로지 5 Medium" pitchFamily="2" charset="-127"/>
              </a:rPr>
              <a:t>-</a:t>
            </a:r>
            <a:r>
              <a:rPr lang="en-US" alt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위스퍼 </a:t>
            </a:r>
            <a:r>
              <a:rPr lang="en-US" alt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- 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전사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화자 분리 </a:t>
            </a:r>
            <a:r>
              <a:rPr lang="en-US" alt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ML </a:t>
            </a:r>
            <a:r>
              <a:rPr lang="ko-KR" alt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학습 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보이스피싱 탐지 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ML·</a:t>
            </a:r>
            <a:r>
              <a:rPr lang="en-US" sz="1200" dirty="0">
                <a:solidFill>
                  <a:srgbClr val="122B4C"/>
                </a:solidFill>
                <a:latin typeface="페이퍼로지 5 Medium" pitchFamily="2" charset="-127"/>
                <a:ea typeface="페이퍼로지 5 Medium" pitchFamily="2" charset="-127"/>
              </a:rPr>
              <a:t>LLM - 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생성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Semantic Context·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화면</a:t>
            </a:r>
            <a:r>
              <a:rPr lang="en-US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/API/AI/DB </a:t>
            </a:r>
            <a:r>
              <a:rPr lang="ko-KR" sz="1200" b="0" u="none" strike="noStrike" dirty="0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통합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5" name="사각형: 둥근 모서리 94"/>
          <p:cNvSpPr/>
          <p:nvPr/>
        </p:nvSpPr>
        <p:spPr>
          <a:xfrm>
            <a:off x="723960" y="4809960"/>
            <a:ext cx="3180960" cy="657000"/>
          </a:xfrm>
          <a:prstGeom prst="roundRect">
            <a:avLst>
              <a:gd name="adj" fmla="val 13043"/>
            </a:avLst>
          </a:prstGeom>
          <a:solidFill>
            <a:srgbClr val="EAF3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6" name="직사각형 95"/>
          <p:cNvSpPr/>
          <p:nvPr/>
        </p:nvSpPr>
        <p:spPr>
          <a:xfrm>
            <a:off x="819000" y="4876920"/>
            <a:ext cx="95220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기여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7" name="직사각형 96"/>
          <p:cNvSpPr/>
          <p:nvPr/>
        </p:nvSpPr>
        <p:spPr>
          <a:xfrm>
            <a:off x="819000" y="5057640"/>
            <a:ext cx="299052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위험 신호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ML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원문 분석</a:t>
            </a:r>
            <a:r>
              <a:rPr lang="en-US" altLang="ko-KR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맥락 재구성 </a:t>
            </a:r>
            <a:r>
              <a:rPr lang="en-US" altLang="ko-KR" sz="1140" b="1" dirty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LLM</a:t>
            </a:r>
            <a:r>
              <a:rPr lang="en-US" altLang="ko-KR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개발</a:t>
            </a:r>
            <a:r>
              <a:rPr lang="en-US" altLang="ko-KR" sz="1140" b="1" dirty="0">
                <a:solidFill>
                  <a:srgbClr val="071B38"/>
                </a:solidFill>
                <a:latin typeface="페이퍼로지 5 Medium" pitchFamily="2" charset="-127"/>
                <a:ea typeface="페이퍼로지 5 Medium" pitchFamily="2" charset="-127"/>
              </a:rPr>
              <a:t>, </a:t>
            </a:r>
          </a:p>
          <a:p>
            <a:pPr defTabSz="914400">
              <a:lnSpc>
                <a:spcPct val="100000"/>
              </a:lnSpc>
            </a:pPr>
            <a:r>
              <a:rPr lang="ko-KR" alt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프론트엔드에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데이터 및 </a:t>
            </a:r>
            <a:r>
              <a:rPr lang="en-US" alt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LLM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연동</a:t>
            </a:r>
            <a:endParaRPr lang="en-US" sz="1140" b="0" u="none" strike="noStrike" dirty="0">
              <a:solidFill>
                <a:srgbClr val="FF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8" name="사각형: 둥근 모서리 97"/>
          <p:cNvSpPr/>
          <p:nvPr/>
        </p:nvSpPr>
        <p:spPr>
          <a:xfrm>
            <a:off x="4334040" y="1724040"/>
            <a:ext cx="3524040" cy="38574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DCE6F3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334040" y="1724040"/>
            <a:ext cx="3524040" cy="75960"/>
          </a:xfrm>
          <a:prstGeom prst="rect">
            <a:avLst/>
          </a:prstGeom>
          <a:solidFill>
            <a:srgbClr val="E58B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543560" y="215280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10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이종열</a:t>
            </a:r>
            <a:endParaRPr lang="en-US" sz="21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4543560" y="2543040"/>
            <a:ext cx="31046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확인 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질문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</a:t>
            </a: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응답 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Workflow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4543560" y="3076560"/>
            <a:ext cx="310464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4543560" y="3152880"/>
            <a:ext cx="1142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E58B2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주요 수행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" name="직사각형 104"/>
          <p:cNvSpPr/>
          <p:nvPr/>
        </p:nvSpPr>
        <p:spPr>
          <a:xfrm>
            <a:off x="4495680" y="3400560"/>
            <a:ext cx="315252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API·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역할형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Agent·Case Brief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맥락 기반 확인 질문 생성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추천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담당자 검토 후 고객 질문 전달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답변 구조화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·Fact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반영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품질 검증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 안정화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·AWS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배포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6" name="사각형: 둥근 모서리 105"/>
          <p:cNvSpPr/>
          <p:nvPr/>
        </p:nvSpPr>
        <p:spPr>
          <a:xfrm>
            <a:off x="4505400" y="4809960"/>
            <a:ext cx="3180960" cy="657000"/>
          </a:xfrm>
          <a:prstGeom prst="roundRect">
            <a:avLst>
              <a:gd name="adj" fmla="val 13043"/>
            </a:avLst>
          </a:prstGeom>
          <a:solidFill>
            <a:srgbClr val="FFF3E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600440" y="4876920"/>
            <a:ext cx="95220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E58B2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기여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4600620" y="5043780"/>
            <a:ext cx="310500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기본 </a:t>
            </a:r>
            <a:r>
              <a:rPr lang="en-US" alt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LLM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</a:t>
            </a:r>
            <a:r>
              <a:rPr lang="en-US" alt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</a:t>
            </a:r>
            <a:endParaRPr lang="en-US" altLang="ko-KR" sz="1140" b="1" u="none" strike="noStrike" dirty="0">
              <a:solidFill>
                <a:srgbClr val="FF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대화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질문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답변 </a:t>
            </a:r>
            <a:r>
              <a:rPr lang="ko-KR" alt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입출력</a:t>
            </a:r>
            <a:r>
              <a:rPr lang="en-US" alt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Workflow 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</a:t>
            </a:r>
            <a:endParaRPr lang="en-US" sz="114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9" name="사각형: 둥근 모서리 108"/>
          <p:cNvSpPr/>
          <p:nvPr/>
        </p:nvSpPr>
        <p:spPr>
          <a:xfrm>
            <a:off x="8115480" y="1724040"/>
            <a:ext cx="3524040" cy="3857400"/>
          </a:xfrm>
          <a:prstGeom prst="roundRect">
            <a:avLst>
              <a:gd name="adj" fmla="val 3514"/>
            </a:avLst>
          </a:prstGeom>
          <a:solidFill>
            <a:srgbClr val="FFFFFF"/>
          </a:solidFill>
          <a:ln w="9525">
            <a:solidFill>
              <a:srgbClr val="DCE6F3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0" name="직사각형 109"/>
          <p:cNvSpPr/>
          <p:nvPr/>
        </p:nvSpPr>
        <p:spPr>
          <a:xfrm>
            <a:off x="8115480" y="1724040"/>
            <a:ext cx="3524040" cy="7596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8325000" y="2152800"/>
            <a:ext cx="310464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10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엄정희</a:t>
            </a:r>
            <a:endParaRPr lang="en-US" sz="210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8325000" y="2543040"/>
            <a:ext cx="3104640" cy="475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사건 처리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보고 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</a:t>
            </a:r>
            <a:r>
              <a:rPr lang="en-US" sz="139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App UX</a:t>
            </a:r>
            <a:endParaRPr lang="en-US" sz="139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4" name="직사각형 113"/>
          <p:cNvSpPr/>
          <p:nvPr/>
        </p:nvSpPr>
        <p:spPr>
          <a:xfrm>
            <a:off x="8325000" y="3076560"/>
            <a:ext cx="310464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5" name="직사각형 114"/>
          <p:cNvSpPr/>
          <p:nvPr/>
        </p:nvSpPr>
        <p:spPr>
          <a:xfrm>
            <a:off x="8325000" y="3152880"/>
            <a:ext cx="114264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22968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주요 수행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6" name="직사각형 115"/>
          <p:cNvSpPr/>
          <p:nvPr/>
        </p:nvSpPr>
        <p:spPr>
          <a:xfrm>
            <a:off x="8277120" y="3400560"/>
            <a:ext cx="315252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000" tIns="45000" rIns="45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General API·MySQL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기반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관리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Action·Timeline·Summary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Final Report·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거래 기록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API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화면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App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형 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UI/UX 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marL="152280" indent="-76320" defTabSz="914400">
              <a:lnSpc>
                <a:spcPct val="100000"/>
              </a:lnSpc>
              <a:spcAft>
                <a:spcPts val="25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피해구제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북마크</a:t>
            </a:r>
            <a:r>
              <a:rPr lang="en-US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0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진행 상태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7" name="사각형: 둥근 모서리 116"/>
          <p:cNvSpPr/>
          <p:nvPr/>
        </p:nvSpPr>
        <p:spPr>
          <a:xfrm>
            <a:off x="8286840" y="4809960"/>
            <a:ext cx="3180960" cy="657000"/>
          </a:xfrm>
          <a:prstGeom prst="roundRect">
            <a:avLst>
              <a:gd name="adj" fmla="val 13043"/>
            </a:avLst>
          </a:prstGeom>
          <a:solidFill>
            <a:srgbClr val="E8F7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8381880" y="4876920"/>
            <a:ext cx="952200" cy="16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22968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기여</a:t>
            </a:r>
            <a:endParaRPr lang="en-US" sz="98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19" name="직사각형 118"/>
          <p:cNvSpPr/>
          <p:nvPr/>
        </p:nvSpPr>
        <p:spPr>
          <a:xfrm>
            <a:off x="8381880" y="5057640"/>
            <a:ext cx="2990520" cy="37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사건 처리</a:t>
            </a:r>
            <a:r>
              <a:rPr lang="en-US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보고 </a:t>
            </a:r>
            <a:r>
              <a:rPr lang="ko-KR" alt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서브 기</a:t>
            </a:r>
            <a:r>
              <a:rPr 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능 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 및</a:t>
            </a:r>
            <a:endParaRPr lang="en-US" sz="114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화면 </a:t>
            </a:r>
            <a:r>
              <a:rPr 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App</a:t>
            </a:r>
            <a:r>
              <a:rPr lang="ko-KR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형 </a:t>
            </a:r>
            <a:r>
              <a:rPr lang="en-US" sz="1140" b="1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UX </a:t>
            </a:r>
            <a:r>
              <a:rPr lang="ko-KR" sz="1140" b="1" u="none" strike="noStrike" dirty="0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</a:t>
            </a:r>
            <a:endParaRPr lang="en-US" sz="1140" b="0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0" name="사각형: 둥근 모서리 119"/>
          <p:cNvSpPr/>
          <p:nvPr/>
        </p:nvSpPr>
        <p:spPr>
          <a:xfrm>
            <a:off x="552600" y="5724360"/>
            <a:ext cx="11086920" cy="571320"/>
          </a:xfrm>
          <a:prstGeom prst="roundRect">
            <a:avLst>
              <a:gd name="adj" fmla="val 18333"/>
            </a:avLst>
          </a:prstGeom>
          <a:solidFill>
            <a:srgbClr val="EEF2F7"/>
          </a:solidFill>
          <a:ln w="9525">
            <a:solidFill>
              <a:srgbClr val="C7D3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1" name="직사각형 120"/>
          <p:cNvSpPr/>
          <p:nvPr/>
        </p:nvSpPr>
        <p:spPr>
          <a:xfrm>
            <a:off x="552600" y="5724360"/>
            <a:ext cx="75960" cy="571320"/>
          </a:xfrm>
          <a:prstGeom prst="rect">
            <a:avLst/>
          </a:prstGeom>
          <a:solidFill>
            <a:srgbClr val="7B91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2" name="직사각형 121"/>
          <p:cNvSpPr/>
          <p:nvPr/>
        </p:nvSpPr>
        <p:spPr>
          <a:xfrm>
            <a:off x="790560" y="5896080"/>
            <a:ext cx="21524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1" u="none" strike="noStrike">
                <a:solidFill>
                  <a:srgbClr val="7B91A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MENTOR · </a:t>
            </a:r>
            <a:r>
              <a:rPr lang="ko-KR" sz="1350" b="1" u="none" strike="noStrike">
                <a:solidFill>
                  <a:srgbClr val="7B91A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강주희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3" name="직사각형 122"/>
          <p:cNvSpPr/>
          <p:nvPr/>
        </p:nvSpPr>
        <p:spPr>
          <a:xfrm>
            <a:off x="3048120" y="5829480"/>
            <a:ext cx="9000" cy="361440"/>
          </a:xfrm>
          <a:prstGeom prst="rect">
            <a:avLst/>
          </a:prstGeom>
          <a:solidFill>
            <a:srgbClr val="C7D3E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4" name="직사각형 123"/>
          <p:cNvSpPr/>
          <p:nvPr/>
        </p:nvSpPr>
        <p:spPr>
          <a:xfrm>
            <a:off x="3276720" y="5781600"/>
            <a:ext cx="795312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</a:t>
            </a:r>
            <a:r>
              <a:rPr lang="en-US" sz="128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80" b="1" u="none" strike="noStrike">
                <a:solidFill>
                  <a:srgbClr val="071B38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개발 방향 자문</a:t>
            </a:r>
            <a:endParaRPr lang="en-US" sz="128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3276720" y="6039000"/>
            <a:ext cx="7953120" cy="19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프로젝트 방향 피드백   </a:t>
            </a:r>
            <a:r>
              <a:rPr lang="en-US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  </a:t>
            </a:r>
            <a:r>
              <a:rPr lang="ko-KR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개발 우선순위 자문   </a:t>
            </a:r>
            <a:r>
              <a:rPr lang="en-US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  </a:t>
            </a:r>
            <a:r>
              <a:rPr lang="ko-KR" sz="1130" b="0" u="none" strike="noStrike">
                <a:solidFill>
                  <a:srgbClr val="122B4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방향 검토</a:t>
            </a:r>
            <a:endParaRPr lang="en-US" sz="113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6" name="직사각형 125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D2DD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7" name="직사각형 126"/>
          <p:cNvSpPr/>
          <p:nvPr/>
        </p:nvSpPr>
        <p:spPr>
          <a:xfrm>
            <a:off x="552600" y="6496200"/>
            <a:ext cx="6190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8294A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CSR   CASE SHARE ROOM   ·   01 </a:t>
            </a:r>
            <a:r>
              <a:rPr lang="ko-KR" sz="820" b="0" u="none" strike="noStrike">
                <a:solidFill>
                  <a:srgbClr val="8294A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28" name="직사각형 127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8294AC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7B7D123-F17D-456B-B49D-0A849899F6F9}"/>
              </a:ext>
            </a:extLst>
          </p:cNvPr>
          <p:cNvGrpSpPr/>
          <p:nvPr/>
        </p:nvGrpSpPr>
        <p:grpSpPr>
          <a:xfrm>
            <a:off x="4912658" y="720095"/>
            <a:ext cx="6726741" cy="756686"/>
            <a:chOff x="4688540" y="720094"/>
            <a:chExt cx="6950860" cy="794785"/>
          </a:xfrm>
        </p:grpSpPr>
        <p:sp>
          <p:nvSpPr>
            <p:cNvPr id="48" name="사각형: 둥근 모서리 177">
              <a:extLst>
                <a:ext uri="{FF2B5EF4-FFF2-40B4-BE49-F238E27FC236}">
                  <a16:creationId xmlns:a16="http://schemas.microsoft.com/office/drawing/2014/main" id="{B1087D2C-E0F0-4AFC-84E2-1DC43DB56C50}"/>
                </a:ext>
              </a:extLst>
            </p:cNvPr>
            <p:cNvSpPr/>
            <p:nvPr/>
          </p:nvSpPr>
          <p:spPr>
            <a:xfrm>
              <a:off x="4688540" y="720094"/>
              <a:ext cx="6950860" cy="794785"/>
            </a:xfrm>
            <a:prstGeom prst="roundRect">
              <a:avLst>
                <a:gd name="adj" fmla="val 16949"/>
              </a:avLst>
            </a:prstGeom>
            <a:solidFill>
              <a:srgbClr val="E6EEF8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49" name="직사각형 178">
              <a:extLst>
                <a:ext uri="{FF2B5EF4-FFF2-40B4-BE49-F238E27FC236}">
                  <a16:creationId xmlns:a16="http://schemas.microsoft.com/office/drawing/2014/main" id="{33AC63E6-A5D6-435A-855E-59F250FDB943}"/>
                </a:ext>
              </a:extLst>
            </p:cNvPr>
            <p:cNvSpPr/>
            <p:nvPr/>
          </p:nvSpPr>
          <p:spPr>
            <a:xfrm>
              <a:off x="4857882" y="901936"/>
              <a:ext cx="1422058" cy="33625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130" b="1" u="none" strike="noStrike" dirty="0">
                  <a:solidFill>
                    <a:srgbClr val="0056FB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SHARED</a:t>
              </a:r>
            </a:p>
            <a:p>
              <a:pPr defTabSz="914400">
                <a:lnSpc>
                  <a:spcPct val="100000"/>
                </a:lnSpc>
              </a:pPr>
              <a:r>
                <a:rPr lang="en-US" sz="1130" b="1" u="none" strike="noStrike" dirty="0">
                  <a:solidFill>
                    <a:srgbClr val="0056FB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LAYER</a:t>
              </a:r>
              <a:endParaRPr lang="en-US" sz="1130" b="0" u="none" strike="noStrike" dirty="0"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  <p:sp>
          <p:nvSpPr>
            <p:cNvPr id="50" name="직사각형 179">
              <a:extLst>
                <a:ext uri="{FF2B5EF4-FFF2-40B4-BE49-F238E27FC236}">
                  <a16:creationId xmlns:a16="http://schemas.microsoft.com/office/drawing/2014/main" id="{971A532C-53F3-4A08-AD20-97B42FE433CF}"/>
                </a:ext>
              </a:extLst>
            </p:cNvPr>
            <p:cNvSpPr/>
            <p:nvPr/>
          </p:nvSpPr>
          <p:spPr>
            <a:xfrm>
              <a:off x="5719081" y="890230"/>
              <a:ext cx="5613141" cy="37701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alt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깃허브로 현상관리 협업 </a:t>
              </a:r>
              <a:r>
                <a:rPr lang="en-US" alt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서비스 방향 논의  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</a:t>
              </a:r>
              <a:r>
                <a:rPr lang="ko-KR" alt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프론트엔드 </a:t>
              </a:r>
              <a:r>
                <a:rPr lang="en-US" alt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UI </a:t>
              </a:r>
              <a:r>
                <a:rPr lang="ko-KR" alt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설계</a:t>
              </a:r>
              <a:r>
                <a:rPr lang="ko-KR" alt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 </a:t>
              </a:r>
              <a:r>
                <a:rPr lang="en-US" alt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API / DB / UI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조정  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통합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오류 수정  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 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테스트</a:t>
              </a:r>
              <a:r>
                <a:rPr lang="en-US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·Runtime </a:t>
              </a:r>
              <a:r>
                <a:rPr lang="ko-KR" sz="1200" b="1" u="none" strike="noStrike" dirty="0">
                  <a:solidFill>
                    <a:srgbClr val="071B38"/>
                  </a:solidFill>
                  <a:effectLst/>
                  <a:uFillTx/>
                  <a:latin typeface="페이퍼로지 5 Medium" pitchFamily="2" charset="-127"/>
                  <a:ea typeface="페이퍼로지 5 Medium" pitchFamily="2" charset="-127"/>
                </a:rPr>
                <a:t>검증</a:t>
              </a:r>
              <a:endParaRPr lang="en-US" sz="1200" b="0" u="none" strike="noStrike" dirty="0">
                <a:solidFill>
                  <a:srgbClr val="00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130" name="직사각형 129"/>
          <p:cNvSpPr/>
          <p:nvPr/>
        </p:nvSpPr>
        <p:spPr>
          <a:xfrm>
            <a:off x="552600" y="685800"/>
            <a:ext cx="106675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서비스 기능 중심 </a:t>
            </a:r>
            <a:r>
              <a:rPr lang="en-US" alt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– </a:t>
            </a:r>
            <a:r>
              <a:rPr lang="ko-KR" altLang="en-US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개발 담당 파트</a:t>
            </a:r>
            <a:endParaRPr lang="en-US" altLang="ko-KR" sz="2850" b="1" u="none" strike="noStrike" dirty="0">
              <a:solidFill>
                <a:srgbClr val="071B38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함형준 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: ML/LLM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초기 분석 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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케이스 생성 기능 구현</a:t>
            </a:r>
            <a:endParaRPr lang="en-US" altLang="ko-KR" sz="2400" b="1" u="none" strike="noStrike" dirty="0">
              <a:solidFill>
                <a:srgbClr val="071B38"/>
              </a:solidFill>
              <a:effectLst/>
              <a:uFillTx/>
              <a:latin typeface="페이퍼로지 7 Bold"/>
              <a:ea typeface="페이퍼로지 7 Bold"/>
              <a:sym typeface="Wingdings" panose="05000000000000000000" pitchFamily="2" charset="2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이종열 </a:t>
            </a:r>
            <a:r>
              <a:rPr lang="en-US" altLang="ko-KR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: </a:t>
            </a:r>
            <a:r>
              <a:rPr lang="ko-KR" altLang="en-US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케이스에서 소통 및 업무 지원 </a:t>
            </a:r>
            <a:r>
              <a:rPr lang="en-US" altLang="ko-KR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LLM </a:t>
            </a:r>
            <a:r>
              <a:rPr lang="ko-KR" altLang="en-US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개발</a:t>
            </a:r>
            <a:r>
              <a:rPr lang="en-US" altLang="ko-KR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/</a:t>
            </a:r>
            <a:r>
              <a:rPr lang="ko-KR" altLang="en-US" sz="2400" b="1" dirty="0">
                <a:solidFill>
                  <a:srgbClr val="071B38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개선</a:t>
            </a:r>
            <a:endParaRPr lang="en-US" altLang="ko-KR" sz="2400" b="1" dirty="0">
              <a:solidFill>
                <a:srgbClr val="071B38"/>
              </a:solidFill>
              <a:latin typeface="페이퍼로지 7 Bold"/>
              <a:ea typeface="페이퍼로지 7 Bold"/>
              <a:sym typeface="Wingdings" panose="05000000000000000000" pitchFamily="2" charset="2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엄정희 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: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중앙 오케스트레이션 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API(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제너럴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),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직원용 서브 기능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, 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고객용 화면 개발</a:t>
            </a:r>
            <a:r>
              <a:rPr lang="en-US" altLang="ko-KR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/</a:t>
            </a:r>
            <a:r>
              <a:rPr lang="ko-KR" altLang="en-US" sz="240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개선</a:t>
            </a:r>
            <a:endParaRPr lang="en-US" altLang="ko-KR" sz="2400" b="1" u="none" strike="noStrike" dirty="0">
              <a:solidFill>
                <a:srgbClr val="071B38"/>
              </a:solidFill>
              <a:effectLst/>
              <a:uFillTx/>
              <a:latin typeface="페이퍼로지 7 Bold"/>
              <a:ea typeface="페이퍼로지 7 Bold"/>
              <a:sym typeface="Wingdings" panose="05000000000000000000" pitchFamily="2" charset="2"/>
            </a:endParaRPr>
          </a:p>
        </p:txBody>
      </p:sp>
      <p:sp>
        <p:nvSpPr>
          <p:cNvPr id="132" name="사각형: 둥근 모서리 131"/>
          <p:cNvSpPr/>
          <p:nvPr/>
        </p:nvSpPr>
        <p:spPr>
          <a:xfrm>
            <a:off x="552600" y="2534040"/>
            <a:ext cx="3524040" cy="894960"/>
          </a:xfrm>
          <a:prstGeom prst="roundRect">
            <a:avLst>
              <a:gd name="adj" fmla="val 12766"/>
            </a:avLst>
          </a:prstGeom>
          <a:solidFill>
            <a:srgbClr val="EAF3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704880" y="2638800"/>
            <a:ext cx="321912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위험 신호 → 사건 맥락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4" name="직사각형 133"/>
          <p:cNvSpPr/>
          <p:nvPr/>
        </p:nvSpPr>
        <p:spPr>
          <a:xfrm>
            <a:off x="70488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위험 신호</a:t>
            </a:r>
            <a:endParaRPr lang="en-US" altLang="ko-KR" sz="1050" b="1" u="none" strike="noStrike" dirty="0">
              <a:solidFill>
                <a:srgbClr val="071B38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000000"/>
                </a:solidFill>
                <a:effectLst/>
                <a:uFillTx/>
                <a:latin typeface="페이퍼로지 5 Medium"/>
              </a:rPr>
              <a:t>ML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1657440" y="288684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78128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LLM </a:t>
            </a:r>
            <a:r>
              <a:rPr 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</a:t>
            </a:r>
            <a:r>
              <a:rPr 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 json</a:t>
            </a: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생성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2733840" y="288684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2772360" y="2905560"/>
            <a:ext cx="12182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altLang="ko-KR" sz="1050" b="1" dirty="0">
                <a:solidFill>
                  <a:srgbClr val="071B38"/>
                </a:solidFill>
                <a:latin typeface="페이퍼로지 7 Bold"/>
                <a:ea typeface="페이퍼로지 7 Bold"/>
              </a:rPr>
              <a:t>LLM </a:t>
            </a:r>
            <a:r>
              <a:rPr lang="ko-KR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맥락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altLang="en-US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재</a:t>
            </a:r>
            <a:r>
              <a:rPr lang="ko-KR" sz="10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구조화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39" name="사각형: 둥근 모서리 138"/>
          <p:cNvSpPr/>
          <p:nvPr/>
        </p:nvSpPr>
        <p:spPr>
          <a:xfrm>
            <a:off x="4334040" y="2534040"/>
            <a:ext cx="3524040" cy="894960"/>
          </a:xfrm>
          <a:prstGeom prst="roundRect">
            <a:avLst>
              <a:gd name="adj" fmla="val 12766"/>
            </a:avLst>
          </a:prstGeom>
          <a:solidFill>
            <a:srgbClr val="FFF3E5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0" name="직사각형 139"/>
          <p:cNvSpPr/>
          <p:nvPr/>
        </p:nvSpPr>
        <p:spPr>
          <a:xfrm>
            <a:off x="4486320" y="2638800"/>
            <a:ext cx="321912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미확인 정보 → 고객 확인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1" name="직사각형 140"/>
          <p:cNvSpPr/>
          <p:nvPr/>
        </p:nvSpPr>
        <p:spPr>
          <a:xfrm>
            <a:off x="448632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확인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질문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5438880" y="288684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556272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응답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4" name="직사각형 143"/>
          <p:cNvSpPr/>
          <p:nvPr/>
        </p:nvSpPr>
        <p:spPr>
          <a:xfrm>
            <a:off x="6515280" y="288684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5" name="직사각형 144"/>
          <p:cNvSpPr/>
          <p:nvPr/>
        </p:nvSpPr>
        <p:spPr>
          <a:xfrm>
            <a:off x="663876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정황 </a:t>
            </a:r>
            <a:r>
              <a:rPr lang="en-US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Fact </a:t>
            </a: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후보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6" name="사각형: 둥근 모서리 145"/>
          <p:cNvSpPr/>
          <p:nvPr/>
        </p:nvSpPr>
        <p:spPr>
          <a:xfrm>
            <a:off x="8115480" y="2534040"/>
            <a:ext cx="3524040" cy="894960"/>
          </a:xfrm>
          <a:prstGeom prst="roundRect">
            <a:avLst>
              <a:gd name="adj" fmla="val 12766"/>
            </a:avLst>
          </a:prstGeom>
          <a:solidFill>
            <a:srgbClr val="E8F7F4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7" name="직사각형 146"/>
          <p:cNvSpPr/>
          <p:nvPr/>
        </p:nvSpPr>
        <p:spPr>
          <a:xfrm>
            <a:off x="8267760" y="2638800"/>
            <a:ext cx="3219120" cy="18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9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확인 결과 → 처리</a:t>
            </a:r>
            <a:r>
              <a:rPr lang="en-US" sz="9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9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보고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8" name="직사각형 147"/>
          <p:cNvSpPr/>
          <p:nvPr/>
        </p:nvSpPr>
        <p:spPr>
          <a:xfrm>
            <a:off x="8267760" y="2857680"/>
            <a:ext cx="98064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989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Fact /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989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Context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989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갱신</a:t>
            </a:r>
            <a:endParaRPr lang="en-US" sz="98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49" name="직사각형 148"/>
          <p:cNvSpPr/>
          <p:nvPr/>
        </p:nvSpPr>
        <p:spPr>
          <a:xfrm>
            <a:off x="9220320" y="288684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0" name="직사각형 149"/>
          <p:cNvSpPr/>
          <p:nvPr/>
        </p:nvSpPr>
        <p:spPr>
          <a:xfrm>
            <a:off x="934416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조치 기록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1" name="직사각형 150"/>
          <p:cNvSpPr/>
          <p:nvPr/>
        </p:nvSpPr>
        <p:spPr>
          <a:xfrm>
            <a:off x="10296360" y="2886840"/>
            <a:ext cx="15192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2" name="직사각형 151"/>
          <p:cNvSpPr/>
          <p:nvPr/>
        </p:nvSpPr>
        <p:spPr>
          <a:xfrm>
            <a:off x="10420200" y="2905560"/>
            <a:ext cx="9806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최종 보고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3" name="직사각형 152"/>
          <p:cNvSpPr/>
          <p:nvPr/>
        </p:nvSpPr>
        <p:spPr>
          <a:xfrm>
            <a:off x="4076640" y="2819880"/>
            <a:ext cx="2566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20" b="1" u="none" strike="noStrike">
                <a:solidFill>
                  <a:srgbClr val="5B6F8D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4" name="직사각형 153"/>
          <p:cNvSpPr/>
          <p:nvPr/>
        </p:nvSpPr>
        <p:spPr>
          <a:xfrm>
            <a:off x="7858080" y="2819880"/>
            <a:ext cx="2566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20" b="1" u="none" strike="noStrike">
                <a:solidFill>
                  <a:srgbClr val="5B6F8D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5" name="사각형: 둥근 모서리 154"/>
          <p:cNvSpPr/>
          <p:nvPr/>
        </p:nvSpPr>
        <p:spPr>
          <a:xfrm>
            <a:off x="552600" y="3686400"/>
            <a:ext cx="3524040" cy="2076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9525">
            <a:solidFill>
              <a:srgbClr val="D7E2F0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552600" y="3686400"/>
            <a:ext cx="3524040" cy="6624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743040" y="3877200"/>
            <a:ext cx="3142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A PART · </a:t>
            </a:r>
            <a:r>
              <a:rPr lang="ko-KR" sz="12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함형준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743040" y="4172400"/>
            <a:ext cx="3142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위험 분석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맥락 구조화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시스템 통합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59" name="직사각형 158"/>
          <p:cNvSpPr/>
          <p:nvPr/>
        </p:nvSpPr>
        <p:spPr>
          <a:xfrm>
            <a:off x="743040" y="4696200"/>
            <a:ext cx="314280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0" name="직사각형 159"/>
          <p:cNvSpPr/>
          <p:nvPr/>
        </p:nvSpPr>
        <p:spPr>
          <a:xfrm>
            <a:off x="695160" y="4810320"/>
            <a:ext cx="320940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보이스피싱 위험 분석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·Case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생성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Semantic Context·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사건 정보 패널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화면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·API·AI·DB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통합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1" name="사각형: 둥근 모서리 160"/>
          <p:cNvSpPr/>
          <p:nvPr/>
        </p:nvSpPr>
        <p:spPr>
          <a:xfrm>
            <a:off x="4334040" y="3686400"/>
            <a:ext cx="3524040" cy="2076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9525">
            <a:solidFill>
              <a:srgbClr val="D7E2F0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4334040" y="3686400"/>
            <a:ext cx="3524040" cy="66240"/>
          </a:xfrm>
          <a:prstGeom prst="rect">
            <a:avLst/>
          </a:prstGeom>
          <a:solidFill>
            <a:srgbClr val="E58B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4524480" y="3877200"/>
            <a:ext cx="3142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B PART · </a:t>
            </a:r>
            <a:r>
              <a:rPr lang="ko-KR" sz="128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이종열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4524480" y="4172400"/>
            <a:ext cx="3142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확인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질문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응답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AI Workflow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4524480" y="4696200"/>
            <a:ext cx="314280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4476600" y="4810320"/>
            <a:ext cx="320940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미확인 정보 기반 질문 추천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담당자 검토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응답 구조화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Fact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후보 반영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·AI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품질 검사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7" name="사각형: 둥근 모서리 166"/>
          <p:cNvSpPr/>
          <p:nvPr/>
        </p:nvSpPr>
        <p:spPr>
          <a:xfrm>
            <a:off x="8115480" y="3686400"/>
            <a:ext cx="3524040" cy="207612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9525">
            <a:solidFill>
              <a:srgbClr val="D7E2F0"/>
            </a:solidFill>
            <a:round/>
          </a:ln>
          <a:effectLst>
            <a:outerShdw blurRad="19080" dist="9360" dir="5400000">
              <a:srgbClr val="000000">
                <a:alpha val="6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8115480" y="3686400"/>
            <a:ext cx="3524040" cy="6624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69" name="직사각형 168"/>
          <p:cNvSpPr/>
          <p:nvPr/>
        </p:nvSpPr>
        <p:spPr>
          <a:xfrm>
            <a:off x="8305920" y="3877200"/>
            <a:ext cx="3142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C PART · </a:t>
            </a:r>
            <a:r>
              <a:rPr lang="ko-KR" sz="128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엄정희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0" name="직사각형 169"/>
          <p:cNvSpPr/>
          <p:nvPr/>
        </p:nvSpPr>
        <p:spPr>
          <a:xfrm>
            <a:off x="8305920" y="4172400"/>
            <a:ext cx="3142800" cy="447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처리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보고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</a:t>
            </a:r>
            <a:r>
              <a:rPr lang="en-US" sz="13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App UX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8305920" y="4696200"/>
            <a:ext cx="3142800" cy="9000"/>
          </a:xfrm>
          <a:prstGeom prst="rect">
            <a:avLst/>
          </a:prstGeom>
          <a:solidFill>
            <a:srgbClr val="D7E2F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8258040" y="4810320"/>
            <a:ext cx="3209400" cy="875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Case 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관리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·Action/Timeline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거래 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API·Final Report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marL="152280" indent="-76320" defTabSz="914400">
              <a:lnSpc>
                <a:spcPct val="100000"/>
              </a:lnSpc>
              <a:spcAft>
                <a:spcPts val="400"/>
              </a:spcAft>
              <a:buClr>
                <a:srgbClr val="122B4C"/>
              </a:buClr>
              <a:buFont typeface="Symbol" charset="2"/>
              <a:buChar char=""/>
            </a:pP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</a:t>
            </a:r>
            <a:r>
              <a:rPr lang="en-US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App UI·</a:t>
            </a:r>
            <a:r>
              <a:rPr lang="ko-KR" sz="117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피해 대응</a:t>
            </a:r>
            <a:endParaRPr lang="en-US" sz="117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4076640" y="4515120"/>
            <a:ext cx="2566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20" b="1" u="none" strike="noStrike">
                <a:solidFill>
                  <a:srgbClr val="5B6F8D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7858080" y="4515120"/>
            <a:ext cx="25668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20" b="1" u="none" strike="noStrike">
                <a:solidFill>
                  <a:srgbClr val="5B6F8D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D2DD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552600" y="6496200"/>
            <a:ext cx="6190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CSR   CASE SHARE ROOM   ·   01 </a:t>
            </a:r>
            <a:r>
              <a:rPr lang="ko-KR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팀 역할 및 수행 일정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8294AC"/>
                </a:solidFill>
                <a:effectLst/>
                <a:uFillTx/>
                <a:latin typeface="Noto Sans KR"/>
                <a:ea typeface="Noto Sans KR"/>
              </a:rPr>
              <a:t>05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58" name="직사각형 83">
            <a:extLst>
              <a:ext uri="{FF2B5EF4-FFF2-40B4-BE49-F238E27FC236}">
                <a16:creationId xmlns:a16="http://schemas.microsoft.com/office/drawing/2014/main" id="{F16FDEA4-B762-459E-9BC1-60E31485E8B3}"/>
              </a:ext>
            </a:extLst>
          </p:cNvPr>
          <p:cNvSpPr/>
          <p:nvPr/>
        </p:nvSpPr>
        <p:spPr>
          <a:xfrm>
            <a:off x="552599" y="266760"/>
            <a:ext cx="4135941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050" b="1" u="none" strike="noStrike" dirty="0">
                <a:solidFill>
                  <a:srgbClr val="00206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ko-KR" sz="1050" b="1" u="none" strike="noStrike" dirty="0">
                <a:solidFill>
                  <a:srgbClr val="00206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altLang="ko-KR" sz="1050" b="0" u="none" strike="noStrike" dirty="0">
              <a:solidFill>
                <a:srgbClr val="00206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184" name="직사각형 183"/>
          <p:cNvSpPr/>
          <p:nvPr/>
        </p:nvSpPr>
        <p:spPr>
          <a:xfrm>
            <a:off x="552600" y="685800"/>
            <a:ext cx="1066752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수행 일정 및 발전 과정</a:t>
            </a:r>
            <a:endParaRPr lang="en-US" sz="28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552600" y="1190520"/>
            <a:ext cx="10667520" cy="342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r>
              <a:rPr lang="ko-KR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차 프로젝트의 데이터 분석</a:t>
            </a: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·ML </a:t>
            </a:r>
            <a:r>
              <a:rPr lang="ko-KR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경험에서 출발해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  (</a:t>
            </a:r>
            <a:r>
              <a:rPr lang="ko-KR" altLang="en-US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공모전 출품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) </a:t>
            </a: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Shared Case </a:t>
            </a:r>
            <a:r>
              <a:rPr lang="ko-KR" alt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아이디어로 공모전 출품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</a:rPr>
              <a:t> 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 (</a:t>
            </a:r>
            <a:r>
              <a:rPr lang="ko-KR" altLang="en-US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현재</a:t>
            </a:r>
            <a:r>
              <a:rPr lang="en-US" altLang="ko-KR" sz="1350" dirty="0">
                <a:solidFill>
                  <a:srgbClr val="5B6F8D"/>
                </a:solidFill>
                <a:latin typeface="페이퍼로지 5 Medium"/>
                <a:ea typeface="페이퍼로지 5 Medium"/>
                <a:sym typeface="Wingdings" panose="05000000000000000000" pitchFamily="2" charset="2"/>
              </a:rPr>
              <a:t>) </a:t>
            </a: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CSR </a:t>
            </a:r>
            <a:r>
              <a:rPr lang="ko-KR" alt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워크스페이스</a:t>
            </a:r>
            <a:r>
              <a:rPr lang="ko-KR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로 발전했습니다</a:t>
            </a:r>
            <a:r>
              <a:rPr lang="en-US" sz="135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graphicFrame>
        <p:nvGraphicFramePr>
          <p:cNvPr id="186" name="표 185"/>
          <p:cNvGraphicFramePr/>
          <p:nvPr>
            <p:extLst>
              <p:ext uri="{D42A27DB-BD31-4B8C-83A1-F6EECF244321}">
                <p14:modId xmlns:p14="http://schemas.microsoft.com/office/powerpoint/2010/main" val="640350109"/>
              </p:ext>
            </p:extLst>
          </p:nvPr>
        </p:nvGraphicFramePr>
        <p:xfrm>
          <a:off x="552600" y="1676520"/>
          <a:ext cx="11086560" cy="4551120"/>
        </p:xfrm>
        <a:graphic>
          <a:graphicData uri="http://schemas.openxmlformats.org/drawingml/2006/table">
            <a:tbl>
              <a:tblPr/>
              <a:tblGrid>
                <a:gridCol w="21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3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280" b="1" u="none" strike="noStrike" dirty="0">
                          <a:solidFill>
                            <a:srgbClr val="FFFFFF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프로젝트 단계</a:t>
                      </a:r>
                      <a:endParaRPr lang="en-US" sz="128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14120" marR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71B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기간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14120" marR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71B3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sz="128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핵심 수행 내용</a:t>
                      </a:r>
                      <a:endParaRPr lang="en-US" sz="128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14120" marR="11412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71B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 dirty="0">
                          <a:solidFill>
                            <a:srgbClr val="0056F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선행 </a:t>
                      </a:r>
                      <a:r>
                        <a:rPr lang="en-US" sz="1200" b="1" u="none" strike="noStrike" dirty="0">
                          <a:solidFill>
                            <a:srgbClr val="0056F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1</a:t>
                      </a:r>
                      <a:r>
                        <a:rPr lang="zh-CN" sz="1200" b="1" u="none" strike="noStrike" dirty="0">
                          <a:solidFill>
                            <a:srgbClr val="0056F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차 프로젝트</a:t>
                      </a:r>
                      <a:endParaRPr lang="en-US" altLang="zh-CN" sz="1200" b="1" u="none" strike="noStrike" dirty="0">
                        <a:solidFill>
                          <a:srgbClr val="0056FB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(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데이터 분석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, ML 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학습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,</a:t>
                      </a:r>
                      <a:b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</a:b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1</a:t>
                      </a:r>
                      <a:r>
                        <a:rPr lang="ko-KR" altLang="en-US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차 아이데이션 기획</a:t>
                      </a:r>
                      <a:r>
                        <a:rPr lang="en-US" altLang="ko-KR" sz="1200" b="0" u="none" strike="noStrike" dirty="0">
                          <a:solidFill>
                            <a:srgbClr val="000000"/>
                          </a:solidFill>
                          <a:effectLst/>
                          <a:uFillTx/>
                          <a:latin typeface="페이퍼로지 5 Medium"/>
                        </a:rPr>
                        <a:t>)</a:t>
                      </a: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8/6 ~ 8/19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EAF3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 dirty="0">
                          <a:solidFill>
                            <a:srgbClr val="102B4E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기획 </a:t>
                      </a:r>
                      <a:r>
                        <a:rPr lang="en-US" sz="1200" b="1" u="none" strike="noStrike" dirty="0">
                          <a:solidFill>
                            <a:srgbClr val="102B4E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</a:t>
                      </a:r>
                      <a:r>
                        <a:rPr lang="zh-CN" sz="1200" b="1" u="none" strike="noStrike" dirty="0">
                          <a:solidFill>
                            <a:srgbClr val="102B4E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방향 재정의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8/20 ~ 8/30 </a:t>
                      </a:r>
                      <a:r>
                        <a:rPr lang="zh-CN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전후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초기 </a:t>
                      </a:r>
                      <a:r>
                        <a:rPr lang="en-US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MVP </a:t>
                      </a:r>
                      <a:r>
                        <a:rPr lang="zh-CN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구현 </a:t>
                      </a:r>
                      <a:r>
                        <a:rPr lang="en-US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</a:t>
                      </a:r>
                      <a:r>
                        <a:rPr lang="zh-CN" sz="1200" b="1" u="none" strike="noStrike" dirty="0">
                          <a:solidFill>
                            <a:srgbClr val="E58B2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제출</a:t>
                      </a:r>
                      <a:endParaRPr lang="en-US" altLang="zh-CN" sz="1200" b="1" u="none" strike="noStrike" dirty="0">
                        <a:solidFill>
                          <a:srgbClr val="E58B2B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8/31 ~ 9/7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핵심 </a:t>
                      </a:r>
                      <a:r>
                        <a:rPr lang="ko-KR" altLang="en-US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기능</a:t>
                      </a:r>
                      <a:r>
                        <a:rPr lang="en-US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 </a:t>
                      </a:r>
                      <a:r>
                        <a:rPr lang="zh-CN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고도화</a:t>
                      </a:r>
                      <a:endParaRPr lang="en-US" altLang="zh-CN" sz="1200" b="1" u="none" strike="noStrike" dirty="0">
                        <a:solidFill>
                          <a:srgbClr val="22968B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altLang="en-US" sz="1200" b="1" u="none" strike="noStrike" dirty="0">
                          <a:solidFill>
                            <a:srgbClr val="22968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서브 기능 추가 및 개선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9/8 ~ 9/21 </a:t>
                      </a:r>
                      <a:r>
                        <a:rPr lang="zh-CN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전후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83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zh-CN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통합 </a:t>
                      </a:r>
                      <a:r>
                        <a:rPr lang="en-US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</a:t>
                      </a:r>
                      <a:r>
                        <a:rPr lang="zh-CN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검증 </a:t>
                      </a:r>
                      <a:r>
                        <a:rPr lang="en-US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· </a:t>
                      </a:r>
                      <a:r>
                        <a:rPr lang="zh-CN" sz="1200" b="1" u="none" strike="noStrike">
                          <a:solidFill>
                            <a:srgbClr val="7B91AB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결과 정리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130" b="1" u="none" strike="noStrike">
                          <a:solidFill>
                            <a:srgbClr val="071B38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9/22 ~ 9/30</a:t>
                      </a:r>
                      <a:endParaRPr lang="en-US" sz="113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800" b="0" u="none" strike="noStrike" dirty="0">
                        <a:solidFill>
                          <a:srgbClr val="000000"/>
                        </a:solidFill>
                        <a:effectLst/>
                        <a:uFillTx/>
                        <a:latin typeface="페이퍼로지 5 Medium"/>
                      </a:endParaRPr>
                    </a:p>
                  </a:txBody>
                  <a:tcPr marL="123480" marR="123480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F2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7" name="사각형: 둥근 모서리 186"/>
          <p:cNvSpPr/>
          <p:nvPr/>
        </p:nvSpPr>
        <p:spPr>
          <a:xfrm>
            <a:off x="4429080" y="218124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4495680" y="22384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문제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서비스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아이디어 탐색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6043680" y="235260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0" name="사각형: 둥근 모서리 189"/>
          <p:cNvSpPr/>
          <p:nvPr/>
        </p:nvSpPr>
        <p:spPr>
          <a:xfrm>
            <a:off x="6215040" y="218124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281640" y="22384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데이터 수집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전처리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EDA·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통계 분석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7829640" y="235260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3" name="사각형: 둥근 모서리 192"/>
          <p:cNvSpPr/>
          <p:nvPr/>
        </p:nvSpPr>
        <p:spPr>
          <a:xfrm>
            <a:off x="8001000" y="218124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4" name="직사각형 193"/>
          <p:cNvSpPr/>
          <p:nvPr/>
        </p:nvSpPr>
        <p:spPr>
          <a:xfrm>
            <a:off x="8067600" y="22384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ML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모델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비교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구축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5" name="직사각형 194"/>
          <p:cNvSpPr/>
          <p:nvPr/>
        </p:nvSpPr>
        <p:spPr>
          <a:xfrm>
            <a:off x="9615600" y="235260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6" name="사각형: 둥근 모서리 195"/>
          <p:cNvSpPr/>
          <p:nvPr/>
        </p:nvSpPr>
        <p:spPr>
          <a:xfrm>
            <a:off x="9786960" y="218124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0056F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7" name="직사각형 196"/>
          <p:cNvSpPr/>
          <p:nvPr/>
        </p:nvSpPr>
        <p:spPr>
          <a:xfrm>
            <a:off x="9853560" y="22384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대시보드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서비스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데모 구현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8" name="사각형: 둥근 모서리 197"/>
          <p:cNvSpPr/>
          <p:nvPr/>
        </p:nvSpPr>
        <p:spPr>
          <a:xfrm>
            <a:off x="4429080" y="30099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102B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99" name="직사각형 198"/>
          <p:cNvSpPr/>
          <p:nvPr/>
        </p:nvSpPr>
        <p:spPr>
          <a:xfrm>
            <a:off x="4495680" y="30672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초기 서비스안 검토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송금 방지턱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신뢰인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0" name="직사각형 199"/>
          <p:cNvSpPr/>
          <p:nvPr/>
        </p:nvSpPr>
        <p:spPr>
          <a:xfrm>
            <a:off x="6043680" y="318132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02B4E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1" name="사각형: 둥근 모서리 200"/>
          <p:cNvSpPr/>
          <p:nvPr/>
        </p:nvSpPr>
        <p:spPr>
          <a:xfrm>
            <a:off x="6215040" y="30099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102B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2" name="직사각형 201"/>
          <p:cNvSpPr/>
          <p:nvPr/>
        </p:nvSpPr>
        <p:spPr>
          <a:xfrm>
            <a:off x="6281640" y="30672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기존 대응체계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조사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3" name="직사각형 202"/>
          <p:cNvSpPr/>
          <p:nvPr/>
        </p:nvSpPr>
        <p:spPr>
          <a:xfrm>
            <a:off x="7829640" y="318132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02B4E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4" name="사각형: 둥근 모서리 203"/>
          <p:cNvSpPr/>
          <p:nvPr/>
        </p:nvSpPr>
        <p:spPr>
          <a:xfrm>
            <a:off x="8001000" y="30099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102B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5" name="직사각형 204"/>
          <p:cNvSpPr/>
          <p:nvPr/>
        </p:nvSpPr>
        <p:spPr>
          <a:xfrm>
            <a:off x="8067600" y="30672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차별성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실현성 검토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AI·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담당자 역할 재설정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9615600" y="318132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102B4E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7" name="사각형: 둥근 모서리 206"/>
          <p:cNvSpPr/>
          <p:nvPr/>
        </p:nvSpPr>
        <p:spPr>
          <a:xfrm>
            <a:off x="9786960" y="30099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102B4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8" name="직사각형 207"/>
          <p:cNvSpPr/>
          <p:nvPr/>
        </p:nvSpPr>
        <p:spPr>
          <a:xfrm>
            <a:off x="9853560" y="30672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탐지 이후 대응 중심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Shared Case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로 재정의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09" name="사각형: 둥근 모서리 208"/>
          <p:cNvSpPr/>
          <p:nvPr/>
        </p:nvSpPr>
        <p:spPr>
          <a:xfrm>
            <a:off x="4429080" y="383868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0" name="직사각형 209"/>
          <p:cNvSpPr/>
          <p:nvPr/>
        </p:nvSpPr>
        <p:spPr>
          <a:xfrm>
            <a:off x="4495680" y="389556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담당자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ROOM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구현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1" name="직사각형 210"/>
          <p:cNvSpPr/>
          <p:nvPr/>
        </p:nvSpPr>
        <p:spPr>
          <a:xfrm>
            <a:off x="6043680" y="401004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2" name="사각형: 둥근 모서리 211"/>
          <p:cNvSpPr/>
          <p:nvPr/>
        </p:nvSpPr>
        <p:spPr>
          <a:xfrm>
            <a:off x="6215040" y="383868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3" name="직사각형 212"/>
          <p:cNvSpPr/>
          <p:nvPr/>
        </p:nvSpPr>
        <p:spPr>
          <a:xfrm>
            <a:off x="6281640" y="389556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API·DB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연결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화면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·AI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통합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4" name="직사각형 213"/>
          <p:cNvSpPr/>
          <p:nvPr/>
        </p:nvSpPr>
        <p:spPr>
          <a:xfrm>
            <a:off x="7829640" y="401004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5" name="사각형: 둥근 모서리 214"/>
          <p:cNvSpPr/>
          <p:nvPr/>
        </p:nvSpPr>
        <p:spPr>
          <a:xfrm>
            <a:off x="8001000" y="383868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6" name="직사각형 215"/>
          <p:cNvSpPr/>
          <p:nvPr/>
        </p:nvSpPr>
        <p:spPr>
          <a:xfrm>
            <a:off x="8067600" y="389556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기반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AI Workflow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구현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7" name="직사각형 216"/>
          <p:cNvSpPr/>
          <p:nvPr/>
        </p:nvSpPr>
        <p:spPr>
          <a:xfrm>
            <a:off x="9615600" y="401004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8" name="사각형: 둥근 모서리 217"/>
          <p:cNvSpPr/>
          <p:nvPr/>
        </p:nvSpPr>
        <p:spPr>
          <a:xfrm>
            <a:off x="9786960" y="383868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E58B2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19" name="직사각형 218"/>
          <p:cNvSpPr/>
          <p:nvPr/>
        </p:nvSpPr>
        <p:spPr>
          <a:xfrm>
            <a:off x="9853560" y="389556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AWS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배포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공모전 제출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0" name="사각형: 둥근 모서리 219"/>
          <p:cNvSpPr/>
          <p:nvPr/>
        </p:nvSpPr>
        <p:spPr>
          <a:xfrm>
            <a:off x="4429080" y="466740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1" name="직사각형 220"/>
          <p:cNvSpPr/>
          <p:nvPr/>
        </p:nvSpPr>
        <p:spPr>
          <a:xfrm>
            <a:off x="4495680" y="47242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A/B/C Part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세분화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2" name="직사각형 221"/>
          <p:cNvSpPr/>
          <p:nvPr/>
        </p:nvSpPr>
        <p:spPr>
          <a:xfrm>
            <a:off x="6043680" y="483876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3" name="사각형: 둥근 모서리 222"/>
          <p:cNvSpPr/>
          <p:nvPr/>
        </p:nvSpPr>
        <p:spPr>
          <a:xfrm>
            <a:off x="6215040" y="466740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4" name="직사각형 223"/>
          <p:cNvSpPr/>
          <p:nvPr/>
        </p:nvSpPr>
        <p:spPr>
          <a:xfrm>
            <a:off x="6281640" y="47242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맥락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구조 고도화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5" name="직사각형 224"/>
          <p:cNvSpPr/>
          <p:nvPr/>
        </p:nvSpPr>
        <p:spPr>
          <a:xfrm>
            <a:off x="7829640" y="483876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6" name="사각형: 둥근 모서리 225"/>
          <p:cNvSpPr/>
          <p:nvPr/>
        </p:nvSpPr>
        <p:spPr>
          <a:xfrm>
            <a:off x="8001000" y="466740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7" name="직사각형 226"/>
          <p:cNvSpPr/>
          <p:nvPr/>
        </p:nvSpPr>
        <p:spPr>
          <a:xfrm>
            <a:off x="8067600" y="47242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질문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응답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Fact/Context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연결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8" name="직사각형 227"/>
          <p:cNvSpPr/>
          <p:nvPr/>
        </p:nvSpPr>
        <p:spPr>
          <a:xfrm>
            <a:off x="9615600" y="483876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29" name="사각형: 둥근 모서리 228"/>
          <p:cNvSpPr/>
          <p:nvPr/>
        </p:nvSpPr>
        <p:spPr>
          <a:xfrm>
            <a:off x="9786960" y="466740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22968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0" name="직사각형 229"/>
          <p:cNvSpPr/>
          <p:nvPr/>
        </p:nvSpPr>
        <p:spPr>
          <a:xfrm>
            <a:off x="9853560" y="472428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사건 처리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보고 및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UX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고도화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1" name="사각형: 둥근 모서리 230"/>
          <p:cNvSpPr/>
          <p:nvPr/>
        </p:nvSpPr>
        <p:spPr>
          <a:xfrm>
            <a:off x="4429080" y="54957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B91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2" name="직사각형 231"/>
          <p:cNvSpPr/>
          <p:nvPr/>
        </p:nvSpPr>
        <p:spPr>
          <a:xfrm>
            <a:off x="4495680" y="55530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잔여 기능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연결 상태 점검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3" name="직사각형 232"/>
          <p:cNvSpPr/>
          <p:nvPr/>
        </p:nvSpPr>
        <p:spPr>
          <a:xfrm>
            <a:off x="6043680" y="566748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4" name="사각형: 둥근 모서리 233"/>
          <p:cNvSpPr/>
          <p:nvPr/>
        </p:nvSpPr>
        <p:spPr>
          <a:xfrm>
            <a:off x="6215040" y="54957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B91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5" name="직사각형 234"/>
          <p:cNvSpPr/>
          <p:nvPr/>
        </p:nvSpPr>
        <p:spPr>
          <a:xfrm>
            <a:off x="6281640" y="55530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흐름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품질 검증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6" name="직사각형 235"/>
          <p:cNvSpPr/>
          <p:nvPr/>
        </p:nvSpPr>
        <p:spPr>
          <a:xfrm>
            <a:off x="7829640" y="566748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7" name="사각형: 둥근 모서리 236"/>
          <p:cNvSpPr/>
          <p:nvPr/>
        </p:nvSpPr>
        <p:spPr>
          <a:xfrm>
            <a:off x="8001000" y="54957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B91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8" name="직사각형 237"/>
          <p:cNvSpPr/>
          <p:nvPr/>
        </p:nvSpPr>
        <p:spPr>
          <a:xfrm>
            <a:off x="8067600" y="55530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Runtime·API·DB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통합 검증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9615600" y="5667480"/>
            <a:ext cx="1710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50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0" name="사각형: 둥근 모서리 239"/>
          <p:cNvSpPr/>
          <p:nvPr/>
        </p:nvSpPr>
        <p:spPr>
          <a:xfrm>
            <a:off x="9786960" y="5495760"/>
            <a:ext cx="1614240" cy="628200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9525">
            <a:solidFill>
              <a:srgbClr val="7B91AB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9853560" y="5553000"/>
            <a:ext cx="1480680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8575" tIns="45000" rIns="28575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최종 배포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동작 점검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결과보고서</a:t>
            </a:r>
            <a:r>
              <a:rPr lang="en-US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01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발표 정리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2" name="직사각형 241"/>
          <p:cNvSpPr/>
          <p:nvPr/>
        </p:nvSpPr>
        <p:spPr>
          <a:xfrm>
            <a:off x="552600" y="6258240"/>
            <a:ext cx="11086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※ 일부 AI </a:t>
            </a:r>
            <a:r>
              <a:rPr lang="ko-KR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연결 및 전체 </a:t>
            </a:r>
            <a:r>
              <a:rPr lang="en-US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Browser E2E</a:t>
            </a:r>
            <a:r>
              <a:rPr lang="ko-KR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는 후속 확인 대상입니다</a:t>
            </a:r>
            <a:r>
              <a:rPr lang="en-US" sz="82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3" name="직사각형 242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D2DDE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4" name="직사각형 243"/>
          <p:cNvSpPr/>
          <p:nvPr/>
        </p:nvSpPr>
        <p:spPr>
          <a:xfrm>
            <a:off x="552600" y="6496200"/>
            <a:ext cx="61909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CSR   CASE SHARE ROOM   ·   01 </a:t>
            </a:r>
            <a:r>
              <a:rPr lang="ko-KR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팀 역할 및 수행 일정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245" name="직사각형 244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8294AC"/>
                </a:solidFill>
                <a:effectLst/>
                <a:uFillTx/>
                <a:latin typeface="Noto Sans KR"/>
                <a:ea typeface="Noto Sans KR"/>
              </a:rPr>
              <a:t>06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66" name="직사각형 83">
            <a:extLst>
              <a:ext uri="{FF2B5EF4-FFF2-40B4-BE49-F238E27FC236}">
                <a16:creationId xmlns:a16="http://schemas.microsoft.com/office/drawing/2014/main" id="{A6506806-EB1F-4A0E-9154-480D959414F4}"/>
              </a:ext>
            </a:extLst>
          </p:cNvPr>
          <p:cNvSpPr/>
          <p:nvPr/>
        </p:nvSpPr>
        <p:spPr>
          <a:xfrm>
            <a:off x="552599" y="266760"/>
            <a:ext cx="4135941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r>
              <a:rPr lang="en-US" sz="1050" b="1" u="none" strike="noStrike" dirty="0">
                <a:solidFill>
                  <a:srgbClr val="00206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01 </a:t>
            </a:r>
            <a:r>
              <a:rPr lang="ko-KR" altLang="ko-KR" sz="1050" b="1" u="none" strike="noStrike" dirty="0">
                <a:solidFill>
                  <a:srgbClr val="00206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팀 역할 및 수행 일정</a:t>
            </a:r>
            <a:endParaRPr lang="en-US" altLang="ko-KR" sz="1050" b="0" u="none" strike="noStrike" dirty="0">
              <a:solidFill>
                <a:srgbClr val="00206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48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49" name="Rectangle 6"/>
          <p:cNvSpPr/>
          <p:nvPr/>
        </p:nvSpPr>
        <p:spPr>
          <a:xfrm>
            <a:off x="3400560" y="2349720"/>
            <a:ext cx="53906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02 </a:t>
            </a:r>
            <a:r>
              <a:rPr lang="ko-KR" sz="4800" b="1" u="none" strike="noStrike" dirty="0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프로젝트 개요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0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기획 배경과 현행 체계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서비스 방향 소개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제한 사항 및 구현 범위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251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Rectangle 2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73" name="TextBox 5"/>
          <p:cNvSpPr/>
          <p:nvPr/>
        </p:nvSpPr>
        <p:spPr>
          <a:xfrm>
            <a:off x="618840" y="762840"/>
            <a:ext cx="10954080" cy="1230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보이스피싱 범죄 통화에서 정황 데이터를 추출하고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보이스피싱범의 주장과 고객이 처한 상황을 </a:t>
            </a:r>
            <a:r>
              <a:rPr lang="en-US" sz="2000" b="1" u="none" strike="noStrike" dirty="0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AI</a:t>
            </a:r>
            <a:r>
              <a:rPr lang="ko-KR" sz="2000" b="1" u="none" strike="noStrike" dirty="0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가 빠르게 정리</a:t>
            </a:r>
            <a:r>
              <a:rPr lang="ko-KR" sz="20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하고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은행이 고객에게 </a:t>
            </a:r>
            <a:r>
              <a:rPr lang="ko-KR" sz="2000" b="1" u="none" strike="noStrike" dirty="0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맞춤 대응 가이드를 제공</a:t>
            </a:r>
            <a:r>
              <a:rPr lang="ko-KR" sz="20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하여</a:t>
            </a:r>
            <a:r>
              <a:rPr lang="en-US" sz="20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000" b="1" u="none" strike="noStrike" dirty="0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신속하게 소통하고 대응</a:t>
            </a:r>
            <a:r>
              <a:rPr lang="ko-KR" sz="20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할 수 있도록 하는</a:t>
            </a:r>
            <a:br>
              <a:rPr sz="2000" dirty="0"/>
            </a:br>
            <a:r>
              <a:rPr lang="en-US" sz="20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20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워크스페이스 </a:t>
            </a:r>
            <a:r>
              <a:rPr lang="en-US" sz="20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:</a:t>
            </a:r>
            <a:r>
              <a:rPr lang="en-US" sz="20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2000" b="0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CSR | Case Share Room </a:t>
            </a:r>
            <a:r>
              <a:rPr lang="en-US" sz="20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B2B </a:t>
            </a:r>
            <a:r>
              <a:rPr lang="ko-KR" sz="20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모듈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4" name="TextBox 6"/>
          <p:cNvSpPr/>
          <p:nvPr/>
        </p:nvSpPr>
        <p:spPr>
          <a:xfrm>
            <a:off x="5652000" y="494280"/>
            <a:ext cx="88776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 dirty="0">
                <a:solidFill>
                  <a:srgbClr val="EEF5FF"/>
                </a:solidFill>
                <a:effectLst/>
                <a:uFillTx/>
                <a:latin typeface="페이퍼로지 7 Bold"/>
                <a:ea typeface="페이퍼로지 7 Bold"/>
              </a:rPr>
              <a:t>서비스 방향 소개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575" name="Straight Connector 36"/>
          <p:cNvCxnSpPr/>
          <p:nvPr/>
        </p:nvCxnSpPr>
        <p:spPr>
          <a:xfrm>
            <a:off x="2654640" y="4163040"/>
            <a:ext cx="7663680" cy="360"/>
          </a:xfrm>
          <a:prstGeom prst="straightConnector1">
            <a:avLst/>
          </a:prstGeom>
          <a:ln w="38100">
            <a:solidFill>
              <a:srgbClr val="FFFFFF"/>
            </a:solidFill>
            <a:prstDash val="sysDot"/>
            <a:round/>
          </a:ln>
        </p:spPr>
      </p:cxnSp>
      <p:pic>
        <p:nvPicPr>
          <p:cNvPr id="576" name="Picture 30"/>
          <p:cNvPicPr/>
          <p:nvPr/>
        </p:nvPicPr>
        <p:blipFill>
          <a:blip r:embed="rId3"/>
          <a:stretch/>
        </p:blipFill>
        <p:spPr>
          <a:xfrm>
            <a:off x="9122400" y="2087640"/>
            <a:ext cx="2729880" cy="477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7" name="Picture 39"/>
          <p:cNvPicPr/>
          <p:nvPr/>
        </p:nvPicPr>
        <p:blipFill>
          <a:blip r:embed="rId4"/>
          <a:stretch/>
        </p:blipFill>
        <p:spPr>
          <a:xfrm>
            <a:off x="-3222360" y="1982880"/>
            <a:ext cx="6348960" cy="47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TextBox 21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17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579" name="Group 3"/>
          <p:cNvGrpSpPr/>
          <p:nvPr/>
        </p:nvGrpSpPr>
        <p:grpSpPr>
          <a:xfrm>
            <a:off x="3218760" y="2714760"/>
            <a:ext cx="5754240" cy="2864880"/>
            <a:chOff x="3218760" y="2714760"/>
            <a:chExt cx="5754240" cy="2864880"/>
          </a:xfrm>
        </p:grpSpPr>
        <p:grpSp>
          <p:nvGrpSpPr>
            <p:cNvPr id="580" name="Group 19"/>
            <p:cNvGrpSpPr/>
            <p:nvPr/>
          </p:nvGrpSpPr>
          <p:grpSpPr>
            <a:xfrm>
              <a:off x="3218760" y="3803760"/>
              <a:ext cx="1042200" cy="719640"/>
              <a:chOff x="3218760" y="3803760"/>
              <a:chExt cx="1042200" cy="719640"/>
            </a:xfrm>
          </p:grpSpPr>
          <p:sp>
            <p:nvSpPr>
              <p:cNvPr id="581" name="Oval 9"/>
              <p:cNvSpPr/>
              <p:nvPr/>
            </p:nvSpPr>
            <p:spPr>
              <a:xfrm>
                <a:off x="3391920" y="3803760"/>
                <a:ext cx="719640" cy="71964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82" name="TextBox 16"/>
              <p:cNvSpPr/>
              <p:nvPr/>
            </p:nvSpPr>
            <p:spPr>
              <a:xfrm>
                <a:off x="3218760" y="3963600"/>
                <a:ext cx="104220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1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은행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000" b="1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업무지원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3" name="Group 20"/>
            <p:cNvGrpSpPr/>
            <p:nvPr/>
          </p:nvGrpSpPr>
          <p:grpSpPr>
            <a:xfrm>
              <a:off x="7930800" y="3803760"/>
              <a:ext cx="1042200" cy="719640"/>
              <a:chOff x="7930800" y="3803760"/>
              <a:chExt cx="1042200" cy="719640"/>
            </a:xfrm>
          </p:grpSpPr>
          <p:sp>
            <p:nvSpPr>
              <p:cNvPr id="584" name="Oval 11"/>
              <p:cNvSpPr/>
              <p:nvPr/>
            </p:nvSpPr>
            <p:spPr>
              <a:xfrm>
                <a:off x="8079840" y="3803760"/>
                <a:ext cx="719640" cy="71964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85" name="TextBox 18"/>
              <p:cNvSpPr/>
              <p:nvPr/>
            </p:nvSpPr>
            <p:spPr>
              <a:xfrm>
                <a:off x="7930800" y="3963600"/>
                <a:ext cx="104220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1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고객 상담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000" b="1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안전지원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586" name="Group 2"/>
            <p:cNvGrpSpPr/>
            <p:nvPr/>
          </p:nvGrpSpPr>
          <p:grpSpPr>
            <a:xfrm>
              <a:off x="4663440" y="2714760"/>
              <a:ext cx="2864880" cy="2864880"/>
              <a:chOff x="4663440" y="2714760"/>
              <a:chExt cx="2864880" cy="2864880"/>
            </a:xfrm>
          </p:grpSpPr>
          <p:sp>
            <p:nvSpPr>
              <p:cNvPr id="587" name="Oval 28"/>
              <p:cNvSpPr/>
              <p:nvPr/>
            </p:nvSpPr>
            <p:spPr>
              <a:xfrm>
                <a:off x="4663440" y="2714760"/>
                <a:ext cx="2864880" cy="286488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FFFF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588" name="Picture 26"/>
              <p:cNvSpPr/>
              <p:nvPr/>
            </p:nvSpPr>
            <p:spPr>
              <a:xfrm>
                <a:off x="4793969" y="2717280"/>
                <a:ext cx="2704901" cy="2731413"/>
              </a:xfrm>
              <a:custGeom>
                <a:avLst/>
                <a:gdLst>
                  <a:gd name="textAreaLeft" fmla="*/ 0 w 2864880"/>
                  <a:gd name="textAreaRight" fmla="*/ 2865240 w 2864880"/>
                  <a:gd name="textAreaTop" fmla="*/ 0 h 2892960"/>
                  <a:gd name="textAreaBottom" fmla="*/ 2893320 h 2892960"/>
                  <a:gd name="GluePoint1X" fmla="*/ 747486 w 1494972"/>
                  <a:gd name="GluePoint1Y" fmla="*/ 0 h 1494972"/>
                  <a:gd name="GluePoint2X" fmla="*/ 1494972 w 1494972"/>
                  <a:gd name="GluePoint2Y" fmla="*/ 747486 h 1494972"/>
                  <a:gd name="GluePoint3X" fmla="*/ 747486 w 1494972"/>
                  <a:gd name="GluePoint3Y" fmla="*/ 1494972 h 1494972"/>
                  <a:gd name="GluePoint4X" fmla="*/ 0 w 1494972"/>
                  <a:gd name="GluePoint4Y" fmla="*/ 747486 h 1494972"/>
                  <a:gd name="GluePoint5X" fmla="*/ 747486 w 1494972"/>
                  <a:gd name="GluePoint5Y" fmla="*/ 0 h 1494972"/>
                </a:gdLst>
                <a:ahLst/>
                <a:cxnLst>
                  <a:cxn ang="0">
                    <a:pos x="GluePoint1X" y="GluePoint1Y"/>
                  </a:cxn>
                  <a:cxn ang="0">
                    <a:pos x="GluePoint2X" y="GluePoint2Y"/>
                  </a:cxn>
                  <a:cxn ang="0">
                    <a:pos x="GluePoint3X" y="GluePoint3Y"/>
                  </a:cxn>
                  <a:cxn ang="0">
                    <a:pos x="GluePoint4X" y="GluePoint4Y"/>
                  </a:cxn>
                  <a:cxn ang="0">
                    <a:pos x="GluePoint5X" y="GluePoint5Y"/>
                  </a:cxn>
                </a:cxnLst>
                <a:rect l="textAreaLeft" t="textAreaTop" r="textAreaRight" b="textAreaBottom"/>
                <a:pathLst>
                  <a:path w="1494972" h="1494972">
                    <a:moveTo>
                      <a:pt x="747486" y="0"/>
                    </a:moveTo>
                    <a:cubicBezTo>
                      <a:pt x="1160311" y="0"/>
                      <a:pt x="1494972" y="334661"/>
                      <a:pt x="1494972" y="747486"/>
                    </a:cubicBezTo>
                    <a:cubicBezTo>
                      <a:pt x="1494972" y="1160311"/>
                      <a:pt x="1160311" y="1494972"/>
                      <a:pt x="747486" y="1494972"/>
                    </a:cubicBezTo>
                    <a:cubicBezTo>
                      <a:pt x="334661" y="1494972"/>
                      <a:pt x="0" y="1160311"/>
                      <a:pt x="0" y="747486"/>
                    </a:cubicBezTo>
                    <a:cubicBezTo>
                      <a:pt x="0" y="334661"/>
                      <a:pt x="334661" y="0"/>
                      <a:pt x="747486" y="0"/>
                    </a:cubicBezTo>
                    <a:close/>
                  </a:path>
                </a:pathLst>
              </a:custGeom>
              <a:blipFill rotWithShape="0">
                <a:blip r:embed="rId5"/>
                <a:srcRect/>
                <a:stretch/>
              </a:blipFill>
              <a:ln w="0">
                <a:solidFill>
                  <a:srgbClr val="FEFEFE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endParaRPr lang="en-US" sz="18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590" name="TextBox 25"/>
          <p:cNvSpPr/>
          <p:nvPr/>
        </p:nvSpPr>
        <p:spPr>
          <a:xfrm>
            <a:off x="3138120" y="4630680"/>
            <a:ext cx="213840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이상거래 탐지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업무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WEB 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환경 적용 모듈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조사/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계획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협업 지원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Box 27"/>
          <p:cNvSpPr/>
          <p:nvPr/>
        </p:nvSpPr>
        <p:spPr>
          <a:xfrm>
            <a:off x="6797880" y="4630680"/>
            <a:ext cx="240840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APP 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상시 챗봇 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탐지 이후 송금 여정 중 발동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0000"/>
              </a:lnSpc>
            </a:pP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고객 소통/</a:t>
            </a:r>
            <a:r>
              <a:rPr lang="ko-KR" sz="12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대응 안내 지원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E3AC88-0D5F-4583-9F9B-EC1B104D2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9341"/>
            <a:ext cx="12192000" cy="60286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B96447-D678-49CB-8D48-5AFC9D331863}"/>
              </a:ext>
            </a:extLst>
          </p:cNvPr>
          <p:cNvSpPr txBox="1"/>
          <p:nvPr/>
        </p:nvSpPr>
        <p:spPr>
          <a:xfrm>
            <a:off x="1343607" y="305191"/>
            <a:ext cx="9517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altLang="ko-KR" sz="18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워크스페이스 </a:t>
            </a:r>
            <a:r>
              <a:rPr lang="en-US" altLang="ko-KR" sz="18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:</a:t>
            </a:r>
            <a:r>
              <a:rPr lang="en-US" alt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altLang="ko-KR" sz="1800" b="0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CSR | Case Share Room </a:t>
            </a:r>
            <a:r>
              <a:rPr lang="en-US" alt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B2B </a:t>
            </a:r>
            <a:r>
              <a:rPr lang="ko-KR" alt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모듈</a:t>
            </a:r>
            <a:r>
              <a:rPr lang="en-US" alt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altLang="en-US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화면</a:t>
            </a:r>
            <a:r>
              <a:rPr lang="en-US" alt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134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FB96447-D678-49CB-8D48-5AFC9D331863}"/>
              </a:ext>
            </a:extLst>
          </p:cNvPr>
          <p:cNvSpPr txBox="1"/>
          <p:nvPr/>
        </p:nvSpPr>
        <p:spPr>
          <a:xfrm>
            <a:off x="1343607" y="305191"/>
            <a:ext cx="9517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altLang="ko-KR" sz="18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워크스페이스 </a:t>
            </a:r>
            <a:r>
              <a:rPr lang="en-US" altLang="ko-KR" sz="1800" b="1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:</a:t>
            </a:r>
            <a:r>
              <a:rPr lang="en-US" alt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altLang="ko-KR" sz="1800" b="0" u="none" strike="noStrike" dirty="0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CSR | Case Share Room </a:t>
            </a:r>
            <a:r>
              <a:rPr lang="en-US" alt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B2B </a:t>
            </a:r>
            <a:r>
              <a:rPr lang="ko-KR" alt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모듈</a:t>
            </a:r>
            <a:r>
              <a:rPr lang="en-US" alt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altLang="en-US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고객 챗봇 화면</a:t>
            </a:r>
            <a:r>
              <a:rPr lang="en-US" alt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ko-KR" alt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3798EE-3856-44E9-ABF4-EB88E340A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906" y="724336"/>
            <a:ext cx="3166188" cy="613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865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Rectangle 25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cxnSp>
        <p:nvCxnSpPr>
          <p:cNvPr id="641" name="Google Shape;990;p15"/>
          <p:cNvCxnSpPr/>
          <p:nvPr/>
        </p:nvCxnSpPr>
        <p:spPr>
          <a:xfrm>
            <a:off x="6175080" y="4389480"/>
            <a:ext cx="720" cy="522000"/>
          </a:xfrm>
          <a:prstGeom prst="straightConnector1">
            <a:avLst/>
          </a:prstGeom>
          <a:ln w="21575">
            <a:solidFill>
              <a:srgbClr val="4B89FF"/>
            </a:solidFill>
            <a:miter/>
          </a:ln>
        </p:spPr>
      </p:cxnSp>
      <p:sp>
        <p:nvSpPr>
          <p:cNvPr id="642" name="Google Shape;969;p15"/>
          <p:cNvSpPr/>
          <p:nvPr/>
        </p:nvSpPr>
        <p:spPr>
          <a:xfrm>
            <a:off x="747000" y="752400"/>
            <a:ext cx="10697760" cy="71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통화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고객 응답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은행 거래정보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기관 검증 결과를 하나의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Case Share Room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에 축적하고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,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역할별 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AI</a:t>
            </a:r>
            <a:r>
              <a:rPr lang="ko-KR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가 필요한 정보를 분석하여 은행과 고객의 빠른 대응을 지원합니다</a:t>
            </a: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Google Shape;972;p15"/>
          <p:cNvSpPr/>
          <p:nvPr/>
        </p:nvSpPr>
        <p:spPr>
          <a:xfrm>
            <a:off x="734760" y="2584800"/>
            <a:ext cx="2760840" cy="1864800"/>
          </a:xfrm>
          <a:prstGeom prst="roundRect">
            <a:avLst>
              <a:gd name="adj" fmla="val 8000"/>
            </a:avLst>
          </a:prstGeom>
          <a:solidFill>
            <a:srgbClr val="143458"/>
          </a:solidFill>
          <a:ln w="12700">
            <a:solidFill>
              <a:srgbClr val="355B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44" name="Google Shape;975;p15"/>
          <p:cNvSpPr/>
          <p:nvPr/>
        </p:nvSpPr>
        <p:spPr>
          <a:xfrm>
            <a:off x="8845560" y="2584800"/>
            <a:ext cx="2760840" cy="1864800"/>
          </a:xfrm>
          <a:prstGeom prst="roundRect">
            <a:avLst>
              <a:gd name="adj" fmla="val 8000"/>
            </a:avLst>
          </a:prstGeom>
          <a:solidFill>
            <a:srgbClr val="143458"/>
          </a:solidFill>
          <a:ln w="12700">
            <a:solidFill>
              <a:srgbClr val="355B85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45" name="Google Shape;976;p15"/>
          <p:cNvSpPr/>
          <p:nvPr/>
        </p:nvSpPr>
        <p:spPr>
          <a:xfrm>
            <a:off x="972720" y="2916000"/>
            <a:ext cx="228528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Bank Agent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Google Shape;977;p15"/>
          <p:cNvSpPr/>
          <p:nvPr/>
        </p:nvSpPr>
        <p:spPr>
          <a:xfrm>
            <a:off x="972720" y="3407760"/>
            <a:ext cx="2285280" cy="60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통화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거래 맥락 분석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사건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Brief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확인사항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조치 초안 제안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Google Shape;978;p15"/>
          <p:cNvSpPr/>
          <p:nvPr/>
        </p:nvSpPr>
        <p:spPr>
          <a:xfrm>
            <a:off x="4675680" y="2667240"/>
            <a:ext cx="2998440" cy="1733040"/>
          </a:xfrm>
          <a:prstGeom prst="roundRect">
            <a:avLst>
              <a:gd name="adj" fmla="val 8000"/>
            </a:avLst>
          </a:prstGeom>
          <a:solidFill>
            <a:srgbClr val="091D36"/>
          </a:solidFill>
          <a:ln w="25400">
            <a:solidFill>
              <a:srgbClr val="4B8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48" name="Google Shape;979;p15"/>
          <p:cNvSpPr/>
          <p:nvPr/>
        </p:nvSpPr>
        <p:spPr>
          <a:xfrm>
            <a:off x="4968360" y="3029760"/>
            <a:ext cx="2404080" cy="27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65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Case Orchestrator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9" name="Google Shape;980;p15"/>
          <p:cNvSpPr/>
          <p:nvPr/>
        </p:nvSpPr>
        <p:spPr>
          <a:xfrm>
            <a:off x="4968360" y="3490200"/>
            <a:ext cx="2404080" cy="60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발화 맥락 구조화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업무 유형별 </a:t>
            </a:r>
            <a:r>
              <a:rPr lang="en-US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서비스 라우팅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상태</a:t>
            </a:r>
            <a:r>
              <a:rPr lang="en-US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1" u="none" strike="noStrike">
                <a:solidFill>
                  <a:srgbClr val="BFD0E8"/>
                </a:solidFill>
                <a:effectLst/>
                <a:uFillTx/>
                <a:latin typeface="페이퍼로지 7 Bold"/>
                <a:ea typeface="페이퍼로지 7 Bold"/>
              </a:rPr>
              <a:t>기록 통합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0" name="Google Shape;981;p15"/>
          <p:cNvCxnSpPr/>
          <p:nvPr/>
        </p:nvCxnSpPr>
        <p:spPr>
          <a:xfrm>
            <a:off x="3505320" y="3564000"/>
            <a:ext cx="1161720" cy="720"/>
          </a:xfrm>
          <a:prstGeom prst="straightConnector1">
            <a:avLst/>
          </a:prstGeom>
          <a:ln w="27925">
            <a:solidFill>
              <a:srgbClr val="4B89FF"/>
            </a:solidFill>
            <a:miter/>
          </a:ln>
        </p:spPr>
      </p:cxnSp>
      <p:cxnSp>
        <p:nvCxnSpPr>
          <p:cNvPr id="651" name="Google Shape;982;p15"/>
          <p:cNvCxnSpPr/>
          <p:nvPr/>
        </p:nvCxnSpPr>
        <p:spPr>
          <a:xfrm>
            <a:off x="7674840" y="3564000"/>
            <a:ext cx="1162080" cy="720"/>
          </a:xfrm>
          <a:prstGeom prst="straightConnector1">
            <a:avLst/>
          </a:prstGeom>
          <a:ln w="27925">
            <a:solidFill>
              <a:srgbClr val="4B89FF"/>
            </a:solidFill>
            <a:miter/>
          </a:ln>
        </p:spPr>
      </p:cxnSp>
      <p:sp>
        <p:nvSpPr>
          <p:cNvPr id="652" name="Google Shape;985;p15"/>
          <p:cNvSpPr/>
          <p:nvPr/>
        </p:nvSpPr>
        <p:spPr>
          <a:xfrm>
            <a:off x="4676400" y="1807200"/>
            <a:ext cx="2997360" cy="438120"/>
          </a:xfrm>
          <a:prstGeom prst="roundRect">
            <a:avLst>
              <a:gd name="adj" fmla="val 8000"/>
            </a:avLst>
          </a:prstGeom>
          <a:solidFill>
            <a:srgbClr val="091D36"/>
          </a:solidFill>
          <a:ln w="12700">
            <a:solidFill>
              <a:srgbClr val="4B89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53" name="Google Shape;986;p15"/>
          <p:cNvSpPr/>
          <p:nvPr/>
        </p:nvSpPr>
        <p:spPr>
          <a:xfrm>
            <a:off x="4556880" y="1917720"/>
            <a:ext cx="321804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Verification Agent · </a:t>
            </a:r>
            <a:r>
              <a:rPr lang="ko-KR" sz="11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사칭기관</a:t>
            </a: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sz="11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주장 정리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4" name="Google Shape;987;p15"/>
          <p:cNvCxnSpPr>
            <a:stCxn id="652" idx="2"/>
          </p:cNvCxnSpPr>
          <p:nvPr/>
        </p:nvCxnSpPr>
        <p:spPr>
          <a:xfrm>
            <a:off x="6175080" y="2245320"/>
            <a:ext cx="720" cy="421920"/>
          </a:xfrm>
          <a:prstGeom prst="straightConnector1">
            <a:avLst/>
          </a:prstGeom>
          <a:ln w="21575">
            <a:solidFill>
              <a:srgbClr val="4B89FF"/>
            </a:solidFill>
            <a:miter/>
          </a:ln>
        </p:spPr>
      </p:cxnSp>
      <p:sp>
        <p:nvSpPr>
          <p:cNvPr id="655" name="Google Shape;988;p15"/>
          <p:cNvSpPr/>
          <p:nvPr/>
        </p:nvSpPr>
        <p:spPr>
          <a:xfrm>
            <a:off x="3532680" y="4863960"/>
            <a:ext cx="5302800" cy="559440"/>
          </a:xfrm>
          <a:prstGeom prst="roundRect">
            <a:avLst>
              <a:gd name="adj" fmla="val 8000"/>
            </a:avLst>
          </a:prstGeom>
          <a:solidFill>
            <a:srgbClr val="0B1E37"/>
          </a:solidFill>
          <a:ln w="12700">
            <a:solidFill>
              <a:srgbClr val="375E8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56" name="Google Shape;989;p15"/>
          <p:cNvSpPr/>
          <p:nvPr/>
        </p:nvSpPr>
        <p:spPr>
          <a:xfrm>
            <a:off x="3733920" y="5057640"/>
            <a:ext cx="4900320" cy="213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Shared Case Engine · 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발화 맥락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확인 근거 </a:t>
            </a: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설득 포인트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Google Shape;991;p15"/>
          <p:cNvSpPr/>
          <p:nvPr/>
        </p:nvSpPr>
        <p:spPr>
          <a:xfrm>
            <a:off x="2124720" y="5852520"/>
            <a:ext cx="8100720" cy="474840"/>
          </a:xfrm>
          <a:prstGeom prst="roundRect">
            <a:avLst>
              <a:gd name="adj" fmla="val 8000"/>
            </a:avLst>
          </a:prstGeom>
          <a:solidFill>
            <a:srgbClr val="133C69"/>
          </a:solidFill>
          <a:ln w="12700">
            <a:solidFill>
              <a:srgbClr val="133C6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658" name="Google Shape;992;p15"/>
          <p:cNvSpPr/>
          <p:nvPr/>
        </p:nvSpPr>
        <p:spPr>
          <a:xfrm>
            <a:off x="2348640" y="5978520"/>
            <a:ext cx="7634520" cy="243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각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지원 결과는 하나의 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Case Share Room</a:t>
            </a:r>
            <a:r>
              <a:rPr lang="ko-KR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에 기록 및 활용됩니다</a:t>
            </a: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Google Shape;973;p15"/>
          <p:cNvSpPr/>
          <p:nvPr/>
        </p:nvSpPr>
        <p:spPr>
          <a:xfrm>
            <a:off x="9083520" y="2847240"/>
            <a:ext cx="228528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Customer Agent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Google Shape;974;p15"/>
          <p:cNvSpPr/>
          <p:nvPr/>
        </p:nvSpPr>
        <p:spPr>
          <a:xfrm>
            <a:off x="9083520" y="3339000"/>
            <a:ext cx="2285280" cy="79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상황 브리핑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안전 확인 질문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답변 구조화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20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안전 행동 안내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TextBox 29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18</a:t>
            </a:r>
            <a:endParaRPr lang="en-US" sz="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TextBox 23"/>
          <p:cNvSpPr/>
          <p:nvPr/>
        </p:nvSpPr>
        <p:spPr>
          <a:xfrm>
            <a:off x="5652000" y="494280"/>
            <a:ext cx="88776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EF5FF"/>
                </a:solidFill>
                <a:effectLst/>
                <a:uFillTx/>
                <a:latin typeface="페이퍼로지 7 Bold"/>
                <a:ea typeface="페이퍼로지 7 Bold"/>
              </a:rPr>
              <a:t>서비스 방향 소개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AD91C9-B842-4121-8A22-533BDBD99CAE}"/>
              </a:ext>
            </a:extLst>
          </p:cNvPr>
          <p:cNvSpPr/>
          <p:nvPr/>
        </p:nvSpPr>
        <p:spPr>
          <a:xfrm>
            <a:off x="10477440" y="2821280"/>
            <a:ext cx="323640" cy="85311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9398C893-3A95-457B-9523-516DA6F65205}"/>
              </a:ext>
            </a:extLst>
          </p:cNvPr>
          <p:cNvSpPr/>
          <p:nvPr/>
        </p:nvSpPr>
        <p:spPr>
          <a:xfrm rot="10800000">
            <a:off x="1497106" y="3738522"/>
            <a:ext cx="8980334" cy="41443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173890DD-46D9-427E-881D-C1D5DE2A40DB}"/>
              </a:ext>
            </a:extLst>
          </p:cNvPr>
          <p:cNvSpPr/>
          <p:nvPr/>
        </p:nvSpPr>
        <p:spPr>
          <a:xfrm>
            <a:off x="1497106" y="2220993"/>
            <a:ext cx="8980334" cy="41443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18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592" name="직사각형 591"/>
          <p:cNvSpPr/>
          <p:nvPr/>
        </p:nvSpPr>
        <p:spPr>
          <a:xfrm>
            <a:off x="552600" y="266760"/>
            <a:ext cx="1047708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l" defTabSz="914400">
              <a:lnSpc>
                <a:spcPct val="100000"/>
              </a:lnSpc>
            </a:pPr>
            <a:r>
              <a:rPr lang="ko-KR" altLang="en-US" sz="105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서비스 방향 소개</a:t>
            </a:r>
          </a:p>
        </p:txBody>
      </p:sp>
      <p:sp>
        <p:nvSpPr>
          <p:cNvPr id="593" name="직사각형 592"/>
          <p:cNvSpPr/>
          <p:nvPr/>
        </p:nvSpPr>
        <p:spPr>
          <a:xfrm>
            <a:off x="552600" y="733320"/>
            <a:ext cx="110869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하나의 </a:t>
            </a:r>
            <a:r>
              <a:rPr lang="en-US" sz="28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</a:t>
            </a:r>
            <a:r>
              <a:rPr lang="ko-KR" sz="2850" b="1" u="none" strike="noStrike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로 이어지는 고객 확인과 대응</a:t>
            </a:r>
            <a:endParaRPr lang="en-US" sz="28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4" name="직사각형 593"/>
          <p:cNvSpPr/>
          <p:nvPr/>
        </p:nvSpPr>
        <p:spPr>
          <a:xfrm>
            <a:off x="552600" y="1285920"/>
            <a:ext cx="110869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서비스 컨셉</a:t>
            </a:r>
            <a:r>
              <a:rPr lang="en-US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담당자 </a:t>
            </a:r>
            <a:r>
              <a:rPr lang="en-US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ROOM</a:t>
            </a: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과 고객 </a:t>
            </a:r>
            <a:r>
              <a:rPr lang="en-US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ROOM</a:t>
            </a: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이 같은 사건의 정보와 진행 기록을 공유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5" name="직사각형 594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CDDC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6" name="직사각형 595"/>
          <p:cNvSpPr/>
          <p:nvPr/>
        </p:nvSpPr>
        <p:spPr>
          <a:xfrm>
            <a:off x="628560" y="6496200"/>
            <a:ext cx="9524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7B91AB"/>
                </a:solidFill>
                <a:effectLst/>
                <a:uFillTx/>
                <a:latin typeface="페이퍼로지 5 Medium"/>
                <a:ea typeface="페이퍼로지 5 Medium"/>
              </a:rPr>
              <a:t>CSR  CASE SHARE ROOM   ·   02 </a:t>
            </a:r>
            <a:r>
              <a:rPr lang="ko-KR" sz="820" b="0" u="none" strike="noStrike">
                <a:solidFill>
                  <a:srgbClr val="7B91AB"/>
                </a:solidFill>
                <a:effectLst/>
                <a:uFillTx/>
                <a:latin typeface="페이퍼로지 5 Medium"/>
                <a:ea typeface="페이퍼로지 5 Medium"/>
              </a:rPr>
              <a:t>프로젝트 개요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7" name="직사각형 596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7B91AB"/>
                </a:solidFill>
                <a:effectLst/>
                <a:uFillTx/>
                <a:latin typeface="Noto Sans KR"/>
                <a:ea typeface="Noto Sans KR"/>
              </a:rPr>
              <a:t>19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598" name="사각형: 둥근 모서리 597"/>
          <p:cNvSpPr/>
          <p:nvPr/>
        </p:nvSpPr>
        <p:spPr>
          <a:xfrm>
            <a:off x="552600" y="1866960"/>
            <a:ext cx="2571480" cy="116172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99" name="직사각형 598"/>
          <p:cNvSpPr/>
          <p:nvPr/>
        </p:nvSpPr>
        <p:spPr>
          <a:xfrm>
            <a:off x="552600" y="1866960"/>
            <a:ext cx="2571480" cy="4716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0" name="직사각형 599"/>
          <p:cNvSpPr/>
          <p:nvPr/>
        </p:nvSpPr>
        <p:spPr>
          <a:xfrm>
            <a:off x="704880" y="207648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729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PoC </a:t>
            </a:r>
            <a:r>
              <a:rPr lang="ko-KR" sz="1729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입력</a:t>
            </a:r>
            <a:endParaRPr lang="en-US" sz="1729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1" name="직사각형 600"/>
          <p:cNvSpPr/>
          <p:nvPr/>
        </p:nvSpPr>
        <p:spPr>
          <a:xfrm>
            <a:off x="704880" y="2457360"/>
            <a:ext cx="22665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Demo 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텍스트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음성 파일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자체 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ML/STT/LLM 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분석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2" name="직사각형 601"/>
          <p:cNvSpPr/>
          <p:nvPr/>
        </p:nvSpPr>
        <p:spPr>
          <a:xfrm>
            <a:off x="3152880" y="2247840"/>
            <a:ext cx="2282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3" name="사각형: 둥근 모서리 602"/>
          <p:cNvSpPr/>
          <p:nvPr/>
        </p:nvSpPr>
        <p:spPr>
          <a:xfrm>
            <a:off x="3390840" y="1866960"/>
            <a:ext cx="2571480" cy="116172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4" name="직사각형 603"/>
          <p:cNvSpPr/>
          <p:nvPr/>
        </p:nvSpPr>
        <p:spPr>
          <a:xfrm>
            <a:off x="3390840" y="1866960"/>
            <a:ext cx="2571480" cy="4716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5" name="직사각형 604"/>
          <p:cNvSpPr/>
          <p:nvPr/>
        </p:nvSpPr>
        <p:spPr>
          <a:xfrm>
            <a:off x="3543480" y="207648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729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729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생성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6" name="직사각형 605"/>
          <p:cNvSpPr/>
          <p:nvPr/>
        </p:nvSpPr>
        <p:spPr>
          <a:xfrm>
            <a:off x="3543480" y="2457360"/>
            <a:ext cx="22665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사건 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ID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와 원본 근거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초기 분석 결과 저장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7" name="직사각형 606"/>
          <p:cNvSpPr/>
          <p:nvPr/>
        </p:nvSpPr>
        <p:spPr>
          <a:xfrm>
            <a:off x="5991120" y="2247840"/>
            <a:ext cx="2282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8" name="사각형: 둥근 모서리 607"/>
          <p:cNvSpPr/>
          <p:nvPr/>
        </p:nvSpPr>
        <p:spPr>
          <a:xfrm>
            <a:off x="6229440" y="1866960"/>
            <a:ext cx="2571480" cy="116172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09" name="직사각형 608"/>
          <p:cNvSpPr/>
          <p:nvPr/>
        </p:nvSpPr>
        <p:spPr>
          <a:xfrm>
            <a:off x="6229440" y="1866960"/>
            <a:ext cx="2571480" cy="4716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0" name="직사각형 609"/>
          <p:cNvSpPr/>
          <p:nvPr/>
        </p:nvSpPr>
        <p:spPr>
          <a:xfrm>
            <a:off x="6381720" y="207648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사건 맥락 구조화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1" name="직사각형 610"/>
          <p:cNvSpPr/>
          <p:nvPr/>
        </p:nvSpPr>
        <p:spPr>
          <a:xfrm>
            <a:off x="6381720" y="2457360"/>
            <a:ext cx="22665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범죄자 주장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상황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위험 근거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미확인 정보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2" name="직사각형 611"/>
          <p:cNvSpPr/>
          <p:nvPr/>
        </p:nvSpPr>
        <p:spPr>
          <a:xfrm>
            <a:off x="8829720" y="2247840"/>
            <a:ext cx="2282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3" name="사각형: 둥근 모서리 612"/>
          <p:cNvSpPr/>
          <p:nvPr/>
        </p:nvSpPr>
        <p:spPr>
          <a:xfrm>
            <a:off x="9067680" y="1866960"/>
            <a:ext cx="2571480" cy="116172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4" name="직사각형 613"/>
          <p:cNvSpPr/>
          <p:nvPr/>
        </p:nvSpPr>
        <p:spPr>
          <a:xfrm>
            <a:off x="9067680" y="1866960"/>
            <a:ext cx="2571480" cy="47160"/>
          </a:xfrm>
          <a:prstGeom prst="rect">
            <a:avLst/>
          </a:prstGeom>
          <a:solidFill>
            <a:srgbClr val="E58B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520" rIns="90000" bIns="252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5" name="직사각형 614"/>
          <p:cNvSpPr/>
          <p:nvPr/>
        </p:nvSpPr>
        <p:spPr>
          <a:xfrm>
            <a:off x="9220320" y="207648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담당자 </a:t>
            </a:r>
            <a:r>
              <a:rPr lang="en-US" sz="1729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ROOM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6" name="직사각형 615"/>
          <p:cNvSpPr/>
          <p:nvPr/>
        </p:nvSpPr>
        <p:spPr>
          <a:xfrm>
            <a:off x="9220320" y="2457360"/>
            <a:ext cx="2266560" cy="533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Brief·Evidence 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확인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질문 추천 검토</a:t>
            </a:r>
            <a:r>
              <a:rPr lang="en-US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2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선택</a:t>
            </a:r>
            <a:endParaRPr lang="en-US" sz="132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7" name="사각형: 둥근 모서리 616"/>
          <p:cNvSpPr/>
          <p:nvPr/>
        </p:nvSpPr>
        <p:spPr>
          <a:xfrm>
            <a:off x="552600" y="3390840"/>
            <a:ext cx="2571480" cy="1218960"/>
          </a:xfrm>
          <a:prstGeom prst="roundRect">
            <a:avLst>
              <a:gd name="adj" fmla="val 7813"/>
            </a:avLst>
          </a:prstGeom>
          <a:solidFill>
            <a:srgbClr val="E8F7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8" name="직사각형 617"/>
          <p:cNvSpPr/>
          <p:nvPr/>
        </p:nvSpPr>
        <p:spPr>
          <a:xfrm>
            <a:off x="704880" y="356220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Context·</a:t>
            </a:r>
            <a:r>
              <a:rPr lang="ko-KR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후속 업무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19" name="직사각형 618"/>
          <p:cNvSpPr/>
          <p:nvPr/>
        </p:nvSpPr>
        <p:spPr>
          <a:xfrm>
            <a:off x="704880" y="3962520"/>
            <a:ext cx="22665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정황 갱신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후속 질문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Action·Timeline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Summary·Report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0" name="직사각형 619"/>
          <p:cNvSpPr/>
          <p:nvPr/>
        </p:nvSpPr>
        <p:spPr>
          <a:xfrm>
            <a:off x="3152880" y="3743280"/>
            <a:ext cx="228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1" name="사각형: 둥근 모서리 620"/>
          <p:cNvSpPr/>
          <p:nvPr/>
        </p:nvSpPr>
        <p:spPr>
          <a:xfrm>
            <a:off x="3390840" y="3390840"/>
            <a:ext cx="2571480" cy="1218960"/>
          </a:xfrm>
          <a:prstGeom prst="roundRect">
            <a:avLst>
              <a:gd name="adj" fmla="val 7813"/>
            </a:avLst>
          </a:prstGeom>
          <a:solidFill>
            <a:srgbClr val="E8F7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2" name="직사각형 621"/>
          <p:cNvSpPr/>
          <p:nvPr/>
        </p:nvSpPr>
        <p:spPr>
          <a:xfrm>
            <a:off x="3543480" y="356220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6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응답 구조화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3" name="직사각형 622"/>
          <p:cNvSpPr/>
          <p:nvPr/>
        </p:nvSpPr>
        <p:spPr>
          <a:xfrm>
            <a:off x="3543480" y="3962520"/>
            <a:ext cx="22665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원문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메시지 출처를 연결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정황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/Fact 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후보로 반영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4" name="직사각형 623"/>
          <p:cNvSpPr/>
          <p:nvPr/>
        </p:nvSpPr>
        <p:spPr>
          <a:xfrm>
            <a:off x="5991120" y="3743280"/>
            <a:ext cx="228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5" name="사각형: 둥근 모서리 624"/>
          <p:cNvSpPr/>
          <p:nvPr/>
        </p:nvSpPr>
        <p:spPr>
          <a:xfrm>
            <a:off x="6229440" y="3390840"/>
            <a:ext cx="2571480" cy="1218960"/>
          </a:xfrm>
          <a:prstGeom prst="roundRect">
            <a:avLst>
              <a:gd name="adj" fmla="val 7813"/>
            </a:avLst>
          </a:prstGeom>
          <a:solidFill>
            <a:srgbClr val="FFF3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6" name="직사각형 625"/>
          <p:cNvSpPr/>
          <p:nvPr/>
        </p:nvSpPr>
        <p:spPr>
          <a:xfrm>
            <a:off x="6381720" y="356220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고객 </a:t>
            </a:r>
            <a:r>
              <a:rPr lang="en-US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ROOM </a:t>
            </a:r>
            <a:r>
              <a:rPr lang="ko-KR" sz="16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응답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7" name="직사각형 626"/>
          <p:cNvSpPr/>
          <p:nvPr/>
        </p:nvSpPr>
        <p:spPr>
          <a:xfrm>
            <a:off x="6381720" y="3962520"/>
            <a:ext cx="22665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담당자 질문 확인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답변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공개 맥락 기반 고객 </a:t>
            </a:r>
            <a:r>
              <a:rPr lang="en-US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지원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8" name="직사각형 627"/>
          <p:cNvSpPr/>
          <p:nvPr/>
        </p:nvSpPr>
        <p:spPr>
          <a:xfrm>
            <a:off x="8829720" y="3743280"/>
            <a:ext cx="228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‹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29" name="사각형: 둥근 모서리 628"/>
          <p:cNvSpPr/>
          <p:nvPr/>
        </p:nvSpPr>
        <p:spPr>
          <a:xfrm>
            <a:off x="9067680" y="3390840"/>
            <a:ext cx="2571480" cy="1218960"/>
          </a:xfrm>
          <a:prstGeom prst="roundRect">
            <a:avLst>
              <a:gd name="adj" fmla="val 7813"/>
            </a:avLst>
          </a:prstGeom>
          <a:solidFill>
            <a:srgbClr val="FFF3E6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0" name="직사각형 629"/>
          <p:cNvSpPr/>
          <p:nvPr/>
        </p:nvSpPr>
        <p:spPr>
          <a:xfrm>
            <a:off x="9220320" y="3562200"/>
            <a:ext cx="2266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고객 확인 질문</a:t>
            </a:r>
            <a:r>
              <a:rPr lang="en-US" altLang="ko-KR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altLang="en-US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및 소통</a:t>
            </a:r>
            <a:r>
              <a:rPr lang="en-US" altLang="ko-KR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(AI</a:t>
            </a:r>
            <a:r>
              <a:rPr lang="ko-KR" altLang="en-US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활용</a:t>
            </a:r>
            <a:r>
              <a:rPr lang="en-US" altLang="ko-KR" sz="1400" b="1" u="none" strike="noStrike" dirty="0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</a:p>
        </p:txBody>
      </p:sp>
      <p:sp>
        <p:nvSpPr>
          <p:cNvPr id="631" name="직사각형 630"/>
          <p:cNvSpPr/>
          <p:nvPr/>
        </p:nvSpPr>
        <p:spPr>
          <a:xfrm>
            <a:off x="9220320" y="3962520"/>
            <a:ext cx="226656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담당자가 선택 후 발송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승인한 질문을 순차 전달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2" name="직사각형 631"/>
          <p:cNvSpPr/>
          <p:nvPr/>
        </p:nvSpPr>
        <p:spPr>
          <a:xfrm>
            <a:off x="10477440" y="3057480"/>
            <a:ext cx="32364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95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↓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3" name="직사각형 632"/>
          <p:cNvSpPr/>
          <p:nvPr/>
        </p:nvSpPr>
        <p:spPr>
          <a:xfrm>
            <a:off x="552600" y="4734000"/>
            <a:ext cx="110869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갱신한 </a:t>
            </a:r>
            <a:r>
              <a:rPr lang="en-US" sz="13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Context</a:t>
            </a:r>
            <a:r>
              <a:rPr lang="ko-KR" sz="13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를 다음 조사와 질문 추천에 다시 활용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4" name="직사각형 633"/>
          <p:cNvSpPr/>
          <p:nvPr/>
        </p:nvSpPr>
        <p:spPr>
          <a:xfrm>
            <a:off x="552600" y="5114880"/>
            <a:ext cx="11086920" cy="9000"/>
          </a:xfrm>
          <a:prstGeom prst="rect">
            <a:avLst/>
          </a:prstGeom>
          <a:solidFill>
            <a:srgbClr val="CDDCEE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5" name="직사각형 634"/>
          <p:cNvSpPr/>
          <p:nvPr/>
        </p:nvSpPr>
        <p:spPr>
          <a:xfrm>
            <a:off x="552600" y="527688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AI</a:t>
            </a:r>
            <a:r>
              <a:rPr lang="ko-KR" sz="158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의 역할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6" name="직사각형 635"/>
          <p:cNvSpPr/>
          <p:nvPr/>
        </p:nvSpPr>
        <p:spPr>
          <a:xfrm>
            <a:off x="2190600" y="5276880"/>
            <a:ext cx="94294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정보 구조화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·Brief·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미확인 사항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질문 추천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요약 초안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7" name="직사각형 636"/>
          <p:cNvSpPr/>
          <p:nvPr/>
        </p:nvSpPr>
        <p:spPr>
          <a:xfrm>
            <a:off x="552600" y="5686560"/>
            <a:ext cx="158076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8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담당자의 역할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8" name="직사각형 637"/>
          <p:cNvSpPr/>
          <p:nvPr/>
        </p:nvSpPr>
        <p:spPr>
          <a:xfrm>
            <a:off x="2190600" y="5686560"/>
            <a:ext cx="942948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원본 근거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정황 검토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질문 선택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확인</a:t>
            </a:r>
            <a:r>
              <a:rPr lang="en-US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50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최종 판단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639" name="직사각형 638"/>
          <p:cNvSpPr/>
          <p:nvPr/>
        </p:nvSpPr>
        <p:spPr>
          <a:xfrm>
            <a:off x="552600" y="6162840"/>
            <a:ext cx="110869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구현 상태</a:t>
            </a:r>
            <a:r>
              <a:rPr lang="en-US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주요 연결 코드 존재 </a:t>
            </a:r>
            <a:r>
              <a:rPr lang="en-US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 </a:t>
            </a: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최신 전체 </a:t>
            </a:r>
            <a:r>
              <a:rPr lang="en-US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Browser E2E </a:t>
            </a: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미검증 </a:t>
            </a:r>
            <a:r>
              <a:rPr lang="en-US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 </a:t>
            </a:r>
            <a:r>
              <a:rPr lang="ko-KR" sz="1200" b="0" u="none" strike="noStrike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금융 조치는 외부 업무에서 수행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Picture 8"/>
          <p:cNvPicPr/>
          <p:nvPr/>
        </p:nvPicPr>
        <p:blipFill>
          <a:blip r:embed="rId3"/>
          <a:srcRect l="5718" r="5718"/>
          <a:stretch/>
        </p:blipFill>
        <p:spPr>
          <a:xfrm>
            <a:off x="0" y="-12600"/>
            <a:ext cx="12191760" cy="688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3" name="Shape 0"/>
          <p:cNvSpPr/>
          <p:nvPr/>
        </p:nvSpPr>
        <p:spPr>
          <a:xfrm>
            <a:off x="0" y="0"/>
            <a:ext cx="12188520" cy="6857640"/>
          </a:xfrm>
          <a:prstGeom prst="rect">
            <a:avLst/>
          </a:prstGeom>
          <a:solidFill>
            <a:schemeClr val="dk1">
              <a:alpha val="30000"/>
            </a:schemeClr>
          </a:solidFill>
          <a:ln w="12700">
            <a:solidFill>
              <a:srgbClr val="0E2746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54" name="Group 32"/>
          <p:cNvGrpSpPr/>
          <p:nvPr/>
        </p:nvGrpSpPr>
        <p:grpSpPr>
          <a:xfrm>
            <a:off x="676080" y="614160"/>
            <a:ext cx="10701000" cy="5834880"/>
            <a:chOff x="676080" y="614160"/>
            <a:chExt cx="10701000" cy="5834880"/>
          </a:xfrm>
        </p:grpSpPr>
        <p:sp>
          <p:nvSpPr>
            <p:cNvPr id="255" name="TextBox 11"/>
            <p:cNvSpPr/>
            <p:nvPr/>
          </p:nvSpPr>
          <p:spPr>
            <a:xfrm>
              <a:off x="1965240" y="614160"/>
              <a:ext cx="8273520" cy="119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1800" b="0" u="none" strike="noStrike">
                  <a:solidFill>
                    <a:schemeClr val="lt1"/>
                  </a:solidFill>
                  <a:effectLst/>
                  <a:uFillTx/>
                  <a:latin typeface="페이퍼로지 4 Regular"/>
                  <a:ea typeface="페이퍼로지 4 Regular"/>
                </a:rPr>
                <a:t>사람의 불안과 취약점을 이용해</a:t>
              </a:r>
              <a:r>
                <a:rPr lang="en-US" sz="1800" b="0" u="none" strike="noStrike">
                  <a:solidFill>
                    <a:schemeClr val="lt1"/>
                  </a:solidFill>
                  <a:effectLst/>
                  <a:uFillTx/>
                  <a:latin typeface="페이퍼로지 4 Regular"/>
                  <a:ea typeface="페이퍼로지 4 Regular"/>
                </a:rPr>
                <a:t> →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4 Regular"/>
                  <a:ea typeface="페이퍼로지 4 Regular"/>
                </a:rPr>
                <a:t>잘못된 판단을 유도하는 금융 범죄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5400" b="1" u="none" strike="noStrike">
                  <a:solidFill>
                    <a:schemeClr val="lt1"/>
                  </a:solidFill>
                  <a:effectLst/>
                  <a:uFillTx/>
                  <a:latin typeface="페이퍼로지 9 Black"/>
                  <a:ea typeface="페이퍼로지 9 Black"/>
                </a:rPr>
                <a:t>보이스피싱 </a:t>
              </a:r>
              <a:r>
                <a:rPr lang="en-US" sz="5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vs </a:t>
              </a:r>
              <a:r>
                <a:rPr lang="ko-KR" sz="5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대응</a:t>
              </a:r>
              <a:endParaRPr lang="en-US" sz="5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Box 14"/>
            <p:cNvSpPr/>
            <p:nvPr/>
          </p:nvSpPr>
          <p:spPr>
            <a:xfrm>
              <a:off x="2749680" y="5249160"/>
              <a:ext cx="6689520" cy="119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딥페이크</a:t>
              </a: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, </a:t>
              </a: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전화 가로채기… 끝없이 발전하는 수법</a:t>
              </a: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!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피해를 막기위한 정부와 금융 기관의 끝없는 사투</a:t>
              </a: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NanumSquare Bold"/>
                  <a:ea typeface="NanumSquare Bold"/>
                </a:rPr>
                <a:t>!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단 </a:t>
              </a:r>
              <a:r>
                <a:rPr lang="en-US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1</a:t>
              </a:r>
              <a:r>
                <a:rPr lang="ko-KR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원이라도</a:t>
              </a:r>
              <a:r>
                <a:rPr lang="en-US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, </a:t>
              </a:r>
              <a:r>
                <a:rPr lang="ko-KR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단 </a:t>
              </a:r>
              <a:r>
                <a:rPr lang="en-US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1</a:t>
              </a:r>
              <a:r>
                <a:rPr lang="ko-KR" sz="20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명이라도 </a:t>
              </a:r>
              <a:r>
                <a:rPr lang="ko-KR" sz="20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더 지키기 위해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ko-KR" sz="20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함께 고민하고 해결해야 할 중대한 사회적 문제</a:t>
              </a:r>
              <a:endParaRPr lang="en-US" sz="2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Rectangle 21"/>
            <p:cNvSpPr/>
            <p:nvPr/>
          </p:nvSpPr>
          <p:spPr>
            <a:xfrm>
              <a:off x="676080" y="2271240"/>
              <a:ext cx="3358800" cy="54504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노인들에게 ‘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100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억원’ 뜯어낸 피싱 일당…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112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신고 전화까지 가로챘다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(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매일경제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Rectangle 22"/>
            <p:cNvSpPr/>
            <p:nvPr/>
          </p:nvSpPr>
          <p:spPr>
            <a:xfrm>
              <a:off x="7825261" y="2428200"/>
              <a:ext cx="3128878" cy="58392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보이스피싱 피해액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'</a:t>
              </a:r>
              <a:r>
                <a:rPr lang="ko-KR" sz="1400" b="0" u="none" strike="noStrike" dirty="0" err="1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반토막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’… 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7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월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337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억원으로 올해 최저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 (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한국일보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Rectangle 23"/>
            <p:cNvSpPr/>
            <p:nvPr/>
          </p:nvSpPr>
          <p:spPr>
            <a:xfrm>
              <a:off x="2093760" y="3137760"/>
              <a:ext cx="3214440" cy="54504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"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오늘 소방점검 나가요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" 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전화에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'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덜컥’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..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알고보니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'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노쇼 보이스피싱’ 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(</a:t>
              </a:r>
              <a:r>
                <a:rPr lang="ko-KR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제주방송</a:t>
              </a:r>
              <a:r>
                <a:rPr lang="en-US" sz="14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Rectangle 27"/>
            <p:cNvSpPr/>
            <p:nvPr/>
          </p:nvSpPr>
          <p:spPr>
            <a:xfrm>
              <a:off x="7402320" y="3548520"/>
              <a:ext cx="3974760" cy="691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경찰청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-KT, 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협업으로 보이스피싱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구매대행 사기 불법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010 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번호 </a:t>
              </a:r>
              <a:r>
                <a:rPr lang="ko-KR" sz="1400" b="0" u="none" strike="noStrike" dirty="0" err="1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변작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 중계소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115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개소 단속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(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정책브리핑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1" name="TextBox 29"/>
            <p:cNvSpPr/>
            <p:nvPr/>
          </p:nvSpPr>
          <p:spPr>
            <a:xfrm>
              <a:off x="5421600" y="1932480"/>
              <a:ext cx="184320" cy="369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262" name="Rectangle 31"/>
            <p:cNvSpPr/>
            <p:nvPr/>
          </p:nvSpPr>
          <p:spPr>
            <a:xfrm>
              <a:off x="1270080" y="4010760"/>
              <a:ext cx="2765160" cy="691200"/>
            </a:xfrm>
            <a:prstGeom prst="rect">
              <a:avLst/>
            </a:prstGeom>
            <a:solidFill>
              <a:schemeClr val="bg1"/>
            </a:solidFill>
            <a:ln w="12700">
              <a:noFill/>
            </a:ln>
            <a:effectLst>
              <a:outerShdw blurRad="50760" dist="37674" dir="2700000" algn="tl" rotWithShape="0">
                <a:srgbClr val="000000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대출 미끼로 계좌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·OTP 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받아 보이스피싱 자금세탁…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3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명 구속 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(</a:t>
              </a:r>
              <a:r>
                <a:rPr lang="ko-KR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서울신문</a:t>
              </a:r>
              <a:r>
                <a:rPr lang="en-US" sz="1400" b="0" u="none" strike="noStrike" dirty="0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)</a:t>
              </a:r>
              <a:endParaRPr lang="en-US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3" name="TextBox 13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>
                <a:solidFill>
                  <a:schemeClr val="lt1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08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Text 7"/>
          <p:cNvSpPr/>
          <p:nvPr/>
        </p:nvSpPr>
        <p:spPr>
          <a:xfrm>
            <a:off x="623160" y="516600"/>
            <a:ext cx="10515240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2025</a:t>
            </a:r>
            <a:r>
              <a:rPr lang="ko-KR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년 말 출범 이후 성과를 내고 있는 </a:t>
            </a:r>
            <a:r>
              <a:rPr lang="en-US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ASAP(</a:t>
            </a:r>
            <a:r>
              <a:rPr lang="ko-KR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에이셉</a:t>
            </a:r>
            <a:r>
              <a:rPr lang="en-US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) </a:t>
            </a:r>
            <a:r>
              <a:rPr lang="ko-KR" sz="1230" b="0" u="none" strike="noStrike">
                <a:solidFill>
                  <a:srgbClr val="66768F"/>
                </a:solidFill>
                <a:effectLst/>
                <a:uFillTx/>
                <a:latin typeface="페이퍼로지 4 Regular"/>
                <a:ea typeface="페이퍼로지 4 Regular"/>
              </a:rPr>
              <a:t>체계</a:t>
            </a:r>
            <a:endParaRPr lang="en-US" sz="12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6"/>
          <p:cNvSpPr/>
          <p:nvPr/>
        </p:nvSpPr>
        <p:spPr>
          <a:xfrm>
            <a:off x="604440" y="680760"/>
            <a:ext cx="10698120" cy="90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</a:pP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금융위</a:t>
            </a:r>
            <a:r>
              <a:rPr lang="en-US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금융보안원 중심 </a:t>
            </a:r>
            <a:r>
              <a:rPr lang="ko-KR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보이스피싱 정보 공유 체계 </a:t>
            </a:r>
            <a:r>
              <a:rPr lang="en-US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ASAP </a:t>
            </a: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출범 이후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9</a:t>
            </a: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개월간 </a:t>
            </a:r>
            <a:r>
              <a:rPr lang="en-US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663</a:t>
            </a:r>
            <a:r>
              <a:rPr lang="ko-KR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억 </a:t>
            </a:r>
            <a:r>
              <a:rPr lang="en-US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6000</a:t>
            </a:r>
            <a:r>
              <a:rPr lang="ko-KR" sz="2200" b="1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만 원 규모의 피해를 사전 차단</a:t>
            </a: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하는 실제 성과로 이어졌습니다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67" name="Group 5"/>
          <p:cNvGrpSpPr/>
          <p:nvPr/>
        </p:nvGrpSpPr>
        <p:grpSpPr>
          <a:xfrm>
            <a:off x="558000" y="1687680"/>
            <a:ext cx="5975280" cy="3886200"/>
            <a:chOff x="558000" y="1687680"/>
            <a:chExt cx="5975280" cy="3886200"/>
          </a:xfrm>
        </p:grpSpPr>
        <p:sp>
          <p:nvSpPr>
            <p:cNvPr id="268" name="Shape 8"/>
            <p:cNvSpPr/>
            <p:nvPr/>
          </p:nvSpPr>
          <p:spPr>
            <a:xfrm>
              <a:off x="558000" y="1687680"/>
              <a:ext cx="5975280" cy="3886200"/>
            </a:xfrm>
            <a:prstGeom prst="roundRect">
              <a:avLst>
                <a:gd name="adj" fmla="val 5818"/>
              </a:avLst>
            </a:prstGeom>
            <a:solidFill>
              <a:srgbClr val="FFFFFF"/>
            </a:solidFill>
            <a:ln w="10160">
              <a:solidFill>
                <a:srgbClr val="DCE8F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69" name="그림 7"/>
            <p:cNvPicPr/>
            <p:nvPr/>
          </p:nvPicPr>
          <p:blipFill>
            <a:blip r:embed="rId3"/>
            <a:srcRect l="3005" t="18162" r="3580" b="6222"/>
            <a:stretch/>
          </p:blipFill>
          <p:spPr>
            <a:xfrm>
              <a:off x="710640" y="3137040"/>
              <a:ext cx="5654520" cy="2246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70" name="TextBox 82"/>
            <p:cNvSpPr/>
            <p:nvPr/>
          </p:nvSpPr>
          <p:spPr>
            <a:xfrm>
              <a:off x="666720" y="1861200"/>
              <a:ext cx="4820400" cy="30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보이스피싱 정보공유</a:t>
              </a:r>
              <a:r>
                <a:rPr lang="en-US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분석 </a:t>
              </a:r>
              <a:r>
                <a:rPr lang="en-US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AI </a:t>
              </a:r>
              <a:r>
                <a:rPr lang="ko-KR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플랫폼</a:t>
              </a:r>
              <a:r>
                <a:rPr lang="en-US" sz="1400" b="1" u="none" strike="noStrike">
                  <a:solidFill>
                    <a:srgbClr val="10213D"/>
                  </a:solidFill>
                  <a:effectLst/>
                  <a:uFillTx/>
                  <a:latin typeface="페이퍼로지 7 Bold"/>
                  <a:ea typeface="페이퍼로지 7 Bold"/>
                </a:rPr>
                <a:t>(ASAP)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TextBox 84"/>
            <p:cNvSpPr/>
            <p:nvPr/>
          </p:nvSpPr>
          <p:spPr>
            <a:xfrm>
              <a:off x="666720" y="2169720"/>
              <a:ext cx="5796360" cy="8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출범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법적 기반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: 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2025.10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출범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, 2026.08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법 개정으로 관계기관 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의심정보 공동 활용 본격화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정보 공유 기관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: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 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은행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증권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제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2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금융 – 통신사 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-- 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수사기관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가상자산거래소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공유 정보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: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사기계좌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악성앱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피싱사이트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의심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/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범죄 이용 전화번호 등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기대 효과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: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4 Regular"/>
                  <a:ea typeface="페이퍼로지 4 Regular"/>
                </a:rPr>
                <a:t>분산된 위험정보를 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실시간 공유해 지급정지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이상거래 차단</a:t>
              </a:r>
              <a:r>
                <a:rPr lang="en-US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·</a:t>
              </a:r>
              <a:r>
                <a:rPr lang="ko-KR" sz="1200" b="0" u="none" strike="noStrike">
                  <a:solidFill>
                    <a:srgbClr val="EE4344"/>
                  </a:solidFill>
                  <a:effectLst/>
                  <a:uFillTx/>
                  <a:latin typeface="페이퍼로지 4 Regular"/>
                  <a:ea typeface="페이퍼로지 4 Regular"/>
                </a:rPr>
                <a:t>수사 활용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72" name="Shape 8"/>
          <p:cNvSpPr/>
          <p:nvPr/>
        </p:nvSpPr>
        <p:spPr>
          <a:xfrm>
            <a:off x="6665040" y="1687680"/>
            <a:ext cx="4931280" cy="38862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3" name="TextBox 88"/>
          <p:cNvSpPr/>
          <p:nvPr/>
        </p:nvSpPr>
        <p:spPr>
          <a:xfrm>
            <a:off x="6893280" y="1802520"/>
            <a:ext cx="397944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ASAP </a:t>
            </a:r>
            <a:r>
              <a:rPr lang="ko-KR" sz="14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플랫폼의 출범 이후 핵심 성과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74" name="Group 92"/>
          <p:cNvGrpSpPr/>
          <p:nvPr/>
        </p:nvGrpSpPr>
        <p:grpSpPr>
          <a:xfrm>
            <a:off x="461880" y="5778720"/>
            <a:ext cx="11273760" cy="537840"/>
            <a:chOff x="461880" y="5778720"/>
            <a:chExt cx="11273760" cy="537840"/>
          </a:xfrm>
        </p:grpSpPr>
        <p:sp>
          <p:nvSpPr>
            <p:cNvPr id="275" name="Shape 44"/>
            <p:cNvSpPr/>
            <p:nvPr/>
          </p:nvSpPr>
          <p:spPr>
            <a:xfrm>
              <a:off x="537120" y="5799600"/>
              <a:ext cx="11123280" cy="496080"/>
            </a:xfrm>
            <a:prstGeom prst="roundRect">
              <a:avLst>
                <a:gd name="adj" fmla="val 20513"/>
              </a:avLst>
            </a:prstGeom>
            <a:solidFill>
              <a:srgbClr val="0B1F3A"/>
            </a:solidFill>
            <a:ln w="10160">
              <a:solidFill>
                <a:srgbClr val="0B1F3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Text 45"/>
            <p:cNvSpPr/>
            <p:nvPr/>
          </p:nvSpPr>
          <p:spPr>
            <a:xfrm>
              <a:off x="461880" y="5778720"/>
              <a:ext cx="11273760" cy="5378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rmAutofit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AI</a:t>
              </a:r>
              <a:r>
                <a:rPr lang="ko-KR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와 빅데이터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, </a:t>
              </a:r>
              <a:r>
                <a:rPr lang="ko-KR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진보적인 법률 개정과 협업 체계를 통한 공격적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선제적 방어  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Wingdings"/>
                  <a:ea typeface="페이퍼로지 7 Bold"/>
                </a:rPr>
                <a:t>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  전년 동기 대비 </a:t>
              </a:r>
              <a:r>
                <a:rPr lang="ko-KR" sz="1520" b="1" u="none" strike="noStrike">
                  <a:solidFill>
                    <a:srgbClr val="FFC000"/>
                  </a:solidFill>
                  <a:effectLst/>
                  <a:uFillTx/>
                  <a:latin typeface="페이퍼로지 7 Bold"/>
                  <a:ea typeface="페이퍼로지 7 Bold"/>
                </a:rPr>
                <a:t>약 </a:t>
              </a:r>
              <a:r>
                <a:rPr lang="en-US" sz="1520" b="1" u="none" strike="noStrike">
                  <a:solidFill>
                    <a:srgbClr val="FFC000"/>
                  </a:solidFill>
                  <a:effectLst/>
                  <a:uFillTx/>
                  <a:latin typeface="페이퍼로지 7 Bold"/>
                  <a:ea typeface="페이퍼로지 7 Bold"/>
                </a:rPr>
                <a:t>53% </a:t>
              </a:r>
              <a:r>
                <a:rPr lang="ko-KR" sz="1520" b="1" u="none" strike="noStrike">
                  <a:solidFill>
                    <a:srgbClr val="FFC000"/>
                  </a:solidFill>
                  <a:effectLst/>
                  <a:uFillTx/>
                  <a:latin typeface="페이퍼로지 7 Bold"/>
                  <a:ea typeface="페이퍼로지 7 Bold"/>
                </a:rPr>
                <a:t>피해액 감소</a:t>
              </a:r>
              <a:r>
                <a:rPr lang="ko-KR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로 이어졌습니다</a:t>
              </a:r>
              <a:r>
                <a:rPr lang="en-US" sz="152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.</a:t>
              </a:r>
              <a:endParaRPr lang="en-US" sz="152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77" name="Table 37"/>
          <p:cNvGraphicFramePr/>
          <p:nvPr/>
        </p:nvGraphicFramePr>
        <p:xfrm>
          <a:off x="6964200" y="2144520"/>
          <a:ext cx="4332240" cy="1112520"/>
        </p:xfrm>
        <a:graphic>
          <a:graphicData uri="http://schemas.openxmlformats.org/drawingml/2006/table">
            <a:tbl>
              <a:tblPr/>
              <a:tblGrid>
                <a:gridCol w="104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82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구분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출범 후 </a:t>
                      </a:r>
                      <a:r>
                        <a:rPr lang="en-US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12</a:t>
                      </a: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주 동안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4 Regular"/>
                          <a:ea typeface="페이퍼로지 4 Regular"/>
                        </a:rPr>
                        <a:t>(2025.10.29 ~ 2026.01.21)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출범 후 약 </a:t>
                      </a:r>
                      <a:r>
                        <a:rPr lang="en-US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9</a:t>
                      </a:r>
                      <a:r>
                        <a:rPr lang="ko-KR" sz="9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개월 동안</a:t>
                      </a:r>
                      <a:endParaRPr lang="en-US" sz="9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8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4 Regular"/>
                          <a:ea typeface="페이퍼로지 4 Regular"/>
                        </a:rPr>
                        <a:t>(2025.10 ~ 2026.07</a:t>
                      </a:r>
                      <a:r>
                        <a:rPr lang="ko-KR" sz="8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4 Regular"/>
                          <a:ea typeface="페이퍼로지 4 Regular"/>
                        </a:rPr>
                        <a:t>월 말</a:t>
                      </a:r>
                      <a:r>
                        <a:rPr lang="en-US" sz="8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4 Regular"/>
                          <a:ea typeface="페이퍼로지 4 Regular"/>
                        </a:rPr>
                        <a:t>)</a:t>
                      </a:r>
                      <a:endParaRPr lang="en-US" sz="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은행권 수사기관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정보 공유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14.8</a:t>
                      </a: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만 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46.3</a:t>
                      </a:r>
                      <a:r>
                        <a:rPr lang="ko-KR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만 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계좌 지급정지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2,705</a:t>
                      </a: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7,009</a:t>
                      </a:r>
                      <a:r>
                        <a:rPr lang="ko-KR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건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피해 사전 차단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186.5</a:t>
                      </a:r>
                      <a:r>
                        <a:rPr lang="ko-KR" sz="8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억 원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663.6</a:t>
                      </a:r>
                      <a:r>
                        <a:rPr lang="ko-KR" sz="800" b="0" u="none" strike="noStrike">
                          <a:solidFill>
                            <a:srgbClr val="FF4B16"/>
                          </a:solidFill>
                          <a:effectLst/>
                          <a:uFillTx/>
                          <a:latin typeface="페이퍼로지 7 Bold"/>
                          <a:ea typeface="페이퍼로지 7 Bold"/>
                        </a:rPr>
                        <a:t>억 원</a:t>
                      </a:r>
                      <a:endParaRPr lang="en-US" sz="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78" name="Group 86"/>
          <p:cNvGrpSpPr/>
          <p:nvPr/>
        </p:nvGrpSpPr>
        <p:grpSpPr>
          <a:xfrm>
            <a:off x="6904080" y="3362760"/>
            <a:ext cx="4452840" cy="1552320"/>
            <a:chOff x="6904080" y="3362760"/>
            <a:chExt cx="4452840" cy="1552320"/>
          </a:xfrm>
        </p:grpSpPr>
        <p:grpSp>
          <p:nvGrpSpPr>
            <p:cNvPr id="279" name="Group 76"/>
            <p:cNvGrpSpPr/>
            <p:nvPr/>
          </p:nvGrpSpPr>
          <p:grpSpPr>
            <a:xfrm>
              <a:off x="6910560" y="4112640"/>
              <a:ext cx="4444920" cy="802440"/>
              <a:chOff x="6910560" y="4112640"/>
              <a:chExt cx="4444920" cy="802440"/>
            </a:xfrm>
          </p:grpSpPr>
          <p:grpSp>
            <p:nvGrpSpPr>
              <p:cNvPr id="280" name="Group 70"/>
              <p:cNvGrpSpPr/>
              <p:nvPr/>
            </p:nvGrpSpPr>
            <p:grpSpPr>
              <a:xfrm>
                <a:off x="6913440" y="4112640"/>
                <a:ext cx="4416480" cy="612000"/>
                <a:chOff x="6913440" y="4112640"/>
                <a:chExt cx="4416480" cy="612000"/>
              </a:xfrm>
            </p:grpSpPr>
            <p:grpSp>
              <p:nvGrpSpPr>
                <p:cNvPr id="281" name="Group 44"/>
                <p:cNvGrpSpPr/>
                <p:nvPr/>
              </p:nvGrpSpPr>
              <p:grpSpPr>
                <a:xfrm>
                  <a:off x="6972120" y="4299480"/>
                  <a:ext cx="4357800" cy="425160"/>
                  <a:chOff x="6972120" y="4299480"/>
                  <a:chExt cx="4357800" cy="425160"/>
                </a:xfrm>
              </p:grpSpPr>
              <p:sp>
                <p:nvSpPr>
                  <p:cNvPr id="282" name="Rectangle 138"/>
                  <p:cNvSpPr/>
                  <p:nvPr/>
                </p:nvSpPr>
                <p:spPr>
                  <a:xfrm>
                    <a:off x="6972120" y="4299480"/>
                    <a:ext cx="2141640" cy="425160"/>
                  </a:xfrm>
                  <a:prstGeom prst="rect">
                    <a:avLst/>
                  </a:prstGeom>
                  <a:solidFill>
                    <a:srgbClr val="EE4344"/>
                  </a:solidFill>
                  <a:ln w="12700">
                    <a:solidFill>
                      <a:srgbClr val="FFFFFF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ko-KR" sz="750" b="0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피해 계좌정보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1,328</a:t>
                    </a:r>
                    <a:r>
                      <a:rPr lang="ko-KR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건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(</a:t>
                    </a:r>
                    <a:r>
                      <a:rPr lang="en-US" sz="750" b="0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49.1%)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83" name="Rectangle 139"/>
                  <p:cNvSpPr/>
                  <p:nvPr/>
                </p:nvSpPr>
                <p:spPr>
                  <a:xfrm>
                    <a:off x="9110880" y="4299480"/>
                    <a:ext cx="2025360" cy="425160"/>
                  </a:xfrm>
                  <a:prstGeom prst="rect">
                    <a:avLst/>
                  </a:prstGeom>
                  <a:solidFill>
                    <a:srgbClr val="5E85B0"/>
                  </a:solidFill>
                  <a:ln w="12700">
                    <a:solidFill>
                      <a:srgbClr val="FFFFFF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ko-KR" sz="750" b="0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피해 계좌정보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1,250</a:t>
                    </a:r>
                    <a:r>
                      <a:rPr lang="ko-KR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건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  <a:p>
                    <a:pPr algn="ctr"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r>
                      <a:rPr lang="en-US" sz="750" b="1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(</a:t>
                    </a:r>
                    <a:r>
                      <a:rPr lang="en-US" sz="750" b="0" u="none" strike="noStrike">
                        <a:solidFill>
                          <a:schemeClr val="lt1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46.2%)</a:t>
                    </a:r>
                    <a:endParaRPr lang="en-US" sz="75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284" name="Rectangle 145"/>
                  <p:cNvSpPr/>
                  <p:nvPr/>
                </p:nvSpPr>
                <p:spPr>
                  <a:xfrm>
                    <a:off x="11136600" y="4299480"/>
                    <a:ext cx="97920" cy="425160"/>
                  </a:xfrm>
                  <a:prstGeom prst="rect">
                    <a:avLst/>
                  </a:prstGeom>
                  <a:solidFill>
                    <a:srgbClr val="2F7CF6"/>
                  </a:solidFill>
                  <a:ln w="12700">
                    <a:solidFill>
                      <a:srgbClr val="FFFFFF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000" b="0" u="none" strike="noStrike">
                      <a:solidFill>
                        <a:schemeClr val="dk1"/>
                      </a:solidFill>
                      <a:effectLst/>
                      <a:uFillTx/>
                      <a:latin typeface="Aptos"/>
                    </a:endParaRPr>
                  </a:p>
                </p:txBody>
              </p:sp>
              <p:sp>
                <p:nvSpPr>
                  <p:cNvPr id="285" name="Rectangle 146"/>
                  <p:cNvSpPr/>
                  <p:nvPr/>
                </p:nvSpPr>
                <p:spPr>
                  <a:xfrm>
                    <a:off x="11228760" y="4299480"/>
                    <a:ext cx="101160" cy="425160"/>
                  </a:xfrm>
                  <a:prstGeom prst="rect">
                    <a:avLst/>
                  </a:prstGeom>
                  <a:solidFill>
                    <a:srgbClr val="49A8FF"/>
                  </a:solidFill>
                  <a:ln w="12700">
                    <a:solidFill>
                      <a:srgbClr val="FFFFFF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000" b="0" u="none" strike="noStrike">
                      <a:solidFill>
                        <a:schemeClr val="dk1"/>
                      </a:solidFill>
                      <a:effectLst/>
                      <a:uFillTx/>
                      <a:latin typeface="Aptos"/>
                    </a:endParaRPr>
                  </a:p>
                </p:txBody>
              </p:sp>
            </p:grpSp>
            <p:sp>
              <p:nvSpPr>
                <p:cNvPr id="286" name="TextBox 155"/>
                <p:cNvSpPr/>
                <p:nvPr/>
              </p:nvSpPr>
              <p:spPr>
                <a:xfrm>
                  <a:off x="6913440" y="4124520"/>
                  <a:ext cx="2874240" cy="338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defTabSz="914400">
                    <a:lnSpc>
                      <a:spcPct val="100000"/>
                    </a:lnSpc>
                  </a:pPr>
                  <a:r>
                    <a:rPr lang="ko-KR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피해방지 건수 </a:t>
                  </a:r>
                  <a:r>
                    <a:rPr lang="en-US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(2,705</a:t>
                  </a:r>
                  <a:r>
                    <a:rPr lang="ko-KR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건</a:t>
                  </a:r>
                  <a:r>
                    <a:rPr lang="en-US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) </a:t>
                  </a:r>
                  <a:r>
                    <a:rPr lang="en-US" sz="800" b="0" u="none" strike="noStrike">
                      <a:solidFill>
                        <a:srgbClr val="6A7B97"/>
                      </a:solidFill>
                      <a:effectLst/>
                      <a:uFillTx/>
                      <a:latin typeface="페이퍼로지 4 Regular"/>
                      <a:ea typeface="페이퍼로지 4 Regular"/>
                    </a:rPr>
                    <a:t>*</a:t>
                  </a:r>
                  <a:r>
                    <a:rPr lang="ko-KR" sz="800" b="0" u="none" strike="noStrike">
                      <a:solidFill>
                        <a:srgbClr val="6A7B97"/>
                      </a:solidFill>
                      <a:effectLst/>
                      <a:uFillTx/>
                      <a:latin typeface="페이퍼로지 4 Regular"/>
                      <a:ea typeface="페이퍼로지 4 Regular"/>
                    </a:rPr>
                    <a:t>기준 기간 출범 후 </a:t>
                  </a:r>
                  <a:r>
                    <a:rPr lang="en-US" sz="800" b="0" u="none" strike="noStrike">
                      <a:solidFill>
                        <a:srgbClr val="6A7B97"/>
                      </a:solidFill>
                      <a:effectLst/>
                      <a:uFillTx/>
                      <a:latin typeface="페이퍼로지 4 Regular"/>
                      <a:ea typeface="페이퍼로지 4 Regular"/>
                    </a:rPr>
                    <a:t>12</a:t>
                  </a:r>
                  <a:r>
                    <a:rPr lang="ko-KR" sz="800" b="0" u="none" strike="noStrike">
                      <a:solidFill>
                        <a:srgbClr val="6A7B97"/>
                      </a:solidFill>
                      <a:effectLst/>
                      <a:uFillTx/>
                      <a:latin typeface="페이퍼로지 4 Regular"/>
                      <a:ea typeface="페이퍼로지 4 Regular"/>
                    </a:rPr>
                    <a:t>주 동안</a:t>
                  </a: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 defTabSz="914400">
                    <a:lnSpc>
                      <a:spcPct val="100000"/>
                    </a:lnSpc>
                  </a:pPr>
                  <a:endParaRPr lang="en-US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7" name="TextBox 156"/>
                <p:cNvSpPr/>
                <p:nvPr/>
              </p:nvSpPr>
              <p:spPr>
                <a:xfrm>
                  <a:off x="8923680" y="4112640"/>
                  <a:ext cx="2333880" cy="207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r" defTabSz="914400">
                    <a:lnSpc>
                      <a:spcPct val="100000"/>
                    </a:lnSpc>
                  </a:pPr>
                  <a:r>
                    <a:rPr lang="ko-KR" sz="750" b="0" u="none" strike="noStrike">
                      <a:solidFill>
                        <a:srgbClr val="2F7CF6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사기이용계좌 정보 </a:t>
                  </a:r>
                  <a:r>
                    <a:rPr lang="en-US" sz="750" b="0" u="none" strike="noStrike">
                      <a:solidFill>
                        <a:srgbClr val="2F7CF6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55</a:t>
                  </a:r>
                  <a:r>
                    <a:rPr lang="ko-KR" sz="750" b="0" u="none" strike="noStrike">
                      <a:solidFill>
                        <a:srgbClr val="2F7CF6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건</a:t>
                  </a:r>
                  <a:r>
                    <a:rPr lang="en-US" sz="750" b="0" u="none" strike="noStrike">
                      <a:solidFill>
                        <a:srgbClr val="2F7CF6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(2.0%)</a:t>
                  </a:r>
                  <a:endParaRPr lang="en-US" sz="7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88" name="Straight Connector 50"/>
                <p:cNvCxnSpPr/>
                <p:nvPr/>
              </p:nvCxnSpPr>
              <p:spPr>
                <a:xfrm>
                  <a:off x="11233800" y="4126680"/>
                  <a:ext cx="360" cy="360"/>
                </a:xfrm>
                <a:prstGeom prst="straightConnector1">
                  <a:avLst/>
                </a:prstGeom>
                <a:ln>
                  <a:solidFill>
                    <a:srgbClr val="156082"/>
                  </a:solidFill>
                  <a:round/>
                </a:ln>
              </p:spPr>
            </p:cxnSp>
            <p:cxnSp>
              <p:nvCxnSpPr>
                <p:cNvPr id="289" name="Straight Connector 54"/>
                <p:cNvCxnSpPr/>
                <p:nvPr/>
              </p:nvCxnSpPr>
              <p:spPr>
                <a:xfrm flipV="1">
                  <a:off x="11203200" y="4174560"/>
                  <a:ext cx="360" cy="130680"/>
                </a:xfrm>
                <a:prstGeom prst="straightConnector1">
                  <a:avLst/>
                </a:prstGeom>
                <a:ln w="28575">
                  <a:solidFill>
                    <a:srgbClr val="2F7CF6"/>
                  </a:solidFill>
                  <a:round/>
                </a:ln>
              </p:spPr>
            </p:cxnSp>
          </p:grpSp>
          <p:grpSp>
            <p:nvGrpSpPr>
              <p:cNvPr id="290" name="Group 73"/>
              <p:cNvGrpSpPr/>
              <p:nvPr/>
            </p:nvGrpSpPr>
            <p:grpSpPr>
              <a:xfrm>
                <a:off x="9885960" y="4693680"/>
                <a:ext cx="1469520" cy="219600"/>
                <a:chOff x="9885960" y="4693680"/>
                <a:chExt cx="1469520" cy="219600"/>
              </a:xfrm>
            </p:grpSpPr>
            <p:sp>
              <p:nvSpPr>
                <p:cNvPr id="291" name="TextBox 158"/>
                <p:cNvSpPr/>
                <p:nvPr/>
              </p:nvSpPr>
              <p:spPr>
                <a:xfrm>
                  <a:off x="9885960" y="4705920"/>
                  <a:ext cx="1469520" cy="2073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spAutoFit/>
                </a:bodyPr>
                <a:lstStyle/>
                <a:p>
                  <a:pPr algn="r" defTabSz="914400">
                    <a:lnSpc>
                      <a:spcPct val="100000"/>
                    </a:lnSpc>
                  </a:pPr>
                  <a:r>
                    <a:rPr lang="ko-KR" sz="750" b="0" u="none" strike="noStrike">
                      <a:solidFill>
                        <a:srgbClr val="49A8FF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기타 </a:t>
                  </a:r>
                  <a:r>
                    <a:rPr lang="en-US" sz="750" b="0" u="none" strike="noStrike">
                      <a:solidFill>
                        <a:srgbClr val="49A8FF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72</a:t>
                  </a:r>
                  <a:r>
                    <a:rPr lang="ko-KR" sz="750" b="0" u="none" strike="noStrike">
                      <a:solidFill>
                        <a:srgbClr val="49A8FF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건</a:t>
                  </a:r>
                  <a:r>
                    <a:rPr lang="en-US" sz="750" b="0" u="none" strike="noStrike">
                      <a:solidFill>
                        <a:srgbClr val="49A8FF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(2.7%)</a:t>
                  </a:r>
                  <a:endParaRPr lang="en-US" sz="75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92" name="Straight Connector 164"/>
                <p:cNvCxnSpPr/>
                <p:nvPr/>
              </p:nvCxnSpPr>
              <p:spPr>
                <a:xfrm flipV="1">
                  <a:off x="11304720" y="4693680"/>
                  <a:ext cx="360" cy="154440"/>
                </a:xfrm>
                <a:prstGeom prst="straightConnector1">
                  <a:avLst/>
                </a:prstGeom>
                <a:ln w="28575">
                  <a:solidFill>
                    <a:srgbClr val="49A8FF"/>
                  </a:solidFill>
                  <a:round/>
                </a:ln>
              </p:spPr>
            </p:cxnSp>
          </p:grpSp>
          <p:sp>
            <p:nvSpPr>
              <p:cNvPr id="293" name="TextBox 74"/>
              <p:cNvSpPr/>
              <p:nvPr/>
            </p:nvSpPr>
            <p:spPr>
              <a:xfrm>
                <a:off x="6910560" y="4715280"/>
                <a:ext cx="184320" cy="1998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endParaRPr lang="en-US" sz="700" b="0" u="none" strike="noStrike">
                  <a:solidFill>
                    <a:srgbClr val="6A7B97"/>
                  </a:solidFill>
                  <a:effectLst/>
                  <a:uFillTx/>
                  <a:latin typeface="페이퍼로지 4 Regular"/>
                  <a:ea typeface="페이퍼로지 4 Regular"/>
                </a:endParaRPr>
              </a:p>
            </p:txBody>
          </p:sp>
        </p:grpSp>
        <p:grpSp>
          <p:nvGrpSpPr>
            <p:cNvPr id="294" name="Group 81"/>
            <p:cNvGrpSpPr/>
            <p:nvPr/>
          </p:nvGrpSpPr>
          <p:grpSpPr>
            <a:xfrm>
              <a:off x="6904080" y="3362760"/>
              <a:ext cx="4452840" cy="801720"/>
              <a:chOff x="6904080" y="3362760"/>
              <a:chExt cx="4452840" cy="801720"/>
            </a:xfrm>
          </p:grpSpPr>
          <p:grpSp>
            <p:nvGrpSpPr>
              <p:cNvPr id="295" name="Group 47"/>
              <p:cNvGrpSpPr/>
              <p:nvPr/>
            </p:nvGrpSpPr>
            <p:grpSpPr>
              <a:xfrm>
                <a:off x="6972120" y="3551400"/>
                <a:ext cx="4357440" cy="425160"/>
                <a:chOff x="6972120" y="3551400"/>
                <a:chExt cx="4357440" cy="425160"/>
              </a:xfrm>
            </p:grpSpPr>
            <p:sp>
              <p:nvSpPr>
                <p:cNvPr id="296" name="Rectangle 134"/>
                <p:cNvSpPr/>
                <p:nvPr/>
              </p:nvSpPr>
              <p:spPr>
                <a:xfrm>
                  <a:off x="6972120" y="3551400"/>
                  <a:ext cx="949680" cy="425160"/>
                </a:xfrm>
                <a:prstGeom prst="rect">
                  <a:avLst/>
                </a:prstGeom>
                <a:solidFill>
                  <a:srgbClr val="EE4344"/>
                </a:solidFill>
                <a:ln w="12700">
                  <a:solidFill>
                    <a:srgbClr val="FFFF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ko-KR" sz="75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피해 계좌정보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41.0</a:t>
                  </a:r>
                  <a:r>
                    <a:rPr lang="ko-KR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억 원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(22</a:t>
                  </a:r>
                  <a:r>
                    <a:rPr lang="en-US" sz="75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.0%)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7" name="Rectangle 136"/>
                <p:cNvSpPr/>
                <p:nvPr/>
              </p:nvSpPr>
              <p:spPr>
                <a:xfrm>
                  <a:off x="10628640" y="3551400"/>
                  <a:ext cx="368640" cy="425160"/>
                </a:xfrm>
                <a:prstGeom prst="rect">
                  <a:avLst/>
                </a:prstGeom>
                <a:solidFill>
                  <a:srgbClr val="2F7CF6"/>
                </a:solidFill>
                <a:ln w="12700">
                  <a:solidFill>
                    <a:srgbClr val="FFFF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000" b="0" u="none" strike="noStrike">
                    <a:solidFill>
                      <a:schemeClr val="dk1"/>
                    </a:solidFill>
                    <a:effectLst/>
                    <a:uFillTx/>
                    <a:latin typeface="Aptos"/>
                  </a:endParaRPr>
                </a:p>
              </p:txBody>
            </p:sp>
            <p:sp>
              <p:nvSpPr>
                <p:cNvPr id="298" name="Rectangle 135"/>
                <p:cNvSpPr/>
                <p:nvPr/>
              </p:nvSpPr>
              <p:spPr>
                <a:xfrm>
                  <a:off x="7922160" y="3551400"/>
                  <a:ext cx="2769840" cy="425160"/>
                </a:xfrm>
                <a:prstGeom prst="rect">
                  <a:avLst/>
                </a:prstGeom>
                <a:solidFill>
                  <a:srgbClr val="5E85B0"/>
                </a:solidFill>
                <a:ln w="12700">
                  <a:solidFill>
                    <a:srgbClr val="FFFF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ko-KR" sz="75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피해 계좌정보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118.4</a:t>
                  </a:r>
                  <a:r>
                    <a:rPr lang="ko-KR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억 원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  <a:p>
                  <a:pPr algn="ctr"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r>
                    <a:rPr lang="en-US" sz="750" b="1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(</a:t>
                  </a:r>
                  <a:r>
                    <a:rPr lang="en-US" sz="75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rPr>
                    <a:t>63.5%)</a:t>
                  </a:r>
                  <a:endParaRPr lang="en-US" sz="750" b="0" u="none" strike="noStrike">
                    <a:solidFill>
                      <a:srgbClr val="FFFFFF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99" name="Rectangle 137"/>
                <p:cNvSpPr/>
                <p:nvPr/>
              </p:nvSpPr>
              <p:spPr>
                <a:xfrm>
                  <a:off x="10935360" y="3551400"/>
                  <a:ext cx="394200" cy="425160"/>
                </a:xfrm>
                <a:prstGeom prst="rect">
                  <a:avLst/>
                </a:prstGeom>
                <a:solidFill>
                  <a:srgbClr val="49A8FF"/>
                </a:solidFill>
                <a:ln w="12700">
                  <a:solidFill>
                    <a:srgbClr val="FFFFFF"/>
                  </a:solidFill>
                  <a:round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lIns="90000" tIns="45000" rIns="90000" bIns="45000" anchor="t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000" b="0" u="none" strike="noStrike">
                    <a:solidFill>
                      <a:schemeClr val="dk1"/>
                    </a:solidFill>
                    <a:effectLst/>
                    <a:uFillTx/>
                    <a:latin typeface="Aptos"/>
                  </a:endParaRPr>
                </a:p>
              </p:txBody>
            </p:sp>
          </p:grpSp>
          <p:sp>
            <p:nvSpPr>
              <p:cNvPr id="300" name="TextBox 152"/>
              <p:cNvSpPr/>
              <p:nvPr/>
            </p:nvSpPr>
            <p:spPr>
              <a:xfrm>
                <a:off x="6904080" y="3369240"/>
                <a:ext cx="2981160" cy="338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ko-KR" sz="800" b="0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피해방지 금액</a:t>
                </a:r>
                <a:r>
                  <a:rPr lang="en-US" sz="800" b="0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(186.5</a:t>
                </a:r>
                <a:r>
                  <a:rPr lang="ko-KR" sz="800" b="0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억 원</a:t>
                </a:r>
                <a:r>
                  <a:rPr lang="en-US" sz="800" b="0" u="none" strike="noStrike">
                    <a:solidFill>
                      <a:schemeClr val="dk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) </a:t>
                </a:r>
                <a:r>
                  <a:rPr lang="en-US" sz="800" b="0" u="none" strike="noStrike">
                    <a:solidFill>
                      <a:srgbClr val="6A7B97"/>
                    </a:solidFill>
                    <a:effectLst/>
                    <a:uFillTx/>
                    <a:latin typeface="페이퍼로지 4 Regular"/>
                    <a:ea typeface="페이퍼로지 4 Regular"/>
                  </a:rPr>
                  <a:t>*</a:t>
                </a:r>
                <a:r>
                  <a:rPr lang="ko-KR" sz="800" b="0" u="none" strike="noStrike">
                    <a:solidFill>
                      <a:srgbClr val="6A7B97"/>
                    </a:solidFill>
                    <a:effectLst/>
                    <a:uFillTx/>
                    <a:latin typeface="페이퍼로지 4 Regular"/>
                    <a:ea typeface="페이퍼로지 4 Regular"/>
                  </a:rPr>
                  <a:t>기준 기간 출범 후 </a:t>
                </a:r>
                <a:r>
                  <a:rPr lang="en-US" sz="800" b="0" u="none" strike="noStrike">
                    <a:solidFill>
                      <a:srgbClr val="6A7B97"/>
                    </a:solidFill>
                    <a:effectLst/>
                    <a:uFillTx/>
                    <a:latin typeface="페이퍼로지 4 Regular"/>
                    <a:ea typeface="페이퍼로지 4 Regular"/>
                  </a:rPr>
                  <a:t>12</a:t>
                </a:r>
                <a:r>
                  <a:rPr lang="ko-KR" sz="800" b="0" u="none" strike="noStrike">
                    <a:solidFill>
                      <a:srgbClr val="6A7B97"/>
                    </a:solidFill>
                    <a:effectLst/>
                    <a:uFillTx/>
                    <a:latin typeface="페이퍼로지 4 Regular"/>
                    <a:ea typeface="페이퍼로지 4 Regular"/>
                  </a:rPr>
                  <a:t>주 동안</a:t>
                </a:r>
                <a:endParaRPr lang="en-US" sz="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01" name="TextBox 159"/>
              <p:cNvSpPr/>
              <p:nvPr/>
            </p:nvSpPr>
            <p:spPr>
              <a:xfrm>
                <a:off x="8636400" y="3362760"/>
                <a:ext cx="2333880" cy="20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r" defTabSz="914400">
                  <a:lnSpc>
                    <a:spcPct val="100000"/>
                  </a:lnSpc>
                </a:pPr>
                <a:r>
                  <a:rPr lang="ko-KR" sz="750" b="0" u="none" strike="noStrike">
                    <a:solidFill>
                      <a:srgbClr val="2F7CF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사기이용계좌 정보 </a:t>
                </a:r>
                <a:r>
                  <a:rPr lang="en-US" sz="750" b="0" u="none" strike="noStrike">
                    <a:solidFill>
                      <a:srgbClr val="2F7CF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9.8</a:t>
                </a:r>
                <a:r>
                  <a:rPr lang="ko-KR" sz="750" b="0" u="none" strike="noStrike">
                    <a:solidFill>
                      <a:srgbClr val="2F7CF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억 원</a:t>
                </a:r>
                <a:r>
                  <a:rPr lang="en-US" sz="750" b="0" u="none" strike="noStrike">
                    <a:solidFill>
                      <a:srgbClr val="2F7CF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(5.3%)</a:t>
                </a:r>
                <a:endParaRPr lang="en-US" sz="7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302" name="Straight Connector 160"/>
              <p:cNvCxnSpPr/>
              <p:nvPr/>
            </p:nvCxnSpPr>
            <p:spPr>
              <a:xfrm>
                <a:off x="10970280" y="3466440"/>
                <a:ext cx="360" cy="360"/>
              </a:xfrm>
              <a:prstGeom prst="straightConnector1">
                <a:avLst/>
              </a:prstGeom>
              <a:ln>
                <a:solidFill>
                  <a:srgbClr val="156082"/>
                </a:solidFill>
                <a:round/>
              </a:ln>
            </p:spPr>
          </p:cxnSp>
          <p:cxnSp>
            <p:nvCxnSpPr>
              <p:cNvPr id="303" name="Straight Connector 161"/>
              <p:cNvCxnSpPr/>
              <p:nvPr/>
            </p:nvCxnSpPr>
            <p:spPr>
              <a:xfrm flipV="1">
                <a:off x="10922040" y="3424320"/>
                <a:ext cx="360" cy="131040"/>
              </a:xfrm>
              <a:prstGeom prst="straightConnector1">
                <a:avLst/>
              </a:prstGeom>
              <a:ln w="28575">
                <a:solidFill>
                  <a:srgbClr val="2F7CF6"/>
                </a:solidFill>
                <a:round/>
              </a:ln>
            </p:spPr>
          </p:cxnSp>
          <p:cxnSp>
            <p:nvCxnSpPr>
              <p:cNvPr id="304" name="Straight Connector 162"/>
              <p:cNvCxnSpPr/>
              <p:nvPr/>
            </p:nvCxnSpPr>
            <p:spPr>
              <a:xfrm flipV="1">
                <a:off x="11304720" y="3947760"/>
                <a:ext cx="360" cy="154440"/>
              </a:xfrm>
              <a:prstGeom prst="straightConnector1">
                <a:avLst/>
              </a:prstGeom>
              <a:ln w="28575">
                <a:solidFill>
                  <a:srgbClr val="49A8FF"/>
                </a:solidFill>
                <a:round/>
              </a:ln>
            </p:spPr>
          </p:cxnSp>
          <p:sp>
            <p:nvSpPr>
              <p:cNvPr id="305" name="TextBox 163"/>
              <p:cNvSpPr/>
              <p:nvPr/>
            </p:nvSpPr>
            <p:spPr>
              <a:xfrm>
                <a:off x="9887400" y="3957120"/>
                <a:ext cx="1469520" cy="207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r" defTabSz="914400">
                  <a:lnSpc>
                    <a:spcPct val="100000"/>
                  </a:lnSpc>
                </a:pPr>
                <a:r>
                  <a:rPr lang="ko-KR" sz="750" b="0" u="none" strike="noStrike">
                    <a:solidFill>
                      <a:srgbClr val="49A8FF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기타</a:t>
                </a:r>
                <a:r>
                  <a:rPr lang="en-US" sz="750" b="0" u="none" strike="noStrike">
                    <a:solidFill>
                      <a:srgbClr val="49A8FF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 17.3</a:t>
                </a:r>
                <a:r>
                  <a:rPr lang="ko-KR" sz="750" b="0" u="none" strike="noStrike">
                    <a:solidFill>
                      <a:srgbClr val="49A8FF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억 원</a:t>
                </a:r>
                <a:r>
                  <a:rPr lang="en-US" sz="750" b="0" u="none" strike="noStrike">
                    <a:solidFill>
                      <a:srgbClr val="49A8FF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(9.3%)</a:t>
                </a:r>
                <a:endParaRPr lang="en-US" sz="7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306" name="TextBox 167"/>
          <p:cNvSpPr/>
          <p:nvPr/>
        </p:nvSpPr>
        <p:spPr>
          <a:xfrm>
            <a:off x="6525360" y="4938840"/>
            <a:ext cx="5210280" cy="6228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지난해 같은 기간 대비 </a:t>
            </a:r>
            <a:r>
              <a:rPr lang="ko-KR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발생 건수가 </a:t>
            </a:r>
            <a:r>
              <a:rPr lang="en-US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46%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(14,707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건→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7,940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건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),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피해액이 </a:t>
            </a:r>
            <a:r>
              <a:rPr lang="en-US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53%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(7,766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억 원→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3,614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억 원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) </a:t>
            </a:r>
            <a:r>
              <a:rPr lang="ko-KR" sz="1200" b="0" u="none" strike="noStrike">
                <a:solidFill>
                  <a:srgbClr val="FF4B16"/>
                </a:solidFill>
                <a:effectLst/>
                <a:uFillTx/>
                <a:latin typeface="페이퍼로지 7 Bold"/>
                <a:ea typeface="페이퍼로지 7 Bold"/>
              </a:rPr>
              <a:t>감소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*</a:t>
            </a:r>
            <a:r>
              <a:rPr lang="ko-KR" sz="105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기준 기간 출범 후 </a:t>
            </a:r>
            <a:r>
              <a:rPr lang="en-US" sz="105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9</a:t>
            </a:r>
            <a:r>
              <a:rPr lang="ko-KR" sz="105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개월 전후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Google Shape;437;g3faf9287085_1_126"/>
          <p:cNvSpPr/>
          <p:nvPr/>
        </p:nvSpPr>
        <p:spPr>
          <a:xfrm>
            <a:off x="547200" y="6501240"/>
            <a:ext cx="6340320" cy="255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*</a:t>
            </a:r>
            <a:r>
              <a:rPr lang="ko-KR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출처</a:t>
            </a: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: 7</a:t>
            </a:r>
            <a:r>
              <a:rPr lang="ko-KR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월 보이스피싱 피해액 올해 최저</a:t>
            </a: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, </a:t>
            </a:r>
            <a:r>
              <a:rPr lang="ko-KR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신종 스캠도 감소세</a:t>
            </a: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(</a:t>
            </a:r>
            <a:r>
              <a:rPr lang="ko-KR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통합대응단</a:t>
            </a: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4 Regular"/>
                <a:ea typeface="페이퍼로지 4 Regular"/>
              </a:rPr>
              <a:t>)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52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09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55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>
                <a:solidFill>
                  <a:srgbClr val="0056FB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extBox 51"/>
          <p:cNvSpPr/>
          <p:nvPr/>
        </p:nvSpPr>
        <p:spPr>
          <a:xfrm>
            <a:off x="548640" y="614160"/>
            <a:ext cx="1074384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현행 탐지 일시적 차단 체계 </a:t>
            </a:r>
            <a:r>
              <a:rPr lang="en-US" sz="2200" b="1" u="none" strike="noStrike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: 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통신사 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AI(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탐지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) – ASAP 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체계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공유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) – 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은행 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FDS(</a:t>
            </a:r>
            <a:r>
              <a:rPr lang="ko-KR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일시적 자동 차단</a:t>
            </a:r>
            <a:r>
              <a:rPr lang="en-US" sz="2200" b="1" u="none" strike="noStrike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200" b="1" u="none" strike="noStrike">
                <a:solidFill>
                  <a:srgbClr val="102D52"/>
                </a:solidFill>
                <a:effectLst/>
                <a:uFillTx/>
                <a:latin typeface="페이퍼로지 7 Bold"/>
                <a:ea typeface="페이퍼로지 7 Bold"/>
              </a:rPr>
              <a:t>각 단계에서 ‘탐지 → 정보공유 → 일시적 금융거래 보호’가 체계적으로 이루어진다</a:t>
            </a:r>
            <a:r>
              <a:rPr lang="en-US" sz="2200" b="1" u="none" strike="noStrike">
                <a:solidFill>
                  <a:srgbClr val="102D52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1" name="Group 1"/>
          <p:cNvGrpSpPr/>
          <p:nvPr/>
        </p:nvGrpSpPr>
        <p:grpSpPr>
          <a:xfrm>
            <a:off x="724320" y="4832640"/>
            <a:ext cx="10742760" cy="1265760"/>
            <a:chOff x="724320" y="4832640"/>
            <a:chExt cx="10742760" cy="1265760"/>
          </a:xfrm>
        </p:grpSpPr>
        <p:sp>
          <p:nvSpPr>
            <p:cNvPr id="312" name="Rounded Rectangle 42"/>
            <p:cNvSpPr/>
            <p:nvPr/>
          </p:nvSpPr>
          <p:spPr>
            <a:xfrm>
              <a:off x="724320" y="4832640"/>
              <a:ext cx="10742760" cy="56376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solidFill>
                <a:srgbClr val="14345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rgbClr val="0E2746"/>
                  </a:solidFill>
                  <a:effectLst/>
                  <a:uFillTx/>
                  <a:latin typeface="페이퍼로지 7 Bold"/>
                  <a:ea typeface="페이퍼로지 7 Bold"/>
                </a:rPr>
                <a:t>현행 체계는 </a:t>
              </a:r>
              <a:r>
                <a:rPr lang="ko-KR" sz="1800" b="1" u="none" strike="noStrike">
                  <a:solidFill>
                    <a:srgbClr val="EE4344"/>
                  </a:solidFill>
                  <a:effectLst/>
                  <a:uFillTx/>
                  <a:latin typeface="페이퍼로지 7 Bold"/>
                  <a:ea typeface="페이퍼로지 7 Bold"/>
                </a:rPr>
                <a:t>위험을 탐지하고 정보를 공유</a:t>
              </a:r>
              <a:r>
                <a:rPr lang="ko-KR" sz="1800" b="1" u="none" strike="noStrike">
                  <a:solidFill>
                    <a:srgbClr val="0E2746"/>
                  </a:solidFill>
                  <a:effectLst/>
                  <a:uFillTx/>
                  <a:latin typeface="페이퍼로지 7 Bold"/>
                  <a:ea typeface="페이퍼로지 7 Bold"/>
                </a:rPr>
                <a:t>하며 </a:t>
              </a:r>
              <a:r>
                <a:rPr lang="ko-KR" sz="1800" b="1" u="none" strike="noStrike">
                  <a:solidFill>
                    <a:srgbClr val="EE4344"/>
                  </a:solidFill>
                  <a:effectLst/>
                  <a:uFillTx/>
                  <a:latin typeface="페이퍼로지 7 Bold"/>
                  <a:ea typeface="페이퍼로지 7 Bold"/>
                </a:rPr>
                <a:t>일시적으로 거래 보호</a:t>
              </a:r>
              <a:r>
                <a:rPr lang="ko-KR" sz="1800" b="1" u="none" strike="noStrike">
                  <a:solidFill>
                    <a:srgbClr val="0E2746"/>
                  </a:solidFill>
                  <a:effectLst/>
                  <a:uFillTx/>
                  <a:latin typeface="페이퍼로지 7 Bold"/>
                  <a:ea typeface="페이퍼로지 7 Bold"/>
                </a:rPr>
                <a:t>하는 방향으로 빠르게 고도화되고 있습니다</a:t>
              </a:r>
              <a:r>
                <a:rPr lang="en-US" sz="1800" b="1" u="none" strike="noStrike">
                  <a:solidFill>
                    <a:srgbClr val="0E2746"/>
                  </a:solidFill>
                  <a:effectLst/>
                  <a:uFillTx/>
                  <a:latin typeface="페이퍼로지 7 Bold"/>
                  <a:ea typeface="페이퍼로지 7 Bold"/>
                </a:rPr>
                <a:t>.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Rounded Rectangle 42"/>
            <p:cNvSpPr/>
            <p:nvPr/>
          </p:nvSpPr>
          <p:spPr>
            <a:xfrm>
              <a:off x="724320" y="5534640"/>
              <a:ext cx="10742760" cy="563760"/>
            </a:xfrm>
            <a:prstGeom prst="roundRect">
              <a:avLst>
                <a:gd name="adj" fmla="val 16667"/>
              </a:avLst>
            </a:prstGeom>
            <a:solidFill>
              <a:srgbClr val="14345B"/>
            </a:solidFill>
            <a:ln>
              <a:solidFill>
                <a:srgbClr val="14345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그렇다면 위험정보가 탐지 이후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, </a:t>
              </a:r>
              <a:r>
                <a:rPr lang="ko-KR" sz="1800" b="1" u="none" strike="noStrike">
                  <a:solidFill>
                    <a:srgbClr val="FFC000"/>
                  </a:solidFill>
                  <a:effectLst/>
                  <a:uFillTx/>
                  <a:latin typeface="페이퍼로지 7 Bold"/>
                  <a:ea typeface="페이퍼로지 7 Bold"/>
                </a:rPr>
                <a:t>실제 피해를 막기 위해 금융회사에서는 어떤 업무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가 이어질까요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?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4" name="TextBox 87"/>
          <p:cNvSpPr/>
          <p:nvPr/>
        </p:nvSpPr>
        <p:spPr>
          <a:xfrm>
            <a:off x="567000" y="6531120"/>
            <a:ext cx="4513680" cy="12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출처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: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금융위원회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ASAP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관련 보도자료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·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금융보안원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FDS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운영 가이드라인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·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통신사 </a:t>
            </a:r>
            <a:r>
              <a:rPr lang="en-US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AI </a:t>
            </a:r>
            <a:r>
              <a:rPr lang="ko-KR" sz="800" b="0" u="none" strike="noStrike">
                <a:solidFill>
                  <a:srgbClr val="6E8097"/>
                </a:solidFill>
                <a:effectLst/>
                <a:uFillTx/>
                <a:latin typeface="페이퍼로지 4 Regular"/>
                <a:ea typeface="페이퍼로지 4 Regular"/>
              </a:rPr>
              <a:t>보이스피싱 탐지 공개자료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Box 45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6" name="Group 2"/>
          <p:cNvGrpSpPr/>
          <p:nvPr/>
        </p:nvGrpSpPr>
        <p:grpSpPr>
          <a:xfrm>
            <a:off x="906840" y="2207880"/>
            <a:ext cx="10378080" cy="2267280"/>
            <a:chOff x="906840" y="2207880"/>
            <a:chExt cx="10378080" cy="2267280"/>
          </a:xfrm>
        </p:grpSpPr>
        <p:sp>
          <p:nvSpPr>
            <p:cNvPr id="317" name="Rounded Rectangle 8"/>
            <p:cNvSpPr/>
            <p:nvPr/>
          </p:nvSpPr>
          <p:spPr>
            <a:xfrm>
              <a:off x="906840" y="2207880"/>
              <a:ext cx="3062880" cy="22672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solidFill>
                <a:srgbClr val="D3DE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18" name="Rounded Rectangle 9"/>
            <p:cNvSpPr/>
            <p:nvPr/>
          </p:nvSpPr>
          <p:spPr>
            <a:xfrm>
              <a:off x="1527480" y="2448720"/>
              <a:ext cx="758520" cy="292320"/>
            </a:xfrm>
            <a:prstGeom prst="roundRect">
              <a:avLst>
                <a:gd name="adj" fmla="val 16667"/>
              </a:avLst>
            </a:prstGeom>
            <a:solidFill>
              <a:srgbClr val="2F69F5"/>
            </a:solidFill>
            <a:ln>
              <a:solidFill>
                <a:srgbClr val="2F69F5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19" name="TextBox 12"/>
            <p:cNvSpPr/>
            <p:nvPr/>
          </p:nvSpPr>
          <p:spPr>
            <a:xfrm>
              <a:off x="1688760" y="2531160"/>
              <a:ext cx="435600" cy="12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83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DETECT</a:t>
              </a:r>
              <a:endParaRPr lang="en-US" sz="8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TextBox 13"/>
            <p:cNvSpPr/>
            <p:nvPr/>
          </p:nvSpPr>
          <p:spPr>
            <a:xfrm>
              <a:off x="2490120" y="2464200"/>
              <a:ext cx="858960" cy="26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700" b="1" u="none" strike="noStrike">
                  <a:solidFill>
                    <a:srgbClr val="2F69F5"/>
                  </a:solidFill>
                  <a:effectLst/>
                  <a:uFillTx/>
                  <a:latin typeface="페이퍼로지 7 Bold"/>
                  <a:ea typeface="페이퍼로지 7 Bold"/>
                </a:rPr>
                <a:t>통신사 </a:t>
              </a:r>
              <a:r>
                <a:rPr lang="en-US" sz="1700" b="1" u="none" strike="noStrike">
                  <a:solidFill>
                    <a:srgbClr val="2F69F5"/>
                  </a:solidFill>
                  <a:effectLst/>
                  <a:uFillTx/>
                  <a:latin typeface="페이퍼로지 7 Bold"/>
                  <a:ea typeface="페이퍼로지 7 Bold"/>
                </a:rPr>
                <a:t>AI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Rounded Rectangle 18"/>
            <p:cNvSpPr/>
            <p:nvPr/>
          </p:nvSpPr>
          <p:spPr>
            <a:xfrm>
              <a:off x="4564440" y="2207880"/>
              <a:ext cx="3062880" cy="22672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solidFill>
                <a:srgbClr val="D3DE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22" name="Rounded Rectangle 19"/>
            <p:cNvSpPr/>
            <p:nvPr/>
          </p:nvSpPr>
          <p:spPr>
            <a:xfrm>
              <a:off x="5299560" y="2448720"/>
              <a:ext cx="758520" cy="292320"/>
            </a:xfrm>
            <a:prstGeom prst="roundRect">
              <a:avLst>
                <a:gd name="adj" fmla="val 16667"/>
              </a:avLst>
            </a:prstGeom>
            <a:solidFill>
              <a:srgbClr val="7052BE"/>
            </a:solidFill>
            <a:ln>
              <a:solidFill>
                <a:srgbClr val="7052BE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23" name="TextBox 22"/>
            <p:cNvSpPr/>
            <p:nvPr/>
          </p:nvSpPr>
          <p:spPr>
            <a:xfrm>
              <a:off x="5486760" y="2531160"/>
              <a:ext cx="384480" cy="12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83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SHARE</a:t>
              </a:r>
              <a:endParaRPr lang="en-US" sz="8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TextBox 23"/>
            <p:cNvSpPr/>
            <p:nvPr/>
          </p:nvSpPr>
          <p:spPr>
            <a:xfrm>
              <a:off x="6262560" y="2464200"/>
              <a:ext cx="629640" cy="26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700" b="1" u="none" strike="noStrike">
                  <a:solidFill>
                    <a:srgbClr val="7052BE"/>
                  </a:solidFill>
                  <a:effectLst/>
                  <a:uFillTx/>
                  <a:latin typeface="페이퍼로지 7 Bold"/>
                  <a:ea typeface="페이퍼로지 7 Bold"/>
                </a:rPr>
                <a:t>ASAP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Rounded Rectangle 28"/>
            <p:cNvSpPr/>
            <p:nvPr/>
          </p:nvSpPr>
          <p:spPr>
            <a:xfrm>
              <a:off x="8222040" y="2207880"/>
              <a:ext cx="3062880" cy="226728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>
              <a:solidFill>
                <a:srgbClr val="D3DEEB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26" name="Rounded Rectangle 29"/>
            <p:cNvSpPr/>
            <p:nvPr/>
          </p:nvSpPr>
          <p:spPr>
            <a:xfrm>
              <a:off x="9042120" y="2448720"/>
              <a:ext cx="758520" cy="292320"/>
            </a:xfrm>
            <a:prstGeom prst="roundRect">
              <a:avLst>
                <a:gd name="adj" fmla="val 16667"/>
              </a:avLst>
            </a:prstGeom>
            <a:solidFill>
              <a:srgbClr val="EF4646"/>
            </a:solidFill>
            <a:ln>
              <a:solidFill>
                <a:srgbClr val="EF4646"/>
              </a:solidFill>
              <a:round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  <p:sp>
          <p:nvSpPr>
            <p:cNvPr id="327" name="TextBox 32"/>
            <p:cNvSpPr/>
            <p:nvPr/>
          </p:nvSpPr>
          <p:spPr>
            <a:xfrm>
              <a:off x="9159480" y="2531160"/>
              <a:ext cx="523800" cy="127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830" b="1" u="none" strike="noStrike">
                  <a:solidFill>
                    <a:srgbClr val="FFFFFF"/>
                  </a:solidFill>
                  <a:effectLst/>
                  <a:uFillTx/>
                  <a:latin typeface="페이퍼로지 7 Bold"/>
                  <a:ea typeface="페이퍼로지 7 Bold"/>
                </a:rPr>
                <a:t>PROTECT</a:t>
              </a:r>
              <a:endParaRPr lang="en-US" sz="83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8" name="TextBox 33"/>
            <p:cNvSpPr/>
            <p:nvPr/>
          </p:nvSpPr>
          <p:spPr>
            <a:xfrm>
              <a:off x="10005120" y="2464200"/>
              <a:ext cx="459720" cy="261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0" tIns="0" rIns="0" bIns="0" anchor="ctr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700" b="1" u="none" strike="noStrike">
                  <a:solidFill>
                    <a:srgbClr val="EF4646"/>
                  </a:solidFill>
                  <a:effectLst/>
                  <a:uFillTx/>
                  <a:latin typeface="페이퍼로지 7 Bold"/>
                  <a:ea typeface="페이퍼로지 7 Bold"/>
                </a:rPr>
                <a:t>FDS</a:t>
              </a:r>
              <a:endParaRPr lang="en-US" sz="17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29" name="Group 81"/>
            <p:cNvGrpSpPr/>
            <p:nvPr/>
          </p:nvGrpSpPr>
          <p:grpSpPr>
            <a:xfrm>
              <a:off x="1256040" y="4056480"/>
              <a:ext cx="9511200" cy="369000"/>
              <a:chOff x="1256040" y="4056480"/>
              <a:chExt cx="9511200" cy="369000"/>
            </a:xfrm>
          </p:grpSpPr>
          <p:sp>
            <p:nvSpPr>
              <p:cNvPr id="330" name="TextBox 18"/>
              <p:cNvSpPr/>
              <p:nvPr/>
            </p:nvSpPr>
            <p:spPr>
              <a:xfrm>
                <a:off x="1256040" y="4056480"/>
                <a:ext cx="2364120" cy="3690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실시간 탐지</a:t>
                </a:r>
                <a:r>
                  <a:rPr lang="en-US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 → ASAP </a:t>
                </a:r>
                <a:r>
                  <a:rPr lang="ko-KR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요소 데이터 공유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(</a:t>
                </a:r>
                <a:r>
                  <a:rPr lang="ko-KR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내용과 정황은 공유하지 않음</a:t>
                </a:r>
                <a:r>
                  <a:rPr lang="en-US" sz="1200" b="1" u="none" strike="noStrike">
                    <a:solidFill>
                      <a:srgbClr val="2F69F5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)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1" name="TextBox 28"/>
              <p:cNvSpPr/>
              <p:nvPr/>
            </p:nvSpPr>
            <p:spPr>
              <a:xfrm>
                <a:off x="4920120" y="4084920"/>
                <a:ext cx="2351160" cy="18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7052B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기관 간 연결</a:t>
                </a:r>
                <a:r>
                  <a:rPr lang="en-US" sz="1200" b="1" u="none" strike="noStrike">
                    <a:solidFill>
                      <a:srgbClr val="7052B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 → 통신사 AI, FDS</a:t>
                </a:r>
                <a:r>
                  <a:rPr lang="ko-KR" sz="1200" b="1" u="none" strike="noStrike">
                    <a:solidFill>
                      <a:srgbClr val="7052B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에 공유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2" name="TextBox 38"/>
              <p:cNvSpPr/>
              <p:nvPr/>
            </p:nvSpPr>
            <p:spPr>
              <a:xfrm>
                <a:off x="8739720" y="4084920"/>
                <a:ext cx="2027520" cy="18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200" b="1" u="none" strike="noStrike">
                    <a:solidFill>
                      <a:srgbClr val="EF464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ASAP</a:t>
                </a:r>
                <a:r>
                  <a:rPr lang="ko-KR" sz="1200" b="1" u="none" strike="noStrike">
                    <a:solidFill>
                      <a:srgbClr val="EF4646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에서 받음 → 금융거래 보호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333" name="Group 80"/>
            <p:cNvGrpSpPr/>
            <p:nvPr/>
          </p:nvGrpSpPr>
          <p:grpSpPr>
            <a:xfrm>
              <a:off x="1325880" y="2910600"/>
              <a:ext cx="9540000" cy="1043640"/>
              <a:chOff x="1325880" y="2910600"/>
              <a:chExt cx="9540000" cy="1043640"/>
            </a:xfrm>
          </p:grpSpPr>
          <p:sp>
            <p:nvSpPr>
              <p:cNvPr id="334" name="Rounded Rectangle 12"/>
              <p:cNvSpPr/>
              <p:nvPr/>
            </p:nvSpPr>
            <p:spPr>
              <a:xfrm>
                <a:off x="1325880" y="2910600"/>
                <a:ext cx="2224800" cy="1043640"/>
              </a:xfrm>
              <a:prstGeom prst="roundRect">
                <a:avLst>
                  <a:gd name="adj" fmla="val 16667"/>
                </a:avLst>
              </a:prstGeom>
              <a:solidFill>
                <a:srgbClr val="EBF3FF"/>
              </a:solidFill>
              <a:ln>
                <a:solidFill>
                  <a:srgbClr val="2F69F5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endParaRPr>
              </a:p>
            </p:txBody>
          </p:sp>
          <p:sp>
            <p:nvSpPr>
              <p:cNvPr id="335" name="TextBox 15"/>
              <p:cNvSpPr/>
              <p:nvPr/>
            </p:nvSpPr>
            <p:spPr>
              <a:xfrm>
                <a:off x="1527480" y="3036240"/>
                <a:ext cx="1102680" cy="79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실시간 통화 분석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위험 신호 탐지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실시간 경고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6" name="Rounded Rectangle 22"/>
              <p:cNvSpPr/>
              <p:nvPr/>
            </p:nvSpPr>
            <p:spPr>
              <a:xfrm>
                <a:off x="4983480" y="2910600"/>
                <a:ext cx="2224800" cy="1043640"/>
              </a:xfrm>
              <a:prstGeom prst="roundRect">
                <a:avLst>
                  <a:gd name="adj" fmla="val 16667"/>
                </a:avLst>
              </a:prstGeom>
              <a:solidFill>
                <a:srgbClr val="F4F1FF"/>
              </a:solidFill>
              <a:ln>
                <a:solidFill>
                  <a:srgbClr val="7052BE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endParaRPr>
              </a:p>
            </p:txBody>
          </p:sp>
          <p:sp>
            <p:nvSpPr>
              <p:cNvPr id="337" name="TextBox 72"/>
              <p:cNvSpPr/>
              <p:nvPr/>
            </p:nvSpPr>
            <p:spPr>
              <a:xfrm>
                <a:off x="5299560" y="3036240"/>
                <a:ext cx="1237320" cy="79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의심정보 수집</a:t>
                </a:r>
                <a:br>
                  <a:rPr sz="1200"/>
                </a:b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공유·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분석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관계기관 공동 활용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8" name="Rounded Rectangle 32"/>
              <p:cNvSpPr/>
              <p:nvPr/>
            </p:nvSpPr>
            <p:spPr>
              <a:xfrm>
                <a:off x="8641080" y="2910600"/>
                <a:ext cx="2224800" cy="1043640"/>
              </a:xfrm>
              <a:prstGeom prst="roundRect">
                <a:avLst>
                  <a:gd name="adj" fmla="val 16667"/>
                </a:avLst>
              </a:prstGeom>
              <a:solidFill>
                <a:srgbClr val="FFF1F1"/>
              </a:solidFill>
              <a:ln>
                <a:solidFill>
                  <a:srgbClr val="EF4646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endParaRPr>
              </a:p>
            </p:txBody>
          </p:sp>
          <p:sp>
            <p:nvSpPr>
              <p:cNvPr id="339" name="TextBox 73"/>
              <p:cNvSpPr/>
              <p:nvPr/>
            </p:nvSpPr>
            <p:spPr>
              <a:xfrm>
                <a:off x="9042120" y="3036240"/>
                <a:ext cx="1302840" cy="792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ctr">
                <a:spAutoFit/>
              </a:bodyPr>
              <a:lstStyle/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거래 패턴 분석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이상거래 탐지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50000"/>
                  </a:lnSpc>
                </a:pP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• 지연·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정지</a:t>
                </a:r>
                <a:r>
                  <a:rPr lang="en-US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·</a:t>
                </a:r>
                <a:r>
                  <a:rPr lang="ko-KR" sz="1200" b="1" u="none" strike="noStrike">
                    <a:solidFill>
                      <a:srgbClr val="1D324E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추가 확인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40" name="Arrow: Left-Right 47"/>
            <p:cNvSpPr/>
            <p:nvPr/>
          </p:nvSpPr>
          <p:spPr>
            <a:xfrm>
              <a:off x="4071600" y="3148920"/>
              <a:ext cx="390600" cy="385200"/>
            </a:xfrm>
            <a:prstGeom prst="leftRightArrow">
              <a:avLst>
                <a:gd name="adj1" fmla="val 36046"/>
                <a:gd name="adj2" fmla="val 36047"/>
              </a:avLst>
            </a:prstGeom>
            <a:solidFill>
              <a:srgbClr val="005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341" name="Arrow: Left-Right 48"/>
            <p:cNvSpPr/>
            <p:nvPr/>
          </p:nvSpPr>
          <p:spPr>
            <a:xfrm>
              <a:off x="7729200" y="3148920"/>
              <a:ext cx="390600" cy="385200"/>
            </a:xfrm>
            <a:prstGeom prst="leftRightArrow">
              <a:avLst>
                <a:gd name="adj1" fmla="val 36046"/>
                <a:gd name="adj2" fmla="val 36047"/>
              </a:avLst>
            </a:prstGeom>
            <a:solidFill>
              <a:srgbClr val="0056F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pic>
        <p:nvPicPr>
          <p:cNvPr id="342" name="Image 19" descr="preencoded.png"/>
          <p:cNvPicPr/>
          <p:nvPr/>
        </p:nvPicPr>
        <p:blipFill>
          <a:blip r:embed="rId3"/>
          <a:stretch/>
        </p:blipFill>
        <p:spPr>
          <a:xfrm>
            <a:off x="8344800" y="1654200"/>
            <a:ext cx="394560" cy="37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Image 20" descr="preencoded.png"/>
          <p:cNvPicPr/>
          <p:nvPr/>
        </p:nvPicPr>
        <p:blipFill>
          <a:blip r:embed="rId4"/>
          <a:stretch/>
        </p:blipFill>
        <p:spPr>
          <a:xfrm>
            <a:off x="4695480" y="1631880"/>
            <a:ext cx="385200" cy="35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Image 21" descr="preencoded.png"/>
          <p:cNvPicPr/>
          <p:nvPr/>
        </p:nvPicPr>
        <p:blipFill>
          <a:blip r:embed="rId5"/>
          <a:stretch/>
        </p:blipFill>
        <p:spPr>
          <a:xfrm>
            <a:off x="1104120" y="1637640"/>
            <a:ext cx="442800" cy="446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5" name="TextBox 37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>
                <a:solidFill>
                  <a:srgbClr val="0056FB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Image 7" descr="preencoded.png"/>
          <p:cNvPicPr/>
          <p:nvPr/>
        </p:nvPicPr>
        <p:blipFill>
          <a:blip r:embed="rId2"/>
          <a:stretch/>
        </p:blipFill>
        <p:spPr>
          <a:xfrm>
            <a:off x="3352680" y="2851200"/>
            <a:ext cx="963720" cy="509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Shape 10"/>
          <p:cNvSpPr/>
          <p:nvPr/>
        </p:nvSpPr>
        <p:spPr>
          <a:xfrm>
            <a:off x="274680" y="1339200"/>
            <a:ext cx="3493440" cy="3771360"/>
          </a:xfrm>
          <a:prstGeom prst="roundRect">
            <a:avLst>
              <a:gd name="adj" fmla="val 1692"/>
            </a:avLst>
          </a:prstGeom>
          <a:solidFill>
            <a:srgbClr val="FDFDFD"/>
          </a:solidFill>
          <a:ln w="19050">
            <a:solidFill>
              <a:srgbClr val="EAEFF4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7" descr="preencoded.png"/>
          <p:cNvPicPr/>
          <p:nvPr/>
        </p:nvPicPr>
        <p:blipFill>
          <a:blip r:embed="rId2"/>
          <a:stretch/>
        </p:blipFill>
        <p:spPr>
          <a:xfrm>
            <a:off x="8483760" y="2851200"/>
            <a:ext cx="963720" cy="509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49" name="Group 135"/>
          <p:cNvGrpSpPr/>
          <p:nvPr/>
        </p:nvGrpSpPr>
        <p:grpSpPr>
          <a:xfrm>
            <a:off x="9456000" y="1335082"/>
            <a:ext cx="2897280" cy="2844000"/>
            <a:chOff x="9536760" y="1346400"/>
            <a:chExt cx="2897280" cy="2844000"/>
          </a:xfrm>
        </p:grpSpPr>
        <p:sp>
          <p:nvSpPr>
            <p:cNvPr id="350" name="Shape 4"/>
            <p:cNvSpPr/>
            <p:nvPr/>
          </p:nvSpPr>
          <p:spPr>
            <a:xfrm>
              <a:off x="9547920" y="1346400"/>
              <a:ext cx="2450160" cy="386640"/>
            </a:xfrm>
            <a:prstGeom prst="roundRect">
              <a:avLst>
                <a:gd name="adj" fmla="val 12500"/>
              </a:avLst>
            </a:prstGeom>
            <a:solidFill>
              <a:srgbClr val="5A666E"/>
            </a:solidFill>
            <a:ln w="9525">
              <a:solidFill>
                <a:srgbClr val="BBC0C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Text 5"/>
            <p:cNvSpPr/>
            <p:nvPr/>
          </p:nvSpPr>
          <p:spPr>
            <a:xfrm>
              <a:off x="9722160" y="1375560"/>
              <a:ext cx="2711880" cy="34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1763"/>
                </a:lnSpc>
              </a:pPr>
              <a:r>
                <a:rPr lang="ko-KR" sz="1710" b="1" u="none" strike="noStrike" dirty="0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판단 결과에 따른 조치</a:t>
              </a:r>
              <a:endParaRPr lang="en-US" sz="171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Shape 6"/>
            <p:cNvSpPr/>
            <p:nvPr/>
          </p:nvSpPr>
          <p:spPr>
            <a:xfrm>
              <a:off x="9536760" y="1723680"/>
              <a:ext cx="2461320" cy="2466720"/>
            </a:xfrm>
            <a:prstGeom prst="roundRect">
              <a:avLst>
                <a:gd name="adj" fmla="val 2765"/>
              </a:avLst>
            </a:prstGeom>
            <a:solidFill>
              <a:srgbClr val="F6F6F7"/>
            </a:solidFill>
            <a:ln w="9525">
              <a:solidFill>
                <a:srgbClr val="D7DADC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3" name="Image 3" descr="preencoded.png"/>
            <p:cNvPicPr/>
            <p:nvPr/>
          </p:nvPicPr>
          <p:blipFill>
            <a:blip r:embed="rId3"/>
            <a:stretch/>
          </p:blipFill>
          <p:spPr>
            <a:xfrm>
              <a:off x="10743840" y="3703409"/>
              <a:ext cx="54000" cy="1933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4" name="Shape 7"/>
            <p:cNvSpPr/>
            <p:nvPr/>
          </p:nvSpPr>
          <p:spPr>
            <a:xfrm>
              <a:off x="9678600" y="3078360"/>
              <a:ext cx="2178000" cy="551160"/>
            </a:xfrm>
            <a:prstGeom prst="rect">
              <a:avLst/>
            </a:prstGeom>
            <a:solidFill>
              <a:srgbClr val="FDFDFD"/>
            </a:solidFill>
            <a:ln w="19050">
              <a:solidFill>
                <a:srgbClr val="F6F6F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5" name="Image 4" descr="preencoded.png"/>
            <p:cNvPicPr/>
            <p:nvPr/>
          </p:nvPicPr>
          <p:blipFill>
            <a:blip r:embed="rId4"/>
            <a:stretch/>
          </p:blipFill>
          <p:spPr>
            <a:xfrm>
              <a:off x="9918000" y="3184560"/>
              <a:ext cx="457200" cy="318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6" name="Text 8"/>
            <p:cNvSpPr/>
            <p:nvPr/>
          </p:nvSpPr>
          <p:spPr>
            <a:xfrm>
              <a:off x="10528200" y="3242880"/>
              <a:ext cx="1099800" cy="18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1372"/>
                </a:lnSpc>
              </a:pPr>
              <a:r>
                <a:rPr lang="zh-CN" sz="1400" b="0" u="none" strike="noStrike">
                  <a:solidFill>
                    <a:srgbClr val="747F90"/>
                  </a:solidFill>
                  <a:effectLst/>
                  <a:uFillTx/>
                  <a:latin typeface="페이퍼로지 5 Medium"/>
                  <a:ea typeface="페이퍼로지 5 Medium"/>
                </a:rPr>
                <a:t>추가 확인 진행</a:t>
              </a:r>
              <a:endPara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Shape 9"/>
            <p:cNvSpPr/>
            <p:nvPr/>
          </p:nvSpPr>
          <p:spPr>
            <a:xfrm>
              <a:off x="9678600" y="2468880"/>
              <a:ext cx="2178000" cy="551160"/>
            </a:xfrm>
            <a:prstGeom prst="rect">
              <a:avLst/>
            </a:prstGeom>
            <a:solidFill>
              <a:srgbClr val="FCFDFD"/>
            </a:solidFill>
            <a:ln w="47625">
              <a:solidFill>
                <a:srgbClr val="F7F7F8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8" name="Image 5" descr="preencoded.png"/>
            <p:cNvPicPr/>
            <p:nvPr/>
          </p:nvPicPr>
          <p:blipFill>
            <a:blip r:embed="rId5"/>
            <a:stretch/>
          </p:blipFill>
          <p:spPr>
            <a:xfrm>
              <a:off x="9918000" y="2604240"/>
              <a:ext cx="457200" cy="318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9" name="Text 10"/>
            <p:cNvSpPr/>
            <p:nvPr/>
          </p:nvSpPr>
          <p:spPr>
            <a:xfrm>
              <a:off x="10528200" y="2662200"/>
              <a:ext cx="1099800" cy="173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1273"/>
                </a:lnSpc>
              </a:pPr>
              <a:r>
                <a:rPr lang="zh-CN" sz="1350" b="0" u="none" strike="noStrike">
                  <a:solidFill>
                    <a:srgbClr val="6D788A"/>
                  </a:solidFill>
                  <a:effectLst/>
                  <a:uFillTx/>
                  <a:latin typeface="페이퍼로지 5 Medium"/>
                  <a:ea typeface="페이퍼로지 5 Medium"/>
                </a:rPr>
                <a:t>거래 제한 해제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Shape 11"/>
            <p:cNvSpPr/>
            <p:nvPr/>
          </p:nvSpPr>
          <p:spPr>
            <a:xfrm>
              <a:off x="9732960" y="1917360"/>
              <a:ext cx="2080080" cy="522000"/>
            </a:xfrm>
            <a:prstGeom prst="roundRect">
              <a:avLst>
                <a:gd name="adj" fmla="val 12963"/>
              </a:avLst>
            </a:prstGeom>
            <a:solidFill>
              <a:srgbClr val="FDFDFD"/>
            </a:solidFill>
            <a:ln w="9525">
              <a:solidFill>
                <a:srgbClr val="F3F4F6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Text 12"/>
            <p:cNvSpPr/>
            <p:nvPr/>
          </p:nvSpPr>
          <p:spPr>
            <a:xfrm>
              <a:off x="10528200" y="2081880"/>
              <a:ext cx="1099800" cy="18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ctr">
              <a:noAutofit/>
            </a:bodyPr>
            <a:lstStyle/>
            <a:p>
              <a:pPr defTabSz="914400">
                <a:lnSpc>
                  <a:spcPts val="1372"/>
                </a:lnSpc>
              </a:pPr>
              <a:r>
                <a:rPr lang="zh-CN" sz="1380" b="0" u="none" strike="noStrike">
                  <a:solidFill>
                    <a:srgbClr val="778293"/>
                  </a:solidFill>
                  <a:effectLst/>
                  <a:uFillTx/>
                  <a:latin typeface="페이퍼로지 5 Medium"/>
                  <a:ea typeface="페이퍼로지 5 Medium"/>
                </a:rPr>
                <a:t>거래 제한 유지</a:t>
              </a:r>
              <a:endParaRPr lang="en-US" sz="138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62" name="Image 6" descr="preencoded.png"/>
            <p:cNvPicPr/>
            <p:nvPr/>
          </p:nvPicPr>
          <p:blipFill>
            <a:blip r:embed="rId6"/>
            <a:stretch/>
          </p:blipFill>
          <p:spPr>
            <a:xfrm>
              <a:off x="9918000" y="2023560"/>
              <a:ext cx="446040" cy="3189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63" name="Shape 14"/>
          <p:cNvSpPr/>
          <p:nvPr/>
        </p:nvSpPr>
        <p:spPr>
          <a:xfrm>
            <a:off x="4291800" y="1398600"/>
            <a:ext cx="4645800" cy="3743280"/>
          </a:xfrm>
          <a:prstGeom prst="rect">
            <a:avLst/>
          </a:prstGeom>
          <a:solidFill>
            <a:srgbClr val="FCF6F5"/>
          </a:solidFill>
          <a:ln w="0">
            <a:solidFill>
              <a:srgbClr val="E89FA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15"/>
          <p:cNvSpPr/>
          <p:nvPr/>
        </p:nvSpPr>
        <p:spPr>
          <a:xfrm>
            <a:off x="5871960" y="2700720"/>
            <a:ext cx="1461960" cy="533520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DFE0E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5" name="Image 9" descr="preencoded.png"/>
          <p:cNvPicPr/>
          <p:nvPr/>
        </p:nvPicPr>
        <p:blipFill>
          <a:blip r:embed="rId7"/>
          <a:stretch/>
        </p:blipFill>
        <p:spPr>
          <a:xfrm>
            <a:off x="6019920" y="2836800"/>
            <a:ext cx="333000" cy="2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6" name="Text 16"/>
          <p:cNvSpPr/>
          <p:nvPr/>
        </p:nvSpPr>
        <p:spPr>
          <a:xfrm>
            <a:off x="6445800" y="2855880"/>
            <a:ext cx="740160" cy="19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73"/>
              </a:lnSpc>
            </a:pPr>
            <a:r>
              <a:rPr lang="zh-CN" sz="1050" b="0" u="none" strike="noStrike">
                <a:solidFill>
                  <a:srgbClr val="747F91"/>
                </a:solidFill>
                <a:effectLst/>
                <a:uFillTx/>
                <a:latin typeface="페이퍼로지 5 Medium"/>
                <a:ea typeface="페이퍼로지 5 Medium"/>
              </a:rPr>
              <a:t>고객의 설명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Image 10" descr="preencoded.png"/>
          <p:cNvPicPr/>
          <p:nvPr/>
        </p:nvPicPr>
        <p:blipFill>
          <a:blip r:embed="rId8"/>
          <a:stretch/>
        </p:blipFill>
        <p:spPr>
          <a:xfrm>
            <a:off x="6557040" y="3224880"/>
            <a:ext cx="194040" cy="242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8" name="Image 11" descr="preencoded.png"/>
          <p:cNvPicPr/>
          <p:nvPr/>
        </p:nvPicPr>
        <p:blipFill>
          <a:blip r:embed="rId9"/>
          <a:stretch/>
        </p:blipFill>
        <p:spPr>
          <a:xfrm>
            <a:off x="5622120" y="3545280"/>
            <a:ext cx="1943280" cy="1465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9" name="Shape 17"/>
          <p:cNvSpPr/>
          <p:nvPr/>
        </p:nvSpPr>
        <p:spPr>
          <a:xfrm>
            <a:off x="7510320" y="3894840"/>
            <a:ext cx="1424880" cy="514080"/>
          </a:xfrm>
          <a:prstGeom prst="roundRect">
            <a:avLst>
              <a:gd name="adj" fmla="val 13208"/>
            </a:avLst>
          </a:prstGeom>
          <a:solidFill>
            <a:srgbClr val="FDFDFD"/>
          </a:solidFill>
          <a:ln w="9525">
            <a:solidFill>
              <a:srgbClr val="EBEBE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0" name="Image 12" descr="preencoded.png"/>
          <p:cNvPicPr/>
          <p:nvPr/>
        </p:nvPicPr>
        <p:blipFill>
          <a:blip r:embed="rId10"/>
          <a:stretch/>
        </p:blipFill>
        <p:spPr>
          <a:xfrm>
            <a:off x="7630560" y="4020840"/>
            <a:ext cx="360720" cy="26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1" name="Text 18"/>
          <p:cNvSpPr/>
          <p:nvPr/>
        </p:nvSpPr>
        <p:spPr>
          <a:xfrm>
            <a:off x="8074800" y="4050000"/>
            <a:ext cx="7862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37"/>
              </a:lnSpc>
            </a:pPr>
            <a:r>
              <a:rPr lang="zh-CN" sz="1050" b="0" u="none" strike="noStrike">
                <a:solidFill>
                  <a:srgbClr val="778293"/>
                </a:solidFill>
                <a:effectLst/>
                <a:uFillTx/>
                <a:latin typeface="페이퍼로지 5 Medium"/>
                <a:ea typeface="페이퍼로지 5 Medium"/>
              </a:rPr>
              <a:t>내부 확인 내용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2" name="Image 13" descr="preencoded.png"/>
          <p:cNvPicPr/>
          <p:nvPr/>
        </p:nvPicPr>
        <p:blipFill>
          <a:blip r:embed="rId11"/>
          <a:stretch/>
        </p:blipFill>
        <p:spPr>
          <a:xfrm>
            <a:off x="7278840" y="4088880"/>
            <a:ext cx="231120" cy="16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3" name="Shape 19"/>
          <p:cNvSpPr/>
          <p:nvPr/>
        </p:nvSpPr>
        <p:spPr>
          <a:xfrm>
            <a:off x="4520520" y="3943440"/>
            <a:ext cx="1378800" cy="523800"/>
          </a:xfrm>
          <a:prstGeom prst="roundRect">
            <a:avLst>
              <a:gd name="adj" fmla="val 14815"/>
            </a:avLst>
          </a:prstGeom>
          <a:solidFill>
            <a:srgbClr val="FDFDFD"/>
          </a:solidFill>
          <a:ln w="9525">
            <a:solidFill>
              <a:srgbClr val="E0DFE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4" name="Image 14" descr="preencoded.png"/>
          <p:cNvPicPr/>
          <p:nvPr/>
        </p:nvPicPr>
        <p:blipFill>
          <a:blip r:embed="rId12"/>
          <a:stretch/>
        </p:blipFill>
        <p:spPr>
          <a:xfrm>
            <a:off x="4641120" y="4108320"/>
            <a:ext cx="323640" cy="213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Text 20"/>
          <p:cNvSpPr/>
          <p:nvPr/>
        </p:nvSpPr>
        <p:spPr>
          <a:xfrm>
            <a:off x="5048280" y="4118040"/>
            <a:ext cx="74916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03"/>
              </a:lnSpc>
            </a:pPr>
            <a:r>
              <a:rPr lang="zh-CN" sz="1000" b="0" u="none" strike="noStrike">
                <a:solidFill>
                  <a:srgbClr val="768092"/>
                </a:solidFill>
                <a:effectLst/>
                <a:uFillTx/>
                <a:latin typeface="페이퍼로지 5 Medium"/>
                <a:ea typeface="페이퍼로지 5 Medium"/>
              </a:rPr>
              <a:t>거래 계좌 정보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21"/>
          <p:cNvSpPr/>
          <p:nvPr/>
        </p:nvSpPr>
        <p:spPr>
          <a:xfrm>
            <a:off x="7473240" y="3176280"/>
            <a:ext cx="1443600" cy="533520"/>
          </a:xfrm>
          <a:prstGeom prst="roundRect">
            <a:avLst>
              <a:gd name="adj" fmla="val 16364"/>
            </a:avLst>
          </a:prstGeom>
          <a:solidFill>
            <a:srgbClr val="FDFDFD"/>
          </a:solidFill>
          <a:ln w="9525">
            <a:solidFill>
              <a:srgbClr val="E9E9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7" name="Image 15" descr="preencoded.png"/>
          <p:cNvPicPr/>
          <p:nvPr/>
        </p:nvPicPr>
        <p:blipFill>
          <a:blip r:embed="rId13"/>
          <a:stretch/>
        </p:blipFill>
        <p:spPr>
          <a:xfrm>
            <a:off x="7611840" y="3312360"/>
            <a:ext cx="314280" cy="27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Text 22"/>
          <p:cNvSpPr/>
          <p:nvPr/>
        </p:nvSpPr>
        <p:spPr>
          <a:xfrm>
            <a:off x="8000640" y="3341520"/>
            <a:ext cx="813960" cy="18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54"/>
              </a:lnSpc>
            </a:pPr>
            <a:r>
              <a:rPr lang="zh-CN" sz="1050" b="0" u="none" strike="noStrike">
                <a:solidFill>
                  <a:srgbClr val="7A8495"/>
                </a:solidFill>
                <a:effectLst/>
                <a:uFillTx/>
                <a:latin typeface="페이퍼로지 5 Medium"/>
                <a:ea typeface="페이퍼로지 5 Medium"/>
              </a:rPr>
              <a:t>추가 조회 결과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9" name="Image 16" descr="preencoded.png"/>
          <p:cNvPicPr/>
          <p:nvPr/>
        </p:nvPicPr>
        <p:blipFill>
          <a:blip r:embed="rId14"/>
          <a:stretch/>
        </p:blipFill>
        <p:spPr>
          <a:xfrm>
            <a:off x="7278840" y="3642480"/>
            <a:ext cx="286560" cy="2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0" name="Shape 23"/>
          <p:cNvSpPr/>
          <p:nvPr/>
        </p:nvSpPr>
        <p:spPr>
          <a:xfrm>
            <a:off x="4585320" y="3205440"/>
            <a:ext cx="1304640" cy="514080"/>
          </a:xfrm>
          <a:prstGeom prst="roundRect">
            <a:avLst>
              <a:gd name="adj" fmla="val 16981"/>
            </a:avLst>
          </a:prstGeom>
          <a:solidFill>
            <a:srgbClr val="FDFDFD"/>
          </a:solidFill>
          <a:ln w="9525">
            <a:solidFill>
              <a:srgbClr val="EBE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1" name="Image 17" descr="preencoded.png"/>
          <p:cNvPicPr/>
          <p:nvPr/>
        </p:nvPicPr>
        <p:blipFill>
          <a:blip r:embed="rId15"/>
          <a:stretch/>
        </p:blipFill>
        <p:spPr>
          <a:xfrm>
            <a:off x="4752000" y="3322080"/>
            <a:ext cx="277200" cy="281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Text 24"/>
          <p:cNvSpPr/>
          <p:nvPr/>
        </p:nvSpPr>
        <p:spPr>
          <a:xfrm>
            <a:off x="5140800" y="3360960"/>
            <a:ext cx="591840" cy="174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73"/>
              </a:lnSpc>
            </a:pPr>
            <a:r>
              <a:rPr lang="zh-CN" sz="1050" b="0" u="none" strike="noStrike">
                <a:solidFill>
                  <a:srgbClr val="747F91"/>
                </a:solidFill>
                <a:effectLst/>
                <a:uFillTx/>
                <a:latin typeface="페이퍼로지 5 Medium"/>
                <a:ea typeface="페이퍼로지 5 Medium"/>
              </a:rPr>
              <a:t>탐지 결과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3" name="Image 18" descr="preencoded.png"/>
          <p:cNvPicPr/>
          <p:nvPr/>
        </p:nvPicPr>
        <p:blipFill>
          <a:blip r:embed="rId16"/>
          <a:stretch/>
        </p:blipFill>
        <p:spPr>
          <a:xfrm>
            <a:off x="5807160" y="3652200"/>
            <a:ext cx="314280" cy="2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4" name="Shape 25"/>
          <p:cNvSpPr/>
          <p:nvPr/>
        </p:nvSpPr>
        <p:spPr>
          <a:xfrm>
            <a:off x="4520520" y="1481040"/>
            <a:ext cx="4358880" cy="684360"/>
          </a:xfrm>
          <a:prstGeom prst="roundRect">
            <a:avLst>
              <a:gd name="adj" fmla="val 10000"/>
            </a:avLst>
          </a:prstGeom>
          <a:solidFill>
            <a:srgbClr val="E13C3F"/>
          </a:solidFill>
          <a:ln w="9525">
            <a:solidFill>
              <a:srgbClr val="E659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26"/>
          <p:cNvSpPr/>
          <p:nvPr/>
        </p:nvSpPr>
        <p:spPr>
          <a:xfrm>
            <a:off x="4712400" y="1568880"/>
            <a:ext cx="4102200" cy="55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763"/>
              </a:lnSpc>
            </a:pP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확실한 정보를 알 수 없는 상황 속에서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63"/>
              </a:lnSpc>
            </a:pP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계획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협업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소통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확인</a:t>
            </a:r>
            <a:r>
              <a:rPr lang="en-US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6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판단 부담이 큰 행원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13"/>
          <p:cNvSpPr/>
          <p:nvPr/>
        </p:nvSpPr>
        <p:spPr>
          <a:xfrm>
            <a:off x="511560" y="6475680"/>
            <a:ext cx="3446640" cy="341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95"/>
              </a:lnSpc>
            </a:pPr>
            <a:r>
              <a:rPr lang="en-US" sz="1430" b="0" u="none" strike="noStrike">
                <a:solidFill>
                  <a:srgbClr val="788394"/>
                </a:solidFill>
                <a:effectLst/>
                <a:uFillTx/>
                <a:latin typeface="페이퍼로지 5 Medium"/>
                <a:ea typeface="페이퍼로지 5 Medium"/>
              </a:rPr>
              <a:t>FDS</a:t>
            </a:r>
            <a:r>
              <a:rPr lang="ko-KR" sz="1430" b="0" u="none" strike="noStrike">
                <a:solidFill>
                  <a:srgbClr val="788394"/>
                </a:solidFill>
                <a:effectLst/>
                <a:uFillTx/>
                <a:latin typeface="페이퍼로지 5 Medium"/>
                <a:ea typeface="페이퍼로지 5 Medium"/>
              </a:rPr>
              <a:t>탐지 알림 예시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11"/>
          <p:cNvSpPr/>
          <p:nvPr/>
        </p:nvSpPr>
        <p:spPr>
          <a:xfrm>
            <a:off x="459720" y="1508740"/>
            <a:ext cx="3149876" cy="982440"/>
          </a:xfrm>
          <a:prstGeom prst="roundRect">
            <a:avLst>
              <a:gd name="adj" fmla="val 1899"/>
            </a:avLst>
          </a:prstGeom>
          <a:solidFill>
            <a:srgbClr val="FDEBE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8" name="Image 6" descr="preencoded.png"/>
          <p:cNvPicPr/>
          <p:nvPr/>
        </p:nvPicPr>
        <p:blipFill>
          <a:blip r:embed="rId17"/>
          <a:stretch/>
        </p:blipFill>
        <p:spPr>
          <a:xfrm>
            <a:off x="518760" y="1686240"/>
            <a:ext cx="497520" cy="49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9" name="Text 12"/>
          <p:cNvSpPr/>
          <p:nvPr/>
        </p:nvSpPr>
        <p:spPr>
          <a:xfrm>
            <a:off x="1081080" y="1910160"/>
            <a:ext cx="2667960" cy="460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35"/>
              </a:lnSpc>
            </a:pPr>
            <a:r>
              <a:rPr lang="zh-CN" sz="920" b="0" u="none" strike="noStrike" dirty="0">
                <a:solidFill>
                  <a:srgbClr val="A3A9B8"/>
                </a:solidFill>
                <a:effectLst/>
                <a:uFillTx/>
                <a:latin typeface="페이퍼로지 5 Medium"/>
                <a:ea typeface="페이퍼로지 5 Medium"/>
              </a:rPr>
              <a:t>금융보안원 이상거래 탐지에 따라 추가 확인이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335"/>
              </a:lnSpc>
            </a:pPr>
            <a:r>
              <a:rPr lang="zh-CN" sz="920" b="0" u="none" strike="noStrike" dirty="0">
                <a:solidFill>
                  <a:srgbClr val="A3A9B8"/>
                </a:solidFill>
                <a:effectLst/>
                <a:uFillTx/>
                <a:latin typeface="페이퍼로지 5 Medium"/>
                <a:ea typeface="페이퍼로지 5 Medium"/>
              </a:rPr>
              <a:t>필요한 거래입니다</a:t>
            </a:r>
            <a:r>
              <a:rPr lang="en-US" sz="920" b="0" u="none" strike="noStrike" dirty="0">
                <a:solidFill>
                  <a:srgbClr val="A3A9B8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92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3"/>
          <p:cNvSpPr/>
          <p:nvPr/>
        </p:nvSpPr>
        <p:spPr>
          <a:xfrm>
            <a:off x="1080360" y="1623960"/>
            <a:ext cx="2272320" cy="24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50"/>
              </a:lnSpc>
            </a:pPr>
            <a:r>
              <a:rPr lang="zh-CN" sz="1160" b="0" u="none" strike="noStrike" dirty="0">
                <a:solidFill>
                  <a:srgbClr val="F96160"/>
                </a:solidFill>
                <a:effectLst/>
                <a:uFillTx/>
                <a:latin typeface="페이퍼로지 5 Medium"/>
                <a:ea typeface="페이퍼로지 5 Medium"/>
              </a:rPr>
              <a:t>이상금융거래가 탐지되었습니다</a:t>
            </a:r>
            <a:r>
              <a:rPr lang="en-US" sz="1160" b="0" u="none" strike="noStrike" dirty="0">
                <a:solidFill>
                  <a:srgbClr val="F96160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16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14"/>
          <p:cNvSpPr/>
          <p:nvPr/>
        </p:nvSpPr>
        <p:spPr>
          <a:xfrm>
            <a:off x="1512360" y="4278240"/>
            <a:ext cx="2192040" cy="26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987-654-**** (</a:t>
            </a:r>
            <a:r>
              <a:rPr lang="zh-CN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타행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5"/>
          <p:cNvSpPr/>
          <p:nvPr/>
        </p:nvSpPr>
        <p:spPr>
          <a:xfrm>
            <a:off x="1512360" y="4004640"/>
            <a:ext cx="1962720" cy="25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123-456-***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6"/>
          <p:cNvSpPr/>
          <p:nvPr/>
        </p:nvSpPr>
        <p:spPr>
          <a:xfrm>
            <a:off x="704160" y="4012920"/>
            <a:ext cx="66348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37"/>
              </a:lnSpc>
            </a:pPr>
            <a:r>
              <a:rPr lang="zh-CN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출</a:t>
            </a:r>
            <a:r>
              <a:rPr lang="ko-KR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금계좌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7"/>
          <p:cNvSpPr/>
          <p:nvPr/>
        </p:nvSpPr>
        <p:spPr>
          <a:xfrm>
            <a:off x="1512360" y="3743280"/>
            <a:ext cx="1983240" cy="264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400,000,000</a:t>
            </a:r>
            <a:r>
              <a:rPr lang="zh-CN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원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18"/>
          <p:cNvSpPr/>
          <p:nvPr/>
        </p:nvSpPr>
        <p:spPr>
          <a:xfrm>
            <a:off x="717120" y="3751560"/>
            <a:ext cx="65088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30"/>
              </a:lnSpc>
            </a:pPr>
            <a:r>
              <a:rPr lang="zh-CN" sz="121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거래금액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19"/>
          <p:cNvSpPr/>
          <p:nvPr/>
        </p:nvSpPr>
        <p:spPr>
          <a:xfrm>
            <a:off x="1512360" y="3469320"/>
            <a:ext cx="2012040" cy="26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61"/>
              </a:lnSpc>
            </a:pPr>
            <a:r>
              <a:rPr lang="zh-CN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타행이체</a:t>
            </a:r>
            <a:r>
              <a:rPr lang="en-US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zh-CN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모바일뱅킹</a:t>
            </a:r>
            <a:r>
              <a:rPr lang="en-US" sz="122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20"/>
          <p:cNvSpPr/>
          <p:nvPr/>
        </p:nvSpPr>
        <p:spPr>
          <a:xfrm>
            <a:off x="717120" y="3477960"/>
            <a:ext cx="63792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11"/>
              </a:lnSpc>
            </a:pPr>
            <a:r>
              <a:rPr lang="zh-CN" sz="119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거래유형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1"/>
          <p:cNvSpPr/>
          <p:nvPr/>
        </p:nvSpPr>
        <p:spPr>
          <a:xfrm>
            <a:off x="1512360" y="3195720"/>
            <a:ext cx="2003760" cy="279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443"/>
              </a:lnSpc>
            </a:pPr>
            <a:r>
              <a:rPr lang="zh-CN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개인</a:t>
            </a: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zh-CN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여성</a:t>
            </a: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60</a:t>
            </a:r>
            <a:r>
              <a:rPr lang="zh-CN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</a:t>
            </a:r>
            <a:r>
              <a:rPr lang="en-US" sz="128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22"/>
          <p:cNvSpPr/>
          <p:nvPr/>
        </p:nvSpPr>
        <p:spPr>
          <a:xfrm>
            <a:off x="717120" y="3204000"/>
            <a:ext cx="65088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02"/>
              </a:lnSpc>
            </a:pPr>
            <a:r>
              <a:rPr lang="zh-CN" sz="121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고객구분</a:t>
            </a:r>
            <a:endParaRPr lang="en-US" sz="12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23"/>
          <p:cNvSpPr/>
          <p:nvPr/>
        </p:nvSpPr>
        <p:spPr>
          <a:xfrm>
            <a:off x="1524960" y="2922120"/>
            <a:ext cx="2289960" cy="265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2026.02.20 10:24:17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4"/>
          <p:cNvSpPr/>
          <p:nvPr/>
        </p:nvSpPr>
        <p:spPr>
          <a:xfrm>
            <a:off x="717120" y="2930400"/>
            <a:ext cx="663480" cy="21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253"/>
              </a:lnSpc>
            </a:pPr>
            <a:r>
              <a:rPr lang="zh-CN" sz="124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탐지시각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25"/>
          <p:cNvSpPr/>
          <p:nvPr/>
        </p:nvSpPr>
        <p:spPr>
          <a:xfrm>
            <a:off x="589320" y="2619360"/>
            <a:ext cx="1072080" cy="223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82"/>
              </a:lnSpc>
            </a:pPr>
            <a:r>
              <a:rPr lang="zh-CN" sz="119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 거래 상세</a:t>
            </a:r>
            <a:endParaRPr lang="en-US" sz="11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90"/>
          <p:cNvSpPr/>
          <p:nvPr/>
        </p:nvSpPr>
        <p:spPr>
          <a:xfrm>
            <a:off x="468000" y="481320"/>
            <a:ext cx="11313360" cy="71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탐지 이후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은행 직원들의 업무 흐름 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: FDS </a:t>
            </a: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경고창을 보고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관계자와 협업하고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,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고객과 소통하며 진위여부와 사실관계를 확인하고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고객을 설득해야 한다</a:t>
            </a:r>
            <a:r>
              <a:rPr lang="en-US" sz="2200" b="1" u="none" strike="noStrike" dirty="0">
                <a:solidFill>
                  <a:srgbClr val="10213D"/>
                </a:solidFill>
                <a:effectLst/>
                <a:uFillTx/>
                <a:latin typeface="페이퍼로지 7 Bold"/>
                <a:ea typeface="페이퍼로지 7 Bold"/>
              </a:rPr>
              <a:t>. </a:t>
            </a:r>
            <a:r>
              <a:rPr lang="ko-KR" sz="2200" b="1" u="none" strike="noStrike" dirty="0">
                <a:solidFill>
                  <a:srgbClr val="EE4344"/>
                </a:solidFill>
                <a:effectLst/>
                <a:uFillTx/>
                <a:latin typeface="페이퍼로지 7 Bold"/>
                <a:ea typeface="페이퍼로지 7 Bold"/>
              </a:rPr>
              <a:t>정황이 부족한 상태로…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Rectangle: Rounded Corners 192"/>
          <p:cNvSpPr/>
          <p:nvPr/>
        </p:nvSpPr>
        <p:spPr>
          <a:xfrm>
            <a:off x="468000" y="5402160"/>
            <a:ext cx="3366360" cy="916560"/>
          </a:xfrm>
          <a:prstGeom prst="roundRect">
            <a:avLst>
              <a:gd name="adj" fmla="val 16667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현행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FDS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만으로는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 범죄자의 주장,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고객의 상황을 알 수 있는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맥락과 정황을 확인할 수 없음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Rectangle: Rounded Corners 201"/>
          <p:cNvSpPr/>
          <p:nvPr/>
        </p:nvSpPr>
        <p:spPr>
          <a:xfrm>
            <a:off x="9492000" y="4314442"/>
            <a:ext cx="2450160" cy="1991025"/>
          </a:xfrm>
          <a:prstGeom prst="roundRect">
            <a:avLst>
              <a:gd name="adj" fmla="val 11023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최종 송금 결정은 고객</a:t>
            </a:r>
            <a:r>
              <a:rPr lang="en-US" sz="18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!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그런데 고객이 범죄자의 말을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믿고 송금을 지속하거나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은행에게 거짓말을 한다면</a:t>
            </a:r>
            <a:r>
              <a:rPr lang="en-US" sz="14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?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은행은 </a:t>
            </a:r>
            <a:r>
              <a:rPr lang="ko-KR" sz="18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부족한 정보로 고객을 설득</a:t>
            </a:r>
            <a:r>
              <a:rPr lang="ko-KR" sz="18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해야 한다</a:t>
            </a:r>
            <a:r>
              <a:rPr lang="en-US" sz="1800" b="0" u="none" strike="noStrike" dirty="0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Rectangle: Rounded Corners 203"/>
          <p:cNvSpPr/>
          <p:nvPr/>
        </p:nvSpPr>
        <p:spPr>
          <a:xfrm>
            <a:off x="4330800" y="5402160"/>
            <a:ext cx="4687560" cy="916560"/>
          </a:xfrm>
          <a:prstGeom prst="roundRect">
            <a:avLst>
              <a:gd name="adj" fmla="val 16667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맥락과 정황 없다면</a:t>
            </a:r>
            <a:r>
              <a:rPr lang="en-US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 내외부 관계자의 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의사소통</a:t>
            </a:r>
            <a:r>
              <a:rPr lang="en-US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협업</a:t>
            </a:r>
            <a:r>
              <a:rPr lang="en-US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0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정보수집이 어려울 수 있음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Shape 25"/>
          <p:cNvSpPr/>
          <p:nvPr/>
        </p:nvSpPr>
        <p:spPr>
          <a:xfrm>
            <a:off x="459720" y="4578480"/>
            <a:ext cx="3120840" cy="482760"/>
          </a:xfrm>
          <a:prstGeom prst="roundRect">
            <a:avLst>
              <a:gd name="adj" fmla="val 50000"/>
            </a:avLst>
          </a:prstGeom>
          <a:solidFill>
            <a:srgbClr val="E13C3F"/>
          </a:solidFill>
          <a:ln w="9525">
            <a:solidFill>
              <a:srgbClr val="E6595D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자동으로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3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시간 송금 제한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8" name="Image 11" descr="preencoded.png"/>
          <p:cNvPicPr/>
          <p:nvPr/>
        </p:nvPicPr>
        <p:blipFill>
          <a:blip r:embed="rId9"/>
          <a:stretch/>
        </p:blipFill>
        <p:spPr>
          <a:xfrm>
            <a:off x="4717800" y="2634840"/>
            <a:ext cx="382320" cy="2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Image 11" descr="preencoded.png"/>
          <p:cNvPicPr/>
          <p:nvPr/>
        </p:nvPicPr>
        <p:blipFill>
          <a:blip r:embed="rId9"/>
          <a:stretch/>
        </p:blipFill>
        <p:spPr>
          <a:xfrm>
            <a:off x="5002920" y="2634840"/>
            <a:ext cx="382320" cy="288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0" name="Image 11" descr="preencoded.png"/>
          <p:cNvPicPr/>
          <p:nvPr/>
        </p:nvPicPr>
        <p:blipFill>
          <a:blip r:embed="rId9"/>
          <a:stretch/>
        </p:blipFill>
        <p:spPr>
          <a:xfrm>
            <a:off x="5270040" y="2634840"/>
            <a:ext cx="382320" cy="2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1" name="Text 13"/>
          <p:cNvSpPr/>
          <p:nvPr/>
        </p:nvSpPr>
        <p:spPr>
          <a:xfrm>
            <a:off x="4717800" y="2306520"/>
            <a:ext cx="916920" cy="2484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250"/>
              </a:lnSpc>
            </a:pPr>
            <a:r>
              <a:rPr lang="ko-KR" sz="116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내부 협업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3"/>
          <p:cNvSpPr/>
          <p:nvPr/>
        </p:nvSpPr>
        <p:spPr>
          <a:xfrm>
            <a:off x="7565760" y="2297520"/>
            <a:ext cx="1173960" cy="2484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250"/>
              </a:lnSpc>
            </a:pPr>
            <a:r>
              <a:rPr lang="ko-KR" sz="116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외부 고객 소통</a:t>
            </a:r>
            <a:endParaRPr lang="en-US" sz="11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3" name="Image 11" descr="preencoded.png"/>
          <p:cNvPicPr/>
          <p:nvPr/>
        </p:nvPicPr>
        <p:blipFill>
          <a:blip r:embed="rId9"/>
          <a:stretch/>
        </p:blipFill>
        <p:spPr>
          <a:xfrm>
            <a:off x="7654680" y="2634840"/>
            <a:ext cx="382320" cy="288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TextBox 212"/>
          <p:cNvSpPr/>
          <p:nvPr/>
        </p:nvSpPr>
        <p:spPr>
          <a:xfrm>
            <a:off x="8066520" y="2573280"/>
            <a:ext cx="86184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📱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Arrow: Left-Right 215"/>
          <p:cNvSpPr/>
          <p:nvPr/>
        </p:nvSpPr>
        <p:spPr>
          <a:xfrm>
            <a:off x="8071920" y="2678400"/>
            <a:ext cx="291960" cy="191520"/>
          </a:xfrm>
          <a:prstGeom prst="leftRightArrow">
            <a:avLst>
              <a:gd name="adj1" fmla="val 50000"/>
              <a:gd name="adj2" fmla="val 50000"/>
            </a:avLst>
          </a:prstGeom>
          <a:solidFill>
            <a:srgbClr val="005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416" name="TextBox 72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 dirty="0">
                <a:solidFill>
                  <a:srgbClr val="0056FB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7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1"/>
          <p:cNvSpPr/>
          <p:nvPr/>
        </p:nvSpPr>
        <p:spPr>
          <a:xfrm>
            <a:off x="333000" y="2381400"/>
            <a:ext cx="11377800" cy="4246920"/>
          </a:xfrm>
          <a:prstGeom prst="rect">
            <a:avLst/>
          </a:prstGeom>
          <a:solidFill>
            <a:srgbClr val="F5F6F8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Shape 2"/>
          <p:cNvSpPr/>
          <p:nvPr/>
        </p:nvSpPr>
        <p:spPr>
          <a:xfrm>
            <a:off x="506880" y="4766040"/>
            <a:ext cx="6572160" cy="1761840"/>
          </a:xfrm>
          <a:prstGeom prst="rect">
            <a:avLst/>
          </a:prstGeom>
          <a:solidFill>
            <a:srgbClr val="FCFCFC"/>
          </a:solidFill>
          <a:ln w="38100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0" name="Shape 3"/>
          <p:cNvSpPr/>
          <p:nvPr/>
        </p:nvSpPr>
        <p:spPr>
          <a:xfrm>
            <a:off x="5651280" y="5467680"/>
            <a:ext cx="54720" cy="979200"/>
          </a:xfrm>
          <a:prstGeom prst="rect">
            <a:avLst/>
          </a:prstGeom>
          <a:solidFill>
            <a:srgbClr val="F8F9F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4"/>
          <p:cNvSpPr/>
          <p:nvPr/>
        </p:nvSpPr>
        <p:spPr>
          <a:xfrm>
            <a:off x="4177800" y="5458680"/>
            <a:ext cx="45360" cy="988200"/>
          </a:xfrm>
          <a:prstGeom prst="rect">
            <a:avLst/>
          </a:prstGeom>
          <a:solidFill>
            <a:srgbClr val="F9F9F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5"/>
          <p:cNvSpPr/>
          <p:nvPr/>
        </p:nvSpPr>
        <p:spPr>
          <a:xfrm>
            <a:off x="2868480" y="5449320"/>
            <a:ext cx="45360" cy="988200"/>
          </a:xfrm>
          <a:prstGeom prst="rect">
            <a:avLst/>
          </a:prstGeom>
          <a:solidFill>
            <a:srgbClr val="F7F8F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3" name="Image 0" descr="preencoded.png"/>
          <p:cNvPicPr/>
          <p:nvPr/>
        </p:nvPicPr>
        <p:blipFill>
          <a:blip r:embed="rId3"/>
          <a:stretch/>
        </p:blipFill>
        <p:spPr>
          <a:xfrm>
            <a:off x="1815840" y="5449320"/>
            <a:ext cx="45360" cy="99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Image 1" descr="preencoded.png"/>
          <p:cNvPicPr/>
          <p:nvPr/>
        </p:nvPicPr>
        <p:blipFill>
          <a:blip r:embed="rId4"/>
          <a:stretch/>
        </p:blipFill>
        <p:spPr>
          <a:xfrm>
            <a:off x="6420240" y="5184000"/>
            <a:ext cx="484920" cy="10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5" name="Image 2" descr="preencoded.png"/>
          <p:cNvPicPr/>
          <p:nvPr/>
        </p:nvPicPr>
        <p:blipFill>
          <a:blip r:embed="rId5"/>
          <a:stretch/>
        </p:blipFill>
        <p:spPr>
          <a:xfrm>
            <a:off x="6045120" y="5124600"/>
            <a:ext cx="30168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6" name="Text 6"/>
          <p:cNvSpPr/>
          <p:nvPr/>
        </p:nvSpPr>
        <p:spPr>
          <a:xfrm>
            <a:off x="6154920" y="5187600"/>
            <a:ext cx="100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077"/>
              </a:lnSpc>
            </a:pPr>
            <a:r>
              <a:rPr lang="en-US" sz="1050" b="1" u="none" strike="noStrike">
                <a:solidFill>
                  <a:srgbClr val="E08489"/>
                </a:solidFill>
                <a:effectLst/>
                <a:uFillTx/>
                <a:latin typeface="페이퍼로지 5 Medium"/>
                <a:ea typeface="페이퍼로지 5 Medium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Image 3" descr="preencoded.png"/>
          <p:cNvPicPr/>
          <p:nvPr/>
        </p:nvPicPr>
        <p:blipFill>
          <a:blip r:embed="rId6"/>
          <a:stretch/>
        </p:blipFill>
        <p:spPr>
          <a:xfrm>
            <a:off x="5047200" y="5188680"/>
            <a:ext cx="887400" cy="1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8" name="Image 4" descr="preencoded.png"/>
          <p:cNvPicPr/>
          <p:nvPr/>
        </p:nvPicPr>
        <p:blipFill>
          <a:blip r:embed="rId7"/>
          <a:stretch/>
        </p:blipFill>
        <p:spPr>
          <a:xfrm>
            <a:off x="4690080" y="5124600"/>
            <a:ext cx="29268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9" name="Image 5" descr="preencoded.png"/>
          <p:cNvPicPr/>
          <p:nvPr/>
        </p:nvPicPr>
        <p:blipFill>
          <a:blip r:embed="rId8"/>
          <a:stretch/>
        </p:blipFill>
        <p:spPr>
          <a:xfrm>
            <a:off x="4360680" y="5188680"/>
            <a:ext cx="283320" cy="1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Image 6" descr="preencoded.png"/>
          <p:cNvPicPr/>
          <p:nvPr/>
        </p:nvPicPr>
        <p:blipFill>
          <a:blip r:embed="rId9"/>
          <a:stretch/>
        </p:blipFill>
        <p:spPr>
          <a:xfrm>
            <a:off x="4077000" y="5138280"/>
            <a:ext cx="255960" cy="2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Image 7" descr="preencoded.png"/>
          <p:cNvPicPr/>
          <p:nvPr/>
        </p:nvPicPr>
        <p:blipFill>
          <a:blip r:embed="rId10"/>
          <a:stretch/>
        </p:blipFill>
        <p:spPr>
          <a:xfrm>
            <a:off x="4186800" y="5179320"/>
            <a:ext cx="36360" cy="11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2" name="Image 8" descr="preencoded.png"/>
          <p:cNvPicPr/>
          <p:nvPr/>
        </p:nvPicPr>
        <p:blipFill>
          <a:blip r:embed="rId11"/>
          <a:stretch/>
        </p:blipFill>
        <p:spPr>
          <a:xfrm>
            <a:off x="3445200" y="5188680"/>
            <a:ext cx="613080" cy="1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Image 9" descr="preencoded.png"/>
          <p:cNvPicPr/>
          <p:nvPr/>
        </p:nvPicPr>
        <p:blipFill>
          <a:blip r:embed="rId12"/>
          <a:stretch/>
        </p:blipFill>
        <p:spPr>
          <a:xfrm>
            <a:off x="3948840" y="5229720"/>
            <a:ext cx="100440" cy="18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4" name="Image 10" descr="preencoded.png"/>
          <p:cNvPicPr/>
          <p:nvPr/>
        </p:nvPicPr>
        <p:blipFill>
          <a:blip r:embed="rId13"/>
          <a:stretch/>
        </p:blipFill>
        <p:spPr>
          <a:xfrm>
            <a:off x="3088440" y="5124600"/>
            <a:ext cx="30168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5" name="Text 7"/>
          <p:cNvSpPr/>
          <p:nvPr/>
        </p:nvSpPr>
        <p:spPr>
          <a:xfrm>
            <a:off x="3198240" y="5187600"/>
            <a:ext cx="1004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077"/>
              </a:lnSpc>
            </a:pPr>
            <a:r>
              <a:rPr lang="en-US" sz="1050" b="0" u="none" strike="noStrike">
                <a:solidFill>
                  <a:srgbClr val="AEB8C3"/>
                </a:solidFill>
                <a:effectLst/>
                <a:uFillTx/>
                <a:latin typeface="페이퍼로지 5 Medium"/>
                <a:ea typeface="페이퍼로지 5 Medium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6" name="Image 11" descr="preencoded.png"/>
          <p:cNvPicPr/>
          <p:nvPr/>
        </p:nvPicPr>
        <p:blipFill>
          <a:blip r:embed="rId14"/>
          <a:stretch/>
        </p:blipFill>
        <p:spPr>
          <a:xfrm>
            <a:off x="2392560" y="5188680"/>
            <a:ext cx="613080" cy="100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7" name="Image 12" descr="preencoded.png"/>
          <p:cNvPicPr/>
          <p:nvPr/>
        </p:nvPicPr>
        <p:blipFill>
          <a:blip r:embed="rId15"/>
          <a:stretch/>
        </p:blipFill>
        <p:spPr>
          <a:xfrm>
            <a:off x="1999080" y="5124600"/>
            <a:ext cx="301680" cy="228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8" name="Image 13" descr="preencoded.png"/>
          <p:cNvPicPr/>
          <p:nvPr/>
        </p:nvPicPr>
        <p:blipFill>
          <a:blip r:embed="rId16"/>
          <a:stretch/>
        </p:blipFill>
        <p:spPr>
          <a:xfrm>
            <a:off x="1092960" y="5193000"/>
            <a:ext cx="823320" cy="91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9" name="Image 14" descr="preencoded.png"/>
          <p:cNvPicPr/>
          <p:nvPr/>
        </p:nvPicPr>
        <p:blipFill>
          <a:blip r:embed="rId17"/>
          <a:stretch/>
        </p:blipFill>
        <p:spPr>
          <a:xfrm>
            <a:off x="699120" y="5124600"/>
            <a:ext cx="301680" cy="228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Text 8"/>
          <p:cNvSpPr/>
          <p:nvPr/>
        </p:nvSpPr>
        <p:spPr>
          <a:xfrm>
            <a:off x="818280" y="5191920"/>
            <a:ext cx="82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984"/>
              </a:lnSpc>
            </a:pPr>
            <a:r>
              <a:rPr lang="en-US" sz="1100" b="0" u="none" strike="noStrike">
                <a:solidFill>
                  <a:srgbClr val="A9B2BA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1" name="Text 9"/>
          <p:cNvSpPr/>
          <p:nvPr/>
        </p:nvSpPr>
        <p:spPr>
          <a:xfrm>
            <a:off x="5811840" y="5870520"/>
            <a:ext cx="1455120" cy="512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619"/>
              </a:lnSpc>
            </a:pPr>
            <a:r>
              <a:rPr lang="zh-CN" sz="1050" b="0" u="none" strike="noStrike">
                <a:solidFill>
                  <a:srgbClr val="A4A8AE"/>
                </a:solidFill>
                <a:effectLst/>
                <a:uFillTx/>
                <a:latin typeface="페이퍼로지 5 Medium"/>
                <a:ea typeface="페이퍼로지 5 Medium"/>
              </a:rPr>
              <a:t>다른 계좌로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19"/>
              </a:lnSpc>
            </a:pPr>
            <a:r>
              <a:rPr lang="zh-CN" sz="1050" b="0" u="none" strike="noStrike">
                <a:solidFill>
                  <a:srgbClr val="A4A8AE"/>
                </a:solidFill>
                <a:effectLst/>
                <a:uFillTx/>
                <a:latin typeface="페이퍼로지 5 Medium"/>
                <a:ea typeface="페이퍼로지 5 Medium"/>
              </a:rPr>
              <a:t>추가 송금이 이어져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19"/>
              </a:lnSpc>
            </a:pPr>
            <a:r>
              <a:rPr lang="zh-CN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총 </a:t>
            </a:r>
            <a:r>
              <a:rPr lang="en-US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15</a:t>
            </a:r>
            <a:r>
              <a:rPr lang="zh-CN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억 </a:t>
            </a:r>
            <a:r>
              <a:rPr lang="en-US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6</a:t>
            </a:r>
            <a:r>
              <a:rPr lang="zh-CN" sz="105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천만원 피해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0"/>
          <p:cNvSpPr/>
          <p:nvPr/>
        </p:nvSpPr>
        <p:spPr>
          <a:xfrm>
            <a:off x="2026440" y="5861160"/>
            <a:ext cx="750240" cy="33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684"/>
              </a:lnSpc>
            </a:pPr>
            <a:r>
              <a:rPr lang="en-US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“주식 투자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684"/>
              </a:lnSpc>
            </a:pPr>
            <a:r>
              <a:rPr lang="zh-CN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목적입니다</a:t>
            </a:r>
            <a:r>
              <a:rPr lang="en-US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.”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11"/>
          <p:cNvSpPr/>
          <p:nvPr/>
        </p:nvSpPr>
        <p:spPr>
          <a:xfrm>
            <a:off x="5743800" y="5632560"/>
            <a:ext cx="622080" cy="164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100" b="0" u="none" strike="noStrike">
                <a:solidFill>
                  <a:srgbClr val="69707C"/>
                </a:solidFill>
                <a:effectLst/>
                <a:uFillTx/>
                <a:latin typeface="페이퍼로지 5 Medium"/>
                <a:ea typeface="페이퍼로지 5 Medium"/>
              </a:rPr>
              <a:t>추가 송금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12"/>
          <p:cNvSpPr/>
          <p:nvPr/>
        </p:nvSpPr>
        <p:spPr>
          <a:xfrm>
            <a:off x="4388040" y="5861160"/>
            <a:ext cx="1391040" cy="375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715"/>
              </a:lnSpc>
            </a:pPr>
            <a:r>
              <a:rPr lang="zh-CN" sz="1000" b="0" u="none" strike="noStrike">
                <a:solidFill>
                  <a:srgbClr val="A7ABB1"/>
                </a:solidFill>
                <a:effectLst/>
                <a:uFillTx/>
                <a:latin typeface="페이퍼로지 5 Medium"/>
                <a:ea typeface="페이퍼로지 5 Medium"/>
              </a:rPr>
              <a:t>추가 이체된 계좌가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715"/>
              </a:lnSpc>
            </a:pPr>
            <a:r>
              <a:rPr lang="zh-CN" sz="1000" b="0" u="none" strike="noStrike">
                <a:solidFill>
                  <a:srgbClr val="A7ABB1"/>
                </a:solidFill>
                <a:effectLst/>
                <a:uFillTx/>
                <a:latin typeface="페이퍼로지 5 Medium"/>
                <a:ea typeface="페이퍼로지 5 Medium"/>
              </a:rPr>
              <a:t>의심계좌</a:t>
            </a:r>
            <a:r>
              <a:rPr lang="ko-KR" sz="1000" b="0" u="none" strike="noStrike">
                <a:solidFill>
                  <a:srgbClr val="A7ABB1"/>
                </a:solidFill>
                <a:effectLst/>
                <a:uFillTx/>
                <a:latin typeface="페이퍼로지 5 Medium"/>
                <a:ea typeface="페이퍼로지 5 Medium"/>
              </a:rPr>
              <a:t>로 추가 확인됨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13"/>
          <p:cNvSpPr/>
          <p:nvPr/>
        </p:nvSpPr>
        <p:spPr>
          <a:xfrm>
            <a:off x="4379760" y="5623200"/>
            <a:ext cx="91512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100" b="0" u="none" strike="noStrike">
                <a:solidFill>
                  <a:srgbClr val="6E7582"/>
                </a:solidFill>
                <a:effectLst/>
                <a:uFillTx/>
                <a:latin typeface="페이퍼로지 5 Medium"/>
                <a:ea typeface="페이퍼로지 5 Medium"/>
              </a:rPr>
              <a:t>의심계좌확인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Text 14"/>
          <p:cNvSpPr/>
          <p:nvPr/>
        </p:nvSpPr>
        <p:spPr>
          <a:xfrm>
            <a:off x="2026440" y="5623200"/>
            <a:ext cx="6130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050" b="0" u="none" strike="noStrike">
                <a:solidFill>
                  <a:srgbClr val="666E7C"/>
                </a:solidFill>
                <a:effectLst/>
                <a:uFillTx/>
                <a:latin typeface="페이퍼로지 5 Medium"/>
                <a:ea typeface="페이퍼로지 5 Medium"/>
              </a:rPr>
              <a:t>고객설명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7" name="Text 15"/>
          <p:cNvSpPr/>
          <p:nvPr/>
        </p:nvSpPr>
        <p:spPr>
          <a:xfrm>
            <a:off x="4375080" y="5440320"/>
            <a:ext cx="5396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62"/>
              </a:lnSpc>
            </a:pPr>
            <a:r>
              <a:rPr lang="en-US" sz="1100" b="0" u="none" strike="noStrike">
                <a:solidFill>
                  <a:srgbClr val="BD9BA1"/>
                </a:solidFill>
                <a:effectLst/>
                <a:uFillTx/>
                <a:latin typeface="페이퍼로지 5 Medium"/>
                <a:ea typeface="페이퍼로지 5 Medium"/>
              </a:rPr>
              <a:t>2/21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16"/>
          <p:cNvSpPr/>
          <p:nvPr/>
        </p:nvSpPr>
        <p:spPr>
          <a:xfrm>
            <a:off x="3044520" y="5861160"/>
            <a:ext cx="1075680" cy="34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576"/>
              </a:lnSpc>
            </a:pPr>
            <a:r>
              <a:rPr lang="ko-KR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고객의 말을 신뢰하고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576"/>
              </a:lnSpc>
            </a:pPr>
            <a:r>
              <a:rPr lang="ko-KR" sz="10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거래 제한 해제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17"/>
          <p:cNvSpPr/>
          <p:nvPr/>
        </p:nvSpPr>
        <p:spPr>
          <a:xfrm>
            <a:off x="3106800" y="5623200"/>
            <a:ext cx="63108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100" b="0" u="none" strike="noStrike">
                <a:solidFill>
                  <a:srgbClr val="68707D"/>
                </a:solidFill>
                <a:effectLst/>
                <a:uFillTx/>
                <a:latin typeface="페이퍼로지 5 Medium"/>
                <a:ea typeface="페이퍼로지 5 Medium"/>
              </a:rPr>
              <a:t>조치 해제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18"/>
          <p:cNvSpPr/>
          <p:nvPr/>
        </p:nvSpPr>
        <p:spPr>
          <a:xfrm>
            <a:off x="5743800" y="5440320"/>
            <a:ext cx="7686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050" b="0" u="none" strike="noStrike">
                <a:solidFill>
                  <a:srgbClr val="C59BA0"/>
                </a:solidFill>
                <a:effectLst/>
                <a:uFillTx/>
                <a:latin typeface="페이퍼로지 5 Medium"/>
                <a:ea typeface="페이퍼로지 5 Medium"/>
              </a:rPr>
              <a:t>2/21~2/23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19"/>
          <p:cNvSpPr/>
          <p:nvPr/>
        </p:nvSpPr>
        <p:spPr>
          <a:xfrm>
            <a:off x="3106800" y="5440320"/>
            <a:ext cx="103176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100" b="0" u="none" strike="noStrike">
                <a:solidFill>
                  <a:srgbClr val="9A9CA1"/>
                </a:solidFill>
                <a:effectLst/>
                <a:uFillTx/>
                <a:latin typeface="페이퍼로지 5 Medium"/>
                <a:ea typeface="페이퍼로지 5 Medium"/>
              </a:rPr>
              <a:t>2/20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20"/>
          <p:cNvSpPr/>
          <p:nvPr/>
        </p:nvSpPr>
        <p:spPr>
          <a:xfrm>
            <a:off x="680760" y="5623200"/>
            <a:ext cx="905760" cy="173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372"/>
              </a:lnSpc>
            </a:pPr>
            <a:r>
              <a:rPr lang="zh-CN" sz="1050" b="1" u="none" strike="noStrike">
                <a:solidFill>
                  <a:srgbClr val="6C7380"/>
                </a:solidFill>
                <a:effectLst/>
                <a:uFillTx/>
                <a:latin typeface="페이퍼로지 5 Medium"/>
                <a:ea typeface="페이퍼로지 5 Medium"/>
              </a:rPr>
              <a:t>이상거래 감지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21"/>
          <p:cNvSpPr/>
          <p:nvPr/>
        </p:nvSpPr>
        <p:spPr>
          <a:xfrm>
            <a:off x="2026440" y="5440320"/>
            <a:ext cx="103176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100" b="0" u="none" strike="noStrike">
                <a:solidFill>
                  <a:srgbClr val="989B9F"/>
                </a:solidFill>
                <a:effectLst/>
                <a:uFillTx/>
                <a:latin typeface="페이퍼로지 5 Medium"/>
                <a:ea typeface="페이퍼로지 5 Medium"/>
              </a:rPr>
              <a:t>2/20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22"/>
          <p:cNvSpPr/>
          <p:nvPr/>
        </p:nvSpPr>
        <p:spPr>
          <a:xfrm>
            <a:off x="671760" y="5861160"/>
            <a:ext cx="1116360" cy="32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480"/>
              </a:lnSpc>
            </a:pPr>
            <a:r>
              <a:rPr lang="zh-CN" sz="1000" b="0" u="none" strike="noStrike">
                <a:solidFill>
                  <a:srgbClr val="ACB0B6"/>
                </a:solidFill>
                <a:effectLst/>
                <a:uFillTx/>
                <a:latin typeface="페이퍼로지 5 Medium"/>
                <a:ea typeface="페이퍼로지 5 Medium"/>
              </a:rPr>
              <a:t>고액 이체가 탐지되어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80"/>
              </a:lnSpc>
            </a:pPr>
            <a:r>
              <a:rPr lang="zh-CN" sz="1000" b="0" u="none" strike="noStrike">
                <a:solidFill>
                  <a:srgbClr val="ACB0B6"/>
                </a:solidFill>
                <a:effectLst/>
                <a:uFillTx/>
                <a:latin typeface="페이퍼로지 5 Medium"/>
                <a:ea typeface="페이퍼로지 5 Medium"/>
              </a:rPr>
              <a:t>거래 제한 조치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23"/>
          <p:cNvSpPr/>
          <p:nvPr/>
        </p:nvSpPr>
        <p:spPr>
          <a:xfrm>
            <a:off x="680760" y="5440320"/>
            <a:ext cx="103176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176"/>
              </a:lnSpc>
            </a:pPr>
            <a:r>
              <a:rPr lang="en-US" sz="1100" b="0" u="none" strike="noStrike">
                <a:solidFill>
                  <a:srgbClr val="9D9FA4"/>
                </a:solidFill>
                <a:effectLst/>
                <a:uFillTx/>
                <a:latin typeface="페이퍼로지 5 Medium"/>
                <a:ea typeface="페이퍼로지 5 Medium"/>
              </a:rPr>
              <a:t>2/20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4"/>
          <p:cNvSpPr/>
          <p:nvPr/>
        </p:nvSpPr>
        <p:spPr>
          <a:xfrm>
            <a:off x="4790880" y="5191920"/>
            <a:ext cx="10044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981"/>
              </a:lnSpc>
            </a:pPr>
            <a:r>
              <a:rPr lang="en-US" sz="1050" b="1" u="none" strike="noStrike">
                <a:solidFill>
                  <a:srgbClr val="DF8F92"/>
                </a:solidFill>
                <a:effectLst/>
                <a:uFillTx/>
                <a:latin typeface="페이퍼로지 5 Medium"/>
                <a:ea typeface="페이퍼로지 5 Medium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25"/>
          <p:cNvSpPr/>
          <p:nvPr/>
        </p:nvSpPr>
        <p:spPr>
          <a:xfrm>
            <a:off x="2108880" y="5191920"/>
            <a:ext cx="91080" cy="127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077"/>
              </a:lnSpc>
            </a:pPr>
            <a:r>
              <a:rPr lang="en-US" sz="1050" b="0" u="none" strike="noStrike">
                <a:solidFill>
                  <a:srgbClr val="ACB6C1"/>
                </a:solidFill>
                <a:effectLst/>
                <a:uFillTx/>
                <a:latin typeface="페이퍼로지 5 Medium"/>
                <a:ea typeface="페이퍼로지 5 Medium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 26"/>
          <p:cNvSpPr/>
          <p:nvPr/>
        </p:nvSpPr>
        <p:spPr>
          <a:xfrm>
            <a:off x="671760" y="4863600"/>
            <a:ext cx="1308600" cy="18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471"/>
              </a:lnSpc>
            </a:pPr>
            <a:r>
              <a:rPr lang="zh-CN" sz="1100" b="0" u="none" strike="noStrike">
                <a:solidFill>
                  <a:srgbClr val="6F7682"/>
                </a:solidFill>
                <a:effectLst/>
                <a:uFillTx/>
                <a:latin typeface="페이퍼로지 5 Medium"/>
                <a:ea typeface="페이퍼로지 5 Medium"/>
              </a:rPr>
              <a:t>사건 진행 타임라인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9" name="Image 15" descr="preencoded.png"/>
          <p:cNvPicPr/>
          <p:nvPr/>
        </p:nvPicPr>
        <p:blipFill>
          <a:blip r:embed="rId18"/>
          <a:stretch/>
        </p:blipFill>
        <p:spPr>
          <a:xfrm>
            <a:off x="4955760" y="2537280"/>
            <a:ext cx="6572160" cy="2132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0" name="Shape 27"/>
          <p:cNvSpPr/>
          <p:nvPr/>
        </p:nvSpPr>
        <p:spPr>
          <a:xfrm>
            <a:off x="488520" y="2765880"/>
            <a:ext cx="4457520" cy="1903680"/>
          </a:xfrm>
          <a:prstGeom prst="roundRect">
            <a:avLst>
              <a:gd name="adj" fmla="val 1886"/>
            </a:avLst>
          </a:prstGeom>
          <a:solidFill>
            <a:srgbClr val="FCFCFC"/>
          </a:solidFill>
          <a:ln w="19050">
            <a:solidFill>
              <a:srgbClr val="F6F7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28"/>
          <p:cNvSpPr/>
          <p:nvPr/>
        </p:nvSpPr>
        <p:spPr>
          <a:xfrm>
            <a:off x="7125120" y="4669560"/>
            <a:ext cx="4256280" cy="1858320"/>
          </a:xfrm>
          <a:prstGeom prst="rect">
            <a:avLst/>
          </a:prstGeom>
          <a:solidFill>
            <a:srgbClr val="FAEFEF"/>
          </a:solidFill>
          <a:ln w="28575">
            <a:solidFill>
              <a:srgbClr val="FAF8F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2" name="Image 16" descr="preencoded.png"/>
          <p:cNvPicPr/>
          <p:nvPr/>
        </p:nvPicPr>
        <p:blipFill>
          <a:blip r:embed="rId19"/>
          <a:stretch/>
        </p:blipFill>
        <p:spPr>
          <a:xfrm>
            <a:off x="7390800" y="5180760"/>
            <a:ext cx="338400" cy="27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Text 29"/>
          <p:cNvSpPr/>
          <p:nvPr/>
        </p:nvSpPr>
        <p:spPr>
          <a:xfrm>
            <a:off x="7921440" y="5069880"/>
            <a:ext cx="3450600" cy="1124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2154"/>
              </a:lnSpc>
            </a:pPr>
            <a:r>
              <a:rPr lang="en-US" sz="1200" b="1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[ </a:t>
            </a:r>
            <a:r>
              <a:rPr lang="zh-CN" sz="1200" b="1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시사점 </a:t>
            </a:r>
            <a:r>
              <a:rPr lang="en-US" sz="1200" b="1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]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54"/>
              </a:lnSpc>
            </a:pPr>
            <a:r>
              <a:rPr lang="ko-KR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탐지만으로 보이스피싱 피해가 막아지는  게 아니다</a:t>
            </a:r>
            <a:r>
              <a:rPr lang="en-US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!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54"/>
              </a:lnSpc>
            </a:pPr>
            <a:r>
              <a:rPr lang="ko-KR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중요한 것은</a:t>
            </a:r>
            <a:r>
              <a:rPr lang="en-US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 dirty="0">
                <a:solidFill>
                  <a:srgbClr val="C76C73"/>
                </a:solidFill>
                <a:effectLst/>
                <a:uFillTx/>
                <a:latin typeface="페이퍼로지 5 Medium"/>
                <a:ea typeface="페이퍼로지 5 Medium"/>
              </a:rPr>
              <a:t>탐지 이후 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은행 직원의 올바른 대응이다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154"/>
              </a:lnSpc>
            </a:pPr>
            <a:r>
              <a:rPr lang="ko-KR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그리고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올바른 대응은 ‘정보의 질과 양에서 결정된다</a:t>
            </a:r>
            <a:r>
              <a:rPr lang="en-US" sz="1200" b="0" u="none" strike="noStrike" dirty="0">
                <a:solidFill>
                  <a:schemeClr val="lt1"/>
                </a:solidFill>
                <a:effectLst/>
                <a:highlight>
                  <a:srgbClr val="800000"/>
                </a:highlight>
                <a:uFillTx/>
                <a:latin typeface="페이퍼로지 5 Medium"/>
                <a:ea typeface="페이퍼로지 5 Medium"/>
              </a:rPr>
              <a:t>!’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4" name="Image 21" descr="preencoded.png"/>
          <p:cNvPicPr/>
          <p:nvPr/>
        </p:nvPicPr>
        <p:blipFill>
          <a:blip r:embed="rId20"/>
          <a:stretch/>
        </p:blipFill>
        <p:spPr>
          <a:xfrm>
            <a:off x="630720" y="3341520"/>
            <a:ext cx="4082400" cy="6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5" name="Image 22" descr="preencoded.png"/>
          <p:cNvPicPr/>
          <p:nvPr/>
        </p:nvPicPr>
        <p:blipFill>
          <a:blip r:embed="rId21"/>
          <a:stretch/>
        </p:blipFill>
        <p:spPr>
          <a:xfrm>
            <a:off x="506880" y="2537280"/>
            <a:ext cx="4439160" cy="23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6" name="Text 39"/>
          <p:cNvSpPr/>
          <p:nvPr/>
        </p:nvSpPr>
        <p:spPr>
          <a:xfrm>
            <a:off x="699120" y="3533760"/>
            <a:ext cx="4082400" cy="80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964"/>
              </a:lnSpc>
            </a:pPr>
            <a:r>
              <a:rPr lang="zh-CN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은행이 이상거래를 탐지해 첫 거래를 제한했지만</a:t>
            </a:r>
            <a:r>
              <a:rPr lang="en-US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64"/>
              </a:lnSpc>
            </a:pP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고객이 </a:t>
            </a:r>
            <a:r>
              <a:rPr lang="en-US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'</a:t>
            </a: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주식 투자 목적</a:t>
            </a:r>
            <a:r>
              <a:rPr lang="en-US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'</a:t>
            </a: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이라고 설명하자 조치를 해제</a:t>
            </a:r>
            <a:r>
              <a:rPr lang="zh-CN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했다</a:t>
            </a:r>
            <a:r>
              <a:rPr lang="en-US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64"/>
              </a:lnSpc>
            </a:pPr>
            <a:r>
              <a:rPr lang="zh-CN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이후 다른 계좌로 추가 송금이 이어지면서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964"/>
              </a:lnSpc>
            </a:pP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총 </a:t>
            </a:r>
            <a:r>
              <a:rPr lang="en-US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15</a:t>
            </a: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억 </a:t>
            </a:r>
            <a:r>
              <a:rPr lang="en-US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6</a:t>
            </a:r>
            <a:r>
              <a:rPr lang="zh-CN" sz="12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천만원의 피해가 발생</a:t>
            </a:r>
            <a:r>
              <a:rPr lang="zh-CN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했다</a:t>
            </a:r>
            <a:r>
              <a:rPr lang="en-US" sz="1200" b="0" u="none" strike="noStrike">
                <a:solidFill>
                  <a:srgbClr val="9A9EA5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40"/>
          <p:cNvSpPr/>
          <p:nvPr/>
        </p:nvSpPr>
        <p:spPr>
          <a:xfrm>
            <a:off x="708480" y="2763360"/>
            <a:ext cx="3587760" cy="576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2871"/>
              </a:lnSpc>
            </a:pPr>
            <a:r>
              <a:rPr lang="zh-CN" sz="1600" b="1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탐지 이후에도 사흘간 추가 송금</a:t>
            </a:r>
            <a:r>
              <a:rPr lang="en-US" sz="1600" b="1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r>
              <a:rPr lang="en-US" sz="1600" b="0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600" b="1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15</a:t>
            </a:r>
            <a:r>
              <a:rPr lang="zh-CN" sz="1600" b="1" u="none" strike="noStrike">
                <a:solidFill>
                  <a:srgbClr val="C00000"/>
                </a:solidFill>
                <a:effectLst/>
                <a:uFillTx/>
                <a:latin typeface="페이퍼로지 5 Medium"/>
                <a:ea typeface="페이퍼로지 5 Medium"/>
              </a:rPr>
              <a:t>억피해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41"/>
          <p:cNvSpPr/>
          <p:nvPr/>
        </p:nvSpPr>
        <p:spPr>
          <a:xfrm>
            <a:off x="1239120" y="2615040"/>
            <a:ext cx="92412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077"/>
              </a:lnSpc>
            </a:pPr>
            <a:r>
              <a:rPr lang="en-US" sz="11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2026.02.23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9" name="Text 42"/>
          <p:cNvSpPr/>
          <p:nvPr/>
        </p:nvSpPr>
        <p:spPr>
          <a:xfrm>
            <a:off x="1092960" y="2624040"/>
            <a:ext cx="45360" cy="146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1165"/>
              </a:lnSpc>
            </a:pPr>
            <a:r>
              <a:rPr lang="en-US" sz="12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43"/>
          <p:cNvSpPr/>
          <p:nvPr/>
        </p:nvSpPr>
        <p:spPr>
          <a:xfrm>
            <a:off x="662760" y="2606400"/>
            <a:ext cx="33840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1077"/>
              </a:lnSpc>
            </a:pPr>
            <a:r>
              <a:rPr lang="en-US" sz="105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YTN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48"/>
          <p:cNvSpPr/>
          <p:nvPr/>
        </p:nvSpPr>
        <p:spPr>
          <a:xfrm>
            <a:off x="376200" y="1493640"/>
            <a:ext cx="11679120" cy="887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ts val="2452"/>
              </a:lnSpc>
            </a:pPr>
            <a:r>
              <a:rPr lang="ko-KR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현행 체계만으로는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…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이후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은행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직원이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사실관계를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확인하고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대응하기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어렵다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2452"/>
              </a:lnSpc>
            </a:pPr>
            <a:r>
              <a:rPr lang="ko-KR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고객이 혼란스럽거나 범죄자를 신뢰하여 행원을 속인다면… 골든타임 이내에 올바른 조치가 수행될 수 없다</a:t>
            </a: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49"/>
          <p:cNvSpPr/>
          <p:nvPr/>
        </p:nvSpPr>
        <p:spPr>
          <a:xfrm>
            <a:off x="333000" y="492480"/>
            <a:ext cx="8832960" cy="871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00" b="1" u="none" strike="noStrike">
                <a:solidFill>
                  <a:srgbClr val="283B4F"/>
                </a:solidFill>
                <a:effectLst/>
                <a:uFillTx/>
                <a:latin typeface="페이퍼로지 5 Medium"/>
                <a:ea typeface="페이퍼로지 5 Medium"/>
              </a:rPr>
              <a:t>보이스피싱 성공적 탐지</a:t>
            </a:r>
            <a:r>
              <a:rPr lang="en-US" sz="2800" b="1" u="none" strike="noStrike">
                <a:solidFill>
                  <a:srgbClr val="283B4F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2800" b="1" u="none" strike="noStrike">
                <a:solidFill>
                  <a:srgbClr val="C5313C"/>
                </a:solidFill>
                <a:effectLst/>
                <a:uFillTx/>
                <a:latin typeface="페이퍼로지 5 Medium"/>
                <a:ea typeface="페이퍼로지 5 Medium"/>
              </a:rPr>
              <a:t>이후 대응은 실패…</a:t>
            </a:r>
            <a:br>
              <a:rPr sz="2800"/>
            </a:br>
            <a:r>
              <a:rPr lang="ko-KR" sz="2800" b="1" u="none" strike="noStrike">
                <a:solidFill>
                  <a:srgbClr val="C5313C"/>
                </a:solidFill>
                <a:effectLst/>
                <a:uFillTx/>
                <a:latin typeface="페이퍼로지 5 Medium"/>
                <a:ea typeface="페이퍼로지 5 Medium"/>
              </a:rPr>
              <a:t>피해 발생 구멍은 탐지 이후의 대응 과정</a:t>
            </a:r>
            <a:r>
              <a:rPr lang="ko-KR" sz="2800" b="0" u="none" strike="noStrike">
                <a:solidFill>
                  <a:srgbClr val="91969E"/>
                </a:solidFill>
                <a:effectLst/>
                <a:uFillTx/>
                <a:latin typeface="페이퍼로지 5 Medium"/>
                <a:ea typeface="페이퍼로지 5 Medium"/>
              </a:rPr>
              <a:t>에 있는 게 아닐까</a:t>
            </a:r>
            <a:r>
              <a:rPr lang="en-US" sz="2800" b="0" u="none" strike="noStrike">
                <a:solidFill>
                  <a:srgbClr val="91969E"/>
                </a:solidFill>
                <a:effectLst/>
                <a:uFillTx/>
                <a:latin typeface="페이퍼로지 5 Medium"/>
                <a:ea typeface="페이퍼로지 5 Medium"/>
              </a:rPr>
              <a:t>?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3" name="Group 131"/>
          <p:cNvGrpSpPr/>
          <p:nvPr/>
        </p:nvGrpSpPr>
        <p:grpSpPr>
          <a:xfrm>
            <a:off x="8958240" y="1303002"/>
            <a:ext cx="2569680" cy="637920"/>
            <a:chOff x="9141480" y="663120"/>
            <a:chExt cx="2569680" cy="637920"/>
          </a:xfrm>
        </p:grpSpPr>
        <p:grpSp>
          <p:nvGrpSpPr>
            <p:cNvPr id="474" name="Group 129"/>
            <p:cNvGrpSpPr/>
            <p:nvPr/>
          </p:nvGrpSpPr>
          <p:grpSpPr>
            <a:xfrm>
              <a:off x="9722880" y="663120"/>
              <a:ext cx="1988280" cy="637920"/>
              <a:chOff x="9722880" y="663120"/>
              <a:chExt cx="1988280" cy="637920"/>
            </a:xfrm>
          </p:grpSpPr>
          <p:pic>
            <p:nvPicPr>
              <p:cNvPr id="475" name="Image 11" descr="preencoded.png"/>
              <p:cNvPicPr/>
              <p:nvPr/>
            </p:nvPicPr>
            <p:blipFill>
              <a:blip r:embed="rId22"/>
              <a:stretch/>
            </p:blipFill>
            <p:spPr>
              <a:xfrm>
                <a:off x="10869120" y="663120"/>
                <a:ext cx="842040" cy="6346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476" name="Rectangle: Rounded Corners 127"/>
              <p:cNvSpPr/>
              <p:nvPr/>
            </p:nvSpPr>
            <p:spPr>
              <a:xfrm>
                <a:off x="9722880" y="666360"/>
                <a:ext cx="1228320" cy="634680"/>
              </a:xfrm>
              <a:prstGeom prst="roundRect">
                <a:avLst>
                  <a:gd name="adj" fmla="val 16667"/>
                </a:avLst>
              </a:prstGeom>
              <a:solidFill>
                <a:srgbClr val="10213D"/>
              </a:solidFill>
              <a:ln>
                <a:solidFill>
                  <a:srgbClr val="0F47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400" b="0" u="none" strike="noStrike" dirty="0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휴먼 에러</a:t>
                </a:r>
                <a:endParaRPr lang="en-US" sz="14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400" b="0" u="none" strike="noStrike" dirty="0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발생 가능</a:t>
                </a:r>
                <a:endParaRPr lang="en-US" sz="14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77" name="Arrow: Right 130"/>
            <p:cNvSpPr/>
            <p:nvPr/>
          </p:nvSpPr>
          <p:spPr>
            <a:xfrm>
              <a:off x="9141480" y="897480"/>
              <a:ext cx="461880" cy="228600"/>
            </a:xfrm>
            <a:prstGeom prst="rightArrow">
              <a:avLst>
                <a:gd name="adj1" fmla="val 50000"/>
                <a:gd name="adj2" fmla="val 85249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478" name="TextBox 115"/>
          <p:cNvSpPr/>
          <p:nvPr/>
        </p:nvSpPr>
        <p:spPr>
          <a:xfrm>
            <a:off x="193320" y="90000"/>
            <a:ext cx="2556000" cy="295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50000"/>
              </a:lnSpc>
            </a:pPr>
            <a:r>
              <a:rPr lang="ko-KR" sz="1000" b="0" u="none" strike="noStrike">
                <a:solidFill>
                  <a:srgbClr val="0056FB"/>
                </a:solidFill>
                <a:effectLst/>
                <a:uFillTx/>
                <a:latin typeface="Noto Sans KR"/>
                <a:ea typeface="Noto Sans KR"/>
              </a:rPr>
              <a:t>기획 배경과 현행 체계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9" name="Integrated page number"/>
          <p:cNvSpPr/>
          <p:nvPr/>
        </p:nvSpPr>
        <p:spPr>
          <a:xfrm>
            <a:off x="11756880" y="650952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8">
            <a:extLst>
              <a:ext uri="{FF2B5EF4-FFF2-40B4-BE49-F238E27FC236}">
                <a16:creationId xmlns:a16="http://schemas.microsoft.com/office/drawing/2014/main" id="{45FD55AD-8C43-49B1-A888-AD83FBE5964C}"/>
              </a:ext>
            </a:extLst>
          </p:cNvPr>
          <p:cNvSpPr/>
          <p:nvPr/>
        </p:nvSpPr>
        <p:spPr>
          <a:xfrm>
            <a:off x="9069812" y="1786805"/>
            <a:ext cx="2952360" cy="4925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ts val="2452"/>
              </a:lnSpc>
            </a:pPr>
            <a:r>
              <a:rPr lang="ko-KR" altLang="en-US" sz="1000" b="0" u="none" strike="noStrike" dirty="0">
                <a:solidFill>
                  <a:srgbClr val="FF0000"/>
                </a:solidFill>
                <a:effectLst/>
                <a:uFillTx/>
                <a:latin typeface="페이퍼로지 5 Medium"/>
                <a:ea typeface="페이퍼로지 5 Medium"/>
              </a:rPr>
              <a:t>은행</a:t>
            </a:r>
            <a:r>
              <a:rPr lang="en-US" altLang="ko-KR" sz="1000" b="0" u="none" strike="noStrike" dirty="0">
                <a:solidFill>
                  <a:srgbClr val="FF0000"/>
                </a:solidFill>
                <a:effectLst/>
                <a:uFillTx/>
                <a:latin typeface="페이퍼로지 5 Medium"/>
                <a:ea typeface="페이퍼로지 5 Medium"/>
              </a:rPr>
              <a:t>30% </a:t>
            </a:r>
            <a:r>
              <a:rPr lang="ko-KR" altLang="en-US" sz="1000" b="0" u="none" strike="noStrike" dirty="0">
                <a:solidFill>
                  <a:srgbClr val="FF0000"/>
                </a:solidFill>
                <a:effectLst/>
                <a:uFillTx/>
                <a:latin typeface="페이퍼로지 5 Medium"/>
                <a:ea typeface="페이퍼로지 5 Medium"/>
              </a:rPr>
              <a:t>과실</a:t>
            </a:r>
            <a:r>
              <a:rPr lang="en-US" altLang="ko-KR" sz="1000" b="0" u="none" strike="noStrike" dirty="0">
                <a:solidFill>
                  <a:srgbClr val="FF0000"/>
                </a:solidFill>
                <a:effectLst/>
                <a:uFillTx/>
                <a:latin typeface="페이퍼로지 5 Medium"/>
                <a:ea typeface="페이퍼로지 5 Medium"/>
              </a:rPr>
              <a:t>, 4</a:t>
            </a:r>
            <a:r>
              <a:rPr lang="ko-KR" altLang="en-US" sz="1000" b="0" u="none" strike="noStrike" dirty="0">
                <a:solidFill>
                  <a:srgbClr val="FF0000"/>
                </a:solidFill>
                <a:effectLst/>
                <a:uFillTx/>
                <a:latin typeface="페이퍼로지 5 Medium"/>
                <a:ea typeface="페이퍼로지 5 Medium"/>
              </a:rPr>
              <a:t>억 </a:t>
            </a:r>
            <a:r>
              <a:rPr lang="en-US" altLang="ko-KR" sz="1000" b="0" u="none" strike="noStrike" dirty="0">
                <a:solidFill>
                  <a:srgbClr val="FF0000"/>
                </a:solidFill>
                <a:effectLst/>
                <a:uFillTx/>
                <a:latin typeface="페이퍼로지 5 Medium"/>
                <a:ea typeface="페이퍼로지 5 Medium"/>
              </a:rPr>
              <a:t>6</a:t>
            </a:r>
            <a:r>
              <a:rPr lang="ko-KR" altLang="en-US" sz="1000" b="0" u="none" strike="noStrike" dirty="0">
                <a:solidFill>
                  <a:srgbClr val="FF0000"/>
                </a:solidFill>
                <a:effectLst/>
                <a:uFillTx/>
                <a:latin typeface="페이퍼로지 5 Medium"/>
                <a:ea typeface="페이퍼로지 5 Medium"/>
              </a:rPr>
              <a:t>천만 원 배상 판결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-9237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Google Shape;968;p15">
            <a:extLst>
              <a:ext uri="{FF2B5EF4-FFF2-40B4-BE49-F238E27FC236}">
                <a16:creationId xmlns:a16="http://schemas.microsoft.com/office/drawing/2014/main" id="{CEBCCDB9-1323-41F9-8063-F76263A20F4F}"/>
              </a:ext>
            </a:extLst>
          </p:cNvPr>
          <p:cNvSpPr>
            <a:spLocks noGrp="1"/>
          </p:cNvSpPr>
          <p:nvPr/>
        </p:nvSpPr>
        <p:spPr>
          <a:xfrm>
            <a:off x="530280" y="340050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13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5D1126-D683-4D82-A025-79A610A4D7A7}"/>
              </a:ext>
            </a:extLst>
          </p:cNvPr>
          <p:cNvSpPr txBox="1"/>
          <p:nvPr/>
        </p:nvSpPr>
        <p:spPr>
          <a:xfrm>
            <a:off x="530279" y="2276733"/>
            <a:ext cx="7622279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0A1E41-86CA-45B3-ADA1-D54350399AB9}"/>
              </a:ext>
            </a:extLst>
          </p:cNvPr>
          <p:cNvSpPr txBox="1"/>
          <p:nvPr/>
        </p:nvSpPr>
        <p:spPr>
          <a:xfrm>
            <a:off x="530279" y="3419763"/>
            <a:ext cx="62260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말이 거짓말이라면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고객이 보이스피싱 범죄자의 통제를 따르고 있다면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94DCE2-7D89-45F1-B02A-F04A2106868C}"/>
              </a:ext>
            </a:extLst>
          </p:cNvPr>
          <p:cNvSpPr txBox="1"/>
          <p:nvPr/>
        </p:nvSpPr>
        <p:spPr>
          <a:xfrm>
            <a:off x="44259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기획 배경과 현행 체계</a:t>
            </a:r>
          </a:p>
        </p:txBody>
      </p:sp>
    </p:spTree>
    <p:extLst>
      <p:ext uri="{BB962C8B-B14F-4D97-AF65-F5344CB8AC3E}">
        <p14:creationId xmlns:p14="http://schemas.microsoft.com/office/powerpoint/2010/main" val="3833089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-9237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14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F5D1126-D683-4D82-A025-79A610A4D7A7}"/>
              </a:ext>
            </a:extLst>
          </p:cNvPr>
          <p:cNvSpPr txBox="1"/>
          <p:nvPr/>
        </p:nvSpPr>
        <p:spPr>
          <a:xfrm>
            <a:off x="530279" y="2276733"/>
            <a:ext cx="7622279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7EB547-2988-4A87-95BE-F190BA457FC4}"/>
              </a:ext>
            </a:extLst>
          </p:cNvPr>
          <p:cNvGrpSpPr/>
          <p:nvPr/>
        </p:nvGrpSpPr>
        <p:grpSpPr>
          <a:xfrm>
            <a:off x="530279" y="4355344"/>
            <a:ext cx="6226063" cy="483320"/>
            <a:chOff x="6511295" y="3448046"/>
            <a:chExt cx="10605900" cy="82331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7896F0E-E7A6-4AED-9E00-1B10269E71F5}"/>
                </a:ext>
              </a:extLst>
            </p:cNvPr>
            <p:cNvSpPr/>
            <p:nvPr/>
          </p:nvSpPr>
          <p:spPr>
            <a:xfrm>
              <a:off x="6511295" y="3448046"/>
              <a:ext cx="1060590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892BC2-F10E-4CCA-B2DF-5EC7D39D20FA}"/>
                </a:ext>
              </a:extLst>
            </p:cNvPr>
            <p:cNvSpPr txBox="1"/>
            <p:nvPr/>
          </p:nvSpPr>
          <p:spPr>
            <a:xfrm>
              <a:off x="6887801" y="3561415"/>
              <a:ext cx="9906086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경찰이나 은행이 물어보면 투자라고 말하세요</a:t>
              </a:r>
              <a:r>
                <a:rPr lang="en-US" altLang="ko-KR" sz="2400" b="1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.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”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F808944F-F97B-47D0-ADF7-5BB3C77AE10D}"/>
              </a:ext>
            </a:extLst>
          </p:cNvPr>
          <p:cNvSpPr txBox="1"/>
          <p:nvPr/>
        </p:nvSpPr>
        <p:spPr>
          <a:xfrm>
            <a:off x="6977365" y="4412338"/>
            <a:ext cx="494205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보이스피싱범의</a:t>
            </a:r>
            <a:r>
              <a:rPr lang="en-US" altLang="ko-KR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말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을 확인할 수 없다면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391F75-CEFE-4E92-B3DC-2A6D3D6072DA}"/>
              </a:ext>
            </a:extLst>
          </p:cNvPr>
          <p:cNvSpPr txBox="1"/>
          <p:nvPr/>
        </p:nvSpPr>
        <p:spPr>
          <a:xfrm>
            <a:off x="538102" y="5108842"/>
            <a:ext cx="8435001" cy="523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말을 믿고 </a:t>
            </a:r>
            <a:r>
              <a:rPr lang="ko-KR" altLang="en-US" sz="3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정상 송금 절차 진행 → 피해 발생</a:t>
            </a:r>
            <a:endParaRPr lang="en-US" altLang="ko-KR" sz="3400" b="1" dirty="0">
              <a:solidFill>
                <a:srgbClr val="EE4344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795CEE-2CCC-47E2-A2AF-52E99B73D4DE}"/>
              </a:ext>
            </a:extLst>
          </p:cNvPr>
          <p:cNvSpPr txBox="1"/>
          <p:nvPr/>
        </p:nvSpPr>
        <p:spPr>
          <a:xfrm>
            <a:off x="530279" y="3419763"/>
            <a:ext cx="62260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말이 거짓말이라면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고객이 보이스피싱 범죄자의 통제를 따르고 있다면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7C22F5E-6E0B-4180-8DC2-05424B9569E6}"/>
              </a:ext>
            </a:extLst>
          </p:cNvPr>
          <p:cNvSpPr/>
          <p:nvPr/>
        </p:nvSpPr>
        <p:spPr>
          <a:xfrm>
            <a:off x="0" y="-9237"/>
            <a:ext cx="12192000" cy="4218640"/>
          </a:xfrm>
          <a:custGeom>
            <a:avLst/>
            <a:gdLst>
              <a:gd name="connsiteX0" fmla="*/ 313765 w 12192000"/>
              <a:gd name="connsiteY0" fmla="*/ 1370872 h 4218640"/>
              <a:gd name="connsiteX1" fmla="*/ 313765 w 12192000"/>
              <a:gd name="connsiteY1" fmla="*/ 2109536 h 4218640"/>
              <a:gd name="connsiteX2" fmla="*/ 10982222 w 12192000"/>
              <a:gd name="connsiteY2" fmla="*/ 2109536 h 4218640"/>
              <a:gd name="connsiteX3" fmla="*/ 10982222 w 12192000"/>
              <a:gd name="connsiteY3" fmla="*/ 1370872 h 4218640"/>
              <a:gd name="connsiteX4" fmla="*/ 0 w 12192000"/>
              <a:gd name="connsiteY4" fmla="*/ 0 h 4218640"/>
              <a:gd name="connsiteX5" fmla="*/ 12192000 w 12192000"/>
              <a:gd name="connsiteY5" fmla="*/ 0 h 4218640"/>
              <a:gd name="connsiteX6" fmla="*/ 12192000 w 12192000"/>
              <a:gd name="connsiteY6" fmla="*/ 4218640 h 4218640"/>
              <a:gd name="connsiteX7" fmla="*/ 0 w 12192000"/>
              <a:gd name="connsiteY7" fmla="*/ 4218640 h 421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218640">
                <a:moveTo>
                  <a:pt x="313765" y="1370872"/>
                </a:moveTo>
                <a:lnTo>
                  <a:pt x="313765" y="2109536"/>
                </a:lnTo>
                <a:lnTo>
                  <a:pt x="10982222" y="2109536"/>
                </a:lnTo>
                <a:lnTo>
                  <a:pt x="10982222" y="137087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218640"/>
                </a:lnTo>
                <a:lnTo>
                  <a:pt x="0" y="421864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988A449-902E-400D-B442-5501ACC991DE}"/>
              </a:ext>
            </a:extLst>
          </p:cNvPr>
          <p:cNvSpPr/>
          <p:nvPr/>
        </p:nvSpPr>
        <p:spPr>
          <a:xfrm>
            <a:off x="313765" y="1361635"/>
            <a:ext cx="10668457" cy="7386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C659B6B-E3FC-45CD-8849-88F21454FF18}"/>
              </a:ext>
            </a:extLst>
          </p:cNvPr>
          <p:cNvSpPr txBox="1"/>
          <p:nvPr/>
        </p:nvSpPr>
        <p:spPr>
          <a:xfrm>
            <a:off x="9684836" y="2190567"/>
            <a:ext cx="128400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사실인가</a:t>
            </a:r>
            <a:r>
              <a:rPr lang="en-US" altLang="ko-KR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1" name="Google Shape;968;p15">
            <a:extLst>
              <a:ext uri="{FF2B5EF4-FFF2-40B4-BE49-F238E27FC236}">
                <a16:creationId xmlns:a16="http://schemas.microsoft.com/office/drawing/2014/main" id="{273BAB91-3996-48CC-AAB2-5BD88B8A46B0}"/>
              </a:ext>
            </a:extLst>
          </p:cNvPr>
          <p:cNvSpPr>
            <a:spLocks noGrp="1"/>
          </p:cNvSpPr>
          <p:nvPr/>
        </p:nvSpPr>
        <p:spPr>
          <a:xfrm>
            <a:off x="530280" y="340050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D1E417-BBF9-4E9A-B74E-2920168F5601}"/>
              </a:ext>
            </a:extLst>
          </p:cNvPr>
          <p:cNvSpPr txBox="1"/>
          <p:nvPr/>
        </p:nvSpPr>
        <p:spPr>
          <a:xfrm>
            <a:off x="44259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기획 배경과 현행 체계</a:t>
            </a:r>
          </a:p>
        </p:txBody>
      </p:sp>
    </p:spTree>
    <p:extLst>
      <p:ext uri="{BB962C8B-B14F-4D97-AF65-F5344CB8AC3E}">
        <p14:creationId xmlns:p14="http://schemas.microsoft.com/office/powerpoint/2010/main" val="14425354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7108A23-53C1-4A94-B40D-A71227CFBA0D}"/>
              </a:ext>
            </a:extLst>
          </p:cNvPr>
          <p:cNvSpPr/>
          <p:nvPr/>
        </p:nvSpPr>
        <p:spPr>
          <a:xfrm>
            <a:off x="0" y="11788"/>
            <a:ext cx="12192000" cy="6858000"/>
          </a:xfrm>
          <a:prstGeom prst="rect">
            <a:avLst/>
          </a:prstGeom>
          <a:gradFill flip="none" rotWithShape="1">
            <a:gsLst>
              <a:gs pos="39000">
                <a:srgbClr val="0E2746"/>
              </a:gs>
              <a:gs pos="0">
                <a:schemeClr val="tx1"/>
              </a:gs>
              <a:gs pos="100000">
                <a:schemeClr val="tx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417E07-4270-45C5-AAE0-6019ACD49195}"/>
              </a:ext>
            </a:extLst>
          </p:cNvPr>
          <p:cNvSpPr txBox="1"/>
          <p:nvPr/>
        </p:nvSpPr>
        <p:spPr>
          <a:xfrm>
            <a:off x="11606820" y="6476226"/>
            <a:ext cx="320040" cy="16004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r"/>
            <a:r>
              <a:rPr lang="en-US" sz="800" dirty="0">
                <a:solidFill>
                  <a:srgbClr val="6A7B97"/>
                </a:solidFill>
                <a:latin typeface="페이퍼로지 7 Bold" pitchFamily="2" charset="-127"/>
                <a:ea typeface="페이퍼로지 7 Bold" pitchFamily="2" charset="-127"/>
              </a:rPr>
              <a:t>15</a:t>
            </a:r>
            <a:endParaRPr sz="800" b="0" dirty="0">
              <a:solidFill>
                <a:srgbClr val="6A7B97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C60615-5EA8-40A4-B182-AFA781324FEC}"/>
              </a:ext>
            </a:extLst>
          </p:cNvPr>
          <p:cNvSpPr txBox="1"/>
          <p:nvPr/>
        </p:nvSpPr>
        <p:spPr>
          <a:xfrm>
            <a:off x="7877205" y="748051"/>
            <a:ext cx="310501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행원에게 뜬 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FDS 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경고창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AD4998-048E-4D3E-85A5-3C9C25A4EF32}"/>
              </a:ext>
            </a:extLst>
          </p:cNvPr>
          <p:cNvGrpSpPr/>
          <p:nvPr/>
        </p:nvGrpSpPr>
        <p:grpSpPr>
          <a:xfrm>
            <a:off x="530279" y="691057"/>
            <a:ext cx="7107649" cy="483320"/>
            <a:chOff x="6511293" y="3448046"/>
            <a:chExt cx="12107650" cy="823319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96679CFE-069D-45C0-BE00-C7921AF82182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1226664-0218-4889-AB45-07800CEB94FD}"/>
                </a:ext>
              </a:extLst>
            </p:cNvPr>
            <p:cNvSpPr txBox="1"/>
            <p:nvPr/>
          </p:nvSpPr>
          <p:spPr>
            <a:xfrm>
              <a:off x="6787175" y="3545133"/>
              <a:ext cx="10493941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 위험도 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90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점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의심계좌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,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이상거래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 </a:t>
              </a:r>
              <a:r>
                <a:rPr lang="ko-KR" altLang="en-US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경고</a:t>
              </a:r>
              <a:r>
                <a:rPr lang="en-US" altLang="ko-KR" sz="2400" b="1" dirty="0">
                  <a:solidFill>
                    <a:srgbClr val="EE4344"/>
                  </a:solidFill>
                  <a:latin typeface="페이퍼로지 7 Bold" pitchFamily="2" charset="-127"/>
                  <a:ea typeface="페이퍼로지 7 Bold" pitchFamily="2" charset="-127"/>
                </a:rPr>
                <a:t>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00A9ED82-C855-450B-8D75-1330A5122235}"/>
              </a:ext>
            </a:extLst>
          </p:cNvPr>
          <p:cNvGrpSpPr/>
          <p:nvPr/>
        </p:nvGrpSpPr>
        <p:grpSpPr>
          <a:xfrm>
            <a:off x="530279" y="1487548"/>
            <a:ext cx="7365400" cy="483320"/>
            <a:chOff x="6511293" y="3448046"/>
            <a:chExt cx="12546721" cy="823319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4C8C1B7E-ABE3-43AD-ADF4-85D3B74864C5}"/>
                </a:ext>
              </a:extLst>
            </p:cNvPr>
            <p:cNvSpPr/>
            <p:nvPr/>
          </p:nvSpPr>
          <p:spPr>
            <a:xfrm>
              <a:off x="6511293" y="3448046"/>
              <a:ext cx="1210765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9DC67C-0E9D-4BF9-9C47-2B0510A4792F}"/>
                </a:ext>
              </a:extLst>
            </p:cNvPr>
            <p:cNvSpPr txBox="1"/>
            <p:nvPr/>
          </p:nvSpPr>
          <p:spPr>
            <a:xfrm>
              <a:off x="6787175" y="3545133"/>
              <a:ext cx="12270839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보이스피싱이 아닙니다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투자입니다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 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송금 하겠습니다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  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6BCFD74-4FCD-4790-B294-62886E63954E}"/>
              </a:ext>
            </a:extLst>
          </p:cNvPr>
          <p:cNvSpPr txBox="1"/>
          <p:nvPr/>
        </p:nvSpPr>
        <p:spPr>
          <a:xfrm>
            <a:off x="7877205" y="1544542"/>
            <a:ext cx="29110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라는 고객의 주장과 요청</a:t>
            </a:r>
            <a:endParaRPr lang="en-US" altLang="ko-KR" sz="2400" b="1" dirty="0">
              <a:solidFill>
                <a:schemeClr val="bg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E34677B7-EF42-434A-B870-B66D26F742FA}"/>
              </a:ext>
            </a:extLst>
          </p:cNvPr>
          <p:cNvGrpSpPr/>
          <p:nvPr/>
        </p:nvGrpSpPr>
        <p:grpSpPr>
          <a:xfrm>
            <a:off x="530279" y="4355344"/>
            <a:ext cx="6226063" cy="483320"/>
            <a:chOff x="6511295" y="3448046"/>
            <a:chExt cx="10605900" cy="823319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7203D832-EF3B-4457-B41D-C19B8A8FC7CD}"/>
                </a:ext>
              </a:extLst>
            </p:cNvPr>
            <p:cNvSpPr/>
            <p:nvPr/>
          </p:nvSpPr>
          <p:spPr>
            <a:xfrm>
              <a:off x="6511295" y="3448046"/>
              <a:ext cx="10605900" cy="823319"/>
            </a:xfrm>
            <a:prstGeom prst="roundRect">
              <a:avLst>
                <a:gd name="adj" fmla="val 1049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530C9D3-B085-4631-931F-26AF372827E8}"/>
                </a:ext>
              </a:extLst>
            </p:cNvPr>
            <p:cNvSpPr txBox="1"/>
            <p:nvPr/>
          </p:nvSpPr>
          <p:spPr>
            <a:xfrm>
              <a:off x="6887801" y="3561415"/>
              <a:ext cx="9906086" cy="629144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“</a:t>
              </a:r>
              <a:r>
                <a:rPr lang="ko-KR" altLang="en-US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경찰이나 은행이 물어보면 투자라고 말하세요</a:t>
              </a:r>
              <a:r>
                <a:rPr lang="en-US" altLang="ko-KR" sz="2400" b="1" dirty="0">
                  <a:solidFill>
                    <a:srgbClr val="0E2746"/>
                  </a:solidFill>
                  <a:latin typeface="페이퍼로지 7 Bold" pitchFamily="2" charset="-127"/>
                  <a:ea typeface="페이퍼로지 7 Bold" pitchFamily="2" charset="-127"/>
                </a:rPr>
                <a:t>.”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8F5D1126-D683-4D82-A025-79A610A4D7A7}"/>
              </a:ext>
            </a:extLst>
          </p:cNvPr>
          <p:cNvSpPr txBox="1"/>
          <p:nvPr/>
        </p:nvSpPr>
        <p:spPr>
          <a:xfrm>
            <a:off x="530279" y="2276733"/>
            <a:ext cx="7622279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정황을 확인 할 수 있는 유일한 경로인 고객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</a:p>
          <a:p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행원은 고객의 말을 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100%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신뢰하고 송금 제한을 풀어도 될까</a:t>
            </a:r>
            <a:r>
              <a:rPr lang="en-US" altLang="ko-KR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F3A72C-B153-4579-9C46-FDB52A08A35A}"/>
              </a:ext>
            </a:extLst>
          </p:cNvPr>
          <p:cNvSpPr txBox="1"/>
          <p:nvPr/>
        </p:nvSpPr>
        <p:spPr>
          <a:xfrm>
            <a:off x="530279" y="3419763"/>
            <a:ext cx="6226063" cy="7386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고객의 말이 거짓말이라면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  <a:p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고객이 보이스피싱 범죄자의 통제를 따르고 있다면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97F294-DF2E-48A8-9379-574B402BE66B}"/>
              </a:ext>
            </a:extLst>
          </p:cNvPr>
          <p:cNvSpPr txBox="1"/>
          <p:nvPr/>
        </p:nvSpPr>
        <p:spPr>
          <a:xfrm>
            <a:off x="6977365" y="4412338"/>
            <a:ext cx="4804200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보이스피싱범의</a:t>
            </a:r>
            <a:r>
              <a:rPr lang="en-US" altLang="ko-KR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 </a:t>
            </a:r>
            <a:r>
              <a:rPr lang="ko-KR" altLang="en-US" sz="2400" b="1" dirty="0">
                <a:solidFill>
                  <a:srgbClr val="EE4344"/>
                </a:solidFill>
                <a:latin typeface="페이퍼로지 7 Bold" pitchFamily="2" charset="-127"/>
                <a:ea typeface="페이퍼로지 7 Bold" pitchFamily="2" charset="-127"/>
              </a:rPr>
              <a:t>말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을 </a:t>
            </a:r>
            <a:r>
              <a:rPr lang="ko-KR" altLang="en-US" sz="2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확인할 수 있다</a:t>
            </a:r>
            <a:r>
              <a:rPr lang="ko-KR" altLang="en-US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면</a:t>
            </a:r>
            <a:r>
              <a:rPr lang="en-US" altLang="ko-KR" sz="2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7D7BD43-0651-45A4-9FCB-F40775A74F61}"/>
              </a:ext>
            </a:extLst>
          </p:cNvPr>
          <p:cNvSpPr txBox="1"/>
          <p:nvPr/>
        </p:nvSpPr>
        <p:spPr>
          <a:xfrm>
            <a:off x="538102" y="5108842"/>
            <a:ext cx="6900928" cy="5232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400" b="1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rPr>
              <a:t>고객을 논리적으로 설득하고 </a:t>
            </a:r>
            <a:r>
              <a:rPr lang="ko-KR" altLang="en-US" sz="3400" b="1" dirty="0">
                <a:solidFill>
                  <a:srgbClr val="FFC000"/>
                </a:solidFill>
                <a:latin typeface="페이퍼로지 7 Bold" pitchFamily="2" charset="-127"/>
                <a:ea typeface="페이퍼로지 7 Bold" pitchFamily="2" charset="-127"/>
              </a:rPr>
              <a:t>→ 피해 예방</a:t>
            </a:r>
            <a:endParaRPr lang="en-US" altLang="ko-KR" sz="3400" b="1" dirty="0">
              <a:solidFill>
                <a:srgbClr val="FFC000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655616A-DDA2-41F1-91E8-29D9E3D3A082}"/>
              </a:ext>
            </a:extLst>
          </p:cNvPr>
          <p:cNvSpPr/>
          <p:nvPr/>
        </p:nvSpPr>
        <p:spPr>
          <a:xfrm>
            <a:off x="0" y="-9237"/>
            <a:ext cx="12192000" cy="4218640"/>
          </a:xfrm>
          <a:custGeom>
            <a:avLst/>
            <a:gdLst>
              <a:gd name="connsiteX0" fmla="*/ 313765 w 12192000"/>
              <a:gd name="connsiteY0" fmla="*/ 1370872 h 4218640"/>
              <a:gd name="connsiteX1" fmla="*/ 313765 w 12192000"/>
              <a:gd name="connsiteY1" fmla="*/ 2109536 h 4218640"/>
              <a:gd name="connsiteX2" fmla="*/ 10982222 w 12192000"/>
              <a:gd name="connsiteY2" fmla="*/ 2109536 h 4218640"/>
              <a:gd name="connsiteX3" fmla="*/ 10982222 w 12192000"/>
              <a:gd name="connsiteY3" fmla="*/ 1370872 h 4218640"/>
              <a:gd name="connsiteX4" fmla="*/ 0 w 12192000"/>
              <a:gd name="connsiteY4" fmla="*/ 0 h 4218640"/>
              <a:gd name="connsiteX5" fmla="*/ 12192000 w 12192000"/>
              <a:gd name="connsiteY5" fmla="*/ 0 h 4218640"/>
              <a:gd name="connsiteX6" fmla="*/ 12192000 w 12192000"/>
              <a:gd name="connsiteY6" fmla="*/ 4218640 h 4218640"/>
              <a:gd name="connsiteX7" fmla="*/ 0 w 12192000"/>
              <a:gd name="connsiteY7" fmla="*/ 4218640 h 4218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4218640">
                <a:moveTo>
                  <a:pt x="313765" y="1370872"/>
                </a:moveTo>
                <a:lnTo>
                  <a:pt x="313765" y="2109536"/>
                </a:lnTo>
                <a:lnTo>
                  <a:pt x="10982222" y="2109536"/>
                </a:lnTo>
                <a:lnTo>
                  <a:pt x="10982222" y="1370872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218640"/>
                </a:lnTo>
                <a:lnTo>
                  <a:pt x="0" y="4218640"/>
                </a:ln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018ADC-8EE4-440A-8B5C-4BC24B6AE43C}"/>
              </a:ext>
            </a:extLst>
          </p:cNvPr>
          <p:cNvSpPr/>
          <p:nvPr/>
        </p:nvSpPr>
        <p:spPr>
          <a:xfrm>
            <a:off x="313765" y="1361635"/>
            <a:ext cx="10668457" cy="738664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Google Shape;968;p15">
            <a:extLst>
              <a:ext uri="{FF2B5EF4-FFF2-40B4-BE49-F238E27FC236}">
                <a16:creationId xmlns:a16="http://schemas.microsoft.com/office/drawing/2014/main" id="{E0F06118-C271-4157-A88B-509693576B92}"/>
              </a:ext>
            </a:extLst>
          </p:cNvPr>
          <p:cNvSpPr>
            <a:spLocks noGrp="1"/>
          </p:cNvSpPr>
          <p:nvPr/>
        </p:nvSpPr>
        <p:spPr>
          <a:xfrm>
            <a:off x="530280" y="340050"/>
            <a:ext cx="2468520" cy="180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l">
              <a:lnSpc>
                <a:spcPct val="105000"/>
              </a:lnSpc>
              <a:buNone/>
              <a:tabLst>
                <a:tab pos="0" algn="l"/>
              </a:tabLst>
              <a:defRPr sz="975" b="1">
                <a:solidFill>
                  <a:srgbClr val="2F66E8"/>
                </a:solidFill>
              </a:defRPr>
            </a:pPr>
            <a:r>
              <a:rPr lang="ko-KR" altLang="en-US" sz="975" dirty="0">
                <a:solidFill>
                  <a:srgbClr val="EEF5FF"/>
                </a:solidFill>
                <a:latin typeface="페이퍼로지 7 Bold" pitchFamily="2" charset="-127"/>
                <a:ea typeface="페이퍼로지 7 Bold" pitchFamily="2" charset="-127"/>
                <a:cs typeface="Arial"/>
              </a:rPr>
              <a:t>인사이트와 아이디어</a:t>
            </a:r>
            <a:endParaRPr lang="en-US" altLang="ko-KR" sz="975" u="none" dirty="0">
              <a:solidFill>
                <a:srgbClr val="EEF5FF"/>
              </a:solidFill>
              <a:latin typeface="페이퍼로지 7 Bold" pitchFamily="2" charset="-127"/>
              <a:ea typeface="페이퍼로지 7 Bold" pitchFamily="2" charset="-127"/>
              <a:cs typeface="Arial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892697-BF6F-40A3-8BD8-1C3CF6F594B9}"/>
              </a:ext>
            </a:extLst>
          </p:cNvPr>
          <p:cNvSpPr txBox="1"/>
          <p:nvPr/>
        </p:nvSpPr>
        <p:spPr>
          <a:xfrm>
            <a:off x="442595" y="89841"/>
            <a:ext cx="2556205" cy="296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500" b="0">
                <a:solidFill>
                  <a:srgbClr val="51647B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000" b="0" dirty="0">
                <a:solidFill>
                  <a:schemeClr val="bg1"/>
                </a:solidFill>
                <a:latin typeface="Noto Sans KR"/>
                <a:ea typeface="Noto Sans KR"/>
                <a:cs typeface="Noto Sans KR"/>
              </a:rPr>
              <a:t>기획 배경과 현행 체계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5B71C62-E109-4B9C-B023-3AB6ADFDD055}"/>
              </a:ext>
            </a:extLst>
          </p:cNvPr>
          <p:cNvSpPr txBox="1"/>
          <p:nvPr/>
        </p:nvSpPr>
        <p:spPr>
          <a:xfrm>
            <a:off x="9247217" y="2190567"/>
            <a:ext cx="1721625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거짓말이구나</a:t>
            </a:r>
            <a:r>
              <a:rPr lang="en-US" altLang="ko-KR" sz="2400" b="1" dirty="0">
                <a:solidFill>
                  <a:srgbClr val="FFFF00"/>
                </a:solidFill>
                <a:latin typeface="페이퍼로지 7 Bold" pitchFamily="2" charset="-127"/>
                <a:ea typeface="페이퍼로지 7 Bold" pitchFamily="2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59791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538" name="직사각형 537"/>
          <p:cNvSpPr/>
          <p:nvPr/>
        </p:nvSpPr>
        <p:spPr>
          <a:xfrm>
            <a:off x="552600" y="291420"/>
            <a:ext cx="1047708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altLang="ko-KR" sz="1050" b="1" u="none" strike="noStrike" dirty="0">
                <a:solidFill>
                  <a:srgbClr val="EEF5FF"/>
                </a:solidFill>
                <a:effectLst/>
                <a:uFillTx/>
                <a:latin typeface="페이퍼로지 7 Bold"/>
                <a:ea typeface="페이퍼로지 7 Bold"/>
              </a:rPr>
              <a:t>서비스 방향 소개</a:t>
            </a:r>
            <a:endParaRPr lang="en-US" altLang="ko-KR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직사각형 538"/>
          <p:cNvSpPr/>
          <p:nvPr/>
        </p:nvSpPr>
        <p:spPr>
          <a:xfrm>
            <a:off x="552600" y="733320"/>
            <a:ext cx="110869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탐지 이후 대응을 지원하는 </a:t>
            </a:r>
            <a:r>
              <a:rPr lang="en-US" sz="2850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CSR</a:t>
            </a:r>
            <a:endParaRPr lang="en-US" sz="28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0" name="직사각형 539"/>
          <p:cNvSpPr/>
          <p:nvPr/>
        </p:nvSpPr>
        <p:spPr>
          <a:xfrm>
            <a:off x="552600" y="1285920"/>
            <a:ext cx="11086920" cy="313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 dirty="0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프로젝트 주제</a:t>
            </a:r>
            <a:r>
              <a:rPr lang="en-US" sz="1500" b="0" u="none" strike="noStrike" dirty="0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5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보이스피싱 사건의 맥락 파악과 고객 확인을 연결하는 </a:t>
            </a:r>
            <a:r>
              <a:rPr lang="en-US" sz="15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500" b="0" u="none" strike="noStrike" dirty="0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협업 워크스페이스</a:t>
            </a:r>
            <a:endParaRPr lang="en-US" sz="1500" b="0" u="none" strike="noStrike" dirty="0">
              <a:solidFill>
                <a:srgbClr val="FFC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1" name="직사각형 540"/>
          <p:cNvSpPr/>
          <p:nvPr/>
        </p:nvSpPr>
        <p:spPr>
          <a:xfrm>
            <a:off x="552600" y="6429240"/>
            <a:ext cx="11086920" cy="9000"/>
          </a:xfrm>
          <a:prstGeom prst="rect">
            <a:avLst/>
          </a:prstGeom>
          <a:solidFill>
            <a:srgbClr val="38516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2" name="직사각형 541"/>
          <p:cNvSpPr/>
          <p:nvPr/>
        </p:nvSpPr>
        <p:spPr>
          <a:xfrm>
            <a:off x="628560" y="6496200"/>
            <a:ext cx="9524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CSR  CASE SHARE ROOM   ·   02 </a:t>
            </a:r>
            <a:r>
              <a:rPr lang="ko-KR" sz="820" b="0" u="none" strike="noStrike">
                <a:solidFill>
                  <a:srgbClr val="8294AC"/>
                </a:solidFill>
                <a:effectLst/>
                <a:uFillTx/>
                <a:latin typeface="페이퍼로지 5 Medium"/>
                <a:ea typeface="페이퍼로지 5 Medium"/>
              </a:rPr>
              <a:t>프로젝트 개요</a:t>
            </a:r>
            <a:endParaRPr lang="en-US" sz="82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3" name="직사각형 542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8294AC"/>
                </a:solidFill>
                <a:effectLst/>
                <a:uFillTx/>
                <a:latin typeface="Noto Sans KR"/>
                <a:ea typeface="Noto Sans KR"/>
              </a:rPr>
              <a:t>16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Noto Sans KR"/>
            </a:endParaRPr>
          </a:p>
        </p:txBody>
      </p:sp>
      <p:sp>
        <p:nvSpPr>
          <p:cNvPr id="544" name="직사각형 543"/>
          <p:cNvSpPr/>
          <p:nvPr/>
        </p:nvSpPr>
        <p:spPr>
          <a:xfrm>
            <a:off x="552600" y="1743120"/>
            <a:ext cx="1108692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선정 배경  </a:t>
            </a:r>
            <a:r>
              <a:rPr lang="en-US" sz="1430" b="1" u="none" strike="noStrike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·  </a:t>
            </a:r>
            <a:r>
              <a:rPr lang="ko-KR" sz="1430" b="1" u="none" strike="noStrike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현행 체계가 수행하는 역할</a:t>
            </a:r>
            <a:endParaRPr lang="en-US" sz="143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5" name="사각형: 둥근 모서리 544"/>
          <p:cNvSpPr/>
          <p:nvPr/>
        </p:nvSpPr>
        <p:spPr>
          <a:xfrm>
            <a:off x="552600" y="2095560"/>
            <a:ext cx="352404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6" name="직사각형 545"/>
          <p:cNvSpPr/>
          <p:nvPr/>
        </p:nvSpPr>
        <p:spPr>
          <a:xfrm>
            <a:off x="552600" y="2095560"/>
            <a:ext cx="3524040" cy="6624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7" name="직사각형 546"/>
          <p:cNvSpPr/>
          <p:nvPr/>
        </p:nvSpPr>
        <p:spPr>
          <a:xfrm>
            <a:off x="762120" y="2276640"/>
            <a:ext cx="3104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통신사 </a:t>
            </a:r>
            <a:r>
              <a:rPr lang="en-US" sz="18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AI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8" name="직사각형 547"/>
          <p:cNvSpPr/>
          <p:nvPr/>
        </p:nvSpPr>
        <p:spPr>
          <a:xfrm>
            <a:off x="762120" y="2666880"/>
            <a:ext cx="310464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위험 통화</a:t>
            </a:r>
            <a:r>
              <a:rPr lang="en-US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신호 탐지와 경고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49" name="사각형: 둥근 모서리 548"/>
          <p:cNvSpPr/>
          <p:nvPr/>
        </p:nvSpPr>
        <p:spPr>
          <a:xfrm>
            <a:off x="4343400" y="2095560"/>
            <a:ext cx="352404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0" name="직사각형 549"/>
          <p:cNvSpPr/>
          <p:nvPr/>
        </p:nvSpPr>
        <p:spPr>
          <a:xfrm>
            <a:off x="4343400" y="2095560"/>
            <a:ext cx="3524040" cy="66240"/>
          </a:xfrm>
          <a:prstGeom prst="rect">
            <a:avLst/>
          </a:prstGeom>
          <a:solidFill>
            <a:srgbClr val="E58B2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1" name="직사각형 550"/>
          <p:cNvSpPr/>
          <p:nvPr/>
        </p:nvSpPr>
        <p:spPr>
          <a:xfrm>
            <a:off x="4552920" y="2276640"/>
            <a:ext cx="3104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E58B2B"/>
                </a:solidFill>
                <a:effectLst/>
                <a:uFillTx/>
                <a:latin typeface="페이퍼로지 7 Bold"/>
                <a:ea typeface="페이퍼로지 7 Bold"/>
              </a:rPr>
              <a:t>ASAP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2" name="직사각형 551"/>
          <p:cNvSpPr/>
          <p:nvPr/>
        </p:nvSpPr>
        <p:spPr>
          <a:xfrm>
            <a:off x="4552920" y="2666880"/>
            <a:ext cx="310464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관계기관 의심정보 공유</a:t>
            </a:r>
            <a:r>
              <a:rPr lang="en-US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공동 활용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3" name="사각형: 둥근 모서리 552"/>
          <p:cNvSpPr/>
          <p:nvPr/>
        </p:nvSpPr>
        <p:spPr>
          <a:xfrm>
            <a:off x="8134200" y="2095560"/>
            <a:ext cx="3524040" cy="10472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4" name="직사각형 553"/>
          <p:cNvSpPr/>
          <p:nvPr/>
        </p:nvSpPr>
        <p:spPr>
          <a:xfrm>
            <a:off x="8134200" y="2095560"/>
            <a:ext cx="3524040" cy="6624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1600" rIns="90000" bIns="216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5" name="직사각형 554"/>
          <p:cNvSpPr/>
          <p:nvPr/>
        </p:nvSpPr>
        <p:spPr>
          <a:xfrm>
            <a:off x="8344080" y="2276640"/>
            <a:ext cx="310464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FDS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6" name="직사각형 555"/>
          <p:cNvSpPr/>
          <p:nvPr/>
        </p:nvSpPr>
        <p:spPr>
          <a:xfrm>
            <a:off x="8344080" y="2666880"/>
            <a:ext cx="3104640" cy="294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이상거래 탐지</a:t>
            </a:r>
            <a:r>
              <a:rPr lang="en-US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거래 보호</a:t>
            </a:r>
            <a:r>
              <a:rPr lang="en-US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추가 확인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7" name="직사각형 556"/>
          <p:cNvSpPr/>
          <p:nvPr/>
        </p:nvSpPr>
        <p:spPr>
          <a:xfrm>
            <a:off x="552600" y="3371760"/>
            <a:ext cx="1108692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 dirty="0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기획 문제  </a:t>
            </a:r>
            <a:r>
              <a:rPr lang="en-US" sz="1430" b="1" u="none" strike="noStrike" dirty="0">
                <a:solidFill>
                  <a:srgbClr val="BDD0E9"/>
                </a:solidFill>
                <a:effectLst/>
                <a:uFillTx/>
                <a:latin typeface="페이퍼로지 7 Bold"/>
                <a:ea typeface="페이퍼로지 7 Bold"/>
              </a:rPr>
              <a:t>·  </a:t>
            </a:r>
            <a:r>
              <a:rPr lang="ko-KR" sz="143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경고 이후에도 담당자에게 남는 업무</a:t>
            </a:r>
            <a:endParaRPr lang="en-US" sz="1430" b="0" u="none" strike="noStrike" dirty="0">
              <a:solidFill>
                <a:srgbClr val="FFC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8" name="problem-panel-0"/>
          <p:cNvSpPr/>
          <p:nvPr/>
        </p:nvSpPr>
        <p:spPr>
          <a:xfrm>
            <a:off x="552600" y="3695760"/>
            <a:ext cx="3524040" cy="1161720"/>
          </a:xfrm>
          <a:prstGeom prst="roundRect">
            <a:avLst>
              <a:gd name="adj" fmla="val 5738"/>
            </a:avLst>
          </a:prstGeom>
          <a:solidFill>
            <a:srgbClr val="122B4C"/>
          </a:solidFill>
          <a:ln w="6668">
            <a:solidFill>
              <a:srgbClr val="2946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59" name="problem-panel-1"/>
          <p:cNvSpPr/>
          <p:nvPr/>
        </p:nvSpPr>
        <p:spPr>
          <a:xfrm>
            <a:off x="4343400" y="3695760"/>
            <a:ext cx="3524040" cy="1161720"/>
          </a:xfrm>
          <a:prstGeom prst="roundRect">
            <a:avLst>
              <a:gd name="adj" fmla="val 5738"/>
            </a:avLst>
          </a:prstGeom>
          <a:solidFill>
            <a:srgbClr val="122B4C"/>
          </a:solidFill>
          <a:ln w="6668">
            <a:solidFill>
              <a:srgbClr val="2946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0" name="problem-panel-2"/>
          <p:cNvSpPr/>
          <p:nvPr/>
        </p:nvSpPr>
        <p:spPr>
          <a:xfrm>
            <a:off x="8134200" y="3695760"/>
            <a:ext cx="3524040" cy="1161720"/>
          </a:xfrm>
          <a:prstGeom prst="roundRect">
            <a:avLst>
              <a:gd name="adj" fmla="val 5738"/>
            </a:avLst>
          </a:prstGeom>
          <a:solidFill>
            <a:srgbClr val="122B4C"/>
          </a:solidFill>
          <a:ln w="6668">
            <a:solidFill>
              <a:srgbClr val="294667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1" name="직사각형 560"/>
          <p:cNvSpPr/>
          <p:nvPr/>
        </p:nvSpPr>
        <p:spPr>
          <a:xfrm>
            <a:off x="743040" y="3809880"/>
            <a:ext cx="3142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부족한 사건 맥락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2" name="직사각형 561"/>
          <p:cNvSpPr/>
          <p:nvPr/>
        </p:nvSpPr>
        <p:spPr>
          <a:xfrm>
            <a:off x="743040" y="4191120"/>
            <a:ext cx="314280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범죄자의 주장</a:t>
            </a:r>
            <a:r>
              <a:rPr lang="en-US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행동 요구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고객이 받는 압박과 실제 행동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3" name="직사각형 562"/>
          <p:cNvSpPr/>
          <p:nvPr/>
        </p:nvSpPr>
        <p:spPr>
          <a:xfrm>
            <a:off x="4076640" y="4057560"/>
            <a:ext cx="26640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70ACF4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4" name="직사각형 563"/>
          <p:cNvSpPr/>
          <p:nvPr/>
        </p:nvSpPr>
        <p:spPr>
          <a:xfrm>
            <a:off x="4533840" y="3809880"/>
            <a:ext cx="3142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추가 사실 확인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5" name="직사각형 564"/>
          <p:cNvSpPr/>
          <p:nvPr/>
        </p:nvSpPr>
        <p:spPr>
          <a:xfrm>
            <a:off x="4533840" y="4191120"/>
            <a:ext cx="314280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고객 설명과 원본 근거 대조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미확인 정보에 대한 질문</a:t>
            </a:r>
            <a:r>
              <a:rPr lang="en-US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답변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6" name="직사각형 565"/>
          <p:cNvSpPr/>
          <p:nvPr/>
        </p:nvSpPr>
        <p:spPr>
          <a:xfrm>
            <a:off x="7867800" y="4057560"/>
            <a:ext cx="266400" cy="437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70ACF4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7" name="직사각형 566"/>
          <p:cNvSpPr/>
          <p:nvPr/>
        </p:nvSpPr>
        <p:spPr>
          <a:xfrm>
            <a:off x="8325000" y="3809880"/>
            <a:ext cx="314280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대응</a:t>
            </a:r>
            <a:r>
              <a:rPr lang="en-US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729" b="1" u="none" strike="noStrike">
                <a:solidFill>
                  <a:srgbClr val="FFFFFF"/>
                </a:solidFill>
                <a:effectLst/>
                <a:uFillTx/>
                <a:latin typeface="페이퍼로지 7 Bold"/>
                <a:ea typeface="페이퍼로지 7 Bold"/>
              </a:rPr>
              <a:t>협업 부담</a:t>
            </a:r>
            <a:endParaRPr lang="en-US" sz="1729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8" name="직사각형 567"/>
          <p:cNvSpPr/>
          <p:nvPr/>
        </p:nvSpPr>
        <p:spPr>
          <a:xfrm>
            <a:off x="8325000" y="4191120"/>
            <a:ext cx="3142800" cy="571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고객 설득과 내부 정보 종합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후속조치 판단</a:t>
            </a:r>
            <a:r>
              <a:rPr lang="en-US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500" b="0" u="none" strike="noStrike">
                <a:solidFill>
                  <a:srgbClr val="BDD0E9"/>
                </a:solidFill>
                <a:effectLst/>
                <a:uFillTx/>
                <a:latin typeface="페이퍼로지 5 Medium"/>
                <a:ea typeface="페이퍼로지 5 Medium"/>
              </a:rPr>
              <a:t>진행 기록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69" name="사각형: 둥근 모서리 568"/>
          <p:cNvSpPr/>
          <p:nvPr/>
        </p:nvSpPr>
        <p:spPr>
          <a:xfrm>
            <a:off x="552600" y="5076720"/>
            <a:ext cx="11086920" cy="119016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70" name="직사각형 569"/>
          <p:cNvSpPr/>
          <p:nvPr/>
        </p:nvSpPr>
        <p:spPr>
          <a:xfrm>
            <a:off x="762120" y="5238720"/>
            <a:ext cx="1047708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기획 의도와 특화 포인트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571" name="직사각형 570"/>
          <p:cNvSpPr/>
          <p:nvPr/>
        </p:nvSpPr>
        <p:spPr>
          <a:xfrm>
            <a:off x="762120" y="5581800"/>
            <a:ext cx="10572480" cy="618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범죄자의 주장과 고객 상황을 하나의 </a:t>
            </a:r>
            <a:r>
              <a:rPr lang="en-US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Case</a:t>
            </a: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로 구조화하여</a:t>
            </a:r>
            <a:r>
              <a:rPr lang="en-US" altLang="ko-KR" sz="1950" dirty="0">
                <a:solidFill>
                  <a:srgbClr val="FFFFFF"/>
                </a:solidFill>
                <a:latin typeface="페이퍼로지 5 Medium"/>
              </a:rPr>
              <a:t> </a:t>
            </a: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담당자의 조사</a:t>
            </a:r>
            <a:r>
              <a:rPr lang="en-US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고객 확인</a:t>
            </a:r>
            <a:r>
              <a:rPr lang="en-US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9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대응을 지원</a:t>
            </a:r>
            <a:endParaRPr lang="en-US" sz="1950" b="0" u="none" strike="noStrike" dirty="0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Rectangle 1"/>
          <p:cNvSpPr/>
          <p:nvPr/>
        </p:nvSpPr>
        <p:spPr>
          <a:xfrm>
            <a:off x="0" y="-1368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664" name="Rectangle 31"/>
          <p:cNvSpPr/>
          <p:nvPr/>
        </p:nvSpPr>
        <p:spPr>
          <a:xfrm>
            <a:off x="0" y="1792800"/>
            <a:ext cx="12191760" cy="510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65" name="TextBox 2"/>
          <p:cNvSpPr/>
          <p:nvPr/>
        </p:nvSpPr>
        <p:spPr>
          <a:xfrm>
            <a:off x="1416600" y="708120"/>
            <a:ext cx="9358920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보이스피싱 범죄자의 발언을 확인하기 위해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통화 내용의 일부를 데이터화 해야 하지만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 법적,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신분적 한계가 있음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실제 서비스화 단계에서 유관 기관과 협업 </a:t>
            </a:r>
            <a:r>
              <a:rPr lang="en-US" sz="2000" b="1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or </a:t>
            </a:r>
            <a:r>
              <a:rPr lang="ko-KR" sz="2000" b="1" u="none" strike="noStrike">
                <a:solidFill>
                  <a:srgbClr val="FFC000"/>
                </a:solidFill>
                <a:effectLst/>
                <a:uFillTx/>
                <a:latin typeface="페이퍼로지 5 Medium"/>
                <a:ea typeface="페이퍼로지 5 Medium"/>
              </a:rPr>
              <a:t>추가 법률 검토가 필요할 수 있음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6" name="TextBox 13"/>
          <p:cNvSpPr/>
          <p:nvPr/>
        </p:nvSpPr>
        <p:spPr>
          <a:xfrm>
            <a:off x="5504400" y="494280"/>
            <a:ext cx="118260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EEF5FF"/>
                </a:solidFill>
                <a:effectLst/>
                <a:uFillTx/>
                <a:latin typeface="페이퍼로지 7 Bold"/>
                <a:ea typeface="페이퍼로지 7 Bold"/>
              </a:rPr>
              <a:t>제한 사항 및 구현 범위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667" name="Group 5"/>
          <p:cNvGrpSpPr/>
          <p:nvPr/>
        </p:nvGrpSpPr>
        <p:grpSpPr>
          <a:xfrm>
            <a:off x="436320" y="2153520"/>
            <a:ext cx="11319120" cy="4293360"/>
            <a:chOff x="436320" y="1884240"/>
            <a:chExt cx="11319120" cy="4293360"/>
          </a:xfrm>
        </p:grpSpPr>
        <p:grpSp>
          <p:nvGrpSpPr>
            <p:cNvPr id="668" name="Group 3"/>
            <p:cNvGrpSpPr/>
            <p:nvPr/>
          </p:nvGrpSpPr>
          <p:grpSpPr>
            <a:xfrm>
              <a:off x="436320" y="1884240"/>
              <a:ext cx="5202360" cy="4265640"/>
              <a:chOff x="436320" y="1884240"/>
              <a:chExt cx="5202360" cy="4265640"/>
            </a:xfrm>
          </p:grpSpPr>
          <p:sp>
            <p:nvSpPr>
              <p:cNvPr id="669" name="Arrow: Down 24"/>
              <p:cNvSpPr/>
              <p:nvPr/>
            </p:nvSpPr>
            <p:spPr>
              <a:xfrm>
                <a:off x="3037680" y="3224160"/>
                <a:ext cx="317880" cy="41904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61CB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670" name="Rectangle 10"/>
              <p:cNvSpPr/>
              <p:nvPr/>
            </p:nvSpPr>
            <p:spPr>
              <a:xfrm>
                <a:off x="436320" y="2197080"/>
                <a:ext cx="5202360" cy="9298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“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누구든지 이 법과 형사소송법 또는 군사법원법의 규정에 의하지 아니하고는 우편물의 검열ㆍ</a:t>
                </a:r>
                <a:r>
                  <a:rPr lang="ko-KR" sz="1400" b="0" u="none" strike="noStrike">
                    <a:solidFill>
                      <a:srgbClr val="E01F16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전기통신의 감청 또는 통신사실확인자료의 제공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을 하거나 공개되지 아니한 타인간의 대화를 </a:t>
                </a:r>
                <a:r>
                  <a:rPr lang="ko-KR" sz="1400" b="0" u="none" strike="noStrike">
                    <a:solidFill>
                      <a:srgbClr val="E01F16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녹음 또는 청취하지 못한다</a:t>
                </a:r>
                <a:r>
                  <a:rPr lang="en-US" sz="1400" b="0" u="none" strike="noStrike">
                    <a:solidFill>
                      <a:srgbClr val="E01F16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.”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1" name="TextBox 15"/>
              <p:cNvSpPr/>
              <p:nvPr/>
            </p:nvSpPr>
            <p:spPr>
              <a:xfrm>
                <a:off x="436320" y="1884240"/>
                <a:ext cx="4496040" cy="25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1.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법적 한계 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: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통신비밀보호법 제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3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조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통신 및 대화비밀의 보호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2" name="Rectangle 19"/>
              <p:cNvSpPr/>
              <p:nvPr/>
            </p:nvSpPr>
            <p:spPr>
              <a:xfrm>
                <a:off x="436320" y="3695040"/>
                <a:ext cx="5202360" cy="123984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</a:t>
                </a:r>
                <a:r>
                  <a:rPr lang="ko-KR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안</a:t>
                </a:r>
                <a:r>
                  <a:rPr lang="en-US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 ‘</a:t>
                </a:r>
                <a:r>
                  <a:rPr lang="ko-KR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가공 </a:t>
                </a:r>
                <a:r>
                  <a:rPr lang="en-US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+ </a:t>
                </a:r>
                <a:r>
                  <a:rPr lang="ko-KR" sz="1400" b="1" u="none" strike="noStrike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피해자 동의’ 구조로 개발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 앱이나 별도의 보이스피싱 방지 앱에 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엔진을 탑재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스마트폰 기기 자체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에서 통화 내용을 분석해 범죄자 주장 요약본 생성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팝업을 통해 </a:t>
                </a:r>
                <a:r>
                  <a:rPr lang="ko-KR" sz="12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</a:t>
                </a:r>
                <a:r>
                  <a:rPr lang="en-US" sz="12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/</a:t>
                </a:r>
                <a:r>
                  <a:rPr lang="ko-KR" sz="12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공공기관 전송에 대한 사용자의 동의 받기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3" name="TextBox 23"/>
              <p:cNvSpPr/>
              <p:nvPr/>
            </p:nvSpPr>
            <p:spPr>
              <a:xfrm>
                <a:off x="436320" y="3456000"/>
                <a:ext cx="2262960" cy="25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ko-KR" sz="1400" b="0" u="none" strike="noStrike">
                    <a:solidFill>
                      <a:srgbClr val="50AACF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실제 서비스화 시 한계 극복 방안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4" name="Rectangle 29"/>
              <p:cNvSpPr/>
              <p:nvPr/>
            </p:nvSpPr>
            <p:spPr>
              <a:xfrm>
                <a:off x="436320" y="4986720"/>
                <a:ext cx="5202360" cy="116316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B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안</a:t>
                </a: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 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정부의 </a:t>
                </a: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'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규제 </a:t>
                </a:r>
                <a:r>
                  <a:rPr lang="ko-KR" sz="1400" b="1" u="none" strike="noStrike" dirty="0" err="1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샌드박스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or 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혁신금융서비스</a:t>
                </a:r>
                <a:r>
                  <a:rPr lang="en-US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' </a:t>
                </a:r>
                <a:r>
                  <a:rPr lang="ko-KR" sz="1400" b="1" u="none" strike="noStrike" dirty="0">
                    <a:solidFill>
                      <a:srgbClr val="0056FB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신청</a:t>
                </a:r>
                <a:endParaRPr lang="en-US" sz="14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 근절을 위해 법적 규제를 일시적으로 면제해 주는 제도</a:t>
                </a: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2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신청</a:t>
                </a:r>
                <a:endParaRPr lang="en-US" sz="12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은행과 컨소시엄을 맺고 과학기술정보통신부나 금융위원회에 신청</a:t>
                </a:r>
                <a:endParaRPr lang="en-US" sz="12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"</a:t>
                </a:r>
                <a:r>
                  <a:rPr lang="ko-KR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 범죄 예방</a:t>
                </a: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"</a:t>
                </a:r>
                <a:r>
                  <a:rPr lang="ko-KR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이라는 명확한 공익적 목적이 인정되면</a:t>
                </a:r>
                <a:r>
                  <a:rPr lang="en-US" sz="12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, 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정부가 특정 조건</a:t>
                </a:r>
                <a:br>
                  <a:rPr sz="1200" dirty="0"/>
                </a:br>
                <a:r>
                  <a:rPr lang="en-US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  (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데이터 즉시 파기</a:t>
                </a:r>
                <a:r>
                  <a:rPr lang="en-US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, 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익명화 등</a:t>
                </a:r>
                <a:r>
                  <a:rPr lang="en-US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) 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하에 통신비밀보호법 제</a:t>
                </a:r>
                <a:r>
                  <a:rPr lang="en-US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3</a:t>
                </a:r>
                <a:r>
                  <a:rPr lang="ko-KR" sz="1200" b="0" u="none" strike="noStrike" dirty="0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조의 적용 예외를 인정</a:t>
                </a:r>
                <a:endParaRPr lang="en-US" sz="1200" b="0" u="none" strike="noStrike" dirty="0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675" name="Group 4"/>
            <p:cNvGrpSpPr/>
            <p:nvPr/>
          </p:nvGrpSpPr>
          <p:grpSpPr>
            <a:xfrm>
              <a:off x="6298560" y="1884240"/>
              <a:ext cx="5456880" cy="4293360"/>
              <a:chOff x="6298560" y="1884240"/>
              <a:chExt cx="5456880" cy="4293360"/>
            </a:xfrm>
          </p:grpSpPr>
          <p:sp>
            <p:nvSpPr>
              <p:cNvPr id="676" name="TextBox 9"/>
              <p:cNvSpPr/>
              <p:nvPr/>
            </p:nvSpPr>
            <p:spPr>
              <a:xfrm>
                <a:off x="6298560" y="5640840"/>
                <a:ext cx="5074920" cy="536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*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AI(On-Device AI)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는 클라우드 서버를 거치지 않고 스마트폰이나 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PC </a:t>
                </a: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같은 기기 내부에서 직접 인공지능 연산을 수행하는 기술</a:t>
                </a:r>
                <a:endParaRPr lang="en-US" sz="1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7" name="TextBox 16"/>
              <p:cNvSpPr/>
              <p:nvPr/>
            </p:nvSpPr>
            <p:spPr>
              <a:xfrm>
                <a:off x="6298560" y="1884240"/>
                <a:ext cx="4694760" cy="25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2.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신분적 한계 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: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학생 신분 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업체 및 은행 관계자가 아님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8" name="Rectangle 17"/>
              <p:cNvSpPr/>
              <p:nvPr/>
            </p:nvSpPr>
            <p:spPr>
              <a:xfrm>
                <a:off x="6298560" y="2197080"/>
                <a:ext cx="5202360" cy="9298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업체 및 은행은 보안을 위해 폐쇄망을 사용해야 하지만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,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PoC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구현 방향 확인을 위해 </a:t>
                </a:r>
                <a:r>
                  <a:rPr lang="ko-KR" sz="14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일시적으로 </a:t>
                </a:r>
                <a:r>
                  <a:rPr lang="en-US" sz="14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GPT API </a:t>
                </a:r>
                <a:r>
                  <a:rPr lang="ko-KR" sz="1400" b="0" u="none" strike="noStrike">
                    <a:solidFill>
                      <a:srgbClr val="FF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사용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79" name="Arrow: Down 26"/>
              <p:cNvSpPr/>
              <p:nvPr/>
            </p:nvSpPr>
            <p:spPr>
              <a:xfrm>
                <a:off x="8899920" y="3224160"/>
                <a:ext cx="317880" cy="419040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61CBF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  <p:sp>
            <p:nvSpPr>
              <p:cNvPr id="680" name="Rectangle 27"/>
              <p:cNvSpPr/>
              <p:nvPr/>
            </p:nvSpPr>
            <p:spPr>
              <a:xfrm>
                <a:off x="6298560" y="3695040"/>
                <a:ext cx="5202360" cy="9298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폐쇄망</a:t>
                </a: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(Air-Gapped) /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온프레미스 배포 아키텍처 제시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- </a:t>
                </a:r>
                <a:r>
                  <a:rPr lang="ko-KR" sz="14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업체 및 은행에게 모듈로 제공</a:t>
                </a:r>
                <a:endParaRPr lang="en-US" sz="14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1" name="TextBox 28"/>
              <p:cNvSpPr/>
              <p:nvPr/>
            </p:nvSpPr>
            <p:spPr>
              <a:xfrm>
                <a:off x="6298560" y="3456000"/>
                <a:ext cx="2262960" cy="250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ko-KR" sz="1400" b="0" u="none" strike="noStrike">
                    <a:solidFill>
                      <a:srgbClr val="50AACF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실제 서비스화 시 한계 극복 방안</a:t>
                </a:r>
                <a:endParaRPr lang="en-US" sz="14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82" name="TextBox 30"/>
              <p:cNvSpPr/>
              <p:nvPr/>
            </p:nvSpPr>
            <p:spPr>
              <a:xfrm>
                <a:off x="6298560" y="4786560"/>
                <a:ext cx="5456880" cy="8589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[</a:t>
                </a:r>
                <a:r>
                  <a:rPr lang="ko-KR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주의사항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]</a:t>
                </a:r>
                <a:endParaRPr lang="en-US" sz="14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①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통화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원문을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외부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서버로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전송하지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않는다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.</a:t>
                </a:r>
                <a:endParaRPr lang="en-US" sz="14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defTabSz="914400">
                  <a:lnSpc>
                    <a:spcPct val="100000"/>
                  </a:lnSpc>
                </a:pP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② </a:t>
                </a:r>
                <a:r>
                  <a:rPr lang="en-US" sz="1400" b="0" u="none" strike="noStrike" dirty="0" err="1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(CSR)</a:t>
                </a:r>
                <a:r>
                  <a:rPr lang="ko-KR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서버에 전송하는 데이터는 반드시 가공된 데이터여야 한다</a:t>
                </a:r>
                <a:r>
                  <a:rPr lang="en-US" sz="1400" b="0" u="none" strike="noStrike" dirty="0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.</a:t>
                </a:r>
                <a:endParaRPr lang="en-US" sz="1400" b="0" u="none" strike="noStrike" dirty="0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sp>
        <p:nvSpPr>
          <p:cNvPr id="683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20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85" name="Rectangle 3"/>
          <p:cNvSpPr/>
          <p:nvPr/>
        </p:nvSpPr>
        <p:spPr>
          <a:xfrm>
            <a:off x="0" y="3619800"/>
            <a:ext cx="12191760" cy="3273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86" name="Group 9"/>
          <p:cNvGrpSpPr/>
          <p:nvPr/>
        </p:nvGrpSpPr>
        <p:grpSpPr>
          <a:xfrm>
            <a:off x="332640" y="1640160"/>
            <a:ext cx="10632600" cy="1638000"/>
            <a:chOff x="332640" y="1640160"/>
            <a:chExt cx="10632600" cy="1638000"/>
          </a:xfrm>
        </p:grpSpPr>
        <p:grpSp>
          <p:nvGrpSpPr>
            <p:cNvPr id="687" name="Group 4"/>
            <p:cNvGrpSpPr/>
            <p:nvPr/>
          </p:nvGrpSpPr>
          <p:grpSpPr>
            <a:xfrm>
              <a:off x="1490760" y="1640160"/>
              <a:ext cx="9474480" cy="1638000"/>
              <a:chOff x="1490760" y="1640160"/>
              <a:chExt cx="9474480" cy="1638000"/>
            </a:xfrm>
          </p:grpSpPr>
          <p:grpSp>
            <p:nvGrpSpPr>
              <p:cNvPr id="688" name="Group 23"/>
              <p:cNvGrpSpPr/>
              <p:nvPr/>
            </p:nvGrpSpPr>
            <p:grpSpPr>
              <a:xfrm>
                <a:off x="1866600" y="2192040"/>
                <a:ext cx="8445240" cy="1086120"/>
                <a:chOff x="1866600" y="2192040"/>
                <a:chExt cx="8445240" cy="1086120"/>
              </a:xfrm>
            </p:grpSpPr>
            <p:sp>
              <p:nvSpPr>
                <p:cNvPr id="689" name="Arrow: Bent 24"/>
                <p:cNvSpPr/>
                <p:nvPr/>
              </p:nvSpPr>
              <p:spPr>
                <a:xfrm flipV="1">
                  <a:off x="1866600" y="2191680"/>
                  <a:ext cx="732960" cy="834120"/>
                </a:xfrm>
                <a:prstGeom prst="bentArrow">
                  <a:avLst>
                    <a:gd name="adj1" fmla="val 25000"/>
                    <a:gd name="adj2" fmla="val 25000"/>
                    <a:gd name="adj3" fmla="val 35112"/>
                    <a:gd name="adj4" fmla="val 43750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800" b="0" u="none" strike="noStrike">
                    <a:solidFill>
                      <a:schemeClr val="dk1"/>
                    </a:solidFill>
                    <a:effectLst/>
                    <a:uFillTx/>
                    <a:latin typeface="Aptos"/>
                  </a:endParaRPr>
                </a:p>
              </p:txBody>
            </p:sp>
            <p:sp>
              <p:nvSpPr>
                <p:cNvPr id="690" name="Rectangle: Rounded Corners 25"/>
                <p:cNvSpPr/>
                <p:nvPr/>
              </p:nvSpPr>
              <p:spPr>
                <a:xfrm>
                  <a:off x="3364200" y="2563920"/>
                  <a:ext cx="6947640" cy="559440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r>
                    <a:rPr lang="en-US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5 Medium"/>
                      <a:ea typeface="페이퍼로지 5 Medium"/>
                    </a:rPr>
                    <a:t>     분해된 JSON </a:t>
                  </a:r>
                  <a:r>
                    <a:rPr lang="ko-KR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5 Medium"/>
                      <a:ea typeface="페이퍼로지 5 Medium"/>
                    </a:rPr>
                    <a:t>데이터 회신 </a:t>
                  </a:r>
                  <a:r>
                    <a:rPr lang="en-US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Wingdings"/>
                      <a:ea typeface="페이퍼로지 5 Medium"/>
                    </a:rPr>
                    <a:t></a:t>
                  </a:r>
                  <a:r>
                    <a:rPr lang="en-US" sz="1800" b="0" u="none" strike="noStrike">
                      <a:solidFill>
                        <a:schemeClr val="dk1"/>
                      </a:solidFill>
                      <a:effectLst/>
                      <a:uFillTx/>
                      <a:latin typeface="페이퍼로지 5 Medium"/>
                      <a:ea typeface="페이퍼로지 5 Medium"/>
                    </a:rPr>
                    <a:t> 보이스피싱 발화 맥락 재구성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grpSp>
              <p:nvGrpSpPr>
                <p:cNvPr id="691" name="Group 26"/>
                <p:cNvGrpSpPr/>
                <p:nvPr/>
              </p:nvGrpSpPr>
              <p:grpSpPr>
                <a:xfrm>
                  <a:off x="2745720" y="2409120"/>
                  <a:ext cx="909720" cy="869040"/>
                  <a:chOff x="2745720" y="2409120"/>
                  <a:chExt cx="909720" cy="869040"/>
                </a:xfrm>
              </p:grpSpPr>
              <p:sp>
                <p:nvSpPr>
                  <p:cNvPr id="692" name="Oval 27"/>
                  <p:cNvSpPr/>
                  <p:nvPr/>
                </p:nvSpPr>
                <p:spPr>
                  <a:xfrm>
                    <a:off x="2745720" y="2409120"/>
                    <a:ext cx="909720" cy="86004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rgbClr val="FFFFFF"/>
                    </a:solidFill>
                    <a:round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Aptos"/>
                    </a:endParaRPr>
                  </a:p>
                </p:txBody>
              </p:sp>
              <p:sp>
                <p:nvSpPr>
                  <p:cNvPr id="693" name="Picture 28"/>
                  <p:cNvSpPr/>
                  <p:nvPr/>
                </p:nvSpPr>
                <p:spPr>
                  <a:xfrm>
                    <a:off x="2745720" y="2409840"/>
                    <a:ext cx="909720" cy="868320"/>
                  </a:xfrm>
                  <a:custGeom>
                    <a:avLst/>
                    <a:gdLst>
                      <a:gd name="textAreaLeft" fmla="*/ 0 w 909720"/>
                      <a:gd name="textAreaRight" fmla="*/ 910080 w 909720"/>
                      <a:gd name="textAreaTop" fmla="*/ 0 h 868320"/>
                      <a:gd name="textAreaBottom" fmla="*/ 868680 h 868320"/>
                      <a:gd name="GluePoint1X" fmla="*/ 747486 w 1494972"/>
                      <a:gd name="GluePoint1Y" fmla="*/ 0 h 1494972"/>
                      <a:gd name="GluePoint2X" fmla="*/ 1494972 w 1494972"/>
                      <a:gd name="GluePoint2Y" fmla="*/ 747486 h 1494972"/>
                      <a:gd name="GluePoint3X" fmla="*/ 747486 w 1494972"/>
                      <a:gd name="GluePoint3Y" fmla="*/ 1494972 h 1494972"/>
                      <a:gd name="GluePoint4X" fmla="*/ 0 w 1494972"/>
                      <a:gd name="GluePoint4Y" fmla="*/ 747486 h 1494972"/>
                      <a:gd name="GluePoint5X" fmla="*/ 747486 w 1494972"/>
                      <a:gd name="GluePoint5Y" fmla="*/ 0 h 1494972"/>
                    </a:gdLst>
                    <a:ahLst/>
                    <a:cxnLst>
                      <a:cxn ang="0">
                        <a:pos x="GluePoint1X" y="GluePoint1Y"/>
                      </a:cxn>
                      <a:cxn ang="0">
                        <a:pos x="GluePoint2X" y="GluePoint2Y"/>
                      </a:cxn>
                      <a:cxn ang="0">
                        <a:pos x="GluePoint3X" y="GluePoint3Y"/>
                      </a:cxn>
                      <a:cxn ang="0">
                        <a:pos x="GluePoint4X" y="GluePoint4Y"/>
                      </a:cxn>
                      <a:cxn ang="0">
                        <a:pos x="GluePoint5X" y="GluePoint5Y"/>
                      </a:cxn>
                    </a:cxnLst>
                    <a:rect l="textAreaLeft" t="textAreaTop" r="textAreaRight" b="textAreaBottom"/>
                    <a:pathLst>
                      <a:path w="1494972" h="1494972">
                        <a:moveTo>
                          <a:pt x="747486" y="0"/>
                        </a:moveTo>
                        <a:cubicBezTo>
                          <a:pt x="1160311" y="0"/>
                          <a:pt x="1494972" y="334661"/>
                          <a:pt x="1494972" y="747486"/>
                        </a:cubicBezTo>
                        <a:cubicBezTo>
                          <a:pt x="1494972" y="1160311"/>
                          <a:pt x="1160311" y="1494972"/>
                          <a:pt x="747486" y="1494972"/>
                        </a:cubicBezTo>
                        <a:cubicBezTo>
                          <a:pt x="334661" y="1494972"/>
                          <a:pt x="0" y="1160311"/>
                          <a:pt x="0" y="747486"/>
                        </a:cubicBezTo>
                        <a:cubicBezTo>
                          <a:pt x="0" y="334661"/>
                          <a:pt x="334661" y="0"/>
                          <a:pt x="747486" y="0"/>
                        </a:cubicBezTo>
                        <a:close/>
                      </a:path>
                    </a:pathLst>
                  </a:custGeom>
                  <a:blipFill rotWithShape="0">
                    <a:blip r:embed="rId2"/>
                    <a:srcRect/>
                    <a:stretch/>
                  </a:blipFill>
                  <a:ln w="38100">
                    <a:solidFill>
                      <a:srgbClr val="FFC000"/>
                    </a:solidFill>
                    <a:round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lIns="90000" tIns="45000" rIns="90000" bIns="45000" anchor="t">
                    <a:noAutofit/>
                  </a:bodyPr>
                  <a:lstStyle/>
                  <a:p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</p:grpSp>
          <p:grpSp>
            <p:nvGrpSpPr>
              <p:cNvPr id="695" name="Group 30"/>
              <p:cNvGrpSpPr/>
              <p:nvPr/>
            </p:nvGrpSpPr>
            <p:grpSpPr>
              <a:xfrm>
                <a:off x="1490760" y="1640160"/>
                <a:ext cx="9474480" cy="586440"/>
                <a:chOff x="1490760" y="1640160"/>
                <a:chExt cx="9474480" cy="586440"/>
              </a:xfrm>
            </p:grpSpPr>
            <p:grpSp>
              <p:nvGrpSpPr>
                <p:cNvPr id="696" name="Group 31"/>
                <p:cNvGrpSpPr/>
                <p:nvPr/>
              </p:nvGrpSpPr>
              <p:grpSpPr>
                <a:xfrm>
                  <a:off x="1490760" y="1640160"/>
                  <a:ext cx="2571840" cy="586440"/>
                  <a:chOff x="1490760" y="1640160"/>
                  <a:chExt cx="2571840" cy="586440"/>
                </a:xfrm>
              </p:grpSpPr>
              <p:sp>
                <p:nvSpPr>
                  <p:cNvPr id="697" name="Rounded Rectangle 8"/>
                  <p:cNvSpPr/>
                  <p:nvPr/>
                </p:nvSpPr>
                <p:spPr>
                  <a:xfrm>
                    <a:off x="1490760" y="1640160"/>
                    <a:ext cx="2571840" cy="5864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698" name="Rounded Rectangle 9"/>
                  <p:cNvSpPr/>
                  <p:nvPr/>
                </p:nvSpPr>
                <p:spPr>
                  <a:xfrm>
                    <a:off x="1618560" y="1816560"/>
                    <a:ext cx="802440" cy="2336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2F69F5"/>
                  </a:solidFill>
                  <a:ln>
                    <a:solidFill>
                      <a:srgbClr val="2F69F5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699" name="TextBox 46"/>
                  <p:cNvSpPr/>
                  <p:nvPr/>
                </p:nvSpPr>
                <p:spPr>
                  <a:xfrm>
                    <a:off x="1789200" y="1882440"/>
                    <a:ext cx="460800" cy="101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r>
                      <a:rPr lang="en-US" sz="83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DETECT</a:t>
                    </a:r>
                    <a:endParaRPr lang="en-US" sz="83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00" name="TextBox 47"/>
                  <p:cNvSpPr/>
                  <p:nvPr/>
                </p:nvSpPr>
                <p:spPr>
                  <a:xfrm>
                    <a:off x="2584080" y="1802880"/>
                    <a:ext cx="1315440" cy="2613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ko-KR" sz="1700" b="1" u="none" strike="noStrike">
                        <a:solidFill>
                          <a:srgbClr val="2F69F5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온디바이스 </a:t>
                    </a:r>
                    <a:r>
                      <a:rPr lang="en-US" sz="1700" b="1" u="none" strike="noStrike">
                        <a:solidFill>
                          <a:srgbClr val="2F69F5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AI</a:t>
                    </a:r>
                    <a:endParaRPr lang="en-US" sz="17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701" name="Group 32"/>
                <p:cNvGrpSpPr/>
                <p:nvPr/>
              </p:nvGrpSpPr>
              <p:grpSpPr>
                <a:xfrm>
                  <a:off x="4942080" y="1640160"/>
                  <a:ext cx="2571840" cy="586440"/>
                  <a:chOff x="4942080" y="1640160"/>
                  <a:chExt cx="2571840" cy="586440"/>
                </a:xfrm>
              </p:grpSpPr>
              <p:sp>
                <p:nvSpPr>
                  <p:cNvPr id="702" name="Rounded Rectangle 18"/>
                  <p:cNvSpPr/>
                  <p:nvPr/>
                </p:nvSpPr>
                <p:spPr>
                  <a:xfrm>
                    <a:off x="4942080" y="1640160"/>
                    <a:ext cx="2571840" cy="5864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703" name="Rounded Rectangle 19"/>
                  <p:cNvSpPr/>
                  <p:nvPr/>
                </p:nvSpPr>
                <p:spPr>
                  <a:xfrm>
                    <a:off x="5363280" y="1816560"/>
                    <a:ext cx="802440" cy="2336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7052BE"/>
                  </a:solidFill>
                  <a:ln>
                    <a:solidFill>
                      <a:srgbClr val="7052BE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704" name="TextBox 42"/>
                  <p:cNvSpPr/>
                  <p:nvPr/>
                </p:nvSpPr>
                <p:spPr>
                  <a:xfrm>
                    <a:off x="5561280" y="1882440"/>
                    <a:ext cx="406440" cy="101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r>
                      <a:rPr lang="en-US" sz="83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SHARE</a:t>
                    </a:r>
                    <a:endParaRPr lang="en-US" sz="83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05" name="TextBox 43"/>
                  <p:cNvSpPr/>
                  <p:nvPr/>
                </p:nvSpPr>
                <p:spPr>
                  <a:xfrm>
                    <a:off x="6382080" y="1828800"/>
                    <a:ext cx="666000" cy="2091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1700" b="1" u="none" strike="noStrike">
                        <a:solidFill>
                          <a:srgbClr val="7052BE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ASAP</a:t>
                    </a:r>
                    <a:endParaRPr lang="en-US" sz="17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grpSp>
              <p:nvGrpSpPr>
                <p:cNvPr id="706" name="Group 33"/>
                <p:cNvGrpSpPr/>
                <p:nvPr/>
              </p:nvGrpSpPr>
              <p:grpSpPr>
                <a:xfrm>
                  <a:off x="8393400" y="1640160"/>
                  <a:ext cx="2571840" cy="586440"/>
                  <a:chOff x="8393400" y="1640160"/>
                  <a:chExt cx="2571840" cy="586440"/>
                </a:xfrm>
              </p:grpSpPr>
              <p:sp>
                <p:nvSpPr>
                  <p:cNvPr id="707" name="Rounded Rectangle 28"/>
                  <p:cNvSpPr/>
                  <p:nvPr/>
                </p:nvSpPr>
                <p:spPr>
                  <a:xfrm>
                    <a:off x="8393400" y="1640160"/>
                    <a:ext cx="2571840" cy="5864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FFFFFF"/>
                  </a:solidFill>
                  <a:ln w="28575">
                    <a:solidFill>
                      <a:srgbClr val="000000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708" name="Rounded Rectangle 29"/>
                  <p:cNvSpPr/>
                  <p:nvPr/>
                </p:nvSpPr>
                <p:spPr>
                  <a:xfrm>
                    <a:off x="8926920" y="1816560"/>
                    <a:ext cx="802440" cy="233640"/>
                  </a:xfrm>
                  <a:prstGeom prst="roundRect">
                    <a:avLst>
                      <a:gd name="adj" fmla="val 16667"/>
                    </a:avLst>
                  </a:prstGeom>
                  <a:solidFill>
                    <a:srgbClr val="EF4646"/>
                  </a:solidFill>
                  <a:ln>
                    <a:solidFill>
                      <a:srgbClr val="EF4646"/>
                    </a:solidFill>
                    <a:round/>
                  </a:ln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endParaRPr lang="en-US" sz="1800" b="0" u="none" strike="noStrike">
                      <a:solidFill>
                        <a:schemeClr val="lt1"/>
                      </a:solidFill>
                      <a:effectLst/>
                      <a:uFillTx/>
                      <a:latin typeface="페이퍼로지 7 Bold"/>
                      <a:ea typeface="페이퍼로지 7 Bold"/>
                    </a:endParaRPr>
                  </a:p>
                </p:txBody>
              </p:sp>
              <p:sp>
                <p:nvSpPr>
                  <p:cNvPr id="709" name="TextBox 38"/>
                  <p:cNvSpPr/>
                  <p:nvPr/>
                </p:nvSpPr>
                <p:spPr>
                  <a:xfrm>
                    <a:off x="9051120" y="1882440"/>
                    <a:ext cx="554040" cy="10188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algn="ctr" defTabSz="914400">
                      <a:lnSpc>
                        <a:spcPct val="100000"/>
                      </a:lnSpc>
                    </a:pPr>
                    <a:r>
                      <a:rPr lang="en-US" sz="830" b="1" u="none" strike="noStrike">
                        <a:solidFill>
                          <a:srgbClr val="FFFFFF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PROTECT</a:t>
                    </a:r>
                    <a:endParaRPr lang="en-US" sz="83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  <p:sp>
                <p:nvSpPr>
                  <p:cNvPr id="710" name="TextBox 39"/>
                  <p:cNvSpPr/>
                  <p:nvPr/>
                </p:nvSpPr>
                <p:spPr>
                  <a:xfrm>
                    <a:off x="9945720" y="1828800"/>
                    <a:ext cx="486360" cy="20916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wrap="none" lIns="0" tIns="0" rIns="0" bIns="0" anchor="ctr">
                    <a:spAutoFit/>
                  </a:bodyPr>
                  <a:lstStyle/>
                  <a:p>
                    <a:pPr defTabSz="914400">
                      <a:lnSpc>
                        <a:spcPct val="100000"/>
                      </a:lnSpc>
                    </a:pPr>
                    <a:r>
                      <a:rPr lang="en-US" sz="1700" b="1" u="none" strike="noStrike">
                        <a:solidFill>
                          <a:srgbClr val="EF4646"/>
                        </a:solidFill>
                        <a:effectLst/>
                        <a:uFillTx/>
                        <a:latin typeface="페이퍼로지 7 Bold"/>
                        <a:ea typeface="페이퍼로지 7 Bold"/>
                      </a:rPr>
                      <a:t>FDS</a:t>
                    </a:r>
                    <a:endParaRPr lang="en-US" sz="1700" b="0" u="none" strike="noStrike">
                      <a:solidFill>
                        <a:srgbClr val="FFFFFF"/>
                      </a:solidFill>
                      <a:effectLst/>
                      <a:uFillTx/>
                      <a:latin typeface="Arial"/>
                    </a:endParaRPr>
                  </a:p>
                </p:txBody>
              </p:sp>
            </p:grpSp>
            <p:sp>
              <p:nvSpPr>
                <p:cNvPr id="711" name="Arrow: Left-Right 34"/>
                <p:cNvSpPr/>
                <p:nvPr/>
              </p:nvSpPr>
              <p:spPr>
                <a:xfrm>
                  <a:off x="4232160" y="1740960"/>
                  <a:ext cx="540360" cy="385200"/>
                </a:xfrm>
                <a:prstGeom prst="leftRightArrow">
                  <a:avLst>
                    <a:gd name="adj1" fmla="val 36046"/>
                    <a:gd name="adj2" fmla="val 36047"/>
                  </a:avLst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Aptos"/>
                  </a:endParaRPr>
                </a:p>
              </p:txBody>
            </p:sp>
            <p:sp>
              <p:nvSpPr>
                <p:cNvPr id="712" name="Arrow: Left-Right 35"/>
                <p:cNvSpPr/>
                <p:nvPr/>
              </p:nvSpPr>
              <p:spPr>
                <a:xfrm>
                  <a:off x="7683480" y="1740960"/>
                  <a:ext cx="540360" cy="385200"/>
                </a:xfrm>
                <a:prstGeom prst="leftRightArrow">
                  <a:avLst>
                    <a:gd name="adj1" fmla="val 36046"/>
                    <a:gd name="adj2" fmla="val 36047"/>
                  </a:avLst>
                </a:prstGeom>
                <a:solidFill>
                  <a:schemeClr val="bg1"/>
                </a:solidFill>
                <a:ln w="28575">
                  <a:solidFill>
                    <a:srgbClr val="000000"/>
                  </a:solidFill>
                  <a:round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800" b="0" u="none" strike="noStrike">
                    <a:solidFill>
                      <a:schemeClr val="lt1"/>
                    </a:solidFill>
                    <a:effectLst/>
                    <a:uFillTx/>
                    <a:latin typeface="Aptos"/>
                  </a:endParaRPr>
                </a:p>
              </p:txBody>
            </p:sp>
          </p:grpSp>
        </p:grpSp>
        <p:sp>
          <p:nvSpPr>
            <p:cNvPr id="713" name="TextBox 49"/>
            <p:cNvSpPr/>
            <p:nvPr/>
          </p:nvSpPr>
          <p:spPr>
            <a:xfrm>
              <a:off x="332640" y="1660320"/>
              <a:ext cx="1014120" cy="553680"/>
            </a:xfrm>
            <a:prstGeom prst="rect">
              <a:avLst/>
            </a:prstGeom>
            <a:solidFill>
              <a:srgbClr val="0056F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현행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탐지 체계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4" name="TextBox 51"/>
            <p:cNvSpPr/>
            <p:nvPr/>
          </p:nvSpPr>
          <p:spPr>
            <a:xfrm>
              <a:off x="332640" y="2627280"/>
              <a:ext cx="1014120" cy="553680"/>
            </a:xfrm>
            <a:prstGeom prst="rect">
              <a:avLst/>
            </a:prstGeom>
            <a:solidFill>
              <a:srgbClr val="0056F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제안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대응 체계 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5" name="TextBox 55"/>
          <p:cNvSpPr/>
          <p:nvPr/>
        </p:nvSpPr>
        <p:spPr>
          <a:xfrm>
            <a:off x="5445360" y="302040"/>
            <a:ext cx="130140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실제 상용화 시 적용 영역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TextBox 56"/>
          <p:cNvSpPr/>
          <p:nvPr/>
        </p:nvSpPr>
        <p:spPr>
          <a:xfrm>
            <a:off x="152280" y="566280"/>
            <a:ext cx="11886840" cy="83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alt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CSR</a:t>
            </a:r>
            <a:r>
              <a:rPr lang="ko-KR" alt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은 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현행 체계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(ASAP, FDS)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와 별개 체계로 개발 및 운영하는</a:t>
            </a:r>
            <a:r>
              <a:rPr lang="en-US" alt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alt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개별 서비스</a:t>
            </a:r>
            <a:endParaRPr lang="en-US" altLang="ko-KR" sz="1800" b="1" u="none" strike="noStrike" dirty="0">
              <a:solidFill>
                <a:srgbClr val="FFC000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개발한 모듈을 온디바이스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업체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통신사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이동통신기기 제조사 등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에게 제공하거나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온디바이스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업체로부터 스키마 구조에 맞게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JSON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 회신 요청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7" name="TextBox 97"/>
          <p:cNvSpPr/>
          <p:nvPr/>
        </p:nvSpPr>
        <p:spPr>
          <a:xfrm>
            <a:off x="5592600" y="3932640"/>
            <a:ext cx="1006200" cy="154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ctr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050" b="1" u="none" strike="noStrike">
                <a:solidFill>
                  <a:srgbClr val="2F66E8"/>
                </a:solidFill>
                <a:effectLst/>
                <a:uFillTx/>
                <a:latin typeface="페이퍼로지 7 Bold"/>
                <a:ea typeface="페이퍼로지 7 Bold"/>
              </a:rPr>
              <a:t>프로젝트 구현 범위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Box 110"/>
          <p:cNvSpPr/>
          <p:nvPr/>
        </p:nvSpPr>
        <p:spPr>
          <a:xfrm>
            <a:off x="152280" y="4235040"/>
            <a:ext cx="1188684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보이스피싱 판정부터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~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대응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워크스페이스 및 고객 챗봇 구현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19" name="Group 122"/>
          <p:cNvGrpSpPr/>
          <p:nvPr/>
        </p:nvGrpSpPr>
        <p:grpSpPr>
          <a:xfrm>
            <a:off x="1023480" y="4711320"/>
            <a:ext cx="10049400" cy="1667520"/>
            <a:chOff x="1023480" y="4711320"/>
            <a:chExt cx="10049400" cy="1667520"/>
          </a:xfrm>
        </p:grpSpPr>
        <p:grpSp>
          <p:nvGrpSpPr>
            <p:cNvPr id="720" name="Group 109"/>
            <p:cNvGrpSpPr/>
            <p:nvPr/>
          </p:nvGrpSpPr>
          <p:grpSpPr>
            <a:xfrm>
              <a:off x="2234520" y="4711320"/>
              <a:ext cx="8838360" cy="868320"/>
              <a:chOff x="2234520" y="4711320"/>
              <a:chExt cx="8838360" cy="868320"/>
            </a:xfrm>
          </p:grpSpPr>
          <p:sp>
            <p:nvSpPr>
              <p:cNvPr id="721" name="Rounded Rectangle 8"/>
              <p:cNvSpPr/>
              <p:nvPr/>
            </p:nvSpPr>
            <p:spPr>
              <a:xfrm>
                <a:off x="2234520" y="4711320"/>
                <a:ext cx="1954080" cy="868320"/>
              </a:xfrm>
              <a:prstGeom prst="roundRect">
                <a:avLst>
                  <a:gd name="adj" fmla="val 16667"/>
                </a:avLst>
              </a:prstGeom>
              <a:solidFill>
                <a:srgbClr val="0056FB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 여부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판정 </a:t>
                </a:r>
                <a:r>
                  <a:rPr lang="en-US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ML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2" name="Rounded Rectangle 8"/>
              <p:cNvSpPr/>
              <p:nvPr/>
            </p:nvSpPr>
            <p:spPr>
              <a:xfrm>
                <a:off x="4529160" y="4711320"/>
                <a:ext cx="1954080" cy="868320"/>
              </a:xfrm>
              <a:prstGeom prst="roundRect">
                <a:avLst>
                  <a:gd name="adj" fmla="val 16667"/>
                </a:avLst>
              </a:prstGeom>
              <a:solidFill>
                <a:srgbClr val="0056FB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600" b="0" u="none" strike="noStrike">
                    <a:solidFill>
                      <a:schemeClr val="lt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통화 내용 분석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600" b="0" u="none" strike="noStrike">
                    <a:solidFill>
                      <a:schemeClr val="lt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및 재구성 </a:t>
                </a:r>
                <a:r>
                  <a:rPr lang="en-US" sz="1600" b="0" u="none" strike="noStrike">
                    <a:solidFill>
                      <a:schemeClr val="lt1"/>
                    </a:solidFill>
                    <a:effectLst/>
                    <a:uFillTx/>
                    <a:latin typeface="페이퍼로지 7 Bold"/>
                    <a:ea typeface="페이퍼로지 7 Bold"/>
                  </a:rPr>
                  <a:t>LLM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3" name="Rounded Rectangle 8"/>
              <p:cNvSpPr/>
              <p:nvPr/>
            </p:nvSpPr>
            <p:spPr>
              <a:xfrm>
                <a:off x="6824160" y="4711320"/>
                <a:ext cx="1954080" cy="868320"/>
              </a:xfrm>
              <a:prstGeom prst="roundRect">
                <a:avLst>
                  <a:gd name="adj" fmla="val 16667"/>
                </a:avLst>
              </a:prstGeom>
              <a:solidFill>
                <a:srgbClr val="0056FB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 담당자용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 </a:t>
                </a: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워크스페이스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+ AI</a:t>
                </a: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챗봇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4" name="Rounded Rectangle 8"/>
              <p:cNvSpPr/>
              <p:nvPr/>
            </p:nvSpPr>
            <p:spPr>
              <a:xfrm>
                <a:off x="9118800" y="4711320"/>
                <a:ext cx="1954080" cy="868320"/>
              </a:xfrm>
              <a:prstGeom prst="roundRect">
                <a:avLst>
                  <a:gd name="adj" fmla="val 16667"/>
                </a:avLst>
              </a:prstGeom>
              <a:solidFill>
                <a:srgbClr val="0056FB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고객용 챗봇 </a:t>
                </a:r>
                <a:r>
                  <a:rPr lang="en-US" sz="1600" b="1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</a:t>
                </a:r>
                <a:endParaRPr lang="en-US" sz="16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25" name="TextBox 115"/>
            <p:cNvSpPr/>
            <p:nvPr/>
          </p:nvSpPr>
          <p:spPr>
            <a:xfrm>
              <a:off x="1023480" y="4878720"/>
              <a:ext cx="958680" cy="553680"/>
            </a:xfrm>
            <a:prstGeom prst="rect">
              <a:avLst/>
            </a:prstGeom>
            <a:solidFill>
              <a:srgbClr val="0056F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구현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사항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6" name="TextBox 116"/>
            <p:cNvSpPr/>
            <p:nvPr/>
          </p:nvSpPr>
          <p:spPr>
            <a:xfrm>
              <a:off x="1023480" y="5932440"/>
              <a:ext cx="958680" cy="369000"/>
            </a:xfrm>
            <a:prstGeom prst="rect">
              <a:avLst/>
            </a:prstGeom>
            <a:solidFill>
              <a:srgbClr val="0056FB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0" tIns="0" rIns="0" bIns="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2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실서비스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</a:pPr>
              <a:r>
                <a:rPr lang="ko-KR" sz="12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적용 시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27" name="Group 117"/>
            <p:cNvGrpSpPr/>
            <p:nvPr/>
          </p:nvGrpSpPr>
          <p:grpSpPr>
            <a:xfrm>
              <a:off x="2234520" y="5855040"/>
              <a:ext cx="8838360" cy="523800"/>
              <a:chOff x="2234520" y="5855040"/>
              <a:chExt cx="8838360" cy="523800"/>
            </a:xfrm>
          </p:grpSpPr>
          <p:sp>
            <p:nvSpPr>
              <p:cNvPr id="728" name="Rounded Rectangle 8"/>
              <p:cNvSpPr/>
              <p:nvPr/>
            </p:nvSpPr>
            <p:spPr>
              <a:xfrm>
                <a:off x="2234520" y="5855040"/>
                <a:ext cx="1954080" cy="5238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현행 체계로 탐지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29" name="Rounded Rectangle 8"/>
              <p:cNvSpPr/>
              <p:nvPr/>
            </p:nvSpPr>
            <p:spPr>
              <a:xfrm>
                <a:off x="4529160" y="5855040"/>
                <a:ext cx="1954080" cy="5238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온디바이스 </a:t>
                </a:r>
                <a:r>
                  <a:rPr lang="en-US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 </a:t>
                </a: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협업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0" name="Rounded Rectangle 8"/>
              <p:cNvSpPr/>
              <p:nvPr/>
            </p:nvSpPr>
            <p:spPr>
              <a:xfrm>
                <a:off x="6824160" y="5855040"/>
                <a:ext cx="1954080" cy="5238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 내부 대응 업무 체계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1" name="Rounded Rectangle 8"/>
              <p:cNvSpPr/>
              <p:nvPr/>
            </p:nvSpPr>
            <p:spPr>
              <a:xfrm>
                <a:off x="9118800" y="5855040"/>
                <a:ext cx="1954080" cy="5238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28575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은행 앱 챗봇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200" b="1" u="none" strike="noStrike">
                    <a:solidFill>
                      <a:srgbClr val="000000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탐지 이후 송금 플로우</a:t>
                </a:r>
                <a:endParaRPr lang="en-US" sz="12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</p:grpSp>
      <p:cxnSp>
        <p:nvCxnSpPr>
          <p:cNvPr id="732" name="Straight Connector 124"/>
          <p:cNvCxnSpPr/>
          <p:nvPr/>
        </p:nvCxnSpPr>
        <p:spPr>
          <a:xfrm>
            <a:off x="997200" y="5715720"/>
            <a:ext cx="10132920" cy="360"/>
          </a:xfrm>
          <a:prstGeom prst="straightConnector1">
            <a:avLst/>
          </a:prstGeom>
          <a:ln>
            <a:solidFill>
              <a:srgbClr val="0056FB"/>
            </a:solidFill>
            <a:round/>
          </a:ln>
        </p:spPr>
      </p:cxnSp>
      <p:sp>
        <p:nvSpPr>
          <p:cNvPr id="733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21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상단 강조선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</p:sp>
      <p:sp>
        <p:nvSpPr>
          <p:cNvPr id="734" name="직사각형 733"/>
          <p:cNvSpPr/>
          <p:nvPr/>
        </p:nvSpPr>
        <p:spPr>
          <a:xfrm>
            <a:off x="552600" y="266760"/>
            <a:ext cx="1047708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l" defTabSz="914400">
              <a:lnSpc>
                <a:spcPct val="100000"/>
              </a:lnSpc>
            </a:pPr>
            <a:r>
              <a:rPr lang="en-US" sz="10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02 </a:t>
            </a:r>
            <a:r>
              <a:rPr lang="ko-KR" sz="10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프로젝트 개요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35" name="직사각형 734"/>
          <p:cNvSpPr/>
          <p:nvPr/>
        </p:nvSpPr>
        <p:spPr>
          <a:xfrm>
            <a:off x="552600" y="733320"/>
            <a:ext cx="1108692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현재 </a:t>
            </a:r>
            <a:r>
              <a:rPr lang="en-US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PoC</a:t>
            </a:r>
            <a:r>
              <a:rPr 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의 활용과 </a:t>
            </a:r>
            <a:r>
              <a:rPr lang="en-US" alt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 </a:t>
            </a:r>
            <a:r>
              <a:rPr lang="ko-KR" sz="2850" b="1" u="none" strike="noStrike" dirty="0">
                <a:solidFill>
                  <a:srgbClr val="071B38"/>
                </a:solidFill>
                <a:effectLst/>
                <a:uFillTx/>
                <a:latin typeface="페이퍼로지 7 Bold"/>
                <a:ea typeface="페이퍼로지 7 Bold"/>
              </a:rPr>
              <a:t>금융기관 적용 방향</a:t>
            </a:r>
            <a:endParaRPr lang="en-US" sz="28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36" name="직사각형 735"/>
          <p:cNvSpPr/>
          <p:nvPr/>
        </p:nvSpPr>
        <p:spPr>
          <a:xfrm>
            <a:off x="552600" y="1285919"/>
            <a:ext cx="11086920" cy="6643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활용 목표</a:t>
            </a:r>
            <a:r>
              <a:rPr lang="en-US" sz="15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탐지 이후 은행 대응 업무를 지원하는 </a:t>
            </a:r>
            <a:r>
              <a:rPr lang="en-US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B2B </a:t>
            </a:r>
            <a:r>
              <a:rPr lang="ko-KR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모듈로 확장</a:t>
            </a:r>
            <a:r>
              <a:rPr lang="en-US" altLang="ko-KR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 </a:t>
            </a:r>
            <a:r>
              <a:rPr lang="ko-KR" altLang="en-US" sz="1500" b="0" u="none" strike="noStrike" dirty="0">
                <a:solidFill>
                  <a:srgbClr val="002060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연동</a:t>
            </a:r>
            <a:endParaRPr lang="en-US" sz="1500" b="0" u="none" strike="noStrike" dirty="0">
              <a:solidFill>
                <a:srgbClr val="00206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740" name="사각형: 둥근 모서리 739"/>
          <p:cNvSpPr/>
          <p:nvPr/>
        </p:nvSpPr>
        <p:spPr>
          <a:xfrm>
            <a:off x="552600" y="1881918"/>
            <a:ext cx="3524040" cy="4494574"/>
          </a:xfrm>
          <a:prstGeom prst="roundRect">
            <a:avLst>
              <a:gd name="adj" fmla="val 4484"/>
            </a:avLst>
          </a:prstGeom>
          <a:solidFill>
            <a:srgbClr val="FFFFFF"/>
          </a:solidFill>
          <a:ln w="9525">
            <a:solidFill>
              <a:srgbClr val="CDDCEE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1" name="직사각형 740"/>
          <p:cNvSpPr/>
          <p:nvPr/>
        </p:nvSpPr>
        <p:spPr>
          <a:xfrm>
            <a:off x="552600" y="1881918"/>
            <a:ext cx="3524040" cy="120384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2240" rIns="90000" bIns="1224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2" name="직사각형 741"/>
          <p:cNvSpPr/>
          <p:nvPr/>
        </p:nvSpPr>
        <p:spPr>
          <a:xfrm>
            <a:off x="971640" y="2516661"/>
            <a:ext cx="3104640" cy="6240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현재 </a:t>
            </a:r>
            <a:r>
              <a:rPr lang="en-US" sz="18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PoC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3" name="직사각형 742"/>
          <p:cNvSpPr/>
          <p:nvPr/>
        </p:nvSpPr>
        <p:spPr>
          <a:xfrm>
            <a:off x="971640" y="2907261"/>
            <a:ext cx="3104640" cy="5432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독립 </a:t>
            </a:r>
            <a:r>
              <a:rPr 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Web</a:t>
            </a: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에서</a:t>
            </a:r>
            <a:endParaRPr lang="en-US" altLang="ko-KR" sz="1500" b="1" u="none" strike="noStrike" dirty="0">
              <a:solidFill>
                <a:srgbClr val="122B4C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대체 기능</a:t>
            </a:r>
            <a:r>
              <a:rPr lang="en-US" altLang="ko-KR" sz="1500" b="1" dirty="0">
                <a:solidFill>
                  <a:srgbClr val="122B4C"/>
                </a:solidFill>
                <a:latin typeface="페이퍼로지 7 Bold"/>
                <a:ea typeface="페이퍼로지 7 Bold"/>
              </a:rPr>
              <a:t> </a:t>
            </a:r>
            <a:r>
              <a:rPr lang="ko-KR" altLang="en-US" sz="1500" b="1" dirty="0">
                <a:solidFill>
                  <a:srgbClr val="122B4C"/>
                </a:solidFill>
                <a:latin typeface="페이퍼로지 7 Bold"/>
                <a:ea typeface="페이퍼로지 7 Bold"/>
              </a:rPr>
              <a:t>구현</a:t>
            </a:r>
            <a:endParaRPr lang="en-US" altLang="ko-KR" sz="1500" b="1" dirty="0">
              <a:solidFill>
                <a:srgbClr val="122B4C"/>
              </a:solidFill>
              <a:latin typeface="페이퍼로지 7 Bold"/>
              <a:ea typeface="페이퍼로지 7 Bold"/>
            </a:endParaRPr>
          </a:p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핵심 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기능</a:t>
            </a: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 구현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4" name="직사각형 743"/>
          <p:cNvSpPr/>
          <p:nvPr/>
        </p:nvSpPr>
        <p:spPr>
          <a:xfrm>
            <a:off x="971640" y="4290819"/>
            <a:ext cx="3104640" cy="18339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Shared Case·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담당자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ROOM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질문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답변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·Context·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업무 기록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350" b="0" u="none" strike="noStrike" dirty="0" err="1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Summary·Report</a:t>
            </a:r>
            <a:r>
              <a:rPr lang="en-US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135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생성 경로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5" name="직사각형 744"/>
          <p:cNvSpPr/>
          <p:nvPr/>
        </p:nvSpPr>
        <p:spPr>
          <a:xfrm>
            <a:off x="971640" y="5176420"/>
            <a:ext cx="3104640" cy="5028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외부 입력은 </a:t>
            </a:r>
            <a:r>
              <a:rPr lang="en-US" sz="12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Demo/Mock </a:t>
            </a:r>
            <a:r>
              <a:rPr lang="ko-KR" sz="120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포함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6" name="사각형: 둥근 모서리 745"/>
          <p:cNvSpPr/>
          <p:nvPr/>
        </p:nvSpPr>
        <p:spPr>
          <a:xfrm>
            <a:off x="4324320" y="1881918"/>
            <a:ext cx="7314840" cy="4494574"/>
          </a:xfrm>
          <a:prstGeom prst="roundRect">
            <a:avLst>
              <a:gd name="adj" fmla="val 4484"/>
            </a:avLst>
          </a:prstGeom>
          <a:solidFill>
            <a:srgbClr val="E8F7F4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7" name="직사각형 746"/>
          <p:cNvSpPr/>
          <p:nvPr/>
        </p:nvSpPr>
        <p:spPr>
          <a:xfrm>
            <a:off x="4635784" y="2412467"/>
            <a:ext cx="6895800" cy="62401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실제 적용 방향  </a:t>
            </a:r>
            <a:r>
              <a:rPr lang="en-US" sz="18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·  </a:t>
            </a:r>
            <a:r>
              <a:rPr lang="ko-KR" sz="180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향후 협업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8" name="직사각형 747"/>
          <p:cNvSpPr/>
          <p:nvPr/>
        </p:nvSpPr>
        <p:spPr>
          <a:xfrm>
            <a:off x="4635784" y="2803067"/>
            <a:ext cx="6895800" cy="6042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현행 </a:t>
            </a: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탐지체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계와 별개로 </a:t>
            </a:r>
            <a:r>
              <a:rPr lang="en-US" alt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CSR 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구현</a:t>
            </a:r>
            <a:endParaRPr lang="en-US" altLang="ko-KR" sz="1500" b="1" u="none" strike="noStrike" dirty="0">
              <a:solidFill>
                <a:srgbClr val="122B4C"/>
              </a:solidFill>
              <a:effectLst/>
              <a:uFillTx/>
              <a:latin typeface="페이퍼로지 7 Bold"/>
              <a:ea typeface="페이퍼로지 7 Bold"/>
            </a:endParaRPr>
          </a:p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온디바이스에서 </a:t>
            </a:r>
            <a:r>
              <a:rPr lang="en-US" alt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JSON 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데이터로 </a:t>
            </a:r>
            <a:r>
              <a:rPr 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정황 가공</a:t>
            </a:r>
            <a:r>
              <a:rPr lang="en-US" alt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altLang="ko-KR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 </a:t>
            </a:r>
            <a:r>
              <a:rPr lang="ko-KR" altLang="en-US" sz="1500" b="1" u="none" strike="noStrike" dirty="0">
                <a:solidFill>
                  <a:srgbClr val="122B4C"/>
                </a:solidFill>
                <a:effectLst/>
                <a:uFillTx/>
                <a:latin typeface="페이퍼로지 7 Bold"/>
                <a:ea typeface="페이퍼로지 7 Bold"/>
                <a:sym typeface="Wingdings" panose="05000000000000000000" pitchFamily="2" charset="2"/>
              </a:rPr>
              <a:t>가공 데이터를 은행 서버로 전송</a:t>
            </a:r>
            <a:endParaRPr lang="en-US" altLang="ko-KR" sz="1500" b="1" u="none" strike="noStrike" dirty="0">
              <a:solidFill>
                <a:srgbClr val="122B4C"/>
              </a:solidFill>
              <a:effectLst/>
              <a:uFillTx/>
              <a:latin typeface="페이퍼로지 7 Bold"/>
              <a:ea typeface="페이퍼로지 7 Bold"/>
              <a:sym typeface="Wingdings" panose="05000000000000000000" pitchFamily="2" charset="2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500" b="1" dirty="0">
                <a:solidFill>
                  <a:srgbClr val="122B4C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은행 내부 업무용 </a:t>
            </a:r>
            <a:r>
              <a:rPr lang="en-US" altLang="ko-KR" sz="1500" b="1" dirty="0">
                <a:solidFill>
                  <a:srgbClr val="122B4C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WEB</a:t>
            </a:r>
            <a:r>
              <a:rPr lang="ko-KR" altLang="en-US" sz="1500" b="1" dirty="0">
                <a:solidFill>
                  <a:srgbClr val="122B4C"/>
                </a:solidFill>
                <a:latin typeface="페이퍼로지 7 Bold"/>
                <a:ea typeface="페이퍼로지 7 Bold"/>
                <a:sym typeface="Wingdings" panose="05000000000000000000" pitchFamily="2" charset="2"/>
              </a:rPr>
              <a:t>과 챗봇 연동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49" name="사각형: 둥근 모서리 748"/>
          <p:cNvSpPr/>
          <p:nvPr/>
        </p:nvSpPr>
        <p:spPr>
          <a:xfrm>
            <a:off x="4635784" y="3789488"/>
            <a:ext cx="2133360" cy="127294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0" name="직사각형 749"/>
          <p:cNvSpPr/>
          <p:nvPr/>
        </p:nvSpPr>
        <p:spPr>
          <a:xfrm>
            <a:off x="4750264" y="4077701"/>
            <a:ext cx="1904760" cy="4457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가공 정황 </a:t>
            </a: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JSON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1" name="직사각형 750"/>
          <p:cNvSpPr/>
          <p:nvPr/>
        </p:nvSpPr>
        <p:spPr>
          <a:xfrm>
            <a:off x="4750264" y="4376130"/>
            <a:ext cx="1904760" cy="363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9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기기 내 분석</a:t>
            </a:r>
            <a:r>
              <a:rPr lang="en-US" sz="109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090" b="0" u="none" strike="noStrike" dirty="0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필요정보 추출</a:t>
            </a:r>
            <a:endParaRPr lang="en-US" sz="109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2" name="직사각형 751"/>
          <p:cNvSpPr/>
          <p:nvPr/>
        </p:nvSpPr>
        <p:spPr>
          <a:xfrm>
            <a:off x="6769504" y="4170973"/>
            <a:ext cx="228240" cy="5620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3" name="사각형: 둥근 모서리 752"/>
          <p:cNvSpPr/>
          <p:nvPr/>
        </p:nvSpPr>
        <p:spPr>
          <a:xfrm>
            <a:off x="6940864" y="3789488"/>
            <a:ext cx="2133360" cy="127294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4" name="직사각형 753"/>
          <p:cNvSpPr/>
          <p:nvPr/>
        </p:nvSpPr>
        <p:spPr>
          <a:xfrm>
            <a:off x="7055344" y="4077701"/>
            <a:ext cx="1904760" cy="4457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CSR </a:t>
            </a:r>
            <a:r>
              <a:rPr lang="ko-KR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업무 </a:t>
            </a: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Web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5" name="직사각형 754"/>
          <p:cNvSpPr/>
          <p:nvPr/>
        </p:nvSpPr>
        <p:spPr>
          <a:xfrm>
            <a:off x="7055344" y="4376130"/>
            <a:ext cx="1904760" cy="363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은행 담당자 조사</a:t>
            </a:r>
            <a:r>
              <a:rPr lang="en-US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협업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6" name="직사각형 755"/>
          <p:cNvSpPr/>
          <p:nvPr/>
        </p:nvSpPr>
        <p:spPr>
          <a:xfrm>
            <a:off x="9074584" y="4170973"/>
            <a:ext cx="228240" cy="5620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25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›</a:t>
            </a:r>
            <a:endParaRPr lang="en-US" sz="22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7" name="사각형: 둥근 모서리 756"/>
          <p:cNvSpPr/>
          <p:nvPr/>
        </p:nvSpPr>
        <p:spPr>
          <a:xfrm>
            <a:off x="9245944" y="3789488"/>
            <a:ext cx="2133360" cy="1272945"/>
          </a:xfrm>
          <a:prstGeom prst="roundRect">
            <a:avLst>
              <a:gd name="adj" fmla="val 7792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8" name="직사각형 757"/>
          <p:cNvSpPr/>
          <p:nvPr/>
        </p:nvSpPr>
        <p:spPr>
          <a:xfrm>
            <a:off x="9360424" y="4077701"/>
            <a:ext cx="1904760" cy="4457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은행 </a:t>
            </a: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App </a:t>
            </a:r>
            <a:r>
              <a:rPr lang="ko-KR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확인 영역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59" name="직사각형 758"/>
          <p:cNvSpPr/>
          <p:nvPr/>
        </p:nvSpPr>
        <p:spPr>
          <a:xfrm>
            <a:off x="9360424" y="4376130"/>
            <a:ext cx="1904760" cy="36325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고객 소통</a:t>
            </a:r>
            <a:r>
              <a:rPr lang="en-US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090" b="0" u="none" strike="noStrike">
                <a:solidFill>
                  <a:srgbClr val="122B4C"/>
                </a:solidFill>
                <a:effectLst/>
                <a:uFillTx/>
                <a:latin typeface="페이퍼로지 5 Medium"/>
                <a:ea typeface="페이퍼로지 5 Medium"/>
              </a:rPr>
              <a:t>대응 안내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760" name="직사각형 759"/>
          <p:cNvSpPr/>
          <p:nvPr/>
        </p:nvSpPr>
        <p:spPr>
          <a:xfrm>
            <a:off x="4750264" y="5360433"/>
            <a:ext cx="6895800" cy="523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통화정보 처리의 법적 검토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동의 설계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인증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권한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개인정보 보호</a:t>
            </a:r>
            <a:r>
              <a:rPr lang="en-US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170" b="0" u="none" strike="noStrike" dirty="0">
                <a:solidFill>
                  <a:srgbClr val="5B6F8D"/>
                </a:solidFill>
                <a:effectLst/>
                <a:uFillTx/>
                <a:latin typeface="페이퍼로지 5 Medium"/>
                <a:ea typeface="페이퍼로지 5 Medium"/>
              </a:rPr>
              <a:t>기관 협업 필요</a:t>
            </a:r>
            <a:endParaRPr lang="en-US" sz="117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49" name="Integrated page number">
            <a:extLst>
              <a:ext uri="{FF2B5EF4-FFF2-40B4-BE49-F238E27FC236}">
                <a16:creationId xmlns:a16="http://schemas.microsoft.com/office/drawing/2014/main" id="{41383189-E4F3-40A9-B9FA-D6087DD02F34}"/>
              </a:ext>
            </a:extLst>
          </p:cNvPr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22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79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0" name="Rectangle 6"/>
          <p:cNvSpPr/>
          <p:nvPr/>
        </p:nvSpPr>
        <p:spPr>
          <a:xfrm>
            <a:off x="1743120" y="2349720"/>
            <a:ext cx="87055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 dirty="0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03 </a:t>
            </a:r>
            <a:r>
              <a:rPr lang="ko-KR" sz="4800" b="1" u="none" strike="noStrike" dirty="0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상세 수행 절차 및 방법</a:t>
            </a:r>
            <a:endParaRPr lang="en-US" sz="480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1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기능 구현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고도화 과정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사항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782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784" name="TextBox 56"/>
          <p:cNvSpPr/>
          <p:nvPr/>
        </p:nvSpPr>
        <p:spPr>
          <a:xfrm>
            <a:off x="152280" y="226800"/>
            <a:ext cx="11886840" cy="76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CSR PoC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구현 방향 및 전체 시스템 구조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React/Vite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로 화면 제작 →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FastAPI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로 만든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General API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로 서비스 및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오케스트레이션과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데이터를 관리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→ AI(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자체 제작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ML, OpenAI API LLM)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를 호출하는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백엔드 개별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FastAPI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로 구현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→ 데이터는 MySQL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에서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CRUD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하는 구조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5" name="Rectangle 53"/>
          <p:cNvSpPr/>
          <p:nvPr/>
        </p:nvSpPr>
        <p:spPr>
          <a:xfrm>
            <a:off x="-720" y="1222920"/>
            <a:ext cx="12191760" cy="56818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86" name="Table 62"/>
          <p:cNvGraphicFramePr/>
          <p:nvPr>
            <p:extLst>
              <p:ext uri="{D42A27DB-BD31-4B8C-83A1-F6EECF244321}">
                <p14:modId xmlns:p14="http://schemas.microsoft.com/office/powerpoint/2010/main" val="2648656759"/>
              </p:ext>
            </p:extLst>
          </p:nvPr>
        </p:nvGraphicFramePr>
        <p:xfrm>
          <a:off x="7553880" y="4054680"/>
          <a:ext cx="4422600" cy="2560320"/>
        </p:xfrm>
        <a:graphic>
          <a:graphicData uri="http://schemas.openxmlformats.org/drawingml/2006/table">
            <a:tbl>
              <a:tblPr/>
              <a:tblGrid>
                <a:gridCol w="158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영역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4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기술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Frontend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React, Vite, TypeScript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Backend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FastAPI, Uvicorn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 Backend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FastAPI</a:t>
                      </a:r>
                      <a:r>
                        <a:rPr lang="en-US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, </a:t>
                      </a:r>
                      <a:r>
                        <a:rPr lang="en-US" sz="1400" b="0" u="none" strike="noStrike" dirty="0" err="1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OpenAI</a:t>
                      </a:r>
                      <a:r>
                        <a:rPr lang="en-US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 API,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0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Database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MySQL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Deployment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AWS EC2, Docker,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Docker Compose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0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Development</a:t>
                      </a:r>
                      <a:endParaRPr lang="en-US" sz="14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Git, GitHub,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fr-FR" sz="14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VS Code, Codex</a:t>
                      </a:r>
                      <a:endParaRPr lang="en-US" sz="14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87" name="TextBox 63"/>
          <p:cNvSpPr/>
          <p:nvPr/>
        </p:nvSpPr>
        <p:spPr>
          <a:xfrm>
            <a:off x="7553880" y="3738960"/>
            <a:ext cx="2107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구현 및 배포 기술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Box 64"/>
          <p:cNvSpPr/>
          <p:nvPr/>
        </p:nvSpPr>
        <p:spPr>
          <a:xfrm>
            <a:off x="7553880" y="1513800"/>
            <a:ext cx="210744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PoC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배포 환경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789" name="Group 15"/>
          <p:cNvGrpSpPr/>
          <p:nvPr/>
        </p:nvGrpSpPr>
        <p:grpSpPr>
          <a:xfrm>
            <a:off x="7553880" y="2404080"/>
            <a:ext cx="4459320" cy="1155960"/>
            <a:chOff x="7553880" y="2404080"/>
            <a:chExt cx="4459320" cy="1155960"/>
          </a:xfrm>
        </p:grpSpPr>
        <p:grpSp>
          <p:nvGrpSpPr>
            <p:cNvPr id="790" name="Group 13"/>
            <p:cNvGrpSpPr/>
            <p:nvPr/>
          </p:nvGrpSpPr>
          <p:grpSpPr>
            <a:xfrm>
              <a:off x="8593920" y="2404080"/>
              <a:ext cx="3419280" cy="1155960"/>
              <a:chOff x="8593920" y="2404080"/>
              <a:chExt cx="3419280" cy="1155960"/>
            </a:xfrm>
          </p:grpSpPr>
          <p:sp>
            <p:nvSpPr>
              <p:cNvPr id="791" name="Rounded Rectangle 32"/>
              <p:cNvSpPr/>
              <p:nvPr/>
            </p:nvSpPr>
            <p:spPr>
              <a:xfrm>
                <a:off x="8593920" y="2404080"/>
                <a:ext cx="3419280" cy="1155960"/>
              </a:xfrm>
              <a:prstGeom prst="roundRect">
                <a:avLst>
                  <a:gd name="adj" fmla="val 16667"/>
                </a:avLst>
              </a:prstGeom>
              <a:solidFill>
                <a:srgbClr val="F2F4F7"/>
              </a:solidFill>
              <a:ln w="10160">
                <a:solidFill>
                  <a:srgbClr val="CDD3DC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endParaRPr>
              </a:p>
            </p:txBody>
          </p:sp>
          <p:sp>
            <p:nvSpPr>
              <p:cNvPr id="792" name="TextBox 68"/>
              <p:cNvSpPr/>
              <p:nvPr/>
            </p:nvSpPr>
            <p:spPr>
              <a:xfrm>
                <a:off x="8831520" y="2702880"/>
                <a:ext cx="721800" cy="1843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200" b="1" u="none" strike="noStrike">
                    <a:solidFill>
                      <a:srgbClr val="182234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AWS EC2</a:t>
                </a:r>
                <a:endParaRPr lang="en-US" sz="1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3" name="TextBox 69"/>
              <p:cNvSpPr/>
              <p:nvPr/>
            </p:nvSpPr>
            <p:spPr>
              <a:xfrm>
                <a:off x="8970480" y="2960280"/>
                <a:ext cx="443520" cy="2764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900" b="0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탄력적 </a:t>
                </a:r>
                <a:r>
                  <a:rPr lang="en-US" sz="900" b="0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IP</a:t>
                </a:r>
                <a:endParaRPr lang="en-US" sz="9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900" b="0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	</a:t>
                </a:r>
                <a:r>
                  <a:rPr lang="ko-KR" sz="900" b="0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수동 배포</a:t>
                </a:r>
                <a:endParaRPr lang="en-US" sz="9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4" name="Rounded Rectangle 35"/>
              <p:cNvSpPr/>
              <p:nvPr/>
            </p:nvSpPr>
            <p:spPr>
              <a:xfrm>
                <a:off x="9716760" y="2508480"/>
                <a:ext cx="2166840" cy="9540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0160">
                <a:solidFill>
                  <a:srgbClr val="CDD3DC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endParaRPr>
              </a:p>
            </p:txBody>
          </p:sp>
          <p:sp>
            <p:nvSpPr>
              <p:cNvPr id="795" name="TextBox 71"/>
              <p:cNvSpPr/>
              <p:nvPr/>
            </p:nvSpPr>
            <p:spPr>
              <a:xfrm>
                <a:off x="10024560" y="2648880"/>
                <a:ext cx="1551240" cy="1382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900" b="1" u="none" strike="noStrike">
                    <a:solidFill>
                      <a:srgbClr val="3769BE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Docker / Docker Compose</a:t>
                </a:r>
                <a:endParaRPr lang="en-US" sz="9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96" name="TextBox 72"/>
              <p:cNvSpPr/>
              <p:nvPr/>
            </p:nvSpPr>
            <p:spPr>
              <a:xfrm>
                <a:off x="10187280" y="2825280"/>
                <a:ext cx="1225800" cy="553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프론트엔드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(React)</a:t>
                </a:r>
                <a:endParaRPr lang="en-US" sz="1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백엔드</a:t>
                </a: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(FastAPI)</a:t>
                </a:r>
                <a:br>
                  <a:rPr sz="1200"/>
                </a:br>
                <a:r>
                  <a:rPr lang="en-US" sz="12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AI API  ·  MySQL</a:t>
                </a:r>
                <a:endParaRPr lang="en-US" sz="12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797" name="Group 14"/>
            <p:cNvGrpSpPr/>
            <p:nvPr/>
          </p:nvGrpSpPr>
          <p:grpSpPr>
            <a:xfrm>
              <a:off x="7553880" y="2620080"/>
              <a:ext cx="1039680" cy="756000"/>
              <a:chOff x="7553880" y="2620080"/>
              <a:chExt cx="1039680" cy="756000"/>
            </a:xfrm>
          </p:grpSpPr>
          <p:sp>
            <p:nvSpPr>
              <p:cNvPr id="798" name="Rounded Rectangle 30"/>
              <p:cNvSpPr/>
              <p:nvPr/>
            </p:nvSpPr>
            <p:spPr>
              <a:xfrm>
                <a:off x="7553880" y="2620080"/>
                <a:ext cx="818640" cy="756000"/>
              </a:xfrm>
              <a:prstGeom prst="roundRect">
                <a:avLst>
                  <a:gd name="adj" fmla="val 16667"/>
                </a:avLst>
              </a:prstGeom>
              <a:solidFill>
                <a:srgbClr val="FFFFFF"/>
              </a:solidFill>
              <a:ln w="10160">
                <a:solidFill>
                  <a:srgbClr val="CDD3DC"/>
                </a:solidFill>
                <a:round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endParaRPr>
              </a:p>
            </p:txBody>
          </p:sp>
          <p:sp>
            <p:nvSpPr>
              <p:cNvPr id="799" name="TextBox 66"/>
              <p:cNvSpPr/>
              <p:nvPr/>
            </p:nvSpPr>
            <p:spPr>
              <a:xfrm>
                <a:off x="7696440" y="2792520"/>
                <a:ext cx="533520" cy="461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none" lIns="0" tIns="0" rIns="0" bIns="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Internet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en-US" sz="1000" b="1" u="none" strike="noStrike">
                    <a:solidFill>
                      <a:srgbClr val="656E7D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HTTP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cxnSp>
            <p:nvCxnSpPr>
              <p:cNvPr id="800" name="Connector 38"/>
              <p:cNvCxnSpPr/>
              <p:nvPr/>
            </p:nvCxnSpPr>
            <p:spPr>
              <a:xfrm>
                <a:off x="8374680" y="2998080"/>
                <a:ext cx="219240" cy="360"/>
              </a:xfrm>
              <a:prstGeom prst="straightConnector1">
                <a:avLst/>
              </a:prstGeom>
              <a:ln w="15240">
                <a:solidFill>
                  <a:srgbClr val="656E7D"/>
                </a:solidFill>
                <a:round/>
              </a:ln>
            </p:spPr>
          </p:cxnSp>
        </p:grpSp>
      </p:grpSp>
      <p:sp>
        <p:nvSpPr>
          <p:cNvPr id="801" name="Rectangle: Rounded Corners 16"/>
          <p:cNvSpPr/>
          <p:nvPr/>
        </p:nvSpPr>
        <p:spPr>
          <a:xfrm>
            <a:off x="7553880" y="1872720"/>
            <a:ext cx="4422600" cy="44136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solidFill>
              <a:srgbClr val="0F476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배포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IP : </a:t>
            </a:r>
            <a:r>
              <a:rPr lang="en-US" sz="1600" b="0" u="sng" strike="noStrike">
                <a:solidFill>
                  <a:srgbClr val="0056FB"/>
                </a:solidFill>
                <a:effectLst/>
                <a:uFillTx/>
                <a:latin typeface="Aptos"/>
                <a:hlinkClick r:id="rId3"/>
              </a:rPr>
              <a:t>http://13.209.110.99/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2" name="Rounded Rectangle 13"/>
          <p:cNvSpPr/>
          <p:nvPr/>
        </p:nvSpPr>
        <p:spPr>
          <a:xfrm>
            <a:off x="243360" y="3267000"/>
            <a:ext cx="3592080" cy="925560"/>
          </a:xfrm>
          <a:prstGeom prst="roundRect">
            <a:avLst>
              <a:gd name="adj" fmla="val 7233"/>
            </a:avLst>
          </a:prstGeom>
          <a:solidFill>
            <a:srgbClr val="EDF4FF"/>
          </a:solidFill>
          <a:ln w="10160">
            <a:solidFill>
              <a:srgbClr val="CDD3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중앙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백엔드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FastAPI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/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Uvicorn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(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제너럴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API)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 </a:t>
            </a:r>
            <a:r>
              <a:rPr lang="ko-KR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및 서비스 데이터 통제 관리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일반 기능 서비스 로직 처리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AI API </a:t>
            </a:r>
            <a:r>
              <a:rPr lang="ko-KR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호출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3" name="TextBox 113"/>
          <p:cNvSpPr/>
          <p:nvPr/>
        </p:nvSpPr>
        <p:spPr>
          <a:xfrm>
            <a:off x="248400" y="1513800"/>
            <a:ext cx="6009120" cy="214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PoC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구현 구조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화면 → 서비스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API → AI API / DB)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4" name="Rounded Rectangle 32"/>
          <p:cNvSpPr/>
          <p:nvPr/>
        </p:nvSpPr>
        <p:spPr>
          <a:xfrm>
            <a:off x="271080" y="1874520"/>
            <a:ext cx="3516480" cy="980280"/>
          </a:xfrm>
          <a:prstGeom prst="roundRect">
            <a:avLst>
              <a:gd name="adj" fmla="val 7925"/>
            </a:avLst>
          </a:prstGeom>
          <a:solidFill>
            <a:srgbClr val="F2F4F7"/>
          </a:solidFill>
          <a:ln w="10160">
            <a:solidFill>
              <a:srgbClr val="CDD3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프론트엔드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React / Vite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은행 담당자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WEB(Case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리스트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상세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 Room)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APP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화면 프론트엔드 및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UI/UX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구현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5" name="TextBox 123"/>
          <p:cNvSpPr/>
          <p:nvPr/>
        </p:nvSpPr>
        <p:spPr>
          <a:xfrm>
            <a:off x="2241360" y="2959920"/>
            <a:ext cx="25920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3769BE"/>
                </a:solidFill>
                <a:effectLst/>
                <a:uFillTx/>
                <a:latin typeface="Malgun Gothic"/>
              </a:rPr>
              <a:t>API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6" name="TextBox 126"/>
          <p:cNvSpPr/>
          <p:nvPr/>
        </p:nvSpPr>
        <p:spPr>
          <a:xfrm>
            <a:off x="2241360" y="4334040"/>
            <a:ext cx="47736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3769BE"/>
                </a:solidFill>
                <a:effectLst/>
                <a:uFillTx/>
                <a:latin typeface="Malgun Gothic"/>
              </a:rPr>
              <a:t>AI API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7" name="Rounded Rectangle 13"/>
          <p:cNvSpPr/>
          <p:nvPr/>
        </p:nvSpPr>
        <p:spPr>
          <a:xfrm>
            <a:off x="243360" y="4656600"/>
            <a:ext cx="3544200" cy="1974240"/>
          </a:xfrm>
          <a:prstGeom prst="roundRect">
            <a:avLst>
              <a:gd name="adj" fmla="val 7233"/>
            </a:avLst>
          </a:prstGeom>
          <a:solidFill>
            <a:schemeClr val="accent5">
              <a:lumMod val="20000"/>
              <a:lumOff val="80000"/>
            </a:schemeClr>
          </a:solidFill>
          <a:ln w="10160">
            <a:solidFill>
              <a:srgbClr val="CDD3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백엔드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FastAPI / Uvicorn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OpenAI API  LLM/STT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보이스피싱 여부 및 위험도 분석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생성용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JSON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추출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LLM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은행 업무 지원 채팅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LLM(CaseCopilot)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업무 지원 보조 기능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AI(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초안 추천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보고서 작성 등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 소통 지원 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LLM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8" name="Rounded Rectangle 13"/>
          <p:cNvSpPr/>
          <p:nvPr/>
        </p:nvSpPr>
        <p:spPr>
          <a:xfrm>
            <a:off x="4276080" y="1863720"/>
            <a:ext cx="2900520" cy="4741920"/>
          </a:xfrm>
          <a:prstGeom prst="roundRect">
            <a:avLst>
              <a:gd name="adj" fmla="val 7233"/>
            </a:avLst>
          </a:prstGeom>
          <a:solidFill>
            <a:srgbClr val="FCEEEE"/>
          </a:solidFill>
          <a:ln w="10160">
            <a:solidFill>
              <a:srgbClr val="CDD3DC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MySQL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상태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대화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 질문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messages,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customer_questions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분석 결과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사기 정황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analysis_segments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case_context_signals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확인된 사실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미확인 항목</a:t>
            </a:r>
            <a:endParaRPr lang="en-US" altLang="ko-KR" sz="1100" b="1" u="none" strike="noStrike" dirty="0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case_context_facts_v2,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case_gaps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대응 업무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verification_tasks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case_tasks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actions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보고서</a:t>
            </a:r>
            <a:r>
              <a:rPr lang="en-US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1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처리 이력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case_reports</a:t>
            </a:r>
            <a:r>
              <a:rPr lang="en-US" sz="1100" b="0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100" b="0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case_events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9" name="Straight Connector 48"/>
          <p:cNvCxnSpPr/>
          <p:nvPr/>
        </p:nvCxnSpPr>
        <p:spPr>
          <a:xfrm>
            <a:off x="7362720" y="1522440"/>
            <a:ext cx="360" cy="5092560"/>
          </a:xfrm>
          <a:prstGeom prst="straightConnector1">
            <a:avLst/>
          </a:prstGeom>
          <a:ln w="19050">
            <a:solidFill>
              <a:srgbClr val="FFFFFF">
                <a:lumMod val="85000"/>
              </a:srgbClr>
            </a:solidFill>
            <a:round/>
          </a:ln>
        </p:spPr>
      </p:cxnSp>
      <p:sp>
        <p:nvSpPr>
          <p:cNvPr id="810" name="Arrow: Left-Right 50"/>
          <p:cNvSpPr/>
          <p:nvPr/>
        </p:nvSpPr>
        <p:spPr>
          <a:xfrm>
            <a:off x="3835440" y="3638160"/>
            <a:ext cx="392760" cy="331560"/>
          </a:xfrm>
          <a:prstGeom prst="leftRightArrow">
            <a:avLst>
              <a:gd name="adj1" fmla="val 50000"/>
              <a:gd name="adj2" fmla="val 38525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1" name="Arrow: Left-Right 130"/>
          <p:cNvSpPr/>
          <p:nvPr/>
        </p:nvSpPr>
        <p:spPr>
          <a:xfrm rot="5400000">
            <a:off x="1836360" y="2901240"/>
            <a:ext cx="358920" cy="331560"/>
          </a:xfrm>
          <a:prstGeom prst="leftRightArrow">
            <a:avLst>
              <a:gd name="adj1" fmla="val 55737"/>
              <a:gd name="adj2" fmla="val 35200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2" name="Arrow: Left-Right 131"/>
          <p:cNvSpPr/>
          <p:nvPr/>
        </p:nvSpPr>
        <p:spPr>
          <a:xfrm rot="5400000">
            <a:off x="1836360" y="4259160"/>
            <a:ext cx="358920" cy="331560"/>
          </a:xfrm>
          <a:prstGeom prst="leftRightArrow">
            <a:avLst>
              <a:gd name="adj1" fmla="val 55737"/>
              <a:gd name="adj2" fmla="val 35200"/>
            </a:avLst>
          </a:prstGeom>
          <a:solidFill>
            <a:srgbClr val="1021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3" name="TextBox 132"/>
          <p:cNvSpPr/>
          <p:nvPr/>
        </p:nvSpPr>
        <p:spPr>
          <a:xfrm>
            <a:off x="3914640" y="4020840"/>
            <a:ext cx="222480" cy="191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250" b="1" u="none" strike="noStrike">
                <a:solidFill>
                  <a:srgbClr val="3769BE"/>
                </a:solidFill>
                <a:effectLst/>
                <a:uFillTx/>
                <a:latin typeface="Malgun Gothic"/>
              </a:rPr>
              <a:t>DB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4" name="Integrated page number"/>
          <p:cNvSpPr/>
          <p:nvPr/>
        </p:nvSpPr>
        <p:spPr>
          <a:xfrm>
            <a:off x="11691360" y="66204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24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Rectangle 7"/>
          <p:cNvSpPr/>
          <p:nvPr/>
        </p:nvSpPr>
        <p:spPr>
          <a:xfrm>
            <a:off x="0" y="1600200"/>
            <a:ext cx="12191760" cy="52574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816" name="Picture 14"/>
          <p:cNvPicPr/>
          <p:nvPr/>
        </p:nvPicPr>
        <p:blipFill>
          <a:blip r:embed="rId2"/>
          <a:stretch/>
        </p:blipFill>
        <p:spPr>
          <a:xfrm>
            <a:off x="4167000" y="1834560"/>
            <a:ext cx="7808040" cy="46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7" name="TextBox 18"/>
          <p:cNvSpPr/>
          <p:nvPr/>
        </p:nvSpPr>
        <p:spPr>
          <a:xfrm>
            <a:off x="230040" y="1769760"/>
            <a:ext cx="6100560" cy="35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800" b="0" u="none" strike="noStrike"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uFillTx/>
                <a:latin typeface="페이퍼로지 7 Bold"/>
                <a:ea typeface="페이퍼로지 7 Bold"/>
              </a:rPr>
              <a:t>실제 도입 시 현행 체계 연동 및 협업  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8" name="Google Shape;1068;p16"/>
          <p:cNvSpPr/>
          <p:nvPr/>
        </p:nvSpPr>
        <p:spPr>
          <a:xfrm>
            <a:off x="326160" y="2154960"/>
            <a:ext cx="3840840" cy="37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통신사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스마트폰 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(KT, SKT, LG U+, 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삼성 등 온디바이스 업체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→ </a:t>
            </a:r>
            <a:r>
              <a:rPr lang="en-US" sz="1100" b="0" u="none" strike="noStrike" dirty="0" err="1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구조화된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100" b="0" u="none" strike="noStrike" dirty="0" err="1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위험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맥락 정보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메타데이터 </a:t>
            </a:r>
            <a:r>
              <a:rPr lang="en-US" sz="1100" b="0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JSON → CSR </a:t>
            </a:r>
            <a:r>
              <a:rPr lang="ko-KR" sz="1100" b="0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서버로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TextBox 20"/>
          <p:cNvSpPr/>
          <p:nvPr/>
        </p:nvSpPr>
        <p:spPr>
          <a:xfrm>
            <a:off x="152280" y="388800"/>
            <a:ext cx="11886840" cy="110799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ASAP/FDS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탐지 체계 대신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800" b="0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자체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800" b="1" u="none" strike="noStrike" dirty="0" err="1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제작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ML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보이스피싱을 여부를 판정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온디바이스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 대신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자체 제작 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텍스트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음원 파일을 분석 분해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JSON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으로 변환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온디바이스에게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JSON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을 회신 했다는 전재로 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JSON 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데이터 바탕으로 </a:t>
            </a:r>
            <a:r>
              <a:rPr lang="en-US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800" b="1" u="none" strike="noStrike" dirty="0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사건 맥락 및 정황 재구성</a:t>
            </a:r>
            <a:endParaRPr lang="en-US" sz="1800" b="0" u="none" strike="noStrike" dirty="0">
              <a:solidFill>
                <a:srgbClr val="FFC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alt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</a:t>
            </a:r>
            <a:r>
              <a:rPr lang="en-US" alt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/</a:t>
            </a:r>
            <a:r>
              <a:rPr lang="ko-KR" alt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검증 </a:t>
            </a:r>
            <a:r>
              <a:rPr lang="en-US" alt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LLM </a:t>
            </a:r>
            <a:r>
              <a:rPr lang="ko-KR" alt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상호 보완 구조 </a:t>
            </a:r>
            <a:r>
              <a:rPr lang="en-US" alt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… </a:t>
            </a:r>
            <a:r>
              <a:rPr lang="ko-KR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 시간이 오래 걸릴 경우 백그라운드에서 분석 및 분석 결과 알람 기능 구현</a:t>
            </a:r>
            <a:r>
              <a:rPr lang="en-US" sz="1800" b="1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)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0" name="Picture 12"/>
          <p:cNvPicPr/>
          <p:nvPr/>
        </p:nvPicPr>
        <p:blipFill>
          <a:blip r:embed="rId3"/>
          <a:stretch/>
        </p:blipFill>
        <p:spPr>
          <a:xfrm>
            <a:off x="326160" y="2690640"/>
            <a:ext cx="3328920" cy="3481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1" name="Google Shape;1068;p16"/>
          <p:cNvSpPr/>
          <p:nvPr/>
        </p:nvSpPr>
        <p:spPr>
          <a:xfrm>
            <a:off x="474120" y="3980520"/>
            <a:ext cx="3032640" cy="729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서울지검 수사관입니다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 </a:t>
            </a: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고객님 명의 계좌가 범죄에 연루됐습니다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현재 자금 추적을 위해 계좌 검증이 필요합니다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오늘 안에 안내드리는 안전계좌로 자금을 이체하셔야 합니다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수사 중이므로 가족이나 은행 직원에게는 알리지 마세요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통화를 끊지 말고 지금 바로 이체 절차를 진행해 주세요</a:t>
            </a:r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Chevron 17"/>
          <p:cNvSpPr/>
          <p:nvPr/>
        </p:nvSpPr>
        <p:spPr>
          <a:xfrm>
            <a:off x="3817440" y="4034880"/>
            <a:ext cx="187200" cy="233640"/>
          </a:xfrm>
          <a:prstGeom prst="chevron">
            <a:avLst>
              <a:gd name="adj" fmla="val 50000"/>
            </a:avLst>
          </a:prstGeom>
          <a:solidFill>
            <a:srgbClr val="D3DE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823" name="Integrated page number"/>
          <p:cNvSpPr/>
          <p:nvPr/>
        </p:nvSpPr>
        <p:spPr>
          <a:xfrm>
            <a:off x="11715840" y="646884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25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Rectangle 1"/>
          <p:cNvSpPr/>
          <p:nvPr/>
        </p:nvSpPr>
        <p:spPr>
          <a:xfrm>
            <a:off x="0" y="819000"/>
            <a:ext cx="12191760" cy="6074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5" name="TextBox 4"/>
          <p:cNvSpPr/>
          <p:nvPr/>
        </p:nvSpPr>
        <p:spPr>
          <a:xfrm>
            <a:off x="152280" y="335160"/>
            <a:ext cx="1188684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초기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생성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의 원문 분해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JSON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 표준화 구조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6" name="Table 9"/>
          <p:cNvGraphicFramePr/>
          <p:nvPr>
            <p:extLst>
              <p:ext uri="{D42A27DB-BD31-4B8C-83A1-F6EECF244321}">
                <p14:modId xmlns:p14="http://schemas.microsoft.com/office/powerpoint/2010/main" val="722302938"/>
              </p:ext>
            </p:extLst>
          </p:nvPr>
        </p:nvGraphicFramePr>
        <p:xfrm>
          <a:off x="308160" y="3771720"/>
          <a:ext cx="4937040" cy="3004560"/>
        </p:xfrm>
        <a:graphic>
          <a:graphicData uri="http://schemas.openxmlformats.org/drawingml/2006/table">
            <a:tbl>
              <a:tblPr/>
              <a:tblGrid>
                <a:gridCol w="12365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2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분해 객체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사람에게 설명하면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예시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Turn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누가 언제 무엇을 말했는가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SUSPECTED_PARTY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→ 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송금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앱 설치 요구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1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Event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어떤 위험 사건이 발생했는가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IMPERSONATION, MONEY_MOVEMENT, ACTION_REQUEST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Semantic Atom</a:t>
                      </a:r>
                      <a:endParaRPr lang="en-US" sz="10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독립적으로 판단 가능한 하나의 의미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송금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REQUESTED, 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앱 설치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REQUESTED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Mention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등장한 핵심 대상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행동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대출회사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, 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앱 설치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Relation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의미들이 어떤 관계인가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기관 사칭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→ 송금 요구의 근거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Context Feature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전체 사건의 압축된 특징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 dirty="0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LOAN_COMPANY, TRANSFER_FUNDS, INSTALL_APP</a:t>
                      </a:r>
                      <a:endParaRPr lang="en-US" sz="10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27" name="TextBox 11"/>
          <p:cNvSpPr/>
          <p:nvPr/>
        </p:nvSpPr>
        <p:spPr>
          <a:xfrm>
            <a:off x="5583600" y="1421280"/>
            <a:ext cx="4061880" cy="5355000"/>
          </a:xfrm>
          <a:prstGeom prst="rect">
            <a:avLst/>
          </a:prstGeom>
          <a:solidFill>
            <a:schemeClr val="tx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"schema_version"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"analysis-envelope.v1"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"source"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"FDS"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"source_reference"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"provider-generated-pseudonymous-id"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"reference_time"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"ISO-8601 timestamp"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"timezone"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"Asia/Seoul"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"source_text_included"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false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"turn_count"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"turns"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"turn_id"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"sequence_index"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"speaker_role"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"SYSTEM"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"normalized_summary"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</a:t>
            </a:r>
            <a:r>
              <a:rPr lang="ko-KR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비정상 거래 패턴 탐지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"events"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{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"event_id"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"event-id"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"event_family"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"MONEY_MOVEMENT"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"subtype"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"FDS_SUSPICIOUS_TRANSFER"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"source_turn_id"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"normalized_label"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</a:t>
            </a:r>
            <a:r>
              <a:rPr lang="ko-KR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고액 신규 수취인 이체 시도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"speaker_role"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"SYSTEM"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"actor_role"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"CUSTOMER"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"target_role"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"UNKNOWN"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"reported_by_role"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A5D6FF"/>
                </a:solidFill>
                <a:effectLst/>
                <a:uFillTx/>
                <a:latin typeface="Consolas"/>
              </a:rPr>
              <a:t>"SYSTEM"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"amount_krw"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null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"is_requested"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569CD6"/>
                </a:solidFill>
                <a:effectLst/>
                <a:uFillTx/>
                <a:latin typeface="Consolas"/>
              </a:rPr>
              <a:t>false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"occurrence_count"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1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"confidence"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</a:t>
            </a:r>
            <a:r>
              <a:rPr lang="en-US" sz="900" b="0" u="none" strike="noStrike">
                <a:solidFill>
                  <a:srgbClr val="B5CEA8"/>
                </a:solidFill>
                <a:effectLst/>
                <a:uFillTx/>
                <a:latin typeface="Consolas"/>
              </a:rPr>
              <a:t>0.91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  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"semantic_atoms"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"semantic_mentions"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"semantic_relations"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[],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  </a:t>
            </a:r>
            <a:r>
              <a:rPr lang="en-US" sz="900" b="0" u="none" strike="noStrike">
                <a:solidFill>
                  <a:srgbClr val="7EE787"/>
                </a:solidFill>
                <a:effectLst/>
                <a:uFillTx/>
                <a:latin typeface="Consolas"/>
              </a:rPr>
              <a:t>"context_features"</a:t>
            </a: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: {}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900" b="0" u="none" strike="noStrike">
                <a:solidFill>
                  <a:srgbClr val="D4D4D4"/>
                </a:solidFill>
                <a:effectLst/>
                <a:uFillTx/>
                <a:latin typeface="Consolas"/>
              </a:rPr>
              <a:t>}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Box 12"/>
          <p:cNvSpPr/>
          <p:nvPr/>
        </p:nvSpPr>
        <p:spPr>
          <a:xfrm>
            <a:off x="9883800" y="2690280"/>
            <a:ext cx="1969560" cy="3477600"/>
          </a:xfrm>
          <a:prstGeom prst="rect">
            <a:avLst/>
          </a:prstGeom>
          <a:solidFill>
            <a:schemeClr val="bg1"/>
          </a:solidFill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AnalysisEnvelope v1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통화 정보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source / </a:t>
            </a: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시간 </a:t>
            </a: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/ </a:t>
            </a: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분석 출처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대화 구조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turns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위험 사건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events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사건 의미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semantic_atoms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핵심 개체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semantic_mentions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의미 관계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semantic_relations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종합 특징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└─ context_features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Box 14"/>
          <p:cNvSpPr/>
          <p:nvPr/>
        </p:nvSpPr>
        <p:spPr>
          <a:xfrm>
            <a:off x="322920" y="2690280"/>
            <a:ext cx="4937040" cy="738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상대방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“</a:t>
            </a: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대출회사 담당자입니다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 </a:t>
            </a: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상환금을 보내고 앱을 설치하세요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.”</a:t>
            </a:r>
            <a:br>
              <a:rPr sz="1400"/>
            </a:b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“</a:t>
            </a:r>
            <a:r>
              <a:rPr lang="ko-KR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송금하거나 설치했는지는 아직 모르겠습니다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.”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0" name="Arrow: Down 15"/>
          <p:cNvSpPr/>
          <p:nvPr/>
        </p:nvSpPr>
        <p:spPr>
          <a:xfrm>
            <a:off x="2361960" y="3459960"/>
            <a:ext cx="674640" cy="2808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5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31" name="TextBox 16"/>
          <p:cNvSpPr/>
          <p:nvPr/>
        </p:nvSpPr>
        <p:spPr>
          <a:xfrm>
            <a:off x="322920" y="894240"/>
            <a:ext cx="5030280" cy="14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6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단순 텍스트 추출이 아닌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6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사건 재구성을 위한 구조화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통화에서 추출된 정보는 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하나의 텍스트 요약으로 합치는 것이 아니라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발화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사건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의미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대상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관계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맥락 특징으로 분리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된 구조화 데이터로 관리합니다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예를 들어 ‘대출회사 담당자 사칭’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‘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송금 요구’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‘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앱 설치 요구’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‘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고객의 실제 수행 여부 미확인’같은 개별 사실을 각각 보존하고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이들 사이의 관계를 연결할 수 있습니다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. CSR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은 전달받은 구조화 데이터를 기반으로 사건의 관계와 복합 신호를 분석하고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사건을 요약합니다</a:t>
            </a: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Integrated page number"/>
          <p:cNvSpPr/>
          <p:nvPr/>
        </p:nvSpPr>
        <p:spPr>
          <a:xfrm>
            <a:off x="11584320" y="652284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26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Rectangle 1"/>
          <p:cNvSpPr/>
          <p:nvPr/>
        </p:nvSpPr>
        <p:spPr>
          <a:xfrm>
            <a:off x="240" y="783720"/>
            <a:ext cx="12191760" cy="60742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altLang="en-US" sz="1800" b="0" u="none" strike="noStrike" dirty="0">
                <a:solidFill>
                  <a:schemeClr val="lt1"/>
                </a:solidFill>
                <a:effectLst/>
                <a:uFillTx/>
                <a:latin typeface="Aptos"/>
              </a:rPr>
              <a:t>ㅋ</a:t>
            </a: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25" name="TextBox 4"/>
          <p:cNvSpPr/>
          <p:nvPr/>
        </p:nvSpPr>
        <p:spPr>
          <a:xfrm>
            <a:off x="152280" y="335160"/>
            <a:ext cx="1188684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altLang="en-US" dirty="0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</a:rPr>
              <a:t>통화 텍스트 입력 이후 </a:t>
            </a:r>
            <a:r>
              <a:rPr lang="en-US" altLang="ko-KR" dirty="0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  <a:sym typeface="Wingdings" panose="05000000000000000000" pitchFamily="2" charset="2"/>
              </a:rPr>
              <a:t></a:t>
            </a:r>
            <a:r>
              <a:rPr lang="en-US" altLang="ko-KR" dirty="0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</a:rPr>
              <a:t> </a:t>
            </a:r>
            <a:r>
              <a:rPr lang="ko-KR" altLang="en-US" dirty="0">
                <a:solidFill>
                  <a:srgbClr val="FFFFFF"/>
                </a:solidFill>
                <a:latin typeface="페이퍼로지 6 SemiBold" pitchFamily="2" charset="-127"/>
                <a:ea typeface="페이퍼로지 6 SemiBold" pitchFamily="2" charset="-127"/>
              </a:rPr>
              <a:t>케이스 생성 과정 중 </a:t>
            </a:r>
            <a:r>
              <a:rPr lang="en-US" sz="1800" b="0" u="none" strike="noStrike" dirty="0">
                <a:solidFill>
                  <a:srgbClr val="FFFFFF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</a:rPr>
              <a:t>ML, LLM </a:t>
            </a:r>
            <a:r>
              <a:rPr lang="ko-KR" altLang="en-US" sz="1800" b="0" u="none" strike="noStrike" dirty="0">
                <a:solidFill>
                  <a:srgbClr val="FFFFFF"/>
                </a:solidFill>
                <a:effectLst/>
                <a:uFillTx/>
                <a:latin typeface="페이퍼로지 6 SemiBold" pitchFamily="2" charset="-127"/>
                <a:ea typeface="페이퍼로지 6 SemiBold" pitchFamily="2" charset="-127"/>
              </a:rPr>
              <a:t>역할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E19E958-5A27-4152-9EA3-13BE7033580B}"/>
              </a:ext>
            </a:extLst>
          </p:cNvPr>
          <p:cNvSpPr txBox="1"/>
          <p:nvPr/>
        </p:nvSpPr>
        <p:spPr>
          <a:xfrm>
            <a:off x="1021342" y="905781"/>
            <a:ext cx="956387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페이퍼로지 6 SemiBold" pitchFamily="2" charset="-127"/>
                <a:ea typeface="페이퍼로지 6 SemiBold" pitchFamily="2" charset="-127"/>
              </a:rPr>
              <a:t>프론트 원문 입력 </a:t>
            </a:r>
            <a:endParaRPr lang="en-US" altLang="ko-KR" sz="1600" dirty="0">
              <a:latin typeface="페이퍼로지 6 SemiBold" pitchFamily="2" charset="-127"/>
              <a:ea typeface="페이퍼로지 6 SemiBold" pitchFamily="2" charset="-127"/>
            </a:endParaRPr>
          </a:p>
          <a:p>
            <a:r>
              <a:rPr lang="ko-KR" altLang="en-US" sz="1600" dirty="0">
                <a:latin typeface="페이퍼로지 6 SemiBold" pitchFamily="2" charset="-127"/>
                <a:ea typeface="페이퍼로지 6 SemiBold" pitchFamily="2" charset="-127"/>
              </a:rPr>
              <a:t>→ General API → AI API: 발화별 추출 + 맥락 추출 + 요약 생성 + 결과 검토 </a:t>
            </a:r>
            <a:endParaRPr lang="en-US" altLang="ko-KR" sz="1600" dirty="0">
              <a:latin typeface="페이퍼로지 6 SemiBold" pitchFamily="2" charset="-127"/>
              <a:ea typeface="페이퍼로지 6 SemiBold" pitchFamily="2" charset="-127"/>
            </a:endParaRPr>
          </a:p>
          <a:p>
            <a:r>
              <a:rPr lang="ko-KR" altLang="en-US" sz="1600" dirty="0">
                <a:latin typeface="페이퍼로지 6 SemiBold" pitchFamily="2" charset="-127"/>
                <a:ea typeface="페이퍼로지 6 SemiBold" pitchFamily="2" charset="-127"/>
              </a:rPr>
              <a:t>→ General API 결과 정리·DB 저장</a:t>
            </a:r>
            <a:endParaRPr lang="en-US" altLang="ko-KR" sz="1600" dirty="0">
              <a:latin typeface="페이퍼로지 6 SemiBold" pitchFamily="2" charset="-127"/>
              <a:ea typeface="페이퍼로지 6 SemiBold" pitchFamily="2" charset="-127"/>
            </a:endParaRPr>
          </a:p>
          <a:p>
            <a:r>
              <a:rPr lang="ko-KR" altLang="en-US" sz="1600" dirty="0">
                <a:latin typeface="페이퍼로지 6 SemiBold" pitchFamily="2" charset="-127"/>
                <a:ea typeface="페이퍼로지 6 SemiBold" pitchFamily="2" charset="-127"/>
              </a:rPr>
              <a:t>→ 프론트: 분석 결과 표시  → 케이스 화면 생성  → CaseCopilot 최초 브리핑 생성·대화 기록 저장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387AE5-50DC-45BB-ADAA-77A59B92CD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557058"/>
              </p:ext>
            </p:extLst>
          </p:nvPr>
        </p:nvGraphicFramePr>
        <p:xfrm>
          <a:off x="1021342" y="2058416"/>
          <a:ext cx="10148716" cy="4219730"/>
        </p:xfrm>
        <a:graphic>
          <a:graphicData uri="http://schemas.openxmlformats.org/drawingml/2006/table">
            <a:tbl>
              <a:tblPr/>
              <a:tblGrid>
                <a:gridCol w="1293963">
                  <a:extLst>
                    <a:ext uri="{9D8B030D-6E8A-4147-A177-3AD203B41FA5}">
                      <a16:colId xmlns:a16="http://schemas.microsoft.com/office/drawing/2014/main" val="1677323552"/>
                    </a:ext>
                  </a:extLst>
                </a:gridCol>
                <a:gridCol w="1558213">
                  <a:extLst>
                    <a:ext uri="{9D8B030D-6E8A-4147-A177-3AD203B41FA5}">
                      <a16:colId xmlns:a16="http://schemas.microsoft.com/office/drawing/2014/main" val="2998976576"/>
                    </a:ext>
                  </a:extLst>
                </a:gridCol>
                <a:gridCol w="6054177">
                  <a:extLst>
                    <a:ext uri="{9D8B030D-6E8A-4147-A177-3AD203B41FA5}">
                      <a16:colId xmlns:a16="http://schemas.microsoft.com/office/drawing/2014/main" val="1018794543"/>
                    </a:ext>
                  </a:extLst>
                </a:gridCol>
                <a:gridCol w="1242363">
                  <a:extLst>
                    <a:ext uri="{9D8B030D-6E8A-4147-A177-3AD203B41FA5}">
                      <a16:colId xmlns:a16="http://schemas.microsoft.com/office/drawing/2014/main" val="1215090809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단계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AI/</a:t>
                      </a:r>
                      <a:r>
                        <a:rPr lang="ko-KR" altLang="en-US" sz="13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처리 방식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입력과 출력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solidFill>
                            <a:schemeClr val="bg1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기본 호출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173545"/>
                  </a:ext>
                </a:extLst>
              </a:tr>
              <a:tr h="605020"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발화별 사건 추출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이벤트 </a:t>
                      </a:r>
                      <a:r>
                        <a:rPr 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LLM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각 발화와 앞뒤 대화 일부 →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사건 이벤트와 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semantic_atoms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 JSON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발화마다 </a:t>
                      </a:r>
                      <a:r>
                        <a:rPr lang="en-US" altLang="ko-KR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회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5484"/>
                  </a:ext>
                </a:extLst>
              </a:tr>
              <a:tr h="605020">
                <a:tc>
                  <a:txBody>
                    <a:bodyPr/>
                    <a:lstStyle/>
                    <a:p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맥락 특징 추출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맥락 </a:t>
                      </a:r>
                      <a:r>
                        <a:rPr 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LLM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원문 발화 목록 → 화자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주장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요구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고객 행동 등을</a:t>
                      </a:r>
                      <a:endParaRPr lang="en-US" altLang="ko-KR" sz="1300" dirty="0"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미리 정해진 목록에서만 선택하게 하는 방식 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enum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열거형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코드로 정리</a:t>
                      </a:r>
                      <a:endParaRPr lang="en-US" altLang="ko-KR" sz="1300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r>
                        <a:rPr lang="ko-KR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예시 </a:t>
                      </a:r>
                      <a:r>
                        <a:rPr lang="en-US" altLang="ko-KR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: 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“송금을 요구함”을 자유 문장으로 쓰는 대신 </a:t>
                      </a:r>
                      <a:r>
                        <a:rPr lang="en-US" altLang="ko-KR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REQUEST_TRANSFER</a:t>
                      </a:r>
                      <a:r>
                        <a:rPr lang="ko-KR" altLang="en-US" sz="11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라는 코드로 표시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기본 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회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209086"/>
                  </a:ext>
                </a:extLst>
              </a:tr>
              <a:tr h="605020"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관계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정황 구성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일반 코드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의미 단위 → 관계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복합 신호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대화 구간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인물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기관 목록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감사 결과 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JSON 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생성</a:t>
                      </a:r>
                      <a:endParaRPr lang="en-US" altLang="ko-KR" sz="1300" dirty="0"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  <a:p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AI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가 뽑아준 의미 단위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(</a:t>
                      </a:r>
                      <a:r>
                        <a:rPr lang="en-US" altLang="ko-KR" sz="1300" dirty="0" err="1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semantic_atoms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)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와 메타데이터 참조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LLM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미사용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198082"/>
                  </a:ext>
                </a:extLst>
              </a:tr>
              <a:tr h="605020">
                <a:tc>
                  <a:txBody>
                    <a:bodyPr/>
                    <a:lstStyle/>
                    <a:p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추출 결과 검토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검토 </a:t>
                      </a:r>
                      <a:r>
                        <a:rPr 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LLM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구조화 데이터와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감사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 결과 →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통과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수정 필요 판단</a:t>
                      </a:r>
                      <a:endParaRPr lang="ko-KR" altLang="en-US" sz="1300" dirty="0"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기본 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회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6387633"/>
                  </a:ext>
                </a:extLst>
              </a:tr>
              <a:tr h="605020"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사건 요약 생성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맥락 </a:t>
                      </a:r>
                      <a:r>
                        <a:rPr 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LLM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정리된 구조화 신호 → 사건 요약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주장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요구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·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전술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, 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다음 확인 사항 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재구성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기본 </a:t>
                      </a:r>
                      <a:r>
                        <a:rPr lang="en-US" altLang="ko-KR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회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8001923"/>
                  </a:ext>
                </a:extLst>
              </a:tr>
              <a:tr h="423514">
                <a:tc>
                  <a:txBody>
                    <a:bodyPr/>
                    <a:lstStyle/>
                    <a:p>
                      <a:r>
                        <a:rPr lang="ko-KR" altLang="en-US" sz="1300">
                          <a:latin typeface="페이퍼로지 6 SemiBold" pitchFamily="2" charset="-127"/>
                          <a:ea typeface="페이퍼로지 6 SemiBold" pitchFamily="2" charset="-127"/>
                        </a:rPr>
                        <a:t>위험도 산정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로컬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ML 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+ 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일반 코드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발화별 특징 →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위험 점수와 등급 </a:t>
                      </a:r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sym typeface="Wingdings" panose="05000000000000000000" pitchFamily="2" charset="2"/>
                        </a:rPr>
                        <a:t> CASE ROOM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sym typeface="Wingdings" panose="05000000000000000000" pitchFamily="2" charset="2"/>
                        </a:rPr>
                        <a:t>생성의 기준 트리거</a:t>
                      </a:r>
                      <a:endParaRPr lang="en-US" altLang="ko-KR" sz="1300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  <a:sym typeface="Wingdings" panose="05000000000000000000" pitchFamily="2" charset="2"/>
                      </a:endParaRPr>
                    </a:p>
                    <a:p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  <a:sym typeface="Wingdings" panose="05000000000000000000" pitchFamily="2" charset="2"/>
                        </a:rPr>
                        <a:t>(scikit-learn : Logistic Regression)</a:t>
                      </a:r>
                      <a:endParaRPr lang="ko-KR" altLang="en-US" sz="1300" dirty="0">
                        <a:solidFill>
                          <a:srgbClr val="FF0000"/>
                        </a:solidFill>
                        <a:latin typeface="페이퍼로지 6 SemiBold" pitchFamily="2" charset="-127"/>
                        <a:ea typeface="페이퍼로지 6 SemiBold" pitchFamily="2" charset="-127"/>
                      </a:endParaRP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LLM </a:t>
                      </a:r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미사용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7294906"/>
                  </a:ext>
                </a:extLst>
              </a:tr>
              <a:tr h="423514"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서술 검토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검토 </a:t>
                      </a:r>
                      <a:r>
                        <a:rPr 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LLM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solidFill>
                            <a:srgbClr val="FF0000"/>
                          </a:solidFill>
                          <a:latin typeface="페이퍼로지 6 SemiBold" pitchFamily="2" charset="-127"/>
                          <a:ea typeface="페이퍼로지 6 SemiBold" pitchFamily="2" charset="-127"/>
                        </a:rPr>
                        <a:t>구조화 데이터와 요약 → 근거에 맞는지 검토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기본 </a:t>
                      </a:r>
                      <a:r>
                        <a:rPr lang="en-US" altLang="ko-KR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1</a:t>
                      </a:r>
                      <a:r>
                        <a:rPr lang="ko-KR" altLang="en-US" sz="1300" dirty="0">
                          <a:latin typeface="페이퍼로지 6 SemiBold" pitchFamily="2" charset="-127"/>
                          <a:ea typeface="페이퍼로지 6 SemiBold" pitchFamily="2" charset="-127"/>
                        </a:rPr>
                        <a:t>회</a:t>
                      </a:r>
                    </a:p>
                  </a:txBody>
                  <a:tcPr marL="63990" marR="63990" marT="31995" marB="3199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37777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DD7950A-9991-4969-8352-5AD18121583D}"/>
              </a:ext>
            </a:extLst>
          </p:cNvPr>
          <p:cNvSpPr txBox="1"/>
          <p:nvPr/>
        </p:nvSpPr>
        <p:spPr>
          <a:xfrm>
            <a:off x="1021342" y="6353563"/>
            <a:ext cx="9563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LLM :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</a:rPr>
              <a:t>GPT-4o mini </a:t>
            </a:r>
            <a:r>
              <a:rPr lang="en-US" altLang="ko-KR" sz="1400" dirty="0"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gpt-5.6-luna </a:t>
            </a:r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성능 개선 위핸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82804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Rectangle 1"/>
          <p:cNvSpPr/>
          <p:nvPr/>
        </p:nvSpPr>
        <p:spPr>
          <a:xfrm>
            <a:off x="0" y="733320"/>
            <a:ext cx="12191760" cy="5357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34" name="TextBox 4"/>
          <p:cNvSpPr/>
          <p:nvPr/>
        </p:nvSpPr>
        <p:spPr>
          <a:xfrm>
            <a:off x="152280" y="233280"/>
            <a:ext cx="1188684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보이스피싱 여부 및 위험도 분석 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ML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구현 과정과 역할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Box 10"/>
          <p:cNvSpPr/>
          <p:nvPr/>
        </p:nvSpPr>
        <p:spPr>
          <a:xfrm>
            <a:off x="257040" y="6282000"/>
            <a:ext cx="116773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역할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: ML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이 보이스피싱 여부 및 위험도 분석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분석 결과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(NORMAL / PHISHING)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에 따라 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CASE ROOM 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생성 여부 결정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36" name="Group 8"/>
          <p:cNvGrpSpPr/>
          <p:nvPr/>
        </p:nvGrpSpPr>
        <p:grpSpPr>
          <a:xfrm>
            <a:off x="430200" y="1495440"/>
            <a:ext cx="6271920" cy="2021760"/>
            <a:chOff x="430200" y="1495440"/>
            <a:chExt cx="6271920" cy="2021760"/>
          </a:xfrm>
        </p:grpSpPr>
        <p:pic>
          <p:nvPicPr>
            <p:cNvPr id="837" name="Picture 3"/>
            <p:cNvPicPr/>
            <p:nvPr/>
          </p:nvPicPr>
          <p:blipFill>
            <a:blip r:embed="rId3"/>
            <a:stretch/>
          </p:blipFill>
          <p:spPr>
            <a:xfrm>
              <a:off x="430200" y="1495440"/>
              <a:ext cx="6271920" cy="312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38" name="Picture 7"/>
            <p:cNvPicPr/>
            <p:nvPr/>
          </p:nvPicPr>
          <p:blipFill>
            <a:blip r:embed="rId4"/>
            <a:stretch/>
          </p:blipFill>
          <p:spPr>
            <a:xfrm>
              <a:off x="430200" y="1875240"/>
              <a:ext cx="6271920" cy="16419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839" name="Picture 19"/>
          <p:cNvPicPr/>
          <p:nvPr/>
        </p:nvPicPr>
        <p:blipFill>
          <a:blip r:embed="rId5"/>
          <a:srcRect b="72626"/>
          <a:stretch/>
        </p:blipFill>
        <p:spPr>
          <a:xfrm>
            <a:off x="6836400" y="1544400"/>
            <a:ext cx="2436840" cy="187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0" name="TextBox 20"/>
          <p:cNvSpPr/>
          <p:nvPr/>
        </p:nvSpPr>
        <p:spPr>
          <a:xfrm>
            <a:off x="430200" y="940680"/>
            <a:ext cx="11205360" cy="430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①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첨부파일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자동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다운로드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RPA 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제작 및 활용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금융감독원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공개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보이스피싱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범죄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사례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음성 파일 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402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개 수집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②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코랩에서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Hugging Face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위스퍼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음성 인식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),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디얼리제이션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(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화자 분리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)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활용 음성 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텍스트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en-US" sz="1400" b="1" u="none" strike="noStrike" dirty="0" err="1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전사</a:t>
            </a:r>
            <a:r>
              <a:rPr lang="en-US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  776</a:t>
            </a:r>
            <a:r>
              <a:rPr lang="ko-KR" sz="1400" b="1" u="none" strike="noStrike" dirty="0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건 사례 발췌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1" name="Picture 24"/>
          <p:cNvPicPr/>
          <p:nvPr/>
        </p:nvPicPr>
        <p:blipFill>
          <a:blip r:embed="rId6"/>
          <a:stretch/>
        </p:blipFill>
        <p:spPr>
          <a:xfrm>
            <a:off x="9487080" y="887040"/>
            <a:ext cx="1563840" cy="262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2" name="TextBox 25"/>
          <p:cNvSpPr/>
          <p:nvPr/>
        </p:nvSpPr>
        <p:spPr>
          <a:xfrm>
            <a:off x="430200" y="3852720"/>
            <a:ext cx="7480440" cy="64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③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scikit-learn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의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Logistic Regression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활용 학습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로 위험 이벤트 구조를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23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개 피처 분해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사칭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심리 전략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행동 요구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금전 </a:t>
            </a:r>
            <a:r>
              <a:rPr lang="en-US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140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금액 이벤트 학습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판정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: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임계값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0.95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에서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 0.6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로 하향 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| </a:t>
            </a:r>
            <a:r>
              <a:rPr lang="ko-KR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출력</a:t>
            </a:r>
            <a:r>
              <a:rPr lang="en-US" sz="1400" b="1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: NORMAL / PHISHING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43" name="Table 2048"/>
          <p:cNvGraphicFramePr/>
          <p:nvPr>
            <p:extLst>
              <p:ext uri="{D42A27DB-BD31-4B8C-83A1-F6EECF244321}">
                <p14:modId xmlns:p14="http://schemas.microsoft.com/office/powerpoint/2010/main" val="3433310063"/>
              </p:ext>
            </p:extLst>
          </p:nvPr>
        </p:nvGraphicFramePr>
        <p:xfrm>
          <a:off x="441180" y="4627140"/>
          <a:ext cx="6942600" cy="1219200"/>
        </p:xfrm>
        <a:graphic>
          <a:graphicData uri="http://schemas.openxmlformats.org/drawingml/2006/table">
            <a:tbl>
              <a:tblPr/>
              <a:tblGrid>
                <a:gridCol w="1388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시나리오 그룹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건수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95</a:t>
                      </a: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점에서 </a:t>
                      </a:r>
                      <a:r>
                        <a:rPr lang="en-US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PHISHING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60</a:t>
                      </a: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점에서 </a:t>
                      </a:r>
                      <a:r>
                        <a:rPr lang="en-US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PHISHING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변화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정통 보이스피싱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100%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100%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변화 없음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최신형 보이스피싱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70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70%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90</a:t>
                      </a:r>
                      <a:r>
                        <a:rPr lang="ko-KR" sz="10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90%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1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+20</a:t>
                      </a:r>
                      <a:r>
                        <a:rPr lang="ko-KR" sz="1000" b="1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1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+20%p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정상 금융상담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10% 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38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38% 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+28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+28%p 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0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일상 통화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100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0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0% </a:t>
                      </a:r>
                      <a:r>
                        <a:rPr lang="ko-KR" sz="10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8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8% </a:t>
                      </a:r>
                      <a:r>
                        <a:rPr lang="ko-KR" sz="1000" b="0" u="none" strike="noStrike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000" b="0" u="none" strike="noStrike" dirty="0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+8</a:t>
                      </a:r>
                      <a:r>
                        <a:rPr lang="ko-KR" sz="1000" b="0" u="none" strike="noStrike" dirty="0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</a:t>
                      </a:r>
                      <a:r>
                        <a:rPr lang="en-US" sz="1000" b="0" u="none" strike="noStrike" dirty="0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 +8%p </a:t>
                      </a:r>
                      <a:r>
                        <a:rPr lang="ko-KR" sz="1000" b="0" u="none" strike="noStrike" dirty="0">
                          <a:solidFill>
                            <a:srgbClr val="E01F16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오탐</a:t>
                      </a:r>
                      <a:endParaRPr lang="en-US" sz="1000" b="0" u="none" strike="noStrike" dirty="0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844" name="Group 2052"/>
          <p:cNvGrpSpPr/>
          <p:nvPr/>
        </p:nvGrpSpPr>
        <p:grpSpPr>
          <a:xfrm>
            <a:off x="7746120" y="3735360"/>
            <a:ext cx="4072680" cy="2155320"/>
            <a:chOff x="7746120" y="3735360"/>
            <a:chExt cx="4072680" cy="2155320"/>
          </a:xfrm>
        </p:grpSpPr>
        <p:grpSp>
          <p:nvGrpSpPr>
            <p:cNvPr id="845" name="Group 38"/>
            <p:cNvGrpSpPr/>
            <p:nvPr/>
          </p:nvGrpSpPr>
          <p:grpSpPr>
            <a:xfrm>
              <a:off x="7746120" y="3735360"/>
              <a:ext cx="4072680" cy="2155320"/>
              <a:chOff x="7746120" y="3735360"/>
              <a:chExt cx="4072680" cy="2155320"/>
            </a:xfrm>
          </p:grpSpPr>
          <p:grpSp>
            <p:nvGrpSpPr>
              <p:cNvPr id="846" name="Group 39"/>
              <p:cNvGrpSpPr/>
              <p:nvPr/>
            </p:nvGrpSpPr>
            <p:grpSpPr>
              <a:xfrm>
                <a:off x="7911000" y="3735360"/>
                <a:ext cx="3880080" cy="1841040"/>
                <a:chOff x="7911000" y="3735360"/>
                <a:chExt cx="3880080" cy="1841040"/>
              </a:xfrm>
            </p:grpSpPr>
            <p:pic>
              <p:nvPicPr>
                <p:cNvPr id="847" name="Picture 2"/>
                <p:cNvPicPr/>
                <p:nvPr/>
              </p:nvPicPr>
              <p:blipFill>
                <a:blip r:embed="rId7"/>
                <a:stretch/>
              </p:blipFill>
              <p:spPr>
                <a:xfrm>
                  <a:off x="7911000" y="3735360"/>
                  <a:ext cx="3880080" cy="184104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848" name="Rectangle 45"/>
                <p:cNvSpPr/>
                <p:nvPr/>
              </p:nvSpPr>
              <p:spPr>
                <a:xfrm>
                  <a:off x="8304840" y="5491080"/>
                  <a:ext cx="3213720" cy="8028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35640" rIns="90000" bIns="35640" anchor="ctr">
                  <a:noAutofit/>
                </a:bodyPr>
                <a:lstStyle/>
                <a:p>
                  <a:pPr algn="ctr" defTabSz="914400">
                    <a:lnSpc>
                      <a:spcPct val="100000"/>
                    </a:lnSpc>
                  </a:pPr>
                  <a:endParaRPr lang="en-US" sz="1000" b="0" u="none" strike="noStrike">
                    <a:solidFill>
                      <a:schemeClr val="lt1"/>
                    </a:solidFill>
                    <a:effectLst/>
                    <a:uFillTx/>
                    <a:latin typeface="페이퍼로지 5 Medium"/>
                    <a:ea typeface="페이퍼로지 5 Medium"/>
                  </a:endParaRPr>
                </a:p>
              </p:txBody>
            </p:sp>
          </p:grpSp>
          <p:sp>
            <p:nvSpPr>
              <p:cNvPr id="849" name="TextBox 40"/>
              <p:cNvSpPr/>
              <p:nvPr/>
            </p:nvSpPr>
            <p:spPr>
              <a:xfrm>
                <a:off x="8800560" y="5491080"/>
                <a:ext cx="133668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최신형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0" name="TextBox 41"/>
              <p:cNvSpPr/>
              <p:nvPr/>
            </p:nvSpPr>
            <p:spPr>
              <a:xfrm>
                <a:off x="7746120" y="5491080"/>
                <a:ext cx="133668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정통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보이스피싱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1" name="TextBox 42"/>
              <p:cNvSpPr/>
              <p:nvPr/>
            </p:nvSpPr>
            <p:spPr>
              <a:xfrm>
                <a:off x="10057320" y="5491080"/>
                <a:ext cx="763560" cy="399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정상 금융 상담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52" name="TextBox 43"/>
              <p:cNvSpPr/>
              <p:nvPr/>
            </p:nvSpPr>
            <p:spPr>
              <a:xfrm>
                <a:off x="11055240" y="5491080"/>
                <a:ext cx="763560" cy="245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r>
                  <a:rPr lang="ko-KR" sz="1000" b="0" u="none" strike="noStrike">
                    <a:solidFill>
                      <a:schemeClr val="dk1"/>
                    </a:solidFill>
                    <a:effectLst/>
                    <a:uFillTx/>
                    <a:latin typeface="페이퍼로지 5 Medium"/>
                    <a:ea typeface="페이퍼로지 5 Medium"/>
                  </a:rPr>
                  <a:t>일상 통화</a:t>
                </a:r>
                <a:endParaRPr lang="en-US" sz="10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cxnSp>
          <p:nvCxnSpPr>
            <p:cNvPr id="853" name="Straight Connector 2047"/>
            <p:cNvCxnSpPr/>
            <p:nvPr/>
          </p:nvCxnSpPr>
          <p:spPr>
            <a:xfrm>
              <a:off x="8127000" y="3995280"/>
              <a:ext cx="3655440" cy="360"/>
            </a:xfrm>
            <a:prstGeom prst="straightConnector1">
              <a:avLst/>
            </a:prstGeom>
            <a:ln>
              <a:solidFill>
                <a:srgbClr val="C00000"/>
              </a:solidFill>
              <a:prstDash val="dash"/>
              <a:round/>
            </a:ln>
          </p:spPr>
        </p:cxnSp>
        <p:sp>
          <p:nvSpPr>
            <p:cNvPr id="854" name="Rectangle 2050"/>
            <p:cNvSpPr/>
            <p:nvPr/>
          </p:nvSpPr>
          <p:spPr>
            <a:xfrm>
              <a:off x="9193320" y="5064480"/>
              <a:ext cx="550800" cy="344520"/>
            </a:xfrm>
            <a:prstGeom prst="rect">
              <a:avLst/>
            </a:prstGeom>
            <a:noFill/>
            <a:ln>
              <a:solidFill>
                <a:srgbClr val="C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55" name="TextBox 60"/>
            <p:cNvSpPr/>
            <p:nvPr/>
          </p:nvSpPr>
          <p:spPr>
            <a:xfrm>
              <a:off x="9007200" y="4794840"/>
              <a:ext cx="92304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en-US" sz="1000" b="0" u="none" strike="noStrike">
                  <a:solidFill>
                    <a:srgbClr val="E01F16"/>
                  </a:solidFill>
                  <a:effectLst/>
                  <a:uFillTx/>
                  <a:latin typeface="페이퍼로지 5 Medium"/>
                  <a:ea typeface="페이퍼로지 5 Medium"/>
                </a:rPr>
                <a:t>10</a:t>
              </a:r>
              <a:r>
                <a:rPr lang="ko-KR" sz="1000" b="0" u="none" strike="noStrike">
                  <a:solidFill>
                    <a:srgbClr val="E01F16"/>
                  </a:solidFill>
                  <a:effectLst/>
                  <a:uFillTx/>
                  <a:latin typeface="페이퍼로지 5 Medium"/>
                  <a:ea typeface="페이퍼로지 5 Medium"/>
                </a:rPr>
                <a:t>건만 놓침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6" name="Rectangle 61"/>
            <p:cNvSpPr/>
            <p:nvPr/>
          </p:nvSpPr>
          <p:spPr>
            <a:xfrm>
              <a:off x="10228680" y="4162320"/>
              <a:ext cx="1407240" cy="227520"/>
            </a:xfrm>
            <a:prstGeom prst="rect">
              <a:avLst/>
            </a:prstGeom>
            <a:noFill/>
            <a:ln>
              <a:solidFill>
                <a:srgbClr val="C0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57" name="TextBox 62"/>
            <p:cNvSpPr/>
            <p:nvPr/>
          </p:nvSpPr>
          <p:spPr>
            <a:xfrm>
              <a:off x="10269360" y="4471920"/>
              <a:ext cx="1325520" cy="245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 defTabSz="914400">
                <a:lnSpc>
                  <a:spcPct val="100000"/>
                </a:lnSpc>
              </a:pPr>
              <a:r>
                <a:rPr lang="ko-KR" sz="1000" b="0" u="none" strike="noStrike">
                  <a:solidFill>
                    <a:srgbClr val="E01F16"/>
                  </a:solidFill>
                  <a:effectLst/>
                  <a:uFillTx/>
                  <a:latin typeface="페이퍼로지 5 Medium"/>
                  <a:ea typeface="페이퍼로지 5 Medium"/>
                </a:rPr>
                <a:t>더 잡아도 기각 가능</a:t>
              </a: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58" name="Rectangle 67"/>
          <p:cNvSpPr/>
          <p:nvPr/>
        </p:nvSpPr>
        <p:spPr>
          <a:xfrm>
            <a:off x="9551880" y="1486080"/>
            <a:ext cx="1269360" cy="219600"/>
          </a:xfrm>
          <a:prstGeom prst="rect">
            <a:avLst/>
          </a:prstGeom>
          <a:noFill/>
          <a:ln>
            <a:solidFill>
              <a:srgbClr val="C0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59" name="Integrated page number"/>
          <p:cNvSpPr/>
          <p:nvPr/>
        </p:nvSpPr>
        <p:spPr>
          <a:xfrm>
            <a:off x="11716080" y="651204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27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1" name="TextBox 3"/>
          <p:cNvSpPr/>
          <p:nvPr/>
        </p:nvSpPr>
        <p:spPr>
          <a:xfrm>
            <a:off x="618840" y="219240"/>
            <a:ext cx="10954080" cy="830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JSON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데이터를 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분석 및 정황 텍스트로 재구성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하고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제너럴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API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통해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DB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에 데이터를 저장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저장된 데이터를 기반으로 프론트엔드 워크스페이스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SHARE ROOM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을 생성해 은행의 대응 업무를 지원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최초 생성 직후 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추천 ‘초기 확인 질문’</a:t>
            </a:r>
            <a:r>
              <a:rPr lang="en-US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, ‘</a:t>
            </a:r>
            <a:r>
              <a:rPr lang="ko-KR" sz="18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초기 브리핑’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… 대응 업무 시작을 돕는 가이드 제공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2" name="Picture 2"/>
          <p:cNvPicPr/>
          <p:nvPr/>
        </p:nvPicPr>
        <p:blipFill>
          <a:blip r:embed="rId2"/>
          <a:stretch/>
        </p:blipFill>
        <p:spPr>
          <a:xfrm>
            <a:off x="447840" y="1111140"/>
            <a:ext cx="11296440" cy="547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3" name="Rectangle 4"/>
          <p:cNvSpPr/>
          <p:nvPr/>
        </p:nvSpPr>
        <p:spPr>
          <a:xfrm>
            <a:off x="533520" y="1819440"/>
            <a:ext cx="3733560" cy="202860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4" name="Rectangle 5"/>
          <p:cNvSpPr/>
          <p:nvPr/>
        </p:nvSpPr>
        <p:spPr>
          <a:xfrm>
            <a:off x="4514760" y="1943280"/>
            <a:ext cx="3571560" cy="2114280"/>
          </a:xfrm>
          <a:prstGeom prst="rect">
            <a:avLst/>
          </a:prstGeom>
          <a:noFill/>
          <a:ln w="57150"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65" name="Integrated page number"/>
          <p:cNvSpPr/>
          <p:nvPr/>
        </p:nvSpPr>
        <p:spPr>
          <a:xfrm>
            <a:off x="11744160" y="648369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28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Rectangle 20"/>
          <p:cNvSpPr/>
          <p:nvPr/>
        </p:nvSpPr>
        <p:spPr>
          <a:xfrm>
            <a:off x="0" y="-9525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grpSp>
        <p:nvGrpSpPr>
          <p:cNvPr id="867" name="Group 17"/>
          <p:cNvGrpSpPr/>
          <p:nvPr/>
        </p:nvGrpSpPr>
        <p:grpSpPr>
          <a:xfrm>
            <a:off x="1287720" y="1083240"/>
            <a:ext cx="9482400" cy="5505480"/>
            <a:chOff x="1287720" y="1083240"/>
            <a:chExt cx="9482400" cy="5505480"/>
          </a:xfrm>
        </p:grpSpPr>
        <p:pic>
          <p:nvPicPr>
            <p:cNvPr id="868" name="Picture 13"/>
            <p:cNvPicPr/>
            <p:nvPr/>
          </p:nvPicPr>
          <p:blipFill>
            <a:blip r:embed="rId2"/>
            <a:srcRect t="5480" r="22888"/>
            <a:stretch/>
          </p:blipFill>
          <p:spPr>
            <a:xfrm>
              <a:off x="1287720" y="1083240"/>
              <a:ext cx="9482400" cy="5505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69" name="Rectangle 14"/>
            <p:cNvSpPr/>
            <p:nvPr/>
          </p:nvSpPr>
          <p:spPr>
            <a:xfrm>
              <a:off x="4484160" y="3027960"/>
              <a:ext cx="1074240" cy="40068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70" name="Rectangle 15"/>
            <p:cNvSpPr/>
            <p:nvPr/>
          </p:nvSpPr>
          <p:spPr>
            <a:xfrm>
              <a:off x="6205320" y="4118400"/>
              <a:ext cx="1543680" cy="40068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871" name="Rectangle 18"/>
            <p:cNvSpPr/>
            <p:nvPr/>
          </p:nvSpPr>
          <p:spPr>
            <a:xfrm>
              <a:off x="1536120" y="2506320"/>
              <a:ext cx="4280760" cy="3225240"/>
            </a:xfrm>
            <a:prstGeom prst="rect">
              <a:avLst/>
            </a:prstGeom>
            <a:noFill/>
            <a:ln w="57150"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pic>
          <p:nvPicPr>
            <p:cNvPr id="872" name="Picture 24"/>
            <p:cNvPicPr/>
            <p:nvPr/>
          </p:nvPicPr>
          <p:blipFill>
            <a:blip r:embed="rId2"/>
            <a:srcRect l="26565" t="40526" r="65870" b="55116"/>
            <a:stretch/>
          </p:blipFill>
          <p:spPr>
            <a:xfrm>
              <a:off x="3898080" y="1530000"/>
              <a:ext cx="1794600" cy="488520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round/>
            </a:ln>
          </p:spPr>
        </p:pic>
      </p:grpSp>
      <p:sp>
        <p:nvSpPr>
          <p:cNvPr id="873" name="TextBox 19"/>
          <p:cNvSpPr/>
          <p:nvPr/>
        </p:nvSpPr>
        <p:spPr>
          <a:xfrm>
            <a:off x="618840" y="171000"/>
            <a:ext cx="10954080" cy="799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내부 협업 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외부 고객 소통 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/ AI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채팅 시스템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React–FastAPI–MySQL–OpenAI API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를 연계하여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Context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기반의 상황 인지형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Bank AI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채팅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질문 추천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협업 기능 구현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응답만 하는 것이 아니고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recommended_actions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라는 메타데이터에 맞는 추천 기능을 버튼으로 표시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74" name="Group 23"/>
          <p:cNvGrpSpPr/>
          <p:nvPr/>
        </p:nvGrpSpPr>
        <p:grpSpPr>
          <a:xfrm>
            <a:off x="7749360" y="3996000"/>
            <a:ext cx="4086000" cy="645480"/>
            <a:chOff x="7749360" y="3996000"/>
            <a:chExt cx="4086000" cy="645480"/>
          </a:xfrm>
        </p:grpSpPr>
        <p:pic>
          <p:nvPicPr>
            <p:cNvPr id="875" name="Picture 21"/>
            <p:cNvPicPr/>
            <p:nvPr/>
          </p:nvPicPr>
          <p:blipFill>
            <a:blip r:embed="rId2"/>
            <a:srcRect l="40123" t="57677" r="48692" b="36913"/>
            <a:stretch/>
          </p:blipFill>
          <p:spPr>
            <a:xfrm>
              <a:off x="9012600" y="3996000"/>
              <a:ext cx="2822760" cy="645480"/>
            </a:xfrm>
            <a:prstGeom prst="rect">
              <a:avLst/>
            </a:prstGeom>
            <a:noFill/>
            <a:ln w="19050">
              <a:solidFill>
                <a:srgbClr val="FF0000"/>
              </a:solidFill>
              <a:round/>
            </a:ln>
          </p:spPr>
        </p:pic>
        <p:sp>
          <p:nvSpPr>
            <p:cNvPr id="876" name="Arrow: Right 22"/>
            <p:cNvSpPr/>
            <p:nvPr/>
          </p:nvSpPr>
          <p:spPr>
            <a:xfrm>
              <a:off x="7749360" y="4266000"/>
              <a:ext cx="1155600" cy="112320"/>
            </a:xfrm>
            <a:prstGeom prst="rightArrow">
              <a:avLst>
                <a:gd name="adj1" fmla="val 11983"/>
                <a:gd name="adj2" fmla="val 136173"/>
              </a:avLst>
            </a:prstGeom>
            <a:solidFill>
              <a:srgbClr val="FF0000"/>
            </a:solidFill>
            <a:ln>
              <a:solidFill>
                <a:srgbClr val="FF000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-31320" rIns="90000" bIns="-3132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877" name="Arrow: Right 26"/>
          <p:cNvSpPr/>
          <p:nvPr/>
        </p:nvSpPr>
        <p:spPr>
          <a:xfrm rot="16200000">
            <a:off x="4579920" y="2446200"/>
            <a:ext cx="882720" cy="201960"/>
          </a:xfrm>
          <a:prstGeom prst="rightArrow">
            <a:avLst>
              <a:gd name="adj1" fmla="val 11983"/>
              <a:gd name="adj2" fmla="val 136173"/>
            </a:avLst>
          </a:prstGeom>
          <a:solidFill>
            <a:srgbClr val="FF0000"/>
          </a:solidFill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-20880" rIns="90000" bIns="-2088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78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29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Rectangle 3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E2746"/>
              </a:gs>
              <a:gs pos="39000">
                <a:srgbClr val="000000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80" name="Rectangle 24"/>
          <p:cNvSpPr/>
          <p:nvPr/>
        </p:nvSpPr>
        <p:spPr>
          <a:xfrm>
            <a:off x="0" y="6223320"/>
            <a:ext cx="12191760" cy="63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200" b="0" u="none" strike="noStrike">
              <a:solidFill>
                <a:schemeClr val="lt1"/>
              </a:solidFill>
              <a:effectLst/>
              <a:uFillTx/>
              <a:latin typeface="페이퍼로지 7 Bold"/>
              <a:ea typeface="페이퍼로지 7 Bold"/>
            </a:endParaRPr>
          </a:p>
        </p:txBody>
      </p:sp>
      <p:sp>
        <p:nvSpPr>
          <p:cNvPr id="881" name="TextBox 44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30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2" name="Google Shape;1160;p22"/>
          <p:cNvSpPr/>
          <p:nvPr/>
        </p:nvSpPr>
        <p:spPr>
          <a:xfrm>
            <a:off x="747000" y="308520"/>
            <a:ext cx="106977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직원의 대응 업무 전반에서 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기능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편의 기능 지원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Box 26"/>
          <p:cNvSpPr/>
          <p:nvPr/>
        </p:nvSpPr>
        <p:spPr>
          <a:xfrm>
            <a:off x="792360" y="6386760"/>
            <a:ext cx="10606680" cy="307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45720" tIns="45000" rIns="45720" bIns="45000" anchor="ctr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질문 → 확인 → 조치 → 기록 → 보고까지</a:t>
            </a:r>
            <a:r>
              <a:rPr lang="en-US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별도의 업무로 끊기지 않고 하나의 </a:t>
            </a:r>
            <a:r>
              <a:rPr lang="en-US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Shared Case</a:t>
            </a:r>
            <a:r>
              <a:rPr lang="ko-KR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에서 이어집니다</a:t>
            </a:r>
            <a:r>
              <a:rPr lang="en-US" sz="1400" b="1" u="none" strike="noStrike">
                <a:solidFill>
                  <a:srgbClr val="091D36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84" name="Group 6"/>
          <p:cNvGrpSpPr/>
          <p:nvPr/>
        </p:nvGrpSpPr>
        <p:grpSpPr>
          <a:xfrm>
            <a:off x="306000" y="921240"/>
            <a:ext cx="11579760" cy="5015160"/>
            <a:chOff x="306000" y="921240"/>
            <a:chExt cx="11579760" cy="5015160"/>
          </a:xfrm>
        </p:grpSpPr>
        <p:sp>
          <p:nvSpPr>
            <p:cNvPr id="885" name="TextBox 18"/>
            <p:cNvSpPr/>
            <p:nvPr/>
          </p:nvSpPr>
          <p:spPr>
            <a:xfrm>
              <a:off x="306000" y="921240"/>
              <a:ext cx="2354760" cy="8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① AI </a:t>
              </a: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초안 작성 기능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DB 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데이터를 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LLM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이 검토하여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,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질문 추천 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· 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기관 확인 사항 초안 작성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86" name="Picture 33"/>
            <p:cNvPicPr/>
            <p:nvPr/>
          </p:nvPicPr>
          <p:blipFill>
            <a:blip r:embed="rId3"/>
            <a:stretch/>
          </p:blipFill>
          <p:spPr>
            <a:xfrm>
              <a:off x="7684560" y="1912680"/>
              <a:ext cx="4201200" cy="266868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887" name="Group 1"/>
            <p:cNvGrpSpPr/>
            <p:nvPr/>
          </p:nvGrpSpPr>
          <p:grpSpPr>
            <a:xfrm>
              <a:off x="4435560" y="1915560"/>
              <a:ext cx="3060000" cy="3792600"/>
              <a:chOff x="4435560" y="1915560"/>
              <a:chExt cx="3060000" cy="3792600"/>
            </a:xfrm>
          </p:grpSpPr>
          <p:pic>
            <p:nvPicPr>
              <p:cNvPr id="888" name="Picture 21"/>
              <p:cNvPicPr/>
              <p:nvPr/>
            </p:nvPicPr>
            <p:blipFill>
              <a:blip r:embed="rId4"/>
              <a:stretch/>
            </p:blipFill>
            <p:spPr>
              <a:xfrm>
                <a:off x="4435560" y="4440960"/>
                <a:ext cx="3060000" cy="12672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89" name="Picture 22"/>
              <p:cNvPicPr/>
              <p:nvPr/>
            </p:nvPicPr>
            <p:blipFill>
              <a:blip r:embed="rId5"/>
              <a:srcRect l="2218" t="3373" r="2120" b="1884"/>
              <a:stretch/>
            </p:blipFill>
            <p:spPr>
              <a:xfrm>
                <a:off x="4435560" y="1915560"/>
                <a:ext cx="3060000" cy="238320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890" name="Group 5"/>
            <p:cNvGrpSpPr/>
            <p:nvPr/>
          </p:nvGrpSpPr>
          <p:grpSpPr>
            <a:xfrm>
              <a:off x="362880" y="1912680"/>
              <a:ext cx="3903840" cy="4023720"/>
              <a:chOff x="362880" y="1912680"/>
              <a:chExt cx="3903840" cy="4023720"/>
            </a:xfrm>
          </p:grpSpPr>
          <p:pic>
            <p:nvPicPr>
              <p:cNvPr id="891" name="Picture 19"/>
              <p:cNvPicPr/>
              <p:nvPr/>
            </p:nvPicPr>
            <p:blipFill>
              <a:blip r:embed="rId6"/>
              <a:srcRect l="662" t="1431" r="1079" b="297"/>
              <a:stretch/>
            </p:blipFill>
            <p:spPr>
              <a:xfrm>
                <a:off x="362880" y="1912680"/>
                <a:ext cx="3891240" cy="21448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892" name="Picture 4"/>
              <p:cNvPicPr/>
              <p:nvPr/>
            </p:nvPicPr>
            <p:blipFill>
              <a:blip r:embed="rId7"/>
              <a:stretch/>
            </p:blipFill>
            <p:spPr>
              <a:xfrm>
                <a:off x="374760" y="4131360"/>
                <a:ext cx="3891960" cy="180504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893" name="TextBox 23"/>
            <p:cNvSpPr/>
            <p:nvPr/>
          </p:nvSpPr>
          <p:spPr>
            <a:xfrm>
              <a:off x="4353480" y="921240"/>
              <a:ext cx="2856600" cy="8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② 은행 직원 기록용 편의기능 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중요 내용을 메모장에 기록하고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,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중요한 대화 및 </a:t>
              </a: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AI 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응답은 북마킹 – 빠른 확인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4" name="TextBox 27"/>
            <p:cNvSpPr/>
            <p:nvPr/>
          </p:nvSpPr>
          <p:spPr>
            <a:xfrm>
              <a:off x="7582680" y="921240"/>
              <a:ext cx="2885400" cy="830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none"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③ CASE </a:t>
              </a: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누적 데이터 정리 </a:t>
              </a:r>
              <a:r>
                <a:rPr lang="en-US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AI </a:t>
              </a:r>
              <a:r>
                <a:rPr lang="ko-KR" sz="14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레포트</a:t>
              </a:r>
              <a:endParaRPr lang="en-US" sz="1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endParaRPr lang="en-US" sz="10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사건 종료 시 결과 보고서 작성 기능 제공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PDF/</a:t>
              </a:r>
              <a:r>
                <a:rPr lang="ko-KR" sz="1200" b="0" u="none" strike="noStrike">
                  <a:solidFill>
                    <a:schemeClr val="lt1"/>
                  </a:solidFill>
                  <a:effectLst/>
                  <a:uFillTx/>
                  <a:latin typeface="페이퍼로지 7 Bold"/>
                  <a:ea typeface="페이퍼로지 7 Bold"/>
                </a:rPr>
                <a:t>워드 파일로 다운로드 가능하게 구현</a:t>
              </a:r>
              <a:endPara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Rectangle 19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96" name="TextBox 3"/>
          <p:cNvSpPr/>
          <p:nvPr/>
        </p:nvSpPr>
        <p:spPr>
          <a:xfrm>
            <a:off x="0" y="334080"/>
            <a:ext cx="12191760" cy="10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사건 현황 요약 정리 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패널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최초 사건 분석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JSON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을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과 규칙 기반으로 사건 요약과 위험 정황으로 재구성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하고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직원이 확인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조치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처리 이력을 관리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할 수 있는 통합 사건 현황 패널 구현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직원이 채팅을 입력하거나 패널 정보를 직접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CRUD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하면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DB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데이터가 업데이트 되고 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LLM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이 최신 데이터를 기준으로 패널을 자동 업데이트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가 정보 수집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계획 수립 절차 대행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시간 효율성</a:t>
            </a:r>
            <a:r>
              <a:rPr lang="en-US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업무 편의성 증가 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| </a:t>
            </a:r>
            <a:r>
              <a:rPr lang="ko-KR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직접 수정 가능하여</a:t>
            </a:r>
            <a:r>
              <a:rPr lang="en-US" sz="14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4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업무 통제성 유지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897" name="Group 17"/>
          <p:cNvGrpSpPr/>
          <p:nvPr/>
        </p:nvGrpSpPr>
        <p:grpSpPr>
          <a:xfrm>
            <a:off x="219240" y="1606320"/>
            <a:ext cx="11753280" cy="4994640"/>
            <a:chOff x="219240" y="1606320"/>
            <a:chExt cx="11753280" cy="4994640"/>
          </a:xfrm>
        </p:grpSpPr>
        <p:pic>
          <p:nvPicPr>
            <p:cNvPr id="898" name="Picture 13"/>
            <p:cNvPicPr/>
            <p:nvPr/>
          </p:nvPicPr>
          <p:blipFill>
            <a:blip r:embed="rId2"/>
            <a:srcRect l="76829" t="6806" b="10087"/>
            <a:stretch/>
          </p:blipFill>
          <p:spPr>
            <a:xfrm>
              <a:off x="219240" y="1606320"/>
              <a:ext cx="2826720" cy="4804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9" name="Picture 5"/>
            <p:cNvPicPr/>
            <p:nvPr/>
          </p:nvPicPr>
          <p:blipFill>
            <a:blip r:embed="rId3"/>
            <a:srcRect b="35888"/>
            <a:stretch/>
          </p:blipFill>
          <p:spPr>
            <a:xfrm>
              <a:off x="3239280" y="1606320"/>
              <a:ext cx="2665080" cy="3459240"/>
            </a:xfrm>
            <a:prstGeom prst="rect">
              <a:avLst/>
            </a:prstGeom>
            <a:noFill/>
            <a:ln w="0">
              <a:noFill/>
            </a:ln>
          </p:spPr>
        </p:pic>
        <p:grpSp>
          <p:nvGrpSpPr>
            <p:cNvPr id="900" name="Group 12"/>
            <p:cNvGrpSpPr/>
            <p:nvPr/>
          </p:nvGrpSpPr>
          <p:grpSpPr>
            <a:xfrm>
              <a:off x="9145800" y="1606320"/>
              <a:ext cx="2826720" cy="3814920"/>
              <a:chOff x="9145800" y="1606320"/>
              <a:chExt cx="2826720" cy="3814920"/>
            </a:xfrm>
          </p:grpSpPr>
          <p:pic>
            <p:nvPicPr>
              <p:cNvPr id="901" name="Picture 16"/>
              <p:cNvPicPr/>
              <p:nvPr/>
            </p:nvPicPr>
            <p:blipFill>
              <a:blip r:embed="rId4"/>
              <a:srcRect b="46324"/>
              <a:stretch/>
            </p:blipFill>
            <p:spPr>
              <a:xfrm>
                <a:off x="9145800" y="1606320"/>
                <a:ext cx="2826720" cy="293148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02" name="Picture 9"/>
              <p:cNvPicPr/>
              <p:nvPr/>
            </p:nvPicPr>
            <p:blipFill>
              <a:blip r:embed="rId5"/>
              <a:srcRect t="39740"/>
              <a:stretch/>
            </p:blipFill>
            <p:spPr>
              <a:xfrm>
                <a:off x="9145800" y="2082960"/>
                <a:ext cx="2826720" cy="333828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pic>
          <p:nvPicPr>
            <p:cNvPr id="903" name="Picture 11"/>
            <p:cNvPicPr/>
            <p:nvPr/>
          </p:nvPicPr>
          <p:blipFill>
            <a:blip r:embed="rId4"/>
            <a:srcRect b="8551"/>
            <a:stretch/>
          </p:blipFill>
          <p:spPr>
            <a:xfrm>
              <a:off x="6097680" y="1606320"/>
              <a:ext cx="2826720" cy="499464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04" name="Integrated page number"/>
          <p:cNvSpPr/>
          <p:nvPr/>
        </p:nvSpPr>
        <p:spPr>
          <a:xfrm>
            <a:off x="11715840" y="64197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31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Rectangle 7"/>
          <p:cNvSpPr/>
          <p:nvPr/>
        </p:nvSpPr>
        <p:spPr>
          <a:xfrm>
            <a:off x="0" y="9525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06" name="TextBox 5"/>
          <p:cNvSpPr/>
          <p:nvPr/>
        </p:nvSpPr>
        <p:spPr>
          <a:xfrm>
            <a:off x="618840" y="335160"/>
            <a:ext cx="1095408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AI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 결과를 영속화된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리소스로 관리하는 목록형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UI/UX - API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를 구현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상태 기반 조회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필터링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정렬을 통해 은행 담당자가 사건을 신속하게 탐색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처리할 수 있도록 구성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7" name="Picture 2"/>
          <p:cNvPicPr/>
          <p:nvPr/>
        </p:nvPicPr>
        <p:blipFill>
          <a:blip r:embed="rId2"/>
          <a:stretch/>
        </p:blipFill>
        <p:spPr>
          <a:xfrm>
            <a:off x="399960" y="1042710"/>
            <a:ext cx="11391480" cy="535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8" name="Integrated page number"/>
          <p:cNvSpPr/>
          <p:nvPr/>
        </p:nvSpPr>
        <p:spPr>
          <a:xfrm>
            <a:off x="1167804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32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0" name="TextBox 1"/>
          <p:cNvSpPr/>
          <p:nvPr/>
        </p:nvSpPr>
        <p:spPr>
          <a:xfrm>
            <a:off x="618840" y="357840"/>
            <a:ext cx="10954080" cy="1107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담당자 사전 관리 및 케이스 자동 배정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사건 발생 전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에 은행 직원의 이름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부서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직무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담당 업무와 처리 가능 영역을 등록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관리할 수 있는 </a:t>
            </a:r>
            <a:r>
              <a:rPr lang="ko-KR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담당자 디렉터리를 제공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사전 등록된 은행 담당자 정보와 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분석 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metadata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를 매칭해 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Case Room </a:t>
            </a:r>
            <a:r>
              <a:rPr lang="ko-KR" sz="16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최초 접속 시 </a:t>
            </a:r>
            <a:r>
              <a:rPr lang="ko-KR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적합한 담당자를 자동 추천 배정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협업 관계자 소집 과정을 단순화 </a:t>
            </a:r>
            <a:r>
              <a:rPr lang="en-US" sz="1600" b="1" u="none" strike="noStrike">
                <a:solidFill>
                  <a:srgbClr val="FFC000"/>
                </a:solidFill>
                <a:effectLst/>
                <a:uFillTx/>
                <a:latin typeface="Wingdings"/>
                <a:ea typeface="페이퍼로지 7 Bold"/>
              </a:rPr>
              <a:t></a:t>
            </a:r>
            <a:r>
              <a:rPr lang="en-US" sz="1600" b="1" u="none" strike="noStrike">
                <a:solidFill>
                  <a:srgbClr val="FFC000"/>
                </a:solidFill>
                <a:effectLst/>
                <a:uFillTx/>
                <a:latin typeface="페이퍼로지 7 Bold"/>
                <a:ea typeface="페이퍼로지 7 Bold"/>
              </a:rPr>
              <a:t> 시간 효율성 증가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11" name="Group 3"/>
          <p:cNvGrpSpPr/>
          <p:nvPr/>
        </p:nvGrpSpPr>
        <p:grpSpPr>
          <a:xfrm>
            <a:off x="84240" y="1709640"/>
            <a:ext cx="12023280" cy="4683600"/>
            <a:chOff x="84240" y="1943280"/>
            <a:chExt cx="12023280" cy="4683600"/>
          </a:xfrm>
        </p:grpSpPr>
        <p:pic>
          <p:nvPicPr>
            <p:cNvPr id="912" name="Picture 4"/>
            <p:cNvPicPr/>
            <p:nvPr/>
          </p:nvPicPr>
          <p:blipFill>
            <a:blip r:embed="rId3"/>
            <a:stretch/>
          </p:blipFill>
          <p:spPr>
            <a:xfrm>
              <a:off x="84240" y="1943280"/>
              <a:ext cx="4192920" cy="46836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3" name="Picture 5"/>
            <p:cNvPicPr/>
            <p:nvPr/>
          </p:nvPicPr>
          <p:blipFill>
            <a:blip r:embed="rId4"/>
            <a:stretch/>
          </p:blipFill>
          <p:spPr>
            <a:xfrm>
              <a:off x="5009040" y="2011680"/>
              <a:ext cx="7098480" cy="45475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14" name="Chevron 17"/>
            <p:cNvSpPr/>
            <p:nvPr/>
          </p:nvSpPr>
          <p:spPr>
            <a:xfrm>
              <a:off x="4449960" y="4113720"/>
              <a:ext cx="385920" cy="282240"/>
            </a:xfrm>
            <a:prstGeom prst="chevron">
              <a:avLst>
                <a:gd name="adj" fmla="val 50000"/>
              </a:avLst>
            </a:prstGeom>
            <a:solidFill>
              <a:srgbClr val="D3DEE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endParaRPr>
            </a:p>
          </p:txBody>
        </p:sp>
      </p:grpSp>
      <p:sp>
        <p:nvSpPr>
          <p:cNvPr id="915" name="Integrated page number"/>
          <p:cNvSpPr/>
          <p:nvPr/>
        </p:nvSpPr>
        <p:spPr>
          <a:xfrm>
            <a:off x="11716080" y="64728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33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E2746"/>
              </a:gs>
              <a:gs pos="39000">
                <a:srgbClr val="000000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17" name="Google Shape;1160;p22"/>
          <p:cNvSpPr/>
          <p:nvPr/>
        </p:nvSpPr>
        <p:spPr>
          <a:xfrm>
            <a:off x="530280" y="419040"/>
            <a:ext cx="10697760" cy="36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혼자 판단하기 어려운 순간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AI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와 대화하며 상황을 확인하고 안전한 다음 행동까지 이어갑니다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Google Shape;1066;p16"/>
          <p:cNvSpPr/>
          <p:nvPr/>
        </p:nvSpPr>
        <p:spPr>
          <a:xfrm>
            <a:off x="530280" y="235800"/>
            <a:ext cx="4061520" cy="176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95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고객용 </a:t>
            </a:r>
            <a:r>
              <a:rPr lang="en-US" sz="95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 CUSTOMER CASE CHAT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Google Shape;1068;p16"/>
          <p:cNvSpPr/>
          <p:nvPr/>
        </p:nvSpPr>
        <p:spPr>
          <a:xfrm>
            <a:off x="530280" y="991318"/>
            <a:ext cx="10697760" cy="198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t">
            <a:spAutoFit/>
          </a:bodyPr>
          <a:lstStyle/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고객은 복잡한 위험정보를 직접 해석할 필요 없이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, AI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의 질문에 답하며 현재 상황을 확인하고 필요한 사실 검증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은행 연결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피해구제까지 단계적으로 </a:t>
            </a:r>
            <a:r>
              <a:rPr lang="ko-KR" sz="1100" b="0" u="none" strike="noStrike" dirty="0" err="1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안내받습니다</a:t>
            </a:r>
            <a:r>
              <a:rPr lang="en-US" sz="1100" b="0" u="none" strike="noStrike" dirty="0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1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Box 40"/>
          <p:cNvSpPr/>
          <p:nvPr/>
        </p:nvSpPr>
        <p:spPr>
          <a:xfrm>
            <a:off x="11606760" y="6476400"/>
            <a:ext cx="319680" cy="15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18360" tIns="18360" rIns="18360" bIns="18360" anchor="ctr">
            <a:sp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800" b="0" u="none" strike="noStrike" dirty="0">
                <a:solidFill>
                  <a:srgbClr val="6A7B97"/>
                </a:solidFill>
                <a:effectLst/>
                <a:uFillTx/>
                <a:latin typeface="페이퍼로지 7 Bold"/>
                <a:ea typeface="페이퍼로지 7 Bold"/>
              </a:rPr>
              <a:t>34</a:t>
            </a:r>
            <a:endParaRPr lang="en-US" sz="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21" name="Group 19"/>
          <p:cNvGrpSpPr/>
          <p:nvPr/>
        </p:nvGrpSpPr>
        <p:grpSpPr>
          <a:xfrm>
            <a:off x="265320" y="1286640"/>
            <a:ext cx="11326680" cy="5335560"/>
            <a:chOff x="265320" y="1446480"/>
            <a:chExt cx="11326680" cy="5335560"/>
          </a:xfrm>
        </p:grpSpPr>
        <p:pic>
          <p:nvPicPr>
            <p:cNvPr id="922" name="Picture 20"/>
            <p:cNvPicPr/>
            <p:nvPr/>
          </p:nvPicPr>
          <p:blipFill>
            <a:blip r:embed="rId3"/>
            <a:stretch/>
          </p:blipFill>
          <p:spPr>
            <a:xfrm>
              <a:off x="459360" y="1467360"/>
              <a:ext cx="3621240" cy="5314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23" name="Picture 22"/>
            <p:cNvPicPr/>
            <p:nvPr/>
          </p:nvPicPr>
          <p:blipFill>
            <a:blip r:embed="rId4"/>
            <a:srcRect l="74638" t="67734"/>
            <a:stretch/>
          </p:blipFill>
          <p:spPr>
            <a:xfrm>
              <a:off x="9372960" y="1446480"/>
              <a:ext cx="2219040" cy="18752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4" name="TextBox 21"/>
            <p:cNvSpPr/>
            <p:nvPr/>
          </p:nvSpPr>
          <p:spPr>
            <a:xfrm>
              <a:off x="2016000" y="5374440"/>
              <a:ext cx="1982880" cy="8305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② 상황 이해 ·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브리핑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왜 위험한지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,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무엇을 해야하는지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현재 상황을 쉽게 설명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5" name="TextBox 23"/>
            <p:cNvSpPr/>
            <p:nvPr/>
          </p:nvSpPr>
          <p:spPr>
            <a:xfrm>
              <a:off x="265320" y="3447000"/>
              <a:ext cx="1982880" cy="6458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① 질문 카드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송금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개인정보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·OTP 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등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필요한 사실 확인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926" name="Picture 16"/>
            <p:cNvPicPr/>
            <p:nvPr/>
          </p:nvPicPr>
          <p:blipFill>
            <a:blip r:embed="rId5"/>
            <a:srcRect l="25084" t="14329" r="39333" b="15536"/>
            <a:stretch/>
          </p:blipFill>
          <p:spPr>
            <a:xfrm>
              <a:off x="4220640" y="1467360"/>
              <a:ext cx="5011920" cy="53146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927" name="TextBox 25"/>
            <p:cNvSpPr/>
            <p:nvPr/>
          </p:nvSpPr>
          <p:spPr>
            <a:xfrm>
              <a:off x="9029880" y="5923800"/>
              <a:ext cx="2311560" cy="83052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⑤ 질문 카드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직관적 단계적 질문 카드로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은행 직원의 정보 수집 편의성 강화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8" name="TextBox 38"/>
            <p:cNvSpPr/>
            <p:nvPr/>
          </p:nvSpPr>
          <p:spPr>
            <a:xfrm>
              <a:off x="7240320" y="1753200"/>
              <a:ext cx="1532520" cy="6458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③ 즉시 행동 안내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피해 조치 가이드 제공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9" name="TextBox 41"/>
            <p:cNvSpPr/>
            <p:nvPr/>
          </p:nvSpPr>
          <p:spPr>
            <a:xfrm>
              <a:off x="9372960" y="3456360"/>
              <a:ext cx="2219040" cy="64584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19050">
              <a:solidFill>
                <a:srgbClr val="EE4344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④ 피해 발생 후 구제 지원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914400">
                <a:lnSpc>
                  <a:spcPct val="100000"/>
                </a:lnSpc>
              </a:pP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지급정지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신고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증거보존</a:t>
              </a:r>
              <a:r>
                <a:rPr lang="en-US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·</a:t>
              </a:r>
              <a:r>
                <a:rPr lang="ko-KR" sz="1200" b="0" u="none" strike="noStrike">
                  <a:solidFill>
                    <a:schemeClr val="dk1"/>
                  </a:solidFill>
                  <a:effectLst/>
                  <a:uFillTx/>
                  <a:latin typeface="페이퍼로지 7 Bold"/>
                  <a:ea typeface="페이퍼로지 7 Bold"/>
                </a:rPr>
                <a:t>피해구제 절차로 전환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931" name="TextBox 56"/>
          <p:cNvSpPr/>
          <p:nvPr/>
        </p:nvSpPr>
        <p:spPr>
          <a:xfrm>
            <a:off x="152280" y="419040"/>
            <a:ext cx="11886840" cy="49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개발 순서 및 고도화 과정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2" name="Rectangle 53"/>
          <p:cNvSpPr/>
          <p:nvPr/>
        </p:nvSpPr>
        <p:spPr>
          <a:xfrm>
            <a:off x="0" y="911520"/>
            <a:ext cx="12191760" cy="33267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3" name="TextBox 33"/>
          <p:cNvSpPr/>
          <p:nvPr/>
        </p:nvSpPr>
        <p:spPr>
          <a:xfrm>
            <a:off x="571320" y="1100520"/>
            <a:ext cx="1105812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기획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프론트엔드 개발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(UI/UX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설계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)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백엔드 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API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개발 및 연동</a:t>
            </a:r>
            <a:r>
              <a:rPr lang="en-US" sz="20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백엔드 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API 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개발 및 연동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34" name="Group 4"/>
          <p:cNvGrpSpPr/>
          <p:nvPr/>
        </p:nvGrpSpPr>
        <p:grpSpPr>
          <a:xfrm>
            <a:off x="752400" y="1689480"/>
            <a:ext cx="10686600" cy="2262960"/>
            <a:chOff x="752400" y="1689480"/>
            <a:chExt cx="10686600" cy="2262960"/>
          </a:xfrm>
        </p:grpSpPr>
        <p:sp>
          <p:nvSpPr>
            <p:cNvPr id="935" name="Rectangle: Rounded Corners 3"/>
            <p:cNvSpPr/>
            <p:nvPr/>
          </p:nvSpPr>
          <p:spPr>
            <a:xfrm>
              <a:off x="752400" y="1689480"/>
              <a:ext cx="5162040" cy="1044720"/>
            </a:xfrm>
            <a:prstGeom prst="roundRect">
              <a:avLst>
                <a:gd name="adj" fmla="val 16667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기획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문제 정의 및 사용자 흐름 설계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Case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중심 업무 프로세스 구성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6" name="Rectangle: Rounded Corners 37"/>
            <p:cNvSpPr/>
            <p:nvPr/>
          </p:nvSpPr>
          <p:spPr>
            <a:xfrm>
              <a:off x="6276960" y="1689480"/>
              <a:ext cx="5162040" cy="1044720"/>
            </a:xfrm>
            <a:prstGeom prst="roundRect">
              <a:avLst>
                <a:gd name="adj" fmla="val 16667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프론트엔드 개발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(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우선 개발 후 백엔드 연결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)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React/Vite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기반 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UI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구현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Bank / Customer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화면 구성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7" name="Rectangle: Rounded Corners 38"/>
            <p:cNvSpPr/>
            <p:nvPr/>
          </p:nvSpPr>
          <p:spPr>
            <a:xfrm>
              <a:off x="752400" y="2895840"/>
              <a:ext cx="5162040" cy="1044720"/>
            </a:xfrm>
            <a:prstGeom prst="roundRect">
              <a:avLst>
                <a:gd name="adj" fmla="val 16667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백엔드 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API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개발 및 연동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(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프론트엔드에 맞춰 연동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)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FastAPI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기반 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General API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구현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MySQL Case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데이터 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CRUD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연동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8" name="Rectangle: Rounded Corners 39"/>
            <p:cNvSpPr/>
            <p:nvPr/>
          </p:nvSpPr>
          <p:spPr>
            <a:xfrm>
              <a:off x="6276960" y="2907720"/>
              <a:ext cx="5162040" cy="1044720"/>
            </a:xfrm>
            <a:prstGeom prst="roundRect">
              <a:avLst>
                <a:gd name="adj" fmla="val 16667"/>
              </a:avLst>
            </a:prstGeom>
            <a:solidFill>
              <a:srgbClr val="1021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defTabSz="9144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AI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백엔드 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API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개발 및 연동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(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제너럴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API </a:t>
              </a:r>
              <a:r>
                <a:rPr lang="ko-KR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통해 호출</a:t>
              </a:r>
              <a:r>
                <a:rPr lang="en-US" sz="1800" b="1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)</a:t>
              </a: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OpenAI API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기반 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LLM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기능 구현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  <a:p>
              <a:pPr indent="-216000" defTabSz="914400">
                <a:lnSpc>
                  <a:spcPct val="100000"/>
                </a:lnSpc>
                <a:buClr>
                  <a:srgbClr val="FFFFFF"/>
                </a:buClr>
                <a:buFont typeface="Arial"/>
                <a:buChar char="•"/>
              </a:pP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ML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위험도 분석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·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질문 추천</a:t>
              </a:r>
              <a:r>
                <a:rPr lang="en-US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·Case Context </a:t>
              </a:r>
              <a:r>
                <a:rPr lang="ko-KR" sz="1600" b="0" u="none" strike="noStrike">
                  <a:solidFill>
                    <a:schemeClr val="lt1"/>
                  </a:solidFill>
                  <a:effectLst/>
                  <a:uFillTx/>
                  <a:latin typeface="페이퍼로지 5 Medium"/>
                  <a:ea typeface="페이퍼로지 5 Medium"/>
                </a:rPr>
                <a:t>연동</a:t>
              </a:r>
              <a:endParaRPr lang="en-US" sz="16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39" name="TextBox 42"/>
          <p:cNvSpPr/>
          <p:nvPr/>
        </p:nvSpPr>
        <p:spPr>
          <a:xfrm>
            <a:off x="571320" y="4507920"/>
            <a:ext cx="1105812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1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차 제작물 프론트엔드 위주 구현 정돈되지 않은 일부 기능 위주 공모전 출품 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Wingdings"/>
                <a:ea typeface="페이퍼로지 5 Medium"/>
              </a:rPr>
              <a:t></a:t>
            </a:r>
            <a:r>
              <a:rPr lang="en-US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 2</a:t>
            </a:r>
            <a:r>
              <a:rPr lang="ko-KR" sz="2000" b="1" u="none" strike="noStrike">
                <a:solidFill>
                  <a:schemeClr val="lt1"/>
                </a:solidFill>
                <a:effectLst/>
                <a:highlight>
                  <a:srgbClr val="0056FB"/>
                </a:highlight>
                <a:uFillTx/>
                <a:latin typeface="페이퍼로지 5 Medium"/>
                <a:ea typeface="페이퍼로지 5 Medium"/>
              </a:rPr>
              <a:t>차 기능 개선 및 고도화 진행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0" name="Rectangle: Rounded Corners 43"/>
          <p:cNvSpPr/>
          <p:nvPr/>
        </p:nvSpPr>
        <p:spPr>
          <a:xfrm>
            <a:off x="752400" y="5177520"/>
            <a:ext cx="5162040" cy="1044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프론트엔드 직관성 가독성 개선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은행 채팅창 2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분할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 요약 패널 체계화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&amp;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단순화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Rectangle: Rounded Corners 44"/>
          <p:cNvSpPr/>
          <p:nvPr/>
        </p:nvSpPr>
        <p:spPr>
          <a:xfrm>
            <a:off x="6276960" y="5177520"/>
            <a:ext cx="5162040" cy="104472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45000" tIns="18000" rIns="45000" bIns="18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백엔드 </a:t>
            </a: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API </a:t>
            </a:r>
            <a:r>
              <a:rPr lang="ko-KR" sz="18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추가 개발 및 개선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페르소나 및 응답 프롬프팅 개선</a:t>
            </a:r>
            <a:b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</a:b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질문 관련 위주 응답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</a:pPr>
            <a:r>
              <a:rPr lang="ko-KR" sz="16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연속적인 다수 채팅을 통합 응답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2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TextBox 6"/>
          <p:cNvSpPr/>
          <p:nvPr/>
        </p:nvSpPr>
        <p:spPr>
          <a:xfrm>
            <a:off x="0" y="1037160"/>
            <a:ext cx="12191760" cy="129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고도화 과정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VS 2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루트페이지 및 리스트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UI)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프론트엔드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여백 공간 효율적 활용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리스트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UI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개선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기능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분석 완료까지 기다려야 하는 것을 백그라운드에서 분석하며 다른 작업 가능하게 개선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44" name="Group 25"/>
          <p:cNvGrpSpPr/>
          <p:nvPr/>
        </p:nvGrpSpPr>
        <p:grpSpPr>
          <a:xfrm>
            <a:off x="358920" y="2782080"/>
            <a:ext cx="11473920" cy="2669400"/>
            <a:chOff x="358920" y="2782080"/>
            <a:chExt cx="11473920" cy="2669400"/>
          </a:xfrm>
        </p:grpSpPr>
        <p:grpSp>
          <p:nvGrpSpPr>
            <p:cNvPr id="945" name="Group 8"/>
            <p:cNvGrpSpPr/>
            <p:nvPr/>
          </p:nvGrpSpPr>
          <p:grpSpPr>
            <a:xfrm>
              <a:off x="358920" y="2782080"/>
              <a:ext cx="11473920" cy="2669400"/>
              <a:chOff x="358920" y="2782080"/>
              <a:chExt cx="11473920" cy="2669400"/>
            </a:xfrm>
          </p:grpSpPr>
          <p:pic>
            <p:nvPicPr>
              <p:cNvPr id="946" name="Picture 2"/>
              <p:cNvPicPr/>
              <p:nvPr/>
            </p:nvPicPr>
            <p:blipFill>
              <a:blip r:embed="rId2"/>
              <a:stretch/>
            </p:blipFill>
            <p:spPr>
              <a:xfrm>
                <a:off x="358920" y="2782080"/>
                <a:ext cx="5623200" cy="266940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47" name="Picture 4"/>
              <p:cNvPicPr/>
              <p:nvPr/>
            </p:nvPicPr>
            <p:blipFill>
              <a:blip r:embed="rId3"/>
              <a:srcRect r="5261"/>
              <a:stretch/>
            </p:blipFill>
            <p:spPr>
              <a:xfrm>
                <a:off x="6698880" y="2782080"/>
                <a:ext cx="5133960" cy="2662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948" name="Arrow: Right 5"/>
              <p:cNvSpPr/>
              <p:nvPr/>
            </p:nvSpPr>
            <p:spPr>
              <a:xfrm>
                <a:off x="6162840" y="3923640"/>
                <a:ext cx="355320" cy="37908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bg1"/>
              </a:solidFill>
              <a:ln>
                <a:solidFill>
                  <a:srgbClr val="0F4760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 defTabSz="914400">
                  <a:lnSpc>
                    <a:spcPct val="100000"/>
                  </a:lnSpc>
                </a:pPr>
                <a:endParaRPr lang="en-US" sz="1800" b="0" u="none" strike="noStrike">
                  <a:solidFill>
                    <a:schemeClr val="lt1"/>
                  </a:solidFill>
                  <a:effectLst/>
                  <a:uFillTx/>
                  <a:latin typeface="Aptos"/>
                </a:endParaRPr>
              </a:p>
            </p:txBody>
          </p:sp>
        </p:grpSp>
        <p:sp>
          <p:nvSpPr>
            <p:cNvPr id="949" name="Rectangle 23"/>
            <p:cNvSpPr/>
            <p:nvPr/>
          </p:nvSpPr>
          <p:spPr>
            <a:xfrm>
              <a:off x="358920" y="3194640"/>
              <a:ext cx="882720" cy="1539000"/>
            </a:xfrm>
            <a:prstGeom prst="rect">
              <a:avLst/>
            </a:prstGeom>
            <a:noFill/>
            <a:ln w="38100">
              <a:solidFill>
                <a:srgbClr val="E01F1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sp>
          <p:nvSpPr>
            <p:cNvPr id="950" name="Rectangle 24"/>
            <p:cNvSpPr/>
            <p:nvPr/>
          </p:nvSpPr>
          <p:spPr>
            <a:xfrm>
              <a:off x="8044560" y="2916720"/>
              <a:ext cx="3787920" cy="2534400"/>
            </a:xfrm>
            <a:prstGeom prst="rect">
              <a:avLst/>
            </a:prstGeom>
            <a:noFill/>
            <a:ln w="38100">
              <a:solidFill>
                <a:srgbClr val="E01F16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951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36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TextBox 9"/>
          <p:cNvSpPr/>
          <p:nvPr/>
        </p:nvSpPr>
        <p:spPr>
          <a:xfrm>
            <a:off x="0" y="585720"/>
            <a:ext cx="12191760" cy="1292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고도화 과정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VS 2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분석결과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UI &amp; 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백엔드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프론트엔드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여백 공간 효율적 활용 더 풍부한 정보 출력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백엔드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AI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인풋 아웃풋 데이터 스키마 구조 변경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중복 텍스트 축소 및 의미 있는 아웃풋 나오도록 프롬프트 엔지니어링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53" name="Group 11"/>
          <p:cNvGrpSpPr/>
          <p:nvPr/>
        </p:nvGrpSpPr>
        <p:grpSpPr>
          <a:xfrm>
            <a:off x="380160" y="2294280"/>
            <a:ext cx="11431440" cy="4075560"/>
            <a:chOff x="380160" y="2294280"/>
            <a:chExt cx="11431440" cy="4075560"/>
          </a:xfrm>
        </p:grpSpPr>
        <p:grpSp>
          <p:nvGrpSpPr>
            <p:cNvPr id="954" name="Group 7"/>
            <p:cNvGrpSpPr/>
            <p:nvPr/>
          </p:nvGrpSpPr>
          <p:grpSpPr>
            <a:xfrm>
              <a:off x="380160" y="2294280"/>
              <a:ext cx="11431440" cy="4075560"/>
              <a:chOff x="380160" y="2294280"/>
              <a:chExt cx="11431440" cy="4075560"/>
            </a:xfrm>
          </p:grpSpPr>
          <p:pic>
            <p:nvPicPr>
              <p:cNvPr id="955" name="Picture 10"/>
              <p:cNvPicPr/>
              <p:nvPr/>
            </p:nvPicPr>
            <p:blipFill>
              <a:blip r:embed="rId2"/>
              <a:stretch/>
            </p:blipFill>
            <p:spPr>
              <a:xfrm>
                <a:off x="380160" y="2294280"/>
                <a:ext cx="5492160" cy="407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956" name="Picture 3"/>
              <p:cNvPicPr/>
              <p:nvPr/>
            </p:nvPicPr>
            <p:blipFill>
              <a:blip r:embed="rId3"/>
              <a:stretch/>
            </p:blipFill>
            <p:spPr>
              <a:xfrm>
                <a:off x="6425640" y="2294280"/>
                <a:ext cx="5385960" cy="4075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957" name="Arrow: Right 14"/>
            <p:cNvSpPr/>
            <p:nvPr/>
          </p:nvSpPr>
          <p:spPr>
            <a:xfrm>
              <a:off x="5988240" y="4142160"/>
              <a:ext cx="355320" cy="3790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>
              <a:solidFill>
                <a:srgbClr val="0F476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</p:grpSp>
      <p:sp>
        <p:nvSpPr>
          <p:cNvPr id="958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37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TextBox 9"/>
          <p:cNvSpPr/>
          <p:nvPr/>
        </p:nvSpPr>
        <p:spPr>
          <a:xfrm>
            <a:off x="0" y="585720"/>
            <a:ext cx="12191760" cy="156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고도화 과정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1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VS 2</a:t>
            </a:r>
            <a:r>
              <a:rPr lang="ko-KR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차 </a:t>
            </a:r>
            <a:r>
              <a:rPr lang="en-US" sz="24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 업무 채팅 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UI </a:t>
            </a:r>
            <a:r>
              <a:rPr lang="ko-KR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분리</a:t>
            </a:r>
            <a:r>
              <a:rPr lang="en-US" sz="2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프론트엔드 개선 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하나의 채팅창에서 은행 내부 직원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외부 고객</a:t>
            </a: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/AI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응답 통합된 구조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algn="ctr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"/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은행 내외부 소통 혼돈 가능성 있어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algn="ctr" defTabSz="914400">
              <a:lnSpc>
                <a:spcPct val="100000"/>
              </a:lnSpc>
              <a:buClr>
                <a:srgbClr val="FFFFFF"/>
              </a:buClr>
              <a:buFont typeface="Wingdings" charset="2"/>
              <a:buChar char=""/>
            </a:pP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소통 영역 직관적으로 분리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960" name="Group 6"/>
          <p:cNvGrpSpPr/>
          <p:nvPr/>
        </p:nvGrpSpPr>
        <p:grpSpPr>
          <a:xfrm>
            <a:off x="411480" y="2812680"/>
            <a:ext cx="11368440" cy="3175560"/>
            <a:chOff x="411480" y="2812680"/>
            <a:chExt cx="11368440" cy="3175560"/>
          </a:xfrm>
        </p:grpSpPr>
        <p:sp>
          <p:nvSpPr>
            <p:cNvPr id="961" name="Arrow: Right 14"/>
            <p:cNvSpPr/>
            <p:nvPr/>
          </p:nvSpPr>
          <p:spPr>
            <a:xfrm>
              <a:off x="5539320" y="4251600"/>
              <a:ext cx="336240" cy="35892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/>
            </a:solidFill>
            <a:ln>
              <a:solidFill>
                <a:srgbClr val="0F4760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ctr">
              <a:noAutofit/>
            </a:bodyPr>
            <a:lstStyle/>
            <a:p>
              <a:pPr algn="ctr" defTabSz="914400">
                <a:lnSpc>
                  <a:spcPct val="100000"/>
                </a:lnSpc>
              </a:pPr>
              <a:endParaRPr lang="en-US" sz="1800" b="0" u="none" strike="noStrike">
                <a:solidFill>
                  <a:schemeClr val="lt1"/>
                </a:solidFill>
                <a:effectLst/>
                <a:uFillTx/>
                <a:latin typeface="Aptos"/>
              </a:endParaRPr>
            </a:p>
          </p:txBody>
        </p:sp>
        <p:pic>
          <p:nvPicPr>
            <p:cNvPr id="962" name="Picture 2"/>
            <p:cNvPicPr/>
            <p:nvPr/>
          </p:nvPicPr>
          <p:blipFill>
            <a:blip r:embed="rId2"/>
            <a:stretch/>
          </p:blipFill>
          <p:spPr>
            <a:xfrm>
              <a:off x="411480" y="2876040"/>
              <a:ext cx="5014080" cy="31118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63" name="Picture 5"/>
            <p:cNvPicPr/>
            <p:nvPr/>
          </p:nvPicPr>
          <p:blipFill>
            <a:blip r:embed="rId3"/>
            <a:stretch/>
          </p:blipFill>
          <p:spPr>
            <a:xfrm>
              <a:off x="5988240" y="2812680"/>
              <a:ext cx="5791680" cy="317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64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38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Rectangle 7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39000">
                <a:srgbClr val="0E2746"/>
              </a:gs>
              <a:gs pos="100000">
                <a:srgbClr val="000000"/>
              </a:gs>
            </a:gsLst>
            <a:lin ang="162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66" name="TextBox 56"/>
          <p:cNvSpPr/>
          <p:nvPr/>
        </p:nvSpPr>
        <p:spPr>
          <a:xfrm>
            <a:off x="152280" y="430200"/>
            <a:ext cx="118868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sp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KPI </a:t>
            </a:r>
            <a:r>
              <a:rPr lang="ko-KR" sz="1800" b="1" u="none" strike="noStrike">
                <a:solidFill>
                  <a:schemeClr val="lt1"/>
                </a:solidFill>
                <a:effectLst/>
                <a:uFillTx/>
                <a:latin typeface="페이퍼로지 7 Bold"/>
                <a:ea typeface="페이퍼로지 7 Bold"/>
              </a:rPr>
              <a:t>개선 비교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endParaRPr lang="en-US" sz="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7" name="Rectangle 53"/>
          <p:cNvSpPr/>
          <p:nvPr/>
        </p:nvSpPr>
        <p:spPr>
          <a:xfrm>
            <a:off x="0" y="891360"/>
            <a:ext cx="12191760" cy="60375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68" name="Table 1"/>
          <p:cNvGraphicFramePr/>
          <p:nvPr/>
        </p:nvGraphicFramePr>
        <p:xfrm>
          <a:off x="571680" y="1152000"/>
          <a:ext cx="11046240" cy="4577400"/>
        </p:xfrm>
        <a:graphic>
          <a:graphicData uri="http://schemas.openxmlformats.org/drawingml/2006/table">
            <a:tbl>
              <a:tblPr/>
              <a:tblGrid>
                <a:gridCol w="1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3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6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5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99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영역 지표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해석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</a:t>
                      </a: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차 초기 모델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2</a:t>
                      </a: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차 개선 모델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변화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solidFill>
                      <a:srgbClr val="005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맥락 피처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원문에 실제로 존재하는 사건 맥락 중 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찾아낸 비율입니다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높을수록 중요한 정황을 덜 놓칩니다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41.45%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68.0%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+26.55%p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맥락 피처 정밀도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추출한 맥락 중 실제 원문에 근거가 있는 비율입니다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높을수록 잘못된 정황을 덜 만들어냅니다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46.38%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64.0%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+17.62%p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수치 피처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원문에 포함된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금액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횟수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위험 수치 중 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찾아낸 비율입니다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23.59%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52.0%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+28.41%p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수치 피처 정밀도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추출한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수치 중 실제 원문과 일치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하는 비율입니다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44.95%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63.0%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+18.05%p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개체 보존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기관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인물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계좌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연락처 등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주요 대상을 원문에서 얼마나 빠짐없이 보존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했는지 나타냅니다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76.67%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88.0%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+11.33%p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금액 보존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원문에 언급된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요구 금액이나 이체 금액을 얼마나 정확히 유지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했는지 나타냅니다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96.67%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98.0%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+1.33%p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핵심 사실 재현율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사건 판단에 중요한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핵심 사실을 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얼마나 빠짐없이 재구성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했는지 나타냅니다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31.37%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61.0%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+29.63%p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사실 정밀도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재구성한 사실 중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실제 원문 근거가 있는 사실의 비율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34.75%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63.0%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+28.25%p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1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의미 유사도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 또는 기준 요약과 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생성한 맥락이 의미상 얼마나 비슷한지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 나타냅니다. 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보조 지표입니다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46.79%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68.0%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+21.21%p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모순 발생 건수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의 결과가 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원문과 반대되거나 서로 충돌한 사례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의 수입니다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 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낮을수록 안전합니다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7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2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5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감소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3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환각 발생 건수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원문에 없는 사실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신호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금액</a:t>
                      </a: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·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상태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를 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AI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가 만들어낸 사례의 수입니다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 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낮을수록 좋습니다</a:t>
                      </a: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.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47520" marR="4752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76</a:t>
                      </a:r>
                      <a:r>
                        <a:rPr lang="ko-KR" sz="12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18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58</a:t>
                      </a:r>
                      <a:r>
                        <a:rPr lang="ko-KR" sz="1200" b="0" u="none" strike="noStrike">
                          <a:solidFill>
                            <a:srgbClr val="0056FB"/>
                          </a:solidFill>
                          <a:effectLst/>
                          <a:uFillTx/>
                          <a:latin typeface="페이퍼로지 5 Medium"/>
                          <a:ea typeface="페이퍼로지 5 Medium"/>
                        </a:rPr>
                        <a:t>건 감소</a:t>
                      </a:r>
                      <a:endParaRPr lang="en-US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marL="78840" marR="78840" anchor="ctr">
                    <a:lnL w="12240">
                      <a:solidFill>
                        <a:srgbClr val="000000"/>
                      </a:solidFill>
                      <a:prstDash val="solid"/>
                    </a:lnL>
                    <a:lnR w="1224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69" name="TextBox 11"/>
          <p:cNvSpPr/>
          <p:nvPr/>
        </p:nvSpPr>
        <p:spPr>
          <a:xfrm>
            <a:off x="571680" y="5774040"/>
            <a:ext cx="10900080" cy="101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원문 전체 재현율 기준으로 평가해 점수가 낮게 산출될 수 있음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.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CSR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의 목적은 전체 문장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100%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복원이 아닌 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핵심 정황</a:t>
            </a:r>
            <a:r>
              <a:rPr lang="en-US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맥락의 정확한 구조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화이므로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7 Bold"/>
                <a:ea typeface="페이퍼로지 7 Bold"/>
              </a:rPr>
              <a:t>, </a:t>
            </a:r>
            <a:r>
              <a:rPr lang="ko-KR" sz="1200" b="0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핵심 정보 중심 추가 평가가 별도로 필요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측정 기준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30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Case, 150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 발화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비교 가능한 핵심 사실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100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실행지표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30/30 Case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성공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총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210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회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LLM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호출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Case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당 평균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7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회 호출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총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477,293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토큰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P50 26.16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초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P95 34.06</a:t>
            </a:r>
            <a:r>
              <a:rPr lang="ko-KR" sz="12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초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0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39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45D864-A4B6-4408-BF4A-78DD0EDC3BB3}"/>
              </a:ext>
            </a:extLst>
          </p:cNvPr>
          <p:cNvSpPr/>
          <p:nvPr/>
        </p:nvSpPr>
        <p:spPr>
          <a:xfrm>
            <a:off x="8705850" y="5990040"/>
            <a:ext cx="2289990" cy="8226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1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차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 2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  <a:sym typeface="Wingdings" panose="05000000000000000000" pitchFamily="2" charset="2"/>
              </a:rPr>
              <a:t>차</a:t>
            </a:r>
            <a:endParaRPr lang="en-US" altLang="ko-KR" dirty="0">
              <a:latin typeface="페이퍼로지 7 Bold" pitchFamily="2" charset="-127"/>
              <a:ea typeface="페이퍼로지 7 Bold" pitchFamily="2" charset="-127"/>
              <a:sym typeface="Wingdings" panose="05000000000000000000" pitchFamily="2" charset="2"/>
            </a:endParaRPr>
          </a:p>
          <a:p>
            <a:pPr algn="ctr"/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검사용 </a:t>
            </a:r>
            <a:r>
              <a:rPr lang="en-US" altLang="ko-KR" dirty="0">
                <a:latin typeface="페이퍼로지 7 Bold" pitchFamily="2" charset="-127"/>
                <a:ea typeface="페이퍼로지 7 Bold" pitchFamily="2" charset="-127"/>
              </a:rPr>
              <a:t>AI </a:t>
            </a:r>
            <a:r>
              <a:rPr lang="ko-KR" altLang="en-US" dirty="0">
                <a:latin typeface="페이퍼로지 7 Bold" pitchFamily="2" charset="-127"/>
                <a:ea typeface="페이퍼로지 7 Bold" pitchFamily="2" charset="-127"/>
              </a:rPr>
              <a:t>추가함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72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73" name="Rectangle 6"/>
          <p:cNvSpPr/>
          <p:nvPr/>
        </p:nvSpPr>
        <p:spPr>
          <a:xfrm>
            <a:off x="952560" y="2349720"/>
            <a:ext cx="1028664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04 </a:t>
            </a:r>
            <a:r>
              <a:rPr lang="ko-KR" sz="4800" b="1" u="none" strike="noStrike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시나리오 기반 제작물 시연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74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대표 사건 발생 이후 시나리오 시연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975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40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TextBox 4"/>
          <p:cNvSpPr/>
          <p:nvPr/>
        </p:nvSpPr>
        <p:spPr>
          <a:xfrm>
            <a:off x="3050280" y="-12267720"/>
            <a:ext cx="6100560" cy="36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77" name="TextBox 6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8" name="Rectangle 7"/>
          <p:cNvSpPr/>
          <p:nvPr/>
        </p:nvSpPr>
        <p:spPr>
          <a:xfrm>
            <a:off x="335160" y="902160"/>
            <a:ext cx="11521080" cy="563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pic>
        <p:nvPicPr>
          <p:cNvPr id="979" name="그림 978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769400" y="1347840"/>
            <a:ext cx="522720" cy="522720"/>
          </a:xfrm>
          <a:prstGeom prst="rect">
            <a:avLst/>
          </a:prstGeom>
          <a:ln w="0">
            <a:noFill/>
          </a:ln>
        </p:spPr>
      </p:pic>
      <p:sp>
        <p:nvSpPr>
          <p:cNvPr id="980" name="TextBox 9"/>
          <p:cNvSpPr/>
          <p:nvPr/>
        </p:nvSpPr>
        <p:spPr>
          <a:xfrm>
            <a:off x="745560" y="1520640"/>
            <a:ext cx="6967080" cy="440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1. </a:t>
            </a: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어느 날 걸려온 전화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고객에게 검찰 수사관을 사칭한 전화가 걸려옵니다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 명의의 농협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신한은행 계좌가 범죄에 연루됐으며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사건번호와 개인정보 유출 가능성을 언급하며 불안감을 조성합니다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주요 위험 정황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검찰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법원 등 수사기관 사칭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본인 명의 계좌가 범죄에 연루됐다는 주장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개인정보 유출 및 명의도용 가능성 강조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사건번호 제시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-343080" defTabSz="9144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통화 녹취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20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법정 증거 등을 언급하며 신뢰 유도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1" name="Picture 10"/>
          <p:cNvSpPr/>
          <p:nvPr/>
        </p:nvSpPr>
        <p:spPr>
          <a:xfrm>
            <a:off x="7770240" y="2106000"/>
            <a:ext cx="3675960" cy="3675960"/>
          </a:xfrm>
          <a:custGeom>
            <a:avLst/>
            <a:gdLst>
              <a:gd name="textAreaLeft" fmla="*/ 0 w 3675960"/>
              <a:gd name="textAreaRight" fmla="*/ 3676320 w 3675960"/>
              <a:gd name="textAreaTop" fmla="*/ 0 h 3675960"/>
              <a:gd name="textAreaBottom" fmla="*/ 3676320 h 3675960"/>
              <a:gd name="GluePoint1X" fmla="*/ 2034761 w 4069522"/>
              <a:gd name="GluePoint1Y" fmla="*/ 0 h 4069522"/>
              <a:gd name="GluePoint2X" fmla="*/ 4069522 w 4069522"/>
              <a:gd name="GluePoint2Y" fmla="*/ 2034761 h 4069522"/>
              <a:gd name="GluePoint3X" fmla="*/ 2034761 w 4069522"/>
              <a:gd name="GluePoint3Y" fmla="*/ 4069522 h 4069522"/>
              <a:gd name="GluePoint4X" fmla="*/ 0 w 4069522"/>
              <a:gd name="GluePoint4Y" fmla="*/ 2034761 h 4069522"/>
              <a:gd name="GluePoint5X" fmla="*/ 2034761 w 4069522"/>
              <a:gd name="GluePoint5Y" fmla="*/ 0 h 4069522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</a:cxnLst>
            <a:rect l="textAreaLeft" t="textAreaTop" r="textAreaRight" b="textAreaBottom"/>
            <a:pathLst>
              <a:path w="4069522" h="4069522">
                <a:moveTo>
                  <a:pt x="2034761" y="0"/>
                </a:moveTo>
                <a:cubicBezTo>
                  <a:pt x="3158528" y="0"/>
                  <a:pt x="4069522" y="910994"/>
                  <a:pt x="4069522" y="2034761"/>
                </a:cubicBezTo>
                <a:cubicBezTo>
                  <a:pt x="4069522" y="3158528"/>
                  <a:pt x="3158528" y="4069522"/>
                  <a:pt x="2034761" y="4069522"/>
                </a:cubicBezTo>
                <a:cubicBezTo>
                  <a:pt x="910994" y="4069522"/>
                  <a:pt x="0" y="3158528"/>
                  <a:pt x="0" y="2034761"/>
                </a:cubicBezTo>
                <a:cubicBezTo>
                  <a:pt x="0" y="910994"/>
                  <a:pt x="910994" y="0"/>
                  <a:pt x="2034761" y="0"/>
                </a:cubicBezTo>
                <a:close/>
              </a:path>
            </a:pathLst>
          </a:custGeom>
          <a:blipFill rotWithShape="0">
            <a:blip r:embed="rId5"/>
            <a:srcRect/>
            <a:stretch/>
          </a:blipFill>
          <a:ln w="19050">
            <a:solidFill>
              <a:srgbClr val="FFFFF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41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26486" fill="hold"/>
                                        <p:tgtEl>
                                          <p:spTgt spid="97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TextBox 2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4" name="Rectangle 3"/>
          <p:cNvSpPr/>
          <p:nvPr/>
        </p:nvSpPr>
        <p:spPr>
          <a:xfrm>
            <a:off x="138600" y="902160"/>
            <a:ext cx="11965320" cy="563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985" name="TextBox 10"/>
          <p:cNvSpPr/>
          <p:nvPr/>
        </p:nvSpPr>
        <p:spPr>
          <a:xfrm>
            <a:off x="302993" y="1631880"/>
            <a:ext cx="6967080" cy="36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2. </a:t>
            </a:r>
            <a:r>
              <a:rPr 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통화 중 위험 신호 탐지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통신사 또는 스마트폰의 온디바이스 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AI</a:t>
            </a: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가 통화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내용 분석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통화에서 보이스피싱 위험 신호를 탐지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기관 사칭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검찰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법원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수사관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심리 압박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범죄 연루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피해 가능성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법적 조사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개인정보 관련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주민등록번호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신분증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계좌정보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행동 유도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사건번호 기록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계속 통화 유지 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추가 확인 절차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복합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위험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신호가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확인되면서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보이스피싱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의심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통화로</a:t>
            </a:r>
            <a:r>
              <a:rPr lang="en-US" sz="18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8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6" name="TextBox 12"/>
          <p:cNvSpPr/>
          <p:nvPr/>
        </p:nvSpPr>
        <p:spPr>
          <a:xfrm>
            <a:off x="6663240" y="1625040"/>
            <a:ext cx="5133960" cy="360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3. </a:t>
            </a:r>
            <a:r>
              <a:rPr 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통화 내용을 </a:t>
            </a: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CSR </a:t>
            </a:r>
            <a:r>
              <a:rPr 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표준 데이터로 변환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통화 원문 자체를 그대로 은행에 전달하지 않고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,</a:t>
            </a:r>
            <a:br>
              <a:rPr sz="2000" dirty="0"/>
            </a:b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온디바이스 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AI</a:t>
            </a:r>
            <a:r>
              <a:rPr lang="ko-KR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가 필요한 정보만 구조화합니다</a:t>
            </a:r>
            <a:r>
              <a:rPr lang="en-US" sz="2000" b="1" u="none" strike="noStrike" dirty="0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CSR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분석 스키마 형태 맞춤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JSON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데이터 회신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Turn →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누가 무엇을 말했는지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Event →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기관 사칭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개인정보 요구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법적 위협 등 위험 사건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Semantic Atom →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주체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행동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대상 </a:t>
            </a: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 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상태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Relation → “</a:t>
            </a:r>
            <a:r>
              <a:rPr lang="ko-KR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수사기관 사칭 → 계좌 범죄 연루 주장”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6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Context Feature → IMPERSONATION, PERSONAL_INFO, AUTHORITY, FEAR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987" name="Straight Connector 14"/>
          <p:cNvCxnSpPr/>
          <p:nvPr/>
        </p:nvCxnSpPr>
        <p:spPr>
          <a:xfrm>
            <a:off x="6251354" y="1302120"/>
            <a:ext cx="360" cy="4838400"/>
          </a:xfrm>
          <a:prstGeom prst="straightConnector1">
            <a:avLst/>
          </a:prstGeom>
          <a:ln>
            <a:solidFill>
              <a:srgbClr val="156082"/>
            </a:solidFill>
            <a:round/>
          </a:ln>
        </p:spPr>
      </p:cxnSp>
      <p:sp>
        <p:nvSpPr>
          <p:cNvPr id="988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42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TextBox 2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0" name="Rectangle 3"/>
          <p:cNvSpPr/>
          <p:nvPr/>
        </p:nvSpPr>
        <p:spPr>
          <a:xfrm>
            <a:off x="335160" y="902160"/>
            <a:ext cx="11521080" cy="563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991" name="TextBox 8"/>
          <p:cNvSpPr/>
          <p:nvPr/>
        </p:nvSpPr>
        <p:spPr>
          <a:xfrm>
            <a:off x="520200" y="1413720"/>
            <a:ext cx="6967080" cy="16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4. Case Share Room </a:t>
            </a: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자동 생성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2" name="TextBox 7"/>
          <p:cNvSpPr/>
          <p:nvPr/>
        </p:nvSpPr>
        <p:spPr>
          <a:xfrm>
            <a:off x="520200" y="1930680"/>
            <a:ext cx="4623840" cy="3692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온디바이스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구조화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JSON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General API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AI API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MySQL Case Context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저장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→ </a:t>
            </a:r>
            <a:r>
              <a:rPr lang="ko-KR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은행의 이상거래 탐지 담당자에게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   새로운 사건 CASE ROOM </a:t>
            </a:r>
            <a:r>
              <a:rPr lang="ko-KR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생성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이때 고객의 ‘송금 여정’에서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자동으로 챗봇 활성화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56FB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챗봇이 송금 전 방지턱 역할을 하며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     부가적인 송금 지연 효과 기대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3" name="Picture 9"/>
          <p:cNvPicPr/>
          <p:nvPr/>
        </p:nvPicPr>
        <p:blipFill>
          <a:blip r:embed="rId2"/>
          <a:stretch/>
        </p:blipFill>
        <p:spPr>
          <a:xfrm>
            <a:off x="4294094" y="1930320"/>
            <a:ext cx="7352806" cy="3582974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4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43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TextBox 2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6" name="Rectangle 3"/>
          <p:cNvSpPr/>
          <p:nvPr/>
        </p:nvSpPr>
        <p:spPr>
          <a:xfrm>
            <a:off x="335160" y="902160"/>
            <a:ext cx="11521080" cy="5638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997" name="TextBox 8"/>
          <p:cNvSpPr/>
          <p:nvPr/>
        </p:nvSpPr>
        <p:spPr>
          <a:xfrm>
            <a:off x="677160" y="1170720"/>
            <a:ext cx="6967080" cy="1600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5. Case Share Room </a:t>
            </a:r>
            <a:r>
              <a:rPr lang="ko-KR" sz="2000" b="1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최초 접속 시 업무 담당자 배정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8" name="TextBox 7"/>
          <p:cNvSpPr/>
          <p:nvPr/>
        </p:nvSpPr>
        <p:spPr>
          <a:xfrm>
            <a:off x="677160" y="1755720"/>
            <a:ext cx="4623840" cy="923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평상시 은행 직원 관리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"/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탐지 이후 자동 담당자 배정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예시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총괄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상담 대응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/</a:t>
            </a:r>
            <a:r>
              <a:rPr lang="ko-KR" sz="1800" b="0" u="none" strike="noStrike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모니터링 역할 배정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99" name="Picture 6"/>
          <p:cNvPicPr/>
          <p:nvPr/>
        </p:nvPicPr>
        <p:blipFill>
          <a:blip r:embed="rId2"/>
          <a:stretch/>
        </p:blipFill>
        <p:spPr>
          <a:xfrm>
            <a:off x="4595040" y="1717560"/>
            <a:ext cx="7098480" cy="454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0" name="Picture 10"/>
          <p:cNvPicPr/>
          <p:nvPr/>
        </p:nvPicPr>
        <p:blipFill>
          <a:blip r:embed="rId3"/>
          <a:srcRect b="32053"/>
          <a:stretch/>
        </p:blipFill>
        <p:spPr>
          <a:xfrm>
            <a:off x="778680" y="3182760"/>
            <a:ext cx="3653280" cy="277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1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44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TextBox 2"/>
          <p:cNvSpPr/>
          <p:nvPr/>
        </p:nvSpPr>
        <p:spPr>
          <a:xfrm>
            <a:off x="226080" y="255600"/>
            <a:ext cx="11965320" cy="584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대표 시나리오 </a:t>
            </a: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sz="18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검찰 사칭 보이스피싱 대응</a:t>
            </a: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순서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: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전화 수신 → 통신사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탐지 → 구조화 데이터 전송 → 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CSR Case 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생성 → 은행</a:t>
            </a:r>
            <a:r>
              <a:rPr lang="en-US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400" b="0" u="none" strike="noStrike">
                <a:solidFill>
                  <a:schemeClr val="lt1"/>
                </a:solidFill>
                <a:effectLst/>
                <a:uFillTx/>
                <a:latin typeface="페이퍼로지 5 Medium"/>
                <a:ea typeface="페이퍼로지 5 Medium"/>
              </a:rPr>
              <a:t>고객 대응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3" name="Rectangle 3"/>
          <p:cNvSpPr/>
          <p:nvPr/>
        </p:nvSpPr>
        <p:spPr>
          <a:xfrm>
            <a:off x="335160" y="902160"/>
            <a:ext cx="11521080" cy="5955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00000"/>
              </a:lnSpc>
            </a:pPr>
            <a:endParaRPr lang="en-US" sz="1800" b="1" u="none" strike="noStrike">
              <a:solidFill>
                <a:schemeClr val="dk1"/>
              </a:solidFill>
              <a:effectLst/>
              <a:uFillTx/>
              <a:latin typeface="페이퍼로지 5 Medium"/>
              <a:ea typeface="페이퍼로지 5 Medium"/>
            </a:endParaRPr>
          </a:p>
        </p:txBody>
      </p:sp>
      <p:sp>
        <p:nvSpPr>
          <p:cNvPr id="1004" name="TextBox 8"/>
          <p:cNvSpPr/>
          <p:nvPr/>
        </p:nvSpPr>
        <p:spPr>
          <a:xfrm>
            <a:off x="526680" y="1020240"/>
            <a:ext cx="9380880" cy="8295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defTabSz="914400">
              <a:lnSpc>
                <a:spcPct val="100000"/>
              </a:lnSpc>
            </a:pPr>
            <a:r>
              <a:rPr 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6. </a:t>
            </a:r>
            <a:r>
              <a:rPr 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은행의 대응</a:t>
            </a:r>
            <a:r>
              <a:rPr lang="en-US" alt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(</a:t>
            </a:r>
            <a:r>
              <a:rPr lang="ko-KR" altLang="en-US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  <a:hlinkClick r:id="rId3"/>
              </a:rPr>
              <a:t>영상</a:t>
            </a:r>
            <a:r>
              <a:rPr lang="en-US" altLang="ko-KR" sz="20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20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요약 패널 통해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사건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현황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및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추천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업무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매뉴얼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가이드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확인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(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대응 계획 시간 절약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)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000000"/>
              </a:buClr>
              <a:buFont typeface="OpenSymbol"/>
              <a:buChar char="-"/>
            </a:pP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채팅창 이용해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내부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협업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,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고객과 소통하며 빠른 대응 지원 가능</a:t>
            </a:r>
            <a:r>
              <a:rPr lang="en-US" altLang="ko-KR" sz="1400" b="1" u="none" strike="noStrike" dirty="0">
                <a:solidFill>
                  <a:srgbClr val="002060"/>
                </a:solidFill>
                <a:effectLst/>
                <a:uFillTx/>
                <a:latin typeface="Arial"/>
                <a:ea typeface="페이퍼로지 5 Medium"/>
              </a:rPr>
              <a:t> /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AI </a:t>
            </a:r>
            <a:r>
              <a:rPr lang="ko-KR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질문 추천 기능 사용 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Wingdings"/>
                <a:ea typeface="페이퍼로지 5 Medium"/>
              </a:rPr>
              <a:t>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실시간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질문으로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빠른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정보</a:t>
            </a:r>
            <a:r>
              <a:rPr lang="en-US" sz="1400" b="1" u="none" strike="noStrike" dirty="0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sz="1400" b="1" u="none" strike="noStrike" dirty="0" err="1">
                <a:solidFill>
                  <a:schemeClr val="dk1"/>
                </a:solidFill>
                <a:effectLst/>
                <a:uFillTx/>
                <a:latin typeface="페이퍼로지 5 Medium"/>
                <a:ea typeface="페이퍼로지 5 Medium"/>
              </a:rPr>
              <a:t>수집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5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45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" name="Online Media 3" title="CSR_보이스피싱_공동대응플랫폼_서비스">
            <a:hlinkClick r:id="" action="ppaction://media"/>
            <a:extLst>
              <a:ext uri="{FF2B5EF4-FFF2-40B4-BE49-F238E27FC236}">
                <a16:creationId xmlns:a16="http://schemas.microsoft.com/office/drawing/2014/main" id="{2DF2F040-64EE-4789-A03C-53AAB023DEF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492250" y="1910492"/>
            <a:ext cx="8756650" cy="49475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Rectangle 17"/>
          <p:cNvSpPr/>
          <p:nvPr/>
        </p:nvSpPr>
        <p:spPr>
          <a:xfrm>
            <a:off x="0" y="3429000"/>
            <a:ext cx="12191760" cy="3428640"/>
          </a:xfrm>
          <a:prstGeom prst="rect">
            <a:avLst/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07" name="Rectangle 9"/>
          <p:cNvSpPr/>
          <p:nvPr/>
        </p:nvSpPr>
        <p:spPr>
          <a:xfrm>
            <a:off x="0" y="0"/>
            <a:ext cx="12191760" cy="3428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08" name="Rectangle 6"/>
          <p:cNvSpPr/>
          <p:nvPr/>
        </p:nvSpPr>
        <p:spPr>
          <a:xfrm>
            <a:off x="1743120" y="2349720"/>
            <a:ext cx="870552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914400">
              <a:lnSpc>
                <a:spcPct val="100000"/>
              </a:lnSpc>
            </a:pPr>
            <a:r>
              <a:rPr lang="en-US" sz="4800" b="1" u="none" strike="noStrike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05 </a:t>
            </a:r>
            <a:r>
              <a:rPr lang="zh-CN" sz="4800" b="1" u="none" strike="noStrike">
                <a:solidFill>
                  <a:srgbClr val="053365"/>
                </a:solidFill>
                <a:effectLst/>
                <a:uFillTx/>
                <a:latin typeface="페이퍼로지 5 Medium" pitchFamily="2" charset="-127"/>
                <a:ea typeface="Noto Sans KR"/>
              </a:rPr>
              <a:t>자체 평가 의견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09" name="Rectangle 7"/>
          <p:cNvSpPr/>
          <p:nvPr/>
        </p:nvSpPr>
        <p:spPr>
          <a:xfrm>
            <a:off x="1847880" y="3857040"/>
            <a:ext cx="8496000" cy="2138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달성도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완성도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잘한 점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현재 한계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algn="ctr" defTabSz="914400">
              <a:lnSpc>
                <a:spcPct val="150000"/>
              </a:lnSpc>
            </a:pP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향후 과제</a:t>
            </a:r>
            <a:r>
              <a:rPr lang="en-US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2200" b="0" u="none" strike="noStrike">
                <a:solidFill>
                  <a:schemeClr val="lt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프로젝트 경험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0" name="Integrated page number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46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상단 네이비 라인"/>
          <p:cNvSpPr/>
          <p:nvPr/>
        </p:nvSpPr>
        <p:spPr>
          <a:xfrm>
            <a:off x="0" y="0"/>
            <a:ext cx="1219176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2" name="섹션"/>
          <p:cNvSpPr/>
          <p:nvPr/>
        </p:nvSpPr>
        <p:spPr>
          <a:xfrm>
            <a:off x="685800" y="266760"/>
            <a:ext cx="102866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05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자체 평가 의견  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 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달성도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완성도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3" name="주제 제목"/>
          <p:cNvSpPr/>
          <p:nvPr/>
        </p:nvSpPr>
        <p:spPr>
          <a:xfrm>
            <a:off x="685800" y="647640"/>
            <a:ext cx="10820160" cy="90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9</a:t>
            </a:r>
            <a:r>
              <a:rPr lang="ko-KR" altLang="en-US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월 </a:t>
            </a: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7</a:t>
            </a:r>
            <a:r>
              <a:rPr lang="ko-KR" altLang="en-US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일 공모전 제출을 위한 긴급한 작업 </a:t>
            </a: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초기 기획의도가 드러나지 않는 구현</a:t>
            </a: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… </a:t>
            </a:r>
            <a:r>
              <a:rPr lang="ko-KR" altLang="en-US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아쉬운 성능</a:t>
            </a:r>
            <a:r>
              <a:rPr lang="en-US" altLang="ko-KR" sz="2400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…</a:t>
            </a:r>
            <a:endParaRPr lang="en-US" altLang="ko-KR" sz="2400" b="1" dirty="0">
              <a:solidFill>
                <a:srgbClr val="002060"/>
              </a:solidFill>
              <a:latin typeface="페이퍼로지 7 Bold" pitchFamily="2" charset="-127"/>
              <a:ea typeface="페이퍼로지 7 Bold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9</a:t>
            </a:r>
            <a:r>
              <a:rPr lang="ko-KR" altLang="en-US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월 </a:t>
            </a:r>
            <a:r>
              <a:rPr lang="en-US" altLang="ko-KR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30</a:t>
            </a:r>
            <a:r>
              <a:rPr lang="ko-KR" altLang="en-US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일 추가 개발과 기능 고도화 </a:t>
            </a:r>
            <a:r>
              <a:rPr lang="en-US" altLang="ko-KR" sz="2400" b="1" dirty="0">
                <a:solidFill>
                  <a:srgbClr val="002060"/>
                </a:solidFill>
                <a:latin typeface="페이퍼로지 7 Bold" pitchFamily="2" charset="-127"/>
                <a:ea typeface="페이퍼로지 7 Bold" pitchFamily="2" charset="-127"/>
              </a:rPr>
              <a:t>: </a:t>
            </a:r>
            <a:r>
              <a:rPr lang="ko-KR" alt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페이퍼로지 7 Bold" pitchFamily="2" charset="-127"/>
                <a:ea typeface="페이퍼로지 7 Bold" pitchFamily="2" charset="-127"/>
              </a:rPr>
              <a:t>기획에 맞게 개선</a:t>
            </a:r>
            <a:r>
              <a:rPr lang="en-US" altLang="ko-KR" sz="2400" b="1" dirty="0">
                <a:solidFill>
                  <a:srgbClr val="002060"/>
                </a:solidFill>
                <a:highlight>
                  <a:srgbClr val="FFFF00"/>
                </a:highlight>
                <a:latin typeface="페이퍼로지 7 Bold" pitchFamily="2" charset="-127"/>
                <a:ea typeface="페이퍼로지 7 Bold" pitchFamily="2" charset="-127"/>
              </a:rPr>
              <a:t>! KPI </a:t>
            </a:r>
            <a:r>
              <a:rPr lang="ko-KR" altLang="en-US" sz="2400" b="1" dirty="0">
                <a:solidFill>
                  <a:srgbClr val="002060"/>
                </a:solidFill>
                <a:highlight>
                  <a:srgbClr val="FFFF00"/>
                </a:highlight>
                <a:latin typeface="페이퍼로지 7 Bold" pitchFamily="2" charset="-127"/>
                <a:ea typeface="페이퍼로지 7 Bold" pitchFamily="2" charset="-127"/>
              </a:rPr>
              <a:t>개선</a:t>
            </a:r>
            <a:r>
              <a:rPr lang="en-US" altLang="ko-KR" sz="2400" b="1" dirty="0">
                <a:solidFill>
                  <a:srgbClr val="002060"/>
                </a:solidFill>
                <a:highlight>
                  <a:srgbClr val="FFFF00"/>
                </a:highlight>
                <a:latin typeface="페이퍼로지 7 Bold" pitchFamily="2" charset="-127"/>
                <a:ea typeface="페이퍼로지 7 Bold" pitchFamily="2" charset="-127"/>
              </a:rPr>
              <a:t>!</a:t>
            </a:r>
            <a:endParaRPr lang="en-US" altLang="ko-KR" sz="2400" dirty="0">
              <a:solidFill>
                <a:srgbClr val="002060"/>
              </a:solidFill>
              <a:highlight>
                <a:srgbClr val="FFFF00"/>
              </a:highlight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1015" name="하단 구분선"/>
          <p:cNvSpPr/>
          <p:nvPr/>
        </p:nvSpPr>
        <p:spPr>
          <a:xfrm>
            <a:off x="685800" y="6429240"/>
            <a:ext cx="10820160" cy="9000"/>
          </a:xfrm>
          <a:prstGeom prst="rect">
            <a:avLst/>
          </a:prstGeom>
          <a:solidFill>
            <a:srgbClr val="D6E3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6" name="브랜드"/>
          <p:cNvSpPr/>
          <p:nvPr/>
        </p:nvSpPr>
        <p:spPr>
          <a:xfrm>
            <a:off x="685800" y="6496200"/>
            <a:ext cx="495252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8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CSR   CASE SHARE ROOM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7" name="섹션 내 페이지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698099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47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8" name="기획 의도 및 현행 체계"/>
          <p:cNvSpPr/>
          <p:nvPr/>
        </p:nvSpPr>
        <p:spPr>
          <a:xfrm>
            <a:off x="685800" y="1628460"/>
            <a:ext cx="10820160" cy="590040"/>
          </a:xfrm>
          <a:prstGeom prst="roundRect">
            <a:avLst>
              <a:gd name="adj" fmla="val 12903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19" name="기획 의도 라벨"/>
          <p:cNvSpPr/>
          <p:nvPr/>
        </p:nvSpPr>
        <p:spPr>
          <a:xfrm>
            <a:off x="876240" y="1804830"/>
            <a:ext cx="10951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30" b="1" u="none" strike="noStrike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기획 의도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20" name="기획 의도"/>
          <p:cNvSpPr/>
          <p:nvPr/>
        </p:nvSpPr>
        <p:spPr>
          <a:xfrm>
            <a:off x="2066760" y="1804830"/>
            <a:ext cx="9172080" cy="256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탐지 이후 부족했던 사건 정황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을 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AI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가 빠르게 정리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대응 계획 수립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을 통해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더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빠르게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</a:t>
            </a:r>
            <a:r>
              <a:rPr lang="ko-KR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객 </a:t>
            </a:r>
            <a:r>
              <a:rPr lang="ko-KR" alt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소통</a:t>
            </a:r>
            <a:r>
              <a:rPr 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대응</a:t>
            </a:r>
            <a:r>
              <a:rPr lang="ko-KR" alt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할 수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업무를 지원 하자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!</a:t>
            </a:r>
            <a:endParaRPr lang="en-US" sz="1400" u="none" strike="noStrike" dirty="0">
              <a:solidFill>
                <a:srgbClr val="FF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1" name="기획 부합 자체평가"/>
          <p:cNvSpPr/>
          <p:nvPr/>
        </p:nvSpPr>
        <p:spPr>
          <a:xfrm>
            <a:off x="2207253" y="3542940"/>
            <a:ext cx="4495886" cy="134280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2" name="기획 부합 자체평가 강조"/>
          <p:cNvSpPr/>
          <p:nvPr/>
        </p:nvSpPr>
        <p:spPr>
          <a:xfrm>
            <a:off x="2207253" y="3542940"/>
            <a:ext cx="45719" cy="13428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3" name="기획 부합 제목"/>
          <p:cNvSpPr/>
          <p:nvPr/>
        </p:nvSpPr>
        <p:spPr>
          <a:xfrm>
            <a:off x="2416773" y="3695220"/>
            <a:ext cx="4152943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사항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4" name="기획 부합 평가"/>
          <p:cNvSpPr/>
          <p:nvPr/>
        </p:nvSpPr>
        <p:spPr>
          <a:xfrm>
            <a:off x="2416773" y="4085820"/>
            <a:ext cx="4152943" cy="67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40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초기 기획 목적인 </a:t>
            </a:r>
            <a:r>
              <a:rPr lang="en-US" altLang="ko-KR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[</a:t>
            </a:r>
            <a:r>
              <a:rPr lang="ko-KR" altLang="en-US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빠른 정보 확인</a:t>
            </a:r>
            <a:r>
              <a:rPr lang="en-US" altLang="ko-KR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, AI</a:t>
            </a:r>
            <a:r>
              <a:rPr lang="ko-KR" altLang="en-US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의 업무 지원</a:t>
            </a:r>
            <a:r>
              <a:rPr lang="en-US" altLang="ko-KR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]</a:t>
            </a:r>
          </a:p>
          <a:p>
            <a:pPr defTabSz="914400">
              <a:lnSpc>
                <a:spcPct val="100000"/>
              </a:lnSpc>
            </a:pP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프론트엔드 가독성 개선</a:t>
            </a: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, </a:t>
            </a:r>
            <a:r>
              <a:rPr lang="ko-KR" altLang="en-US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사용자 편의성 개선</a:t>
            </a: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,</a:t>
            </a:r>
          </a:p>
          <a:p>
            <a:pPr defTabSz="914400">
              <a:lnSpc>
                <a:spcPct val="100000"/>
              </a:lnSpc>
            </a:pPr>
            <a:r>
              <a:rPr lang="en-US" altLang="ko-KR" sz="140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     </a:t>
            </a: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AI</a:t>
            </a:r>
            <a:r>
              <a:rPr lang="ko-KR" altLang="en-US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의 정보 정리 성능 개선</a:t>
            </a:r>
            <a:r>
              <a:rPr lang="en-US" altLang="ko-KR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, AI</a:t>
            </a:r>
            <a:r>
              <a:rPr lang="ko-KR" altLang="en-US" sz="1400" dirty="0">
                <a:solidFill>
                  <a:srgbClr val="162B43"/>
                </a:solidFill>
                <a:highlight>
                  <a:srgbClr val="FFFF00"/>
                </a:highlight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와의 자연어 소통 고도화</a:t>
            </a:r>
            <a:endParaRPr lang="en-US" altLang="ko-KR" sz="1400" b="0" u="none" strike="noStrike" dirty="0">
              <a:solidFill>
                <a:srgbClr val="162B43"/>
              </a:solidFill>
              <a:effectLst/>
              <a:highlight>
                <a:srgbClr val="FFFF00"/>
              </a:highlight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5" name="실무 활용 자체평가"/>
          <p:cNvSpPr/>
          <p:nvPr/>
        </p:nvSpPr>
        <p:spPr>
          <a:xfrm>
            <a:off x="6915045" y="3542940"/>
            <a:ext cx="4609995" cy="1342800"/>
          </a:xfrm>
          <a:prstGeom prst="roundRect">
            <a:avLst>
              <a:gd name="adj" fmla="val 5674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6" name="실무 활용 자체평가 강조"/>
          <p:cNvSpPr/>
          <p:nvPr/>
        </p:nvSpPr>
        <p:spPr>
          <a:xfrm>
            <a:off x="6915045" y="3542940"/>
            <a:ext cx="45719" cy="134280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7" name="실무 활용 제목"/>
          <p:cNvSpPr/>
          <p:nvPr/>
        </p:nvSpPr>
        <p:spPr>
          <a:xfrm>
            <a:off x="7124565" y="3695220"/>
            <a:ext cx="4251015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향후 실제 서비스화 전환 조건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8" name="실무 활용 평가"/>
          <p:cNvSpPr/>
          <p:nvPr/>
        </p:nvSpPr>
        <p:spPr>
          <a:xfrm>
            <a:off x="7124565" y="4085820"/>
            <a:ext cx="4251015" cy="676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은행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업무 </a:t>
            </a:r>
            <a:r>
              <a:rPr lang="en-US" sz="1370" b="0" u="none" strike="noStrike" dirty="0" err="1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Web·App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고객 확인 영역에 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활용 가능성</a:t>
            </a:r>
            <a:endParaRPr lang="en-US" sz="137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온디바이스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정황 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JSON 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연계와 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기관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 pitchFamily="2" charset="-127"/>
                <a:ea typeface="페이퍼로지 5 Medium" pitchFamily="2" charset="-127"/>
              </a:rPr>
              <a:t>기업 협업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</a:t>
            </a:r>
            <a:endParaRPr lang="en-US" sz="137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보안</a:t>
            </a:r>
            <a:r>
              <a:rPr lang="en-US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개인정보</a:t>
            </a:r>
            <a:r>
              <a:rPr lang="en-US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370" b="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법적 검토</a:t>
            </a:r>
            <a:r>
              <a:rPr lang="ko-KR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가 적용 조건입니다</a:t>
            </a:r>
            <a:r>
              <a:rPr lang="en-US" sz="1370" b="0" u="none" strike="noStrike" dirty="0">
                <a:solidFill>
                  <a:srgbClr val="162B43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.</a:t>
            </a:r>
            <a:endParaRPr lang="en-US" sz="137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49" name="완성도 평가 영역"/>
          <p:cNvSpPr/>
          <p:nvPr/>
        </p:nvSpPr>
        <p:spPr>
          <a:xfrm>
            <a:off x="685800" y="5124060"/>
            <a:ext cx="10820160" cy="742680"/>
          </a:xfrm>
          <a:prstGeom prst="roundRect">
            <a:avLst>
              <a:gd name="adj" fmla="val 10256"/>
            </a:avLst>
          </a:prstGeom>
          <a:solidFill>
            <a:srgbClr val="112B5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0" name="10점 완성도 항목"/>
          <p:cNvSpPr/>
          <p:nvPr/>
        </p:nvSpPr>
        <p:spPr>
          <a:xfrm>
            <a:off x="895320" y="5228820"/>
            <a:ext cx="3161880" cy="285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729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현시점 </a:t>
            </a:r>
            <a:endParaRPr lang="en-US" altLang="ko-KR" sz="1729" b="1" u="none" strike="noStrike" dirty="0">
              <a:solidFill>
                <a:srgbClr val="FFFFFF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sz="1729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자체 완성도  </a:t>
            </a:r>
            <a:r>
              <a:rPr lang="en-US" altLang="ko-KR" sz="1729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</a:rPr>
              <a:t>7</a:t>
            </a:r>
            <a:r>
              <a:rPr lang="en-US" sz="1729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/ 10</a:t>
            </a:r>
            <a:endParaRPr lang="en-US" sz="1729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1" name="점수 합의 상태"/>
          <p:cNvSpPr/>
          <p:nvPr/>
        </p:nvSpPr>
        <p:spPr>
          <a:xfrm>
            <a:off x="895320" y="5543100"/>
            <a:ext cx="304776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endParaRPr lang="en-US" sz="124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2" name="완성도 판단 기준 제목"/>
          <p:cNvSpPr/>
          <p:nvPr/>
        </p:nvSpPr>
        <p:spPr>
          <a:xfrm>
            <a:off x="4334040" y="5219460"/>
            <a:ext cx="677196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점수 판단 기준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3" name="완성도 판단 기준"/>
          <p:cNvSpPr/>
          <p:nvPr/>
        </p:nvSpPr>
        <p:spPr>
          <a:xfrm>
            <a:off x="4334040" y="5438340"/>
            <a:ext cx="6905160" cy="41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핵심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Workflow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전체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E2E ·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운영환경 적용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Mock / Demo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범위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정량 검증 </a:t>
            </a:r>
            <a:r>
              <a:rPr lang="en-US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 </a:t>
            </a:r>
            <a:r>
              <a:rPr lang="ko-KR" sz="1250" b="0" u="none" strike="noStrike" dirty="0">
                <a:solidFill>
                  <a:srgbClr val="D6E3F1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실서비스 전환 조건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4" name="검증 범위 영역"/>
          <p:cNvSpPr/>
          <p:nvPr/>
        </p:nvSpPr>
        <p:spPr>
          <a:xfrm>
            <a:off x="685800" y="6029280"/>
            <a:ext cx="10820160" cy="294840"/>
          </a:xfrm>
          <a:prstGeom prst="roundRect">
            <a:avLst>
              <a:gd name="adj" fmla="val 25806"/>
            </a:avLst>
          </a:prstGeom>
          <a:solidFill>
            <a:srgbClr val="FFF6D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1055" name="검증 범위 명시"/>
          <p:cNvSpPr/>
          <p:nvPr/>
        </p:nvSpPr>
        <p:spPr>
          <a:xfrm>
            <a:off x="857160" y="6086520"/>
            <a:ext cx="1047708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검증 범위  기능</a:t>
            </a:r>
            <a:r>
              <a:rPr lang="en-US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·API·</a:t>
            </a: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회귀 테스트</a:t>
            </a:r>
            <a:r>
              <a:rPr lang="en-US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·</a:t>
            </a: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파트별 실행 기록 확보  </a:t>
            </a:r>
            <a:r>
              <a:rPr lang="en-US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/  </a:t>
            </a: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최신 전체 </a:t>
            </a:r>
            <a:r>
              <a:rPr lang="en-US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Browser E2E </a:t>
            </a:r>
            <a:r>
              <a:rPr lang="ko-KR" sz="1240" b="1" u="none" strike="noStrike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추가 검증 필요</a:t>
            </a:r>
            <a:endParaRPr lang="en-US" sz="124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8" name="기획 의도 및 현행 체계">
            <a:extLst>
              <a:ext uri="{FF2B5EF4-FFF2-40B4-BE49-F238E27FC236}">
                <a16:creationId xmlns:a16="http://schemas.microsoft.com/office/drawing/2014/main" id="{8B130F18-38AF-4759-AF0A-B06FE4F59774}"/>
              </a:ext>
            </a:extLst>
          </p:cNvPr>
          <p:cNvSpPr/>
          <p:nvPr/>
        </p:nvSpPr>
        <p:spPr>
          <a:xfrm>
            <a:off x="685800" y="2361240"/>
            <a:ext cx="10820160" cy="934020"/>
          </a:xfrm>
          <a:prstGeom prst="roundRect">
            <a:avLst>
              <a:gd name="adj" fmla="val 12903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9" name="기획 의도 라벨">
            <a:extLst>
              <a:ext uri="{FF2B5EF4-FFF2-40B4-BE49-F238E27FC236}">
                <a16:creationId xmlns:a16="http://schemas.microsoft.com/office/drawing/2014/main" id="{3990B406-79EF-4A62-A27F-1EAB3EF64CCE}"/>
              </a:ext>
            </a:extLst>
          </p:cNvPr>
          <p:cNvSpPr/>
          <p:nvPr/>
        </p:nvSpPr>
        <p:spPr>
          <a:xfrm>
            <a:off x="876240" y="2537609"/>
            <a:ext cx="1095120" cy="2989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9</a:t>
            </a: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월 </a:t>
            </a:r>
            <a:r>
              <a:rPr lang="en-US" altLang="ko-KR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7</a:t>
            </a: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일</a:t>
            </a:r>
            <a:endParaRPr lang="en-US" altLang="ko-KR" sz="1430" b="1" u="none" strike="noStrike" dirty="0">
              <a:solidFill>
                <a:srgbClr val="0056FB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 사항</a:t>
            </a:r>
            <a:endParaRPr lang="en-US" altLang="ko-KR" sz="1430" b="1" u="none" strike="noStrike" dirty="0">
              <a:solidFill>
                <a:srgbClr val="0056FB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0" name="기획 의도">
            <a:extLst>
              <a:ext uri="{FF2B5EF4-FFF2-40B4-BE49-F238E27FC236}">
                <a16:creationId xmlns:a16="http://schemas.microsoft.com/office/drawing/2014/main" id="{80D1D1BA-2268-4528-88AF-C7844B538C46}"/>
              </a:ext>
            </a:extLst>
          </p:cNvPr>
          <p:cNvSpPr/>
          <p:nvPr/>
        </p:nvSpPr>
        <p:spPr>
          <a:xfrm>
            <a:off x="2066760" y="2482020"/>
            <a:ext cx="9172080" cy="31024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탐지 이후 정황 데이터 추출 </a:t>
            </a:r>
            <a:r>
              <a:rPr lang="en-US" alt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en-US" alt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case room</a:t>
            </a:r>
            <a:r>
              <a:rPr lang="ko-KR" altLang="en-US" sz="1400" dirty="0">
                <a:solidFill>
                  <a:srgbClr val="112B50"/>
                </a:solidFill>
                <a:latin typeface="페이퍼로지 5 Medium" pitchFamily="2" charset="-127"/>
                <a:ea typeface="페이퍼로지 5 Medium" pitchFamily="2" charset="-127"/>
              </a:rPr>
              <a:t> 프론트엔드</a:t>
            </a: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생성 기능 자체는 구현</a:t>
            </a:r>
            <a:endParaRPr lang="en-US" altLang="ko-KR" sz="1400" u="none" strike="noStrike" dirty="0">
              <a:solidFill>
                <a:srgbClr val="112B5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그러나</a:t>
            </a:r>
            <a:r>
              <a:rPr lang="en-US" altLang="ko-KR" sz="1400" u="none" strike="noStrike" dirty="0">
                <a:solidFill>
                  <a:srgbClr val="112B5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가독성 떨어지는 프론트엔드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,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직관적이지 않</a:t>
            </a:r>
            <a:r>
              <a:rPr lang="ko-KR" altLang="en-US" sz="1400" dirty="0">
                <a:solidFill>
                  <a:srgbClr val="FF0000"/>
                </a:solidFill>
                <a:latin typeface="페이퍼로지 5 Medium" pitchFamily="2" charset="-127"/>
                <a:ea typeface="페이퍼로지 5 Medium" pitchFamily="2" charset="-127"/>
              </a:rPr>
              <a:t>고 어려운 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UI/UX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 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 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정보를 빠르게 확인하기 어려웠다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.</a:t>
            </a:r>
          </a:p>
          <a:p>
            <a:pPr defTabSz="914400">
              <a:lnSpc>
                <a:spcPct val="100000"/>
              </a:lnSpc>
            </a:pPr>
            <a:r>
              <a:rPr lang="ko-KR" alt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정황을 쪼갠 작은 단위 요소 추출은 정상</a:t>
            </a:r>
            <a:r>
              <a:rPr lang="en-US" altLang="ko-KR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… </a:t>
            </a:r>
            <a:r>
              <a:rPr lang="ko-KR" altLang="en-US" sz="1400" u="none" strike="noStrike" dirty="0"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그러나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 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LLM</a:t>
            </a:r>
            <a:r>
              <a:rPr lang="ko-KR" altLang="en-US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이 맥락을 제구성하는 단계에서 품질이 아쉬웠음</a:t>
            </a:r>
            <a:r>
              <a:rPr lang="en-US" altLang="ko-KR" sz="1400" u="none" strike="noStrike" dirty="0">
                <a:solidFill>
                  <a:srgbClr val="FF0000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  <a:sym typeface="Wingdings" panose="05000000000000000000" pitchFamily="2" charset="2"/>
              </a:rPr>
              <a:t>.</a:t>
            </a:r>
            <a:endParaRPr lang="en-US" altLang="ko-KR" sz="1400" dirty="0">
              <a:solidFill>
                <a:srgbClr val="FF0000"/>
              </a:solidFill>
              <a:latin typeface="페이퍼로지 5 Medium" pitchFamily="2" charset="-127"/>
              <a:ea typeface="페이퍼로지 5 Medium" pitchFamily="2" charset="-127"/>
              <a:sym typeface="Wingdings" panose="05000000000000000000" pitchFamily="2" charset="2"/>
            </a:endParaRPr>
          </a:p>
        </p:txBody>
      </p:sp>
      <p:sp>
        <p:nvSpPr>
          <p:cNvPr id="51" name="기획 의도 및 현행 체계">
            <a:extLst>
              <a:ext uri="{FF2B5EF4-FFF2-40B4-BE49-F238E27FC236}">
                <a16:creationId xmlns:a16="http://schemas.microsoft.com/office/drawing/2014/main" id="{5E4EE396-5CCF-4486-AD61-6CB73AE062D5}"/>
              </a:ext>
            </a:extLst>
          </p:cNvPr>
          <p:cNvSpPr/>
          <p:nvPr/>
        </p:nvSpPr>
        <p:spPr>
          <a:xfrm>
            <a:off x="685800" y="3532860"/>
            <a:ext cx="1388030" cy="1352880"/>
          </a:xfrm>
          <a:prstGeom prst="roundRect">
            <a:avLst>
              <a:gd name="adj" fmla="val 12903"/>
            </a:avLst>
          </a:prstGeom>
          <a:solidFill>
            <a:srgbClr val="F3F7FC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2" name="기획 의도 라벨">
            <a:extLst>
              <a:ext uri="{FF2B5EF4-FFF2-40B4-BE49-F238E27FC236}">
                <a16:creationId xmlns:a16="http://schemas.microsoft.com/office/drawing/2014/main" id="{2F1F9CE8-3517-4F29-9DC1-7533C428636B}"/>
              </a:ext>
            </a:extLst>
          </p:cNvPr>
          <p:cNvSpPr/>
          <p:nvPr/>
        </p:nvSpPr>
        <p:spPr>
          <a:xfrm>
            <a:off x="900227" y="3990060"/>
            <a:ext cx="10951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altLang="ko-KR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9</a:t>
            </a: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월 </a:t>
            </a:r>
            <a:r>
              <a:rPr lang="en-US" altLang="ko-KR" sz="1430" b="1" dirty="0">
                <a:solidFill>
                  <a:srgbClr val="0056FB"/>
                </a:solidFill>
                <a:latin typeface="페이퍼로지 5 Medium" pitchFamily="2" charset="-127"/>
                <a:ea typeface="페이퍼로지 5 Medium" pitchFamily="2" charset="-127"/>
              </a:rPr>
              <a:t>30</a:t>
            </a: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일</a:t>
            </a:r>
            <a:endParaRPr lang="en-US" altLang="ko-KR" sz="1430" b="1" u="none" strike="noStrike" dirty="0">
              <a:solidFill>
                <a:srgbClr val="0056FB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430" b="1" u="none" strike="noStrike" dirty="0">
                <a:solidFill>
                  <a:srgbClr val="0056FB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구현 사항</a:t>
            </a:r>
            <a:endParaRPr lang="en-US" altLang="ko-KR" sz="1430" b="1" u="none" strike="noStrike" dirty="0">
              <a:solidFill>
                <a:srgbClr val="0056FB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54" name="완성도 판단 기준 제목">
            <a:extLst>
              <a:ext uri="{FF2B5EF4-FFF2-40B4-BE49-F238E27FC236}">
                <a16:creationId xmlns:a16="http://schemas.microsoft.com/office/drawing/2014/main" id="{B291C83D-783A-4839-9091-004D12777C93}"/>
              </a:ext>
            </a:extLst>
          </p:cNvPr>
          <p:cNvSpPr/>
          <p:nvPr/>
        </p:nvSpPr>
        <p:spPr>
          <a:xfrm>
            <a:off x="8639280" y="5300640"/>
            <a:ext cx="264780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32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</a:rPr>
              <a:t>기획의도 목표 맞춤 개선</a:t>
            </a:r>
            <a:r>
              <a:rPr lang="en-US" altLang="ko-KR" sz="1320" b="1" dirty="0">
                <a:solidFill>
                  <a:srgbClr val="FFFFFF"/>
                </a:solidFill>
                <a:latin typeface="페이퍼로지 5 Medium" pitchFamily="2" charset="-127"/>
                <a:ea typeface="페이퍼로지 5 Medium" pitchFamily="2" charset="-127"/>
              </a:rPr>
              <a:t>,</a:t>
            </a:r>
          </a:p>
          <a:p>
            <a:pPr defTabSz="914400">
              <a:lnSpc>
                <a:spcPct val="100000"/>
              </a:lnSpc>
            </a:pPr>
            <a:r>
              <a:rPr lang="en-US" altLang="ko-KR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KPI </a:t>
            </a:r>
            <a:r>
              <a:rPr lang="ko-KR" altLang="en-US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개선 수준 고려해 완성도 </a:t>
            </a:r>
            <a:r>
              <a:rPr lang="en-US" altLang="ko-KR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7</a:t>
            </a:r>
            <a:r>
              <a:rPr lang="ko-KR" altLang="en-US" sz="1320" b="1" u="none" strike="noStrike" dirty="0">
                <a:solidFill>
                  <a:srgbClr val="FFFFFF"/>
                </a:solidFill>
                <a:effectLst/>
                <a:uFillTx/>
                <a:latin typeface="페이퍼로지 5 Medium" pitchFamily="2" charset="-127"/>
                <a:ea typeface="페이퍼로지 5 Medium" pitchFamily="2" charset="-127"/>
              </a:rPr>
              <a:t>점</a:t>
            </a:r>
            <a:endParaRPr lang="en-US" sz="1320" b="0" u="none" strike="noStrike" dirty="0">
              <a:solidFill>
                <a:srgbClr val="000000"/>
              </a:solidFill>
              <a:effectLst/>
              <a:uFillTx/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상단 네이비 라인"/>
          <p:cNvSpPr/>
          <p:nvPr/>
        </p:nvSpPr>
        <p:spPr>
          <a:xfrm>
            <a:off x="0" y="0"/>
            <a:ext cx="12191760" cy="381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1320" rIns="90000" bIns="3132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57" name="섹션"/>
          <p:cNvSpPr/>
          <p:nvPr/>
        </p:nvSpPr>
        <p:spPr>
          <a:xfrm>
            <a:off x="685800" y="266760"/>
            <a:ext cx="1028664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05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자체 평가 의견  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/  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잘한 점 </a:t>
            </a:r>
            <a:r>
              <a:rPr lang="en-US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· </a:t>
            </a:r>
            <a:r>
              <a:rPr lang="ko-KR" sz="1050" b="0" u="none" strike="noStrike">
                <a:solidFill>
                  <a:srgbClr val="0056FB"/>
                </a:solidFill>
                <a:effectLst/>
                <a:uFillTx/>
                <a:latin typeface="페이퍼로지 5 Medium"/>
                <a:ea typeface="페이퍼로지 5 Medium"/>
              </a:rPr>
              <a:t>현재 한계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58" name="주제 제목"/>
          <p:cNvSpPr/>
          <p:nvPr/>
        </p:nvSpPr>
        <p:spPr>
          <a:xfrm>
            <a:off x="685800" y="647640"/>
            <a:ext cx="10820160" cy="495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은행원이 볼 수 없던 맥락 정보를 수집 가공하여 제공하는 것은 </a:t>
            </a:r>
            <a:r>
              <a:rPr lang="ko-KR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강점이며</a:t>
            </a:r>
            <a:r>
              <a:rPr lang="en-US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,</a:t>
            </a:r>
          </a:p>
          <a:p>
            <a:pPr defTabSz="914400">
              <a:lnSpc>
                <a:spcPct val="100000"/>
              </a:lnSpc>
            </a:pPr>
            <a:r>
              <a:rPr lang="ko-KR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실서비스 </a:t>
            </a:r>
            <a:r>
              <a:rPr lang="ko-KR" altLang="en-US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적용 </a:t>
            </a:r>
            <a:r>
              <a:rPr lang="ko-KR" sz="236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조건 검증은 과제로 남았습니다</a:t>
            </a:r>
            <a:endParaRPr lang="en-US" sz="236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59" name="핵심 메시지"/>
          <p:cNvSpPr/>
          <p:nvPr/>
        </p:nvSpPr>
        <p:spPr>
          <a:xfrm>
            <a:off x="685800" y="1400040"/>
            <a:ext cx="10820160" cy="32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구현 성과에 대한 팀의 강점과 현재 </a:t>
            </a:r>
            <a:r>
              <a:rPr lang="en-US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PoC</a:t>
            </a:r>
            <a:r>
              <a:rPr lang="ko-KR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에서 실제 금융 업무로 넘어가기 위한 한계를 함께 평가합니다</a:t>
            </a:r>
            <a:r>
              <a:rPr lang="en-US" sz="1390" b="0" u="none" strike="noStrike">
                <a:solidFill>
                  <a:srgbClr val="51647B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0" name="하단 구분선"/>
          <p:cNvSpPr/>
          <p:nvPr/>
        </p:nvSpPr>
        <p:spPr>
          <a:xfrm>
            <a:off x="685800" y="6429240"/>
            <a:ext cx="10820160" cy="9000"/>
          </a:xfrm>
          <a:prstGeom prst="rect">
            <a:avLst/>
          </a:prstGeom>
          <a:solidFill>
            <a:srgbClr val="D6E3F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35640" rIns="90000" bIns="-3564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1" name="브랜드"/>
          <p:cNvSpPr/>
          <p:nvPr/>
        </p:nvSpPr>
        <p:spPr>
          <a:xfrm>
            <a:off x="685800" y="6496200"/>
            <a:ext cx="4952520" cy="218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980" b="0" u="none" strike="noStrike">
                <a:solidFill>
                  <a:srgbClr val="698099"/>
                </a:solidFill>
                <a:effectLst/>
                <a:uFillTx/>
                <a:latin typeface="페이퍼로지 5 Medium"/>
                <a:ea typeface="페이퍼로지 5 Medium"/>
              </a:rPr>
              <a:t>CSR   CASE SHARE ROOM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2" name="섹션 내 페이지"/>
          <p:cNvSpPr/>
          <p:nvPr/>
        </p:nvSpPr>
        <p:spPr>
          <a:xfrm>
            <a:off x="11049120" y="6496200"/>
            <a:ext cx="475920" cy="237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r" defTabSz="9144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698099"/>
                </a:solidFill>
                <a:effectLst/>
                <a:uFillTx/>
                <a:latin typeface="Noto Sans KR"/>
                <a:ea typeface="Noto Sans KR"/>
              </a:rPr>
              <a:t>48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Noto Sans KR"/>
            </a:endParaRPr>
          </a:p>
        </p:txBody>
      </p:sp>
      <p:sp>
        <p:nvSpPr>
          <p:cNvPr id="1063" name="강점 컬럼"/>
          <p:cNvSpPr/>
          <p:nvPr/>
        </p:nvSpPr>
        <p:spPr>
          <a:xfrm>
            <a:off x="685800" y="1762200"/>
            <a:ext cx="429552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65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우리 팀이 잘한 부분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4" name="한계 컬럼"/>
          <p:cNvSpPr/>
          <p:nvPr/>
        </p:nvSpPr>
        <p:spPr>
          <a:xfrm>
            <a:off x="5238720" y="1762200"/>
            <a:ext cx="626724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65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아쉬운 점 </a:t>
            </a:r>
            <a:r>
              <a:rPr lang="en-US" sz="165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· </a:t>
            </a:r>
            <a:r>
              <a:rPr lang="ko-KR" sz="165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현재 한계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5" name="팀의 강점 0"/>
          <p:cNvSpPr/>
          <p:nvPr/>
        </p:nvSpPr>
        <p:spPr>
          <a:xfrm>
            <a:off x="685800" y="2219400"/>
            <a:ext cx="4295520" cy="1180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6" name="팀의 강점 0 강조"/>
          <p:cNvSpPr/>
          <p:nvPr/>
        </p:nvSpPr>
        <p:spPr>
          <a:xfrm>
            <a:off x="685800" y="2219400"/>
            <a:ext cx="47160" cy="118080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7" name="강점 제목 0"/>
          <p:cNvSpPr/>
          <p:nvPr/>
        </p:nvSpPr>
        <p:spPr>
          <a:xfrm>
            <a:off x="895320" y="2381400"/>
            <a:ext cx="38764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서비스 역할 재정의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68" name="강점 평가 0"/>
          <p:cNvSpPr/>
          <p:nvPr/>
        </p:nvSpPr>
        <p:spPr>
          <a:xfrm>
            <a:off x="895320" y="2687040"/>
            <a:ext cx="387648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기존 탐지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공유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보호 체계와 구분하여</a:t>
            </a:r>
            <a:endParaRPr lang="en-US" sz="134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탐지 이후 대응 업무로 문제를 재정의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했습니다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b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</a:b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휴먼에러를 줄이고</a:t>
            </a:r>
            <a:r>
              <a:rPr lang="en-US" alt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, </a:t>
            </a: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빠르게 대응하도록</a:t>
            </a:r>
            <a:r>
              <a:rPr lang="en-US" alt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!</a:t>
            </a:r>
            <a:endParaRPr lang="en-US" sz="134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1069" name="팀의 강점 1"/>
          <p:cNvSpPr/>
          <p:nvPr/>
        </p:nvSpPr>
        <p:spPr>
          <a:xfrm>
            <a:off x="685800" y="3581280"/>
            <a:ext cx="4295520" cy="1180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0" name="팀의 강점 1 강조"/>
          <p:cNvSpPr/>
          <p:nvPr/>
        </p:nvSpPr>
        <p:spPr>
          <a:xfrm>
            <a:off x="685800" y="3581280"/>
            <a:ext cx="47160" cy="1180800"/>
          </a:xfrm>
          <a:prstGeom prst="rect">
            <a:avLst/>
          </a:prstGeom>
          <a:solidFill>
            <a:srgbClr val="D78B2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1" name="강점 제목 1"/>
          <p:cNvSpPr/>
          <p:nvPr/>
        </p:nvSpPr>
        <p:spPr>
          <a:xfrm>
            <a:off x="895320" y="3743280"/>
            <a:ext cx="38764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목적 중심 </a:t>
            </a:r>
            <a:r>
              <a:rPr lang="en-US" altLang="ko-KR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/ </a:t>
            </a: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사용자 중심</a:t>
            </a:r>
            <a:r>
              <a:rPr 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 </a:t>
            </a:r>
            <a:r>
              <a:rPr lang="ko-KR" altLang="en-US" sz="158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기능 개선 노력</a:t>
            </a:r>
            <a:endParaRPr lang="en-US" sz="15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2" name="강점 평가 1"/>
          <p:cNvSpPr/>
          <p:nvPr/>
        </p:nvSpPr>
        <p:spPr>
          <a:xfrm>
            <a:off x="895320" y="4172040"/>
            <a:ext cx="387648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사용자</a:t>
            </a:r>
            <a:r>
              <a:rPr lang="en-US" alt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(</a:t>
            </a: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은행직원</a:t>
            </a:r>
            <a:r>
              <a:rPr lang="en-US" altLang="ko-KR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)</a:t>
            </a: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 관점에서 업무 효율성 증대</a:t>
            </a:r>
            <a:r>
              <a:rPr lang="ko-KR" alt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위한</a:t>
            </a:r>
            <a:endParaRPr lang="en-US" altLang="ko-KR" sz="1340" b="0" u="none" strike="noStrike" dirty="0">
              <a:solidFill>
                <a:srgbClr val="162B43"/>
              </a:solidFill>
              <a:effectLst/>
              <a:uFillTx/>
              <a:latin typeface="페이퍼로지 5 Medium"/>
              <a:ea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altLang="en-US" sz="1340" b="0" u="none" strike="noStrike" dirty="0">
                <a:solidFill>
                  <a:srgbClr val="000000"/>
                </a:solidFill>
                <a:effectLst/>
                <a:uFillTx/>
                <a:latin typeface="페이퍼로지 5 Medium"/>
              </a:rPr>
              <a:t>맞춤 데이터 가공하고 추천 기능 추가 시각적 개선</a:t>
            </a:r>
            <a:endParaRPr lang="en-US" sz="134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3" name="팀의 강점 2"/>
          <p:cNvSpPr/>
          <p:nvPr/>
        </p:nvSpPr>
        <p:spPr>
          <a:xfrm>
            <a:off x="685800" y="4943520"/>
            <a:ext cx="4295520" cy="11808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4" name="팀의 강점 2 강조"/>
          <p:cNvSpPr/>
          <p:nvPr/>
        </p:nvSpPr>
        <p:spPr>
          <a:xfrm>
            <a:off x="685800" y="4943520"/>
            <a:ext cx="47160" cy="118080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5" name="강점 제목 2"/>
          <p:cNvSpPr/>
          <p:nvPr/>
        </p:nvSpPr>
        <p:spPr>
          <a:xfrm>
            <a:off x="895320" y="5105520"/>
            <a:ext cx="3876480" cy="27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58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Shared Case </a:t>
            </a:r>
            <a:r>
              <a:rPr lang="ko-KR" sz="158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중심 통합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6" name="강점 평가 2"/>
          <p:cNvSpPr/>
          <p:nvPr/>
        </p:nvSpPr>
        <p:spPr>
          <a:xfrm>
            <a:off x="895320" y="5533920"/>
            <a:ext cx="3876480" cy="485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기획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화면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·API·DB·AI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를 같은 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Case</a:t>
            </a: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로 연결해</a:t>
            </a:r>
            <a:endParaRPr lang="en-US" sz="134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담당자와 고객의 양방향 업무 흐름을 만들었습니다</a:t>
            </a:r>
            <a:r>
              <a:rPr lang="en-US" sz="134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.</a:t>
            </a:r>
            <a:endParaRPr lang="en-US" sz="134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7" name="현재 한계 0"/>
          <p:cNvSpPr/>
          <p:nvPr/>
        </p:nvSpPr>
        <p:spPr>
          <a:xfrm>
            <a:off x="5238720" y="2219400"/>
            <a:ext cx="6267240" cy="904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8" name="현재 한계 0 강조"/>
          <p:cNvSpPr/>
          <p:nvPr/>
        </p:nvSpPr>
        <p:spPr>
          <a:xfrm>
            <a:off x="5238720" y="2219400"/>
            <a:ext cx="47160" cy="904680"/>
          </a:xfrm>
          <a:prstGeom prst="rect">
            <a:avLst/>
          </a:prstGeom>
          <a:solidFill>
            <a:srgbClr val="0056F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79" name="한계 번호 0"/>
          <p:cNvSpPr/>
          <p:nvPr/>
        </p:nvSpPr>
        <p:spPr>
          <a:xfrm>
            <a:off x="5410080" y="2362320"/>
            <a:ext cx="3805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0056FB"/>
                </a:solidFill>
                <a:effectLst/>
                <a:uFillTx/>
                <a:latin typeface="페이퍼로지 7 Bold"/>
                <a:ea typeface="페이퍼로지 7 Bold"/>
              </a:rPr>
              <a:t>01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0" name="한계 제목 0"/>
          <p:cNvSpPr/>
          <p:nvPr/>
        </p:nvSpPr>
        <p:spPr>
          <a:xfrm>
            <a:off x="5857920" y="235260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전체 </a:t>
            </a:r>
            <a:r>
              <a:rPr lang="en-US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Workflow Runtime </a:t>
            </a:r>
            <a:r>
              <a:rPr lang="ko-KR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검증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1" name="한계 평가 0"/>
          <p:cNvSpPr/>
          <p:nvPr/>
        </p:nvSpPr>
        <p:spPr>
          <a:xfrm>
            <a:off x="5410080" y="2685960"/>
            <a:ext cx="59050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구간별 테스트는 존재하지만 동일 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Case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의 입력부터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Report·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종결까지 최신 담당자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고객 화면 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E2E 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증거 부족</a:t>
            </a:r>
            <a:endParaRPr lang="en-US" sz="128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1082" name="현재 한계 1"/>
          <p:cNvSpPr/>
          <p:nvPr/>
        </p:nvSpPr>
        <p:spPr>
          <a:xfrm>
            <a:off x="5238720" y="3209760"/>
            <a:ext cx="6267240" cy="904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3" name="현재 한계 1 강조"/>
          <p:cNvSpPr/>
          <p:nvPr/>
        </p:nvSpPr>
        <p:spPr>
          <a:xfrm>
            <a:off x="5238720" y="3209760"/>
            <a:ext cx="47160" cy="904680"/>
          </a:xfrm>
          <a:prstGeom prst="rect">
            <a:avLst/>
          </a:prstGeom>
          <a:solidFill>
            <a:srgbClr val="D78B2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4" name="한계 번호 1"/>
          <p:cNvSpPr/>
          <p:nvPr/>
        </p:nvSpPr>
        <p:spPr>
          <a:xfrm>
            <a:off x="5410080" y="3352680"/>
            <a:ext cx="3805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D78B2C"/>
                </a:solidFill>
                <a:effectLst/>
                <a:uFillTx/>
                <a:latin typeface="페이퍼로지 7 Bold"/>
                <a:ea typeface="페이퍼로지 7 Bold"/>
              </a:rPr>
              <a:t>02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5" name="한계 제목 1"/>
          <p:cNvSpPr/>
          <p:nvPr/>
        </p:nvSpPr>
        <p:spPr>
          <a:xfrm>
            <a:off x="5857920" y="334332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실제 정황 데이터</a:t>
            </a:r>
            <a:r>
              <a:rPr lang="en-US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협업 조건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6" name="한계 평가 1"/>
          <p:cNvSpPr/>
          <p:nvPr/>
        </p:nvSpPr>
        <p:spPr>
          <a:xfrm>
            <a:off x="5410080" y="3676680"/>
            <a:ext cx="59050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사용자 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동의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원본 데이터 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최소화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및 저장 금지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법적 검토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기관 및 기업 협업 필요</a:t>
            </a:r>
            <a:endParaRPr lang="en-US" sz="128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1087" name="현재 한계 2"/>
          <p:cNvSpPr/>
          <p:nvPr/>
        </p:nvSpPr>
        <p:spPr>
          <a:xfrm>
            <a:off x="5238720" y="4200480"/>
            <a:ext cx="6267240" cy="904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8" name="현재 한계 2 강조"/>
          <p:cNvSpPr/>
          <p:nvPr/>
        </p:nvSpPr>
        <p:spPr>
          <a:xfrm>
            <a:off x="5238720" y="4200480"/>
            <a:ext cx="47160" cy="904680"/>
          </a:xfrm>
          <a:prstGeom prst="rect">
            <a:avLst/>
          </a:prstGeom>
          <a:solidFill>
            <a:srgbClr val="22968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89" name="한계 번호 2"/>
          <p:cNvSpPr/>
          <p:nvPr/>
        </p:nvSpPr>
        <p:spPr>
          <a:xfrm>
            <a:off x="5410080" y="4343400"/>
            <a:ext cx="3805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22968B"/>
                </a:solidFill>
                <a:effectLst/>
                <a:uFillTx/>
                <a:latin typeface="페이퍼로지 7 Bold"/>
                <a:ea typeface="페이퍼로지 7 Bold"/>
              </a:rPr>
              <a:t>03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0" name="한계 제목 2"/>
          <p:cNvSpPr/>
          <p:nvPr/>
        </p:nvSpPr>
        <p:spPr>
          <a:xfrm>
            <a:off x="5857920" y="433404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은행 운영환경 적용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1" name="한계 평가 2"/>
          <p:cNvSpPr/>
          <p:nvPr/>
        </p:nvSpPr>
        <p:spPr>
          <a:xfrm>
            <a:off x="5410080" y="4667400"/>
            <a:ext cx="59050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독립 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Web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</a:rPr>
              <a:t>서비스가 아님 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-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법적 협업적 규제 제한사항 있음</a:t>
            </a:r>
            <a:endParaRPr lang="en-US" altLang="ko-KR" sz="1280" b="0" u="none" strike="noStrike" dirty="0">
              <a:solidFill>
                <a:srgbClr val="162B43"/>
              </a:solidFill>
              <a:effectLst/>
              <a:uFillTx/>
              <a:latin typeface="페이퍼로지 5 Medium"/>
              <a:ea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은행 </a:t>
            </a:r>
            <a:r>
              <a:rPr lang="en-US" sz="1280" b="0" u="none" strike="noStrike" dirty="0" err="1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Web·App·Case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권한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감사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폐쇄망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개인정보 검증 필요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  <a:sym typeface="Wingdings" panose="05000000000000000000" pitchFamily="2" charset="2"/>
              </a:rPr>
              <a:t>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highlight>
                  <a:srgbClr val="FFFF00"/>
                </a:highlight>
                <a:uFillTx/>
                <a:latin typeface="페이퍼로지 5 Medium"/>
                <a:ea typeface="페이퍼로지 5 Medium"/>
                <a:sym typeface="Wingdings" panose="05000000000000000000" pitchFamily="2" charset="2"/>
              </a:rPr>
              <a:t>폐쇄망으로 대체 필요</a:t>
            </a:r>
            <a:endParaRPr lang="en-US" sz="1280" b="0" u="none" strike="noStrike" dirty="0">
              <a:solidFill>
                <a:srgbClr val="000000"/>
              </a:solidFill>
              <a:effectLst/>
              <a:highlight>
                <a:srgbClr val="FFFF00"/>
              </a:highlight>
              <a:uFillTx/>
              <a:latin typeface="페이퍼로지 5 Medium"/>
            </a:endParaRPr>
          </a:p>
        </p:txBody>
      </p:sp>
      <p:sp>
        <p:nvSpPr>
          <p:cNvPr id="1092" name="현재 한계 3"/>
          <p:cNvSpPr/>
          <p:nvPr/>
        </p:nvSpPr>
        <p:spPr>
          <a:xfrm>
            <a:off x="5238720" y="5191200"/>
            <a:ext cx="6267240" cy="904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D6E3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3" name="현재 한계 3 강조"/>
          <p:cNvSpPr/>
          <p:nvPr/>
        </p:nvSpPr>
        <p:spPr>
          <a:xfrm>
            <a:off x="5238720" y="5191200"/>
            <a:ext cx="47160" cy="904680"/>
          </a:xfrm>
          <a:prstGeom prst="rect">
            <a:avLst/>
          </a:prstGeom>
          <a:solidFill>
            <a:srgbClr val="7B91A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4" name="한계 번호 3"/>
          <p:cNvSpPr/>
          <p:nvPr/>
        </p:nvSpPr>
        <p:spPr>
          <a:xfrm>
            <a:off x="5410080" y="5334120"/>
            <a:ext cx="380520" cy="247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430" b="1" u="none" strike="noStrike">
                <a:solidFill>
                  <a:srgbClr val="7B91AB"/>
                </a:solidFill>
                <a:effectLst/>
                <a:uFillTx/>
                <a:latin typeface="페이퍼로지 7 Bold"/>
                <a:ea typeface="페이퍼로지 7 Bold"/>
              </a:rPr>
              <a:t>04</a:t>
            </a:r>
            <a:endParaRPr lang="en-US" sz="1430" b="0" u="none" strike="noStrike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5" name="한계 제목 3"/>
          <p:cNvSpPr/>
          <p:nvPr/>
        </p:nvSpPr>
        <p:spPr>
          <a:xfrm>
            <a:off x="5857920" y="5324400"/>
            <a:ext cx="5428800" cy="266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ko-KR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품질</a:t>
            </a:r>
            <a:r>
              <a:rPr lang="en-US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·</a:t>
            </a:r>
            <a:r>
              <a:rPr lang="ko-KR" sz="1500" b="1" u="none" strike="noStrike" dirty="0">
                <a:solidFill>
                  <a:srgbClr val="112B50"/>
                </a:solidFill>
                <a:effectLst/>
                <a:uFillTx/>
                <a:latin typeface="페이퍼로지 7 Bold"/>
                <a:ea typeface="페이퍼로지 7 Bold"/>
              </a:rPr>
              <a:t>업무 효과 정량 평가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  <p:sp>
        <p:nvSpPr>
          <p:cNvPr id="1096" name="한계 평가 3"/>
          <p:cNvSpPr/>
          <p:nvPr/>
        </p:nvSpPr>
        <p:spPr>
          <a:xfrm>
            <a:off x="5410080" y="5657760"/>
            <a:ext cx="5905080" cy="409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ct val="100000"/>
              </a:lnSpc>
            </a:pP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AI replay·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회귀 기록은 확보했지만 동일 기준</a:t>
            </a:r>
            <a:r>
              <a:rPr lang="en-US" alt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</a:t>
            </a:r>
            <a:r>
              <a:rPr lang="ko-KR" alt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비교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 평가 부족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  <a:p>
            <a:pPr defTabSz="914400">
              <a:lnSpc>
                <a:spcPct val="100000"/>
              </a:lnSpc>
            </a:pP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Context·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질문 품질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안전성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환각</a:t>
            </a:r>
            <a:r>
              <a:rPr lang="en-US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·</a:t>
            </a:r>
            <a:r>
              <a:rPr lang="ko-KR" sz="1280" b="0" u="none" strike="noStrike" dirty="0">
                <a:solidFill>
                  <a:srgbClr val="162B43"/>
                </a:solidFill>
                <a:effectLst/>
                <a:uFillTx/>
                <a:latin typeface="페이퍼로지 5 Medium"/>
                <a:ea typeface="페이퍼로지 5 Medium"/>
              </a:rPr>
              <a:t>사건 파악 및 확인 효율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페이퍼로지 5 Medium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19472D8D-4298-4BDC-AE60-EF419A341BF1}"/>
              </a:ext>
            </a:extLst>
          </p:cNvPr>
          <p:cNvSpPr/>
          <p:nvPr/>
        </p:nvSpPr>
        <p:spPr>
          <a:xfrm>
            <a:off x="7051548" y="0"/>
            <a:ext cx="5140452" cy="6858000"/>
          </a:xfrm>
          <a:prstGeom prst="rect">
            <a:avLst/>
          </a:prstGeom>
          <a:solidFill>
            <a:srgbClr val="0E2746"/>
          </a:solidFill>
          <a:ln w="12700">
            <a:solidFill>
              <a:srgbClr val="0E2746"/>
            </a:solidFill>
            <a:prstDash val="solid"/>
          </a:ln>
        </p:spPr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49F901-CBE7-4254-97FA-97F623AAA907}"/>
              </a:ext>
            </a:extLst>
          </p:cNvPr>
          <p:cNvGrpSpPr/>
          <p:nvPr/>
        </p:nvGrpSpPr>
        <p:grpSpPr>
          <a:xfrm>
            <a:off x="452025" y="2477840"/>
            <a:ext cx="6104020" cy="1356630"/>
            <a:chOff x="142749" y="2535463"/>
            <a:chExt cx="6104020" cy="1356630"/>
          </a:xfrm>
        </p:grpSpPr>
        <p:sp>
          <p:nvSpPr>
            <p:cNvPr id="3" name="Text 11">
              <a:extLst>
                <a:ext uri="{FF2B5EF4-FFF2-40B4-BE49-F238E27FC236}">
                  <a16:creationId xmlns:a16="http://schemas.microsoft.com/office/drawing/2014/main" id="{1CAD6F43-AA5A-45F0-9113-526B5D62A196}"/>
                </a:ext>
              </a:extLst>
            </p:cNvPr>
            <p:cNvSpPr txBox="1"/>
            <p:nvPr/>
          </p:nvSpPr>
          <p:spPr>
            <a:xfrm>
              <a:off x="1000199" y="2535463"/>
              <a:ext cx="4389120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altLang="ko-KR" sz="1050" dirty="0">
                  <a:solidFill>
                    <a:srgbClr val="0E2746"/>
                  </a:solidFill>
                  <a:latin typeface="페이퍼로지 4 Regular" pitchFamily="2" charset="-127"/>
                  <a:ea typeface="페이퍼로지 4 Regular" pitchFamily="2" charset="-127"/>
                </a:rPr>
                <a:t>Team. </a:t>
              </a:r>
              <a:r>
                <a:rPr lang="ko-KR" altLang="en-US" sz="1050" dirty="0">
                  <a:solidFill>
                    <a:srgbClr val="0E2746"/>
                  </a:solidFill>
                  <a:latin typeface="페이퍼로지 4 Regular" pitchFamily="2" charset="-127"/>
                  <a:ea typeface="페이퍼로지 4 Regular" pitchFamily="2" charset="-127"/>
                </a:rPr>
                <a:t>우리의 사회적 책임</a:t>
              </a:r>
              <a:endParaRPr lang="en-US" sz="1050" dirty="0">
                <a:solidFill>
                  <a:srgbClr val="0E2746"/>
                </a:solidFill>
                <a:latin typeface="페이퍼로지 4 Regular" pitchFamily="2" charset="-127"/>
                <a:ea typeface="페이퍼로지 4 Regular" pitchFamily="2" charset="-127"/>
              </a:endParaRP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3706AC3-95A3-46E6-ACED-8E3955F236DE}"/>
                </a:ext>
              </a:extLst>
            </p:cNvPr>
            <p:cNvGrpSpPr/>
            <p:nvPr/>
          </p:nvGrpSpPr>
          <p:grpSpPr>
            <a:xfrm>
              <a:off x="142749" y="2965908"/>
              <a:ext cx="6104020" cy="926185"/>
              <a:chOff x="142749" y="2616946"/>
              <a:chExt cx="6104020" cy="926185"/>
            </a:xfrm>
          </p:grpSpPr>
          <p:sp>
            <p:nvSpPr>
              <p:cNvPr id="6" name="Shape 9">
                <a:extLst>
                  <a:ext uri="{FF2B5EF4-FFF2-40B4-BE49-F238E27FC236}">
                    <a16:creationId xmlns:a16="http://schemas.microsoft.com/office/drawing/2014/main" id="{437CEE7C-5045-48EF-9560-FC9D2BC4597D}"/>
                  </a:ext>
                </a:extLst>
              </p:cNvPr>
              <p:cNvSpPr/>
              <p:nvPr/>
            </p:nvSpPr>
            <p:spPr>
              <a:xfrm>
                <a:off x="547517" y="2616946"/>
                <a:ext cx="5294484" cy="0"/>
              </a:xfrm>
              <a:prstGeom prst="line">
                <a:avLst/>
              </a:prstGeom>
              <a:noFill/>
              <a:ln w="12700">
                <a:solidFill>
                  <a:srgbClr val="2A537D"/>
                </a:solidFill>
                <a:prstDash val="solid"/>
                <a:headEnd type="none"/>
                <a:tailEnd type="none"/>
              </a:ln>
            </p:spPr>
          </p:sp>
          <p:sp>
            <p:nvSpPr>
              <p:cNvPr id="7" name="Shape 9">
                <a:extLst>
                  <a:ext uri="{FF2B5EF4-FFF2-40B4-BE49-F238E27FC236}">
                    <a16:creationId xmlns:a16="http://schemas.microsoft.com/office/drawing/2014/main" id="{BFDBE94A-E240-48CC-A02F-26788D0E6D29}"/>
                  </a:ext>
                </a:extLst>
              </p:cNvPr>
              <p:cNvSpPr/>
              <p:nvPr/>
            </p:nvSpPr>
            <p:spPr>
              <a:xfrm>
                <a:off x="547517" y="3543131"/>
                <a:ext cx="5294484" cy="0"/>
              </a:xfrm>
              <a:prstGeom prst="line">
                <a:avLst/>
              </a:prstGeom>
              <a:noFill/>
              <a:ln w="12700">
                <a:solidFill>
                  <a:srgbClr val="2A537D"/>
                </a:solidFill>
                <a:prstDash val="solid"/>
                <a:headEnd type="none"/>
                <a:tailEnd type="none"/>
              </a:ln>
            </p:spPr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12" name="Text 7">
                <a:extLst>
                  <a:ext uri="{FF2B5EF4-FFF2-40B4-BE49-F238E27FC236}">
                    <a16:creationId xmlns:a16="http://schemas.microsoft.com/office/drawing/2014/main" id="{65770F10-0B78-4B6C-98E9-2BDA2AE6A71B}"/>
                  </a:ext>
                </a:extLst>
              </p:cNvPr>
              <p:cNvSpPr txBox="1"/>
              <p:nvPr/>
            </p:nvSpPr>
            <p:spPr>
              <a:xfrm>
                <a:off x="142749" y="2709741"/>
                <a:ext cx="6104020" cy="755431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>
                <a:normAutofit/>
              </a:bodyPr>
              <a:lstStyle/>
              <a:p>
                <a:pPr marL="0" indent="0" algn="ctr">
                  <a:buNone/>
                </a:pPr>
                <a:r>
                  <a:rPr lang="ko-KR" altLang="en-US" sz="2800" b="1" dirty="0">
                    <a:solidFill>
                      <a:srgbClr val="0E2746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이상</a:t>
                </a:r>
                <a:r>
                  <a:rPr lang="en-US" altLang="ko-KR" sz="2800" b="1" dirty="0">
                    <a:solidFill>
                      <a:srgbClr val="0E2746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, </a:t>
                </a:r>
                <a:r>
                  <a:rPr lang="ko-KR" altLang="en-US" sz="2800" b="1" dirty="0">
                    <a:solidFill>
                      <a:srgbClr val="0E2746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끝까지 들어주셔서 감사합니다</a:t>
                </a:r>
                <a:r>
                  <a:rPr lang="en-US" altLang="ko-KR" sz="2800" b="1" dirty="0">
                    <a:solidFill>
                      <a:srgbClr val="0E2746"/>
                    </a:solidFill>
                    <a:latin typeface="페이퍼로지 7 Bold" pitchFamily="2" charset="-127"/>
                    <a:ea typeface="페이퍼로지 7 Bold" pitchFamily="2" charset="-127"/>
                    <a:cs typeface="NanumSquare Bold" pitchFamily="34" charset="-120"/>
                  </a:rPr>
                  <a:t>.</a:t>
                </a:r>
              </a:p>
            </p:txBody>
          </p:sp>
        </p:grp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A69ABD2-6F4F-4FF9-9D3B-C67549F77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729" y="347629"/>
            <a:ext cx="6262090" cy="782482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BA31DCB-D08F-472B-BC66-A1D0FE47496B}"/>
              </a:ext>
            </a:extLst>
          </p:cNvPr>
          <p:cNvSpPr/>
          <p:nvPr/>
        </p:nvSpPr>
        <p:spPr>
          <a:xfrm>
            <a:off x="8126963" y="6120882"/>
            <a:ext cx="3032449" cy="3894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5983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1740</TotalTime>
  <Words>9162</Words>
  <Application>Microsoft Office PowerPoint</Application>
  <PresentationFormat>Widescreen</PresentationFormat>
  <Paragraphs>1233</Paragraphs>
  <Slides>52</Slides>
  <Notes>27</Notes>
  <HiddenSlides>0</HiddenSlides>
  <MMClips>2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52</vt:i4>
      </vt:variant>
    </vt:vector>
  </HeadingPairs>
  <TitlesOfParts>
    <vt:vector size="72" baseType="lpstr">
      <vt:lpstr>Aptos</vt:lpstr>
      <vt:lpstr>NanumSquare</vt:lpstr>
      <vt:lpstr>NanumSquare Bold</vt:lpstr>
      <vt:lpstr>Noto Sans KR</vt:lpstr>
      <vt:lpstr>OpenSymbol</vt:lpstr>
      <vt:lpstr>Malgun Gothic</vt:lpstr>
      <vt:lpstr>페이퍼로지 4 Regular</vt:lpstr>
      <vt:lpstr>페이퍼로지 5 Medium</vt:lpstr>
      <vt:lpstr>페이퍼로지 6 SemiBold</vt:lpstr>
      <vt:lpstr>페이퍼로지 7 Bold</vt:lpstr>
      <vt:lpstr>페이퍼로지 9 Black</vt:lpstr>
      <vt:lpstr>Arial</vt:lpstr>
      <vt:lpstr>Consolas</vt:lpstr>
      <vt:lpstr>Symbol</vt:lpstr>
      <vt:lpstr>Times New Roman</vt:lpstr>
      <vt:lpstr>Wingdings</vt:lpstr>
      <vt:lpstr>ChatGPT</vt:lpstr>
      <vt:lpstr>ChatGPT</vt:lpstr>
      <vt:lpstr>ChatGPT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mbc</cp:lastModifiedBy>
  <cp:revision>78</cp:revision>
  <cp:lastPrinted>2026-10-01T02:23:55Z</cp:lastPrinted>
  <dcterms:modified xsi:type="dcterms:W3CDTF">2026-10-01T07:59:05Z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2026-09-29T03:32:22Z</dcterms:created>
  <dc:creator>Walnut Exporter</dc:creator>
  <dc:description/>
  <dc:language>en-US</dc:language>
  <cp:lastModifiedBy>Admin</cp:lastModifiedBy>
  <dcterms:modified xsi:type="dcterms:W3CDTF">2026-09-30T19:45:22Z</dcterms:modified>
  <cp:revision>259</cp:revision>
  <dc:subject/>
  <dc:title>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r8>1</vt:r8>
  </property>
  <property fmtid="{D5CDD505-2E9C-101B-9397-08002B2CF9AE}" pid="3" name="Notes">
    <vt:r8>17</vt:r8>
  </property>
  <property fmtid="{D5CDD505-2E9C-101B-9397-08002B2CF9AE}" pid="4" name="PresentationFormat">
    <vt:lpwstr>와이드스크린</vt:lpwstr>
  </property>
  <property fmtid="{D5CDD505-2E9C-101B-9397-08002B2CF9AE}" pid="5" name="Slides">
    <vt:r8>49</vt:r8>
  </property>
</Properties>
</file>