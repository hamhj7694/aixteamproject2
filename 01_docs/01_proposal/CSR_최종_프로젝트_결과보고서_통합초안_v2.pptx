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5"/>
  </p:notesMasterIdLst>
  <p:sldIdLst>
    <p:sldId id="256" r:id="rId2"/>
    <p:sldId id="257" r:id="rId3"/>
    <p:sldId id="281" r:id="rId4"/>
    <p:sldId id="296" r:id="rId5"/>
    <p:sldId id="305" r:id="rId6"/>
    <p:sldId id="316" r:id="rId7"/>
    <p:sldId id="348" r:id="rId8"/>
    <p:sldId id="352" r:id="rId9"/>
    <p:sldId id="356" r:id="rId10"/>
    <p:sldId id="358" r:id="rId11"/>
    <p:sldId id="359" r:id="rId12"/>
    <p:sldId id="333" r:id="rId13"/>
    <p:sldId id="360" r:id="rId14"/>
    <p:sldId id="344" r:id="rId15"/>
    <p:sldId id="367" r:id="rId16"/>
    <p:sldId id="361" r:id="rId17"/>
    <p:sldId id="366" r:id="rId18"/>
    <p:sldId id="362" r:id="rId19"/>
    <p:sldId id="342" r:id="rId20"/>
    <p:sldId id="363" r:id="rId21"/>
    <p:sldId id="364" r:id="rId22"/>
    <p:sldId id="365" r:id="rId23"/>
    <p:sldId id="341" r:id="rId24"/>
    <p:sldId id="343" r:id="rId25"/>
    <p:sldId id="355" r:id="rId26"/>
    <p:sldId id="340" r:id="rId27"/>
    <p:sldId id="337" r:id="rId28"/>
    <p:sldId id="317" r:id="rId29"/>
    <p:sldId id="338" r:id="rId30"/>
    <p:sldId id="339" r:id="rId31"/>
    <p:sldId id="336" r:id="rId32"/>
    <p:sldId id="312" r:id="rId33"/>
    <p:sldId id="320" r:id="rId34"/>
    <p:sldId id="326" r:id="rId35"/>
    <p:sldId id="334" r:id="rId36"/>
    <p:sldId id="322" r:id="rId37"/>
    <p:sldId id="328" r:id="rId38"/>
    <p:sldId id="329" r:id="rId39"/>
    <p:sldId id="330" r:id="rId40"/>
    <p:sldId id="325" r:id="rId41"/>
    <p:sldId id="307" r:id="rId42"/>
    <p:sldId id="259" r:id="rId43"/>
    <p:sldId id="260" r:id="rId44"/>
    <p:sldId id="261" r:id="rId45"/>
    <p:sldId id="262" r:id="rId46"/>
    <p:sldId id="263" r:id="rId47"/>
    <p:sldId id="264" r:id="rId48"/>
    <p:sldId id="265" r:id="rId49"/>
    <p:sldId id="266" r:id="rId50"/>
    <p:sldId id="267" r:id="rId51"/>
    <p:sldId id="268" r:id="rId52"/>
    <p:sldId id="269" r:id="rId53"/>
    <p:sldId id="270" r:id="rId54"/>
    <p:sldId id="271" r:id="rId55"/>
    <p:sldId id="272" r:id="rId56"/>
    <p:sldId id="273" r:id="rId57"/>
    <p:sldId id="274" r:id="rId58"/>
    <p:sldId id="275" r:id="rId59"/>
    <p:sldId id="276" r:id="rId60"/>
    <p:sldId id="277" r:id="rId61"/>
    <p:sldId id="278" r:id="rId62"/>
    <p:sldId id="279" r:id="rId63"/>
    <p:sldId id="280" r:id="rId6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6FB"/>
    <a:srgbClr val="053365"/>
    <a:srgbClr val="10213D"/>
    <a:srgbClr val="50AACF"/>
    <a:srgbClr val="61CBF4"/>
    <a:srgbClr val="E01F16"/>
    <a:srgbClr val="EE4344"/>
    <a:srgbClr val="E89FAE"/>
    <a:srgbClr val="D3DEEB"/>
    <a:srgbClr val="FC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4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dPt>
            <c:idx val="9"/>
            <c:marker>
              <c:symbol val="circle"/>
              <c:size val="5"/>
              <c:spPr>
                <a:solidFill>
                  <a:schemeClr val="tx1"/>
                </a:solidFill>
                <a:ln w="9525">
                  <a:solidFill>
                    <a:schemeClr val="tx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4BD-4353-81B5-3CAA4CB197C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페이퍼로지 7 Bold" pitchFamily="2" charset="-127"/>
                    <a:ea typeface="페이퍼로지 7 Bold" pitchFamily="2" charset="-127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rgbClr val="E66867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numRef>
              <c:f>Sheet1!$A$2:$A$11</c:f>
              <c:numCache>
                <c:formatCode>General</c:formatCod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862</c:v>
                </c:pt>
                <c:pt idx="1">
                  <c:v>1018</c:v>
                </c:pt>
                <c:pt idx="2">
                  <c:v>1184</c:v>
                </c:pt>
                <c:pt idx="3">
                  <c:v>1699</c:v>
                </c:pt>
                <c:pt idx="4">
                  <c:v>2210</c:v>
                </c:pt>
                <c:pt idx="5">
                  <c:v>2500</c:v>
                </c:pt>
                <c:pt idx="6">
                  <c:v>2491</c:v>
                </c:pt>
                <c:pt idx="7">
                  <c:v>2366</c:v>
                </c:pt>
                <c:pt idx="8">
                  <c:v>4100</c:v>
                </c:pt>
                <c:pt idx="9">
                  <c:v>5384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4BD-4353-81B5-3CAA4CB197C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30342624"/>
        <c:axId val="630342952"/>
      </c:lineChart>
      <c:catAx>
        <c:axId val="630342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pPr>
            <a:endParaRPr lang="ko-KR"/>
          </a:p>
        </c:txPr>
        <c:crossAx val="630342952"/>
        <c:crosses val="autoZero"/>
        <c:auto val="1"/>
        <c:lblAlgn val="ctr"/>
        <c:lblOffset val="100"/>
        <c:noMultiLvlLbl val="0"/>
      </c:catAx>
      <c:valAx>
        <c:axId val="630342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pPr>
            <a:endParaRPr lang="ko-KR"/>
          </a:p>
        </c:txPr>
        <c:crossAx val="6303426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>
          <a:latin typeface="나눔스퀘어_ac Bold" panose="020B0600000101010101" pitchFamily="50" charset="-127"/>
          <a:ea typeface="나눔스퀘어_ac Bold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피해금액 (억원)</c:v>
                </c:pt>
              </c:strCache>
            </c:strRef>
          </c:tx>
          <c:spPr>
            <a:solidFill>
              <a:srgbClr val="5E85B0"/>
            </a:solidFill>
            <a:ln>
              <a:noFill/>
            </a:ln>
            <a:effectLst/>
          </c:spPr>
          <c:invertIfNegative val="0"/>
          <c:dPt>
            <c:idx val="9"/>
            <c:invertIfNegative val="0"/>
            <c:bubble3D val="0"/>
            <c:spPr>
              <a:solidFill>
                <a:srgbClr val="E567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C5-4D74-A2C0-0B00A1C835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  <a:cs typeface="+mn-cs"/>
                  </a:defRPr>
                </a:pPr>
                <a:endParaRPr lang="ko-K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1468</c:v>
                </c:pt>
                <c:pt idx="1">
                  <c:v>2470</c:v>
                </c:pt>
                <c:pt idx="2">
                  <c:v>4040</c:v>
                </c:pt>
                <c:pt idx="3">
                  <c:v>6398</c:v>
                </c:pt>
                <c:pt idx="4">
                  <c:v>7000</c:v>
                </c:pt>
                <c:pt idx="5">
                  <c:v>7744</c:v>
                </c:pt>
                <c:pt idx="6">
                  <c:v>5438</c:v>
                </c:pt>
                <c:pt idx="7">
                  <c:v>4472</c:v>
                </c:pt>
                <c:pt idx="8">
                  <c:v>8545</c:v>
                </c:pt>
                <c:pt idx="9">
                  <c:v>12578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C5-4D74-A2C0-0B00A1C835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252944200"/>
        <c:axId val="25294288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발생건수 (건)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dLbls>
            <c:dLbl>
              <c:idx val="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  <a:cs typeface="+mn-cs"/>
                    </a:defRPr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1BC5-4D74-A2C0-0B00A1C835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페이퍼로지 7 Bold" pitchFamily="2" charset="-127"/>
                    <a:ea typeface="페이퍼로지 7 Bold" pitchFamily="2" charset="-127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17040</c:v>
                </c:pt>
                <c:pt idx="1">
                  <c:v>24259</c:v>
                </c:pt>
                <c:pt idx="2">
                  <c:v>34132</c:v>
                </c:pt>
                <c:pt idx="3">
                  <c:v>37667</c:v>
                </c:pt>
                <c:pt idx="4">
                  <c:v>31681</c:v>
                </c:pt>
                <c:pt idx="5">
                  <c:v>30982</c:v>
                </c:pt>
                <c:pt idx="6">
                  <c:v>21832</c:v>
                </c:pt>
                <c:pt idx="7">
                  <c:v>18902</c:v>
                </c:pt>
                <c:pt idx="8">
                  <c:v>20839</c:v>
                </c:pt>
                <c:pt idx="9">
                  <c:v>23360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BC5-4D74-A2C0-0B00A1C835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33958696"/>
        <c:axId val="833957384"/>
      </c:lineChart>
      <c:catAx>
        <c:axId val="252944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pPr>
            <a:endParaRPr lang="ko-KR"/>
          </a:p>
        </c:txPr>
        <c:crossAx val="252942888"/>
        <c:crosses val="autoZero"/>
        <c:auto val="1"/>
        <c:lblAlgn val="ctr"/>
        <c:lblOffset val="100"/>
        <c:noMultiLvlLbl val="0"/>
      </c:catAx>
      <c:valAx>
        <c:axId val="252942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pPr>
            <a:endParaRPr lang="ko-KR"/>
          </a:p>
        </c:txPr>
        <c:crossAx val="252944200"/>
        <c:crosses val="autoZero"/>
        <c:crossBetween val="between"/>
      </c:valAx>
      <c:valAx>
        <c:axId val="83395738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pPr>
            <a:endParaRPr lang="ko-KR"/>
          </a:p>
        </c:txPr>
        <c:crossAx val="833958696"/>
        <c:crosses val="max"/>
        <c:crossBetween val="between"/>
      </c:valAx>
      <c:catAx>
        <c:axId val="83395869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339573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페이퍼로지 7 Bold" pitchFamily="2" charset="-127"/>
              <a:ea typeface="페이퍼로지 7 Bold" pitchFamily="2" charset="-127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>
          <a:latin typeface="나눔스퀘어_ac Bold" panose="020B0600000101010101" pitchFamily="50" charset="-127"/>
          <a:ea typeface="나눔스퀘어_ac Bold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공식 결과보고서 양식 표지, CSR 01~05 초안. 훈련기관명·최종 종료일·멘토 표기는 팀 확인 후 입력.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2. 팀별 프로젝트 결과보고서.pptx, 4쪽.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209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4530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1856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탐지 이후 은행 직원 대응의 어려움</a:t>
            </a: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고객에게 다시 상황을 물어봐야 함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고객이 범죄자의 말을 믿고 있을 수 있음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본인이 무엇을 했는지 정확히 모를 수도 있음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사실 확인과 설득에 시간이 필요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담당자별 판단</a:t>
            </a:r>
            <a:r>
              <a:rPr lang="en-US" altLang="ko-KR" dirty="0"/>
              <a:t>·</a:t>
            </a:r>
            <a:r>
              <a:rPr lang="ko-KR" altLang="en-US" dirty="0"/>
              <a:t>확인 과정에서 휴먼 에러 가능성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그 사이 추가 송금</a:t>
            </a:r>
            <a:r>
              <a:rPr lang="en-US" altLang="ko-KR" dirty="0"/>
              <a:t>·</a:t>
            </a:r>
            <a:r>
              <a:rPr lang="ko-KR" altLang="en-US" dirty="0"/>
              <a:t>추가 피해 가능성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762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CSR </a:t>
            </a:r>
            <a:r>
              <a:rPr lang="ko-KR" altLang="en-US" b="1" dirty="0"/>
              <a:t>서비스 제안 배경</a:t>
            </a: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고객에게 모든 상황을 처음부터 다시 묻는 것이 아니라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통화에서 발생한 범죄자의 주장</a:t>
            </a:r>
            <a:r>
              <a:rPr lang="en-US" altLang="ko-KR" b="1" dirty="0"/>
              <a:t>·</a:t>
            </a:r>
            <a:r>
              <a:rPr lang="ko-KR" altLang="en-US" b="1" dirty="0"/>
              <a:t>요구</a:t>
            </a:r>
            <a:r>
              <a:rPr lang="en-US" altLang="ko-KR" b="1" dirty="0"/>
              <a:t>·</a:t>
            </a:r>
            <a:r>
              <a:rPr lang="ko-KR" altLang="en-US" b="1" dirty="0"/>
              <a:t>행동 등의 정황을 먼저 구조화</a:t>
            </a: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이후 고객 답변</a:t>
            </a:r>
            <a:r>
              <a:rPr lang="en-US" altLang="ko-KR" dirty="0"/>
              <a:t>, </a:t>
            </a:r>
            <a:r>
              <a:rPr lang="ko-KR" altLang="en-US" dirty="0"/>
              <a:t>거래 위험 신호</a:t>
            </a:r>
            <a:r>
              <a:rPr lang="en-US" altLang="ko-KR" dirty="0"/>
              <a:t>, </a:t>
            </a:r>
            <a:r>
              <a:rPr lang="ko-KR" altLang="en-US" dirty="0"/>
              <a:t>공식 확인 결과 등을 함께 관리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7863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6836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7381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탐지 시스템을 대체하는 것이 아니라 </a:t>
            </a:r>
            <a:r>
              <a:rPr lang="ko-KR" altLang="en-US" b="1" dirty="0"/>
              <a:t>탐지 이후의 상황 파악</a:t>
            </a:r>
            <a:r>
              <a:rPr lang="en-US" altLang="ko-KR" b="1" dirty="0"/>
              <a:t>·</a:t>
            </a:r>
            <a:r>
              <a:rPr lang="ko-KR" altLang="en-US" b="1" dirty="0"/>
              <a:t>확인</a:t>
            </a:r>
            <a:r>
              <a:rPr lang="en-US" altLang="ko-KR" b="1" dirty="0"/>
              <a:t>·</a:t>
            </a:r>
            <a:r>
              <a:rPr lang="ko-KR" altLang="en-US" b="1" dirty="0"/>
              <a:t>설득</a:t>
            </a:r>
            <a:r>
              <a:rPr lang="en-US" altLang="ko-KR" b="1" dirty="0"/>
              <a:t>·</a:t>
            </a:r>
            <a:r>
              <a:rPr lang="ko-KR" altLang="en-US" b="1" dirty="0"/>
              <a:t>대응을 지원</a:t>
            </a:r>
            <a:r>
              <a:rPr lang="ko-KR" altLang="en-US" dirty="0"/>
              <a:t>사건 맥락을 </a:t>
            </a:r>
            <a:r>
              <a:rPr lang="en-US" altLang="ko-KR" dirty="0"/>
              <a:t>Shared Case</a:t>
            </a:r>
            <a:r>
              <a:rPr lang="ko-KR" altLang="en-US" dirty="0"/>
              <a:t>로 관리상황 파악 시간 및 확인 누락을 줄이고 추가 피해 대응을 지원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7106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2814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9984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7975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5018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Team Guardrails 02_01 EDA — 776 voice-phishing calls; user-provided analysis and charts.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72054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서비스 강점: 통화 발화에서 사칭 대상·주장·요구·압박 맥락을 구조화해 은행 확인업무에 제공.</a:t>
            </a:r>
          </a:p>
          <a:p>
            <a:r>
              <a:t>- 서비스 개념: Customer/Bank/Verification Agent가 동일 Shared Case에서 확인·검증·설득 근거를 병렬 축적.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400579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서비스 강점: 통화 발화에서 사칭 대상·주장·요구·압박 맥락을 구조화해 은행 확인업무에 제공.</a:t>
            </a:r>
          </a:p>
          <a:p>
            <a:r>
              <a:t>- 서비스 개념: Customer/Bank/Verification Agent가 동일 Shared Case에서 확인·검증·설득 근거를 병렬 축적.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87018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서비스 강점: 통화 발화에서 사칭 대상·주장·요구·압박 맥락을 구조화해 은행 확인업무에 제공.</a:t>
            </a:r>
          </a:p>
          <a:p>
            <a:r>
              <a:t>- 서비스 개념: Customer/Bank/Verification Agent가 동일 Shared Case에서 확인·검증·설득 근거를 병렬 축적.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80411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CSR 프로젝트 개요 v4, 4쪽. FDS·ASAP·1394의 상세 비교는 공식 최신 자료 재확인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665026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https://news.kbs.co.kr/news/pc/view/view.do?ncd=8591764</a:t>
            </a:r>
          </a:p>
          <a:p>
            <a:r>
              <a:rPr lang="en-US" dirty="0"/>
              <a:t>https://www.yna.co.kr/view/AKR20260527080100055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0898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CSR 프로젝트 개요 v4, 4쪽. FDS·ASAP·1394의 상세 비교는 공식 최신 자료 재확인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CSR 프로젝트 개요 v4, 1·3쪽; 공식 상세 작성 가이드, 04 현재 코드 기준 E2E.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CSR 프로젝트 개요 v4, 5쪽; 공식 상세 작성 가이드 01. 버전·실제 호출 경로는 최종 코드 확인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CSR 팀구성 역할 카테고리형 v4, 1~4쪽. 각 팀원 최종 확인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CSR 팀구성 역할 카테고리형 v4, 2~4쪽; 공식 상세 작성 가이드 02. 공동 작업 범위는 팀 확인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CSR 프로젝트 수행절차 방법 v3, 1쪽. 8/28 전후 및 세부 종료일은 팀 일정·Git·회의록 확인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CSR 프로젝트 수행절차 방법 v3, 2쪽. 세부 의사결정 일자와 근거 기록 최종 확인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CSR 프로젝트 수행절차 방법 v3, 3쪽; 공식 상세 작성 가이드 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CSR 프로젝트 수행경과 04 초안, 1~2쪽; 공식 상세 작성 가이드 04. 대표 Case ID·입력·Runtime 증거 미확정.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공식 상세 작성 가이드 04, 현재 코드 기준 E2E 1단계. Runtime·DB 근거는 추가 확인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CSR 프로젝트 수행경과 04 초안, 3쪽; 공식 상세 작성 가이드 04. Context Panel의 현재 ROOM 연결 상태는 Runtime 확인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CSR 프로젝트 수행경과 04 초안, 4쪽; 공식 상세 작성 가이드 04, B Part. 중복 제외 결과 Runtime 검증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CSR 프로젝트 수행경과 04 초안, 5쪽; 공식 상세 작성 가이드 04, 고객 응답 단계. 최종 화면·상태 전이 Runtime 확인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CSR 프로젝트 수행경과 04 초안, 6쪽; 공식 상세 작성 가이드 04, Fact 신뢰 단계. 실제 상태·원문 연결 Runtime 증거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CSR 프로젝트 수행경과 04 초안, 6·9쪽; 공식 상세 작성 가이드 04, E2E 8~9단계. 종결/보고서 상태 실제 실행은 검증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CSR 프로젝트 수행경과 04 초안, 7쪽; 공식 상세 작성 가이드 04. ML의 현재 입력 호출 경로와 DB 테이블명은 확인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CSR 프로젝트 수행경과 04 초안, 8쪽; 제공된 UX 개선 방향. 전후 실제 화면 캡처 미제공.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CSR 프로젝트 수행경과 04 초안, 8쪽; 공식 상세 작성 가이드 04. 개선 결과는 Runtime 증거 추가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공식 양식 04, 구동 화면 및 시연 영상 요구; CSR 프로젝트 수행경과 04 초안, 9쪽. 실제 증거 미제공.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CSR 자체평가의견 05 초안, 1쪽; 공식 양식 05. 실제 달성도는 Runtime·팀 합의 후 확정.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CSR 자체평가의견 05 초안, 2~3쪽; 공식 상세 작성 가이드 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CSR 자체평가의견 05 초안, 3~4쪽; 공식 상세 작성 가이드 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DARK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Google Shape;95;p49"/>
          <p:cNvCxnSpPr/>
          <p:nvPr/>
        </p:nvCxnSpPr>
        <p:spPr>
          <a:xfrm>
            <a:off x="548640" y="6464520"/>
            <a:ext cx="11110320" cy="360"/>
          </a:xfrm>
          <a:prstGeom prst="straightConnector1">
            <a:avLst/>
          </a:prstGeom>
          <a:ln w="10150">
            <a:solidFill>
              <a:srgbClr val="244465"/>
            </a:solidFill>
            <a:round/>
          </a:ln>
        </p:spPr>
      </p:cxnSp>
      <p:sp>
        <p:nvSpPr>
          <p:cNvPr id="35" name="PlaceHolder 1">
            <a:extLst>
              <a:ext uri="{FF2B5EF4-FFF2-40B4-BE49-F238E27FC236}">
                <a16:creationId xmlns:a16="http://schemas.microsoft.com/office/drawing/2014/main" id="{57C152BA-3FCF-46B9-964B-EA481CBDAA74}"/>
              </a:ext>
            </a:extLst>
          </p:cNvPr>
          <p:cNvSpPr>
            <a:spLocks noGrp="1"/>
          </p:cNvSpPr>
          <p:nvPr>
            <p:ph type="sldNum" idx="15"/>
          </p:nvPr>
        </p:nvSpPr>
        <p:spPr>
          <a:xfrm>
            <a:off x="11475720" y="6510600"/>
            <a:ext cx="273960" cy="164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900" b="0" u="none">
                <a:solidFill>
                  <a:srgbClr val="6D86A6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EAF7038-6CF7-447E-841A-E2FE4EEEF634}" type="slidenum">
              <a:rPr sz="900" b="0" u="none">
                <a:solidFill>
                  <a:srgbClr val="6D86A6"/>
                </a:solidFill>
                <a:latin typeface="Arial"/>
                <a:ea typeface="Arial"/>
                <a:cs typeface="Arial"/>
              </a:rPr>
              <a:t>‹#›</a:t>
            </a:fld>
            <a:endParaRPr sz="900" b="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6" name="Google Shape;97;p49">
            <a:extLst>
              <a:ext uri="{FF2B5EF4-FFF2-40B4-BE49-F238E27FC236}">
                <a16:creationId xmlns:a16="http://schemas.microsoft.com/office/drawing/2014/main" id="{79BDB7EC-8FEF-4CB0-A923-AE538FDE9F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360" bIns="36360"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4203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LIGHT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9BABCA-8F5D-4C86-A07A-BAECAF610FF4}"/>
              </a:ext>
            </a:extLst>
          </p:cNvPr>
          <p:cNvSpPr/>
          <p:nvPr userDrawn="1"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64808"/>
            <a:ext cx="11109960" cy="0"/>
          </a:xfrm>
          <a:prstGeom prst="line">
            <a:avLst/>
          </a:prstGeom>
          <a:noFill/>
          <a:ln w="10160">
            <a:solidFill>
              <a:srgbClr val="DCE8F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9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>
            <a:extLst>
              <a:ext uri="{FF2B5EF4-FFF2-40B4-BE49-F238E27FC236}">
                <a16:creationId xmlns:a16="http://schemas.microsoft.com/office/drawing/2014/main" id="{456DC784-67F9-4CC0-9ED2-55652D9D360F}"/>
              </a:ext>
            </a:extLst>
          </p:cNvPr>
          <p:cNvSpPr>
            <a:spLocks noGrp="1"/>
          </p:cNvSpPr>
          <p:nvPr>
            <p:ph type="dt" idx="1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l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44" name="PlaceHolder 2">
            <a:extLst>
              <a:ext uri="{FF2B5EF4-FFF2-40B4-BE49-F238E27FC236}">
                <a16:creationId xmlns:a16="http://schemas.microsoft.com/office/drawing/2014/main" id="{14C5E9DA-023A-4F93-A70D-B34EA523C39E}"/>
              </a:ext>
            </a:extLst>
          </p:cNvPr>
          <p:cNvSpPr>
            <a:spLocks noGrp="1"/>
          </p:cNvSpPr>
          <p:nvPr>
            <p:ph type="ftr" idx="1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45" name="PlaceHolder 3">
            <a:extLst>
              <a:ext uri="{FF2B5EF4-FFF2-40B4-BE49-F238E27FC236}">
                <a16:creationId xmlns:a16="http://schemas.microsoft.com/office/drawing/2014/main" id="{F9DBA960-9744-4414-ADB1-C730E9738CA8}"/>
              </a:ext>
            </a:extLst>
          </p:cNvPr>
          <p:cNvSpPr>
            <a:spLocks noGrp="1"/>
          </p:cNvSpPr>
          <p:nvPr>
            <p:ph type="sldNum" idx="1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0701332-0D58-4080-AB1A-D2DC8CF2CE4F}" type="slidenum">
              <a:rPr sz="1200" b="0" u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rPr>
              <a:t>‹#›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6" name="PlaceHolder 4">
            <a:extLst>
              <a:ext uri="{FF2B5EF4-FFF2-40B4-BE49-F238E27FC236}">
                <a16:creationId xmlns:a16="http://schemas.microsoft.com/office/drawing/2014/main" id="{F2E9438E-E98F-4CA0-9154-92ED5881C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>
              <a:buNone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47" name="PlaceHolder 5">
            <a:extLst>
              <a:ext uri="{FF2B5EF4-FFF2-40B4-BE49-F238E27FC236}">
                <a16:creationId xmlns:a16="http://schemas.microsoft.com/office/drawing/2014/main" id="{D18E440A-6B09-4412-A88E-6C643C62885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662026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2560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GHT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21;p37">
            <a:extLst>
              <a:ext uri="{FF2B5EF4-FFF2-40B4-BE49-F238E27FC236}">
                <a16:creationId xmlns:a16="http://schemas.microsoft.com/office/drawing/2014/main" id="{D29F64B4-A454-44B9-BC74-B4392585F4FA}"/>
              </a:ext>
            </a:extLst>
          </p:cNvPr>
          <p:cNvSpPr>
            <a:spLocks noGrp="1"/>
          </p:cNvSpPr>
          <p:nvPr userDrawn="1"/>
        </p:nvSpPr>
        <p:spPr>
          <a:xfrm>
            <a:off x="0" y="73080"/>
            <a:ext cx="12191400" cy="6784560"/>
          </a:xfrm>
          <a:prstGeom prst="rect">
            <a:avLst/>
          </a:prstGeom>
          <a:solidFill>
            <a:srgbClr val="F7FA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Google Shape;22;p37">
            <a:extLst>
              <a:ext uri="{FF2B5EF4-FFF2-40B4-BE49-F238E27FC236}">
                <a16:creationId xmlns:a16="http://schemas.microsoft.com/office/drawing/2014/main" id="{2B48E46C-54A4-43AF-AE47-2FA8ECD4FF35}"/>
              </a:ext>
            </a:extLst>
          </p:cNvPr>
          <p:cNvSpPr>
            <a:spLocks noGrp="1"/>
          </p:cNvSpPr>
          <p:nvPr userDrawn="1"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360" bIns="36360"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0" name="Google Shape;23;p37"/>
          <p:cNvCxnSpPr/>
          <p:nvPr userDrawn="1"/>
        </p:nvCxnSpPr>
        <p:spPr>
          <a:xfrm>
            <a:off x="548640" y="6464520"/>
            <a:ext cx="11110320" cy="360"/>
          </a:xfrm>
          <a:prstGeom prst="straightConnector1">
            <a:avLst/>
          </a:prstGeom>
          <a:ln w="10150">
            <a:solidFill>
              <a:srgbClr val="DCE8FA"/>
            </a:solidFill>
            <a:round/>
          </a:ln>
        </p:spPr>
      </p:cxnSp>
      <p:sp>
        <p:nvSpPr>
          <p:cNvPr id="40" name="PlaceHolder 1">
            <a:extLst>
              <a:ext uri="{FF2B5EF4-FFF2-40B4-BE49-F238E27FC236}">
                <a16:creationId xmlns:a16="http://schemas.microsoft.com/office/drawing/2014/main" id="{43ABC5D4-0FFB-453F-A348-6CFB37098472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11475720" y="6510600"/>
            <a:ext cx="273960" cy="164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900" b="0" u="none">
                <a:solidFill>
                  <a:srgbClr val="7B8CA8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BCB8A9A-46AA-41AA-8020-C0337298604B}" type="slidenum">
              <a:rPr sz="900" b="0" u="none">
                <a:solidFill>
                  <a:srgbClr val="7B8CA8"/>
                </a:solidFill>
                <a:latin typeface="Arial"/>
                <a:ea typeface="Arial"/>
                <a:cs typeface="Arial"/>
              </a:rPr>
              <a:t>‹#›</a:t>
            </a:fld>
            <a:endParaRPr sz="9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1" name="PlaceHolder 2">
            <a:extLst>
              <a:ext uri="{FF2B5EF4-FFF2-40B4-BE49-F238E27FC236}">
                <a16:creationId xmlns:a16="http://schemas.microsoft.com/office/drawing/2014/main" id="{A06C7D0C-F1A7-4304-8AF0-AFB5F7148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>
              <a:buNone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42" name="PlaceHolder 3">
            <a:extLst>
              <a:ext uri="{FF2B5EF4-FFF2-40B4-BE49-F238E27FC236}">
                <a16:creationId xmlns:a16="http://schemas.microsoft.com/office/drawing/2014/main" id="{D9616DFE-8B63-48CD-BEC5-7161D701F43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815538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0.png"/><Relationship Id="rId21" Type="http://schemas.openxmlformats.org/officeDocument/2006/relationships/image" Target="../media/image1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image" Target="../media/image19.jpe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19" Type="http://schemas.openxmlformats.org/officeDocument/2006/relationships/image" Target="../media/image36.jpe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3" Type="http://schemas.openxmlformats.org/officeDocument/2006/relationships/image" Target="../media/image50.jpe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62.png"/><Relationship Id="rId10" Type="http://schemas.openxmlformats.org/officeDocument/2006/relationships/image" Target="../media/image57.png"/><Relationship Id="rId19" Type="http://schemas.openxmlformats.org/officeDocument/2006/relationships/image" Target="../media/image66.jpe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19.jpeg"/><Relationship Id="rId21" Type="http://schemas.openxmlformats.org/officeDocument/2006/relationships/image" Target="../media/image37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32.png"/><Relationship Id="rId20" Type="http://schemas.openxmlformats.org/officeDocument/2006/relationships/image" Target="../media/image36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Relationship Id="rId22" Type="http://schemas.openxmlformats.org/officeDocument/2006/relationships/image" Target="../media/image67.jpe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3" Type="http://schemas.openxmlformats.org/officeDocument/2006/relationships/image" Target="../media/image68.jpeg"/><Relationship Id="rId21" Type="http://schemas.openxmlformats.org/officeDocument/2006/relationships/image" Target="../media/image17.png"/><Relationship Id="rId7" Type="http://schemas.openxmlformats.org/officeDocument/2006/relationships/image" Target="../media/image5.png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5" Type="http://schemas.openxmlformats.org/officeDocument/2006/relationships/image" Target="../media/image67.jpe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71.png"/><Relationship Id="rId24" Type="http://schemas.openxmlformats.org/officeDocument/2006/relationships/image" Target="../media/image74.png"/><Relationship Id="rId5" Type="http://schemas.openxmlformats.org/officeDocument/2006/relationships/image" Target="../media/image70.png"/><Relationship Id="rId15" Type="http://schemas.openxmlformats.org/officeDocument/2006/relationships/image" Target="../media/image11.png"/><Relationship Id="rId23" Type="http://schemas.openxmlformats.org/officeDocument/2006/relationships/image" Target="../media/image73.png"/><Relationship Id="rId10" Type="http://schemas.openxmlformats.org/officeDocument/2006/relationships/image" Target="../media/image3.png"/><Relationship Id="rId19" Type="http://schemas.openxmlformats.org/officeDocument/2006/relationships/image" Target="../media/image15.png"/><Relationship Id="rId4" Type="http://schemas.openxmlformats.org/officeDocument/2006/relationships/image" Target="../media/image69.png"/><Relationship Id="rId9" Type="http://schemas.openxmlformats.org/officeDocument/2006/relationships/image" Target="../media/image7.png"/><Relationship Id="rId14" Type="http://schemas.openxmlformats.org/officeDocument/2006/relationships/image" Target="../media/image10.png"/><Relationship Id="rId22" Type="http://schemas.openxmlformats.org/officeDocument/2006/relationships/image" Target="../media/image7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E3E6E53-497A-478D-8F42-31FCD1692C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672861-F700-4688-956F-2AFB8ADFF7DC}"/>
              </a:ext>
            </a:extLst>
          </p:cNvPr>
          <p:cNvSpPr>
            <a:spLocks noGrp="1"/>
          </p:cNvSpPr>
          <p:nvPr/>
        </p:nvSpPr>
        <p:spPr>
          <a:xfrm>
            <a:off x="7543800" y="0"/>
            <a:ext cx="4648200" cy="685800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CB4D01-FA77-4989-A786-A70E0C8674EE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6858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2026</a:t>
            </a:r>
            <a:r>
              <a:rPr lang="en-US" sz="1050" b="0" dirty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 MBC</a:t>
            </a:r>
            <a:r>
              <a:rPr lang="ko-KR" altLang="en-US" sz="1050" b="0" dirty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아카데미</a:t>
            </a:r>
            <a:r>
              <a:rPr sz="1050" b="0" dirty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 AI+X </a:t>
            </a:r>
            <a:r>
              <a:rPr sz="1050" b="0" dirty="0" err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팀별</a:t>
            </a:r>
            <a:r>
              <a:rPr sz="1050" b="0" dirty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프로젝트</a:t>
            </a:r>
            <a:r>
              <a:rPr sz="1050" b="0" dirty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결과보고서</a:t>
            </a:r>
            <a:endParaRPr sz="1050" b="0" dirty="0">
              <a:solidFill>
                <a:srgbClr val="1868B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965070-DDD2-46FC-B374-B0776C509BA9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57150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64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64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CSR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6726D2-E5CB-4A6A-80EC-CF55FBAE9F80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6429375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 dirty="0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Case Share Room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D1FA1B-8392-402F-A03E-DD1F10B11F68}"/>
              </a:ext>
            </a:extLst>
          </p:cNvPr>
          <p:cNvSpPr>
            <a:spLocks noGrp="1"/>
          </p:cNvSpPr>
          <p:nvPr/>
        </p:nvSpPr>
        <p:spPr>
          <a:xfrm>
            <a:off x="704850" y="3514725"/>
            <a:ext cx="62865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 dirty="0" err="1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보이스피싱</a:t>
            </a:r>
            <a:r>
              <a:rPr sz="2025" b="0" dirty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025" b="0" dirty="0" err="1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탐지</a:t>
            </a:r>
            <a:r>
              <a:rPr sz="2025" b="0" dirty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025" b="0" dirty="0" err="1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이후의</a:t>
            </a:r>
            <a:r>
              <a:rPr lang="en-US" sz="2025" b="0" dirty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025" b="0" dirty="0" err="1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조사와</a:t>
            </a:r>
            <a:r>
              <a:rPr sz="2025" b="0" dirty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025" b="0" dirty="0" err="1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고객</a:t>
            </a:r>
            <a:r>
              <a:rPr sz="2025" b="0" dirty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2025" b="0" dirty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소통</a:t>
            </a:r>
            <a:r>
              <a:rPr sz="2025" b="0" dirty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을</a:t>
            </a:r>
          </a:p>
          <a:p>
            <a:pPr algn="l">
              <a:defRPr sz="20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 dirty="0" err="1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하나의</a:t>
            </a:r>
            <a:r>
              <a:rPr lang="en-US" sz="2025" b="0" dirty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2025" b="0" dirty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공간에서</a:t>
            </a:r>
            <a:r>
              <a:rPr lang="en-US" sz="2025" b="0" dirty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2025" b="0" dirty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대응 할 수 있는 </a:t>
            </a:r>
            <a:r>
              <a:rPr lang="en-US" altLang="ko-KR" sz="2025" b="0" dirty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AI </a:t>
            </a:r>
            <a:r>
              <a:rPr lang="ko-KR" altLang="en-US" sz="2025" b="0" dirty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협업 워크스페이스</a:t>
            </a:r>
            <a:endParaRPr sz="2025" b="0" dirty="0">
              <a:solidFill>
                <a:srgbClr val="162B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03642E-0837-432B-B463-6D168CA3A53E}"/>
              </a:ext>
            </a:extLst>
          </p:cNvPr>
          <p:cNvSpPr>
            <a:spLocks noGrp="1"/>
          </p:cNvSpPr>
          <p:nvPr/>
        </p:nvSpPr>
        <p:spPr>
          <a:xfrm>
            <a:off x="685800" y="5210175"/>
            <a:ext cx="5810250" cy="1905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1AD055-1EBE-42F2-ACE8-E1447DC461DA}"/>
              </a:ext>
            </a:extLst>
          </p:cNvPr>
          <p:cNvSpPr>
            <a:spLocks noGrp="1"/>
          </p:cNvSpPr>
          <p:nvPr/>
        </p:nvSpPr>
        <p:spPr>
          <a:xfrm>
            <a:off x="695325" y="5410200"/>
            <a:ext cx="61912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dirty="0" err="1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팀명</a:t>
            </a:r>
            <a:r>
              <a:rPr sz="1575" b="0" dirty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sz="1575" b="0" dirty="0" err="1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우리의</a:t>
            </a:r>
            <a:r>
              <a:rPr sz="1575" b="0" dirty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75" b="0" dirty="0" err="1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사회적</a:t>
            </a:r>
            <a:r>
              <a:rPr sz="1575" b="0" dirty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75" b="0" dirty="0" err="1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책임</a:t>
            </a:r>
            <a:endParaRPr sz="1575" b="0" dirty="0">
              <a:solidFill>
                <a:srgbClr val="516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62ECC0-0C04-49A3-950F-E07E4B70BB35}"/>
              </a:ext>
            </a:extLst>
          </p:cNvPr>
          <p:cNvSpPr>
            <a:spLocks noGrp="1"/>
          </p:cNvSpPr>
          <p:nvPr/>
        </p:nvSpPr>
        <p:spPr>
          <a:xfrm>
            <a:off x="695325" y="5800725"/>
            <a:ext cx="61912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dirty="0" err="1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프로젝트</a:t>
            </a:r>
            <a:r>
              <a:rPr sz="1275" b="0" dirty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75" b="0" dirty="0" err="1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기간</a:t>
            </a:r>
            <a:r>
              <a:rPr sz="1275" b="0" dirty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  2026.08.20 ~ </a:t>
            </a:r>
            <a:r>
              <a:rPr lang="en-US" altLang="ko-KR" sz="1275" b="0" dirty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2026.09.30</a:t>
            </a:r>
            <a:endParaRPr sz="1275" b="0" dirty="0">
              <a:solidFill>
                <a:srgbClr val="698099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475B1D-1364-4743-9949-E054BA826597}"/>
              </a:ext>
            </a:extLst>
          </p:cNvPr>
          <p:cNvSpPr>
            <a:spLocks noGrp="1"/>
          </p:cNvSpPr>
          <p:nvPr/>
        </p:nvSpPr>
        <p:spPr>
          <a:xfrm>
            <a:off x="7934325" y="1352550"/>
            <a:ext cx="3524250" cy="403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보이스피싱 정황 확인</a:t>
            </a:r>
            <a:endParaRPr lang="en-US" altLang="ko-KR" sz="27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endParaRPr lang="ko-KR" altLang="en-US" sz="27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조치 가이드 제공</a:t>
            </a:r>
            <a:endParaRPr lang="en-US" altLang="ko-KR" sz="27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endParaRPr lang="en-US" altLang="ko-KR" sz="27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 </a:t>
            </a:r>
            <a:r>
              <a:rPr lang="ko-KR" altLang="en-US"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협업 워크스페이스</a:t>
            </a:r>
            <a:endParaRPr lang="en-US" altLang="ko-KR" sz="27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608729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D43A9274-2CE1-43B8-A95D-6754EF16C6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49A1DE-ED85-45D3-9D13-F55B26B7D6F4}"/>
              </a:ext>
            </a:extLst>
          </p:cNvPr>
          <p:cNvSpPr>
            <a:spLocks noGrp="1"/>
          </p:cNvSpPr>
          <p:nvPr/>
        </p:nvSpPr>
        <p:spPr>
          <a:xfrm>
            <a:off x="609600" y="450055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CONTENTS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F95244-E5BB-47BC-8972-80611F199D3F}"/>
              </a:ext>
            </a:extLst>
          </p:cNvPr>
          <p:cNvSpPr>
            <a:spLocks noGrp="1"/>
          </p:cNvSpPr>
          <p:nvPr/>
        </p:nvSpPr>
        <p:spPr>
          <a:xfrm>
            <a:off x="609600" y="862012"/>
            <a:ext cx="109537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1" dirty="0" err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목차</a:t>
            </a:r>
            <a:endParaRPr sz="4800" b="1" dirty="0">
              <a:solidFill>
                <a:srgbClr val="112B5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B46061-6D6E-40EA-99F1-E9EEE4119938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1905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4D8665-8E72-4010-872A-1104E00D3CBA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CSR   CASE SHARE ROOM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390F91-01AD-4E52-9AB6-3CCF03241CB7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61D028-5D74-42FB-A50D-CCDC552D6926}"/>
              </a:ext>
            </a:extLst>
          </p:cNvPr>
          <p:cNvSpPr>
            <a:spLocks noGrp="1"/>
          </p:cNvSpPr>
          <p:nvPr/>
        </p:nvSpPr>
        <p:spPr>
          <a:xfrm>
            <a:off x="723900" y="2419350"/>
            <a:ext cx="10687050" cy="1905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C25A88-154B-4D22-A234-7C5D69A44E29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571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dirty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0D6A06-C20F-4F80-921C-DEE5C8E50D96}"/>
              </a:ext>
            </a:extLst>
          </p:cNvPr>
          <p:cNvSpPr>
            <a:spLocks noGrp="1"/>
          </p:cNvSpPr>
          <p:nvPr/>
        </p:nvSpPr>
        <p:spPr>
          <a:xfrm>
            <a:off x="1524000" y="1752600"/>
            <a:ext cx="4667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 dirty="0" err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프로젝트</a:t>
            </a:r>
            <a:r>
              <a:rPr sz="1950" b="1" dirty="0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950" b="1" dirty="0" err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개요</a:t>
            </a:r>
            <a:endParaRPr sz="1950" b="1" dirty="0">
              <a:solidFill>
                <a:srgbClr val="112B5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A1CD75-EDB1-4C92-B389-0D603934F981}"/>
              </a:ext>
            </a:extLst>
          </p:cNvPr>
          <p:cNvSpPr>
            <a:spLocks noGrp="1"/>
          </p:cNvSpPr>
          <p:nvPr/>
        </p:nvSpPr>
        <p:spPr>
          <a:xfrm>
            <a:off x="6069666" y="1752600"/>
            <a:ext cx="5446059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500" dirty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현행 체계와 기획 배경 </a:t>
            </a:r>
            <a:r>
              <a:rPr lang="en-US" altLang="ko-KR" sz="1500" dirty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/ </a:t>
            </a:r>
            <a:r>
              <a:rPr lang="ko-KR" altLang="en-US" sz="1500" b="0" dirty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서비스 소개 </a:t>
            </a:r>
            <a:r>
              <a:rPr lang="en-US" altLang="ko-KR" sz="1500" b="0" dirty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/ </a:t>
            </a:r>
            <a:r>
              <a:rPr lang="ko-KR" altLang="en-US" sz="1500" b="0" dirty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제한 사항 및 구현 범위</a:t>
            </a:r>
            <a:endParaRPr lang="en-US" sz="1500" b="0" dirty="0">
              <a:solidFill>
                <a:srgbClr val="516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2DB778-16A6-4AAC-810D-0DB7EBFA14C1}"/>
              </a:ext>
            </a:extLst>
          </p:cNvPr>
          <p:cNvSpPr>
            <a:spLocks noGrp="1"/>
          </p:cNvSpPr>
          <p:nvPr/>
        </p:nvSpPr>
        <p:spPr>
          <a:xfrm>
            <a:off x="723900" y="3257550"/>
            <a:ext cx="10687050" cy="1905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21251E-05DE-4540-B3B0-CFB1A1D93A82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571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dirty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28D13F-7132-40CB-AD78-8FBC64445033}"/>
              </a:ext>
            </a:extLst>
          </p:cNvPr>
          <p:cNvSpPr>
            <a:spLocks noGrp="1"/>
          </p:cNvSpPr>
          <p:nvPr/>
        </p:nvSpPr>
        <p:spPr>
          <a:xfrm>
            <a:off x="1524000" y="2590800"/>
            <a:ext cx="4667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950" b="1" dirty="0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팀 역할 및 수행 일정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376685-C7B1-4CF8-924B-F42EAB816FFB}"/>
              </a:ext>
            </a:extLst>
          </p:cNvPr>
          <p:cNvSpPr>
            <a:spLocks noGrp="1"/>
          </p:cNvSpPr>
          <p:nvPr/>
        </p:nvSpPr>
        <p:spPr>
          <a:xfrm>
            <a:off x="6069666" y="2590800"/>
            <a:ext cx="5446059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dirty="0" err="1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팀원별</a:t>
            </a:r>
            <a:r>
              <a:rPr sz="1500" b="0" dirty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 주 </a:t>
            </a:r>
            <a:r>
              <a:rPr sz="1500" b="0" dirty="0" err="1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책임과</a:t>
            </a:r>
            <a:r>
              <a:rPr sz="1500" b="0" dirty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기여</a:t>
            </a:r>
            <a:r>
              <a:rPr lang="en-US" sz="1500" b="0" dirty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 /</a:t>
            </a:r>
            <a:r>
              <a:rPr lang="en-US" sz="1500" dirty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500" dirty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협업 구조 </a:t>
            </a:r>
            <a:r>
              <a:rPr lang="en-US" altLang="ko-KR" sz="1500" dirty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/ </a:t>
            </a:r>
            <a:r>
              <a:rPr lang="ko-KR" altLang="en-US" sz="1500" dirty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수행 일정</a:t>
            </a:r>
            <a:endParaRPr sz="1500" b="0" dirty="0">
              <a:solidFill>
                <a:srgbClr val="516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F296BB-2BB1-47A9-82FD-D18949261AEA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10687050" cy="1905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611987-F311-430E-B35E-CF438BBEE42C}"/>
              </a:ext>
            </a:extLst>
          </p:cNvPr>
          <p:cNvSpPr>
            <a:spLocks noGrp="1"/>
          </p:cNvSpPr>
          <p:nvPr/>
        </p:nvSpPr>
        <p:spPr>
          <a:xfrm>
            <a:off x="742950" y="3429000"/>
            <a:ext cx="571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80454B-5E79-4172-8CD8-31DC8CD3C2F7}"/>
              </a:ext>
            </a:extLst>
          </p:cNvPr>
          <p:cNvSpPr>
            <a:spLocks noGrp="1"/>
          </p:cNvSpPr>
          <p:nvPr/>
        </p:nvSpPr>
        <p:spPr>
          <a:xfrm>
            <a:off x="1524000" y="3429000"/>
            <a:ext cx="4667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950" b="1" dirty="0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상세</a:t>
            </a:r>
            <a:r>
              <a:rPr sz="1950" b="1" dirty="0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950" b="1" dirty="0" err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수행</a:t>
            </a:r>
            <a:r>
              <a:rPr sz="1950" b="1" dirty="0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950" b="1" dirty="0" err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절차</a:t>
            </a:r>
            <a:r>
              <a:rPr sz="1950" b="1" dirty="0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 및 </a:t>
            </a:r>
            <a:r>
              <a:rPr sz="1950" b="1" dirty="0" err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방법</a:t>
            </a:r>
            <a:endParaRPr sz="1950" b="1" dirty="0">
              <a:solidFill>
                <a:srgbClr val="112B5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4EFC7F-68CC-403D-BAFC-71B07D2E3EAC}"/>
              </a:ext>
            </a:extLst>
          </p:cNvPr>
          <p:cNvSpPr>
            <a:spLocks noGrp="1"/>
          </p:cNvSpPr>
          <p:nvPr/>
        </p:nvSpPr>
        <p:spPr>
          <a:xfrm>
            <a:off x="6069666" y="3429000"/>
            <a:ext cx="5446059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dirty="0" err="1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기획</a:t>
            </a:r>
            <a:r>
              <a:rPr lang="en-US" sz="1500" b="0" dirty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 /</a:t>
            </a:r>
            <a:r>
              <a:rPr sz="1500" b="0" dirty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500" b="0" dirty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기능 </a:t>
            </a:r>
            <a:r>
              <a:rPr sz="1500" b="0" dirty="0" err="1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구현</a:t>
            </a:r>
            <a:r>
              <a:rPr lang="en-US" sz="1500" b="0" dirty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 /</a:t>
            </a:r>
            <a:r>
              <a:rPr sz="1500" b="0" dirty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고도화</a:t>
            </a:r>
            <a:r>
              <a:rPr lang="en-US" sz="1500" b="0" dirty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500" b="0" dirty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과정 </a:t>
            </a:r>
            <a:r>
              <a:rPr lang="en-US" altLang="ko-KR" sz="1500" b="0" dirty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/ </a:t>
            </a:r>
            <a:r>
              <a:rPr lang="ko-KR" altLang="en-US" sz="1500" b="0" dirty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개선 사항</a:t>
            </a:r>
            <a:endParaRPr sz="1500" b="0" dirty="0">
              <a:solidFill>
                <a:srgbClr val="516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68C70F-2FF7-4711-8E2A-9C2374481D7D}"/>
              </a:ext>
            </a:extLst>
          </p:cNvPr>
          <p:cNvSpPr>
            <a:spLocks noGrp="1"/>
          </p:cNvSpPr>
          <p:nvPr/>
        </p:nvSpPr>
        <p:spPr>
          <a:xfrm>
            <a:off x="723900" y="4933950"/>
            <a:ext cx="10687050" cy="1905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7F753C-A885-4745-83A2-0C1F7091F078}"/>
              </a:ext>
            </a:extLst>
          </p:cNvPr>
          <p:cNvSpPr>
            <a:spLocks noGrp="1"/>
          </p:cNvSpPr>
          <p:nvPr/>
        </p:nvSpPr>
        <p:spPr>
          <a:xfrm>
            <a:off x="742950" y="4267200"/>
            <a:ext cx="571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ED2231-AB8F-4227-8627-272AED0498CB}"/>
              </a:ext>
            </a:extLst>
          </p:cNvPr>
          <p:cNvSpPr>
            <a:spLocks noGrp="1"/>
          </p:cNvSpPr>
          <p:nvPr/>
        </p:nvSpPr>
        <p:spPr>
          <a:xfrm>
            <a:off x="1524000" y="4267200"/>
            <a:ext cx="4667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950" b="1" dirty="0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시나리오 기반 제작물 시연</a:t>
            </a:r>
            <a:endParaRPr sz="1950" b="1" dirty="0">
              <a:solidFill>
                <a:srgbClr val="112B5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50D26A-CD3F-4898-9038-678B49C5CE84}"/>
              </a:ext>
            </a:extLst>
          </p:cNvPr>
          <p:cNvSpPr>
            <a:spLocks noGrp="1"/>
          </p:cNvSpPr>
          <p:nvPr/>
        </p:nvSpPr>
        <p:spPr>
          <a:xfrm>
            <a:off x="6069666" y="4267200"/>
            <a:ext cx="5446059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500" b="0" dirty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대표 사건</a:t>
            </a:r>
            <a:r>
              <a:rPr sz="1500" b="0" dirty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500" b="0" dirty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발생 이후 시나리오 시연</a:t>
            </a:r>
            <a:endParaRPr sz="1500" b="0" dirty="0">
              <a:solidFill>
                <a:srgbClr val="516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61BA464-D630-4D7D-96C5-267FC31BC382}"/>
              </a:ext>
            </a:extLst>
          </p:cNvPr>
          <p:cNvSpPr>
            <a:spLocks noGrp="1"/>
          </p:cNvSpPr>
          <p:nvPr/>
        </p:nvSpPr>
        <p:spPr>
          <a:xfrm>
            <a:off x="723900" y="5772150"/>
            <a:ext cx="10687050" cy="1905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9D9DB9-DE92-45D9-ABB5-8DC1638CB4D2}"/>
              </a:ext>
            </a:extLst>
          </p:cNvPr>
          <p:cNvSpPr>
            <a:spLocks noGrp="1"/>
          </p:cNvSpPr>
          <p:nvPr/>
        </p:nvSpPr>
        <p:spPr>
          <a:xfrm>
            <a:off x="742950" y="5105400"/>
            <a:ext cx="571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2617BA-B154-4A99-AA5E-794A14027BCD}"/>
              </a:ext>
            </a:extLst>
          </p:cNvPr>
          <p:cNvSpPr>
            <a:spLocks noGrp="1"/>
          </p:cNvSpPr>
          <p:nvPr/>
        </p:nvSpPr>
        <p:spPr>
          <a:xfrm>
            <a:off x="1524000" y="5105400"/>
            <a:ext cx="4667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 dirty="0" err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자체</a:t>
            </a:r>
            <a:r>
              <a:rPr sz="1950" b="1" dirty="0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950" b="1" dirty="0" err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평가</a:t>
            </a:r>
            <a:r>
              <a:rPr sz="1950" b="1" dirty="0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950" b="1" dirty="0" err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의견</a:t>
            </a:r>
            <a:endParaRPr sz="1950" b="1" dirty="0">
              <a:solidFill>
                <a:srgbClr val="112B5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DAB3F4-BF0C-479F-B563-861A79451D78}"/>
              </a:ext>
            </a:extLst>
          </p:cNvPr>
          <p:cNvSpPr>
            <a:spLocks noGrp="1"/>
          </p:cNvSpPr>
          <p:nvPr/>
        </p:nvSpPr>
        <p:spPr>
          <a:xfrm>
            <a:off x="6069666" y="5105400"/>
            <a:ext cx="5446059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dirty="0" err="1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달성도</a:t>
            </a:r>
            <a:r>
              <a:rPr lang="en-US" sz="1500" dirty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 /</a:t>
            </a:r>
            <a:r>
              <a:rPr sz="1500" b="0" dirty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한계</a:t>
            </a:r>
            <a:r>
              <a:rPr lang="en-US" sz="1500" b="0" dirty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 /</a:t>
            </a:r>
            <a:r>
              <a:rPr sz="1500" b="0" dirty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향후</a:t>
            </a:r>
            <a:r>
              <a:rPr sz="1500" b="0" dirty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과제</a:t>
            </a:r>
            <a:endParaRPr sz="1500" b="0" dirty="0">
              <a:solidFill>
                <a:srgbClr val="51647B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089059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C6A478D-D7D5-4BCE-A669-00DDE9E2445B}"/>
              </a:ext>
            </a:extLst>
          </p:cNvPr>
          <p:cNvSpPr>
            <a:spLocks noGrp="1"/>
          </p:cNvSpPr>
          <p:nvPr/>
        </p:nvSpPr>
        <p:spPr>
          <a:xfrm>
            <a:off x="0" y="3428998"/>
            <a:ext cx="12192000" cy="3429001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69D76B-FF6F-42B9-9C25-C156033196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5FD892-577E-4DBE-A0CB-75EF5A21A3AC}"/>
              </a:ext>
            </a:extLst>
          </p:cNvPr>
          <p:cNvSpPr>
            <a:spLocks noGrp="1"/>
          </p:cNvSpPr>
          <p:nvPr/>
        </p:nvSpPr>
        <p:spPr>
          <a:xfrm>
            <a:off x="3400425" y="2349593"/>
            <a:ext cx="53911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9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sz="4800" b="1" dirty="0">
                <a:solidFill>
                  <a:srgbClr val="053365"/>
                </a:solidFill>
                <a:latin typeface="Noto Sans KR"/>
                <a:ea typeface="Noto Sans KR"/>
                <a:cs typeface="Noto Sans KR"/>
              </a:rPr>
              <a:t>01 </a:t>
            </a:r>
            <a:r>
              <a:rPr sz="4800" b="1" dirty="0" err="1">
                <a:solidFill>
                  <a:srgbClr val="053365"/>
                </a:solidFill>
                <a:latin typeface="Noto Sans KR"/>
                <a:ea typeface="Noto Sans KR"/>
                <a:cs typeface="Noto Sans KR"/>
              </a:rPr>
              <a:t>프로젝트</a:t>
            </a:r>
            <a:r>
              <a:rPr sz="4800" b="1" dirty="0">
                <a:solidFill>
                  <a:srgbClr val="053365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4800" b="1" dirty="0" err="1">
                <a:solidFill>
                  <a:srgbClr val="053365"/>
                </a:solidFill>
                <a:latin typeface="Noto Sans KR"/>
                <a:ea typeface="Noto Sans KR"/>
                <a:cs typeface="Noto Sans KR"/>
              </a:rPr>
              <a:t>개요</a:t>
            </a:r>
            <a:endParaRPr sz="4800" b="1" dirty="0">
              <a:solidFill>
                <a:srgbClr val="053365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A4000A-6887-471F-A553-42D028595F49}"/>
              </a:ext>
            </a:extLst>
          </p:cNvPr>
          <p:cNvSpPr>
            <a:spLocks noGrp="1"/>
          </p:cNvSpPr>
          <p:nvPr/>
        </p:nvSpPr>
        <p:spPr>
          <a:xfrm>
            <a:off x="1847850" y="3857064"/>
            <a:ext cx="8496300" cy="2139203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50000"/>
              </a:lnSpc>
              <a:defRPr sz="1500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2200" b="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현행 체계와 기획 배경 </a:t>
            </a:r>
            <a:endParaRPr lang="en-US" altLang="ko-KR" sz="2200" b="0" dirty="0">
              <a:solidFill>
                <a:schemeClr val="bg1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lnSpc>
                <a:spcPct val="150000"/>
              </a:lnSpc>
              <a:defRPr sz="1500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2200" b="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CSR </a:t>
            </a:r>
            <a:r>
              <a:rPr lang="ko-KR" altLang="en-US" sz="2200" b="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서비스 소개 </a:t>
            </a:r>
            <a:endParaRPr lang="en-US" altLang="ko-KR" sz="2200" b="0" dirty="0">
              <a:solidFill>
                <a:schemeClr val="bg1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lnSpc>
                <a:spcPct val="150000"/>
              </a:lnSpc>
              <a:defRPr sz="1500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2200" b="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제한 사항 및 구현 범위</a:t>
            </a:r>
          </a:p>
        </p:txBody>
      </p:sp>
    </p:spTree>
    <p:extLst>
      <p:ext uri="{BB962C8B-B14F-4D97-AF65-F5344CB8AC3E}">
        <p14:creationId xmlns:p14="http://schemas.microsoft.com/office/powerpoint/2010/main" val="2401252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6E8D74D-AC22-40D6-AD00-C60A385F8DA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0" r="5720"/>
          <a:stretch/>
        </p:blipFill>
        <p:spPr>
          <a:xfrm>
            <a:off x="0" y="-12700"/>
            <a:ext cx="12192000" cy="6883400"/>
          </a:xfrm>
          <a:prstGeom prst="rect">
            <a:avLst/>
          </a:prstGeom>
        </p:spPr>
      </p:pic>
      <p:sp>
        <p:nvSpPr>
          <p:cNvPr id="13" name="Shape 0">
            <a:extLst>
              <a:ext uri="{FF2B5EF4-FFF2-40B4-BE49-F238E27FC236}">
                <a16:creationId xmlns:a16="http://schemas.microsoft.com/office/drawing/2014/main" id="{513B6724-1F32-4AB3-95A3-5DF13A0497F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30000"/>
            </a:schemeClr>
          </a:solidFill>
          <a:ln w="12700">
            <a:solidFill>
              <a:srgbClr val="0E2746"/>
            </a:solidFill>
            <a:prstDash val="solid"/>
          </a:ln>
        </p:spPr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1842F57-B99E-45AA-9322-69849BDD5513}"/>
              </a:ext>
            </a:extLst>
          </p:cNvPr>
          <p:cNvGrpSpPr/>
          <p:nvPr/>
        </p:nvGrpSpPr>
        <p:grpSpPr>
          <a:xfrm>
            <a:off x="676209" y="614224"/>
            <a:ext cx="10701275" cy="5835195"/>
            <a:chOff x="676209" y="626924"/>
            <a:chExt cx="10701275" cy="583519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28ADCEB-E50C-42A8-8F4D-A33A939F0E5D}"/>
                </a:ext>
              </a:extLst>
            </p:cNvPr>
            <p:cNvSpPr txBox="1"/>
            <p:nvPr/>
          </p:nvSpPr>
          <p:spPr>
            <a:xfrm>
              <a:off x="1965325" y="626924"/>
              <a:ext cx="827405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ko-KR" altLang="en-US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사람의 불안과 취약점을 이용해</a:t>
              </a:r>
              <a:r>
                <a:rPr lang="en-US" altLang="ko-KR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ko-KR" altLang="en-US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→ </a:t>
              </a:r>
              <a:r>
                <a:rPr lang="ko-KR" altLang="en-US" b="1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잘못된 판단을 유도하는 금융 범죄</a:t>
              </a:r>
            </a:p>
            <a:p>
              <a:pPr algn="ctr"/>
              <a:r>
                <a:rPr lang="ko-KR" altLang="en-US" sz="5400" b="1" dirty="0">
                  <a:solidFill>
                    <a:schemeClr val="bg1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보이스피싱 </a:t>
              </a:r>
              <a:r>
                <a:rPr lang="en-US" altLang="ko-KR" sz="54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vs </a:t>
              </a:r>
              <a:r>
                <a:rPr lang="ko-KR" altLang="en-US" sz="54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대응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82EADBD-3891-42CD-8D93-52D2B87ED37A}"/>
                </a:ext>
              </a:extLst>
            </p:cNvPr>
            <p:cNvSpPr txBox="1"/>
            <p:nvPr/>
          </p:nvSpPr>
          <p:spPr>
            <a:xfrm>
              <a:off x="2749550" y="5261790"/>
              <a:ext cx="6689852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ko-KR" altLang="en-US" sz="1400" dirty="0">
                  <a:solidFill>
                    <a:schemeClr val="bg1"/>
                  </a:solidFill>
                  <a:latin typeface="NanumSquare Bold" panose="020B0600000101010101" pitchFamily="50" charset="-127"/>
                  <a:ea typeface="NanumSquare Bold" panose="020B0600000101010101" pitchFamily="50" charset="-127"/>
                </a:rPr>
                <a:t>딥페이크</a:t>
              </a:r>
              <a:r>
                <a:rPr lang="en-US" altLang="ko-KR" sz="1400" dirty="0">
                  <a:solidFill>
                    <a:schemeClr val="bg1"/>
                  </a:solidFill>
                  <a:latin typeface="NanumSquare Bold" panose="020B0600000101010101" pitchFamily="50" charset="-127"/>
                  <a:ea typeface="NanumSquare Bold" panose="020B0600000101010101" pitchFamily="50" charset="-127"/>
                </a:rPr>
                <a:t>, </a:t>
              </a:r>
              <a:r>
                <a:rPr lang="ko-KR" altLang="en-US" sz="1400" dirty="0">
                  <a:solidFill>
                    <a:schemeClr val="bg1"/>
                  </a:solidFill>
                  <a:latin typeface="NanumSquare Bold" panose="020B0600000101010101" pitchFamily="50" charset="-127"/>
                  <a:ea typeface="NanumSquare Bold" panose="020B0600000101010101" pitchFamily="50" charset="-127"/>
                </a:rPr>
                <a:t>전화 가로채기</a:t>
              </a:r>
              <a:r>
                <a:rPr lang="en-US" altLang="ko-KR" sz="1400" dirty="0">
                  <a:solidFill>
                    <a:schemeClr val="bg1"/>
                  </a:solidFill>
                  <a:latin typeface="NanumSquare Bold" panose="020B0600000101010101" pitchFamily="50" charset="-127"/>
                  <a:ea typeface="NanumSquare Bold" panose="020B0600000101010101" pitchFamily="50" charset="-127"/>
                </a:rPr>
                <a:t>… </a:t>
              </a:r>
              <a:r>
                <a:rPr lang="ko-KR" altLang="en-US" sz="1400" dirty="0">
                  <a:solidFill>
                    <a:schemeClr val="bg1"/>
                  </a:solidFill>
                  <a:latin typeface="NanumSquare Bold" panose="020B0600000101010101" pitchFamily="50" charset="-127"/>
                  <a:ea typeface="NanumSquare Bold" panose="020B0600000101010101" pitchFamily="50" charset="-127"/>
                </a:rPr>
                <a:t>끝없이 발전하는 수법</a:t>
              </a:r>
              <a:r>
                <a:rPr lang="en-US" altLang="ko-KR" sz="1400" dirty="0">
                  <a:solidFill>
                    <a:schemeClr val="bg1"/>
                  </a:solidFill>
                  <a:latin typeface="NanumSquare Bold" panose="020B0600000101010101" pitchFamily="50" charset="-127"/>
                  <a:ea typeface="NanumSquare Bold" panose="020B0600000101010101" pitchFamily="50" charset="-127"/>
                </a:rPr>
                <a:t>!</a:t>
              </a:r>
            </a:p>
            <a:p>
              <a:pPr marL="0" indent="0" algn="ctr">
                <a:buNone/>
              </a:pPr>
              <a:r>
                <a:rPr lang="ko-KR" altLang="en-US" sz="1400" dirty="0">
                  <a:solidFill>
                    <a:schemeClr val="bg1"/>
                  </a:solidFill>
                  <a:latin typeface="NanumSquare Bold" panose="020B0600000101010101" pitchFamily="50" charset="-127"/>
                  <a:ea typeface="NanumSquare Bold" panose="020B0600000101010101" pitchFamily="50" charset="-127"/>
                </a:rPr>
                <a:t>피해를 막기위한 정부와 금융 기관의 끝없는 사투</a:t>
              </a:r>
              <a:r>
                <a:rPr lang="en-US" altLang="ko-KR" sz="1400" dirty="0">
                  <a:solidFill>
                    <a:schemeClr val="bg1"/>
                  </a:solidFill>
                  <a:latin typeface="NanumSquare Bold" panose="020B0600000101010101" pitchFamily="50" charset="-127"/>
                  <a:ea typeface="NanumSquare Bold" panose="020B0600000101010101" pitchFamily="50" charset="-127"/>
                </a:rPr>
                <a:t>!</a:t>
              </a:r>
            </a:p>
            <a:p>
              <a:pPr marL="0" indent="0" algn="ctr">
                <a:buNone/>
              </a:pPr>
              <a:endParaRPr lang="en-US" altLang="ko-KR" sz="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endParaRPr>
            </a:p>
            <a:p>
              <a:pPr marL="0" indent="0" algn="ctr">
                <a:buNone/>
              </a:pPr>
              <a:r>
                <a:rPr lang="ko-KR" altLang="en-US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단 </a:t>
              </a:r>
              <a:r>
                <a:rPr lang="en-US" altLang="ko-KR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1</a:t>
              </a:r>
              <a:r>
                <a:rPr lang="ko-KR" altLang="en-US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원이라도</a:t>
              </a:r>
              <a:r>
                <a:rPr lang="en-US" altLang="ko-KR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단 </a:t>
              </a:r>
              <a:r>
                <a:rPr lang="en-US" altLang="ko-KR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1</a:t>
              </a:r>
              <a:r>
                <a:rPr lang="ko-KR" altLang="en-US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명이라도</a:t>
              </a:r>
              <a:r>
                <a:rPr lang="en-US" altLang="ko-KR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lang="ko-KR" altLang="en-US" sz="2000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더 지키기 위해</a:t>
              </a:r>
              <a:endParaRPr lang="en-US" altLang="ko-KR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endParaRPr>
            </a:p>
            <a:p>
              <a:pPr marL="0" indent="0" algn="ctr">
                <a:buNone/>
              </a:pPr>
              <a:r>
                <a:rPr lang="ko-KR" altLang="en-US" sz="2000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함께 고민하고 해결해야 할 중대한 사회적 문제</a:t>
              </a:r>
              <a:endParaRPr lang="en-US" altLang="ko-KR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9ADD5DB-927E-4576-9A6F-EF9B87C9EA69}"/>
                </a:ext>
              </a:extLst>
            </p:cNvPr>
            <p:cNvSpPr/>
            <p:nvPr/>
          </p:nvSpPr>
          <p:spPr>
            <a:xfrm>
              <a:off x="676209" y="2283933"/>
              <a:ext cx="3359152" cy="545534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노인들에게 ‘100억원’ 뜯어낸 피싱 일당… 112 신고 전화까지 가로챘다 </a:t>
              </a:r>
              <a:r>
                <a:rPr lang="en-US" altLang="ko-KR" sz="1400" b="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400" b="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매일경제</a:t>
              </a:r>
              <a:r>
                <a:rPr lang="en-US" altLang="ko-KR" sz="1400" b="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43EDA0-F05D-4C52-A723-643E3D87EDEC}"/>
                </a:ext>
              </a:extLst>
            </p:cNvPr>
            <p:cNvSpPr/>
            <p:nvPr/>
          </p:nvSpPr>
          <p:spPr>
            <a:xfrm>
              <a:off x="7921497" y="2546886"/>
              <a:ext cx="2936875" cy="545534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보이스피싱 피해액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'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반토막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’… </a:t>
              </a:r>
            </a:p>
            <a:p>
              <a:pPr algn="ctr"/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7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월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337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억원으로 올해 최저</a:t>
              </a:r>
              <a:r>
                <a:rPr lang="ko-KR" altLang="en-US" sz="1400" dirty="0"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400" dirty="0">
                  <a:latin typeface="페이퍼로지 4 Regular" pitchFamily="2" charset="-127"/>
                  <a:ea typeface="페이퍼로지 4 Regular" pitchFamily="2" charset="-127"/>
                </a:rPr>
                <a:t>한국일보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43F7C86-A66C-4412-878D-BBA05B9DA175}"/>
                </a:ext>
              </a:extLst>
            </p:cNvPr>
            <p:cNvSpPr/>
            <p:nvPr/>
          </p:nvSpPr>
          <p:spPr>
            <a:xfrm>
              <a:off x="2093784" y="3150630"/>
              <a:ext cx="3214816" cy="545534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"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오늘 소방점검 나가요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" 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전화에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'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덜컥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’..</a:t>
              </a:r>
            </a:p>
            <a:p>
              <a:pPr algn="ctr"/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알고보니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'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노쇼 보이스피싱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’ 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400" dirty="0">
                  <a:latin typeface="페이퍼로지 4 Regular" pitchFamily="2" charset="-127"/>
                  <a:ea typeface="페이퍼로지 4 Regular" pitchFamily="2" charset="-127"/>
                </a:rPr>
                <a:t>제주방송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BD81DD3-DA06-47E6-8A81-238A4BEB83AC}"/>
                </a:ext>
              </a:extLst>
            </p:cNvPr>
            <p:cNvSpPr/>
            <p:nvPr/>
          </p:nvSpPr>
          <p:spPr>
            <a:xfrm>
              <a:off x="7402384" y="3707421"/>
              <a:ext cx="3975100" cy="545534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경찰청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-KT, 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협업으로 보이스피싱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구매대행 사기 불법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010 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번호 변작 중계소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115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개소 단속 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400" dirty="0">
                  <a:latin typeface="페이퍼로지 4 Regular" pitchFamily="2" charset="-127"/>
                  <a:ea typeface="페이퍼로지 4 Regular" pitchFamily="2" charset="-127"/>
                </a:rPr>
                <a:t>정책브리핑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17E3725-0C33-4292-A88D-07EA5E88446D}"/>
                </a:ext>
              </a:extLst>
            </p:cNvPr>
            <p:cNvSpPr txBox="1"/>
            <p:nvPr/>
          </p:nvSpPr>
          <p:spPr>
            <a:xfrm>
              <a:off x="5421715" y="1945024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B5F2574-374C-4458-803C-1D887BF70E66}"/>
                </a:ext>
              </a:extLst>
            </p:cNvPr>
            <p:cNvSpPr/>
            <p:nvPr/>
          </p:nvSpPr>
          <p:spPr>
            <a:xfrm>
              <a:off x="1269936" y="4023511"/>
              <a:ext cx="2765425" cy="545534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대출 미끼로 계좌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·OTP 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받아 보이스피싱 자금세탁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…3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명 구속 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400" dirty="0">
                  <a:latin typeface="페이퍼로지 4 Regular" pitchFamily="2" charset="-127"/>
                  <a:ea typeface="페이퍼로지 4 Regular" pitchFamily="2" charset="-127"/>
                </a:rPr>
                <a:t>서울신문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8199A0E-063F-407D-9B60-E4DE2A662045}"/>
              </a:ext>
            </a:extLst>
          </p:cNvPr>
          <p:cNvSpPr txBox="1"/>
          <p:nvPr/>
        </p:nvSpPr>
        <p:spPr>
          <a:xfrm>
            <a:off x="193345" y="89841"/>
            <a:ext cx="2556205" cy="296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000" b="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현행 체계와 기획 배경 </a:t>
            </a:r>
            <a:endParaRPr lang="en-US" altLang="ko-KR" sz="1000" b="0" dirty="0">
              <a:solidFill>
                <a:schemeClr val="bg1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4242581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7">
            <a:extLst>
              <a:ext uri="{FF2B5EF4-FFF2-40B4-BE49-F238E27FC236}">
                <a16:creationId xmlns:a16="http://schemas.microsoft.com/office/drawing/2014/main" id="{B86AB141-D61D-4F98-88E7-DC95CF56A724}"/>
              </a:ext>
            </a:extLst>
          </p:cNvPr>
          <p:cNvSpPr txBox="1"/>
          <p:nvPr/>
        </p:nvSpPr>
        <p:spPr>
          <a:xfrm>
            <a:off x="623063" y="516727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altLang="ko-KR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2025</a:t>
            </a:r>
            <a:r>
              <a:rPr lang="ko-KR" altLang="en-US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년 말 출범 이후 성과를 내고 있는 </a:t>
            </a:r>
            <a:r>
              <a:rPr lang="en-US" altLang="ko-KR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ASAP(</a:t>
            </a:r>
            <a:r>
              <a:rPr lang="ko-KR" altLang="en-US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에이셉</a:t>
            </a:r>
            <a:r>
              <a:rPr lang="en-US" altLang="ko-KR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) </a:t>
            </a:r>
            <a:r>
              <a:rPr lang="ko-KR" altLang="en-US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체계</a:t>
            </a:r>
            <a:endParaRPr lang="en-US" altLang="ko-KR" sz="123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0" name="Text 6">
            <a:extLst>
              <a:ext uri="{FF2B5EF4-FFF2-40B4-BE49-F238E27FC236}">
                <a16:creationId xmlns:a16="http://schemas.microsoft.com/office/drawing/2014/main" id="{26523E4F-4D96-421D-9C85-0DBFC0114F74}"/>
              </a:ext>
            </a:extLst>
          </p:cNvPr>
          <p:cNvSpPr txBox="1"/>
          <p:nvPr/>
        </p:nvSpPr>
        <p:spPr>
          <a:xfrm>
            <a:off x="604264" y="680914"/>
            <a:ext cx="106984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금융위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·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금융보안원 중심 </a:t>
            </a:r>
            <a:r>
              <a:rPr lang="ko-KR" altLang="en-US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보이스피싱 정보 공유</a:t>
            </a:r>
            <a:r>
              <a:rPr lang="en-US" altLang="ko-KR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 </a:t>
            </a:r>
            <a:r>
              <a:rPr lang="ko-KR" altLang="en-US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체계 </a:t>
            </a:r>
            <a:r>
              <a:rPr lang="en-US" altLang="ko-KR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ASAP 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출범 이후</a:t>
            </a:r>
            <a:endParaRPr lang="en-US" altLang="ko-KR" sz="2200" b="1" dirty="0">
              <a:solidFill>
                <a:srgbClr val="10213D"/>
              </a:solidFill>
              <a:latin typeface="페이퍼로지 7 Bold" pitchFamily="2" charset="-127"/>
              <a:ea typeface="페이퍼로지 7 Bold" pitchFamily="2" charset="-127"/>
              <a:cs typeface="NanumSquare Bold" pitchFamily="34" charset="-120"/>
            </a:endParaRPr>
          </a:p>
          <a:p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9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개월간 </a:t>
            </a:r>
            <a:r>
              <a:rPr lang="en-US" altLang="ko-KR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663</a:t>
            </a:r>
            <a:r>
              <a:rPr lang="ko-KR" altLang="en-US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억 </a:t>
            </a:r>
            <a:r>
              <a:rPr lang="en-US" altLang="ko-KR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6000</a:t>
            </a:r>
            <a:r>
              <a:rPr lang="ko-KR" altLang="en-US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만 원 규모의 피해를 사전 차단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하는 실제 성과로 이어졌습니다</a:t>
            </a:r>
            <a:endParaRPr lang="en-US" altLang="ko-KR" sz="2200" b="1" dirty="0">
              <a:solidFill>
                <a:srgbClr val="10213D"/>
              </a:solidFill>
              <a:latin typeface="페이퍼로지 7 Bold" pitchFamily="2" charset="-127"/>
              <a:ea typeface="페이퍼로지 7 Bold" pitchFamily="2" charset="-127"/>
              <a:cs typeface="NanumSquare Bold" pitchFamily="34" charset="-12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10744D3-2F9D-4B31-9CF2-F9C3060180B7}"/>
              </a:ext>
            </a:extLst>
          </p:cNvPr>
          <p:cNvGrpSpPr/>
          <p:nvPr/>
        </p:nvGrpSpPr>
        <p:grpSpPr>
          <a:xfrm>
            <a:off x="558163" y="1687803"/>
            <a:ext cx="5975498" cy="3886691"/>
            <a:chOff x="534543" y="1818173"/>
            <a:chExt cx="5975498" cy="3886691"/>
          </a:xfrm>
        </p:grpSpPr>
        <p:sp>
          <p:nvSpPr>
            <p:cNvPr id="81" name="Shape 8">
              <a:extLst>
                <a:ext uri="{FF2B5EF4-FFF2-40B4-BE49-F238E27FC236}">
                  <a16:creationId xmlns:a16="http://schemas.microsoft.com/office/drawing/2014/main" id="{372E1C90-42E9-4CBF-81B0-76E43E875362}"/>
                </a:ext>
              </a:extLst>
            </p:cNvPr>
            <p:cNvSpPr/>
            <p:nvPr/>
          </p:nvSpPr>
          <p:spPr>
            <a:xfrm>
              <a:off x="534543" y="1818173"/>
              <a:ext cx="5975498" cy="3886691"/>
            </a:xfrm>
            <a:prstGeom prst="roundRect">
              <a:avLst>
                <a:gd name="adj" fmla="val 5818"/>
              </a:avLst>
            </a:prstGeom>
            <a:solidFill>
              <a:srgbClr val="FFFFFF"/>
            </a:solidFill>
            <a:ln w="10160">
              <a:solidFill>
                <a:srgbClr val="DCE8FA"/>
              </a:solidFill>
              <a:prstDash val="solid"/>
            </a:ln>
          </p:spPr>
        </p:sp>
        <p:pic>
          <p:nvPicPr>
            <p:cNvPr id="80" name="그림 7">
              <a:extLst>
                <a:ext uri="{FF2B5EF4-FFF2-40B4-BE49-F238E27FC236}">
                  <a16:creationId xmlns:a16="http://schemas.microsoft.com/office/drawing/2014/main" id="{E668F3AE-32D0-B134-C7D2-A51000B586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006" t="18162" r="3581" b="6222"/>
            <a:stretch/>
          </p:blipFill>
          <p:spPr>
            <a:xfrm>
              <a:off x="687037" y="3267310"/>
              <a:ext cx="5654864" cy="2246478"/>
            </a:xfrm>
            <a:prstGeom prst="rect">
              <a:avLst/>
            </a:prstGeom>
          </p:spPr>
        </p:pic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866EF50-0FEC-4AF4-A807-8A42ED37A943}"/>
                </a:ext>
              </a:extLst>
            </p:cNvPr>
            <p:cNvSpPr txBox="1"/>
            <p:nvPr/>
          </p:nvSpPr>
          <p:spPr>
            <a:xfrm>
              <a:off x="643182" y="1991729"/>
              <a:ext cx="482074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4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보이스피싱 정보공유</a:t>
              </a:r>
              <a:r>
                <a:rPr lang="en-US" altLang="ko-KR" sz="14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·</a:t>
              </a:r>
              <a:r>
                <a:rPr lang="ko-KR" altLang="en-US" sz="14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분석 </a:t>
              </a:r>
              <a:r>
                <a:rPr lang="en-US" altLang="ko-KR" sz="14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AI </a:t>
              </a:r>
              <a:r>
                <a:rPr lang="ko-KR" altLang="en-US" sz="14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플랫폼</a:t>
              </a:r>
              <a:r>
                <a:rPr lang="en-US" altLang="ko-KR" sz="14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(ASAP)</a:t>
              </a:r>
              <a:endParaRPr lang="ko-KR" altLang="en-US" sz="1400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8A72F21-C9A8-43CF-9D50-07139CD417B7}"/>
                </a:ext>
              </a:extLst>
            </p:cNvPr>
            <p:cNvSpPr txBox="1"/>
            <p:nvPr/>
          </p:nvSpPr>
          <p:spPr>
            <a:xfrm>
              <a:off x="643182" y="2300177"/>
              <a:ext cx="579675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latin typeface="페이퍼로지 7 Bold" pitchFamily="2" charset="-127"/>
                  <a:ea typeface="페이퍼로지 7 Bold" pitchFamily="2" charset="-127"/>
                </a:rPr>
                <a:t>출범</a:t>
              </a:r>
              <a:r>
                <a:rPr lang="en-US" altLang="ko-KR" sz="1200" dirty="0"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200" dirty="0">
                  <a:latin typeface="페이퍼로지 7 Bold" pitchFamily="2" charset="-127"/>
                  <a:ea typeface="페이퍼로지 7 Bold" pitchFamily="2" charset="-127"/>
                </a:rPr>
                <a:t>법적 기반</a:t>
              </a:r>
              <a:r>
                <a:rPr lang="en-US" altLang="ko-KR" sz="1200" dirty="0">
                  <a:latin typeface="페이퍼로지 7 Bold" pitchFamily="2" charset="-127"/>
                  <a:ea typeface="페이퍼로지 7 Bold" pitchFamily="2" charset="-127"/>
                </a:rPr>
                <a:t>: </a:t>
              </a:r>
              <a:r>
                <a:rPr lang="en-US" altLang="ko-KR" sz="1200" dirty="0">
                  <a:latin typeface="페이퍼로지 4 Regular" pitchFamily="2" charset="-127"/>
                  <a:ea typeface="페이퍼로지 4 Regular" pitchFamily="2" charset="-127"/>
                </a:rPr>
                <a:t>2025.10 </a:t>
              </a:r>
              <a:r>
                <a:rPr lang="ko-KR" altLang="en-US" sz="1200" dirty="0">
                  <a:latin typeface="페이퍼로지 4 Regular" pitchFamily="2" charset="-127"/>
                  <a:ea typeface="페이퍼로지 4 Regular" pitchFamily="2" charset="-127"/>
                </a:rPr>
                <a:t>출범</a:t>
              </a:r>
              <a:r>
                <a:rPr lang="en-US" altLang="ko-KR" sz="1200" dirty="0">
                  <a:latin typeface="페이퍼로지 4 Regular" pitchFamily="2" charset="-127"/>
                  <a:ea typeface="페이퍼로지 4 Regular" pitchFamily="2" charset="-127"/>
                </a:rPr>
                <a:t>, 2026.08 </a:t>
              </a:r>
              <a:r>
                <a:rPr lang="ko-KR" altLang="en-US" sz="1200" dirty="0">
                  <a:latin typeface="페이퍼로지 4 Regular" pitchFamily="2" charset="-127"/>
                  <a:ea typeface="페이퍼로지 4 Regular" pitchFamily="2" charset="-127"/>
                </a:rPr>
                <a:t>법 개정으로 관계기관 </a:t>
              </a:r>
              <a:r>
                <a:rPr lang="ko-KR" altLang="en-US" sz="1200" dirty="0">
                  <a:solidFill>
                    <a:srgbClr val="EE4344"/>
                  </a:solidFill>
                  <a:latin typeface="페이퍼로지 4 Regular" pitchFamily="2" charset="-127"/>
                  <a:ea typeface="페이퍼로지 4 Regular" pitchFamily="2" charset="-127"/>
                </a:rPr>
                <a:t>의심정보 공동 활용 본격화</a:t>
              </a:r>
            </a:p>
            <a:p>
              <a:r>
                <a:rPr lang="ko-KR" altLang="en-US" sz="1200" dirty="0">
                  <a:latin typeface="페이퍼로지 7 Bold" pitchFamily="2" charset="-127"/>
                  <a:ea typeface="페이퍼로지 7 Bold" pitchFamily="2" charset="-127"/>
                </a:rPr>
                <a:t>정보 공유 기관</a:t>
              </a:r>
              <a:r>
                <a:rPr lang="en-US" altLang="ko-KR" sz="1200" dirty="0">
                  <a:latin typeface="페이퍼로지 7 Bold" pitchFamily="2" charset="-127"/>
                  <a:ea typeface="페이퍼로지 7 Bold" pitchFamily="2" charset="-127"/>
                </a:rPr>
                <a:t>:</a:t>
              </a:r>
              <a:r>
                <a:rPr lang="en-US" altLang="ko-KR" sz="1200" dirty="0">
                  <a:solidFill>
                    <a:srgbClr val="EE4344"/>
                  </a:solidFill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ko-KR" altLang="en-US" sz="1200" dirty="0">
                  <a:solidFill>
                    <a:srgbClr val="EE4344"/>
                  </a:solidFill>
                  <a:latin typeface="페이퍼로지 4 Regular" pitchFamily="2" charset="-127"/>
                  <a:ea typeface="페이퍼로지 4 Regular" pitchFamily="2" charset="-127"/>
                </a:rPr>
                <a:t>은행</a:t>
              </a:r>
              <a:r>
                <a:rPr lang="en-US" altLang="ko-KR" sz="1200" dirty="0">
                  <a:solidFill>
                    <a:srgbClr val="EE4344"/>
                  </a:solidFill>
                  <a:latin typeface="페이퍼로지 4 Regular" pitchFamily="2" charset="-127"/>
                  <a:ea typeface="페이퍼로지 4 Regular" pitchFamily="2" charset="-127"/>
                </a:rPr>
                <a:t>·</a:t>
              </a:r>
              <a:r>
                <a:rPr lang="ko-KR" altLang="en-US" sz="1200" dirty="0">
                  <a:solidFill>
                    <a:srgbClr val="EE4344"/>
                  </a:solidFill>
                  <a:latin typeface="페이퍼로지 4 Regular" pitchFamily="2" charset="-127"/>
                  <a:ea typeface="페이퍼로지 4 Regular" pitchFamily="2" charset="-127"/>
                </a:rPr>
                <a:t>증권</a:t>
              </a:r>
              <a:r>
                <a:rPr lang="en-US" altLang="ko-KR" sz="1200" dirty="0">
                  <a:solidFill>
                    <a:srgbClr val="EE4344"/>
                  </a:solidFill>
                  <a:latin typeface="페이퍼로지 4 Regular" pitchFamily="2" charset="-127"/>
                  <a:ea typeface="페이퍼로지 4 Regular" pitchFamily="2" charset="-127"/>
                </a:rPr>
                <a:t>·</a:t>
              </a:r>
              <a:r>
                <a:rPr lang="ko-KR" altLang="en-US" sz="1200" dirty="0">
                  <a:solidFill>
                    <a:srgbClr val="EE4344"/>
                  </a:solidFill>
                  <a:latin typeface="페이퍼로지 4 Regular" pitchFamily="2" charset="-127"/>
                  <a:ea typeface="페이퍼로지 4 Regular" pitchFamily="2" charset="-127"/>
                </a:rPr>
                <a:t>제</a:t>
              </a:r>
              <a:r>
                <a:rPr lang="en-US" altLang="ko-KR" sz="1200" dirty="0">
                  <a:solidFill>
                    <a:srgbClr val="EE4344"/>
                  </a:solidFill>
                  <a:latin typeface="페이퍼로지 4 Regular" pitchFamily="2" charset="-127"/>
                  <a:ea typeface="페이퍼로지 4 Regular" pitchFamily="2" charset="-127"/>
                </a:rPr>
                <a:t>2</a:t>
              </a:r>
              <a:r>
                <a:rPr lang="ko-KR" altLang="en-US" sz="1200" dirty="0">
                  <a:solidFill>
                    <a:srgbClr val="EE4344"/>
                  </a:solidFill>
                  <a:latin typeface="페이퍼로지 4 Regular" pitchFamily="2" charset="-127"/>
                  <a:ea typeface="페이퍼로지 4 Regular" pitchFamily="2" charset="-127"/>
                </a:rPr>
                <a:t>금융</a:t>
              </a:r>
              <a:r>
                <a:rPr lang="en-US" altLang="ko-KR" sz="1200" dirty="0">
                  <a:solidFill>
                    <a:srgbClr val="EE4344"/>
                  </a:solidFill>
                  <a:latin typeface="페이퍼로지 4 Regular" pitchFamily="2" charset="-127"/>
                  <a:ea typeface="페이퍼로지 4 Regular" pitchFamily="2" charset="-127"/>
                </a:rPr>
                <a:t> – </a:t>
              </a:r>
              <a:r>
                <a:rPr lang="ko-KR" altLang="en-US" sz="1200" dirty="0">
                  <a:solidFill>
                    <a:srgbClr val="EE4344"/>
                  </a:solidFill>
                  <a:latin typeface="페이퍼로지 4 Regular" pitchFamily="2" charset="-127"/>
                  <a:ea typeface="페이퍼로지 4 Regular" pitchFamily="2" charset="-127"/>
                </a:rPr>
                <a:t>통신사</a:t>
              </a:r>
              <a:r>
                <a:rPr lang="en-US" altLang="ko-KR" sz="1200" dirty="0">
                  <a:solidFill>
                    <a:srgbClr val="EE4344"/>
                  </a:solidFill>
                  <a:latin typeface="페이퍼로지 4 Regular" pitchFamily="2" charset="-127"/>
                  <a:ea typeface="페이퍼로지 4 Regular" pitchFamily="2" charset="-127"/>
                </a:rPr>
                <a:t> -- </a:t>
              </a:r>
              <a:r>
                <a:rPr lang="ko-KR" altLang="en-US" sz="1200" dirty="0">
                  <a:solidFill>
                    <a:srgbClr val="EE4344"/>
                  </a:solidFill>
                  <a:latin typeface="페이퍼로지 4 Regular" pitchFamily="2" charset="-127"/>
                  <a:ea typeface="페이퍼로지 4 Regular" pitchFamily="2" charset="-127"/>
                </a:rPr>
                <a:t>수사기관</a:t>
              </a:r>
              <a:r>
                <a:rPr lang="en-US" altLang="ko-KR" sz="1200" dirty="0">
                  <a:solidFill>
                    <a:srgbClr val="EE4344"/>
                  </a:solidFill>
                  <a:latin typeface="페이퍼로지 4 Regular" pitchFamily="2" charset="-127"/>
                  <a:ea typeface="페이퍼로지 4 Regular" pitchFamily="2" charset="-127"/>
                </a:rPr>
                <a:t>·</a:t>
              </a:r>
              <a:r>
                <a:rPr lang="ko-KR" altLang="en-US" sz="1200" dirty="0">
                  <a:solidFill>
                    <a:srgbClr val="EE4344"/>
                  </a:solidFill>
                  <a:latin typeface="페이퍼로지 4 Regular" pitchFamily="2" charset="-127"/>
                  <a:ea typeface="페이퍼로지 4 Regular" pitchFamily="2" charset="-127"/>
                </a:rPr>
                <a:t>가상자산거래소</a:t>
              </a:r>
              <a:endParaRPr lang="en-US" altLang="ko-KR" sz="1200" dirty="0">
                <a:solidFill>
                  <a:srgbClr val="EE4344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ko-KR" altLang="en-US" sz="1200" dirty="0">
                  <a:latin typeface="페이퍼로지 7 Bold" pitchFamily="2" charset="-127"/>
                  <a:ea typeface="페이퍼로지 7 Bold" pitchFamily="2" charset="-127"/>
                </a:rPr>
                <a:t>공유 정보</a:t>
              </a:r>
              <a:r>
                <a:rPr lang="en-US" altLang="ko-KR" sz="1200" dirty="0">
                  <a:latin typeface="페이퍼로지 7 Bold" pitchFamily="2" charset="-127"/>
                  <a:ea typeface="페이퍼로지 7 Bold" pitchFamily="2" charset="-127"/>
                </a:rPr>
                <a:t>: </a:t>
              </a:r>
              <a:r>
                <a:rPr lang="ko-KR" altLang="en-US" sz="1200" dirty="0">
                  <a:latin typeface="페이퍼로지 4 Regular" pitchFamily="2" charset="-127"/>
                  <a:ea typeface="페이퍼로지 4 Regular" pitchFamily="2" charset="-127"/>
                </a:rPr>
                <a:t>사기계좌</a:t>
              </a:r>
              <a:r>
                <a:rPr lang="en-US" altLang="ko-KR" sz="1200" dirty="0">
                  <a:latin typeface="페이퍼로지 4 Regular" pitchFamily="2" charset="-127"/>
                  <a:ea typeface="페이퍼로지 4 Regular" pitchFamily="2" charset="-127"/>
                </a:rPr>
                <a:t>·</a:t>
              </a:r>
              <a:r>
                <a:rPr lang="ko-KR" altLang="en-US" sz="1200" dirty="0">
                  <a:latin typeface="페이퍼로지 4 Regular" pitchFamily="2" charset="-127"/>
                  <a:ea typeface="페이퍼로지 4 Regular" pitchFamily="2" charset="-127"/>
                </a:rPr>
                <a:t>악성앱</a:t>
              </a:r>
              <a:r>
                <a:rPr lang="en-US" altLang="ko-KR" sz="1200" dirty="0">
                  <a:latin typeface="페이퍼로지 4 Regular" pitchFamily="2" charset="-127"/>
                  <a:ea typeface="페이퍼로지 4 Regular" pitchFamily="2" charset="-127"/>
                </a:rPr>
                <a:t>·</a:t>
              </a:r>
              <a:r>
                <a:rPr lang="ko-KR" altLang="en-US" sz="1200" dirty="0">
                  <a:latin typeface="페이퍼로지 4 Regular" pitchFamily="2" charset="-127"/>
                  <a:ea typeface="페이퍼로지 4 Regular" pitchFamily="2" charset="-127"/>
                </a:rPr>
                <a:t>피싱사이트</a:t>
              </a:r>
              <a:r>
                <a:rPr lang="en-US" altLang="ko-KR" sz="1200" dirty="0">
                  <a:latin typeface="페이퍼로지 4 Regular" pitchFamily="2" charset="-127"/>
                  <a:ea typeface="페이퍼로지 4 Regular" pitchFamily="2" charset="-127"/>
                </a:rPr>
                <a:t>·</a:t>
              </a:r>
              <a:r>
                <a:rPr lang="ko-KR" altLang="en-US" sz="1200" dirty="0">
                  <a:latin typeface="페이퍼로지 4 Regular" pitchFamily="2" charset="-127"/>
                  <a:ea typeface="페이퍼로지 4 Regular" pitchFamily="2" charset="-127"/>
                </a:rPr>
                <a:t>의심</a:t>
              </a:r>
              <a:r>
                <a:rPr lang="en-US" altLang="ko-KR" sz="1200" dirty="0">
                  <a:latin typeface="페이퍼로지 4 Regular" pitchFamily="2" charset="-127"/>
                  <a:ea typeface="페이퍼로지 4 Regular" pitchFamily="2" charset="-127"/>
                </a:rPr>
                <a:t>/</a:t>
              </a:r>
              <a:r>
                <a:rPr lang="ko-KR" altLang="en-US" sz="1200" dirty="0">
                  <a:latin typeface="페이퍼로지 4 Regular" pitchFamily="2" charset="-127"/>
                  <a:ea typeface="페이퍼로지 4 Regular" pitchFamily="2" charset="-127"/>
                </a:rPr>
                <a:t>범죄 이용 전화번호 등</a:t>
              </a:r>
            </a:p>
            <a:p>
              <a:r>
                <a:rPr lang="ko-KR" altLang="en-US" sz="1200" dirty="0">
                  <a:latin typeface="페이퍼로지 7 Bold" pitchFamily="2" charset="-127"/>
                  <a:ea typeface="페이퍼로지 7 Bold" pitchFamily="2" charset="-127"/>
                </a:rPr>
                <a:t>기대 효과</a:t>
              </a:r>
              <a:r>
                <a:rPr lang="en-US" altLang="ko-KR" sz="1200" dirty="0">
                  <a:latin typeface="페이퍼로지 7 Bold" pitchFamily="2" charset="-127"/>
                  <a:ea typeface="페이퍼로지 7 Bold" pitchFamily="2" charset="-127"/>
                </a:rPr>
                <a:t>: </a:t>
              </a:r>
              <a:r>
                <a:rPr lang="ko-KR" altLang="en-US" sz="1200" dirty="0">
                  <a:latin typeface="페이퍼로지 4 Regular" pitchFamily="2" charset="-127"/>
                  <a:ea typeface="페이퍼로지 4 Regular" pitchFamily="2" charset="-127"/>
                </a:rPr>
                <a:t>분산된 위험정보를 </a:t>
              </a:r>
              <a:r>
                <a:rPr lang="ko-KR" altLang="en-US" sz="1200" dirty="0">
                  <a:solidFill>
                    <a:srgbClr val="EE4344"/>
                  </a:solidFill>
                  <a:latin typeface="페이퍼로지 4 Regular" pitchFamily="2" charset="-127"/>
                  <a:ea typeface="페이퍼로지 4 Regular" pitchFamily="2" charset="-127"/>
                </a:rPr>
                <a:t>실시간 공유해 지급정지</a:t>
              </a:r>
              <a:r>
                <a:rPr lang="en-US" altLang="ko-KR" sz="1200" dirty="0">
                  <a:solidFill>
                    <a:srgbClr val="EE4344"/>
                  </a:solidFill>
                  <a:latin typeface="페이퍼로지 4 Regular" pitchFamily="2" charset="-127"/>
                  <a:ea typeface="페이퍼로지 4 Regular" pitchFamily="2" charset="-127"/>
                </a:rPr>
                <a:t>·</a:t>
              </a:r>
              <a:r>
                <a:rPr lang="ko-KR" altLang="en-US" sz="1200" dirty="0">
                  <a:solidFill>
                    <a:srgbClr val="EE4344"/>
                  </a:solidFill>
                  <a:latin typeface="페이퍼로지 4 Regular" pitchFamily="2" charset="-127"/>
                  <a:ea typeface="페이퍼로지 4 Regular" pitchFamily="2" charset="-127"/>
                </a:rPr>
                <a:t>이상거래 차단</a:t>
              </a:r>
              <a:r>
                <a:rPr lang="en-US" altLang="ko-KR" sz="1200" dirty="0">
                  <a:solidFill>
                    <a:srgbClr val="EE4344"/>
                  </a:solidFill>
                  <a:latin typeface="페이퍼로지 4 Regular" pitchFamily="2" charset="-127"/>
                  <a:ea typeface="페이퍼로지 4 Regular" pitchFamily="2" charset="-127"/>
                </a:rPr>
                <a:t>·</a:t>
              </a:r>
              <a:r>
                <a:rPr lang="ko-KR" altLang="en-US" sz="1200" dirty="0">
                  <a:solidFill>
                    <a:srgbClr val="EE4344"/>
                  </a:solidFill>
                  <a:latin typeface="페이퍼로지 4 Regular" pitchFamily="2" charset="-127"/>
                  <a:ea typeface="페이퍼로지 4 Regular" pitchFamily="2" charset="-127"/>
                </a:rPr>
                <a:t>수사 활용</a:t>
              </a:r>
            </a:p>
          </p:txBody>
        </p:sp>
      </p:grpSp>
      <p:sp>
        <p:nvSpPr>
          <p:cNvPr id="88" name="Shape 8">
            <a:extLst>
              <a:ext uri="{FF2B5EF4-FFF2-40B4-BE49-F238E27FC236}">
                <a16:creationId xmlns:a16="http://schemas.microsoft.com/office/drawing/2014/main" id="{A6E48D8D-F246-47B4-9FDB-5F1AECC542EB}"/>
              </a:ext>
            </a:extLst>
          </p:cNvPr>
          <p:cNvSpPr/>
          <p:nvPr/>
        </p:nvSpPr>
        <p:spPr>
          <a:xfrm>
            <a:off x="6664893" y="1687803"/>
            <a:ext cx="4931485" cy="3886691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4D85F3B-306F-4E6C-9DCA-8D7C4B0D8278}"/>
              </a:ext>
            </a:extLst>
          </p:cNvPr>
          <p:cNvSpPr txBox="1"/>
          <p:nvPr/>
        </p:nvSpPr>
        <p:spPr>
          <a:xfrm>
            <a:off x="6893214" y="1802489"/>
            <a:ext cx="39797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ASAP </a:t>
            </a:r>
            <a:r>
              <a:rPr lang="ko-KR" altLang="en-US" sz="14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플랫폼의 출범 이후 핵심 성과 </a:t>
            </a:r>
            <a:endParaRPr lang="en-US" altLang="ko-KR" sz="1400" b="1" dirty="0">
              <a:solidFill>
                <a:srgbClr val="10213D"/>
              </a:solidFill>
              <a:latin typeface="페이퍼로지 7 Bold" pitchFamily="2" charset="-127"/>
              <a:ea typeface="페이퍼로지 7 Bold" pitchFamily="2" charset="-127"/>
              <a:cs typeface="NanumSquare Bold" pitchFamily="34" charset="-120"/>
            </a:endParaRP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FB2E5A33-3FFF-4B4C-BD77-28ADFC79B401}"/>
              </a:ext>
            </a:extLst>
          </p:cNvPr>
          <p:cNvGrpSpPr/>
          <p:nvPr/>
        </p:nvGrpSpPr>
        <p:grpSpPr>
          <a:xfrm>
            <a:off x="461770" y="5778559"/>
            <a:ext cx="11274173" cy="538281"/>
            <a:chOff x="989537" y="5557693"/>
            <a:chExt cx="10212928" cy="773508"/>
          </a:xfrm>
        </p:grpSpPr>
        <p:sp>
          <p:nvSpPr>
            <p:cNvPr id="96" name="Shape 44">
              <a:extLst>
                <a:ext uri="{FF2B5EF4-FFF2-40B4-BE49-F238E27FC236}">
                  <a16:creationId xmlns:a16="http://schemas.microsoft.com/office/drawing/2014/main" id="{731F3A17-9EC7-457A-9066-89707FAB988C}"/>
                </a:ext>
              </a:extLst>
            </p:cNvPr>
            <p:cNvSpPr/>
            <p:nvPr/>
          </p:nvSpPr>
          <p:spPr>
            <a:xfrm>
              <a:off x="1057656" y="5587831"/>
              <a:ext cx="10076688" cy="713232"/>
            </a:xfrm>
            <a:prstGeom prst="roundRect">
              <a:avLst>
                <a:gd name="adj" fmla="val 20513"/>
              </a:avLst>
            </a:prstGeom>
            <a:solidFill>
              <a:srgbClr val="0B1F3A"/>
            </a:solidFill>
            <a:ln w="10160">
              <a:solidFill>
                <a:srgbClr val="0B1F3A"/>
              </a:solidFill>
              <a:prstDash val="solid"/>
            </a:ln>
          </p:spPr>
        </p:sp>
        <p:sp>
          <p:nvSpPr>
            <p:cNvPr id="106" name="Text 45">
              <a:extLst>
                <a:ext uri="{FF2B5EF4-FFF2-40B4-BE49-F238E27FC236}">
                  <a16:creationId xmlns:a16="http://schemas.microsoft.com/office/drawing/2014/main" id="{816798D6-68D0-4DF8-A408-120BDDD003E6}"/>
                </a:ext>
              </a:extLst>
            </p:cNvPr>
            <p:cNvSpPr txBox="1"/>
            <p:nvPr/>
          </p:nvSpPr>
          <p:spPr>
            <a:xfrm>
              <a:off x="989537" y="5557693"/>
              <a:ext cx="10212928" cy="7735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AI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와 빅데이터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진보적인 법률 개정과 협업 체계를 통한 공격적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선재적 방어  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sym typeface="Wingdings" panose="05000000000000000000" pitchFamily="2" charset="2"/>
                </a:rPr>
                <a:t> 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 전년 동기 대비 </a:t>
              </a:r>
              <a:r>
                <a:rPr lang="ko-KR" altLang="en-US" sz="1520" b="1" dirty="0">
                  <a:solidFill>
                    <a:srgbClr val="FFC000"/>
                  </a:solidFill>
                  <a:latin typeface="페이퍼로지 7 Bold" pitchFamily="2" charset="-127"/>
                  <a:ea typeface="페이퍼로지 7 Bold" pitchFamily="2" charset="-127"/>
                </a:rPr>
                <a:t>약 </a:t>
              </a:r>
              <a:r>
                <a:rPr lang="en-US" altLang="ko-KR" sz="1520" b="1" dirty="0">
                  <a:solidFill>
                    <a:srgbClr val="FFC000"/>
                  </a:solidFill>
                  <a:latin typeface="페이퍼로지 7 Bold" pitchFamily="2" charset="-127"/>
                  <a:ea typeface="페이퍼로지 7 Bold" pitchFamily="2" charset="-127"/>
                </a:rPr>
                <a:t>53% </a:t>
              </a:r>
              <a:r>
                <a:rPr lang="ko-KR" altLang="en-US" sz="1520" b="1" dirty="0">
                  <a:solidFill>
                    <a:srgbClr val="FFC000"/>
                  </a:solidFill>
                  <a:latin typeface="페이퍼로지 7 Bold" pitchFamily="2" charset="-127"/>
                  <a:ea typeface="페이퍼로지 7 Bold" pitchFamily="2" charset="-127"/>
                </a:rPr>
                <a:t>피해액 감소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로 이어졌습니다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.</a:t>
              </a:r>
              <a:endParaRPr lang="en-US" sz="1520" dirty="0"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67267692-95D0-4E39-B1AD-313903CC80CD}"/>
              </a:ext>
            </a:extLst>
          </p:cNvPr>
          <p:cNvGraphicFramePr>
            <a:graphicFrameLocks noGrp="1"/>
          </p:cNvGraphicFramePr>
          <p:nvPr/>
        </p:nvGraphicFramePr>
        <p:xfrm>
          <a:off x="6964265" y="2144624"/>
          <a:ext cx="4332741" cy="1112520"/>
        </p:xfrm>
        <a:graphic>
          <a:graphicData uri="http://schemas.openxmlformats.org/drawingml/2006/table">
            <a:tbl>
              <a:tblPr/>
              <a:tblGrid>
                <a:gridCol w="1047786">
                  <a:extLst>
                    <a:ext uri="{9D8B030D-6E8A-4147-A177-3AD203B41FA5}">
                      <a16:colId xmlns:a16="http://schemas.microsoft.com/office/drawing/2014/main" val="1611604226"/>
                    </a:ext>
                  </a:extLst>
                </a:gridCol>
                <a:gridCol w="1548005">
                  <a:extLst>
                    <a:ext uri="{9D8B030D-6E8A-4147-A177-3AD203B41FA5}">
                      <a16:colId xmlns:a16="http://schemas.microsoft.com/office/drawing/2014/main" val="4243154311"/>
                    </a:ext>
                  </a:extLst>
                </a:gridCol>
                <a:gridCol w="1736950">
                  <a:extLst>
                    <a:ext uri="{9D8B030D-6E8A-4147-A177-3AD203B41FA5}">
                      <a16:colId xmlns:a16="http://schemas.microsoft.com/office/drawing/2014/main" val="2761314812"/>
                    </a:ext>
                  </a:extLst>
                </a:gridCol>
              </a:tblGrid>
              <a:tr h="188353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출범 후 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12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주 동안</a:t>
                      </a:r>
                      <a:endParaRPr lang="en-US" altLang="ko-KR" sz="90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  <a:p>
                      <a:pPr algn="ctr" rtl="0"/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(</a:t>
                      </a:r>
                      <a:r>
                        <a:rPr lang="en-US" altLang="ko-KR" sz="800" b="0" dirty="0">
                          <a:solidFill>
                            <a:schemeClr val="bg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2025.10.29 ~ 2026.01.21)</a:t>
                      </a:r>
                      <a:endParaRPr lang="ko-KR" altLang="en-US" sz="800" b="0" dirty="0">
                        <a:solidFill>
                          <a:schemeClr val="bg1"/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출범 후 약 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9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개월 동안</a:t>
                      </a:r>
                      <a:endParaRPr lang="en-US" altLang="ko-KR" sz="90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(</a:t>
                      </a:r>
                      <a:r>
                        <a:rPr lang="en-US" altLang="ko-KR" sz="800" b="0" dirty="0">
                          <a:solidFill>
                            <a:schemeClr val="bg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2025.10 ~ 2026.07</a:t>
                      </a:r>
                      <a:r>
                        <a:rPr lang="ko-KR" altLang="en-US" sz="800" b="0" dirty="0">
                          <a:solidFill>
                            <a:schemeClr val="bg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월 말</a:t>
                      </a:r>
                      <a:r>
                        <a:rPr lang="en-US" altLang="ko-KR" sz="800" b="0" dirty="0">
                          <a:solidFill>
                            <a:schemeClr val="bg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bg1"/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776352"/>
                  </a:ext>
                </a:extLst>
              </a:tr>
              <a:tr h="180163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800" dirty="0">
                          <a:latin typeface="페이퍼로지 7 Bold" pitchFamily="2" charset="-127"/>
                          <a:ea typeface="페이퍼로지 7 Bold" pitchFamily="2" charset="-127"/>
                        </a:rPr>
                        <a:t>은행권 수사기관</a:t>
                      </a:r>
                      <a:endParaRPr lang="en-US" altLang="ko-KR" sz="800" dirty="0"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  <a:p>
                      <a:pPr algn="ctr" rtl="0"/>
                      <a:r>
                        <a:rPr lang="ko-KR" altLang="en-US" sz="800" dirty="0">
                          <a:latin typeface="페이퍼로지 7 Bold" pitchFamily="2" charset="-127"/>
                          <a:ea typeface="페이퍼로지 7 Bold" pitchFamily="2" charset="-127"/>
                        </a:rPr>
                        <a:t>정보 공유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800" b="0" dirty="0">
                          <a:latin typeface="페이퍼로지 7 Bold" pitchFamily="2" charset="-127"/>
                          <a:ea typeface="페이퍼로지 7 Bold" pitchFamily="2" charset="-127"/>
                        </a:rPr>
                        <a:t>14.8</a:t>
                      </a:r>
                      <a:r>
                        <a:rPr lang="ko-KR" altLang="en-US" sz="800" b="0" dirty="0">
                          <a:latin typeface="페이퍼로지 7 Bold" pitchFamily="2" charset="-127"/>
                          <a:ea typeface="페이퍼로지 7 Bold" pitchFamily="2" charset="-127"/>
                        </a:rPr>
                        <a:t>만 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800" b="0" dirty="0">
                          <a:solidFill>
                            <a:srgbClr val="FF4B16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46.3</a:t>
                      </a:r>
                      <a:r>
                        <a:rPr lang="ko-KR" altLang="en-US" sz="800" b="0" dirty="0">
                          <a:solidFill>
                            <a:srgbClr val="FF4B16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만 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872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800">
                          <a:latin typeface="페이퍼로지 7 Bold" pitchFamily="2" charset="-127"/>
                          <a:ea typeface="페이퍼로지 7 Bold" pitchFamily="2" charset="-127"/>
                        </a:rPr>
                        <a:t>계좌 지급정지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800" b="0" dirty="0">
                          <a:latin typeface="페이퍼로지 7 Bold" pitchFamily="2" charset="-127"/>
                          <a:ea typeface="페이퍼로지 7 Bold" pitchFamily="2" charset="-127"/>
                        </a:rPr>
                        <a:t>2,705</a:t>
                      </a:r>
                      <a:r>
                        <a:rPr lang="ko-KR" altLang="en-US" sz="800" b="0" dirty="0">
                          <a:latin typeface="페이퍼로지 7 Bold" pitchFamily="2" charset="-127"/>
                          <a:ea typeface="페이퍼로지 7 Bold" pitchFamily="2" charset="-127"/>
                        </a:rPr>
                        <a:t>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800" b="0" dirty="0">
                          <a:solidFill>
                            <a:srgbClr val="FF4B16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7,009</a:t>
                      </a:r>
                      <a:r>
                        <a:rPr lang="ko-KR" altLang="en-US" sz="800" b="0" dirty="0">
                          <a:solidFill>
                            <a:srgbClr val="FF4B16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9267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800" dirty="0">
                          <a:latin typeface="페이퍼로지 7 Bold" pitchFamily="2" charset="-127"/>
                          <a:ea typeface="페이퍼로지 7 Bold" pitchFamily="2" charset="-127"/>
                        </a:rPr>
                        <a:t>피해 사전 차단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800" b="0" dirty="0">
                          <a:latin typeface="페이퍼로지 7 Bold" pitchFamily="2" charset="-127"/>
                          <a:ea typeface="페이퍼로지 7 Bold" pitchFamily="2" charset="-127"/>
                        </a:rPr>
                        <a:t>186.5</a:t>
                      </a:r>
                      <a:r>
                        <a:rPr lang="ko-KR" altLang="en-US" sz="800" b="0" dirty="0">
                          <a:latin typeface="페이퍼로지 7 Bold" pitchFamily="2" charset="-127"/>
                          <a:ea typeface="페이퍼로지 7 Bold" pitchFamily="2" charset="-127"/>
                        </a:rPr>
                        <a:t>억 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800" b="0" dirty="0">
                          <a:solidFill>
                            <a:srgbClr val="FF4B16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663.6</a:t>
                      </a:r>
                      <a:r>
                        <a:rPr lang="ko-KR" altLang="en-US" sz="800" b="0" dirty="0">
                          <a:solidFill>
                            <a:srgbClr val="FF4B16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억 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632259"/>
                  </a:ext>
                </a:extLst>
              </a:tr>
            </a:tbl>
          </a:graphicData>
        </a:graphic>
      </p:graphicFrame>
      <p:grpSp>
        <p:nvGrpSpPr>
          <p:cNvPr id="87" name="Group 86">
            <a:extLst>
              <a:ext uri="{FF2B5EF4-FFF2-40B4-BE49-F238E27FC236}">
                <a16:creationId xmlns:a16="http://schemas.microsoft.com/office/drawing/2014/main" id="{C2E3F610-B35F-45DB-BBD3-8EB9FD153FF8}"/>
              </a:ext>
            </a:extLst>
          </p:cNvPr>
          <p:cNvGrpSpPr/>
          <p:nvPr/>
        </p:nvGrpSpPr>
        <p:grpSpPr>
          <a:xfrm>
            <a:off x="6904225" y="3362589"/>
            <a:ext cx="4452820" cy="1552759"/>
            <a:chOff x="6900722" y="3613172"/>
            <a:chExt cx="4452820" cy="2020589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219B5089-3FB1-43A2-9B72-CCD30BF61D8C}"/>
                </a:ext>
              </a:extLst>
            </p:cNvPr>
            <p:cNvGrpSpPr/>
            <p:nvPr/>
          </p:nvGrpSpPr>
          <p:grpSpPr>
            <a:xfrm>
              <a:off x="6907208" y="4589098"/>
              <a:ext cx="4444875" cy="1044663"/>
              <a:chOff x="6907208" y="4589098"/>
              <a:chExt cx="4444875" cy="1044663"/>
            </a:xfrm>
          </p:grpSpPr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DF1209D8-D9DA-47FD-BEAF-5CDC80460CAD}"/>
                  </a:ext>
                </a:extLst>
              </p:cNvPr>
              <p:cNvGrpSpPr/>
              <p:nvPr/>
            </p:nvGrpSpPr>
            <p:grpSpPr>
              <a:xfrm>
                <a:off x="6909933" y="4589098"/>
                <a:ext cx="4416750" cy="797140"/>
                <a:chOff x="6909933" y="4638806"/>
                <a:chExt cx="4416750" cy="797140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AF035335-5549-4D57-B7A4-921CCE59D407}"/>
                    </a:ext>
                  </a:extLst>
                </p:cNvPr>
                <p:cNvGrpSpPr/>
                <p:nvPr/>
              </p:nvGrpSpPr>
              <p:grpSpPr>
                <a:xfrm>
                  <a:off x="6968542" y="4882176"/>
                  <a:ext cx="4358141" cy="553770"/>
                  <a:chOff x="6968542" y="4744258"/>
                  <a:chExt cx="4358141" cy="413305"/>
                </a:xfrm>
              </p:grpSpPr>
              <p:sp>
                <p:nvSpPr>
                  <p:cNvPr id="139" name="Rectangle 138">
                    <a:extLst>
                      <a:ext uri="{FF2B5EF4-FFF2-40B4-BE49-F238E27FC236}">
                        <a16:creationId xmlns:a16="http://schemas.microsoft.com/office/drawing/2014/main" id="{41AE67AD-B9B8-40DF-9448-F51E5E6EB1AE}"/>
                      </a:ext>
                    </a:extLst>
                  </p:cNvPr>
                  <p:cNvSpPr/>
                  <p:nvPr/>
                </p:nvSpPr>
                <p:spPr>
                  <a:xfrm>
                    <a:off x="6968542" y="4744258"/>
                    <a:ext cx="2141992" cy="413305"/>
                  </a:xfrm>
                  <a:prstGeom prst="rect">
                    <a:avLst/>
                  </a:prstGeom>
                  <a:solidFill>
                    <a:srgbClr val="EE4344"/>
                  </a:solidFill>
                  <a:ln w="12700">
                    <a:solidFill>
                      <a:schemeClr val="bg1"/>
                    </a:solidFill>
                    <a:prstDash val="solid"/>
                  </a:ln>
                </p:spPr>
                <p:txBody>
                  <a:bodyPr/>
                  <a:lstStyle>
                    <a:lvl1pPr marL="0" indent="0">
                      <a:defRPr sz="1100"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ko-KR" altLang="en-US" sz="75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피해 계좌정보</a:t>
                    </a:r>
                  </a:p>
                  <a:p>
                    <a:pPr algn="ctr"/>
                    <a:r>
                      <a:rPr lang="en-US" altLang="ko-KR" sz="75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1,328</a:t>
                    </a:r>
                    <a:r>
                      <a:rPr lang="ko-KR" altLang="en-US" sz="75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건</a:t>
                    </a:r>
                    <a:endParaRPr lang="en-US" altLang="ko-KR" sz="75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endParaRPr>
                  </a:p>
                  <a:p>
                    <a:pPr algn="ctr"/>
                    <a:r>
                      <a:rPr lang="en-US" altLang="ko-KR" sz="75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(</a:t>
                    </a:r>
                    <a:r>
                      <a:rPr lang="en-US" altLang="ko-KR" sz="75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49.1%)</a:t>
                    </a:r>
                    <a:endParaRPr lang="ko-KR" altLang="en-US" sz="75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endParaRPr>
                  </a:p>
                </p:txBody>
              </p:sp>
              <p:sp>
                <p:nvSpPr>
                  <p:cNvPr id="140" name="Rectangle 139">
                    <a:extLst>
                      <a:ext uri="{FF2B5EF4-FFF2-40B4-BE49-F238E27FC236}">
                        <a16:creationId xmlns:a16="http://schemas.microsoft.com/office/drawing/2014/main" id="{791CBE85-2624-4CCD-9B03-5B88D0E8C53D}"/>
                      </a:ext>
                    </a:extLst>
                  </p:cNvPr>
                  <p:cNvSpPr/>
                  <p:nvPr/>
                </p:nvSpPr>
                <p:spPr>
                  <a:xfrm>
                    <a:off x="9107358" y="4744258"/>
                    <a:ext cx="2025777" cy="413305"/>
                  </a:xfrm>
                  <a:prstGeom prst="rect">
                    <a:avLst/>
                  </a:prstGeom>
                  <a:solidFill>
                    <a:srgbClr val="5E85B0"/>
                  </a:solidFill>
                  <a:ln w="12700">
                    <a:solidFill>
                      <a:schemeClr val="bg1"/>
                    </a:solidFill>
                    <a:prstDash val="solid"/>
                  </a:ln>
                </p:spPr>
                <p:txBody>
                  <a:bodyPr/>
                  <a:lstStyle>
                    <a:lvl1pPr marL="0" indent="0">
                      <a:defRPr sz="1100"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ko-KR" altLang="en-US" sz="75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피해 계좌정보</a:t>
                    </a:r>
                  </a:p>
                  <a:p>
                    <a:pPr algn="ctr"/>
                    <a:r>
                      <a:rPr lang="en-US" altLang="ko-KR" sz="75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1,250</a:t>
                    </a:r>
                    <a:r>
                      <a:rPr lang="ko-KR" altLang="en-US" sz="75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건</a:t>
                    </a:r>
                    <a:endParaRPr lang="en-US" altLang="ko-KR" sz="75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endParaRPr>
                  </a:p>
                  <a:p>
                    <a:pPr algn="ctr"/>
                    <a:r>
                      <a:rPr lang="en-US" altLang="ko-KR" sz="75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(</a:t>
                    </a:r>
                    <a:r>
                      <a:rPr lang="en-US" altLang="ko-KR" sz="75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46.2%)</a:t>
                    </a:r>
                    <a:endParaRPr lang="ko-KR" altLang="en-US" sz="75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endParaRPr>
                  </a:p>
                </p:txBody>
              </p:sp>
              <p:sp>
                <p:nvSpPr>
                  <p:cNvPr id="146" name="Rectangle 145">
                    <a:extLst>
                      <a:ext uri="{FF2B5EF4-FFF2-40B4-BE49-F238E27FC236}">
                        <a16:creationId xmlns:a16="http://schemas.microsoft.com/office/drawing/2014/main" id="{80BECE0E-F3C7-4852-96B7-5FDCEE448308}"/>
                      </a:ext>
                    </a:extLst>
                  </p:cNvPr>
                  <p:cNvSpPr/>
                  <p:nvPr/>
                </p:nvSpPr>
                <p:spPr>
                  <a:xfrm>
                    <a:off x="11133136" y="4744258"/>
                    <a:ext cx="98298" cy="413305"/>
                  </a:xfrm>
                  <a:prstGeom prst="rect">
                    <a:avLst/>
                  </a:prstGeom>
                  <a:solidFill>
                    <a:srgbClr val="2F7CF6"/>
                  </a:solidFill>
                  <a:ln w="12700">
                    <a:solidFill>
                      <a:schemeClr val="bg1"/>
                    </a:solidFill>
                    <a:prstDash val="solid"/>
                  </a:ln>
                </p:spPr>
                <p:txBody>
                  <a:bodyPr/>
                  <a:lstStyle>
                    <a:lvl1pPr marL="0" indent="0">
                      <a:defRPr sz="1100"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ko-KR" sz="1000"/>
                  </a:p>
                </p:txBody>
              </p:sp>
              <p:sp>
                <p:nvSpPr>
                  <p:cNvPr id="147" name="Rectangle 146">
                    <a:extLst>
                      <a:ext uri="{FF2B5EF4-FFF2-40B4-BE49-F238E27FC236}">
                        <a16:creationId xmlns:a16="http://schemas.microsoft.com/office/drawing/2014/main" id="{5B45C7CC-4FE9-47B8-A816-C1985FE01E16}"/>
                      </a:ext>
                    </a:extLst>
                  </p:cNvPr>
                  <p:cNvSpPr/>
                  <p:nvPr/>
                </p:nvSpPr>
                <p:spPr>
                  <a:xfrm>
                    <a:off x="11225084" y="4744258"/>
                    <a:ext cx="101599" cy="413305"/>
                  </a:xfrm>
                  <a:prstGeom prst="rect">
                    <a:avLst/>
                  </a:prstGeom>
                  <a:solidFill>
                    <a:srgbClr val="49A8FF"/>
                  </a:solidFill>
                  <a:ln w="12700">
                    <a:solidFill>
                      <a:schemeClr val="bg1"/>
                    </a:solidFill>
                    <a:prstDash val="solid"/>
                  </a:ln>
                </p:spPr>
                <p:txBody>
                  <a:bodyPr/>
                  <a:lstStyle>
                    <a:lvl1pPr marL="0" indent="0">
                      <a:defRPr sz="1100"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ko-KR" sz="1000"/>
                  </a:p>
                </p:txBody>
              </p:sp>
            </p:grpSp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D8D12947-8E65-40B3-A525-5A287ADA8B2A}"/>
                    </a:ext>
                  </a:extLst>
                </p:cNvPr>
                <p:cNvSpPr txBox="1"/>
                <p:nvPr/>
              </p:nvSpPr>
              <p:spPr>
                <a:xfrm>
                  <a:off x="6909933" y="4654579"/>
                  <a:ext cx="2874634" cy="4405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800" dirty="0">
                      <a:latin typeface="페이퍼로지 7 Bold" pitchFamily="2" charset="-127"/>
                      <a:ea typeface="페이퍼로지 7 Bold" pitchFamily="2" charset="-127"/>
                    </a:rPr>
                    <a:t>피해방지 건수 </a:t>
                  </a:r>
                  <a:r>
                    <a:rPr lang="en-US" altLang="ko-KR" sz="800" dirty="0">
                      <a:latin typeface="페이퍼로지 7 Bold" pitchFamily="2" charset="-127"/>
                      <a:ea typeface="페이퍼로지 7 Bold" pitchFamily="2" charset="-127"/>
                    </a:rPr>
                    <a:t>(2,705</a:t>
                  </a:r>
                  <a:r>
                    <a:rPr lang="ko-KR" altLang="en-US" sz="800" dirty="0">
                      <a:latin typeface="페이퍼로지 7 Bold" pitchFamily="2" charset="-127"/>
                      <a:ea typeface="페이퍼로지 7 Bold" pitchFamily="2" charset="-127"/>
                    </a:rPr>
                    <a:t>건</a:t>
                  </a:r>
                  <a:r>
                    <a:rPr lang="en-US" altLang="ko-KR" sz="800" dirty="0">
                      <a:latin typeface="페이퍼로지 7 Bold" pitchFamily="2" charset="-127"/>
                      <a:ea typeface="페이퍼로지 7 Bold" pitchFamily="2" charset="-127"/>
                    </a:rPr>
                    <a:t>) </a:t>
                  </a:r>
                  <a:r>
                    <a:rPr lang="en-US" altLang="ko-KR" sz="800" dirty="0">
                      <a:solidFill>
                        <a:srgbClr val="6A7B97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*</a:t>
                  </a:r>
                  <a:r>
                    <a:rPr lang="ko-KR" altLang="en-US" sz="800" dirty="0">
                      <a:solidFill>
                        <a:srgbClr val="6A7B97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기준 기간 출범 후 </a:t>
                  </a:r>
                  <a:r>
                    <a:rPr lang="en-US" altLang="ko-KR" sz="800" dirty="0">
                      <a:solidFill>
                        <a:srgbClr val="6A7B97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12</a:t>
                  </a:r>
                  <a:r>
                    <a:rPr lang="ko-KR" altLang="en-US" sz="800" dirty="0">
                      <a:solidFill>
                        <a:srgbClr val="6A7B97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주 동안</a:t>
                  </a:r>
                  <a:endParaRPr lang="en-US" altLang="ko-KR" sz="800" dirty="0">
                    <a:solidFill>
                      <a:srgbClr val="6A7B97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  <a:p>
                  <a:pPr rtl="0"/>
                  <a:endParaRPr lang="ko-KR" altLang="en-US" sz="80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A21BDF8A-9CC3-477E-B3E5-B6272F32E405}"/>
                    </a:ext>
                  </a:extLst>
                </p:cNvPr>
                <p:cNvSpPr txBox="1"/>
                <p:nvPr/>
              </p:nvSpPr>
              <p:spPr>
                <a:xfrm>
                  <a:off x="8920162" y="4638806"/>
                  <a:ext cx="2334171" cy="27034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 rtl="0"/>
                  <a:r>
                    <a:rPr lang="ko-KR" altLang="en-US" sz="750" dirty="0">
                      <a:solidFill>
                        <a:srgbClr val="2F7CF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사기이용계좌 정보 </a:t>
                  </a:r>
                  <a:r>
                    <a:rPr lang="en-US" altLang="ko-KR" sz="750" dirty="0">
                      <a:solidFill>
                        <a:srgbClr val="2F7CF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55</a:t>
                  </a:r>
                  <a:r>
                    <a:rPr lang="ko-KR" altLang="en-US" sz="750" dirty="0">
                      <a:solidFill>
                        <a:srgbClr val="2F7CF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건</a:t>
                  </a:r>
                  <a:r>
                    <a:rPr lang="en-US" altLang="ko-KR" sz="750" dirty="0">
                      <a:solidFill>
                        <a:srgbClr val="2F7CF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(2.0%)</a:t>
                  </a:r>
                  <a:endParaRPr lang="ko-KR" altLang="en-US" sz="750" dirty="0">
                    <a:solidFill>
                      <a:srgbClr val="2F7CF6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2081ADE4-E51E-4EB8-8484-15125DE343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230521" y="4657650"/>
                  <a:ext cx="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2AC47B40-FD1A-4F45-8E48-6F005AB3E0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199747" y="4719547"/>
                  <a:ext cx="0" cy="169772"/>
                </a:xfrm>
                <a:prstGeom prst="line">
                  <a:avLst/>
                </a:prstGeom>
                <a:ln w="28575">
                  <a:solidFill>
                    <a:srgbClr val="2F7CF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36555E7C-425E-4079-87B1-C470269898ED}"/>
                  </a:ext>
                </a:extLst>
              </p:cNvPr>
              <p:cNvGrpSpPr/>
              <p:nvPr/>
            </p:nvGrpSpPr>
            <p:grpSpPr>
              <a:xfrm>
                <a:off x="9882317" y="5345667"/>
                <a:ext cx="1469766" cy="285860"/>
                <a:chOff x="9856917" y="5345667"/>
                <a:chExt cx="1469766" cy="285860"/>
              </a:xfrm>
            </p:grpSpPr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9B95F796-2F08-446E-A1DB-01D3A370AA4E}"/>
                    </a:ext>
                  </a:extLst>
                </p:cNvPr>
                <p:cNvSpPr txBox="1"/>
                <p:nvPr/>
              </p:nvSpPr>
              <p:spPr>
                <a:xfrm>
                  <a:off x="9856917" y="5361186"/>
                  <a:ext cx="1469766" cy="27034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 rtl="0"/>
                  <a:r>
                    <a:rPr lang="ko-KR" altLang="en-US" sz="750" dirty="0">
                      <a:solidFill>
                        <a:srgbClr val="49A8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기타 </a:t>
                  </a:r>
                  <a:r>
                    <a:rPr lang="en-US" altLang="ko-KR" sz="750" dirty="0">
                      <a:solidFill>
                        <a:srgbClr val="49A8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72</a:t>
                  </a:r>
                  <a:r>
                    <a:rPr lang="ko-KR" altLang="en-US" sz="750" dirty="0">
                      <a:solidFill>
                        <a:srgbClr val="49A8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건</a:t>
                  </a:r>
                  <a:r>
                    <a:rPr lang="en-US" altLang="ko-KR" sz="750" dirty="0">
                      <a:solidFill>
                        <a:srgbClr val="49A8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(2.7%)</a:t>
                  </a:r>
                  <a:endParaRPr lang="ko-KR" altLang="en-US" sz="750" dirty="0">
                    <a:solidFill>
                      <a:srgbClr val="49A8FF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19B4FE53-15CC-4901-A172-3B82093CC9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75883" y="5345667"/>
                  <a:ext cx="0" cy="200563"/>
                </a:xfrm>
                <a:prstGeom prst="line">
                  <a:avLst/>
                </a:prstGeom>
                <a:ln w="28575">
                  <a:solidFill>
                    <a:srgbClr val="49A8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5CD0C00-1002-4547-94C5-4857AE291FEA}"/>
                  </a:ext>
                </a:extLst>
              </p:cNvPr>
              <p:cNvSpPr txBox="1"/>
              <p:nvPr/>
            </p:nvSpPr>
            <p:spPr>
              <a:xfrm>
                <a:off x="6907208" y="5373432"/>
                <a:ext cx="184731" cy="26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rtl="0"/>
                <a:endParaRPr lang="en-US" altLang="ko-KR" sz="700" dirty="0">
                  <a:solidFill>
                    <a:srgbClr val="6A7B97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0F406ED3-91ED-40FA-A5F6-5EB54373632C}"/>
                </a:ext>
              </a:extLst>
            </p:cNvPr>
            <p:cNvGrpSpPr/>
            <p:nvPr/>
          </p:nvGrpSpPr>
          <p:grpSpPr>
            <a:xfrm>
              <a:off x="6900722" y="3613172"/>
              <a:ext cx="4452820" cy="1044184"/>
              <a:chOff x="6900722" y="3613172"/>
              <a:chExt cx="4452820" cy="1044184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81EC7DBF-425A-4A6D-8C7C-96CE3884C086}"/>
                  </a:ext>
                </a:extLst>
              </p:cNvPr>
              <p:cNvGrpSpPr/>
              <p:nvPr/>
            </p:nvGrpSpPr>
            <p:grpSpPr>
              <a:xfrm>
                <a:off x="6968542" y="3858962"/>
                <a:ext cx="4358141" cy="553770"/>
                <a:chOff x="6968542" y="4034171"/>
                <a:chExt cx="4358141" cy="553770"/>
              </a:xfrm>
            </p:grpSpPr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0C0C6537-ECA2-4D39-9F34-0A75EC4F8FD6}"/>
                    </a:ext>
                  </a:extLst>
                </p:cNvPr>
                <p:cNvSpPr/>
                <p:nvPr/>
              </p:nvSpPr>
              <p:spPr>
                <a:xfrm>
                  <a:off x="6968542" y="4034171"/>
                  <a:ext cx="950212" cy="553770"/>
                </a:xfrm>
                <a:prstGeom prst="rect">
                  <a:avLst/>
                </a:prstGeom>
                <a:solidFill>
                  <a:srgbClr val="EE4344"/>
                </a:solidFill>
                <a:ln w="12700">
                  <a:solidFill>
                    <a:schemeClr val="bg1"/>
                  </a:solidFill>
                  <a:prstDash val="solid"/>
                </a:ln>
              </p:spPr>
              <p:txBody>
                <a:bodyPr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75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피해 계좌정보</a:t>
                  </a:r>
                </a:p>
                <a:p>
                  <a:pPr algn="ctr"/>
                  <a:r>
                    <a:rPr lang="en-US" altLang="ko-KR" sz="75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41.0</a:t>
                  </a:r>
                  <a:r>
                    <a:rPr lang="ko-KR" altLang="en-US" sz="75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억 원</a:t>
                  </a:r>
                </a:p>
                <a:p>
                  <a:pPr algn="ctr"/>
                  <a:r>
                    <a:rPr lang="en-US" altLang="ko-KR" sz="75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(22</a:t>
                  </a:r>
                  <a:r>
                    <a:rPr lang="en-US" altLang="ko-KR" sz="75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.0%)</a:t>
                  </a:r>
                  <a:endParaRPr lang="ko-KR" altLang="en-US" sz="75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0EE53028-AEF5-4508-BF9B-F1FFEBF7F663}"/>
                    </a:ext>
                  </a:extLst>
                </p:cNvPr>
                <p:cNvSpPr/>
                <p:nvPr/>
              </p:nvSpPr>
              <p:spPr>
                <a:xfrm>
                  <a:off x="10625139" y="4034171"/>
                  <a:ext cx="369092" cy="553770"/>
                </a:xfrm>
                <a:prstGeom prst="rect">
                  <a:avLst/>
                </a:prstGeom>
                <a:solidFill>
                  <a:srgbClr val="2F7CF6"/>
                </a:solidFill>
                <a:ln w="12700">
                  <a:solidFill>
                    <a:schemeClr val="bg1"/>
                  </a:solidFill>
                  <a:prstDash val="solid"/>
                </a:ln>
              </p:spPr>
              <p:txBody>
                <a:bodyPr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ko-KR" sz="1000"/>
                </a:p>
              </p:txBody>
            </p:sp>
            <p:sp>
              <p:nvSpPr>
                <p:cNvPr id="136" name="Rectangle 135">
                  <a:extLst>
                    <a:ext uri="{FF2B5EF4-FFF2-40B4-BE49-F238E27FC236}">
                      <a16:creationId xmlns:a16="http://schemas.microsoft.com/office/drawing/2014/main" id="{9640938D-6415-4975-AE42-4A9F6CC71DFD}"/>
                    </a:ext>
                  </a:extLst>
                </p:cNvPr>
                <p:cNvSpPr/>
                <p:nvPr/>
              </p:nvSpPr>
              <p:spPr>
                <a:xfrm>
                  <a:off x="7918755" y="4034171"/>
                  <a:ext cx="2770246" cy="553770"/>
                </a:xfrm>
                <a:prstGeom prst="rect">
                  <a:avLst/>
                </a:prstGeom>
                <a:solidFill>
                  <a:srgbClr val="5E85B0"/>
                </a:solidFill>
                <a:ln w="12700">
                  <a:solidFill>
                    <a:schemeClr val="bg1"/>
                  </a:solidFill>
                  <a:prstDash val="solid"/>
                </a:ln>
              </p:spPr>
              <p:txBody>
                <a:bodyPr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75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피해 계좌정보</a:t>
                  </a:r>
                </a:p>
                <a:p>
                  <a:pPr algn="ctr"/>
                  <a:r>
                    <a:rPr lang="en-US" altLang="ko-KR" sz="75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118.4</a:t>
                  </a:r>
                  <a:r>
                    <a:rPr lang="ko-KR" altLang="en-US" sz="75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억 원</a:t>
                  </a:r>
                </a:p>
                <a:p>
                  <a:pPr algn="ctr"/>
                  <a:r>
                    <a:rPr lang="en-US" altLang="ko-KR" sz="75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(</a:t>
                  </a:r>
                  <a:r>
                    <a:rPr lang="en-US" altLang="ko-KR" sz="75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63.5%)</a:t>
                  </a:r>
                  <a:endParaRPr lang="ko-KR" altLang="en-US" sz="75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9835F2DD-3120-471C-8951-D64FF8D0174D}"/>
                    </a:ext>
                  </a:extLst>
                </p:cNvPr>
                <p:cNvSpPr/>
                <p:nvPr/>
              </p:nvSpPr>
              <p:spPr>
                <a:xfrm>
                  <a:off x="10931968" y="4034171"/>
                  <a:ext cx="394715" cy="553770"/>
                </a:xfrm>
                <a:prstGeom prst="rect">
                  <a:avLst/>
                </a:prstGeom>
                <a:solidFill>
                  <a:srgbClr val="49A8FF"/>
                </a:solidFill>
                <a:ln w="12700">
                  <a:solidFill>
                    <a:schemeClr val="bg1"/>
                  </a:solidFill>
                  <a:prstDash val="solid"/>
                </a:ln>
              </p:spPr>
              <p:txBody>
                <a:bodyPr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ko-KR" sz="1000"/>
                </a:p>
              </p:txBody>
            </p:sp>
          </p:grp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FA77F4D8-08BA-428A-9C85-1616EDB599DB}"/>
                  </a:ext>
                </a:extLst>
              </p:cNvPr>
              <p:cNvSpPr txBox="1"/>
              <p:nvPr/>
            </p:nvSpPr>
            <p:spPr>
              <a:xfrm>
                <a:off x="6900722" y="3622027"/>
                <a:ext cx="2981595" cy="4405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800" dirty="0">
                    <a:latin typeface="페이퍼로지 7 Bold" pitchFamily="2" charset="-127"/>
                    <a:ea typeface="페이퍼로지 7 Bold" pitchFamily="2" charset="-127"/>
                  </a:rPr>
                  <a:t>피해방지 금액</a:t>
                </a:r>
                <a:r>
                  <a:rPr lang="en-US" altLang="ko-KR" sz="800" dirty="0">
                    <a:latin typeface="페이퍼로지 7 Bold" pitchFamily="2" charset="-127"/>
                    <a:ea typeface="페이퍼로지 7 Bold" pitchFamily="2" charset="-127"/>
                  </a:rPr>
                  <a:t>(186.5</a:t>
                </a:r>
                <a:r>
                  <a:rPr lang="ko-KR" altLang="en-US" sz="800" dirty="0">
                    <a:latin typeface="페이퍼로지 7 Bold" pitchFamily="2" charset="-127"/>
                    <a:ea typeface="페이퍼로지 7 Bold" pitchFamily="2" charset="-127"/>
                  </a:rPr>
                  <a:t>억 원</a:t>
                </a:r>
                <a:r>
                  <a:rPr lang="en-US" altLang="ko-KR" sz="800" dirty="0">
                    <a:latin typeface="페이퍼로지 7 Bold" pitchFamily="2" charset="-127"/>
                    <a:ea typeface="페이퍼로지 7 Bold" pitchFamily="2" charset="-127"/>
                  </a:rPr>
                  <a:t>) </a:t>
                </a:r>
                <a:r>
                  <a:rPr lang="en-US" altLang="ko-KR" sz="800" dirty="0">
                    <a:solidFill>
                      <a:srgbClr val="6A7B97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*</a:t>
                </a:r>
                <a:r>
                  <a:rPr lang="ko-KR" altLang="en-US" sz="800" dirty="0">
                    <a:solidFill>
                      <a:srgbClr val="6A7B97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기준 기간 출범 후 </a:t>
                </a:r>
                <a:r>
                  <a:rPr lang="en-US" altLang="ko-KR" sz="800" dirty="0">
                    <a:solidFill>
                      <a:srgbClr val="6A7B97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12</a:t>
                </a:r>
                <a:r>
                  <a:rPr lang="ko-KR" altLang="en-US" sz="800" dirty="0">
                    <a:solidFill>
                      <a:srgbClr val="6A7B97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주 동안</a:t>
                </a:r>
                <a:endParaRPr lang="en-US" altLang="ko-KR" sz="800" dirty="0">
                  <a:solidFill>
                    <a:srgbClr val="6A7B97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  <a:p>
                <a:endParaRPr lang="ko-KR" altLang="en-US" sz="800" dirty="0"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919C9AAA-84A7-412C-A96B-CF876CFC3A50}"/>
                  </a:ext>
                </a:extLst>
              </p:cNvPr>
              <p:cNvSpPr txBox="1"/>
              <p:nvPr/>
            </p:nvSpPr>
            <p:spPr>
              <a:xfrm>
                <a:off x="8632959" y="3613172"/>
                <a:ext cx="2334171" cy="2703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0"/>
                <a:r>
                  <a:rPr lang="ko-KR" altLang="en-US" sz="750" dirty="0">
                    <a:solidFill>
                      <a:srgbClr val="2F7CF6"/>
                    </a:solidFill>
                    <a:latin typeface="페이퍼로지 7 Bold" pitchFamily="2" charset="-127"/>
                    <a:ea typeface="페이퍼로지 7 Bold" pitchFamily="2" charset="-127"/>
                  </a:rPr>
                  <a:t>사기이용계좌 정보 </a:t>
                </a:r>
                <a:r>
                  <a:rPr lang="en-US" altLang="ko-KR" sz="750" dirty="0">
                    <a:solidFill>
                      <a:srgbClr val="2F7CF6"/>
                    </a:solidFill>
                    <a:latin typeface="페이퍼로지 7 Bold" pitchFamily="2" charset="-127"/>
                    <a:ea typeface="페이퍼로지 7 Bold" pitchFamily="2" charset="-127"/>
                  </a:rPr>
                  <a:t>9.8</a:t>
                </a:r>
                <a:r>
                  <a:rPr lang="ko-KR" altLang="en-US" sz="750" dirty="0">
                    <a:solidFill>
                      <a:srgbClr val="2F7CF6"/>
                    </a:solidFill>
                    <a:latin typeface="페이퍼로지 7 Bold" pitchFamily="2" charset="-127"/>
                    <a:ea typeface="페이퍼로지 7 Bold" pitchFamily="2" charset="-127"/>
                  </a:rPr>
                  <a:t>억 원</a:t>
                </a:r>
                <a:r>
                  <a:rPr lang="en-US" altLang="ko-KR" sz="750" dirty="0">
                    <a:solidFill>
                      <a:srgbClr val="2F7CF6"/>
                    </a:solidFill>
                    <a:latin typeface="페이퍼로지 7 Bold" pitchFamily="2" charset="-127"/>
                    <a:ea typeface="페이퍼로지 7 Bold" pitchFamily="2" charset="-127"/>
                  </a:rPr>
                  <a:t>(5.3%)</a:t>
                </a:r>
                <a:endParaRPr lang="ko-KR" altLang="en-US" sz="750" dirty="0">
                  <a:solidFill>
                    <a:srgbClr val="2F7CF6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DF6178B5-BA75-4C82-BC94-A57B18CABC6A}"/>
                  </a:ext>
                </a:extLst>
              </p:cNvPr>
              <p:cNvCxnSpPr>
                <a:cxnSpLocks/>
                <a:stCxn id="160" idx="3"/>
                <a:endCxn id="160" idx="3"/>
              </p:cNvCxnSpPr>
              <p:nvPr/>
            </p:nvCxnSpPr>
            <p:spPr>
              <a:xfrm>
                <a:off x="10967130" y="3748344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BB0E1F68-8BCC-4740-8CA7-815A9B21B88B}"/>
                  </a:ext>
                </a:extLst>
              </p:cNvPr>
              <p:cNvCxnSpPr/>
              <p:nvPr/>
            </p:nvCxnSpPr>
            <p:spPr>
              <a:xfrm flipV="1">
                <a:off x="10918894" y="3693912"/>
                <a:ext cx="0" cy="169772"/>
              </a:xfrm>
              <a:prstGeom prst="line">
                <a:avLst/>
              </a:prstGeom>
              <a:ln w="28575">
                <a:solidFill>
                  <a:srgbClr val="2F7CF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B6B30D79-E413-44B8-BECF-21E5D30F94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301283" y="4374959"/>
                <a:ext cx="0" cy="200563"/>
              </a:xfrm>
              <a:prstGeom prst="line">
                <a:avLst/>
              </a:prstGeom>
              <a:ln w="28575">
                <a:solidFill>
                  <a:srgbClr val="49A8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E145FE7-7C8E-4A8C-BEA3-6326FCD0B570}"/>
                  </a:ext>
                </a:extLst>
              </p:cNvPr>
              <p:cNvSpPr txBox="1"/>
              <p:nvPr/>
            </p:nvSpPr>
            <p:spPr>
              <a:xfrm>
                <a:off x="9883776" y="4387014"/>
                <a:ext cx="1469766" cy="2703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0"/>
                <a:r>
                  <a:rPr lang="ko-KR" altLang="en-US" sz="750" dirty="0">
                    <a:solidFill>
                      <a:srgbClr val="49A8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기타</a:t>
                </a:r>
                <a:r>
                  <a:rPr lang="en-US" altLang="ko-KR" sz="750" dirty="0">
                    <a:solidFill>
                      <a:srgbClr val="49A8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 17.3</a:t>
                </a:r>
                <a:r>
                  <a:rPr lang="ko-KR" altLang="en-US" sz="750" dirty="0">
                    <a:solidFill>
                      <a:srgbClr val="49A8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억 원</a:t>
                </a:r>
                <a:r>
                  <a:rPr lang="en-US" altLang="ko-KR" sz="750" dirty="0">
                    <a:solidFill>
                      <a:srgbClr val="49A8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(9.3%)</a:t>
                </a:r>
                <a:endParaRPr lang="ko-KR" altLang="en-US" sz="750" dirty="0">
                  <a:solidFill>
                    <a:srgbClr val="49A8FF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</p:grpSp>
      </p:grpSp>
      <p:sp>
        <p:nvSpPr>
          <p:cNvPr id="168" name="TextBox 167">
            <a:extLst>
              <a:ext uri="{FF2B5EF4-FFF2-40B4-BE49-F238E27FC236}">
                <a16:creationId xmlns:a16="http://schemas.microsoft.com/office/drawing/2014/main" id="{7688958C-63F5-4BB9-9DD1-8635F1F92C47}"/>
              </a:ext>
            </a:extLst>
          </p:cNvPr>
          <p:cNvSpPr txBox="1"/>
          <p:nvPr/>
        </p:nvSpPr>
        <p:spPr>
          <a:xfrm>
            <a:off x="6525329" y="4938964"/>
            <a:ext cx="5210614" cy="623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>
                <a:latin typeface="페이퍼로지 7 Bold" pitchFamily="2" charset="-127"/>
                <a:ea typeface="페이퍼로지 7 Bold" pitchFamily="2" charset="-127"/>
              </a:rPr>
              <a:t>지난해 같은 기간 대비 </a:t>
            </a:r>
            <a:r>
              <a:rPr lang="ko-KR" altLang="en-US" sz="12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</a:rPr>
              <a:t>발생 건수가 </a:t>
            </a:r>
            <a:r>
              <a:rPr lang="en-US" altLang="ko-KR" sz="12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</a:rPr>
              <a:t>46%</a:t>
            </a:r>
            <a:r>
              <a:rPr lang="en-US" altLang="ko-KR" sz="1200" dirty="0">
                <a:latin typeface="페이퍼로지 7 Bold" pitchFamily="2" charset="-127"/>
                <a:ea typeface="페이퍼로지 7 Bold" pitchFamily="2" charset="-127"/>
              </a:rPr>
              <a:t>(14,707</a:t>
            </a:r>
            <a:r>
              <a:rPr lang="ko-KR" altLang="en-US" sz="1200" dirty="0">
                <a:latin typeface="페이퍼로지 7 Bold" pitchFamily="2" charset="-127"/>
                <a:ea typeface="페이퍼로지 7 Bold" pitchFamily="2" charset="-127"/>
              </a:rPr>
              <a:t>건→</a:t>
            </a:r>
            <a:r>
              <a:rPr lang="en-US" altLang="ko-KR" sz="1200" dirty="0">
                <a:latin typeface="페이퍼로지 7 Bold" pitchFamily="2" charset="-127"/>
                <a:ea typeface="페이퍼로지 7 Bold" pitchFamily="2" charset="-127"/>
              </a:rPr>
              <a:t>7,940</a:t>
            </a:r>
            <a:r>
              <a:rPr lang="ko-KR" altLang="en-US" sz="1200" dirty="0">
                <a:latin typeface="페이퍼로지 7 Bold" pitchFamily="2" charset="-127"/>
                <a:ea typeface="페이퍼로지 7 Bold" pitchFamily="2" charset="-127"/>
              </a:rPr>
              <a:t>건</a:t>
            </a:r>
            <a:r>
              <a:rPr lang="en-US" altLang="ko-KR" sz="1200" dirty="0">
                <a:latin typeface="페이퍼로지 7 Bold" pitchFamily="2" charset="-127"/>
                <a:ea typeface="페이퍼로지 7 Bold" pitchFamily="2" charset="-127"/>
              </a:rPr>
              <a:t>),</a:t>
            </a:r>
          </a:p>
          <a:p>
            <a:pPr algn="ctr"/>
            <a:r>
              <a:rPr lang="ko-KR" altLang="en-US" sz="12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</a:rPr>
              <a:t>피해액이 </a:t>
            </a:r>
            <a:r>
              <a:rPr lang="en-US" altLang="ko-KR" sz="12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</a:rPr>
              <a:t>53%</a:t>
            </a:r>
            <a:r>
              <a:rPr lang="en-US" altLang="ko-KR" sz="1200" dirty="0">
                <a:latin typeface="페이퍼로지 7 Bold" pitchFamily="2" charset="-127"/>
                <a:ea typeface="페이퍼로지 7 Bold" pitchFamily="2" charset="-127"/>
              </a:rPr>
              <a:t>(7,766</a:t>
            </a:r>
            <a:r>
              <a:rPr lang="ko-KR" altLang="en-US" sz="1200" dirty="0">
                <a:latin typeface="페이퍼로지 7 Bold" pitchFamily="2" charset="-127"/>
                <a:ea typeface="페이퍼로지 7 Bold" pitchFamily="2" charset="-127"/>
              </a:rPr>
              <a:t>억 원→</a:t>
            </a:r>
            <a:r>
              <a:rPr lang="en-US" altLang="ko-KR" sz="1200" dirty="0">
                <a:latin typeface="페이퍼로지 7 Bold" pitchFamily="2" charset="-127"/>
                <a:ea typeface="페이퍼로지 7 Bold" pitchFamily="2" charset="-127"/>
              </a:rPr>
              <a:t>3,614</a:t>
            </a:r>
            <a:r>
              <a:rPr lang="ko-KR" altLang="en-US" sz="1200" dirty="0">
                <a:latin typeface="페이퍼로지 7 Bold" pitchFamily="2" charset="-127"/>
                <a:ea typeface="페이퍼로지 7 Bold" pitchFamily="2" charset="-127"/>
              </a:rPr>
              <a:t>억 원</a:t>
            </a:r>
            <a:r>
              <a:rPr lang="en-US" altLang="ko-KR" sz="1200" dirty="0">
                <a:latin typeface="페이퍼로지 7 Bold" pitchFamily="2" charset="-127"/>
                <a:ea typeface="페이퍼로지 7 Bold" pitchFamily="2" charset="-127"/>
              </a:rPr>
              <a:t>) </a:t>
            </a:r>
            <a:r>
              <a:rPr lang="ko-KR" altLang="en-US" sz="12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</a:rPr>
              <a:t>감소</a:t>
            </a:r>
            <a:endParaRPr lang="en-US" altLang="ko-KR" sz="1200" dirty="0">
              <a:solidFill>
                <a:srgbClr val="FF4B16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/>
            <a:r>
              <a:rPr lang="en-US" altLang="ko-KR" sz="105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*</a:t>
            </a:r>
            <a:r>
              <a:rPr lang="ko-KR" altLang="en-US" sz="105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기준 기간 출범 후 </a:t>
            </a:r>
            <a:r>
              <a:rPr lang="en-US" altLang="ko-KR" sz="105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9</a:t>
            </a:r>
            <a:r>
              <a:rPr lang="ko-KR" altLang="en-US" sz="105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개월 전후</a:t>
            </a:r>
            <a:endParaRPr lang="en-US" altLang="ko-KR" sz="1050" dirty="0">
              <a:solidFill>
                <a:srgbClr val="6A7B97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4" name="Google Shape;437;g3faf9287085_1_126">
            <a:extLst>
              <a:ext uri="{FF2B5EF4-FFF2-40B4-BE49-F238E27FC236}">
                <a16:creationId xmlns:a16="http://schemas.microsoft.com/office/drawing/2014/main" id="{CCFFE694-F404-4A42-B1A7-75BF11C177A8}"/>
              </a:ext>
            </a:extLst>
          </p:cNvPr>
          <p:cNvSpPr>
            <a:spLocks noGrp="1"/>
          </p:cNvSpPr>
          <p:nvPr/>
        </p:nvSpPr>
        <p:spPr>
          <a:xfrm>
            <a:off x="547200" y="6501240"/>
            <a:ext cx="6340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altLang="en-US" sz="800" b="0" u="none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*출처</a:t>
            </a:r>
            <a:r>
              <a:rPr lang="en-US" altLang="ko-KR" sz="800" b="0" u="none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: 7</a:t>
            </a:r>
            <a:r>
              <a:rPr lang="ko-KR" altLang="en-US" sz="800" b="0" u="none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월 보이스피싱 피해액 올해 최저</a:t>
            </a:r>
            <a:r>
              <a:rPr lang="en-US" altLang="ko-KR" sz="800" b="0" u="none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, </a:t>
            </a:r>
            <a:r>
              <a:rPr lang="ko-KR" altLang="en-US" sz="800" b="0" u="none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신종 스캠도 감소세</a:t>
            </a:r>
            <a:r>
              <a:rPr lang="en-US" altLang="ko-KR" sz="800" b="0" u="none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(</a:t>
            </a:r>
            <a:r>
              <a:rPr lang="ko-KR" altLang="en-US" sz="800" b="0" u="none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통합대응단</a:t>
            </a:r>
            <a:r>
              <a:rPr lang="en-US" altLang="ko-KR" sz="800" b="0" u="none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  <a:cs typeface="Arial"/>
              </a:rPr>
              <a:t>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299D3D2-AB82-49F1-B478-11EACC8D9892}"/>
              </a:ext>
            </a:extLst>
          </p:cNvPr>
          <p:cNvSpPr txBox="1"/>
          <p:nvPr/>
        </p:nvSpPr>
        <p:spPr>
          <a:xfrm>
            <a:off x="11606820" y="6476226"/>
            <a:ext cx="320040" cy="1600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lang="en-US" altLang="ko-KR" sz="800" b="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5</a:t>
            </a:r>
            <a:endParaRPr sz="800" b="0" dirty="0">
              <a:solidFill>
                <a:srgbClr val="6A7B97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7754252-E509-4D9A-98C3-142A645DE6C1}"/>
              </a:ext>
            </a:extLst>
          </p:cNvPr>
          <p:cNvSpPr txBox="1"/>
          <p:nvPr/>
        </p:nvSpPr>
        <p:spPr>
          <a:xfrm>
            <a:off x="193345" y="89841"/>
            <a:ext cx="2556205" cy="296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000" b="0" dirty="0">
                <a:solidFill>
                  <a:srgbClr val="0056FB"/>
                </a:solidFill>
                <a:latin typeface="Noto Sans KR"/>
                <a:ea typeface="Noto Sans KR"/>
                <a:cs typeface="Noto Sans KR"/>
              </a:rPr>
              <a:t>현행 체계와 기획 배경 </a:t>
            </a:r>
            <a:endParaRPr lang="en-US" altLang="ko-KR" sz="1000" b="0" dirty="0">
              <a:solidFill>
                <a:srgbClr val="0056FB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310816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0F9E7852-8116-4CF7-926D-9D5C5FC1310F}"/>
              </a:ext>
            </a:extLst>
          </p:cNvPr>
          <p:cNvSpPr txBox="1"/>
          <p:nvPr/>
        </p:nvSpPr>
        <p:spPr>
          <a:xfrm>
            <a:off x="548640" y="614117"/>
            <a:ext cx="10744200" cy="71404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현행 탐지 일시적 차단 체계 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: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 </a:t>
            </a:r>
            <a:r>
              <a:rPr lang="ko-KR" altLang="en-US" sz="22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통신사 </a:t>
            </a:r>
            <a:r>
              <a:rPr lang="en-US" altLang="ko-KR" sz="22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AI(</a:t>
            </a:r>
            <a:r>
              <a:rPr lang="ko-KR" altLang="en-US" sz="22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탐지</a:t>
            </a:r>
            <a:r>
              <a:rPr lang="en-US" altLang="ko-KR" sz="22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)</a:t>
            </a:r>
            <a:r>
              <a:rPr lang="ko-KR" altLang="en-US" sz="22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 </a:t>
            </a:r>
            <a:r>
              <a:rPr lang="en-US" altLang="ko-KR" sz="22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– ASAP </a:t>
            </a:r>
            <a:r>
              <a:rPr lang="ko-KR" altLang="en-US" sz="22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체계</a:t>
            </a:r>
            <a:r>
              <a:rPr lang="en-US" altLang="ko-KR" sz="22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(</a:t>
            </a:r>
            <a:r>
              <a:rPr lang="ko-KR" altLang="en-US" sz="22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공유</a:t>
            </a:r>
            <a:r>
              <a:rPr lang="en-US" altLang="ko-KR" sz="22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)</a:t>
            </a:r>
            <a:r>
              <a:rPr lang="ko-KR" altLang="en-US" sz="22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 </a:t>
            </a:r>
            <a:r>
              <a:rPr lang="en-US" altLang="ko-KR" sz="22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–</a:t>
            </a:r>
            <a:r>
              <a:rPr lang="ko-KR" altLang="en-US" sz="22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 은행 </a:t>
            </a:r>
            <a:r>
              <a:rPr lang="en-US" altLang="ko-KR" sz="22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FDS(</a:t>
            </a:r>
            <a:r>
              <a:rPr lang="ko-KR" altLang="en-US" sz="22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일시적 자동 차단</a:t>
            </a:r>
            <a:r>
              <a:rPr lang="en-US" altLang="ko-KR" sz="22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)</a:t>
            </a:r>
          </a:p>
          <a:p>
            <a:pPr algn="l"/>
            <a:r>
              <a:rPr lang="ko-KR" altLang="en-US" sz="22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각 단계에서 ‘탐지 → 정보공유 → 일시적 금융거래 보호’가 체계적으로 이루어진다</a:t>
            </a:r>
            <a:r>
              <a:rPr lang="en-US" altLang="ko-KR" sz="22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.</a:t>
            </a:r>
            <a:endParaRPr lang="ko-KR" altLang="en-US" sz="2200" b="1" dirty="0">
              <a:solidFill>
                <a:srgbClr val="102D52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D015331-B6CA-4EFB-88AA-F704DE54F4D9}"/>
              </a:ext>
            </a:extLst>
          </p:cNvPr>
          <p:cNvGrpSpPr/>
          <p:nvPr/>
        </p:nvGrpSpPr>
        <p:grpSpPr>
          <a:xfrm>
            <a:off x="724475" y="4832508"/>
            <a:ext cx="10743050" cy="1266134"/>
            <a:chOff x="1809150" y="4968653"/>
            <a:chExt cx="8498650" cy="1064761"/>
          </a:xfrm>
        </p:grpSpPr>
        <p:sp>
          <p:nvSpPr>
            <p:cNvPr id="86" name="Rounded Rectangle 42">
              <a:extLst>
                <a:ext uri="{FF2B5EF4-FFF2-40B4-BE49-F238E27FC236}">
                  <a16:creationId xmlns:a16="http://schemas.microsoft.com/office/drawing/2014/main" id="{8445A7CF-0C52-4250-ACD6-55B612AD0BDC}"/>
                </a:ext>
              </a:extLst>
            </p:cNvPr>
            <p:cNvSpPr/>
            <p:nvPr/>
          </p:nvSpPr>
          <p:spPr>
            <a:xfrm>
              <a:off x="1809150" y="4968653"/>
              <a:ext cx="8498650" cy="474264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1434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현행 체계는 </a:t>
              </a:r>
              <a:r>
                <a:rPr lang="ko-KR" altLang="en-US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위험을 탐지하고 정보를 공유</a:t>
              </a:r>
              <a:r>
                <a:rPr lang="ko-KR" altLang="en-US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하며 </a:t>
              </a:r>
              <a:r>
                <a:rPr lang="ko-KR" altLang="en-US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일시적으로 거래 보호</a:t>
              </a:r>
              <a:r>
                <a:rPr lang="ko-KR" altLang="en-US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하는 방향으로 빠르게 고도화되고 있습니다</a:t>
              </a:r>
              <a:r>
                <a:rPr lang="en-US" altLang="ko-KR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.</a:t>
              </a:r>
              <a:endParaRPr lang="ko-KR" altLang="en-US" b="1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45" name="Rounded Rectangle 42">
              <a:extLst>
                <a:ext uri="{FF2B5EF4-FFF2-40B4-BE49-F238E27FC236}">
                  <a16:creationId xmlns:a16="http://schemas.microsoft.com/office/drawing/2014/main" id="{FF471039-883C-43D9-BEDD-9F8C5D6DF09A}"/>
                </a:ext>
              </a:extLst>
            </p:cNvPr>
            <p:cNvSpPr/>
            <p:nvPr/>
          </p:nvSpPr>
          <p:spPr>
            <a:xfrm>
              <a:off x="1809150" y="5559150"/>
              <a:ext cx="8498650" cy="474264"/>
            </a:xfrm>
            <a:prstGeom prst="roundRect">
              <a:avLst/>
            </a:prstGeom>
            <a:solidFill>
              <a:srgbClr val="14345B"/>
            </a:solidFill>
            <a:ln w="12700">
              <a:solidFill>
                <a:srgbClr val="1434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그렇다면 위험정보가 탐지 이후</a:t>
              </a:r>
              <a:r>
                <a:rPr lang="en-US" altLang="ko-KR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b="1" dirty="0">
                  <a:solidFill>
                    <a:srgbClr val="FFC000"/>
                  </a:solidFill>
                  <a:latin typeface="페이퍼로지 7 Bold" pitchFamily="2" charset="-127"/>
                  <a:ea typeface="페이퍼로지 7 Bold" pitchFamily="2" charset="-127"/>
                </a:rPr>
                <a:t>실제 피해를 막기 위해 금융회사에서는 어떤 업무</a:t>
              </a:r>
              <a:r>
                <a:rPr lang="ko-KR" altLang="en-US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가 이어질까요</a:t>
              </a:r>
              <a:r>
                <a:rPr lang="en-US" altLang="ko-KR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?</a:t>
              </a: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276A24AF-322E-4F67-9530-FD2E0BCDD0F7}"/>
              </a:ext>
            </a:extLst>
          </p:cNvPr>
          <p:cNvSpPr txBox="1"/>
          <p:nvPr/>
        </p:nvSpPr>
        <p:spPr>
          <a:xfrm>
            <a:off x="566928" y="6531269"/>
            <a:ext cx="4514056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ko-KR" altLang="en-US" sz="800" b="0" dirty="0">
                <a:solidFill>
                  <a:srgbClr val="6E8097"/>
                </a:solidFill>
                <a:latin typeface="페이퍼로지 4 Regular" pitchFamily="2" charset="-127"/>
                <a:ea typeface="페이퍼로지 4 Regular" pitchFamily="2" charset="-127"/>
              </a:rPr>
              <a:t>출처</a:t>
            </a:r>
            <a:r>
              <a:rPr lang="en-US" altLang="ko-KR" sz="800" b="0" dirty="0">
                <a:solidFill>
                  <a:srgbClr val="6E8097"/>
                </a:solidFill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800" b="0" dirty="0">
                <a:solidFill>
                  <a:srgbClr val="6E8097"/>
                </a:solidFill>
                <a:latin typeface="페이퍼로지 4 Regular" pitchFamily="2" charset="-127"/>
                <a:ea typeface="페이퍼로지 4 Regular" pitchFamily="2" charset="-127"/>
              </a:rPr>
              <a:t>금융위원회 </a:t>
            </a:r>
            <a:r>
              <a:rPr lang="en-US" altLang="ko-KR" sz="800" b="0" dirty="0">
                <a:solidFill>
                  <a:srgbClr val="6E8097"/>
                </a:solidFill>
                <a:latin typeface="페이퍼로지 4 Regular" pitchFamily="2" charset="-127"/>
                <a:ea typeface="페이퍼로지 4 Regular" pitchFamily="2" charset="-127"/>
              </a:rPr>
              <a:t>ASAP </a:t>
            </a:r>
            <a:r>
              <a:rPr lang="ko-KR" altLang="en-US" sz="800" b="0" dirty="0">
                <a:solidFill>
                  <a:srgbClr val="6E8097"/>
                </a:solidFill>
                <a:latin typeface="페이퍼로지 4 Regular" pitchFamily="2" charset="-127"/>
                <a:ea typeface="페이퍼로지 4 Regular" pitchFamily="2" charset="-127"/>
              </a:rPr>
              <a:t>관련 보도자료 </a:t>
            </a:r>
            <a:r>
              <a:rPr lang="en-US" altLang="ko-KR" sz="800" b="0" dirty="0">
                <a:solidFill>
                  <a:srgbClr val="6E8097"/>
                </a:solidFill>
                <a:latin typeface="페이퍼로지 4 Regular" pitchFamily="2" charset="-127"/>
                <a:ea typeface="페이퍼로지 4 Regular" pitchFamily="2" charset="-127"/>
              </a:rPr>
              <a:t>· </a:t>
            </a:r>
            <a:r>
              <a:rPr lang="ko-KR" altLang="en-US" sz="800" b="0" dirty="0">
                <a:solidFill>
                  <a:srgbClr val="6E8097"/>
                </a:solidFill>
                <a:latin typeface="페이퍼로지 4 Regular" pitchFamily="2" charset="-127"/>
                <a:ea typeface="페이퍼로지 4 Regular" pitchFamily="2" charset="-127"/>
              </a:rPr>
              <a:t>금융보안원 </a:t>
            </a:r>
            <a:r>
              <a:rPr lang="en-US" altLang="ko-KR" sz="800" b="0" dirty="0">
                <a:solidFill>
                  <a:srgbClr val="6E8097"/>
                </a:solidFill>
                <a:latin typeface="페이퍼로지 4 Regular" pitchFamily="2" charset="-127"/>
                <a:ea typeface="페이퍼로지 4 Regular" pitchFamily="2" charset="-127"/>
              </a:rPr>
              <a:t>FDS </a:t>
            </a:r>
            <a:r>
              <a:rPr lang="ko-KR" altLang="en-US" sz="800" b="0" dirty="0">
                <a:solidFill>
                  <a:srgbClr val="6E8097"/>
                </a:solidFill>
                <a:latin typeface="페이퍼로지 4 Regular" pitchFamily="2" charset="-127"/>
                <a:ea typeface="페이퍼로지 4 Regular" pitchFamily="2" charset="-127"/>
              </a:rPr>
              <a:t>운영 가이드라인 </a:t>
            </a:r>
            <a:r>
              <a:rPr lang="en-US" altLang="ko-KR" sz="800" b="0" dirty="0">
                <a:solidFill>
                  <a:srgbClr val="6E8097"/>
                </a:solidFill>
                <a:latin typeface="페이퍼로지 4 Regular" pitchFamily="2" charset="-127"/>
                <a:ea typeface="페이퍼로지 4 Regular" pitchFamily="2" charset="-127"/>
              </a:rPr>
              <a:t>· </a:t>
            </a:r>
            <a:r>
              <a:rPr lang="ko-KR" altLang="en-US" sz="800" b="0" dirty="0">
                <a:solidFill>
                  <a:srgbClr val="6E8097"/>
                </a:solidFill>
                <a:latin typeface="페이퍼로지 4 Regular" pitchFamily="2" charset="-127"/>
                <a:ea typeface="페이퍼로지 4 Regular" pitchFamily="2" charset="-127"/>
              </a:rPr>
              <a:t>통신사 </a:t>
            </a:r>
            <a:r>
              <a:rPr lang="en-US" altLang="ko-KR" sz="800" b="0" dirty="0">
                <a:solidFill>
                  <a:srgbClr val="6E8097"/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800" b="0" dirty="0">
                <a:solidFill>
                  <a:srgbClr val="6E8097"/>
                </a:solidFill>
                <a:latin typeface="페이퍼로지 4 Regular" pitchFamily="2" charset="-127"/>
                <a:ea typeface="페이퍼로지 4 Regular" pitchFamily="2" charset="-127"/>
              </a:rPr>
              <a:t>보이스피싱 탐지 공개자료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D8B100C-5C85-4AEE-BB91-2EB05A414488}"/>
              </a:ext>
            </a:extLst>
          </p:cNvPr>
          <p:cNvSpPr txBox="1"/>
          <p:nvPr/>
        </p:nvSpPr>
        <p:spPr>
          <a:xfrm>
            <a:off x="11606820" y="6476226"/>
            <a:ext cx="320040" cy="1600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lang="en-US" sz="800" b="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1</a:t>
            </a:r>
            <a:r>
              <a:rPr lang="en-US" altLang="ko-KR" sz="800" b="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1</a:t>
            </a:r>
            <a:endParaRPr sz="800" b="0" dirty="0">
              <a:solidFill>
                <a:srgbClr val="6A7B97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629434-AC03-47FE-AA38-F731C41FBB4A}"/>
              </a:ext>
            </a:extLst>
          </p:cNvPr>
          <p:cNvSpPr txBox="1"/>
          <p:nvPr/>
        </p:nvSpPr>
        <p:spPr>
          <a:xfrm>
            <a:off x="193345" y="89841"/>
            <a:ext cx="2556205" cy="296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000" b="0" dirty="0">
                <a:solidFill>
                  <a:srgbClr val="0056FB"/>
                </a:solidFill>
                <a:latin typeface="Noto Sans KR"/>
                <a:ea typeface="Noto Sans KR"/>
                <a:cs typeface="Noto Sans KR"/>
              </a:rPr>
              <a:t>현행 체계와 기획 배경 </a:t>
            </a:r>
            <a:endParaRPr lang="en-US" altLang="ko-KR" sz="1000" b="0" dirty="0">
              <a:solidFill>
                <a:srgbClr val="0056FB"/>
              </a:solidFill>
              <a:latin typeface="Noto Sans KR"/>
              <a:ea typeface="Noto Sans KR"/>
              <a:cs typeface="Noto Sans KR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13DD59C-E6AE-4C83-A00F-B01FD1130632}"/>
              </a:ext>
            </a:extLst>
          </p:cNvPr>
          <p:cNvGrpSpPr/>
          <p:nvPr/>
        </p:nvGrpSpPr>
        <p:grpSpPr>
          <a:xfrm>
            <a:off x="906780" y="1678593"/>
            <a:ext cx="10378440" cy="2486493"/>
            <a:chOff x="906780" y="2327459"/>
            <a:chExt cx="10378440" cy="2267712"/>
          </a:xfrm>
        </p:grpSpPr>
        <p:sp>
          <p:nvSpPr>
            <p:cNvPr id="11" name="Rounded Rectangle 8">
              <a:extLst>
                <a:ext uri="{FF2B5EF4-FFF2-40B4-BE49-F238E27FC236}">
                  <a16:creationId xmlns:a16="http://schemas.microsoft.com/office/drawing/2014/main" id="{ECB89CEB-50EE-4C51-9EC2-93D1A9BCC1D7}"/>
                </a:ext>
              </a:extLst>
            </p:cNvPr>
            <p:cNvSpPr/>
            <p:nvPr/>
          </p:nvSpPr>
          <p:spPr>
            <a:xfrm>
              <a:off x="906780" y="2327459"/>
              <a:ext cx="3063240" cy="226771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3DE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2" name="Rounded Rectangle 9">
              <a:extLst>
                <a:ext uri="{FF2B5EF4-FFF2-40B4-BE49-F238E27FC236}">
                  <a16:creationId xmlns:a16="http://schemas.microsoft.com/office/drawing/2014/main" id="{C5671C27-8C24-4330-9466-58331AB9D8B3}"/>
                </a:ext>
              </a:extLst>
            </p:cNvPr>
            <p:cNvSpPr/>
            <p:nvPr/>
          </p:nvSpPr>
          <p:spPr>
            <a:xfrm>
              <a:off x="1527309" y="2568382"/>
              <a:ext cx="758952" cy="292608"/>
            </a:xfrm>
            <a:prstGeom prst="roundRect">
              <a:avLst/>
            </a:prstGeom>
            <a:solidFill>
              <a:srgbClr val="2F69F5"/>
            </a:solidFill>
            <a:ln w="12700">
              <a:solidFill>
                <a:srgbClr val="2F69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E4DC52A-1AFA-49A8-9D74-DA10F2AFEF05}"/>
                </a:ext>
              </a:extLst>
            </p:cNvPr>
            <p:cNvSpPr txBox="1"/>
            <p:nvPr/>
          </p:nvSpPr>
          <p:spPr>
            <a:xfrm>
              <a:off x="1688776" y="2650823"/>
              <a:ext cx="436017" cy="12772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83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DETECT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AA593A8-E505-4619-8729-8649CB1B3F96}"/>
                </a:ext>
              </a:extLst>
            </p:cNvPr>
            <p:cNvSpPr txBox="1"/>
            <p:nvPr/>
          </p:nvSpPr>
          <p:spPr>
            <a:xfrm>
              <a:off x="2490282" y="2583881"/>
              <a:ext cx="859210" cy="26161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700" b="1" dirty="0" err="1">
                  <a:solidFill>
                    <a:srgbClr val="2F69F5"/>
                  </a:solidFill>
                  <a:latin typeface="페이퍼로지 7 Bold" pitchFamily="2" charset="-127"/>
                  <a:ea typeface="페이퍼로지 7 Bold" pitchFamily="2" charset="-127"/>
                </a:rPr>
                <a:t>통신사</a:t>
              </a:r>
              <a:r>
                <a:rPr sz="1700" b="1" dirty="0">
                  <a:solidFill>
                    <a:srgbClr val="2F69F5"/>
                  </a:solidFill>
                  <a:latin typeface="페이퍼로지 7 Bold" pitchFamily="2" charset="-127"/>
                  <a:ea typeface="페이퍼로지 7 Bold" pitchFamily="2" charset="-127"/>
                </a:rPr>
                <a:t> AI</a:t>
              </a:r>
            </a:p>
          </p:txBody>
        </p:sp>
        <p:sp>
          <p:nvSpPr>
            <p:cNvPr id="21" name="Rounded Rectangle 18">
              <a:extLst>
                <a:ext uri="{FF2B5EF4-FFF2-40B4-BE49-F238E27FC236}">
                  <a16:creationId xmlns:a16="http://schemas.microsoft.com/office/drawing/2014/main" id="{6C7C4F70-9777-4A93-9620-34F98809B95F}"/>
                </a:ext>
              </a:extLst>
            </p:cNvPr>
            <p:cNvSpPr/>
            <p:nvPr/>
          </p:nvSpPr>
          <p:spPr>
            <a:xfrm>
              <a:off x="4564379" y="2327459"/>
              <a:ext cx="3063240" cy="226771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3DE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22" name="Rounded Rectangle 19">
              <a:extLst>
                <a:ext uri="{FF2B5EF4-FFF2-40B4-BE49-F238E27FC236}">
                  <a16:creationId xmlns:a16="http://schemas.microsoft.com/office/drawing/2014/main" id="{CB5F8048-C62A-42D6-885B-2A85397704D9}"/>
                </a:ext>
              </a:extLst>
            </p:cNvPr>
            <p:cNvSpPr/>
            <p:nvPr/>
          </p:nvSpPr>
          <p:spPr>
            <a:xfrm>
              <a:off x="5299523" y="2568382"/>
              <a:ext cx="758952" cy="292608"/>
            </a:xfrm>
            <a:prstGeom prst="roundRect">
              <a:avLst/>
            </a:prstGeom>
            <a:solidFill>
              <a:srgbClr val="7052BE"/>
            </a:solidFill>
            <a:ln w="12700">
              <a:solidFill>
                <a:srgbClr val="7052B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F90188C-4FE7-492E-A268-76103A7142C1}"/>
                </a:ext>
              </a:extLst>
            </p:cNvPr>
            <p:cNvSpPr txBox="1"/>
            <p:nvPr/>
          </p:nvSpPr>
          <p:spPr>
            <a:xfrm>
              <a:off x="5486638" y="2650823"/>
              <a:ext cx="384721" cy="12772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830" b="1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SHARE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0E61279-B080-4603-B69A-2596D1C75518}"/>
                </a:ext>
              </a:extLst>
            </p:cNvPr>
            <p:cNvSpPr txBox="1"/>
            <p:nvPr/>
          </p:nvSpPr>
          <p:spPr>
            <a:xfrm>
              <a:off x="6262496" y="2583881"/>
              <a:ext cx="629981" cy="26161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700" b="1">
                  <a:solidFill>
                    <a:srgbClr val="7052BE"/>
                  </a:solidFill>
                  <a:latin typeface="페이퍼로지 7 Bold" pitchFamily="2" charset="-127"/>
                  <a:ea typeface="페이퍼로지 7 Bold" pitchFamily="2" charset="-127"/>
                </a:rPr>
                <a:t>ASAP</a:t>
              </a:r>
            </a:p>
          </p:txBody>
        </p:sp>
        <p:sp>
          <p:nvSpPr>
            <p:cNvPr id="31" name="Rounded Rectangle 28">
              <a:extLst>
                <a:ext uri="{FF2B5EF4-FFF2-40B4-BE49-F238E27FC236}">
                  <a16:creationId xmlns:a16="http://schemas.microsoft.com/office/drawing/2014/main" id="{9362BE3E-73EF-4A51-82E6-80ACC20CEF1C}"/>
                </a:ext>
              </a:extLst>
            </p:cNvPr>
            <p:cNvSpPr/>
            <p:nvPr/>
          </p:nvSpPr>
          <p:spPr>
            <a:xfrm>
              <a:off x="8221980" y="2327459"/>
              <a:ext cx="3063240" cy="226771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3DE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32" name="Rounded Rectangle 29">
              <a:extLst>
                <a:ext uri="{FF2B5EF4-FFF2-40B4-BE49-F238E27FC236}">
                  <a16:creationId xmlns:a16="http://schemas.microsoft.com/office/drawing/2014/main" id="{ED845ECF-015C-4F10-BC60-3A30C18629D1}"/>
                </a:ext>
              </a:extLst>
            </p:cNvPr>
            <p:cNvSpPr/>
            <p:nvPr/>
          </p:nvSpPr>
          <p:spPr>
            <a:xfrm>
              <a:off x="9042083" y="2568382"/>
              <a:ext cx="758952" cy="292608"/>
            </a:xfrm>
            <a:prstGeom prst="roundRect">
              <a:avLst/>
            </a:prstGeom>
            <a:solidFill>
              <a:srgbClr val="EF4646"/>
            </a:solidFill>
            <a:ln w="12700">
              <a:solidFill>
                <a:srgbClr val="EF46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958226E-279B-4DD9-ADFD-A762F6BD37A9}"/>
                </a:ext>
              </a:extLst>
            </p:cNvPr>
            <p:cNvSpPr txBox="1"/>
            <p:nvPr/>
          </p:nvSpPr>
          <p:spPr>
            <a:xfrm>
              <a:off x="9159468" y="2650823"/>
              <a:ext cx="524181" cy="12772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83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PROTECT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EDEBFDC-759F-42FF-9298-3B91B4D0D2E5}"/>
                </a:ext>
              </a:extLst>
            </p:cNvPr>
            <p:cNvSpPr txBox="1"/>
            <p:nvPr/>
          </p:nvSpPr>
          <p:spPr>
            <a:xfrm>
              <a:off x="10005056" y="2583881"/>
              <a:ext cx="460062" cy="26161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700" b="1" dirty="0">
                  <a:solidFill>
                    <a:srgbClr val="EF4646"/>
                  </a:solidFill>
                  <a:latin typeface="페이퍼로지 7 Bold" pitchFamily="2" charset="-127"/>
                  <a:ea typeface="페이퍼로지 7 Bold" pitchFamily="2" charset="-127"/>
                </a:rPr>
                <a:t>FDS</a:t>
              </a: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77F04F9D-D2A8-41CB-9A05-FFC6323DDC60}"/>
                </a:ext>
              </a:extLst>
            </p:cNvPr>
            <p:cNvGrpSpPr/>
            <p:nvPr/>
          </p:nvGrpSpPr>
          <p:grpSpPr>
            <a:xfrm>
              <a:off x="1256191" y="4150177"/>
              <a:ext cx="9511316" cy="369332"/>
              <a:chOff x="943771" y="3631410"/>
              <a:chExt cx="9511316" cy="369332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8F463B5-9ED8-483C-A100-E5685B745BA9}"/>
                  </a:ext>
                </a:extLst>
              </p:cNvPr>
              <p:cNvSpPr txBox="1"/>
              <p:nvPr/>
            </p:nvSpPr>
            <p:spPr>
              <a:xfrm>
                <a:off x="943771" y="3631410"/>
                <a:ext cx="2364429" cy="36933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ctr"/>
                <a:r>
                  <a:rPr sz="1200" b="1" dirty="0" err="1">
                    <a:solidFill>
                      <a:srgbClr val="2F69F5"/>
                    </a:solidFill>
                    <a:latin typeface="페이퍼로지 7 Bold" pitchFamily="2" charset="-127"/>
                    <a:ea typeface="페이퍼로지 7 Bold" pitchFamily="2" charset="-127"/>
                  </a:rPr>
                  <a:t>실시간</a:t>
                </a:r>
                <a:r>
                  <a:rPr sz="1200" b="1" dirty="0">
                    <a:solidFill>
                      <a:srgbClr val="2F69F5"/>
                    </a:solidFill>
                    <a:latin typeface="페이퍼로지 7 Bold" pitchFamily="2" charset="-127"/>
                    <a:ea typeface="페이퍼로지 7 Bold" pitchFamily="2" charset="-127"/>
                  </a:rPr>
                  <a:t> </a:t>
                </a:r>
                <a:r>
                  <a:rPr sz="1200" b="1" dirty="0" err="1">
                    <a:solidFill>
                      <a:srgbClr val="2F69F5"/>
                    </a:solidFill>
                    <a:latin typeface="페이퍼로지 7 Bold" pitchFamily="2" charset="-127"/>
                    <a:ea typeface="페이퍼로지 7 Bold" pitchFamily="2" charset="-127"/>
                  </a:rPr>
                  <a:t>탐지</a:t>
                </a:r>
                <a:r>
                  <a:rPr lang="en-US" sz="1200" b="1" dirty="0">
                    <a:solidFill>
                      <a:srgbClr val="2F69F5"/>
                    </a:solidFill>
                    <a:latin typeface="페이퍼로지 7 Bold" pitchFamily="2" charset="-127"/>
                    <a:ea typeface="페이퍼로지 7 Bold" pitchFamily="2" charset="-127"/>
                  </a:rPr>
                  <a:t> </a:t>
                </a:r>
                <a:r>
                  <a:rPr lang="ko-KR" altLang="en-US" sz="1200" b="1" dirty="0">
                    <a:solidFill>
                      <a:srgbClr val="2F69F5"/>
                    </a:solidFill>
                    <a:latin typeface="페이퍼로지 7 Bold" pitchFamily="2" charset="-127"/>
                    <a:ea typeface="페이퍼로지 7 Bold" pitchFamily="2" charset="-127"/>
                  </a:rPr>
                  <a:t>→ </a:t>
                </a:r>
                <a:r>
                  <a:rPr lang="en-US" altLang="ko-KR" sz="1200" b="1" dirty="0">
                    <a:solidFill>
                      <a:srgbClr val="2F69F5"/>
                    </a:solidFill>
                    <a:latin typeface="페이퍼로지 7 Bold" pitchFamily="2" charset="-127"/>
                    <a:ea typeface="페이퍼로지 7 Bold" pitchFamily="2" charset="-127"/>
                  </a:rPr>
                  <a:t>ASAP </a:t>
                </a:r>
                <a:r>
                  <a:rPr lang="ko-KR" altLang="en-US" sz="1200" b="1" dirty="0">
                    <a:solidFill>
                      <a:srgbClr val="2F69F5"/>
                    </a:solidFill>
                    <a:latin typeface="페이퍼로지 7 Bold" pitchFamily="2" charset="-127"/>
                    <a:ea typeface="페이퍼로지 7 Bold" pitchFamily="2" charset="-127"/>
                  </a:rPr>
                  <a:t>요소 데이터 공유</a:t>
                </a:r>
                <a:endParaRPr lang="en-US" altLang="ko-KR" sz="1200" b="1" dirty="0">
                  <a:solidFill>
                    <a:srgbClr val="2F69F5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  <a:p>
                <a:pPr algn="ctr"/>
                <a:r>
                  <a:rPr lang="en-US" sz="1200" b="1" dirty="0">
                    <a:solidFill>
                      <a:srgbClr val="2F69F5"/>
                    </a:solidFill>
                    <a:latin typeface="페이퍼로지 7 Bold" pitchFamily="2" charset="-127"/>
                    <a:ea typeface="페이퍼로지 7 Bold" pitchFamily="2" charset="-127"/>
                  </a:rPr>
                  <a:t>(</a:t>
                </a:r>
                <a:r>
                  <a:rPr lang="ko-KR" altLang="en-US" sz="1200" b="1" dirty="0">
                    <a:solidFill>
                      <a:srgbClr val="2F69F5"/>
                    </a:solidFill>
                    <a:latin typeface="페이퍼로지 7 Bold" pitchFamily="2" charset="-127"/>
                    <a:ea typeface="페이퍼로지 7 Bold" pitchFamily="2" charset="-127"/>
                  </a:rPr>
                  <a:t>내용과 정황은 공유하지 않음</a:t>
                </a:r>
                <a:r>
                  <a:rPr lang="en-US" altLang="ko-KR" sz="1200" b="1" dirty="0">
                    <a:solidFill>
                      <a:srgbClr val="2F69F5"/>
                    </a:solidFill>
                    <a:latin typeface="페이퍼로지 7 Bold" pitchFamily="2" charset="-127"/>
                    <a:ea typeface="페이퍼로지 7 Bold" pitchFamily="2" charset="-127"/>
                  </a:rPr>
                  <a:t>)</a:t>
                </a:r>
                <a:endParaRPr sz="1200" b="1" dirty="0">
                  <a:solidFill>
                    <a:srgbClr val="2F69F5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801EFBA-ACCF-4D1F-8BE5-58C1AA1ACD43}"/>
                  </a:ext>
                </a:extLst>
              </p:cNvPr>
              <p:cNvSpPr txBox="1"/>
              <p:nvPr/>
            </p:nvSpPr>
            <p:spPr>
              <a:xfrm>
                <a:off x="4607783" y="3685845"/>
                <a:ext cx="2351606" cy="184666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ctr"/>
                <a:r>
                  <a:rPr sz="1200" b="1" dirty="0" err="1">
                    <a:solidFill>
                      <a:srgbClr val="7052BE"/>
                    </a:solidFill>
                    <a:latin typeface="페이퍼로지 7 Bold" pitchFamily="2" charset="-127"/>
                    <a:ea typeface="페이퍼로지 7 Bold" pitchFamily="2" charset="-127"/>
                  </a:rPr>
                  <a:t>기관</a:t>
                </a:r>
                <a:r>
                  <a:rPr sz="1200" b="1" dirty="0">
                    <a:solidFill>
                      <a:srgbClr val="7052BE"/>
                    </a:solidFill>
                    <a:latin typeface="페이퍼로지 7 Bold" pitchFamily="2" charset="-127"/>
                    <a:ea typeface="페이퍼로지 7 Bold" pitchFamily="2" charset="-127"/>
                  </a:rPr>
                  <a:t> 간 </a:t>
                </a:r>
                <a:r>
                  <a:rPr sz="1200" b="1" dirty="0" err="1">
                    <a:solidFill>
                      <a:srgbClr val="7052BE"/>
                    </a:solidFill>
                    <a:latin typeface="페이퍼로지 7 Bold" pitchFamily="2" charset="-127"/>
                    <a:ea typeface="페이퍼로지 7 Bold" pitchFamily="2" charset="-127"/>
                  </a:rPr>
                  <a:t>연결</a:t>
                </a:r>
                <a:r>
                  <a:rPr lang="en-US" sz="1200" b="1" dirty="0">
                    <a:solidFill>
                      <a:srgbClr val="7052BE"/>
                    </a:solidFill>
                    <a:latin typeface="페이퍼로지 7 Bold" pitchFamily="2" charset="-127"/>
                    <a:ea typeface="페이퍼로지 7 Bold" pitchFamily="2" charset="-127"/>
                  </a:rPr>
                  <a:t> </a:t>
                </a:r>
                <a:r>
                  <a:rPr lang="ko-KR" altLang="en-US" sz="1200" b="1" dirty="0">
                    <a:solidFill>
                      <a:srgbClr val="7052BE"/>
                    </a:solidFill>
                    <a:latin typeface="페이퍼로지 7 Bold" pitchFamily="2" charset="-127"/>
                    <a:ea typeface="페이퍼로지 7 Bold" pitchFamily="2" charset="-127"/>
                  </a:rPr>
                  <a:t>→ 통신사 </a:t>
                </a:r>
                <a:r>
                  <a:rPr lang="en-US" altLang="ko-KR" sz="1200" b="1" dirty="0">
                    <a:solidFill>
                      <a:srgbClr val="7052BE"/>
                    </a:solidFill>
                    <a:latin typeface="페이퍼로지 7 Bold" pitchFamily="2" charset="-127"/>
                    <a:ea typeface="페이퍼로지 7 Bold" pitchFamily="2" charset="-127"/>
                  </a:rPr>
                  <a:t>AI, FDS</a:t>
                </a:r>
                <a:r>
                  <a:rPr lang="ko-KR" altLang="en-US" sz="1200" b="1" dirty="0">
                    <a:solidFill>
                      <a:srgbClr val="7052BE"/>
                    </a:solidFill>
                    <a:latin typeface="페이퍼로지 7 Bold" pitchFamily="2" charset="-127"/>
                    <a:ea typeface="페이퍼로지 7 Bold" pitchFamily="2" charset="-127"/>
                  </a:rPr>
                  <a:t>에 공유</a:t>
                </a:r>
                <a:endParaRPr sz="1200" b="1" dirty="0">
                  <a:solidFill>
                    <a:srgbClr val="7052BE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239FF7E-868E-4855-B7FF-5B12AE549BB3}"/>
                  </a:ext>
                </a:extLst>
              </p:cNvPr>
              <p:cNvSpPr txBox="1"/>
              <p:nvPr/>
            </p:nvSpPr>
            <p:spPr>
              <a:xfrm>
                <a:off x="8427288" y="3685845"/>
                <a:ext cx="2027799" cy="184666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srgbClr val="EF4646"/>
                    </a:solidFill>
                    <a:latin typeface="페이퍼로지 7 Bold" pitchFamily="2" charset="-127"/>
                    <a:ea typeface="페이퍼로지 7 Bold" pitchFamily="2" charset="-127"/>
                  </a:rPr>
                  <a:t>ASAP</a:t>
                </a:r>
                <a:r>
                  <a:rPr lang="ko-KR" altLang="en-US" sz="1200" b="1" dirty="0">
                    <a:solidFill>
                      <a:srgbClr val="EF4646"/>
                    </a:solidFill>
                    <a:latin typeface="페이퍼로지 7 Bold" pitchFamily="2" charset="-127"/>
                    <a:ea typeface="페이퍼로지 7 Bold" pitchFamily="2" charset="-127"/>
                  </a:rPr>
                  <a:t>에서 받음 → </a:t>
                </a:r>
                <a:r>
                  <a:rPr sz="1200" b="1" dirty="0" err="1">
                    <a:solidFill>
                      <a:srgbClr val="EF4646"/>
                    </a:solidFill>
                    <a:latin typeface="페이퍼로지 7 Bold" pitchFamily="2" charset="-127"/>
                    <a:ea typeface="페이퍼로지 7 Bold" pitchFamily="2" charset="-127"/>
                  </a:rPr>
                  <a:t>금융거래</a:t>
                </a:r>
                <a:r>
                  <a:rPr sz="1200" b="1" dirty="0">
                    <a:solidFill>
                      <a:srgbClr val="EF4646"/>
                    </a:solidFill>
                    <a:latin typeface="페이퍼로지 7 Bold" pitchFamily="2" charset="-127"/>
                    <a:ea typeface="페이퍼로지 7 Bold" pitchFamily="2" charset="-127"/>
                  </a:rPr>
                  <a:t> </a:t>
                </a:r>
                <a:r>
                  <a:rPr sz="1200" b="1" dirty="0" err="1">
                    <a:solidFill>
                      <a:srgbClr val="EF4646"/>
                    </a:solidFill>
                    <a:latin typeface="페이퍼로지 7 Bold" pitchFamily="2" charset="-127"/>
                    <a:ea typeface="페이퍼로지 7 Bold" pitchFamily="2" charset="-127"/>
                  </a:rPr>
                  <a:t>보호</a:t>
                </a:r>
                <a:endParaRPr sz="1200" b="1" dirty="0">
                  <a:solidFill>
                    <a:srgbClr val="EF4646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E58401A8-2F54-4158-B4A9-9BF815E35A9C}"/>
                </a:ext>
              </a:extLst>
            </p:cNvPr>
            <p:cNvGrpSpPr/>
            <p:nvPr/>
          </p:nvGrpSpPr>
          <p:grpSpPr>
            <a:xfrm>
              <a:off x="1325880" y="3030375"/>
              <a:ext cx="9540240" cy="1044142"/>
              <a:chOff x="1013460" y="2619935"/>
              <a:chExt cx="9540240" cy="1044142"/>
            </a:xfrm>
          </p:grpSpPr>
          <p:sp>
            <p:nvSpPr>
              <p:cNvPr id="15" name="Rounded Rectangle 12">
                <a:extLst>
                  <a:ext uri="{FF2B5EF4-FFF2-40B4-BE49-F238E27FC236}">
                    <a16:creationId xmlns:a16="http://schemas.microsoft.com/office/drawing/2014/main" id="{632F0DB4-7AB1-44E8-AE16-EBF046ADDE92}"/>
                  </a:ext>
                </a:extLst>
              </p:cNvPr>
              <p:cNvSpPr/>
              <p:nvPr/>
            </p:nvSpPr>
            <p:spPr>
              <a:xfrm>
                <a:off x="1013460" y="2619935"/>
                <a:ext cx="2225040" cy="1044142"/>
              </a:xfrm>
              <a:prstGeom prst="roundRect">
                <a:avLst/>
              </a:prstGeom>
              <a:solidFill>
                <a:srgbClr val="EBF3FF"/>
              </a:solidFill>
              <a:ln w="12700">
                <a:solidFill>
                  <a:srgbClr val="2F69F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0DA4309-0F1F-42DC-AA8C-4869C7E50111}"/>
                  </a:ext>
                </a:extLst>
              </p:cNvPr>
              <p:cNvSpPr txBox="1"/>
              <p:nvPr/>
            </p:nvSpPr>
            <p:spPr>
              <a:xfrm>
                <a:off x="1214889" y="2745455"/>
                <a:ext cx="1102866" cy="79310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2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• </a:t>
                </a:r>
                <a:r>
                  <a:rPr lang="ko-KR" altLang="en-US" sz="12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실시간 </a:t>
                </a:r>
                <a:r>
                  <a:rPr sz="1200" b="1" dirty="0" err="1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통화</a:t>
                </a:r>
                <a:r>
                  <a:rPr sz="12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 </a:t>
                </a:r>
                <a:r>
                  <a:rPr sz="1200" b="1" dirty="0" err="1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분석</a:t>
                </a:r>
                <a:endParaRPr lang="en-US" sz="1200" b="1" dirty="0">
                  <a:solidFill>
                    <a:srgbClr val="1D324E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2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• </a:t>
                </a:r>
                <a:r>
                  <a:rPr lang="ko-KR" altLang="en-US" sz="12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위험 신호 탐지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2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• </a:t>
                </a:r>
                <a:r>
                  <a:rPr lang="ko-KR" altLang="en-US" sz="12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실시간 경고</a:t>
                </a:r>
              </a:p>
            </p:txBody>
          </p:sp>
          <p:sp>
            <p:nvSpPr>
              <p:cNvPr id="25" name="Rounded Rectangle 22">
                <a:extLst>
                  <a:ext uri="{FF2B5EF4-FFF2-40B4-BE49-F238E27FC236}">
                    <a16:creationId xmlns:a16="http://schemas.microsoft.com/office/drawing/2014/main" id="{48C97BA0-025C-48BA-97CF-98402DD70E68}"/>
                  </a:ext>
                </a:extLst>
              </p:cNvPr>
              <p:cNvSpPr/>
              <p:nvPr/>
            </p:nvSpPr>
            <p:spPr>
              <a:xfrm>
                <a:off x="4671060" y="2619935"/>
                <a:ext cx="2225040" cy="1044142"/>
              </a:xfrm>
              <a:prstGeom prst="roundRect">
                <a:avLst/>
              </a:prstGeom>
              <a:solidFill>
                <a:srgbClr val="F4F1FF"/>
              </a:solidFill>
              <a:ln w="12700">
                <a:solidFill>
                  <a:srgbClr val="7052B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6277D37-C69D-4599-87F8-4C20E80FF0C3}"/>
                  </a:ext>
                </a:extLst>
              </p:cNvPr>
              <p:cNvSpPr txBox="1"/>
              <p:nvPr/>
            </p:nvSpPr>
            <p:spPr>
              <a:xfrm>
                <a:off x="4987103" y="2745455"/>
                <a:ext cx="1237518" cy="79310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2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• </a:t>
                </a:r>
                <a:r>
                  <a:rPr lang="ko-KR" altLang="en-US" sz="12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의심정보 수집</a:t>
                </a:r>
                <a:br>
                  <a:rPr lang="en-US" altLang="ko-KR" sz="12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</a:br>
                <a:r>
                  <a:rPr lang="en-US" altLang="ko-KR" sz="12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• </a:t>
                </a:r>
                <a:r>
                  <a:rPr lang="ko-KR" altLang="en-US" sz="12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공유</a:t>
                </a:r>
                <a:r>
                  <a:rPr lang="en-US" altLang="ko-KR" sz="12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·</a:t>
                </a:r>
                <a:r>
                  <a:rPr lang="ko-KR" altLang="en-US" sz="12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분석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2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• </a:t>
                </a:r>
                <a:r>
                  <a:rPr lang="ko-KR" altLang="en-US" sz="12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관계기관 공동 활용</a:t>
                </a:r>
              </a:p>
            </p:txBody>
          </p:sp>
          <p:sp>
            <p:nvSpPr>
              <p:cNvPr id="35" name="Rounded Rectangle 32">
                <a:extLst>
                  <a:ext uri="{FF2B5EF4-FFF2-40B4-BE49-F238E27FC236}">
                    <a16:creationId xmlns:a16="http://schemas.microsoft.com/office/drawing/2014/main" id="{3CAB4C4E-A851-4D88-ACF2-0B686C1BAFCB}"/>
                  </a:ext>
                </a:extLst>
              </p:cNvPr>
              <p:cNvSpPr/>
              <p:nvPr/>
            </p:nvSpPr>
            <p:spPr>
              <a:xfrm>
                <a:off x="8328660" y="2619935"/>
                <a:ext cx="2225040" cy="1044142"/>
              </a:xfrm>
              <a:prstGeom prst="roundRect">
                <a:avLst/>
              </a:prstGeom>
              <a:solidFill>
                <a:srgbClr val="FFF1F1"/>
              </a:solidFill>
              <a:ln w="12700">
                <a:solidFill>
                  <a:srgbClr val="EF46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5645DF73-52F9-4C27-A661-0BC90958C39F}"/>
                  </a:ext>
                </a:extLst>
              </p:cNvPr>
              <p:cNvSpPr txBox="1"/>
              <p:nvPr/>
            </p:nvSpPr>
            <p:spPr>
              <a:xfrm>
                <a:off x="8729663" y="2745455"/>
                <a:ext cx="1303242" cy="79310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ko-KR" sz="12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• </a:t>
                </a:r>
                <a:r>
                  <a:rPr lang="ko-KR" altLang="en-US" sz="12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거래 패턴 분석</a:t>
                </a:r>
                <a:endParaRPr lang="en-US" altLang="ko-KR" sz="1200" b="1" dirty="0">
                  <a:solidFill>
                    <a:srgbClr val="1D324E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2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• </a:t>
                </a:r>
                <a:r>
                  <a:rPr lang="ko-KR" altLang="en-US" sz="12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이상거래 탐지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2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• </a:t>
                </a:r>
                <a:r>
                  <a:rPr lang="ko-KR" altLang="en-US" sz="12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지연</a:t>
                </a:r>
                <a:r>
                  <a:rPr lang="en-US" altLang="ko-KR" sz="12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·</a:t>
                </a:r>
                <a:r>
                  <a:rPr lang="ko-KR" altLang="en-US" sz="12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정지</a:t>
                </a:r>
                <a:r>
                  <a:rPr lang="en-US" altLang="ko-KR" sz="12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·</a:t>
                </a:r>
                <a:r>
                  <a:rPr lang="ko-KR" altLang="en-US" sz="12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추가 확인</a:t>
                </a:r>
              </a:p>
            </p:txBody>
          </p:sp>
        </p:grpSp>
        <p:sp>
          <p:nvSpPr>
            <p:cNvPr id="48" name="Arrow: Left-Right 47">
              <a:extLst>
                <a:ext uri="{FF2B5EF4-FFF2-40B4-BE49-F238E27FC236}">
                  <a16:creationId xmlns:a16="http://schemas.microsoft.com/office/drawing/2014/main" id="{A60F244D-BB83-4FD3-A2F2-D3AE45442AB8}"/>
                </a:ext>
              </a:extLst>
            </p:cNvPr>
            <p:cNvSpPr/>
            <p:nvPr/>
          </p:nvSpPr>
          <p:spPr>
            <a:xfrm>
              <a:off x="4071713" y="3268572"/>
              <a:ext cx="390974" cy="385486"/>
            </a:xfrm>
            <a:prstGeom prst="leftRightArrow">
              <a:avLst>
                <a:gd name="adj1" fmla="val 36046"/>
                <a:gd name="adj2" fmla="val 36047"/>
              </a:avLst>
            </a:prstGeom>
            <a:solidFill>
              <a:srgbClr val="0056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Arrow: Left-Right 48">
              <a:extLst>
                <a:ext uri="{FF2B5EF4-FFF2-40B4-BE49-F238E27FC236}">
                  <a16:creationId xmlns:a16="http://schemas.microsoft.com/office/drawing/2014/main" id="{07F5F114-949A-4001-832D-24EA5A0C57D4}"/>
                </a:ext>
              </a:extLst>
            </p:cNvPr>
            <p:cNvSpPr/>
            <p:nvPr/>
          </p:nvSpPr>
          <p:spPr>
            <a:xfrm>
              <a:off x="7729312" y="3268572"/>
              <a:ext cx="390974" cy="385486"/>
            </a:xfrm>
            <a:prstGeom prst="leftRightArrow">
              <a:avLst>
                <a:gd name="adj1" fmla="val 36046"/>
                <a:gd name="adj2" fmla="val 36047"/>
              </a:avLst>
            </a:prstGeom>
            <a:solidFill>
              <a:srgbClr val="0056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19917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Image 7" descr="preencoded.png">
            <a:extLst>
              <a:ext uri="{FF2B5EF4-FFF2-40B4-BE49-F238E27FC236}">
                <a16:creationId xmlns:a16="http://schemas.microsoft.com/office/drawing/2014/main" id="{497D09A6-84C4-4C7A-A2F9-E0CA60193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740" y="2851101"/>
            <a:ext cx="964219" cy="510123"/>
          </a:xfrm>
          <a:prstGeom prst="rect">
            <a:avLst/>
          </a:prstGeom>
        </p:spPr>
      </p:pic>
      <p:sp>
        <p:nvSpPr>
          <p:cNvPr id="169" name="Shape 10">
            <a:extLst>
              <a:ext uri="{FF2B5EF4-FFF2-40B4-BE49-F238E27FC236}">
                <a16:creationId xmlns:a16="http://schemas.microsoft.com/office/drawing/2014/main" id="{551498E5-8661-45E9-BE31-52AC9A0F21E6}"/>
              </a:ext>
            </a:extLst>
          </p:cNvPr>
          <p:cNvSpPr/>
          <p:nvPr/>
        </p:nvSpPr>
        <p:spPr>
          <a:xfrm>
            <a:off x="410586" y="1400074"/>
            <a:ext cx="3493730" cy="3771686"/>
          </a:xfrm>
          <a:prstGeom prst="roundRect">
            <a:avLst>
              <a:gd name="adj" fmla="val 1692"/>
            </a:avLst>
          </a:prstGeom>
          <a:solidFill>
            <a:srgbClr val="FDFDFD"/>
          </a:solidFill>
          <a:ln w="19050">
            <a:solidFill>
              <a:srgbClr val="EAEFF4"/>
            </a:solidFill>
            <a:prstDash val="solid"/>
          </a:ln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ED71A7-E787-4885-BE7D-9AFF74809193}"/>
              </a:ext>
            </a:extLst>
          </p:cNvPr>
          <p:cNvSpPr txBox="1"/>
          <p:nvPr/>
        </p:nvSpPr>
        <p:spPr>
          <a:xfrm>
            <a:off x="193345" y="89841"/>
            <a:ext cx="2556205" cy="296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000" b="0" dirty="0">
                <a:solidFill>
                  <a:srgbClr val="0056FB"/>
                </a:solidFill>
                <a:latin typeface="Noto Sans KR"/>
                <a:ea typeface="Noto Sans KR"/>
                <a:cs typeface="Noto Sans KR"/>
              </a:rPr>
              <a:t>현행 체계와 기획 배경 </a:t>
            </a:r>
            <a:endParaRPr lang="en-US" altLang="ko-KR" sz="1000" b="0" dirty="0">
              <a:solidFill>
                <a:srgbClr val="0056FB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188" name="Image 7" descr="preencoded.png">
            <a:extLst>
              <a:ext uri="{FF2B5EF4-FFF2-40B4-BE49-F238E27FC236}">
                <a16:creationId xmlns:a16="http://schemas.microsoft.com/office/drawing/2014/main" id="{C758873F-1117-4DA2-B4F0-6B9588A38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3674" y="2851101"/>
            <a:ext cx="964219" cy="510123"/>
          </a:xfrm>
          <a:prstGeom prst="rect">
            <a:avLst/>
          </a:prstGeom>
        </p:spPr>
      </p:pic>
      <p:grpSp>
        <p:nvGrpSpPr>
          <p:cNvPr id="136" name="Group 135">
            <a:extLst>
              <a:ext uri="{FF2B5EF4-FFF2-40B4-BE49-F238E27FC236}">
                <a16:creationId xmlns:a16="http://schemas.microsoft.com/office/drawing/2014/main" id="{FC177D04-DF27-4D45-AC41-62AAF1023318}"/>
              </a:ext>
            </a:extLst>
          </p:cNvPr>
          <p:cNvGrpSpPr/>
          <p:nvPr/>
        </p:nvGrpSpPr>
        <p:grpSpPr>
          <a:xfrm>
            <a:off x="9536890" y="1346434"/>
            <a:ext cx="2736944" cy="2844450"/>
            <a:chOff x="11523502" y="2578536"/>
            <a:chExt cx="3309588" cy="3657958"/>
          </a:xfrm>
        </p:grpSpPr>
        <p:sp>
          <p:nvSpPr>
            <p:cNvPr id="78" name="Shape 4">
              <a:extLst>
                <a:ext uri="{FF2B5EF4-FFF2-40B4-BE49-F238E27FC236}">
                  <a16:creationId xmlns:a16="http://schemas.microsoft.com/office/drawing/2014/main" id="{57D23D07-535E-4F96-AAE6-11B4A0507AF9}"/>
                </a:ext>
              </a:extLst>
            </p:cNvPr>
            <p:cNvSpPr/>
            <p:nvPr/>
          </p:nvSpPr>
          <p:spPr>
            <a:xfrm>
              <a:off x="11535944" y="2578536"/>
              <a:ext cx="2799457" cy="497681"/>
            </a:xfrm>
            <a:prstGeom prst="roundRect">
              <a:avLst>
                <a:gd name="adj" fmla="val 12500"/>
              </a:avLst>
            </a:prstGeom>
            <a:solidFill>
              <a:srgbClr val="5A666E"/>
            </a:solidFill>
            <a:ln w="9525">
              <a:solidFill>
                <a:srgbClr val="BBC0C4"/>
              </a:solidFill>
              <a:prstDash val="solid"/>
            </a:ln>
          </p:spPr>
        </p:sp>
        <p:sp>
          <p:nvSpPr>
            <p:cNvPr id="79" name="Text 5">
              <a:extLst>
                <a:ext uri="{FF2B5EF4-FFF2-40B4-BE49-F238E27FC236}">
                  <a16:creationId xmlns:a16="http://schemas.microsoft.com/office/drawing/2014/main" id="{8D7FAE81-DF52-484A-8C48-95066030684C}"/>
                </a:ext>
              </a:extLst>
            </p:cNvPr>
            <p:cNvSpPr/>
            <p:nvPr/>
          </p:nvSpPr>
          <p:spPr>
            <a:xfrm>
              <a:off x="11735006" y="2615861"/>
              <a:ext cx="3098084" cy="4479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1764"/>
                </a:lnSpc>
              </a:pPr>
              <a:r>
                <a:rPr lang="ko-KR" altLang="en-US" sz="1715" b="1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  <a:cs typeface="Malgun Gothic" pitchFamily="34" charset="-120"/>
                </a:rPr>
                <a:t>판단 결과에 따른 조치</a:t>
              </a:r>
              <a:endParaRPr lang="en-US" sz="1715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80" name="Shape 6">
              <a:extLst>
                <a:ext uri="{FF2B5EF4-FFF2-40B4-BE49-F238E27FC236}">
                  <a16:creationId xmlns:a16="http://schemas.microsoft.com/office/drawing/2014/main" id="{172AED6A-A8E6-4513-BDF6-F53C1FB412BC}"/>
                </a:ext>
              </a:extLst>
            </p:cNvPr>
            <p:cNvSpPr/>
            <p:nvPr/>
          </p:nvSpPr>
          <p:spPr>
            <a:xfrm>
              <a:off x="11523502" y="3063776"/>
              <a:ext cx="2811899" cy="3172718"/>
            </a:xfrm>
            <a:prstGeom prst="roundRect">
              <a:avLst>
                <a:gd name="adj" fmla="val 2765"/>
              </a:avLst>
            </a:prstGeom>
            <a:solidFill>
              <a:srgbClr val="F6F6F7"/>
            </a:solidFill>
            <a:ln w="9525">
              <a:solidFill>
                <a:srgbClr val="D7DADC"/>
              </a:solidFill>
              <a:prstDash val="solid"/>
            </a:ln>
          </p:spPr>
        </p:sp>
        <p:pic>
          <p:nvPicPr>
            <p:cNvPr id="81" name="Image 3" descr="preencoded.png">
              <a:extLst>
                <a:ext uri="{FF2B5EF4-FFF2-40B4-BE49-F238E27FC236}">
                  <a16:creationId xmlns:a16="http://schemas.microsoft.com/office/drawing/2014/main" id="{EFD4A980-B249-4C62-AC11-944EF1F7F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904568" y="5713928"/>
              <a:ext cx="62210" cy="248841"/>
            </a:xfrm>
            <a:prstGeom prst="rect">
              <a:avLst/>
            </a:prstGeom>
          </p:spPr>
        </p:pic>
        <p:sp>
          <p:nvSpPr>
            <p:cNvPr id="82" name="Shape 7">
              <a:extLst>
                <a:ext uri="{FF2B5EF4-FFF2-40B4-BE49-F238E27FC236}">
                  <a16:creationId xmlns:a16="http://schemas.microsoft.com/office/drawing/2014/main" id="{FB95CACF-010E-4782-B89B-E75EE687F7DA}"/>
                </a:ext>
              </a:extLst>
            </p:cNvPr>
            <p:cNvSpPr/>
            <p:nvPr/>
          </p:nvSpPr>
          <p:spPr>
            <a:xfrm>
              <a:off x="11685248" y="4805660"/>
              <a:ext cx="2488406" cy="709196"/>
            </a:xfrm>
            <a:prstGeom prst="rect">
              <a:avLst/>
            </a:prstGeom>
            <a:solidFill>
              <a:srgbClr val="FDFDFD"/>
            </a:solidFill>
            <a:ln w="19050">
              <a:solidFill>
                <a:srgbClr val="F6F6F8"/>
              </a:solidFill>
              <a:prstDash val="solid"/>
            </a:ln>
          </p:spPr>
        </p:sp>
        <p:pic>
          <p:nvPicPr>
            <p:cNvPr id="83" name="Image 4" descr="preencoded.png">
              <a:extLst>
                <a:ext uri="{FF2B5EF4-FFF2-40B4-BE49-F238E27FC236}">
                  <a16:creationId xmlns:a16="http://schemas.microsoft.com/office/drawing/2014/main" id="{E7CABED9-799A-4271-9DFD-D832133C0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958973" y="4942522"/>
              <a:ext cx="522565" cy="410587"/>
            </a:xfrm>
            <a:prstGeom prst="rect">
              <a:avLst/>
            </a:prstGeom>
          </p:spPr>
        </p:pic>
        <p:sp>
          <p:nvSpPr>
            <p:cNvPr id="84" name="Text 8">
              <a:extLst>
                <a:ext uri="{FF2B5EF4-FFF2-40B4-BE49-F238E27FC236}">
                  <a16:creationId xmlns:a16="http://schemas.microsoft.com/office/drawing/2014/main" id="{1903CC2F-8D49-4EA4-B7D3-562A9D1969D2}"/>
                </a:ext>
              </a:extLst>
            </p:cNvPr>
            <p:cNvSpPr/>
            <p:nvPr/>
          </p:nvSpPr>
          <p:spPr>
            <a:xfrm>
              <a:off x="12655727" y="5017174"/>
              <a:ext cx="1256645" cy="2363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1372"/>
                </a:lnSpc>
              </a:pPr>
              <a:r>
                <a:rPr lang="en-US" sz="1402" dirty="0">
                  <a:solidFill>
                    <a:srgbClr val="747F90"/>
                  </a:solidFill>
                  <a:latin typeface="페이퍼로지 5 Medium" pitchFamily="2" charset="-127"/>
                  <a:ea typeface="페이퍼로지 5 Medium" pitchFamily="2" charset="-127"/>
                  <a:cs typeface="Malgun Gothic" pitchFamily="34" charset="-120"/>
                </a:rPr>
                <a:t>추가 확인 진행</a:t>
              </a:r>
              <a:endParaRPr lang="en-US" sz="1402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85" name="Shape 9">
              <a:extLst>
                <a:ext uri="{FF2B5EF4-FFF2-40B4-BE49-F238E27FC236}">
                  <a16:creationId xmlns:a16="http://schemas.microsoft.com/office/drawing/2014/main" id="{D30D9FBD-49B8-498D-8FBE-2289440D245F}"/>
                </a:ext>
              </a:extLst>
            </p:cNvPr>
            <p:cNvSpPr/>
            <p:nvPr/>
          </p:nvSpPr>
          <p:spPr>
            <a:xfrm>
              <a:off x="11685248" y="4021812"/>
              <a:ext cx="2488406" cy="709196"/>
            </a:xfrm>
            <a:prstGeom prst="rect">
              <a:avLst/>
            </a:prstGeom>
            <a:solidFill>
              <a:srgbClr val="FCFDFD"/>
            </a:solidFill>
            <a:ln w="47625">
              <a:solidFill>
                <a:srgbClr val="F7F7F8"/>
              </a:solidFill>
              <a:prstDash val="solid"/>
            </a:ln>
          </p:spPr>
        </p:sp>
        <p:pic>
          <p:nvPicPr>
            <p:cNvPr id="86" name="Image 5" descr="preencoded.png">
              <a:extLst>
                <a:ext uri="{FF2B5EF4-FFF2-40B4-BE49-F238E27FC236}">
                  <a16:creationId xmlns:a16="http://schemas.microsoft.com/office/drawing/2014/main" id="{6CDED6AA-CECC-480B-8A4F-1953347690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958973" y="4196001"/>
              <a:ext cx="522565" cy="410587"/>
            </a:xfrm>
            <a:prstGeom prst="rect">
              <a:avLst/>
            </a:prstGeom>
          </p:spPr>
        </p:pic>
        <p:sp>
          <p:nvSpPr>
            <p:cNvPr id="87" name="Text 10">
              <a:extLst>
                <a:ext uri="{FF2B5EF4-FFF2-40B4-BE49-F238E27FC236}">
                  <a16:creationId xmlns:a16="http://schemas.microsoft.com/office/drawing/2014/main" id="{1430F63A-E16A-467E-AE53-245A4DADDCCD}"/>
                </a:ext>
              </a:extLst>
            </p:cNvPr>
            <p:cNvSpPr/>
            <p:nvPr/>
          </p:nvSpPr>
          <p:spPr>
            <a:xfrm>
              <a:off x="12655727" y="4270652"/>
              <a:ext cx="1256645" cy="223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1274"/>
                </a:lnSpc>
              </a:pPr>
              <a:r>
                <a:rPr lang="en-US" sz="1352" dirty="0">
                  <a:solidFill>
                    <a:srgbClr val="6D788A"/>
                  </a:solidFill>
                  <a:latin typeface="페이퍼로지 5 Medium" pitchFamily="2" charset="-127"/>
                  <a:ea typeface="페이퍼로지 5 Medium" pitchFamily="2" charset="-127"/>
                  <a:cs typeface="Malgun Gothic" pitchFamily="34" charset="-120"/>
                </a:rPr>
                <a:t>거래 제한 해재</a:t>
              </a:r>
              <a:endParaRPr lang="en-US" sz="1352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88" name="Shape 11">
              <a:extLst>
                <a:ext uri="{FF2B5EF4-FFF2-40B4-BE49-F238E27FC236}">
                  <a16:creationId xmlns:a16="http://schemas.microsoft.com/office/drawing/2014/main" id="{3A5F03B1-6631-4089-8B01-00BA36B01101}"/>
                </a:ext>
              </a:extLst>
            </p:cNvPr>
            <p:cNvSpPr/>
            <p:nvPr/>
          </p:nvSpPr>
          <p:spPr>
            <a:xfrm>
              <a:off x="11747459" y="3312616"/>
              <a:ext cx="2376428" cy="671870"/>
            </a:xfrm>
            <a:prstGeom prst="roundRect">
              <a:avLst>
                <a:gd name="adj" fmla="val 12963"/>
              </a:avLst>
            </a:prstGeom>
            <a:solidFill>
              <a:srgbClr val="FDFDFD"/>
            </a:solidFill>
            <a:ln w="9525">
              <a:solidFill>
                <a:srgbClr val="F3F4F6"/>
              </a:solidFill>
              <a:prstDash val="solid"/>
            </a:ln>
          </p:spPr>
        </p:sp>
        <p:sp>
          <p:nvSpPr>
            <p:cNvPr id="89" name="Text 12">
              <a:extLst>
                <a:ext uri="{FF2B5EF4-FFF2-40B4-BE49-F238E27FC236}">
                  <a16:creationId xmlns:a16="http://schemas.microsoft.com/office/drawing/2014/main" id="{93870951-C38C-4D35-A718-165E57322AB1}"/>
                </a:ext>
              </a:extLst>
            </p:cNvPr>
            <p:cNvSpPr/>
            <p:nvPr/>
          </p:nvSpPr>
          <p:spPr>
            <a:xfrm>
              <a:off x="12655727" y="3524131"/>
              <a:ext cx="1256645" cy="2363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1372"/>
                </a:lnSpc>
              </a:pPr>
              <a:r>
                <a:rPr lang="en-US" sz="1382" dirty="0">
                  <a:solidFill>
                    <a:srgbClr val="778293"/>
                  </a:solidFill>
                  <a:latin typeface="페이퍼로지 5 Medium" pitchFamily="2" charset="-127"/>
                  <a:ea typeface="페이퍼로지 5 Medium" pitchFamily="2" charset="-127"/>
                  <a:cs typeface="Malgun Gothic" pitchFamily="34" charset="-120"/>
                </a:rPr>
                <a:t>거래 제한 유지</a:t>
              </a:r>
              <a:endParaRPr lang="en-US" sz="1382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pic>
          <p:nvPicPr>
            <p:cNvPr id="90" name="Image 6" descr="preencoded.png">
              <a:extLst>
                <a:ext uri="{FF2B5EF4-FFF2-40B4-BE49-F238E27FC236}">
                  <a16:creationId xmlns:a16="http://schemas.microsoft.com/office/drawing/2014/main" id="{8190A0D3-E24B-48AB-A350-985FD254E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958974" y="3449479"/>
              <a:ext cx="510123" cy="410587"/>
            </a:xfrm>
            <a:prstGeom prst="rect">
              <a:avLst/>
            </a:prstGeom>
          </p:spPr>
        </p:pic>
      </p:grpSp>
      <p:sp>
        <p:nvSpPr>
          <p:cNvPr id="94" name="Shape 14">
            <a:extLst>
              <a:ext uri="{FF2B5EF4-FFF2-40B4-BE49-F238E27FC236}">
                <a16:creationId xmlns:a16="http://schemas.microsoft.com/office/drawing/2014/main" id="{8976F472-292F-4514-A14E-14FCF52B8F69}"/>
              </a:ext>
            </a:extLst>
          </p:cNvPr>
          <p:cNvSpPr/>
          <p:nvPr/>
        </p:nvSpPr>
        <p:spPr>
          <a:xfrm>
            <a:off x="4372609" y="1398537"/>
            <a:ext cx="4646165" cy="3743576"/>
          </a:xfrm>
          <a:prstGeom prst="rect">
            <a:avLst/>
          </a:prstGeom>
          <a:solidFill>
            <a:srgbClr val="FCF6F5"/>
          </a:solidFill>
          <a:ln>
            <a:solidFill>
              <a:srgbClr val="E89FAE"/>
            </a:solidFill>
          </a:ln>
        </p:spPr>
      </p:sp>
      <p:sp>
        <p:nvSpPr>
          <p:cNvPr id="95" name="Shape 15">
            <a:extLst>
              <a:ext uri="{FF2B5EF4-FFF2-40B4-BE49-F238E27FC236}">
                <a16:creationId xmlns:a16="http://schemas.microsoft.com/office/drawing/2014/main" id="{BABB2540-7DF9-4D03-AC96-3BD26FCDB26A}"/>
              </a:ext>
            </a:extLst>
          </p:cNvPr>
          <p:cNvSpPr/>
          <p:nvPr/>
        </p:nvSpPr>
        <p:spPr>
          <a:xfrm>
            <a:off x="5871969" y="2700730"/>
            <a:ext cx="1462339" cy="533913"/>
          </a:xfrm>
          <a:prstGeom prst="roundRect">
            <a:avLst>
              <a:gd name="adj" fmla="val 16364"/>
            </a:avLst>
          </a:prstGeom>
          <a:solidFill>
            <a:srgbClr val="FDFDFD"/>
          </a:solidFill>
          <a:ln w="9525">
            <a:solidFill>
              <a:srgbClr val="DFE0E2"/>
            </a:solidFill>
            <a:prstDash val="solid"/>
          </a:ln>
        </p:spPr>
      </p:sp>
      <p:pic>
        <p:nvPicPr>
          <p:cNvPr id="96" name="Image 9" descr="preencoded.png">
            <a:extLst>
              <a:ext uri="{FF2B5EF4-FFF2-40B4-BE49-F238E27FC236}">
                <a16:creationId xmlns:a16="http://schemas.microsoft.com/office/drawing/2014/main" id="{D7AB9BE1-4611-4803-AAB1-F3DEB8F803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0054" y="2836635"/>
            <a:ext cx="333191" cy="262103"/>
          </a:xfrm>
          <a:prstGeom prst="rect">
            <a:avLst/>
          </a:prstGeom>
        </p:spPr>
      </p:pic>
      <p:sp>
        <p:nvSpPr>
          <p:cNvPr id="97" name="Text 16">
            <a:extLst>
              <a:ext uri="{FF2B5EF4-FFF2-40B4-BE49-F238E27FC236}">
                <a16:creationId xmlns:a16="http://schemas.microsoft.com/office/drawing/2014/main" id="{DC1943ED-FAF8-421E-82D1-9B2D704FFA6D}"/>
              </a:ext>
            </a:extLst>
          </p:cNvPr>
          <p:cNvSpPr/>
          <p:nvPr/>
        </p:nvSpPr>
        <p:spPr>
          <a:xfrm>
            <a:off x="6445798" y="2856050"/>
            <a:ext cx="740425" cy="19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74"/>
              </a:lnSpc>
            </a:pPr>
            <a:r>
              <a:rPr lang="en-US" sz="1050" dirty="0">
                <a:solidFill>
                  <a:srgbClr val="747F9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고객의 설명</a:t>
            </a:r>
            <a:endParaRPr lang="en-US" sz="10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98" name="Image 10" descr="preencoded.png">
            <a:extLst>
              <a:ext uri="{FF2B5EF4-FFF2-40B4-BE49-F238E27FC236}">
                <a16:creationId xmlns:a16="http://schemas.microsoft.com/office/drawing/2014/main" id="{E52AB307-2A0C-4F1B-B7C2-BDCE110B6B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6862" y="3224936"/>
            <a:ext cx="194362" cy="242688"/>
          </a:xfrm>
          <a:prstGeom prst="rect">
            <a:avLst/>
          </a:prstGeom>
        </p:spPr>
      </p:pic>
      <p:pic>
        <p:nvPicPr>
          <p:cNvPr id="99" name="Image 11" descr="preencoded.png">
            <a:extLst>
              <a:ext uri="{FF2B5EF4-FFF2-40B4-BE49-F238E27FC236}">
                <a16:creationId xmlns:a16="http://schemas.microsoft.com/office/drawing/2014/main" id="{043B2EDC-F2E1-4B71-8F09-EC4D70D9B4A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22075" y="3545283"/>
            <a:ext cx="1943615" cy="1465833"/>
          </a:xfrm>
          <a:prstGeom prst="rect">
            <a:avLst/>
          </a:prstGeom>
        </p:spPr>
      </p:pic>
      <p:sp>
        <p:nvSpPr>
          <p:cNvPr id="100" name="Shape 17">
            <a:extLst>
              <a:ext uri="{FF2B5EF4-FFF2-40B4-BE49-F238E27FC236}">
                <a16:creationId xmlns:a16="http://schemas.microsoft.com/office/drawing/2014/main" id="{B97FBB4A-B753-4F02-BF7B-74F9ADD5D32A}"/>
              </a:ext>
            </a:extLst>
          </p:cNvPr>
          <p:cNvSpPr/>
          <p:nvPr/>
        </p:nvSpPr>
        <p:spPr>
          <a:xfrm>
            <a:off x="7510159" y="3894753"/>
            <a:ext cx="1425318" cy="514498"/>
          </a:xfrm>
          <a:prstGeom prst="roundRect">
            <a:avLst>
              <a:gd name="adj" fmla="val 13208"/>
            </a:avLst>
          </a:prstGeom>
          <a:solidFill>
            <a:srgbClr val="FDFDFD"/>
          </a:solidFill>
          <a:ln w="9525">
            <a:solidFill>
              <a:srgbClr val="EBEBEC"/>
            </a:solidFill>
            <a:prstDash val="solid"/>
          </a:ln>
        </p:spPr>
      </p:sp>
      <p:pic>
        <p:nvPicPr>
          <p:cNvPr id="101" name="Image 12" descr="preencoded.png">
            <a:extLst>
              <a:ext uri="{FF2B5EF4-FFF2-40B4-BE49-F238E27FC236}">
                <a16:creationId xmlns:a16="http://schemas.microsoft.com/office/drawing/2014/main" id="{5AC0968E-8AF3-4B51-A899-F03C06A5D83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30478" y="4020950"/>
            <a:ext cx="360957" cy="262103"/>
          </a:xfrm>
          <a:prstGeom prst="rect">
            <a:avLst/>
          </a:prstGeom>
        </p:spPr>
      </p:pic>
      <p:sp>
        <p:nvSpPr>
          <p:cNvPr id="102" name="Text 18">
            <a:extLst>
              <a:ext uri="{FF2B5EF4-FFF2-40B4-BE49-F238E27FC236}">
                <a16:creationId xmlns:a16="http://schemas.microsoft.com/office/drawing/2014/main" id="{06508109-B577-43D3-A941-619540D5E24A}"/>
              </a:ext>
            </a:extLst>
          </p:cNvPr>
          <p:cNvSpPr/>
          <p:nvPr/>
        </p:nvSpPr>
        <p:spPr>
          <a:xfrm>
            <a:off x="8074733" y="4050073"/>
            <a:ext cx="786701" cy="174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36"/>
              </a:lnSpc>
            </a:pPr>
            <a:r>
              <a:rPr lang="en-US" sz="1050" dirty="0">
                <a:solidFill>
                  <a:srgbClr val="778293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내부 확인 내용</a:t>
            </a:r>
            <a:endParaRPr lang="en-US" sz="10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103" name="Image 13" descr="preencoded.png">
            <a:extLst>
              <a:ext uri="{FF2B5EF4-FFF2-40B4-BE49-F238E27FC236}">
                <a16:creationId xmlns:a16="http://schemas.microsoft.com/office/drawing/2014/main" id="{6432D927-6164-4A13-8D30-2B6D67858A1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78777" y="4088902"/>
            <a:ext cx="231383" cy="165028"/>
          </a:xfrm>
          <a:prstGeom prst="rect">
            <a:avLst/>
          </a:prstGeom>
        </p:spPr>
      </p:pic>
      <p:sp>
        <p:nvSpPr>
          <p:cNvPr id="104" name="Shape 19">
            <a:extLst>
              <a:ext uri="{FF2B5EF4-FFF2-40B4-BE49-F238E27FC236}">
                <a16:creationId xmlns:a16="http://schemas.microsoft.com/office/drawing/2014/main" id="{77509012-9315-40AA-A91F-71DE46E96260}"/>
              </a:ext>
            </a:extLst>
          </p:cNvPr>
          <p:cNvSpPr/>
          <p:nvPr/>
        </p:nvSpPr>
        <p:spPr>
          <a:xfrm>
            <a:off x="4520694" y="3943290"/>
            <a:ext cx="1379041" cy="524205"/>
          </a:xfrm>
          <a:prstGeom prst="roundRect">
            <a:avLst>
              <a:gd name="adj" fmla="val 14815"/>
            </a:avLst>
          </a:prstGeom>
          <a:solidFill>
            <a:srgbClr val="FDFDFD"/>
          </a:solidFill>
          <a:ln w="9525">
            <a:solidFill>
              <a:srgbClr val="E0DFE0"/>
            </a:solidFill>
            <a:prstDash val="solid"/>
          </a:ln>
        </p:spPr>
      </p:sp>
      <p:pic>
        <p:nvPicPr>
          <p:cNvPr id="105" name="Image 14" descr="preencoded.png">
            <a:extLst>
              <a:ext uri="{FF2B5EF4-FFF2-40B4-BE49-F238E27FC236}">
                <a16:creationId xmlns:a16="http://schemas.microsoft.com/office/drawing/2014/main" id="{1808BB66-1685-4116-9B0F-AF8BD368E41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41014" y="4108317"/>
            <a:ext cx="323936" cy="213565"/>
          </a:xfrm>
          <a:prstGeom prst="rect">
            <a:avLst/>
          </a:prstGeom>
        </p:spPr>
      </p:pic>
      <p:sp>
        <p:nvSpPr>
          <p:cNvPr id="106" name="Text 20">
            <a:extLst>
              <a:ext uri="{FF2B5EF4-FFF2-40B4-BE49-F238E27FC236}">
                <a16:creationId xmlns:a16="http://schemas.microsoft.com/office/drawing/2014/main" id="{26BBDE27-DD83-45B0-B0DE-4A15B95DDFC4}"/>
              </a:ext>
            </a:extLst>
          </p:cNvPr>
          <p:cNvSpPr/>
          <p:nvPr/>
        </p:nvSpPr>
        <p:spPr>
          <a:xfrm>
            <a:off x="5048247" y="4118025"/>
            <a:ext cx="749680" cy="174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03"/>
              </a:lnSpc>
            </a:pPr>
            <a:r>
              <a:rPr lang="en-US" sz="1000" dirty="0">
                <a:solidFill>
                  <a:srgbClr val="768092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거래 계좌 정보</a:t>
            </a:r>
            <a:endParaRPr lang="en-US" sz="1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7" name="Shape 21">
            <a:extLst>
              <a:ext uri="{FF2B5EF4-FFF2-40B4-BE49-F238E27FC236}">
                <a16:creationId xmlns:a16="http://schemas.microsoft.com/office/drawing/2014/main" id="{BD12E73C-1393-4F14-A061-B2B14BB076B0}"/>
              </a:ext>
            </a:extLst>
          </p:cNvPr>
          <p:cNvSpPr/>
          <p:nvPr/>
        </p:nvSpPr>
        <p:spPr>
          <a:xfrm>
            <a:off x="7473138" y="3176397"/>
            <a:ext cx="1443828" cy="533913"/>
          </a:xfrm>
          <a:prstGeom prst="roundRect">
            <a:avLst>
              <a:gd name="adj" fmla="val 16364"/>
            </a:avLst>
          </a:prstGeom>
          <a:solidFill>
            <a:srgbClr val="FDFDFD"/>
          </a:solidFill>
          <a:ln w="9525">
            <a:solidFill>
              <a:srgbClr val="E9E9EA"/>
            </a:solidFill>
            <a:prstDash val="solid"/>
          </a:ln>
        </p:spPr>
      </p:sp>
      <p:pic>
        <p:nvPicPr>
          <p:cNvPr id="108" name="Image 15" descr="preencoded.png">
            <a:extLst>
              <a:ext uri="{FF2B5EF4-FFF2-40B4-BE49-F238E27FC236}">
                <a16:creationId xmlns:a16="http://schemas.microsoft.com/office/drawing/2014/main" id="{E4E5B63B-60FF-4249-91F2-24EEE946FA6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11967" y="3312302"/>
            <a:ext cx="314680" cy="271810"/>
          </a:xfrm>
          <a:prstGeom prst="rect">
            <a:avLst/>
          </a:prstGeom>
        </p:spPr>
      </p:pic>
      <p:sp>
        <p:nvSpPr>
          <p:cNvPr id="109" name="Text 22">
            <a:extLst>
              <a:ext uri="{FF2B5EF4-FFF2-40B4-BE49-F238E27FC236}">
                <a16:creationId xmlns:a16="http://schemas.microsoft.com/office/drawing/2014/main" id="{CD34B13A-97E8-4440-AC54-A28D58AE2DE3}"/>
              </a:ext>
            </a:extLst>
          </p:cNvPr>
          <p:cNvSpPr/>
          <p:nvPr/>
        </p:nvSpPr>
        <p:spPr>
          <a:xfrm>
            <a:off x="8000690" y="3341425"/>
            <a:ext cx="814467" cy="184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55"/>
              </a:lnSpc>
            </a:pPr>
            <a:r>
              <a:rPr lang="en-US" sz="1050" dirty="0">
                <a:solidFill>
                  <a:srgbClr val="7A8495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추가 조회 결과</a:t>
            </a:r>
            <a:endParaRPr lang="en-US" sz="10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110" name="Image 16" descr="preencoded.png">
            <a:extLst>
              <a:ext uri="{FF2B5EF4-FFF2-40B4-BE49-F238E27FC236}">
                <a16:creationId xmlns:a16="http://schemas.microsoft.com/office/drawing/2014/main" id="{9C23C263-B5E5-4788-9F8E-A995DF9ACF1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78777" y="3642358"/>
            <a:ext cx="286915" cy="203858"/>
          </a:xfrm>
          <a:prstGeom prst="rect">
            <a:avLst/>
          </a:prstGeom>
        </p:spPr>
      </p:pic>
      <p:sp>
        <p:nvSpPr>
          <p:cNvPr id="111" name="Shape 23">
            <a:extLst>
              <a:ext uri="{FF2B5EF4-FFF2-40B4-BE49-F238E27FC236}">
                <a16:creationId xmlns:a16="http://schemas.microsoft.com/office/drawing/2014/main" id="{3E405564-195D-4F47-A5DC-38E5D4FFAFD8}"/>
              </a:ext>
            </a:extLst>
          </p:cNvPr>
          <p:cNvSpPr/>
          <p:nvPr/>
        </p:nvSpPr>
        <p:spPr>
          <a:xfrm>
            <a:off x="4585482" y="3205521"/>
            <a:ext cx="1304998" cy="514498"/>
          </a:xfrm>
          <a:prstGeom prst="roundRect">
            <a:avLst>
              <a:gd name="adj" fmla="val 16981"/>
            </a:avLst>
          </a:prstGeom>
          <a:solidFill>
            <a:srgbClr val="FDFDFD"/>
          </a:solidFill>
          <a:ln w="9525">
            <a:solidFill>
              <a:srgbClr val="EBECEE"/>
            </a:solidFill>
            <a:prstDash val="solid"/>
          </a:ln>
        </p:spPr>
      </p:sp>
      <p:pic>
        <p:nvPicPr>
          <p:cNvPr id="112" name="Image 17" descr="preencoded.png">
            <a:extLst>
              <a:ext uri="{FF2B5EF4-FFF2-40B4-BE49-F238E27FC236}">
                <a16:creationId xmlns:a16="http://schemas.microsoft.com/office/drawing/2014/main" id="{70660344-E8AC-40F8-81D1-EDC9A758D70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2077" y="3322010"/>
            <a:ext cx="277659" cy="281518"/>
          </a:xfrm>
          <a:prstGeom prst="rect">
            <a:avLst/>
          </a:prstGeom>
        </p:spPr>
      </p:pic>
      <p:sp>
        <p:nvSpPr>
          <p:cNvPr id="113" name="Text 24">
            <a:extLst>
              <a:ext uri="{FF2B5EF4-FFF2-40B4-BE49-F238E27FC236}">
                <a16:creationId xmlns:a16="http://schemas.microsoft.com/office/drawing/2014/main" id="{6F0EE81E-0882-4BD1-90E1-2267B301C32D}"/>
              </a:ext>
            </a:extLst>
          </p:cNvPr>
          <p:cNvSpPr/>
          <p:nvPr/>
        </p:nvSpPr>
        <p:spPr>
          <a:xfrm>
            <a:off x="5140800" y="3360839"/>
            <a:ext cx="592340" cy="174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74"/>
              </a:lnSpc>
            </a:pPr>
            <a:r>
              <a:rPr lang="en-US" sz="1050" dirty="0">
                <a:solidFill>
                  <a:srgbClr val="747F9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탐지 결과</a:t>
            </a:r>
            <a:endParaRPr lang="en-US" sz="10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114" name="Image 18" descr="preencoded.png">
            <a:extLst>
              <a:ext uri="{FF2B5EF4-FFF2-40B4-BE49-F238E27FC236}">
                <a16:creationId xmlns:a16="http://schemas.microsoft.com/office/drawing/2014/main" id="{2E127B98-DFC9-4B0B-8AA0-01D15585ED9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07182" y="3652065"/>
            <a:ext cx="314680" cy="203858"/>
          </a:xfrm>
          <a:prstGeom prst="rect">
            <a:avLst/>
          </a:prstGeom>
        </p:spPr>
      </p:pic>
      <p:sp>
        <p:nvSpPr>
          <p:cNvPr id="115" name="Shape 25">
            <a:extLst>
              <a:ext uri="{FF2B5EF4-FFF2-40B4-BE49-F238E27FC236}">
                <a16:creationId xmlns:a16="http://schemas.microsoft.com/office/drawing/2014/main" id="{3C70912F-50FE-445E-95BB-0D1C68036B5B}"/>
              </a:ext>
            </a:extLst>
          </p:cNvPr>
          <p:cNvSpPr/>
          <p:nvPr/>
        </p:nvSpPr>
        <p:spPr>
          <a:xfrm>
            <a:off x="4520695" y="1480944"/>
            <a:ext cx="4359252" cy="684802"/>
          </a:xfrm>
          <a:prstGeom prst="roundRect">
            <a:avLst>
              <a:gd name="adj" fmla="val 10000"/>
            </a:avLst>
          </a:prstGeom>
          <a:solidFill>
            <a:srgbClr val="E13C3F"/>
          </a:solidFill>
          <a:ln w="9525">
            <a:solidFill>
              <a:srgbClr val="E6595D"/>
            </a:solidFill>
            <a:prstDash val="solid"/>
          </a:ln>
        </p:spPr>
      </p:sp>
      <p:sp>
        <p:nvSpPr>
          <p:cNvPr id="116" name="Text 26">
            <a:extLst>
              <a:ext uri="{FF2B5EF4-FFF2-40B4-BE49-F238E27FC236}">
                <a16:creationId xmlns:a16="http://schemas.microsoft.com/office/drawing/2014/main" id="{AAADEDBA-0420-4E89-BAAA-1A6569BAE6FA}"/>
              </a:ext>
            </a:extLst>
          </p:cNvPr>
          <p:cNvSpPr/>
          <p:nvPr/>
        </p:nvSpPr>
        <p:spPr>
          <a:xfrm>
            <a:off x="4712433" y="1568837"/>
            <a:ext cx="4102724" cy="55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64"/>
              </a:lnSpc>
            </a:pPr>
            <a:r>
              <a:rPr lang="ko-KR" altLang="en-US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확실한 정보를 알 수 없는 상황 속에서</a:t>
            </a:r>
            <a:endParaRPr lang="en-US" altLang="ko-KR" sz="16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  <a:cs typeface="Malgun Gothic" pitchFamily="34" charset="-120"/>
            </a:endParaRPr>
          </a:p>
          <a:p>
            <a:pPr>
              <a:lnSpc>
                <a:spcPts val="1764"/>
              </a:lnSpc>
            </a:pPr>
            <a:r>
              <a:rPr lang="ko-KR" altLang="en-US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계획</a:t>
            </a:r>
            <a:r>
              <a:rPr lang="en-US" altLang="ko-KR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/</a:t>
            </a:r>
            <a:r>
              <a:rPr lang="ko-KR" altLang="en-US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협업</a:t>
            </a:r>
            <a:r>
              <a:rPr lang="en-US" altLang="ko-KR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/</a:t>
            </a:r>
            <a:r>
              <a:rPr lang="ko-KR" altLang="en-US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소통</a:t>
            </a:r>
            <a:r>
              <a:rPr lang="en-US" altLang="ko-KR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/</a:t>
            </a:r>
            <a:r>
              <a:rPr lang="ko-KR" altLang="en-US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확인</a:t>
            </a:r>
            <a:r>
              <a:rPr lang="en-US" altLang="ko-KR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/</a:t>
            </a:r>
            <a:r>
              <a:rPr lang="ko-KR" altLang="en-US" sz="16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판단 부담이 큰 행원</a:t>
            </a:r>
            <a:endParaRPr lang="en-US" sz="16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64" name="Text 13">
            <a:extLst>
              <a:ext uri="{FF2B5EF4-FFF2-40B4-BE49-F238E27FC236}">
                <a16:creationId xmlns:a16="http://schemas.microsoft.com/office/drawing/2014/main" id="{4CA02804-FAA2-4888-BA12-6C90DD1E26CE}"/>
              </a:ext>
            </a:extLst>
          </p:cNvPr>
          <p:cNvSpPr/>
          <p:nvPr/>
        </p:nvSpPr>
        <p:spPr>
          <a:xfrm>
            <a:off x="511679" y="6475594"/>
            <a:ext cx="3447020" cy="342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96"/>
              </a:lnSpc>
            </a:pPr>
            <a:r>
              <a:rPr lang="en-US" altLang="ko-KR" sz="1425" dirty="0">
                <a:solidFill>
                  <a:srgbClr val="788394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FDS</a:t>
            </a:r>
            <a:r>
              <a:rPr lang="ko-KR" altLang="en-US" sz="1425" dirty="0">
                <a:solidFill>
                  <a:srgbClr val="788394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탐지 알림 예시</a:t>
            </a:r>
          </a:p>
        </p:txBody>
      </p:sp>
      <p:sp>
        <p:nvSpPr>
          <p:cNvPr id="170" name="Shape 11">
            <a:extLst>
              <a:ext uri="{FF2B5EF4-FFF2-40B4-BE49-F238E27FC236}">
                <a16:creationId xmlns:a16="http://schemas.microsoft.com/office/drawing/2014/main" id="{B3872DF2-E179-4227-9481-A0EE37C68959}"/>
              </a:ext>
            </a:extLst>
          </p:cNvPr>
          <p:cNvSpPr/>
          <p:nvPr/>
        </p:nvSpPr>
        <p:spPr>
          <a:xfrm>
            <a:off x="487190" y="1499611"/>
            <a:ext cx="3366895" cy="982920"/>
          </a:xfrm>
          <a:prstGeom prst="roundRect">
            <a:avLst>
              <a:gd name="adj" fmla="val 1899"/>
            </a:avLst>
          </a:prstGeom>
          <a:solidFill>
            <a:srgbClr val="FDEBEB"/>
          </a:solidFill>
          <a:ln/>
        </p:spPr>
      </p:sp>
      <p:pic>
        <p:nvPicPr>
          <p:cNvPr id="171" name="Image 6" descr="preencoded.png">
            <a:extLst>
              <a:ext uri="{FF2B5EF4-FFF2-40B4-BE49-F238E27FC236}">
                <a16:creationId xmlns:a16="http://schemas.microsoft.com/office/drawing/2014/main" id="{944AAA3F-CA98-4D9F-806B-D4254ECAEBB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8703" y="1686240"/>
            <a:ext cx="497932" cy="497681"/>
          </a:xfrm>
          <a:prstGeom prst="rect">
            <a:avLst/>
          </a:prstGeom>
        </p:spPr>
      </p:pic>
      <p:sp>
        <p:nvSpPr>
          <p:cNvPr id="172" name="Text 12">
            <a:extLst>
              <a:ext uri="{FF2B5EF4-FFF2-40B4-BE49-F238E27FC236}">
                <a16:creationId xmlns:a16="http://schemas.microsoft.com/office/drawing/2014/main" id="{E2A2E677-A68A-4E4A-87F4-CF733EC4C68C}"/>
              </a:ext>
            </a:extLst>
          </p:cNvPr>
          <p:cNvSpPr/>
          <p:nvPr/>
        </p:nvSpPr>
        <p:spPr>
          <a:xfrm>
            <a:off x="1342611" y="1910198"/>
            <a:ext cx="2668407" cy="46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36"/>
              </a:lnSpc>
            </a:pPr>
            <a:r>
              <a:rPr lang="en-US" sz="913" dirty="0">
                <a:solidFill>
                  <a:srgbClr val="A3A9B8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금응보인원 이상거래 탐지를에 따라 추가 확인이</a:t>
            </a:r>
            <a:endParaRPr lang="en-US" sz="913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1336"/>
              </a:lnSpc>
            </a:pPr>
            <a:r>
              <a:rPr lang="en-US" sz="913" dirty="0">
                <a:solidFill>
                  <a:srgbClr val="A3A9B8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필요한 거래입니다.</a:t>
            </a:r>
            <a:endParaRPr lang="en-US" sz="913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73" name="Text 13">
            <a:extLst>
              <a:ext uri="{FF2B5EF4-FFF2-40B4-BE49-F238E27FC236}">
                <a16:creationId xmlns:a16="http://schemas.microsoft.com/office/drawing/2014/main" id="{118C8F94-9EF7-4EFC-AB2C-FB108D3677E1}"/>
              </a:ext>
            </a:extLst>
          </p:cNvPr>
          <p:cNvSpPr/>
          <p:nvPr/>
        </p:nvSpPr>
        <p:spPr>
          <a:xfrm>
            <a:off x="1342611" y="1624030"/>
            <a:ext cx="2272614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51"/>
              </a:lnSpc>
            </a:pPr>
            <a:r>
              <a:rPr lang="en-US" sz="1161" dirty="0">
                <a:solidFill>
                  <a:srgbClr val="F9616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이상금융거래가 탐지되었습니다.</a:t>
            </a:r>
            <a:endParaRPr lang="en-US" sz="1161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74" name="Text 14">
            <a:extLst>
              <a:ext uri="{FF2B5EF4-FFF2-40B4-BE49-F238E27FC236}">
                <a16:creationId xmlns:a16="http://schemas.microsoft.com/office/drawing/2014/main" id="{2FE76F55-B88A-4EF0-A188-489B1FD96AED}"/>
              </a:ext>
            </a:extLst>
          </p:cNvPr>
          <p:cNvSpPr/>
          <p:nvPr/>
        </p:nvSpPr>
        <p:spPr>
          <a:xfrm>
            <a:off x="1583550" y="4225918"/>
            <a:ext cx="2192282" cy="265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72"/>
              </a:lnSpc>
            </a:pPr>
            <a:r>
              <a:rPr lang="en-US" sz="1000" dirty="0"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987-654-**** (타행)</a:t>
            </a:r>
            <a:endParaRPr lang="en-US" sz="1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75" name="Text 15">
            <a:extLst>
              <a:ext uri="{FF2B5EF4-FFF2-40B4-BE49-F238E27FC236}">
                <a16:creationId xmlns:a16="http://schemas.microsoft.com/office/drawing/2014/main" id="{51A42021-7007-435F-8E93-D5DFF11AE71F}"/>
              </a:ext>
            </a:extLst>
          </p:cNvPr>
          <p:cNvSpPr/>
          <p:nvPr/>
        </p:nvSpPr>
        <p:spPr>
          <a:xfrm>
            <a:off x="1583549" y="3952194"/>
            <a:ext cx="1963233" cy="250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76"/>
              </a:lnSpc>
            </a:pPr>
            <a:r>
              <a:rPr lang="en-US" sz="1000" dirty="0"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123-456-***</a:t>
            </a:r>
            <a:endParaRPr lang="en-US" sz="1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76" name="Text 16">
            <a:extLst>
              <a:ext uri="{FF2B5EF4-FFF2-40B4-BE49-F238E27FC236}">
                <a16:creationId xmlns:a16="http://schemas.microsoft.com/office/drawing/2014/main" id="{4A7DCF67-59ED-4462-AE75-BCA2536053F7}"/>
              </a:ext>
            </a:extLst>
          </p:cNvPr>
          <p:cNvSpPr/>
          <p:nvPr/>
        </p:nvSpPr>
        <p:spPr>
          <a:xfrm>
            <a:off x="775414" y="3960618"/>
            <a:ext cx="663910" cy="199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36"/>
              </a:lnSpc>
            </a:pPr>
            <a:r>
              <a:rPr lang="en-US" sz="1000" dirty="0"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출</a:t>
            </a:r>
            <a:r>
              <a:rPr lang="ko-KR" altLang="en-US" sz="1000" dirty="0"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금</a:t>
            </a:r>
            <a:r>
              <a:rPr lang="en-US" sz="1000" dirty="0" err="1"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계좌</a:t>
            </a:r>
            <a:endParaRPr lang="en-US" sz="1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77" name="Text 17">
            <a:extLst>
              <a:ext uri="{FF2B5EF4-FFF2-40B4-BE49-F238E27FC236}">
                <a16:creationId xmlns:a16="http://schemas.microsoft.com/office/drawing/2014/main" id="{9F8B62DB-6B6A-42D5-B149-C79C07516848}"/>
              </a:ext>
            </a:extLst>
          </p:cNvPr>
          <p:cNvSpPr/>
          <p:nvPr/>
        </p:nvSpPr>
        <p:spPr>
          <a:xfrm>
            <a:off x="1583550" y="3690910"/>
            <a:ext cx="1983683" cy="265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72"/>
              </a:lnSpc>
            </a:pPr>
            <a:r>
              <a:rPr lang="en-US" sz="1000" dirty="0"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400,000,000원</a:t>
            </a:r>
            <a:endParaRPr lang="en-US" sz="1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78" name="Text 18">
            <a:extLst>
              <a:ext uri="{FF2B5EF4-FFF2-40B4-BE49-F238E27FC236}">
                <a16:creationId xmlns:a16="http://schemas.microsoft.com/office/drawing/2014/main" id="{4399DE6D-9E85-41F9-97BB-EC4BDF9E5928}"/>
              </a:ext>
            </a:extLst>
          </p:cNvPr>
          <p:cNvSpPr/>
          <p:nvPr/>
        </p:nvSpPr>
        <p:spPr>
          <a:xfrm>
            <a:off x="788183" y="3699336"/>
            <a:ext cx="651143" cy="211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29"/>
              </a:lnSpc>
            </a:pPr>
            <a:r>
              <a:rPr lang="en-US" sz="1000" dirty="0"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거래금액</a:t>
            </a:r>
            <a:endParaRPr lang="en-US" sz="1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79" name="Text 19">
            <a:extLst>
              <a:ext uri="{FF2B5EF4-FFF2-40B4-BE49-F238E27FC236}">
                <a16:creationId xmlns:a16="http://schemas.microsoft.com/office/drawing/2014/main" id="{16D23855-82B5-48B5-A69F-1E7C525DF51F}"/>
              </a:ext>
            </a:extLst>
          </p:cNvPr>
          <p:cNvSpPr/>
          <p:nvPr/>
        </p:nvSpPr>
        <p:spPr>
          <a:xfrm>
            <a:off x="1583548" y="3417186"/>
            <a:ext cx="2012319" cy="265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62"/>
              </a:lnSpc>
            </a:pPr>
            <a:r>
              <a:rPr lang="en-US" sz="1000" dirty="0"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타행이체(모바일뱅킹)</a:t>
            </a:r>
            <a:endParaRPr lang="en-US" sz="1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80" name="Text 20">
            <a:extLst>
              <a:ext uri="{FF2B5EF4-FFF2-40B4-BE49-F238E27FC236}">
                <a16:creationId xmlns:a16="http://schemas.microsoft.com/office/drawing/2014/main" id="{354B7D0A-89A0-4E21-88B3-3683D54C0620}"/>
              </a:ext>
            </a:extLst>
          </p:cNvPr>
          <p:cNvSpPr/>
          <p:nvPr/>
        </p:nvSpPr>
        <p:spPr>
          <a:xfrm>
            <a:off x="788183" y="3425611"/>
            <a:ext cx="638375" cy="211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12"/>
              </a:lnSpc>
            </a:pPr>
            <a:r>
              <a:rPr lang="en-US" sz="1000" dirty="0"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거래유형</a:t>
            </a:r>
            <a:endParaRPr lang="en-US" sz="1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81" name="Text 21">
            <a:extLst>
              <a:ext uri="{FF2B5EF4-FFF2-40B4-BE49-F238E27FC236}">
                <a16:creationId xmlns:a16="http://schemas.microsoft.com/office/drawing/2014/main" id="{5B64582D-1F9C-446B-B718-5B7B1DF4F470}"/>
              </a:ext>
            </a:extLst>
          </p:cNvPr>
          <p:cNvSpPr/>
          <p:nvPr/>
        </p:nvSpPr>
        <p:spPr>
          <a:xfrm>
            <a:off x="1583549" y="3143462"/>
            <a:ext cx="2004133" cy="279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43"/>
              </a:lnSpc>
            </a:pPr>
            <a:r>
              <a:rPr lang="en-US" sz="1000" dirty="0"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개인(여성, 60대)</a:t>
            </a:r>
            <a:endParaRPr lang="en-US" sz="1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82" name="Text 22">
            <a:extLst>
              <a:ext uri="{FF2B5EF4-FFF2-40B4-BE49-F238E27FC236}">
                <a16:creationId xmlns:a16="http://schemas.microsoft.com/office/drawing/2014/main" id="{1474BF9D-D211-4D80-8A65-048EC96A0116}"/>
              </a:ext>
            </a:extLst>
          </p:cNvPr>
          <p:cNvSpPr/>
          <p:nvPr/>
        </p:nvSpPr>
        <p:spPr>
          <a:xfrm>
            <a:off x="788183" y="3151887"/>
            <a:ext cx="651143" cy="211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03"/>
              </a:lnSpc>
            </a:pPr>
            <a:r>
              <a:rPr lang="en-US" sz="1000" dirty="0"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고객구분</a:t>
            </a:r>
            <a:endParaRPr lang="en-US" sz="1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83" name="Text 23">
            <a:extLst>
              <a:ext uri="{FF2B5EF4-FFF2-40B4-BE49-F238E27FC236}">
                <a16:creationId xmlns:a16="http://schemas.microsoft.com/office/drawing/2014/main" id="{2C619D6C-94DF-4EEE-B695-7DB02CCA5F56}"/>
              </a:ext>
            </a:extLst>
          </p:cNvPr>
          <p:cNvSpPr/>
          <p:nvPr/>
        </p:nvSpPr>
        <p:spPr>
          <a:xfrm>
            <a:off x="1596317" y="2869736"/>
            <a:ext cx="2290444" cy="265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76"/>
              </a:lnSpc>
            </a:pPr>
            <a:r>
              <a:rPr lang="en-US" sz="1000" dirty="0"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2026.02.20 10:24:17</a:t>
            </a:r>
            <a:endParaRPr lang="en-US" sz="1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84" name="Text 24">
            <a:extLst>
              <a:ext uri="{FF2B5EF4-FFF2-40B4-BE49-F238E27FC236}">
                <a16:creationId xmlns:a16="http://schemas.microsoft.com/office/drawing/2014/main" id="{7E092CCE-3810-4D7E-BF1D-B8A4AEFA9272}"/>
              </a:ext>
            </a:extLst>
          </p:cNvPr>
          <p:cNvSpPr/>
          <p:nvPr/>
        </p:nvSpPr>
        <p:spPr>
          <a:xfrm>
            <a:off x="788183" y="2878162"/>
            <a:ext cx="663910" cy="211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54"/>
              </a:lnSpc>
            </a:pPr>
            <a:r>
              <a:rPr lang="en-US" sz="1000" dirty="0"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탐지시각</a:t>
            </a:r>
            <a:endParaRPr lang="en-US" sz="1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85" name="Text 25">
            <a:extLst>
              <a:ext uri="{FF2B5EF4-FFF2-40B4-BE49-F238E27FC236}">
                <a16:creationId xmlns:a16="http://schemas.microsoft.com/office/drawing/2014/main" id="{F2702525-32B8-4079-8DAB-3548DA80305E}"/>
              </a:ext>
            </a:extLst>
          </p:cNvPr>
          <p:cNvSpPr/>
          <p:nvPr/>
        </p:nvSpPr>
        <p:spPr>
          <a:xfrm>
            <a:off x="775414" y="2567110"/>
            <a:ext cx="1072470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82"/>
              </a:lnSpc>
            </a:pPr>
            <a:r>
              <a:rPr lang="en-US" sz="1000" b="1" dirty="0"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탐지 거래 상세</a:t>
            </a:r>
            <a:endParaRPr lang="en-US" sz="1000" b="1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409461B1-F1DF-4BB1-9E1C-8337A63919D9}"/>
              </a:ext>
            </a:extLst>
          </p:cNvPr>
          <p:cNvSpPr txBox="1"/>
          <p:nvPr/>
        </p:nvSpPr>
        <p:spPr>
          <a:xfrm>
            <a:off x="467954" y="476232"/>
            <a:ext cx="11313618" cy="71404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탐지 이후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, 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은행 직원들의 업무 흐름 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: FDS 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경고창을 보고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, 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관계자와 협업하고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,</a:t>
            </a:r>
          </a:p>
          <a:p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고객과 소통하며 진위여부와 사실관계를 확인하고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, 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고객을 설득해 한다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. </a:t>
            </a:r>
            <a:r>
              <a:rPr lang="ko-KR" altLang="en-US" sz="22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정황이 부족한 상태로</a:t>
            </a:r>
            <a:r>
              <a:rPr lang="en-US" altLang="ko-KR" sz="22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…</a:t>
            </a:r>
          </a:p>
        </p:txBody>
      </p: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779D33EE-AFE5-49D1-A62A-8AA2F5FD22DB}"/>
              </a:ext>
            </a:extLst>
          </p:cNvPr>
          <p:cNvSpPr/>
          <p:nvPr/>
        </p:nvSpPr>
        <p:spPr>
          <a:xfrm>
            <a:off x="467954" y="5402032"/>
            <a:ext cx="3366895" cy="916976"/>
          </a:xfrm>
          <a:prstGeom prst="roundRect">
            <a:avLst/>
          </a:prstGeom>
          <a:solidFill>
            <a:srgbClr val="102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현행 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FDS 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만으로는</a:t>
            </a:r>
            <a:endParaRPr lang="en-US" altLang="ko-KR" sz="1400" dirty="0">
              <a:latin typeface="페이퍼로지 5 Medium" pitchFamily="2" charset="-127"/>
              <a:ea typeface="페이퍼로지 5 Medium" pitchFamily="2" charset="-127"/>
            </a:endParaRPr>
          </a:p>
          <a:p>
            <a:pPr algn="ctr"/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 범죄자의 주장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고객의 상황을 알 수 있는</a:t>
            </a:r>
            <a:endParaRPr lang="en-US" altLang="ko-KR" sz="1400" dirty="0">
              <a:latin typeface="페이퍼로지 5 Medium" pitchFamily="2" charset="-127"/>
              <a:ea typeface="페이퍼로지 5 Medium" pitchFamily="2" charset="-127"/>
            </a:endParaRPr>
          </a:p>
          <a:p>
            <a:pPr algn="ctr"/>
            <a:r>
              <a:rPr lang="ko-KR" altLang="en-US" dirty="0">
                <a:solidFill>
                  <a:srgbClr val="FFC000"/>
                </a:solidFill>
                <a:latin typeface="페이퍼로지 5 Medium" pitchFamily="2" charset="-127"/>
                <a:ea typeface="페이퍼로지 5 Medium" pitchFamily="2" charset="-127"/>
              </a:rPr>
              <a:t>맥락과 정황을 확인할 수 없음</a:t>
            </a:r>
          </a:p>
        </p:txBody>
      </p:sp>
      <p:sp>
        <p:nvSpPr>
          <p:cNvPr id="202" name="Rectangle: Rounded Corners 201">
            <a:extLst>
              <a:ext uri="{FF2B5EF4-FFF2-40B4-BE49-F238E27FC236}">
                <a16:creationId xmlns:a16="http://schemas.microsoft.com/office/drawing/2014/main" id="{76CEB2F4-1720-4A65-A818-16DE44823A7E}"/>
              </a:ext>
            </a:extLst>
          </p:cNvPr>
          <p:cNvSpPr/>
          <p:nvPr/>
        </p:nvSpPr>
        <p:spPr>
          <a:xfrm>
            <a:off x="9559768" y="4326334"/>
            <a:ext cx="2325368" cy="2025196"/>
          </a:xfrm>
          <a:prstGeom prst="roundRect">
            <a:avLst>
              <a:gd name="adj" fmla="val 11023"/>
            </a:avLst>
          </a:prstGeom>
          <a:solidFill>
            <a:srgbClr val="102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C000"/>
                </a:solidFill>
                <a:latin typeface="페이퍼로지 5 Medium" pitchFamily="2" charset="-127"/>
                <a:ea typeface="페이퍼로지 5 Medium" pitchFamily="2" charset="-127"/>
              </a:rPr>
              <a:t>최종 송금 결정은 고객</a:t>
            </a:r>
            <a:r>
              <a:rPr lang="en-US" altLang="ko-KR" dirty="0">
                <a:solidFill>
                  <a:srgbClr val="FFC000"/>
                </a:solidFill>
                <a:latin typeface="페이퍼로지 5 Medium" pitchFamily="2" charset="-127"/>
                <a:ea typeface="페이퍼로지 5 Medium" pitchFamily="2" charset="-127"/>
              </a:rPr>
              <a:t>!</a:t>
            </a:r>
          </a:p>
          <a:p>
            <a:pPr algn="ctr"/>
            <a:r>
              <a:rPr lang="ko-KR" altLang="en-US" sz="14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그런데 고객이 범죄자의 말을</a:t>
            </a:r>
            <a:endParaRPr lang="en-US" altLang="ko-KR" sz="14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믿고 송금을 지속하거나</a:t>
            </a:r>
            <a:r>
              <a:rPr lang="en-US" altLang="ko-KR" sz="14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,</a:t>
            </a:r>
          </a:p>
          <a:p>
            <a:pPr algn="ctr"/>
            <a:r>
              <a:rPr lang="ko-KR" altLang="en-US" sz="14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은행에게 거짓말을 한다면</a:t>
            </a:r>
            <a:r>
              <a:rPr lang="en-US" altLang="ko-KR" sz="14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?</a:t>
            </a:r>
          </a:p>
          <a:p>
            <a:pPr algn="ctr"/>
            <a:endParaRPr lang="en-US" altLang="ko-KR" sz="14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은행은 </a:t>
            </a:r>
            <a:r>
              <a:rPr lang="ko-KR" altLang="en-US" dirty="0">
                <a:solidFill>
                  <a:srgbClr val="FFC000"/>
                </a:solidFill>
                <a:latin typeface="페이퍼로지 5 Medium" pitchFamily="2" charset="-127"/>
                <a:ea typeface="페이퍼로지 5 Medium" pitchFamily="2" charset="-127"/>
              </a:rPr>
              <a:t>부족한 정보로 고객을 설득</a:t>
            </a:r>
            <a:r>
              <a:rPr lang="ko-KR" altLang="en-US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해야 한다</a:t>
            </a:r>
            <a:r>
              <a:rPr lang="en-US" altLang="ko-KR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</p:txBody>
      </p:sp>
      <p:sp>
        <p:nvSpPr>
          <p:cNvPr id="204" name="Rectangle: Rounded Corners 203">
            <a:extLst>
              <a:ext uri="{FF2B5EF4-FFF2-40B4-BE49-F238E27FC236}">
                <a16:creationId xmlns:a16="http://schemas.microsoft.com/office/drawing/2014/main" id="{7391C507-C82C-430A-A0DE-F03CC85E4DAA}"/>
              </a:ext>
            </a:extLst>
          </p:cNvPr>
          <p:cNvSpPr/>
          <p:nvPr/>
        </p:nvSpPr>
        <p:spPr>
          <a:xfrm>
            <a:off x="4330763" y="5402032"/>
            <a:ext cx="4688011" cy="916976"/>
          </a:xfrm>
          <a:prstGeom prst="roundRect">
            <a:avLst/>
          </a:prstGeom>
          <a:solidFill>
            <a:srgbClr val="102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C000"/>
                </a:solidFill>
                <a:latin typeface="페이퍼로지 5 Medium" pitchFamily="2" charset="-127"/>
                <a:ea typeface="페이퍼로지 5 Medium" pitchFamily="2" charset="-127"/>
              </a:rPr>
              <a:t>맥락과 정황 없다면</a:t>
            </a:r>
            <a:r>
              <a:rPr lang="en-US" altLang="ko-KR" dirty="0">
                <a:solidFill>
                  <a:srgbClr val="FFC000"/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은행 내외부 관계자의 </a:t>
            </a:r>
            <a:endParaRPr lang="en-US" altLang="ko-KR" sz="14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ctr"/>
            <a:r>
              <a:rPr lang="ko-KR" altLang="en-US" dirty="0">
                <a:solidFill>
                  <a:srgbClr val="FFC000"/>
                </a:solidFill>
                <a:latin typeface="페이퍼로지 5 Medium" pitchFamily="2" charset="-127"/>
                <a:ea typeface="페이퍼로지 5 Medium" pitchFamily="2" charset="-127"/>
              </a:rPr>
              <a:t>의사소통</a:t>
            </a:r>
            <a:r>
              <a:rPr lang="en-US" altLang="ko-KR" dirty="0">
                <a:solidFill>
                  <a:srgbClr val="FFC000"/>
                </a:solidFill>
                <a:latin typeface="페이퍼로지 5 Medium" pitchFamily="2" charset="-127"/>
                <a:ea typeface="페이퍼로지 5 Medium" pitchFamily="2" charset="-127"/>
              </a:rPr>
              <a:t>/</a:t>
            </a:r>
            <a:r>
              <a:rPr lang="ko-KR" altLang="en-US" dirty="0">
                <a:solidFill>
                  <a:srgbClr val="FFC000"/>
                </a:solidFill>
                <a:latin typeface="페이퍼로지 5 Medium" pitchFamily="2" charset="-127"/>
                <a:ea typeface="페이퍼로지 5 Medium" pitchFamily="2" charset="-127"/>
              </a:rPr>
              <a:t>협업</a:t>
            </a:r>
            <a:r>
              <a:rPr lang="en-US" altLang="ko-KR" dirty="0">
                <a:solidFill>
                  <a:srgbClr val="FFC000"/>
                </a:solidFill>
                <a:latin typeface="페이퍼로지 5 Medium" pitchFamily="2" charset="-127"/>
                <a:ea typeface="페이퍼로지 5 Medium" pitchFamily="2" charset="-127"/>
              </a:rPr>
              <a:t>/</a:t>
            </a:r>
            <a:r>
              <a:rPr lang="ko-KR" altLang="en-US" dirty="0">
                <a:solidFill>
                  <a:srgbClr val="FFC000"/>
                </a:solidFill>
                <a:latin typeface="페이퍼로지 5 Medium" pitchFamily="2" charset="-127"/>
                <a:ea typeface="페이퍼로지 5 Medium" pitchFamily="2" charset="-127"/>
              </a:rPr>
              <a:t>정보수집이 어려울 수 있음</a:t>
            </a:r>
            <a:endParaRPr lang="en-US" altLang="ko-KR" dirty="0">
              <a:solidFill>
                <a:srgbClr val="FFC000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05" name="Shape 25">
            <a:extLst>
              <a:ext uri="{FF2B5EF4-FFF2-40B4-BE49-F238E27FC236}">
                <a16:creationId xmlns:a16="http://schemas.microsoft.com/office/drawing/2014/main" id="{A04F02DF-2DC0-4669-9178-45239C13C76B}"/>
              </a:ext>
            </a:extLst>
          </p:cNvPr>
          <p:cNvSpPr/>
          <p:nvPr/>
        </p:nvSpPr>
        <p:spPr>
          <a:xfrm>
            <a:off x="583590" y="4605516"/>
            <a:ext cx="3121064" cy="482950"/>
          </a:xfrm>
          <a:prstGeom prst="roundRect">
            <a:avLst>
              <a:gd name="adj" fmla="val 50000"/>
            </a:avLst>
          </a:prstGeom>
          <a:solidFill>
            <a:srgbClr val="E13C3F"/>
          </a:solidFill>
          <a:ln w="9525">
            <a:solidFill>
              <a:srgbClr val="E6595D"/>
            </a:solidFill>
            <a:prstDash val="solid"/>
          </a:ln>
        </p:spPr>
        <p:txBody>
          <a:bodyPr/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자동으로 </a:t>
            </a:r>
            <a:r>
              <a:rPr lang="en-US" altLang="ko-KR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3</a:t>
            </a:r>
            <a:r>
              <a:rPr lang="ko-KR" altLang="en-US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시간 송금 제한</a:t>
            </a:r>
          </a:p>
        </p:txBody>
      </p:sp>
      <p:pic>
        <p:nvPicPr>
          <p:cNvPr id="206" name="Image 11" descr="preencoded.png">
            <a:extLst>
              <a:ext uri="{FF2B5EF4-FFF2-40B4-BE49-F238E27FC236}">
                <a16:creationId xmlns:a16="http://schemas.microsoft.com/office/drawing/2014/main" id="{56277240-4A28-411F-9D4A-9EADCD182A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7971" y="2634824"/>
            <a:ext cx="382816" cy="288712"/>
          </a:xfrm>
          <a:prstGeom prst="rect">
            <a:avLst/>
          </a:prstGeom>
        </p:spPr>
      </p:pic>
      <p:pic>
        <p:nvPicPr>
          <p:cNvPr id="207" name="Image 11" descr="preencoded.png">
            <a:extLst>
              <a:ext uri="{FF2B5EF4-FFF2-40B4-BE49-F238E27FC236}">
                <a16:creationId xmlns:a16="http://schemas.microsoft.com/office/drawing/2014/main" id="{2068AE96-6B98-45F1-A5F1-2C70A6902DA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3065" y="2634824"/>
            <a:ext cx="382816" cy="288712"/>
          </a:xfrm>
          <a:prstGeom prst="rect">
            <a:avLst/>
          </a:prstGeom>
        </p:spPr>
      </p:pic>
      <p:pic>
        <p:nvPicPr>
          <p:cNvPr id="208" name="Image 11" descr="preencoded.png">
            <a:extLst>
              <a:ext uri="{FF2B5EF4-FFF2-40B4-BE49-F238E27FC236}">
                <a16:creationId xmlns:a16="http://schemas.microsoft.com/office/drawing/2014/main" id="{A4A352BD-7F0A-439E-B11E-479686F169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69920" y="2634824"/>
            <a:ext cx="382816" cy="288712"/>
          </a:xfrm>
          <a:prstGeom prst="rect">
            <a:avLst/>
          </a:prstGeom>
        </p:spPr>
      </p:pic>
      <p:sp>
        <p:nvSpPr>
          <p:cNvPr id="209" name="Text 13">
            <a:extLst>
              <a:ext uri="{FF2B5EF4-FFF2-40B4-BE49-F238E27FC236}">
                <a16:creationId xmlns:a16="http://schemas.microsoft.com/office/drawing/2014/main" id="{217C6D26-94CE-4A72-981F-04DEC508958E}"/>
              </a:ext>
            </a:extLst>
          </p:cNvPr>
          <p:cNvSpPr/>
          <p:nvPr/>
        </p:nvSpPr>
        <p:spPr>
          <a:xfrm>
            <a:off x="4717971" y="2306428"/>
            <a:ext cx="917255" cy="2488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251"/>
              </a:lnSpc>
            </a:pPr>
            <a:r>
              <a:rPr lang="ko-KR" altLang="en-US" sz="1161" dirty="0">
                <a:latin typeface="페이퍼로지 5 Medium" pitchFamily="2" charset="-127"/>
                <a:ea typeface="페이퍼로지 5 Medium" pitchFamily="2" charset="-127"/>
              </a:rPr>
              <a:t>내부 협업</a:t>
            </a:r>
            <a:endParaRPr lang="en-US" sz="1161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10" name="Text 13">
            <a:extLst>
              <a:ext uri="{FF2B5EF4-FFF2-40B4-BE49-F238E27FC236}">
                <a16:creationId xmlns:a16="http://schemas.microsoft.com/office/drawing/2014/main" id="{32815755-87BE-4094-BB0A-57B73FC1C851}"/>
              </a:ext>
            </a:extLst>
          </p:cNvPr>
          <p:cNvSpPr/>
          <p:nvPr/>
        </p:nvSpPr>
        <p:spPr>
          <a:xfrm>
            <a:off x="7565691" y="2297652"/>
            <a:ext cx="1174420" cy="2488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251"/>
              </a:lnSpc>
            </a:pPr>
            <a:r>
              <a:rPr lang="ko-KR" altLang="en-US" sz="1161" dirty="0">
                <a:latin typeface="페이퍼로지 5 Medium" pitchFamily="2" charset="-127"/>
                <a:ea typeface="페이퍼로지 5 Medium" pitchFamily="2" charset="-127"/>
              </a:rPr>
              <a:t>외부 고객 소통</a:t>
            </a:r>
            <a:endParaRPr lang="en-US" sz="1161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211" name="Image 11" descr="preencoded.png">
            <a:extLst>
              <a:ext uri="{FF2B5EF4-FFF2-40B4-BE49-F238E27FC236}">
                <a16:creationId xmlns:a16="http://schemas.microsoft.com/office/drawing/2014/main" id="{8763834F-AF19-43EA-BA56-228AE7E81D5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54516" y="2634824"/>
            <a:ext cx="382816" cy="288712"/>
          </a:xfrm>
          <a:prstGeom prst="rect">
            <a:avLst/>
          </a:prstGeom>
        </p:spPr>
      </p:pic>
      <p:sp>
        <p:nvSpPr>
          <p:cNvPr id="213" name="TextBox 212">
            <a:extLst>
              <a:ext uri="{FF2B5EF4-FFF2-40B4-BE49-F238E27FC236}">
                <a16:creationId xmlns:a16="http://schemas.microsoft.com/office/drawing/2014/main" id="{58EBD5E7-F503-4360-A517-53FEE1FE542C}"/>
              </a:ext>
            </a:extLst>
          </p:cNvPr>
          <p:cNvSpPr txBox="1"/>
          <p:nvPr/>
        </p:nvSpPr>
        <p:spPr>
          <a:xfrm>
            <a:off x="8066651" y="2573386"/>
            <a:ext cx="8620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dirty="0">
                <a:latin typeface="페이퍼로지 7 Bold" pitchFamily="2" charset="-127"/>
                <a:ea typeface="페이퍼로지 7 Bold" pitchFamily="2" charset="-127"/>
              </a:rPr>
              <a:t>📱</a:t>
            </a:r>
          </a:p>
        </p:txBody>
      </p:sp>
      <p:sp>
        <p:nvSpPr>
          <p:cNvPr id="216" name="Arrow: Left-Right 215">
            <a:extLst>
              <a:ext uri="{FF2B5EF4-FFF2-40B4-BE49-F238E27FC236}">
                <a16:creationId xmlns:a16="http://schemas.microsoft.com/office/drawing/2014/main" id="{3903B13E-6B40-4149-A1FA-F747ECB62F98}"/>
              </a:ext>
            </a:extLst>
          </p:cNvPr>
          <p:cNvSpPr/>
          <p:nvPr/>
        </p:nvSpPr>
        <p:spPr>
          <a:xfrm>
            <a:off x="8072098" y="2678399"/>
            <a:ext cx="292184" cy="191972"/>
          </a:xfrm>
          <a:prstGeom prst="leftRightArrow">
            <a:avLst/>
          </a:prstGeom>
          <a:solidFill>
            <a:srgbClr val="005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9754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1">
            <a:extLst>
              <a:ext uri="{FF2B5EF4-FFF2-40B4-BE49-F238E27FC236}">
                <a16:creationId xmlns:a16="http://schemas.microsoft.com/office/drawing/2014/main" id="{81B8BEB6-E235-44A5-9337-8938100B4E74}"/>
              </a:ext>
            </a:extLst>
          </p:cNvPr>
          <p:cNvSpPr/>
          <p:nvPr/>
        </p:nvSpPr>
        <p:spPr>
          <a:xfrm>
            <a:off x="333054" y="2381529"/>
            <a:ext cx="11378153" cy="4247355"/>
          </a:xfrm>
          <a:prstGeom prst="rect">
            <a:avLst/>
          </a:prstGeom>
          <a:solidFill>
            <a:srgbClr val="F5F6F8"/>
          </a:solidFill>
          <a:ln>
            <a:solidFill>
              <a:schemeClr val="tx1"/>
            </a:solidFill>
          </a:ln>
        </p:spPr>
      </p:sp>
      <p:sp>
        <p:nvSpPr>
          <p:cNvPr id="64" name="Shape 2">
            <a:extLst>
              <a:ext uri="{FF2B5EF4-FFF2-40B4-BE49-F238E27FC236}">
                <a16:creationId xmlns:a16="http://schemas.microsoft.com/office/drawing/2014/main" id="{1BB2FD2F-E852-4F24-AFEE-73D8474C3CBC}"/>
              </a:ext>
            </a:extLst>
          </p:cNvPr>
          <p:cNvSpPr/>
          <p:nvPr/>
        </p:nvSpPr>
        <p:spPr>
          <a:xfrm>
            <a:off x="506976" y="4766090"/>
            <a:ext cx="6572416" cy="1762102"/>
          </a:xfrm>
          <a:prstGeom prst="rect">
            <a:avLst/>
          </a:prstGeom>
          <a:solidFill>
            <a:srgbClr val="FCFCFC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65" name="Shape 3">
            <a:extLst>
              <a:ext uri="{FF2B5EF4-FFF2-40B4-BE49-F238E27FC236}">
                <a16:creationId xmlns:a16="http://schemas.microsoft.com/office/drawing/2014/main" id="{C06A214A-B2A6-42D2-B459-189D3156D704}"/>
              </a:ext>
            </a:extLst>
          </p:cNvPr>
          <p:cNvSpPr/>
          <p:nvPr/>
        </p:nvSpPr>
        <p:spPr>
          <a:xfrm>
            <a:off x="5651402" y="5467714"/>
            <a:ext cx="54923" cy="979454"/>
          </a:xfrm>
          <a:prstGeom prst="rect">
            <a:avLst/>
          </a:prstGeom>
          <a:solidFill>
            <a:srgbClr val="F8F9F9"/>
          </a:solidFill>
          <a:ln/>
        </p:spPr>
      </p:sp>
      <p:sp>
        <p:nvSpPr>
          <p:cNvPr id="66" name="Shape 4">
            <a:extLst>
              <a:ext uri="{FF2B5EF4-FFF2-40B4-BE49-F238E27FC236}">
                <a16:creationId xmlns:a16="http://schemas.microsoft.com/office/drawing/2014/main" id="{66A198E4-A38B-461A-8729-23B64B6DC499}"/>
              </a:ext>
            </a:extLst>
          </p:cNvPr>
          <p:cNvSpPr/>
          <p:nvPr/>
        </p:nvSpPr>
        <p:spPr>
          <a:xfrm>
            <a:off x="4177644" y="5458560"/>
            <a:ext cx="45769" cy="988608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67" name="Shape 5">
            <a:extLst>
              <a:ext uri="{FF2B5EF4-FFF2-40B4-BE49-F238E27FC236}">
                <a16:creationId xmlns:a16="http://schemas.microsoft.com/office/drawing/2014/main" id="{1F7F3F41-9B30-4BBF-8ACF-6303FB20C162}"/>
              </a:ext>
            </a:extLst>
          </p:cNvPr>
          <p:cNvSpPr/>
          <p:nvPr/>
        </p:nvSpPr>
        <p:spPr>
          <a:xfrm>
            <a:off x="2868652" y="5449406"/>
            <a:ext cx="45769" cy="988608"/>
          </a:xfrm>
          <a:prstGeom prst="rect">
            <a:avLst/>
          </a:prstGeom>
          <a:solidFill>
            <a:srgbClr val="F7F8F8"/>
          </a:solidFill>
          <a:ln/>
        </p:spPr>
      </p:sp>
      <p:pic>
        <p:nvPicPr>
          <p:cNvPr id="68" name="Image 0" descr="preencoded.png">
            <a:extLst>
              <a:ext uri="{FF2B5EF4-FFF2-40B4-BE49-F238E27FC236}">
                <a16:creationId xmlns:a16="http://schemas.microsoft.com/office/drawing/2014/main" id="{5CDE4378-C1A1-4C82-AEEC-DE4F2F0E3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968" y="5449406"/>
            <a:ext cx="45769" cy="997762"/>
          </a:xfrm>
          <a:prstGeom prst="rect">
            <a:avLst/>
          </a:prstGeom>
        </p:spPr>
      </p:pic>
      <p:pic>
        <p:nvPicPr>
          <p:cNvPr id="69" name="Image 1" descr="preencoded.png">
            <a:extLst>
              <a:ext uri="{FF2B5EF4-FFF2-40B4-BE49-F238E27FC236}">
                <a16:creationId xmlns:a16="http://schemas.microsoft.com/office/drawing/2014/main" id="{9B71F6B8-EE1F-45B3-BC4D-3DAF49ADA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320" y="5183946"/>
            <a:ext cx="485151" cy="109845"/>
          </a:xfrm>
          <a:prstGeom prst="rect">
            <a:avLst/>
          </a:prstGeom>
        </p:spPr>
      </p:pic>
      <p:pic>
        <p:nvPicPr>
          <p:cNvPr id="70" name="Image 2" descr="preencoded.png">
            <a:extLst>
              <a:ext uri="{FF2B5EF4-FFF2-40B4-BE49-F238E27FC236}">
                <a16:creationId xmlns:a16="http://schemas.microsoft.com/office/drawing/2014/main" id="{8F65B31F-740D-4BAF-8F81-0C64DD8619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5015" y="5124447"/>
            <a:ext cx="302075" cy="228845"/>
          </a:xfrm>
          <a:prstGeom prst="rect">
            <a:avLst/>
          </a:prstGeom>
        </p:spPr>
      </p:pic>
      <p:sp>
        <p:nvSpPr>
          <p:cNvPr id="71" name="Text 6">
            <a:extLst>
              <a:ext uri="{FF2B5EF4-FFF2-40B4-BE49-F238E27FC236}">
                <a16:creationId xmlns:a16="http://schemas.microsoft.com/office/drawing/2014/main" id="{F9FADCC6-0F54-4C4E-8AA0-76AABF6B554F}"/>
              </a:ext>
            </a:extLst>
          </p:cNvPr>
          <p:cNvSpPr/>
          <p:nvPr/>
        </p:nvSpPr>
        <p:spPr>
          <a:xfrm>
            <a:off x="6154861" y="5187465"/>
            <a:ext cx="100691" cy="137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078"/>
              </a:lnSpc>
            </a:pPr>
            <a:r>
              <a:rPr lang="en-US" sz="1050" b="1" dirty="0">
                <a:solidFill>
                  <a:srgbClr val="E08489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5</a:t>
            </a:r>
            <a:endParaRPr lang="en-US" sz="10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72" name="Image 3" descr="preencoded.png">
            <a:extLst>
              <a:ext uri="{FF2B5EF4-FFF2-40B4-BE49-F238E27FC236}">
                <a16:creationId xmlns:a16="http://schemas.microsoft.com/office/drawing/2014/main" id="{C55CAB03-B6D7-4E4E-9AD5-00BAE6385F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253" y="5188523"/>
            <a:ext cx="887917" cy="100691"/>
          </a:xfrm>
          <a:prstGeom prst="rect">
            <a:avLst/>
          </a:prstGeom>
        </p:spPr>
      </p:pic>
      <p:pic>
        <p:nvPicPr>
          <p:cNvPr id="73" name="Image 4" descr="preencoded.png">
            <a:extLst>
              <a:ext uri="{FF2B5EF4-FFF2-40B4-BE49-F238E27FC236}">
                <a16:creationId xmlns:a16="http://schemas.microsoft.com/office/drawing/2014/main" id="{B108C77A-A71C-4AC0-9591-8B52B8C64C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0255" y="5124447"/>
            <a:ext cx="292921" cy="228845"/>
          </a:xfrm>
          <a:prstGeom prst="rect">
            <a:avLst/>
          </a:prstGeom>
        </p:spPr>
      </p:pic>
      <p:pic>
        <p:nvPicPr>
          <p:cNvPr id="74" name="Image 5" descr="preencoded.png">
            <a:extLst>
              <a:ext uri="{FF2B5EF4-FFF2-40B4-BE49-F238E27FC236}">
                <a16:creationId xmlns:a16="http://schemas.microsoft.com/office/drawing/2014/main" id="{4F15AA10-6E93-42D1-9ECE-5FE1B35F68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0719" y="5188523"/>
            <a:ext cx="283767" cy="100691"/>
          </a:xfrm>
          <a:prstGeom prst="rect">
            <a:avLst/>
          </a:prstGeom>
        </p:spPr>
      </p:pic>
      <p:pic>
        <p:nvPicPr>
          <p:cNvPr id="75" name="Image 6" descr="preencoded.png">
            <a:extLst>
              <a:ext uri="{FF2B5EF4-FFF2-40B4-BE49-F238E27FC236}">
                <a16:creationId xmlns:a16="http://schemas.microsoft.com/office/drawing/2014/main" id="{9E3B02A0-FDA9-4B0C-9E3B-8914D07576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6952" y="5138177"/>
            <a:ext cx="256306" cy="201383"/>
          </a:xfrm>
          <a:prstGeom prst="rect">
            <a:avLst/>
          </a:prstGeom>
        </p:spPr>
      </p:pic>
      <p:pic>
        <p:nvPicPr>
          <p:cNvPr id="76" name="Image 7" descr="preencoded.png">
            <a:extLst>
              <a:ext uri="{FF2B5EF4-FFF2-40B4-BE49-F238E27FC236}">
                <a16:creationId xmlns:a16="http://schemas.microsoft.com/office/drawing/2014/main" id="{A6A2CFFF-FAE4-48C6-B07A-3648ECC8E0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86797" y="5179369"/>
            <a:ext cx="36615" cy="118999"/>
          </a:xfrm>
          <a:prstGeom prst="rect">
            <a:avLst/>
          </a:prstGeom>
        </p:spPr>
      </p:pic>
      <p:pic>
        <p:nvPicPr>
          <p:cNvPr id="77" name="Image 8" descr="preencoded.png">
            <a:extLst>
              <a:ext uri="{FF2B5EF4-FFF2-40B4-BE49-F238E27FC236}">
                <a16:creationId xmlns:a16="http://schemas.microsoft.com/office/drawing/2014/main" id="{9B88DB99-AA66-43C4-904E-795EE68937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45341" y="5188523"/>
            <a:ext cx="613303" cy="100691"/>
          </a:xfrm>
          <a:prstGeom prst="rect">
            <a:avLst/>
          </a:prstGeom>
        </p:spPr>
      </p:pic>
      <p:pic>
        <p:nvPicPr>
          <p:cNvPr id="78" name="Image 9" descr="preencoded.png">
            <a:extLst>
              <a:ext uri="{FF2B5EF4-FFF2-40B4-BE49-F238E27FC236}">
                <a16:creationId xmlns:a16="http://schemas.microsoft.com/office/drawing/2014/main" id="{4F24CEC4-92B5-4BFE-BD05-8C85EAF4355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48799" y="5229715"/>
            <a:ext cx="100691" cy="18308"/>
          </a:xfrm>
          <a:prstGeom prst="rect">
            <a:avLst/>
          </a:prstGeom>
        </p:spPr>
      </p:pic>
      <p:pic>
        <p:nvPicPr>
          <p:cNvPr id="79" name="Image 10" descr="preencoded.png">
            <a:extLst>
              <a:ext uri="{FF2B5EF4-FFF2-40B4-BE49-F238E27FC236}">
                <a16:creationId xmlns:a16="http://schemas.microsoft.com/office/drawing/2014/main" id="{9AAF4CDA-DF37-489B-8F87-44C977A5304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88343" y="5124447"/>
            <a:ext cx="302075" cy="228845"/>
          </a:xfrm>
          <a:prstGeom prst="rect">
            <a:avLst/>
          </a:prstGeom>
        </p:spPr>
      </p:pic>
      <p:sp>
        <p:nvSpPr>
          <p:cNvPr id="80" name="Text 7">
            <a:extLst>
              <a:ext uri="{FF2B5EF4-FFF2-40B4-BE49-F238E27FC236}">
                <a16:creationId xmlns:a16="http://schemas.microsoft.com/office/drawing/2014/main" id="{EB7333FE-BAEB-495A-BC9B-8B21D710D2B1}"/>
              </a:ext>
            </a:extLst>
          </p:cNvPr>
          <p:cNvSpPr/>
          <p:nvPr/>
        </p:nvSpPr>
        <p:spPr>
          <a:xfrm>
            <a:off x="3198189" y="5187465"/>
            <a:ext cx="100691" cy="137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078"/>
              </a:lnSpc>
            </a:pPr>
            <a:r>
              <a:rPr lang="en-US" sz="1050" dirty="0">
                <a:solidFill>
                  <a:srgbClr val="AEB8C3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3</a:t>
            </a:r>
            <a:endParaRPr lang="en-US" sz="10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81" name="Image 11" descr="preencoded.png">
            <a:extLst>
              <a:ext uri="{FF2B5EF4-FFF2-40B4-BE49-F238E27FC236}">
                <a16:creationId xmlns:a16="http://schemas.microsoft.com/office/drawing/2014/main" id="{4AE8D753-2937-4020-8670-315B40D2A20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92656" y="5188523"/>
            <a:ext cx="613303" cy="100691"/>
          </a:xfrm>
          <a:prstGeom prst="rect">
            <a:avLst/>
          </a:prstGeom>
        </p:spPr>
      </p:pic>
      <p:pic>
        <p:nvPicPr>
          <p:cNvPr id="82" name="Image 12" descr="preencoded.png">
            <a:extLst>
              <a:ext uri="{FF2B5EF4-FFF2-40B4-BE49-F238E27FC236}">
                <a16:creationId xmlns:a16="http://schemas.microsoft.com/office/drawing/2014/main" id="{2AAFE392-D074-49A0-B57C-C3889D8FB62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99043" y="5124447"/>
            <a:ext cx="302075" cy="228845"/>
          </a:xfrm>
          <a:prstGeom prst="rect">
            <a:avLst/>
          </a:prstGeom>
        </p:spPr>
      </p:pic>
      <p:pic>
        <p:nvPicPr>
          <p:cNvPr id="83" name="Image 13" descr="preencoded.png">
            <a:extLst>
              <a:ext uri="{FF2B5EF4-FFF2-40B4-BE49-F238E27FC236}">
                <a16:creationId xmlns:a16="http://schemas.microsoft.com/office/drawing/2014/main" id="{F6CB9416-2E8A-4ED0-969F-190540F41BF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2818" y="5193100"/>
            <a:ext cx="823841" cy="91538"/>
          </a:xfrm>
          <a:prstGeom prst="rect">
            <a:avLst/>
          </a:prstGeom>
        </p:spPr>
      </p:pic>
      <p:pic>
        <p:nvPicPr>
          <p:cNvPr id="84" name="Image 14" descr="preencoded.png">
            <a:extLst>
              <a:ext uri="{FF2B5EF4-FFF2-40B4-BE49-F238E27FC236}">
                <a16:creationId xmlns:a16="http://schemas.microsoft.com/office/drawing/2014/main" id="{29ACDEC3-9E1D-49B7-9F3B-498B5144355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9206" y="5124447"/>
            <a:ext cx="302075" cy="228845"/>
          </a:xfrm>
          <a:prstGeom prst="rect">
            <a:avLst/>
          </a:prstGeom>
        </p:spPr>
      </p:pic>
      <p:sp>
        <p:nvSpPr>
          <p:cNvPr id="85" name="Text 8">
            <a:extLst>
              <a:ext uri="{FF2B5EF4-FFF2-40B4-BE49-F238E27FC236}">
                <a16:creationId xmlns:a16="http://schemas.microsoft.com/office/drawing/2014/main" id="{158BFC4C-BDAB-4F5F-83B6-7BF4A9DEE927}"/>
              </a:ext>
            </a:extLst>
          </p:cNvPr>
          <p:cNvSpPr/>
          <p:nvPr/>
        </p:nvSpPr>
        <p:spPr>
          <a:xfrm>
            <a:off x="818205" y="5192042"/>
            <a:ext cx="82384" cy="12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985"/>
              </a:lnSpc>
            </a:pPr>
            <a:r>
              <a:rPr lang="en-US" sz="1100" dirty="0">
                <a:solidFill>
                  <a:srgbClr val="A9B2BA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1</a:t>
            </a:r>
            <a:endParaRPr lang="en-US" sz="11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6" name="Text 9">
            <a:extLst>
              <a:ext uri="{FF2B5EF4-FFF2-40B4-BE49-F238E27FC236}">
                <a16:creationId xmlns:a16="http://schemas.microsoft.com/office/drawing/2014/main" id="{1E034387-CEDB-45A4-80ED-F19BBF8F0FBA}"/>
              </a:ext>
            </a:extLst>
          </p:cNvPr>
          <p:cNvSpPr/>
          <p:nvPr/>
        </p:nvSpPr>
        <p:spPr>
          <a:xfrm>
            <a:off x="5811824" y="5870479"/>
            <a:ext cx="1455451" cy="512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19"/>
              </a:lnSpc>
            </a:pPr>
            <a:r>
              <a:rPr lang="en-US" sz="1050" dirty="0">
                <a:solidFill>
                  <a:srgbClr val="A4A8A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다른 계좌로</a:t>
            </a:r>
            <a:endParaRPr lang="en-US" sz="1050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1619"/>
              </a:lnSpc>
            </a:pPr>
            <a:r>
              <a:rPr lang="en-US" sz="1050" dirty="0">
                <a:solidFill>
                  <a:srgbClr val="A4A8A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추가 송금이 이어져</a:t>
            </a:r>
            <a:endParaRPr lang="en-US" sz="1050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1619"/>
              </a:lnSpc>
            </a:pPr>
            <a:r>
              <a:rPr lang="en-US" sz="1050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총 15억 6천만원 피해</a:t>
            </a:r>
            <a:endParaRPr lang="en-US" sz="1050" dirty="0">
              <a:solidFill>
                <a:srgbClr val="C00000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7" name="Text 10">
            <a:extLst>
              <a:ext uri="{FF2B5EF4-FFF2-40B4-BE49-F238E27FC236}">
                <a16:creationId xmlns:a16="http://schemas.microsoft.com/office/drawing/2014/main" id="{F67A040F-50F6-49A6-8693-B200FC525256}"/>
              </a:ext>
            </a:extLst>
          </p:cNvPr>
          <p:cNvSpPr/>
          <p:nvPr/>
        </p:nvSpPr>
        <p:spPr>
          <a:xfrm>
            <a:off x="2026503" y="5861326"/>
            <a:ext cx="750611" cy="33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83"/>
              </a:lnSpc>
            </a:pPr>
            <a:r>
              <a:rPr lang="en-US" sz="1000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“주식 투자</a:t>
            </a:r>
            <a:endParaRPr lang="en-US" sz="1000" dirty="0">
              <a:solidFill>
                <a:srgbClr val="C00000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1683"/>
              </a:lnSpc>
            </a:pPr>
            <a:r>
              <a:rPr lang="en-US" sz="1000" dirty="0" err="1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목적입니다</a:t>
            </a:r>
            <a:r>
              <a:rPr lang="en-US" sz="1000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.</a:t>
            </a:r>
            <a:r>
              <a:rPr lang="en-US" altLang="ko-KR" sz="1000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”</a:t>
            </a:r>
            <a:endParaRPr lang="en-US" sz="1000" dirty="0">
              <a:solidFill>
                <a:srgbClr val="C00000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8" name="Text 11">
            <a:extLst>
              <a:ext uri="{FF2B5EF4-FFF2-40B4-BE49-F238E27FC236}">
                <a16:creationId xmlns:a16="http://schemas.microsoft.com/office/drawing/2014/main" id="{C58A6ACC-9C73-4A50-90F7-49A82C723AD5}"/>
              </a:ext>
            </a:extLst>
          </p:cNvPr>
          <p:cNvSpPr/>
          <p:nvPr/>
        </p:nvSpPr>
        <p:spPr>
          <a:xfrm>
            <a:off x="5743822" y="5632481"/>
            <a:ext cx="622457" cy="164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72"/>
              </a:lnSpc>
            </a:pPr>
            <a:r>
              <a:rPr lang="en-US" sz="1100" dirty="0">
                <a:solidFill>
                  <a:srgbClr val="69707C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추가 송금</a:t>
            </a:r>
            <a:endParaRPr lang="en-US" sz="11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9" name="Text 12">
            <a:extLst>
              <a:ext uri="{FF2B5EF4-FFF2-40B4-BE49-F238E27FC236}">
                <a16:creationId xmlns:a16="http://schemas.microsoft.com/office/drawing/2014/main" id="{F37E7283-BA7E-4582-90D4-6EF370893FA0}"/>
              </a:ext>
            </a:extLst>
          </p:cNvPr>
          <p:cNvSpPr/>
          <p:nvPr/>
        </p:nvSpPr>
        <p:spPr>
          <a:xfrm>
            <a:off x="4388181" y="5861326"/>
            <a:ext cx="1391374" cy="375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14"/>
              </a:lnSpc>
            </a:pPr>
            <a:r>
              <a:rPr lang="en-US" sz="1000" dirty="0" err="1">
                <a:solidFill>
                  <a:srgbClr val="A7ABB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추가</a:t>
            </a:r>
            <a:r>
              <a:rPr lang="en-US" sz="1000" dirty="0">
                <a:solidFill>
                  <a:srgbClr val="A7ABB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A7ABB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이체된</a:t>
            </a:r>
            <a:r>
              <a:rPr lang="en-US" sz="1000" dirty="0">
                <a:solidFill>
                  <a:srgbClr val="A7ABB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A7ABB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계좌가</a:t>
            </a:r>
            <a:endParaRPr lang="en-US" sz="1000" dirty="0">
              <a:solidFill>
                <a:srgbClr val="A7ABB1"/>
              </a:solidFill>
              <a:latin typeface="페이퍼로지 5 Medium" pitchFamily="2" charset="-127"/>
              <a:ea typeface="페이퍼로지 5 Medium" pitchFamily="2" charset="-127"/>
              <a:cs typeface="Malgun Gothic" pitchFamily="34" charset="-120"/>
            </a:endParaRPr>
          </a:p>
          <a:p>
            <a:pPr>
              <a:lnSpc>
                <a:spcPts val="1714"/>
              </a:lnSpc>
            </a:pPr>
            <a:r>
              <a:rPr lang="en-US" sz="1000" dirty="0" err="1">
                <a:solidFill>
                  <a:srgbClr val="A7ABB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의심계좌</a:t>
            </a:r>
            <a:r>
              <a:rPr lang="ko-KR" altLang="en-US" sz="1000" dirty="0">
                <a:solidFill>
                  <a:srgbClr val="A7ABB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로 추가 </a:t>
            </a:r>
            <a:r>
              <a:rPr lang="en-US" sz="1000" dirty="0" err="1">
                <a:solidFill>
                  <a:srgbClr val="A7ABB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확인됨</a:t>
            </a:r>
            <a:endParaRPr lang="en-US" sz="1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0" name="Text 13">
            <a:extLst>
              <a:ext uri="{FF2B5EF4-FFF2-40B4-BE49-F238E27FC236}">
                <a16:creationId xmlns:a16="http://schemas.microsoft.com/office/drawing/2014/main" id="{126D533A-4A55-4A7C-A52C-E394CCB64A15}"/>
              </a:ext>
            </a:extLst>
          </p:cNvPr>
          <p:cNvSpPr/>
          <p:nvPr/>
        </p:nvSpPr>
        <p:spPr>
          <a:xfrm>
            <a:off x="4379908" y="5623328"/>
            <a:ext cx="915378" cy="173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72"/>
              </a:lnSpc>
            </a:pPr>
            <a:r>
              <a:rPr lang="en-US" sz="1100" dirty="0">
                <a:solidFill>
                  <a:srgbClr val="6E7582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의심계좌확인</a:t>
            </a:r>
            <a:endParaRPr lang="en-US" sz="11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1" name="Text 14">
            <a:extLst>
              <a:ext uri="{FF2B5EF4-FFF2-40B4-BE49-F238E27FC236}">
                <a16:creationId xmlns:a16="http://schemas.microsoft.com/office/drawing/2014/main" id="{EE9151AA-42FE-4680-87C2-A0067E5D2F9B}"/>
              </a:ext>
            </a:extLst>
          </p:cNvPr>
          <p:cNvSpPr/>
          <p:nvPr/>
        </p:nvSpPr>
        <p:spPr>
          <a:xfrm>
            <a:off x="2026504" y="5623328"/>
            <a:ext cx="613303" cy="173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72"/>
              </a:lnSpc>
            </a:pPr>
            <a:r>
              <a:rPr lang="en-US" sz="1050" dirty="0">
                <a:solidFill>
                  <a:srgbClr val="666E7C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고객설명</a:t>
            </a:r>
            <a:endParaRPr lang="en-US" sz="10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2" name="Text 15">
            <a:extLst>
              <a:ext uri="{FF2B5EF4-FFF2-40B4-BE49-F238E27FC236}">
                <a16:creationId xmlns:a16="http://schemas.microsoft.com/office/drawing/2014/main" id="{CEF299AA-03E3-4868-B19B-1F7C115ADD65}"/>
              </a:ext>
            </a:extLst>
          </p:cNvPr>
          <p:cNvSpPr/>
          <p:nvPr/>
        </p:nvSpPr>
        <p:spPr>
          <a:xfrm>
            <a:off x="4375181" y="5440252"/>
            <a:ext cx="540073" cy="13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61"/>
              </a:lnSpc>
            </a:pPr>
            <a:r>
              <a:rPr lang="en-US" sz="1100" dirty="0">
                <a:solidFill>
                  <a:srgbClr val="BD9BA1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2/21</a:t>
            </a:r>
            <a:endParaRPr lang="en-US" sz="11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3" name="Text 16">
            <a:extLst>
              <a:ext uri="{FF2B5EF4-FFF2-40B4-BE49-F238E27FC236}">
                <a16:creationId xmlns:a16="http://schemas.microsoft.com/office/drawing/2014/main" id="{D3404395-FB72-4B0A-B17C-D2564E9ACA52}"/>
              </a:ext>
            </a:extLst>
          </p:cNvPr>
          <p:cNvSpPr/>
          <p:nvPr/>
        </p:nvSpPr>
        <p:spPr>
          <a:xfrm>
            <a:off x="3044683" y="5861326"/>
            <a:ext cx="1075930" cy="347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77"/>
              </a:lnSpc>
            </a:pPr>
            <a:r>
              <a:rPr lang="ko-KR" altLang="en-US" sz="1000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고객의 말을 신뢰하고</a:t>
            </a:r>
            <a:endParaRPr lang="en-US" altLang="ko-KR" sz="1000" dirty="0">
              <a:solidFill>
                <a:srgbClr val="C00000"/>
              </a:solidFill>
              <a:latin typeface="페이퍼로지 5 Medium" pitchFamily="2" charset="-127"/>
              <a:ea typeface="페이퍼로지 5 Medium" pitchFamily="2" charset="-127"/>
              <a:cs typeface="Malgun Gothic" pitchFamily="34" charset="-120"/>
            </a:endParaRPr>
          </a:p>
          <a:p>
            <a:pPr>
              <a:lnSpc>
                <a:spcPts val="1577"/>
              </a:lnSpc>
            </a:pPr>
            <a:r>
              <a:rPr lang="en-US" sz="1000" dirty="0" err="1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거래</a:t>
            </a:r>
            <a:r>
              <a:rPr lang="en-US" sz="1000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제한 해제</a:t>
            </a:r>
            <a:endParaRPr lang="en-US" sz="1000" dirty="0">
              <a:solidFill>
                <a:srgbClr val="C00000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4" name="Text 17">
            <a:extLst>
              <a:ext uri="{FF2B5EF4-FFF2-40B4-BE49-F238E27FC236}">
                <a16:creationId xmlns:a16="http://schemas.microsoft.com/office/drawing/2014/main" id="{C20A6A75-1B0C-44E9-963C-2AD4C6E81D80}"/>
              </a:ext>
            </a:extLst>
          </p:cNvPr>
          <p:cNvSpPr/>
          <p:nvPr/>
        </p:nvSpPr>
        <p:spPr>
          <a:xfrm>
            <a:off x="3106651" y="5623328"/>
            <a:ext cx="631611" cy="173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72"/>
              </a:lnSpc>
            </a:pPr>
            <a:r>
              <a:rPr lang="en-US" sz="1100" dirty="0">
                <a:solidFill>
                  <a:srgbClr val="68707D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조치 해제</a:t>
            </a:r>
            <a:endParaRPr lang="en-US" sz="11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5" name="Text 18">
            <a:extLst>
              <a:ext uri="{FF2B5EF4-FFF2-40B4-BE49-F238E27FC236}">
                <a16:creationId xmlns:a16="http://schemas.microsoft.com/office/drawing/2014/main" id="{BA56725A-AB8B-4AF7-AE83-ED6FF44D19E3}"/>
              </a:ext>
            </a:extLst>
          </p:cNvPr>
          <p:cNvSpPr/>
          <p:nvPr/>
        </p:nvSpPr>
        <p:spPr>
          <a:xfrm>
            <a:off x="5743822" y="5440252"/>
            <a:ext cx="768918" cy="155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76"/>
              </a:lnSpc>
            </a:pPr>
            <a:r>
              <a:rPr lang="en-US" sz="1050" dirty="0">
                <a:solidFill>
                  <a:srgbClr val="C59BA0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2/21~2/23</a:t>
            </a:r>
            <a:endParaRPr lang="en-US" sz="10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6" name="Text 19">
            <a:extLst>
              <a:ext uri="{FF2B5EF4-FFF2-40B4-BE49-F238E27FC236}">
                <a16:creationId xmlns:a16="http://schemas.microsoft.com/office/drawing/2014/main" id="{32F8CA10-F1D2-4CE6-A8E4-442140615C6B}"/>
              </a:ext>
            </a:extLst>
          </p:cNvPr>
          <p:cNvSpPr/>
          <p:nvPr/>
        </p:nvSpPr>
        <p:spPr>
          <a:xfrm>
            <a:off x="3106650" y="5440252"/>
            <a:ext cx="1032269" cy="155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76"/>
              </a:lnSpc>
            </a:pPr>
            <a:r>
              <a:rPr lang="en-US" sz="1100" dirty="0">
                <a:solidFill>
                  <a:srgbClr val="9A9CA1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2/20</a:t>
            </a:r>
            <a:endParaRPr lang="en-US" sz="11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7" name="Text 20">
            <a:extLst>
              <a:ext uri="{FF2B5EF4-FFF2-40B4-BE49-F238E27FC236}">
                <a16:creationId xmlns:a16="http://schemas.microsoft.com/office/drawing/2014/main" id="{244AF4B1-9474-4519-812B-23623022BEF9}"/>
              </a:ext>
            </a:extLst>
          </p:cNvPr>
          <p:cNvSpPr/>
          <p:nvPr/>
        </p:nvSpPr>
        <p:spPr>
          <a:xfrm>
            <a:off x="680898" y="5623328"/>
            <a:ext cx="906224" cy="173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72"/>
              </a:lnSpc>
            </a:pPr>
            <a:r>
              <a:rPr lang="en-US" sz="1050" b="1" dirty="0">
                <a:solidFill>
                  <a:srgbClr val="6C738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이상거래 감지</a:t>
            </a:r>
            <a:endParaRPr lang="en-US" sz="10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8" name="Text 21">
            <a:extLst>
              <a:ext uri="{FF2B5EF4-FFF2-40B4-BE49-F238E27FC236}">
                <a16:creationId xmlns:a16="http://schemas.microsoft.com/office/drawing/2014/main" id="{60116004-0D69-4D3F-A366-607DB0F0504B}"/>
              </a:ext>
            </a:extLst>
          </p:cNvPr>
          <p:cNvSpPr/>
          <p:nvPr/>
        </p:nvSpPr>
        <p:spPr>
          <a:xfrm>
            <a:off x="2026504" y="5440251"/>
            <a:ext cx="1032269" cy="14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76"/>
              </a:lnSpc>
            </a:pPr>
            <a:r>
              <a:rPr lang="en-US" sz="1100" dirty="0">
                <a:solidFill>
                  <a:srgbClr val="989B9F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2/20</a:t>
            </a:r>
            <a:endParaRPr lang="en-US" sz="11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9" name="Text 22">
            <a:extLst>
              <a:ext uri="{FF2B5EF4-FFF2-40B4-BE49-F238E27FC236}">
                <a16:creationId xmlns:a16="http://schemas.microsoft.com/office/drawing/2014/main" id="{9C333BA7-9F89-4F45-AD67-6CD4D75DEC37}"/>
              </a:ext>
            </a:extLst>
          </p:cNvPr>
          <p:cNvSpPr/>
          <p:nvPr/>
        </p:nvSpPr>
        <p:spPr>
          <a:xfrm>
            <a:off x="671744" y="5861326"/>
            <a:ext cx="1116762" cy="32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81"/>
              </a:lnSpc>
            </a:pPr>
            <a:r>
              <a:rPr lang="en-US" sz="1000" dirty="0">
                <a:solidFill>
                  <a:srgbClr val="ACB0B6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고액 이체가 탐지되어</a:t>
            </a:r>
            <a:endParaRPr lang="en-US" sz="1000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1481"/>
              </a:lnSpc>
            </a:pPr>
            <a:r>
              <a:rPr lang="en-US" sz="1000" dirty="0">
                <a:solidFill>
                  <a:srgbClr val="ACB0B6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거래 제한 조치</a:t>
            </a:r>
            <a:endParaRPr lang="en-US" sz="1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0" name="Text 23">
            <a:extLst>
              <a:ext uri="{FF2B5EF4-FFF2-40B4-BE49-F238E27FC236}">
                <a16:creationId xmlns:a16="http://schemas.microsoft.com/office/drawing/2014/main" id="{B6787B02-3098-4562-B30C-2682C701A697}"/>
              </a:ext>
            </a:extLst>
          </p:cNvPr>
          <p:cNvSpPr/>
          <p:nvPr/>
        </p:nvSpPr>
        <p:spPr>
          <a:xfrm>
            <a:off x="680898" y="5440251"/>
            <a:ext cx="1032269" cy="14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76"/>
              </a:lnSpc>
            </a:pPr>
            <a:r>
              <a:rPr lang="en-US" sz="1100" dirty="0">
                <a:solidFill>
                  <a:srgbClr val="9D9FA4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2/20</a:t>
            </a:r>
            <a:endParaRPr lang="en-US" sz="11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1" name="Text 24">
            <a:extLst>
              <a:ext uri="{FF2B5EF4-FFF2-40B4-BE49-F238E27FC236}">
                <a16:creationId xmlns:a16="http://schemas.microsoft.com/office/drawing/2014/main" id="{08C01EAB-3C2B-4680-A985-793E8B574FEE}"/>
              </a:ext>
            </a:extLst>
          </p:cNvPr>
          <p:cNvSpPr/>
          <p:nvPr/>
        </p:nvSpPr>
        <p:spPr>
          <a:xfrm>
            <a:off x="4790947" y="5192042"/>
            <a:ext cx="100691" cy="12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980"/>
              </a:lnSpc>
            </a:pPr>
            <a:r>
              <a:rPr lang="en-US" sz="1050" b="1" dirty="0">
                <a:solidFill>
                  <a:srgbClr val="DF8F92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4</a:t>
            </a:r>
            <a:endParaRPr lang="en-US" sz="10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2" name="Text 25">
            <a:extLst>
              <a:ext uri="{FF2B5EF4-FFF2-40B4-BE49-F238E27FC236}">
                <a16:creationId xmlns:a16="http://schemas.microsoft.com/office/drawing/2014/main" id="{242CAB3A-5AD1-4C6C-BBA3-23675100E7C4}"/>
              </a:ext>
            </a:extLst>
          </p:cNvPr>
          <p:cNvSpPr/>
          <p:nvPr/>
        </p:nvSpPr>
        <p:spPr>
          <a:xfrm>
            <a:off x="2108888" y="5192042"/>
            <a:ext cx="91538" cy="12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078"/>
              </a:lnSpc>
            </a:pPr>
            <a:r>
              <a:rPr lang="en-US" sz="1050" dirty="0">
                <a:solidFill>
                  <a:srgbClr val="ACB6C1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2</a:t>
            </a:r>
            <a:endParaRPr lang="en-US" sz="10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3" name="Text 26">
            <a:extLst>
              <a:ext uri="{FF2B5EF4-FFF2-40B4-BE49-F238E27FC236}">
                <a16:creationId xmlns:a16="http://schemas.microsoft.com/office/drawing/2014/main" id="{6C1FEAA9-B3E0-4F4A-A681-1974DC922F11}"/>
              </a:ext>
            </a:extLst>
          </p:cNvPr>
          <p:cNvSpPr/>
          <p:nvPr/>
        </p:nvSpPr>
        <p:spPr>
          <a:xfrm>
            <a:off x="671745" y="4863564"/>
            <a:ext cx="1308991" cy="183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70"/>
              </a:lnSpc>
            </a:pPr>
            <a:r>
              <a:rPr lang="en-US" sz="1100" dirty="0">
                <a:solidFill>
                  <a:srgbClr val="6F7682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사건 진행 타임라인</a:t>
            </a:r>
            <a:endParaRPr lang="en-US" sz="11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104" name="Image 15" descr="preencoded.png">
            <a:extLst>
              <a:ext uri="{FF2B5EF4-FFF2-40B4-BE49-F238E27FC236}">
                <a16:creationId xmlns:a16="http://schemas.microsoft.com/office/drawing/2014/main" id="{D59A7984-7F8E-4870-B679-7D022140D0D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55715" y="2537144"/>
            <a:ext cx="6572416" cy="2132831"/>
          </a:xfrm>
          <a:prstGeom prst="rect">
            <a:avLst/>
          </a:prstGeom>
        </p:spPr>
      </p:pic>
      <p:sp>
        <p:nvSpPr>
          <p:cNvPr id="105" name="Shape 27">
            <a:extLst>
              <a:ext uri="{FF2B5EF4-FFF2-40B4-BE49-F238E27FC236}">
                <a16:creationId xmlns:a16="http://schemas.microsoft.com/office/drawing/2014/main" id="{E330B214-4BEF-4DAF-AF31-6805F69CA90A}"/>
              </a:ext>
            </a:extLst>
          </p:cNvPr>
          <p:cNvSpPr/>
          <p:nvPr/>
        </p:nvSpPr>
        <p:spPr>
          <a:xfrm>
            <a:off x="488669" y="2765988"/>
            <a:ext cx="4457892" cy="1903987"/>
          </a:xfrm>
          <a:prstGeom prst="roundRect">
            <a:avLst>
              <a:gd name="adj" fmla="val 1886"/>
            </a:avLst>
          </a:prstGeom>
          <a:solidFill>
            <a:srgbClr val="FCFCFC"/>
          </a:solidFill>
          <a:ln w="19050">
            <a:solidFill>
              <a:srgbClr val="F6F7F8"/>
            </a:solidFill>
            <a:prstDash val="solid"/>
          </a:ln>
        </p:spPr>
      </p:sp>
      <p:sp>
        <p:nvSpPr>
          <p:cNvPr id="106" name="Shape 28">
            <a:extLst>
              <a:ext uri="{FF2B5EF4-FFF2-40B4-BE49-F238E27FC236}">
                <a16:creationId xmlns:a16="http://schemas.microsoft.com/office/drawing/2014/main" id="{6133F3BC-AB58-438F-9A6F-2E80C157F97C}"/>
              </a:ext>
            </a:extLst>
          </p:cNvPr>
          <p:cNvSpPr/>
          <p:nvPr/>
        </p:nvSpPr>
        <p:spPr>
          <a:xfrm>
            <a:off x="7198391" y="4918485"/>
            <a:ext cx="4256510" cy="1464607"/>
          </a:xfrm>
          <a:prstGeom prst="rect">
            <a:avLst/>
          </a:prstGeom>
          <a:solidFill>
            <a:srgbClr val="FAEFEF"/>
          </a:solidFill>
          <a:ln w="28575">
            <a:solidFill>
              <a:srgbClr val="FAF8F8"/>
            </a:solidFill>
            <a:prstDash val="solid"/>
          </a:ln>
        </p:spPr>
      </p:sp>
      <p:pic>
        <p:nvPicPr>
          <p:cNvPr id="107" name="Image 16" descr="preencoded.png">
            <a:extLst>
              <a:ext uri="{FF2B5EF4-FFF2-40B4-BE49-F238E27FC236}">
                <a16:creationId xmlns:a16="http://schemas.microsoft.com/office/drawing/2014/main" id="{966293E4-C57A-431B-A895-074FE60A1CF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90621" y="5180913"/>
            <a:ext cx="338690" cy="274614"/>
          </a:xfrm>
          <a:prstGeom prst="rect">
            <a:avLst/>
          </a:prstGeom>
        </p:spPr>
      </p:pic>
      <p:sp>
        <p:nvSpPr>
          <p:cNvPr id="108" name="Text 29">
            <a:extLst>
              <a:ext uri="{FF2B5EF4-FFF2-40B4-BE49-F238E27FC236}">
                <a16:creationId xmlns:a16="http://schemas.microsoft.com/office/drawing/2014/main" id="{CB2F2370-37FA-4480-9CCB-9543A35004A2}"/>
              </a:ext>
            </a:extLst>
          </p:cNvPr>
          <p:cNvSpPr/>
          <p:nvPr/>
        </p:nvSpPr>
        <p:spPr>
          <a:xfrm>
            <a:off x="7921540" y="5069972"/>
            <a:ext cx="3450977" cy="112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155"/>
              </a:lnSpc>
            </a:pPr>
            <a:r>
              <a:rPr lang="en-US" altLang="ko-KR" sz="1200" b="1" dirty="0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[ </a:t>
            </a:r>
            <a:r>
              <a:rPr lang="en-US" sz="1200" b="1" dirty="0" err="1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시사점</a:t>
            </a:r>
            <a:r>
              <a:rPr lang="en-US" sz="1200" b="1" dirty="0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altLang="ko-KR" sz="1200" b="1" dirty="0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]</a:t>
            </a:r>
            <a:endParaRPr lang="en-US" sz="1200" b="1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2155"/>
              </a:lnSpc>
            </a:pPr>
            <a:r>
              <a:rPr lang="ko-KR" altLang="en-US" sz="1200" dirty="0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탐지만으로 보이스피싱 피해가 막아지는  게 아니다</a:t>
            </a:r>
            <a:r>
              <a:rPr lang="en-US" altLang="ko-KR" sz="1200" dirty="0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!</a:t>
            </a:r>
            <a:endParaRPr lang="en-US" sz="1200" dirty="0">
              <a:solidFill>
                <a:srgbClr val="C76C73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2155"/>
              </a:lnSpc>
            </a:pPr>
            <a:r>
              <a:rPr lang="ko-KR" altLang="en-US" sz="1200" dirty="0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</a:rPr>
              <a:t>중요한 것은</a:t>
            </a:r>
            <a:r>
              <a:rPr lang="en-US" altLang="ko-KR" sz="1200" dirty="0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200" dirty="0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</a:rPr>
              <a:t>탐지 이후</a:t>
            </a:r>
            <a:r>
              <a:rPr lang="en-US" altLang="ko-KR" sz="1200" dirty="0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highlight>
                  <a:srgbClr val="800000"/>
                </a:highlight>
                <a:latin typeface="페이퍼로지 5 Medium" pitchFamily="2" charset="-127"/>
                <a:ea typeface="페이퍼로지 5 Medium" pitchFamily="2" charset="-127"/>
              </a:rPr>
              <a:t>은행 직원의 올바른 대응이다</a:t>
            </a:r>
            <a:r>
              <a:rPr lang="en-US" altLang="ko-KR" sz="1200" dirty="0">
                <a:solidFill>
                  <a:schemeClr val="bg1"/>
                </a:solidFill>
                <a:highlight>
                  <a:srgbClr val="800000"/>
                </a:highlight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  <a:p>
            <a:pPr>
              <a:lnSpc>
                <a:spcPts val="2155"/>
              </a:lnSpc>
            </a:pPr>
            <a:r>
              <a:rPr lang="ko-KR" altLang="en-US" sz="1200" dirty="0">
                <a:solidFill>
                  <a:schemeClr val="bg1"/>
                </a:solidFill>
                <a:highlight>
                  <a:srgbClr val="800000"/>
                </a:highlight>
                <a:latin typeface="페이퍼로지 5 Medium" pitchFamily="2" charset="-127"/>
                <a:ea typeface="페이퍼로지 5 Medium" pitchFamily="2" charset="-127"/>
              </a:rPr>
              <a:t>그리고</a:t>
            </a:r>
            <a:r>
              <a:rPr lang="en-US" altLang="ko-KR" sz="1200" dirty="0">
                <a:solidFill>
                  <a:schemeClr val="bg1"/>
                </a:solidFill>
                <a:highlight>
                  <a:srgbClr val="800000"/>
                </a:highlight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highlight>
                  <a:srgbClr val="800000"/>
                </a:highlight>
                <a:latin typeface="페이퍼로지 5 Medium" pitchFamily="2" charset="-127"/>
                <a:ea typeface="페이퍼로지 5 Medium" pitchFamily="2" charset="-127"/>
              </a:rPr>
              <a:t>올바른 대응은 </a:t>
            </a:r>
            <a:r>
              <a:rPr lang="en-US" altLang="ko-KR" sz="1200" dirty="0">
                <a:solidFill>
                  <a:schemeClr val="bg1"/>
                </a:solidFill>
                <a:highlight>
                  <a:srgbClr val="800000"/>
                </a:highlight>
                <a:latin typeface="페이퍼로지 5 Medium" pitchFamily="2" charset="-127"/>
                <a:ea typeface="페이퍼로지 5 Medium" pitchFamily="2" charset="-127"/>
              </a:rPr>
              <a:t>‘</a:t>
            </a:r>
            <a:r>
              <a:rPr lang="ko-KR" altLang="en-US" sz="1200" dirty="0">
                <a:solidFill>
                  <a:schemeClr val="bg1"/>
                </a:solidFill>
                <a:highlight>
                  <a:srgbClr val="800000"/>
                </a:highlight>
                <a:latin typeface="페이퍼로지 5 Medium" pitchFamily="2" charset="-127"/>
                <a:ea typeface="페이퍼로지 5 Medium" pitchFamily="2" charset="-127"/>
              </a:rPr>
              <a:t>정보의 질과 양에서 결정된다</a:t>
            </a:r>
            <a:r>
              <a:rPr lang="en-US" altLang="ko-KR" sz="1200" dirty="0">
                <a:solidFill>
                  <a:schemeClr val="bg1"/>
                </a:solidFill>
                <a:highlight>
                  <a:srgbClr val="800000"/>
                </a:highlight>
                <a:latin typeface="페이퍼로지 5 Medium" pitchFamily="2" charset="-127"/>
                <a:ea typeface="페이퍼로지 5 Medium" pitchFamily="2" charset="-127"/>
              </a:rPr>
              <a:t>!’</a:t>
            </a:r>
            <a:endParaRPr lang="en-US" altLang="ko-KR" sz="1200" dirty="0">
              <a:solidFill>
                <a:srgbClr val="C76C73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109" name="Image 21" descr="preencoded.png">
            <a:extLst>
              <a:ext uri="{FF2B5EF4-FFF2-40B4-BE49-F238E27FC236}">
                <a16:creationId xmlns:a16="http://schemas.microsoft.com/office/drawing/2014/main" id="{D62288D4-87CA-49C2-9104-1AEFFF679AB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0552" y="3341523"/>
            <a:ext cx="4082587" cy="64076"/>
          </a:xfrm>
          <a:prstGeom prst="rect">
            <a:avLst/>
          </a:prstGeom>
        </p:spPr>
      </p:pic>
      <p:pic>
        <p:nvPicPr>
          <p:cNvPr id="110" name="Image 22" descr="preencoded.png">
            <a:extLst>
              <a:ext uri="{FF2B5EF4-FFF2-40B4-BE49-F238E27FC236}">
                <a16:creationId xmlns:a16="http://schemas.microsoft.com/office/drawing/2014/main" id="{12DEE0B0-5D9D-478F-86E3-BC0FFFBB6FF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6976" y="2537143"/>
            <a:ext cx="4439585" cy="237998"/>
          </a:xfrm>
          <a:prstGeom prst="rect">
            <a:avLst/>
          </a:prstGeom>
        </p:spPr>
      </p:pic>
      <p:sp>
        <p:nvSpPr>
          <p:cNvPr id="111" name="Text 39">
            <a:extLst>
              <a:ext uri="{FF2B5EF4-FFF2-40B4-BE49-F238E27FC236}">
                <a16:creationId xmlns:a16="http://schemas.microsoft.com/office/drawing/2014/main" id="{C9BCD264-CB39-4EB0-939C-4A84BA333DC2}"/>
              </a:ext>
            </a:extLst>
          </p:cNvPr>
          <p:cNvSpPr/>
          <p:nvPr/>
        </p:nvSpPr>
        <p:spPr>
          <a:xfrm>
            <a:off x="699205" y="3533751"/>
            <a:ext cx="4082587" cy="805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63"/>
              </a:lnSpc>
            </a:pPr>
            <a:r>
              <a:rPr lang="en-US" sz="1200" dirty="0">
                <a:solidFill>
                  <a:srgbClr val="9A9EA5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은행이 이상거래를 탐지해 첫 거래를 제한했지만.</a:t>
            </a:r>
            <a:endParaRPr lang="en-US" sz="1200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1963"/>
              </a:lnSpc>
            </a:pPr>
            <a:r>
              <a:rPr lang="en-US" sz="1200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고객이 '주식 투자 목적'이라고 설명하자 조치를 해제</a:t>
            </a:r>
            <a:r>
              <a:rPr lang="en-US" sz="1200" dirty="0">
                <a:solidFill>
                  <a:srgbClr val="9A9EA5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했다.</a:t>
            </a:r>
            <a:endParaRPr lang="en-US" sz="1200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1963"/>
              </a:lnSpc>
            </a:pPr>
            <a:r>
              <a:rPr lang="en-US" sz="1200" dirty="0">
                <a:solidFill>
                  <a:srgbClr val="9A9EA5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이후 다른 계좌로 추가 송금이 이어지면서</a:t>
            </a:r>
            <a:endParaRPr lang="en-US" sz="1200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1963"/>
              </a:lnSpc>
            </a:pPr>
            <a:r>
              <a:rPr lang="en-US" sz="1200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총 15억 6천만원의 피해가 발생</a:t>
            </a:r>
            <a:r>
              <a:rPr lang="en-US" sz="1200" dirty="0">
                <a:solidFill>
                  <a:srgbClr val="9A9EA5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했다.</a:t>
            </a:r>
            <a:endParaRPr lang="en-US" sz="12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2" name="Text 40">
            <a:extLst>
              <a:ext uri="{FF2B5EF4-FFF2-40B4-BE49-F238E27FC236}">
                <a16:creationId xmlns:a16="http://schemas.microsoft.com/office/drawing/2014/main" id="{BA84581F-B8A1-4ABA-AA5B-5B18A5D9C29C}"/>
              </a:ext>
            </a:extLst>
          </p:cNvPr>
          <p:cNvSpPr/>
          <p:nvPr/>
        </p:nvSpPr>
        <p:spPr>
          <a:xfrm>
            <a:off x="708359" y="2763210"/>
            <a:ext cx="3588283" cy="57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871"/>
              </a:lnSpc>
            </a:pPr>
            <a:r>
              <a:rPr lang="en-US" sz="1600" b="1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탐지 이후에도 사흘간 추가 </a:t>
            </a:r>
            <a:r>
              <a:rPr lang="en-US" sz="1600" b="1" dirty="0" err="1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송금</a:t>
            </a:r>
            <a:r>
              <a:rPr lang="en-US" sz="1600" b="1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,</a:t>
            </a:r>
            <a:r>
              <a:rPr lang="en-US" sz="1600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sz="1600" b="1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15억피해</a:t>
            </a:r>
            <a:endParaRPr lang="en-US" sz="1600" dirty="0">
              <a:solidFill>
                <a:srgbClr val="C00000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3" name="Text 41">
            <a:extLst>
              <a:ext uri="{FF2B5EF4-FFF2-40B4-BE49-F238E27FC236}">
                <a16:creationId xmlns:a16="http://schemas.microsoft.com/office/drawing/2014/main" id="{FE750BE4-7D4E-432B-A096-71855FA79917}"/>
              </a:ext>
            </a:extLst>
          </p:cNvPr>
          <p:cNvSpPr/>
          <p:nvPr/>
        </p:nvSpPr>
        <p:spPr>
          <a:xfrm>
            <a:off x="1239278" y="2614953"/>
            <a:ext cx="924532" cy="155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78"/>
              </a:lnSpc>
            </a:pPr>
            <a:r>
              <a:rPr 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2026.02.23</a:t>
            </a:r>
            <a:endParaRPr lang="en-US" sz="11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4" name="Text 42">
            <a:extLst>
              <a:ext uri="{FF2B5EF4-FFF2-40B4-BE49-F238E27FC236}">
                <a16:creationId xmlns:a16="http://schemas.microsoft.com/office/drawing/2014/main" id="{C9F9B382-FDE0-468A-8E9E-7C09AC5C4C84}"/>
              </a:ext>
            </a:extLst>
          </p:cNvPr>
          <p:cNvSpPr/>
          <p:nvPr/>
        </p:nvSpPr>
        <p:spPr>
          <a:xfrm>
            <a:off x="1092818" y="2624106"/>
            <a:ext cx="45769" cy="14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165"/>
              </a:lnSpc>
            </a:pPr>
            <a:r>
              <a:rPr lang="en-US" sz="12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I</a:t>
            </a:r>
            <a:endParaRPr lang="en-US" sz="12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5" name="Text 43">
            <a:extLst>
              <a:ext uri="{FF2B5EF4-FFF2-40B4-BE49-F238E27FC236}">
                <a16:creationId xmlns:a16="http://schemas.microsoft.com/office/drawing/2014/main" id="{091FC119-FE7B-4F7A-89F1-8C32F74791E9}"/>
              </a:ext>
            </a:extLst>
          </p:cNvPr>
          <p:cNvSpPr/>
          <p:nvPr/>
        </p:nvSpPr>
        <p:spPr>
          <a:xfrm>
            <a:off x="662590" y="2606328"/>
            <a:ext cx="338690" cy="155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78"/>
              </a:lnSpc>
            </a:pPr>
            <a:r>
              <a:rPr lang="en-US" sz="105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YTN</a:t>
            </a:r>
            <a:endParaRPr lang="en-US" sz="105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2" name="Text 48">
            <a:extLst>
              <a:ext uri="{FF2B5EF4-FFF2-40B4-BE49-F238E27FC236}">
                <a16:creationId xmlns:a16="http://schemas.microsoft.com/office/drawing/2014/main" id="{281B5D0F-BC80-41FD-87B4-497ACED1E302}"/>
              </a:ext>
            </a:extLst>
          </p:cNvPr>
          <p:cNvSpPr/>
          <p:nvPr/>
        </p:nvSpPr>
        <p:spPr>
          <a:xfrm>
            <a:off x="376021" y="1493612"/>
            <a:ext cx="11679413" cy="887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451"/>
              </a:lnSpc>
            </a:pP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현행 체계만으로는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… 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탐지 이후 은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행 직원이 사실관계를 확인하고 대응하기 어렵다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  <a:p>
            <a:pPr>
              <a:lnSpc>
                <a:spcPts val="2451"/>
              </a:lnSpc>
            </a:pP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고객이 혼란스럽거나 범죄자를 신뢰하여 행원을 속인다면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… 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골든타임 이내에 올바른 조치가 수행될 수 없다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en-US" sz="14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3" name="Text 49">
            <a:extLst>
              <a:ext uri="{FF2B5EF4-FFF2-40B4-BE49-F238E27FC236}">
                <a16:creationId xmlns:a16="http://schemas.microsoft.com/office/drawing/2014/main" id="{CADC57F0-3376-4A53-8196-F61A36022CD7}"/>
              </a:ext>
            </a:extLst>
          </p:cNvPr>
          <p:cNvSpPr/>
          <p:nvPr/>
        </p:nvSpPr>
        <p:spPr>
          <a:xfrm>
            <a:off x="333054" y="492473"/>
            <a:ext cx="8833402" cy="871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800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보이스피싱 성공적 </a:t>
            </a:r>
            <a:r>
              <a:rPr lang="en-US" sz="2800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탐</a:t>
            </a:r>
            <a:r>
              <a:rPr lang="ko-KR" altLang="en-US" sz="2800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지</a:t>
            </a:r>
            <a:r>
              <a:rPr lang="en-US" sz="2800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, </a:t>
            </a:r>
            <a:r>
              <a:rPr lang="ko-KR" altLang="en-US" sz="2800" b="1" dirty="0">
                <a:solidFill>
                  <a:srgbClr val="C5313C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이후 대응은 실패</a:t>
            </a:r>
            <a:r>
              <a:rPr lang="en-US" altLang="ko-KR" sz="2800" b="1" dirty="0">
                <a:solidFill>
                  <a:srgbClr val="C5313C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…</a:t>
            </a:r>
            <a:br>
              <a:rPr lang="en-US" altLang="ko-KR" sz="2800" b="1" dirty="0">
                <a:solidFill>
                  <a:srgbClr val="C5313C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</a:br>
            <a:r>
              <a:rPr lang="ko-KR" altLang="en-US" sz="2800" b="1" dirty="0">
                <a:solidFill>
                  <a:srgbClr val="C5313C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피해 발생 구멍은 탐지 이후의 대응 과정</a:t>
            </a:r>
            <a:r>
              <a:rPr lang="en-US" altLang="ko-KR" sz="2800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에 </a:t>
            </a:r>
            <a:r>
              <a:rPr lang="ko-KR" altLang="en-US" sz="2800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있는 게 아닐까</a:t>
            </a:r>
            <a:r>
              <a:rPr lang="en-US" altLang="ko-KR" sz="2800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?</a:t>
            </a:r>
            <a:endParaRPr lang="en-US" sz="28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77C0958-F60D-4340-A2C5-3BFD0B2D3E6B}"/>
              </a:ext>
            </a:extLst>
          </p:cNvPr>
          <p:cNvSpPr txBox="1"/>
          <p:nvPr/>
        </p:nvSpPr>
        <p:spPr>
          <a:xfrm>
            <a:off x="193345" y="89841"/>
            <a:ext cx="2556205" cy="296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000" b="0" dirty="0">
                <a:solidFill>
                  <a:srgbClr val="0056FB"/>
                </a:solidFill>
                <a:latin typeface="Noto Sans KR"/>
                <a:ea typeface="Noto Sans KR"/>
                <a:cs typeface="Noto Sans KR"/>
              </a:rPr>
              <a:t>현행 체계와 기획 배경 </a:t>
            </a:r>
            <a:endParaRPr lang="en-US" altLang="ko-KR" sz="1000" b="0" dirty="0">
              <a:solidFill>
                <a:srgbClr val="0056FB"/>
              </a:solidFill>
              <a:latin typeface="Noto Sans KR"/>
              <a:ea typeface="Noto Sans KR"/>
              <a:cs typeface="Noto Sans KR"/>
            </a:endParaRP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67782D32-C631-463F-8F85-C6FCB4A1581D}"/>
              </a:ext>
            </a:extLst>
          </p:cNvPr>
          <p:cNvGrpSpPr/>
          <p:nvPr/>
        </p:nvGrpSpPr>
        <p:grpSpPr>
          <a:xfrm>
            <a:off x="8719398" y="608961"/>
            <a:ext cx="2569655" cy="638405"/>
            <a:chOff x="7921540" y="1612366"/>
            <a:chExt cx="2569655" cy="638405"/>
          </a:xfrm>
        </p:grpSpPr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2542C284-0ED5-4815-B4AE-D947A74CD0F7}"/>
                </a:ext>
              </a:extLst>
            </p:cNvPr>
            <p:cNvGrpSpPr/>
            <p:nvPr/>
          </p:nvGrpSpPr>
          <p:grpSpPr>
            <a:xfrm>
              <a:off x="8502756" y="1612366"/>
              <a:ext cx="1988439" cy="638405"/>
              <a:chOff x="9647028" y="1650196"/>
              <a:chExt cx="1988439" cy="638405"/>
            </a:xfrm>
          </p:grpSpPr>
          <p:pic>
            <p:nvPicPr>
              <p:cNvPr id="127" name="Image 11" descr="preencoded.png">
                <a:extLst>
                  <a:ext uri="{FF2B5EF4-FFF2-40B4-BE49-F238E27FC236}">
                    <a16:creationId xmlns:a16="http://schemas.microsoft.com/office/drawing/2014/main" id="{78FA4BFA-46C5-47D9-A9F5-52E830C085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793202" y="1650196"/>
                <a:ext cx="842265" cy="635218"/>
              </a:xfrm>
              <a:prstGeom prst="rect">
                <a:avLst/>
              </a:prstGeom>
            </p:spPr>
          </p:pic>
          <p:sp>
            <p:nvSpPr>
              <p:cNvPr id="128" name="Rectangle: Rounded Corners 127">
                <a:extLst>
                  <a:ext uri="{FF2B5EF4-FFF2-40B4-BE49-F238E27FC236}">
                    <a16:creationId xmlns:a16="http://schemas.microsoft.com/office/drawing/2014/main" id="{2F7924A9-E762-41AC-AE16-E5C699FA7783}"/>
                  </a:ext>
                </a:extLst>
              </p:cNvPr>
              <p:cNvSpPr/>
              <p:nvPr/>
            </p:nvSpPr>
            <p:spPr>
              <a:xfrm>
                <a:off x="9647028" y="1653383"/>
                <a:ext cx="1228627" cy="635218"/>
              </a:xfrm>
              <a:prstGeom prst="roundRect">
                <a:avLst/>
              </a:prstGeom>
              <a:solidFill>
                <a:srgbClr val="10213D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>
                    <a:latin typeface="페이퍼로지 5 Medium" pitchFamily="2" charset="-127"/>
                    <a:ea typeface="페이퍼로지 5 Medium" pitchFamily="2" charset="-127"/>
                  </a:rPr>
                  <a:t>휴먼 에러</a:t>
                </a:r>
                <a:endParaRPr lang="en-US" altLang="ko-KR" sz="1400" dirty="0">
                  <a:latin typeface="페이퍼로지 5 Medium" pitchFamily="2" charset="-127"/>
                  <a:ea typeface="페이퍼로지 5 Medium" pitchFamily="2" charset="-127"/>
                </a:endParaRPr>
              </a:p>
              <a:p>
                <a:pPr algn="ctr"/>
                <a:r>
                  <a:rPr lang="ko-KR" altLang="en-US" sz="1400" dirty="0">
                    <a:latin typeface="페이퍼로지 5 Medium" pitchFamily="2" charset="-127"/>
                    <a:ea typeface="페이퍼로지 5 Medium" pitchFamily="2" charset="-127"/>
                  </a:rPr>
                  <a:t>발생 가능</a:t>
                </a:r>
              </a:p>
            </p:txBody>
          </p:sp>
        </p:grpSp>
        <p:sp>
          <p:nvSpPr>
            <p:cNvPr id="131" name="Arrow: Right 130">
              <a:extLst>
                <a:ext uri="{FF2B5EF4-FFF2-40B4-BE49-F238E27FC236}">
                  <a16:creationId xmlns:a16="http://schemas.microsoft.com/office/drawing/2014/main" id="{D31A10D0-C033-4783-B0A2-F80575D35427}"/>
                </a:ext>
              </a:extLst>
            </p:cNvPr>
            <p:cNvSpPr/>
            <p:nvPr/>
          </p:nvSpPr>
          <p:spPr>
            <a:xfrm>
              <a:off x="7921540" y="1846734"/>
              <a:ext cx="462109" cy="228895"/>
            </a:xfrm>
            <a:prstGeom prst="rightArrow">
              <a:avLst>
                <a:gd name="adj1" fmla="val 50000"/>
                <a:gd name="adj2" fmla="val 85249"/>
              </a:avLst>
            </a:prstGeom>
            <a:solidFill>
              <a:srgbClr val="1021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2617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108A23-53C1-4A94-B40D-A71227CFBA0D}"/>
              </a:ext>
            </a:extLst>
          </p:cNvPr>
          <p:cNvSpPr/>
          <p:nvPr/>
        </p:nvSpPr>
        <p:spPr>
          <a:xfrm>
            <a:off x="0" y="-9237"/>
            <a:ext cx="12192000" cy="6858000"/>
          </a:xfrm>
          <a:prstGeom prst="rect">
            <a:avLst/>
          </a:prstGeom>
          <a:gradFill flip="none" rotWithShape="1">
            <a:gsLst>
              <a:gs pos="39000">
                <a:srgbClr val="0E2746"/>
              </a:gs>
              <a:gs pos="0">
                <a:schemeClr val="tx1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Google Shape;968;p15">
            <a:extLst>
              <a:ext uri="{FF2B5EF4-FFF2-40B4-BE49-F238E27FC236}">
                <a16:creationId xmlns:a16="http://schemas.microsoft.com/office/drawing/2014/main" id="{CEBCCDB9-1323-41F9-8063-F76263A20F4F}"/>
              </a:ext>
            </a:extLst>
          </p:cNvPr>
          <p:cNvSpPr>
            <a:spLocks noGrp="1"/>
          </p:cNvSpPr>
          <p:nvPr/>
        </p:nvSpPr>
        <p:spPr>
          <a:xfrm>
            <a:off x="530280" y="316279"/>
            <a:ext cx="2468520" cy="1807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1">
                <a:solidFill>
                  <a:srgbClr val="2F66E8"/>
                </a:solidFill>
              </a:defRPr>
            </a:pPr>
            <a:r>
              <a:rPr lang="ko-KR" altLang="en-US" sz="975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인사이트와 아이디어</a:t>
            </a:r>
            <a:endParaRPr lang="en-US" altLang="ko-KR" sz="975" u="none" dirty="0">
              <a:solidFill>
                <a:srgbClr val="EEF5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417E07-4270-45C5-AAE0-6019ACD49195}"/>
              </a:ext>
            </a:extLst>
          </p:cNvPr>
          <p:cNvSpPr txBox="1"/>
          <p:nvPr/>
        </p:nvSpPr>
        <p:spPr>
          <a:xfrm>
            <a:off x="11606820" y="6476226"/>
            <a:ext cx="320040" cy="1600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lang="en-US" sz="80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14</a:t>
            </a:r>
            <a:endParaRPr sz="800" b="0" dirty="0">
              <a:solidFill>
                <a:srgbClr val="6A7B97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C60615-5EA8-40A4-B182-AFA781324FEC}"/>
              </a:ext>
            </a:extLst>
          </p:cNvPr>
          <p:cNvSpPr txBox="1"/>
          <p:nvPr/>
        </p:nvSpPr>
        <p:spPr>
          <a:xfrm>
            <a:off x="7877205" y="748051"/>
            <a:ext cx="310501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행원에게 뜬 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FDS </a:t>
            </a:r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경고창</a:t>
            </a:r>
            <a:endParaRPr lang="en-US" altLang="ko-KR" sz="24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5AD4998-048E-4D3E-85A5-3C9C25A4EF32}"/>
              </a:ext>
            </a:extLst>
          </p:cNvPr>
          <p:cNvGrpSpPr/>
          <p:nvPr/>
        </p:nvGrpSpPr>
        <p:grpSpPr>
          <a:xfrm>
            <a:off x="530279" y="691057"/>
            <a:ext cx="7107649" cy="483320"/>
            <a:chOff x="6511293" y="3448046"/>
            <a:chExt cx="12107650" cy="82331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96679CFE-069D-45C0-BE00-C7921AF82182}"/>
                </a:ext>
              </a:extLst>
            </p:cNvPr>
            <p:cNvSpPr/>
            <p:nvPr/>
          </p:nvSpPr>
          <p:spPr>
            <a:xfrm>
              <a:off x="6511293" y="3448046"/>
              <a:ext cx="12107650" cy="823319"/>
            </a:xfrm>
            <a:prstGeom prst="roundRect">
              <a:avLst>
                <a:gd name="adj" fmla="val 1049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1226664-0218-4889-AB45-07800CEB94FD}"/>
                </a:ext>
              </a:extLst>
            </p:cNvPr>
            <p:cNvSpPr txBox="1"/>
            <p:nvPr/>
          </p:nvSpPr>
          <p:spPr>
            <a:xfrm>
              <a:off x="6787175" y="3545133"/>
              <a:ext cx="10493941" cy="6291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보이스피싱 위험도 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90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점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의심계좌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이상거래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경고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!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0A9ED82-C855-450B-8D75-1330A5122235}"/>
              </a:ext>
            </a:extLst>
          </p:cNvPr>
          <p:cNvGrpSpPr/>
          <p:nvPr/>
        </p:nvGrpSpPr>
        <p:grpSpPr>
          <a:xfrm>
            <a:off x="530279" y="1487548"/>
            <a:ext cx="7365400" cy="483320"/>
            <a:chOff x="6511293" y="3448046"/>
            <a:chExt cx="12546721" cy="823319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4C8C1B7E-ABE3-43AD-ADF4-85D3B74864C5}"/>
                </a:ext>
              </a:extLst>
            </p:cNvPr>
            <p:cNvSpPr/>
            <p:nvPr/>
          </p:nvSpPr>
          <p:spPr>
            <a:xfrm>
              <a:off x="6511293" y="3448046"/>
              <a:ext cx="12107650" cy="823319"/>
            </a:xfrm>
            <a:prstGeom prst="roundRect">
              <a:avLst>
                <a:gd name="adj" fmla="val 1049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D9DC67C-0E9D-4BF9-9C47-2B0510A4792F}"/>
                </a:ext>
              </a:extLst>
            </p:cNvPr>
            <p:cNvSpPr txBox="1"/>
            <p:nvPr/>
          </p:nvSpPr>
          <p:spPr>
            <a:xfrm>
              <a:off x="6787175" y="3545133"/>
              <a:ext cx="12270839" cy="6291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“</a:t>
              </a:r>
              <a:r>
                <a:rPr lang="ko-KR" altLang="en-US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보이스피싱이 아닙니다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. </a:t>
              </a:r>
              <a:r>
                <a:rPr lang="ko-KR" altLang="en-US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투자입니다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. </a:t>
              </a:r>
              <a:r>
                <a:rPr lang="ko-KR" altLang="en-US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송금 하겠습니다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.”  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B6BCFD74-4FCD-4790-B294-62886E63954E}"/>
              </a:ext>
            </a:extLst>
          </p:cNvPr>
          <p:cNvSpPr txBox="1"/>
          <p:nvPr/>
        </p:nvSpPr>
        <p:spPr>
          <a:xfrm>
            <a:off x="7877205" y="1544542"/>
            <a:ext cx="291105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라는 고객의 주장과 요청</a:t>
            </a:r>
            <a:endParaRPr lang="en-US" altLang="ko-KR" sz="24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F5D1126-D683-4D82-A025-79A610A4D7A7}"/>
              </a:ext>
            </a:extLst>
          </p:cNvPr>
          <p:cNvSpPr txBox="1"/>
          <p:nvPr/>
        </p:nvSpPr>
        <p:spPr>
          <a:xfrm>
            <a:off x="530279" y="2276733"/>
            <a:ext cx="7893186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정황을 확인 할 수 있는 유일한 경로인 고객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…</a:t>
            </a:r>
          </a:p>
          <a:p>
            <a:r>
              <a:rPr lang="ko-KR" altLang="en-US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은행원은 고객의 말을 </a:t>
            </a:r>
            <a:r>
              <a:rPr lang="en-US" altLang="ko-KR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100% </a:t>
            </a:r>
            <a:r>
              <a:rPr lang="ko-KR" altLang="en-US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신뢰하고 송금 제한을 풀어도 될까</a:t>
            </a:r>
            <a:r>
              <a:rPr lang="en-US" altLang="ko-KR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33089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108A23-53C1-4A94-B40D-A71227CFBA0D}"/>
              </a:ext>
            </a:extLst>
          </p:cNvPr>
          <p:cNvSpPr/>
          <p:nvPr/>
        </p:nvSpPr>
        <p:spPr>
          <a:xfrm>
            <a:off x="0" y="-9237"/>
            <a:ext cx="12192000" cy="6858000"/>
          </a:xfrm>
          <a:prstGeom prst="rect">
            <a:avLst/>
          </a:prstGeom>
          <a:gradFill flip="none" rotWithShape="1">
            <a:gsLst>
              <a:gs pos="39000">
                <a:srgbClr val="0E2746"/>
              </a:gs>
              <a:gs pos="0">
                <a:schemeClr val="tx1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141B1C-D0C6-4944-9F3E-DBDC17A53951}"/>
              </a:ext>
            </a:extLst>
          </p:cNvPr>
          <p:cNvSpPr txBox="1"/>
          <p:nvPr/>
        </p:nvSpPr>
        <p:spPr>
          <a:xfrm>
            <a:off x="530279" y="2276733"/>
            <a:ext cx="7893186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정황을 확인 할 수 있는 유일한 경로인 고객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…</a:t>
            </a:r>
          </a:p>
          <a:p>
            <a:r>
              <a:rPr lang="ko-KR" altLang="en-US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은행원은 고객의 말을 </a:t>
            </a:r>
            <a:r>
              <a:rPr lang="en-US" altLang="ko-KR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100% </a:t>
            </a:r>
            <a:r>
              <a:rPr lang="ko-KR" altLang="en-US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신뢰하고 송금 제한을 풀어도 될까</a:t>
            </a:r>
            <a:r>
              <a:rPr lang="en-US" altLang="ko-KR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417E07-4270-45C5-AAE0-6019ACD49195}"/>
              </a:ext>
            </a:extLst>
          </p:cNvPr>
          <p:cNvSpPr txBox="1"/>
          <p:nvPr/>
        </p:nvSpPr>
        <p:spPr>
          <a:xfrm>
            <a:off x="11606820" y="6476226"/>
            <a:ext cx="320040" cy="1600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lang="en-US" sz="80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14</a:t>
            </a:r>
            <a:endParaRPr sz="800" b="0" dirty="0">
              <a:solidFill>
                <a:srgbClr val="6A7B97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C60615-5EA8-40A4-B182-AFA781324FEC}"/>
              </a:ext>
            </a:extLst>
          </p:cNvPr>
          <p:cNvSpPr txBox="1"/>
          <p:nvPr/>
        </p:nvSpPr>
        <p:spPr>
          <a:xfrm>
            <a:off x="7877205" y="748051"/>
            <a:ext cx="310501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행원에게 뜬 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FDS </a:t>
            </a:r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경고창</a:t>
            </a:r>
            <a:endParaRPr lang="en-US" altLang="ko-KR" sz="24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5AD4998-048E-4D3E-85A5-3C9C25A4EF32}"/>
              </a:ext>
            </a:extLst>
          </p:cNvPr>
          <p:cNvGrpSpPr/>
          <p:nvPr/>
        </p:nvGrpSpPr>
        <p:grpSpPr>
          <a:xfrm>
            <a:off x="530279" y="691057"/>
            <a:ext cx="7107649" cy="483320"/>
            <a:chOff x="6511293" y="3448046"/>
            <a:chExt cx="12107650" cy="82331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96679CFE-069D-45C0-BE00-C7921AF82182}"/>
                </a:ext>
              </a:extLst>
            </p:cNvPr>
            <p:cNvSpPr/>
            <p:nvPr/>
          </p:nvSpPr>
          <p:spPr>
            <a:xfrm>
              <a:off x="6511293" y="3448046"/>
              <a:ext cx="12107650" cy="823319"/>
            </a:xfrm>
            <a:prstGeom prst="roundRect">
              <a:avLst>
                <a:gd name="adj" fmla="val 1049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1226664-0218-4889-AB45-07800CEB94FD}"/>
                </a:ext>
              </a:extLst>
            </p:cNvPr>
            <p:cNvSpPr txBox="1"/>
            <p:nvPr/>
          </p:nvSpPr>
          <p:spPr>
            <a:xfrm>
              <a:off x="6787175" y="3545133"/>
              <a:ext cx="10493941" cy="6291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보이스피싱 위험도 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90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점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의심계좌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이상거래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경고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!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0A9ED82-C855-450B-8D75-1330A5122235}"/>
              </a:ext>
            </a:extLst>
          </p:cNvPr>
          <p:cNvGrpSpPr/>
          <p:nvPr/>
        </p:nvGrpSpPr>
        <p:grpSpPr>
          <a:xfrm>
            <a:off x="530279" y="1487548"/>
            <a:ext cx="7365400" cy="483320"/>
            <a:chOff x="6511293" y="3448046"/>
            <a:chExt cx="12546721" cy="823319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4C8C1B7E-ABE3-43AD-ADF4-85D3B74864C5}"/>
                </a:ext>
              </a:extLst>
            </p:cNvPr>
            <p:cNvSpPr/>
            <p:nvPr/>
          </p:nvSpPr>
          <p:spPr>
            <a:xfrm>
              <a:off x="6511293" y="3448046"/>
              <a:ext cx="12107650" cy="823319"/>
            </a:xfrm>
            <a:prstGeom prst="roundRect">
              <a:avLst>
                <a:gd name="adj" fmla="val 1049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D9DC67C-0E9D-4BF9-9C47-2B0510A4792F}"/>
                </a:ext>
              </a:extLst>
            </p:cNvPr>
            <p:cNvSpPr txBox="1"/>
            <p:nvPr/>
          </p:nvSpPr>
          <p:spPr>
            <a:xfrm>
              <a:off x="6787175" y="3545133"/>
              <a:ext cx="12270839" cy="6291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“</a:t>
              </a:r>
              <a:r>
                <a:rPr lang="ko-KR" altLang="en-US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보이스피싱이 아닙니다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. </a:t>
              </a:r>
              <a:r>
                <a:rPr lang="ko-KR" altLang="en-US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투자입니다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. </a:t>
              </a:r>
              <a:r>
                <a:rPr lang="ko-KR" altLang="en-US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송금 하겠습니다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.”  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B6BCFD74-4FCD-4790-B294-62886E63954E}"/>
              </a:ext>
            </a:extLst>
          </p:cNvPr>
          <p:cNvSpPr txBox="1"/>
          <p:nvPr/>
        </p:nvSpPr>
        <p:spPr>
          <a:xfrm>
            <a:off x="7877205" y="1544542"/>
            <a:ext cx="291105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라는 고객의 주장과 요청</a:t>
            </a:r>
            <a:endParaRPr lang="en-US" altLang="ko-KR" sz="24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F3A72C-B153-4579-9C46-FDB52A08A35A}"/>
              </a:ext>
            </a:extLst>
          </p:cNvPr>
          <p:cNvSpPr txBox="1"/>
          <p:nvPr/>
        </p:nvSpPr>
        <p:spPr>
          <a:xfrm>
            <a:off x="530279" y="3419763"/>
            <a:ext cx="6226063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고객의 말이 거짓말이라면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고객이 보이스피싱 범죄자의 통제를 따르고 있다면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D7EB547-2988-4A87-95BE-F190BA457FC4}"/>
              </a:ext>
            </a:extLst>
          </p:cNvPr>
          <p:cNvGrpSpPr/>
          <p:nvPr/>
        </p:nvGrpSpPr>
        <p:grpSpPr>
          <a:xfrm>
            <a:off x="530279" y="4355344"/>
            <a:ext cx="6226063" cy="483320"/>
            <a:chOff x="6511295" y="3448046"/>
            <a:chExt cx="10605900" cy="823319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87896F0E-E7A6-4AED-9E00-1B10269E71F5}"/>
                </a:ext>
              </a:extLst>
            </p:cNvPr>
            <p:cNvSpPr/>
            <p:nvPr/>
          </p:nvSpPr>
          <p:spPr>
            <a:xfrm>
              <a:off x="6511295" y="3448046"/>
              <a:ext cx="10605900" cy="823319"/>
            </a:xfrm>
            <a:prstGeom prst="roundRect">
              <a:avLst>
                <a:gd name="adj" fmla="val 1049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6892BC2-F10E-4CCA-B2DF-5EC7D39D20FA}"/>
                </a:ext>
              </a:extLst>
            </p:cNvPr>
            <p:cNvSpPr txBox="1"/>
            <p:nvPr/>
          </p:nvSpPr>
          <p:spPr>
            <a:xfrm>
              <a:off x="6887801" y="3561415"/>
              <a:ext cx="9906086" cy="6291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“</a:t>
              </a:r>
              <a:r>
                <a:rPr lang="ko-KR" altLang="en-US" sz="2400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경찰이나 은행이 물어보면 투자라고 말하세요</a:t>
              </a:r>
              <a:r>
                <a:rPr lang="en-US" altLang="ko-KR" sz="2400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.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”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808944F-F97B-47D0-ADF7-5BB3C77AE10D}"/>
              </a:ext>
            </a:extLst>
          </p:cNvPr>
          <p:cNvSpPr txBox="1"/>
          <p:nvPr/>
        </p:nvSpPr>
        <p:spPr>
          <a:xfrm>
            <a:off x="6977365" y="4412338"/>
            <a:ext cx="399147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범죄자의 말</a:t>
            </a:r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을 확인할 수 없다면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391F75-CEFE-4E92-B3DC-2A6D3D6072DA}"/>
              </a:ext>
            </a:extLst>
          </p:cNvPr>
          <p:cNvSpPr txBox="1"/>
          <p:nvPr/>
        </p:nvSpPr>
        <p:spPr>
          <a:xfrm>
            <a:off x="538102" y="5703863"/>
            <a:ext cx="8435001" cy="5232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3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고객의 말을 믿고 </a:t>
            </a:r>
            <a:r>
              <a:rPr lang="ko-KR" altLang="en-US" sz="34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정상 송금 절차 진행 → 피해 발생</a:t>
            </a:r>
            <a:endParaRPr lang="en-US" altLang="ko-KR" sz="3400" b="1" dirty="0">
              <a:solidFill>
                <a:srgbClr val="EE4344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515419CD-3F48-40CF-B433-A8001E581B42}"/>
              </a:ext>
            </a:extLst>
          </p:cNvPr>
          <p:cNvSpPr/>
          <p:nvPr/>
        </p:nvSpPr>
        <p:spPr>
          <a:xfrm>
            <a:off x="0" y="9237"/>
            <a:ext cx="12192000" cy="3213609"/>
          </a:xfrm>
          <a:custGeom>
            <a:avLst/>
            <a:gdLst>
              <a:gd name="connsiteX0" fmla="*/ 313765 w 12192000"/>
              <a:gd name="connsiteY0" fmla="*/ 1352398 h 3213609"/>
              <a:gd name="connsiteX1" fmla="*/ 313765 w 12192000"/>
              <a:gd name="connsiteY1" fmla="*/ 2091062 h 3213609"/>
              <a:gd name="connsiteX2" fmla="*/ 10982222 w 12192000"/>
              <a:gd name="connsiteY2" fmla="*/ 2091062 h 3213609"/>
              <a:gd name="connsiteX3" fmla="*/ 10982222 w 12192000"/>
              <a:gd name="connsiteY3" fmla="*/ 1352398 h 3213609"/>
              <a:gd name="connsiteX4" fmla="*/ 0 w 12192000"/>
              <a:gd name="connsiteY4" fmla="*/ 0 h 3213609"/>
              <a:gd name="connsiteX5" fmla="*/ 12192000 w 12192000"/>
              <a:gd name="connsiteY5" fmla="*/ 0 h 3213609"/>
              <a:gd name="connsiteX6" fmla="*/ 12192000 w 12192000"/>
              <a:gd name="connsiteY6" fmla="*/ 3213609 h 3213609"/>
              <a:gd name="connsiteX7" fmla="*/ 0 w 12192000"/>
              <a:gd name="connsiteY7" fmla="*/ 3213609 h 3213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213609">
                <a:moveTo>
                  <a:pt x="313765" y="1352398"/>
                </a:moveTo>
                <a:lnTo>
                  <a:pt x="313765" y="2091062"/>
                </a:lnTo>
                <a:lnTo>
                  <a:pt x="10982222" y="2091062"/>
                </a:lnTo>
                <a:lnTo>
                  <a:pt x="10982222" y="1352398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213609"/>
                </a:lnTo>
                <a:lnTo>
                  <a:pt x="0" y="3213609"/>
                </a:lnTo>
                <a:close/>
              </a:path>
            </a:pathLst>
          </a:cu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BEC17EA-70BF-485E-BA09-193E6087CF52}"/>
              </a:ext>
            </a:extLst>
          </p:cNvPr>
          <p:cNvSpPr/>
          <p:nvPr/>
        </p:nvSpPr>
        <p:spPr>
          <a:xfrm>
            <a:off x="313765" y="1361635"/>
            <a:ext cx="10668457" cy="738664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659B6B-E3FC-45CD-8849-88F21454FF18}"/>
              </a:ext>
            </a:extLst>
          </p:cNvPr>
          <p:cNvSpPr txBox="1"/>
          <p:nvPr/>
        </p:nvSpPr>
        <p:spPr>
          <a:xfrm>
            <a:off x="9684836" y="2190567"/>
            <a:ext cx="128400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rgbClr val="FFFF00"/>
                </a:solidFill>
                <a:latin typeface="페이퍼로지 7 Bold" pitchFamily="2" charset="-127"/>
                <a:ea typeface="페이퍼로지 7 Bold" pitchFamily="2" charset="-127"/>
              </a:rPr>
              <a:t>사실인가</a:t>
            </a:r>
            <a:r>
              <a:rPr lang="en-US" altLang="ko-KR" sz="2400" b="1" dirty="0">
                <a:solidFill>
                  <a:srgbClr val="FFFF00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</p:txBody>
      </p:sp>
      <p:sp>
        <p:nvSpPr>
          <p:cNvPr id="39" name="Google Shape;968;p15">
            <a:extLst>
              <a:ext uri="{FF2B5EF4-FFF2-40B4-BE49-F238E27FC236}">
                <a16:creationId xmlns:a16="http://schemas.microsoft.com/office/drawing/2014/main" id="{B97D6DB7-CEA5-433C-B40E-6BF51CAC0462}"/>
              </a:ext>
            </a:extLst>
          </p:cNvPr>
          <p:cNvSpPr>
            <a:spLocks noGrp="1"/>
          </p:cNvSpPr>
          <p:nvPr/>
        </p:nvSpPr>
        <p:spPr>
          <a:xfrm>
            <a:off x="530280" y="316279"/>
            <a:ext cx="2468520" cy="1807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1">
                <a:solidFill>
                  <a:srgbClr val="2F66E8"/>
                </a:solidFill>
              </a:defRPr>
            </a:pPr>
            <a:r>
              <a:rPr lang="ko-KR" altLang="en-US" sz="975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인사이트와 아이디어</a:t>
            </a:r>
            <a:endParaRPr lang="en-US" altLang="ko-KR" sz="975" u="none" dirty="0">
              <a:solidFill>
                <a:srgbClr val="EEF5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2535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108A23-53C1-4A94-B40D-A71227CFBA0D}"/>
              </a:ext>
            </a:extLst>
          </p:cNvPr>
          <p:cNvSpPr/>
          <p:nvPr/>
        </p:nvSpPr>
        <p:spPr>
          <a:xfrm>
            <a:off x="0" y="-9237"/>
            <a:ext cx="12192000" cy="6858000"/>
          </a:xfrm>
          <a:prstGeom prst="rect">
            <a:avLst/>
          </a:prstGeom>
          <a:gradFill flip="none" rotWithShape="1">
            <a:gsLst>
              <a:gs pos="39000">
                <a:srgbClr val="0E2746"/>
              </a:gs>
              <a:gs pos="0">
                <a:schemeClr val="tx1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36BBD0-D1C4-4803-89EF-9D81FCFC139B}"/>
              </a:ext>
            </a:extLst>
          </p:cNvPr>
          <p:cNvSpPr txBox="1"/>
          <p:nvPr/>
        </p:nvSpPr>
        <p:spPr>
          <a:xfrm>
            <a:off x="530279" y="2276733"/>
            <a:ext cx="7893186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정황을 확인 할 수 있는 유일한 경로인 고객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…</a:t>
            </a:r>
          </a:p>
          <a:p>
            <a:r>
              <a:rPr lang="ko-KR" altLang="en-US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은행원은 고객의 말을 </a:t>
            </a:r>
            <a:r>
              <a:rPr lang="en-US" altLang="ko-KR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100% </a:t>
            </a:r>
            <a:r>
              <a:rPr lang="ko-KR" altLang="en-US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신뢰하고 송금 제한을 풀어도 될까</a:t>
            </a:r>
            <a:r>
              <a:rPr lang="en-US" altLang="ko-KR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417E07-4270-45C5-AAE0-6019ACD49195}"/>
              </a:ext>
            </a:extLst>
          </p:cNvPr>
          <p:cNvSpPr txBox="1"/>
          <p:nvPr/>
        </p:nvSpPr>
        <p:spPr>
          <a:xfrm>
            <a:off x="11606820" y="6476226"/>
            <a:ext cx="320040" cy="1600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lang="en-US" sz="80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14</a:t>
            </a:r>
            <a:endParaRPr sz="800" b="0" dirty="0">
              <a:solidFill>
                <a:srgbClr val="6A7B97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C60615-5EA8-40A4-B182-AFA781324FEC}"/>
              </a:ext>
            </a:extLst>
          </p:cNvPr>
          <p:cNvSpPr txBox="1"/>
          <p:nvPr/>
        </p:nvSpPr>
        <p:spPr>
          <a:xfrm>
            <a:off x="7877205" y="748051"/>
            <a:ext cx="310501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행원에게 뜬 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FDS </a:t>
            </a:r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경고창</a:t>
            </a:r>
            <a:endParaRPr lang="en-US" altLang="ko-KR" sz="24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5AD4998-048E-4D3E-85A5-3C9C25A4EF32}"/>
              </a:ext>
            </a:extLst>
          </p:cNvPr>
          <p:cNvGrpSpPr/>
          <p:nvPr/>
        </p:nvGrpSpPr>
        <p:grpSpPr>
          <a:xfrm>
            <a:off x="530279" y="691057"/>
            <a:ext cx="7107649" cy="483320"/>
            <a:chOff x="6511293" y="3448046"/>
            <a:chExt cx="12107650" cy="82331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96679CFE-069D-45C0-BE00-C7921AF82182}"/>
                </a:ext>
              </a:extLst>
            </p:cNvPr>
            <p:cNvSpPr/>
            <p:nvPr/>
          </p:nvSpPr>
          <p:spPr>
            <a:xfrm>
              <a:off x="6511293" y="3448046"/>
              <a:ext cx="12107650" cy="823319"/>
            </a:xfrm>
            <a:prstGeom prst="roundRect">
              <a:avLst>
                <a:gd name="adj" fmla="val 1049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1226664-0218-4889-AB45-07800CEB94FD}"/>
                </a:ext>
              </a:extLst>
            </p:cNvPr>
            <p:cNvSpPr txBox="1"/>
            <p:nvPr/>
          </p:nvSpPr>
          <p:spPr>
            <a:xfrm>
              <a:off x="6787175" y="3545133"/>
              <a:ext cx="10493941" cy="6291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보이스피싱 위험도 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90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점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의심계좌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이상거래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경고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!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0A9ED82-C855-450B-8D75-1330A5122235}"/>
              </a:ext>
            </a:extLst>
          </p:cNvPr>
          <p:cNvGrpSpPr/>
          <p:nvPr/>
        </p:nvGrpSpPr>
        <p:grpSpPr>
          <a:xfrm>
            <a:off x="530279" y="1487548"/>
            <a:ext cx="7365400" cy="483320"/>
            <a:chOff x="6511293" y="3448046"/>
            <a:chExt cx="12546721" cy="823319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4C8C1B7E-ABE3-43AD-ADF4-85D3B74864C5}"/>
                </a:ext>
              </a:extLst>
            </p:cNvPr>
            <p:cNvSpPr/>
            <p:nvPr/>
          </p:nvSpPr>
          <p:spPr>
            <a:xfrm>
              <a:off x="6511293" y="3448046"/>
              <a:ext cx="12107650" cy="823319"/>
            </a:xfrm>
            <a:prstGeom prst="roundRect">
              <a:avLst>
                <a:gd name="adj" fmla="val 1049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D9DC67C-0E9D-4BF9-9C47-2B0510A4792F}"/>
                </a:ext>
              </a:extLst>
            </p:cNvPr>
            <p:cNvSpPr txBox="1"/>
            <p:nvPr/>
          </p:nvSpPr>
          <p:spPr>
            <a:xfrm>
              <a:off x="6787175" y="3545133"/>
              <a:ext cx="12270839" cy="6291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“</a:t>
              </a:r>
              <a:r>
                <a:rPr lang="ko-KR" altLang="en-US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보이스피싱이 아닙니다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. </a:t>
              </a:r>
              <a:r>
                <a:rPr lang="ko-KR" altLang="en-US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투자입니다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. </a:t>
              </a:r>
              <a:r>
                <a:rPr lang="ko-KR" altLang="en-US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송금 하겠습니다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.”  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B6BCFD74-4FCD-4790-B294-62886E63954E}"/>
              </a:ext>
            </a:extLst>
          </p:cNvPr>
          <p:cNvSpPr txBox="1"/>
          <p:nvPr/>
        </p:nvSpPr>
        <p:spPr>
          <a:xfrm>
            <a:off x="7877205" y="1544542"/>
            <a:ext cx="291105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라는 고객의 주장과 요청</a:t>
            </a:r>
            <a:endParaRPr lang="en-US" altLang="ko-KR" sz="24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34677B7-EF42-434A-B870-B66D26F742FA}"/>
              </a:ext>
            </a:extLst>
          </p:cNvPr>
          <p:cNvGrpSpPr/>
          <p:nvPr/>
        </p:nvGrpSpPr>
        <p:grpSpPr>
          <a:xfrm>
            <a:off x="530279" y="4355344"/>
            <a:ext cx="6226063" cy="483320"/>
            <a:chOff x="6511295" y="3448046"/>
            <a:chExt cx="10605900" cy="823319"/>
          </a:xfrm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7203D832-EF3B-4457-B41D-C19B8A8FC7CD}"/>
                </a:ext>
              </a:extLst>
            </p:cNvPr>
            <p:cNvSpPr/>
            <p:nvPr/>
          </p:nvSpPr>
          <p:spPr>
            <a:xfrm>
              <a:off x="6511295" y="3448046"/>
              <a:ext cx="10605900" cy="823319"/>
            </a:xfrm>
            <a:prstGeom prst="roundRect">
              <a:avLst>
                <a:gd name="adj" fmla="val 1049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530C9D3-B085-4631-931F-26AF372827E8}"/>
                </a:ext>
              </a:extLst>
            </p:cNvPr>
            <p:cNvSpPr txBox="1"/>
            <p:nvPr/>
          </p:nvSpPr>
          <p:spPr>
            <a:xfrm>
              <a:off x="6887801" y="3561415"/>
              <a:ext cx="9906086" cy="6291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“</a:t>
              </a:r>
              <a:r>
                <a:rPr lang="ko-KR" altLang="en-US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경찰이나 은행이 물어보면 투자라고 말하세요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.”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B8F3A72C-B153-4579-9C46-FDB52A08A35A}"/>
              </a:ext>
            </a:extLst>
          </p:cNvPr>
          <p:cNvSpPr txBox="1"/>
          <p:nvPr/>
        </p:nvSpPr>
        <p:spPr>
          <a:xfrm>
            <a:off x="530279" y="3419763"/>
            <a:ext cx="6226063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고객의 말이 거짓말이라면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고객이 보이스피싱 범죄자의 통제를 따르고 있다면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11FE801-B08F-4FB1-93C9-79CB25385E26}"/>
              </a:ext>
            </a:extLst>
          </p:cNvPr>
          <p:cNvSpPr/>
          <p:nvPr/>
        </p:nvSpPr>
        <p:spPr>
          <a:xfrm>
            <a:off x="0" y="9237"/>
            <a:ext cx="12192000" cy="3213609"/>
          </a:xfrm>
          <a:custGeom>
            <a:avLst/>
            <a:gdLst>
              <a:gd name="connsiteX0" fmla="*/ 313765 w 12192000"/>
              <a:gd name="connsiteY0" fmla="*/ 1352398 h 3213609"/>
              <a:gd name="connsiteX1" fmla="*/ 313765 w 12192000"/>
              <a:gd name="connsiteY1" fmla="*/ 2091062 h 3213609"/>
              <a:gd name="connsiteX2" fmla="*/ 10982222 w 12192000"/>
              <a:gd name="connsiteY2" fmla="*/ 2091062 h 3213609"/>
              <a:gd name="connsiteX3" fmla="*/ 10982222 w 12192000"/>
              <a:gd name="connsiteY3" fmla="*/ 1352398 h 3213609"/>
              <a:gd name="connsiteX4" fmla="*/ 0 w 12192000"/>
              <a:gd name="connsiteY4" fmla="*/ 0 h 3213609"/>
              <a:gd name="connsiteX5" fmla="*/ 12192000 w 12192000"/>
              <a:gd name="connsiteY5" fmla="*/ 0 h 3213609"/>
              <a:gd name="connsiteX6" fmla="*/ 12192000 w 12192000"/>
              <a:gd name="connsiteY6" fmla="*/ 3213609 h 3213609"/>
              <a:gd name="connsiteX7" fmla="*/ 0 w 12192000"/>
              <a:gd name="connsiteY7" fmla="*/ 3213609 h 3213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213609">
                <a:moveTo>
                  <a:pt x="313765" y="1352398"/>
                </a:moveTo>
                <a:lnTo>
                  <a:pt x="313765" y="2091062"/>
                </a:lnTo>
                <a:lnTo>
                  <a:pt x="10982222" y="2091062"/>
                </a:lnTo>
                <a:lnTo>
                  <a:pt x="10982222" y="1352398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213609"/>
                </a:lnTo>
                <a:lnTo>
                  <a:pt x="0" y="3213609"/>
                </a:lnTo>
                <a:close/>
              </a:path>
            </a:pathLst>
          </a:cu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" name="Google Shape;968;p15">
            <a:extLst>
              <a:ext uri="{FF2B5EF4-FFF2-40B4-BE49-F238E27FC236}">
                <a16:creationId xmlns:a16="http://schemas.microsoft.com/office/drawing/2014/main" id="{CEBCCDB9-1323-41F9-8063-F76263A20F4F}"/>
              </a:ext>
            </a:extLst>
          </p:cNvPr>
          <p:cNvSpPr>
            <a:spLocks noGrp="1"/>
          </p:cNvSpPr>
          <p:nvPr/>
        </p:nvSpPr>
        <p:spPr>
          <a:xfrm>
            <a:off x="530280" y="316279"/>
            <a:ext cx="2468520" cy="1807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1">
                <a:solidFill>
                  <a:srgbClr val="2F66E8"/>
                </a:solidFill>
              </a:defRPr>
            </a:pPr>
            <a:r>
              <a:rPr lang="ko-KR" altLang="en-US" sz="975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인사이트와 아이디어</a:t>
            </a:r>
            <a:endParaRPr lang="en-US" altLang="ko-KR" sz="975" u="none" dirty="0">
              <a:solidFill>
                <a:srgbClr val="EEF5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97F294-DF2E-48A8-9379-574B402BE66B}"/>
              </a:ext>
            </a:extLst>
          </p:cNvPr>
          <p:cNvSpPr txBox="1"/>
          <p:nvPr/>
        </p:nvSpPr>
        <p:spPr>
          <a:xfrm>
            <a:off x="6977365" y="4412338"/>
            <a:ext cx="399147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범죄자의 말</a:t>
            </a:r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을 </a:t>
            </a:r>
            <a:r>
              <a:rPr lang="ko-KR" altLang="en-US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확인할 수 있다</a:t>
            </a:r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면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B71C62-E109-4B9C-B023-3AB6ADFDD055}"/>
              </a:ext>
            </a:extLst>
          </p:cNvPr>
          <p:cNvSpPr txBox="1"/>
          <p:nvPr/>
        </p:nvSpPr>
        <p:spPr>
          <a:xfrm>
            <a:off x="9247217" y="2190567"/>
            <a:ext cx="172162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rgbClr val="FFFF00"/>
                </a:solidFill>
                <a:latin typeface="페이퍼로지 7 Bold" pitchFamily="2" charset="-127"/>
                <a:ea typeface="페이퍼로지 7 Bold" pitchFamily="2" charset="-127"/>
              </a:rPr>
              <a:t>거짓말이구나</a:t>
            </a:r>
            <a:r>
              <a:rPr lang="en-US" altLang="ko-KR" sz="2400" b="1" dirty="0">
                <a:solidFill>
                  <a:srgbClr val="FFFF00"/>
                </a:solidFill>
                <a:latin typeface="페이퍼로지 7 Bold" pitchFamily="2" charset="-127"/>
                <a:ea typeface="페이퍼로지 7 Bold" pitchFamily="2" charset="-127"/>
              </a:rPr>
              <a:t>!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018ADC-8EE4-440A-8B5C-4BC24B6AE43C}"/>
              </a:ext>
            </a:extLst>
          </p:cNvPr>
          <p:cNvSpPr/>
          <p:nvPr/>
        </p:nvSpPr>
        <p:spPr>
          <a:xfrm>
            <a:off x="313765" y="1361635"/>
            <a:ext cx="10668457" cy="738664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D7BD43-0651-45A4-9FCB-F40775A74F61}"/>
              </a:ext>
            </a:extLst>
          </p:cNvPr>
          <p:cNvSpPr txBox="1"/>
          <p:nvPr/>
        </p:nvSpPr>
        <p:spPr>
          <a:xfrm>
            <a:off x="538102" y="5703863"/>
            <a:ext cx="6900928" cy="5232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3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고객을 논리적으로 설득하고 </a:t>
            </a:r>
            <a:r>
              <a:rPr lang="ko-KR" altLang="en-US" sz="3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→ 피해 예방</a:t>
            </a:r>
            <a:endParaRPr lang="en-US" altLang="ko-KR" sz="3400" b="1" dirty="0">
              <a:solidFill>
                <a:srgbClr val="FFC000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9791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AAB2A4A-E2CF-4E23-B43A-3F0F051805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9000">
                <a:srgbClr val="0E2746"/>
              </a:gs>
              <a:gs pos="0">
                <a:schemeClr val="tx1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BA5442-B762-4D0D-84E2-A92D11C39D11}"/>
              </a:ext>
            </a:extLst>
          </p:cNvPr>
          <p:cNvSpPr txBox="1"/>
          <p:nvPr/>
        </p:nvSpPr>
        <p:spPr>
          <a:xfrm>
            <a:off x="618835" y="762763"/>
            <a:ext cx="10954330" cy="12311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보이스피싱 범죄 통화에서 정황 데이터를 추출 및 재구성하여</a:t>
            </a:r>
            <a:endParaRPr lang="en-US" altLang="ko-KR" sz="20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/>
            <a:r>
              <a:rPr lang="ko-KR" altLang="en-US" sz="20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보이스피싱범의 주장과 고객이 처한 상황을 </a:t>
            </a:r>
            <a:r>
              <a:rPr lang="en-US" altLang="ko-KR" sz="20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AI</a:t>
            </a:r>
            <a:r>
              <a:rPr lang="ko-KR" altLang="en-US" sz="20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가 빠르게 정리</a:t>
            </a:r>
            <a:r>
              <a:rPr lang="ko-KR" altLang="en-US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하고</a:t>
            </a:r>
            <a:endParaRPr lang="en-US" altLang="ko-KR" sz="20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은행과 고객에게 </a:t>
            </a:r>
            <a:r>
              <a:rPr lang="ko-KR" altLang="en-US" sz="20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맞춤 대응 가이드를 제공</a:t>
            </a:r>
            <a:r>
              <a:rPr lang="ko-KR" altLang="en-US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하여</a:t>
            </a:r>
            <a:r>
              <a:rPr lang="en-US" altLang="ko-KR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20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신속하게 소통하고 대응</a:t>
            </a:r>
            <a:r>
              <a:rPr lang="ko-KR" altLang="en-US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할 수 있는</a:t>
            </a:r>
            <a:br>
              <a:rPr lang="en-US" altLang="ko-KR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</a:b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AI </a:t>
            </a:r>
            <a:r>
              <a:rPr lang="ko-KR" alt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워크스페이스 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:</a:t>
            </a:r>
            <a:r>
              <a:rPr lang="en-US" altLang="ko-KR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en-US" altLang="ko-KR" sz="2000" u="none" dirty="0">
                <a:solidFill>
                  <a:schemeClr val="accent4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CSR | Case Share Room </a:t>
            </a:r>
            <a:r>
              <a:rPr lang="en-US" altLang="ko-KR" sz="200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B2B </a:t>
            </a:r>
            <a:r>
              <a:rPr lang="ko-KR" altLang="en-US" sz="200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모듈</a:t>
            </a:r>
            <a:endParaRPr sz="20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B00EE7-334A-4AE1-A222-ECC8F4084C06}"/>
              </a:ext>
            </a:extLst>
          </p:cNvPr>
          <p:cNvSpPr txBox="1"/>
          <p:nvPr/>
        </p:nvSpPr>
        <p:spPr>
          <a:xfrm>
            <a:off x="5785027" y="494354"/>
            <a:ext cx="621965" cy="154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75" b="1">
                <a:solidFill>
                  <a:srgbClr val="2F66E8"/>
                </a:solidFill>
              </a:defRPr>
            </a:pPr>
            <a:r>
              <a:rPr lang="ko-KR" altLang="en-US" sz="1050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서비스 방향</a:t>
            </a:r>
            <a:endParaRPr lang="en-US" altLang="ko-KR" sz="1050" u="none" dirty="0">
              <a:solidFill>
                <a:srgbClr val="EEF5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C6F557A-8E2E-477E-A6F5-6EAAC2E98AA5}"/>
              </a:ext>
            </a:extLst>
          </p:cNvPr>
          <p:cNvCxnSpPr>
            <a:cxnSpLocks/>
          </p:cNvCxnSpPr>
          <p:nvPr/>
        </p:nvCxnSpPr>
        <p:spPr>
          <a:xfrm>
            <a:off x="2654710" y="4163204"/>
            <a:ext cx="7663578" cy="0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147B13BE-A71B-447E-B83D-1A84B51C17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2413" y="2087752"/>
            <a:ext cx="2730377" cy="477024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C9D1ADF-E058-4587-9792-C4D5BCAFAC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22440" y="1982830"/>
            <a:ext cx="6349331" cy="476199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FD73350-6430-4EB7-885D-D2ABB5AA17BE}"/>
              </a:ext>
            </a:extLst>
          </p:cNvPr>
          <p:cNvSpPr txBox="1"/>
          <p:nvPr/>
        </p:nvSpPr>
        <p:spPr>
          <a:xfrm>
            <a:off x="11606820" y="6476226"/>
            <a:ext cx="320040" cy="1600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lang="en-US" sz="800" b="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15</a:t>
            </a:r>
            <a:endParaRPr sz="800" b="0" dirty="0">
              <a:solidFill>
                <a:srgbClr val="6A7B97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3955187-30DE-4F72-8970-F5AE60FD8CBE}"/>
              </a:ext>
            </a:extLst>
          </p:cNvPr>
          <p:cNvGrpSpPr/>
          <p:nvPr/>
        </p:nvGrpSpPr>
        <p:grpSpPr>
          <a:xfrm>
            <a:off x="3218637" y="2714795"/>
            <a:ext cx="5754727" cy="2895600"/>
            <a:chOff x="3288749" y="2636662"/>
            <a:chExt cx="5754727" cy="289560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31E906A-9641-42AB-BA35-121425B354CF}"/>
                </a:ext>
              </a:extLst>
            </p:cNvPr>
            <p:cNvGrpSpPr/>
            <p:nvPr/>
          </p:nvGrpSpPr>
          <p:grpSpPr>
            <a:xfrm>
              <a:off x="3288749" y="3725631"/>
              <a:ext cx="1042462" cy="720020"/>
              <a:chOff x="1811513" y="3500790"/>
              <a:chExt cx="1042462" cy="720020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73E0A2A-A3CF-45AD-B077-45F44C3B5039}"/>
                  </a:ext>
                </a:extLst>
              </p:cNvPr>
              <p:cNvSpPr/>
              <p:nvPr/>
            </p:nvSpPr>
            <p:spPr>
              <a:xfrm>
                <a:off x="1984907" y="3500790"/>
                <a:ext cx="720020" cy="7200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01F18D5-7A82-484B-B31A-BBCC5AD1956A}"/>
                  </a:ext>
                </a:extLst>
              </p:cNvPr>
              <p:cNvSpPr txBox="1"/>
              <p:nvPr/>
            </p:nvSpPr>
            <p:spPr>
              <a:xfrm>
                <a:off x="1811513" y="3660745"/>
                <a:ext cx="104246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000" b="1" u="none" dirty="0">
                    <a:latin typeface="페이퍼로지 7 Bold" pitchFamily="2" charset="-127"/>
                    <a:ea typeface="페이퍼로지 7 Bold" pitchFamily="2" charset="-127"/>
                    <a:cs typeface="Arial"/>
                  </a:rPr>
                  <a:t>은행</a:t>
                </a:r>
                <a:endParaRPr lang="en-US" altLang="ko-KR" sz="1000" b="1" u="none" dirty="0">
                  <a:latin typeface="페이퍼로지 7 Bold" pitchFamily="2" charset="-127"/>
                  <a:ea typeface="페이퍼로지 7 Bold" pitchFamily="2" charset="-127"/>
                  <a:cs typeface="Arial"/>
                </a:endParaRPr>
              </a:p>
              <a:p>
                <a:pPr algn="ctr"/>
                <a:r>
                  <a:rPr lang="ko-KR" altLang="en-US" sz="1000" b="1" u="none" dirty="0">
                    <a:latin typeface="페이퍼로지 7 Bold" pitchFamily="2" charset="-127"/>
                    <a:ea typeface="페이퍼로지 7 Bold" pitchFamily="2" charset="-127"/>
                    <a:cs typeface="Arial"/>
                  </a:rPr>
                  <a:t>업무지원</a:t>
                </a:r>
                <a:endParaRPr lang="en-US" altLang="ko-KR" sz="1000" b="1" u="none" dirty="0">
                  <a:latin typeface="페이퍼로지 7 Bold" pitchFamily="2" charset="-127"/>
                  <a:ea typeface="페이퍼로지 7 Bold" pitchFamily="2" charset="-127"/>
                  <a:cs typeface="Arial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8219E3A-29CF-4A3F-B164-95445F9EAE3A}"/>
                </a:ext>
              </a:extLst>
            </p:cNvPr>
            <p:cNvGrpSpPr/>
            <p:nvPr/>
          </p:nvGrpSpPr>
          <p:grpSpPr>
            <a:xfrm>
              <a:off x="8001014" y="3725631"/>
              <a:ext cx="1042462" cy="720020"/>
              <a:chOff x="7519668" y="3500790"/>
              <a:chExt cx="1042462" cy="720020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3500D8FF-85AD-4202-8A0A-AE8097ABE9B3}"/>
                  </a:ext>
                </a:extLst>
              </p:cNvPr>
              <p:cNvSpPr/>
              <p:nvPr/>
            </p:nvSpPr>
            <p:spPr>
              <a:xfrm>
                <a:off x="7668717" y="3500790"/>
                <a:ext cx="720020" cy="7200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BD794FF-F201-4787-A6EB-40C25778294D}"/>
                  </a:ext>
                </a:extLst>
              </p:cNvPr>
              <p:cNvSpPr txBox="1"/>
              <p:nvPr/>
            </p:nvSpPr>
            <p:spPr>
              <a:xfrm>
                <a:off x="7519668" y="3660745"/>
                <a:ext cx="104246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000" b="1" u="none" dirty="0">
                    <a:latin typeface="페이퍼로지 7 Bold" pitchFamily="2" charset="-127"/>
                    <a:ea typeface="페이퍼로지 7 Bold" pitchFamily="2" charset="-127"/>
                    <a:cs typeface="Arial"/>
                  </a:rPr>
                  <a:t>고객 상담</a:t>
                </a:r>
                <a:endParaRPr lang="en-US" altLang="ko-KR" sz="1000" b="1" dirty="0">
                  <a:latin typeface="페이퍼로지 7 Bold" pitchFamily="2" charset="-127"/>
                  <a:ea typeface="페이퍼로지 7 Bold" pitchFamily="2" charset="-127"/>
                  <a:cs typeface="Arial"/>
                </a:endParaRPr>
              </a:p>
              <a:p>
                <a:pPr algn="ctr"/>
                <a:r>
                  <a:rPr lang="ko-KR" altLang="en-US" sz="1000" b="1" u="none" dirty="0">
                    <a:latin typeface="페이퍼로지 7 Bold" pitchFamily="2" charset="-127"/>
                    <a:ea typeface="페이퍼로지 7 Bold" pitchFamily="2" charset="-127"/>
                    <a:cs typeface="Arial"/>
                  </a:rPr>
                  <a:t>안전지원</a:t>
                </a:r>
                <a:endParaRPr lang="en-US" altLang="ko-KR" sz="1000" b="1" u="none" dirty="0">
                  <a:latin typeface="페이퍼로지 7 Bold" pitchFamily="2" charset="-127"/>
                  <a:ea typeface="페이퍼로지 7 Bold" pitchFamily="2" charset="-127"/>
                  <a:cs typeface="Arial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4AE690C-5C03-4EAA-908F-524E0D2BC9D5}"/>
                </a:ext>
              </a:extLst>
            </p:cNvPr>
            <p:cNvGrpSpPr/>
            <p:nvPr/>
          </p:nvGrpSpPr>
          <p:grpSpPr>
            <a:xfrm>
              <a:off x="4733518" y="2636662"/>
              <a:ext cx="2865190" cy="2895600"/>
              <a:chOff x="4663405" y="2636662"/>
              <a:chExt cx="2865190" cy="2895600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C0AC9B4D-6C21-47BC-8711-0AEA319EC644}"/>
                  </a:ext>
                </a:extLst>
              </p:cNvPr>
              <p:cNvSpPr/>
              <p:nvPr/>
            </p:nvSpPr>
            <p:spPr>
              <a:xfrm>
                <a:off x="4663406" y="2636662"/>
                <a:ext cx="2865188" cy="286518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41074FC8-F668-4866-90FE-D0427707086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2564" r="-12389"/>
              <a:stretch/>
            </p:blipFill>
            <p:spPr>
              <a:xfrm>
                <a:off x="4663405" y="2639021"/>
                <a:ext cx="2865190" cy="2893241"/>
              </a:xfrm>
              <a:custGeom>
                <a:avLst/>
                <a:gdLst>
                  <a:gd name="connsiteX0" fmla="*/ 747486 w 1494972"/>
                  <a:gd name="connsiteY0" fmla="*/ 0 h 1494972"/>
                  <a:gd name="connsiteX1" fmla="*/ 1494972 w 1494972"/>
                  <a:gd name="connsiteY1" fmla="*/ 747486 h 1494972"/>
                  <a:gd name="connsiteX2" fmla="*/ 747486 w 1494972"/>
                  <a:gd name="connsiteY2" fmla="*/ 1494972 h 1494972"/>
                  <a:gd name="connsiteX3" fmla="*/ 0 w 1494972"/>
                  <a:gd name="connsiteY3" fmla="*/ 747486 h 1494972"/>
                  <a:gd name="connsiteX4" fmla="*/ 747486 w 1494972"/>
                  <a:gd name="connsiteY4" fmla="*/ 0 h 1494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94972" h="1494972">
                    <a:moveTo>
                      <a:pt x="747486" y="0"/>
                    </a:moveTo>
                    <a:cubicBezTo>
                      <a:pt x="1160311" y="0"/>
                      <a:pt x="1494972" y="334661"/>
                      <a:pt x="1494972" y="747486"/>
                    </a:cubicBezTo>
                    <a:cubicBezTo>
                      <a:pt x="1494972" y="1160311"/>
                      <a:pt x="1160311" y="1494972"/>
                      <a:pt x="747486" y="1494972"/>
                    </a:cubicBezTo>
                    <a:cubicBezTo>
                      <a:pt x="334661" y="1494972"/>
                      <a:pt x="0" y="1160311"/>
                      <a:pt x="0" y="747486"/>
                    </a:cubicBezTo>
                    <a:cubicBezTo>
                      <a:pt x="0" y="334661"/>
                      <a:pt x="334661" y="0"/>
                      <a:pt x="747486" y="0"/>
                    </a:cubicBezTo>
                    <a:close/>
                  </a:path>
                </a:pathLst>
              </a:custGeom>
              <a:ln>
                <a:solidFill>
                  <a:srgbClr val="FEFEFE"/>
                </a:solidFill>
              </a:ln>
            </p:spPr>
          </p:pic>
        </p:grp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399FC51E-8A82-4BA9-BFE1-7EE956DED2FF}"/>
              </a:ext>
            </a:extLst>
          </p:cNvPr>
          <p:cNvSpPr/>
          <p:nvPr/>
        </p:nvSpPr>
        <p:spPr>
          <a:xfrm>
            <a:off x="5276681" y="5103002"/>
            <a:ext cx="1641356" cy="1636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14CA66-985E-45B9-8FDE-0F49F108BAFE}"/>
              </a:ext>
            </a:extLst>
          </p:cNvPr>
          <p:cNvSpPr txBox="1"/>
          <p:nvPr/>
        </p:nvSpPr>
        <p:spPr>
          <a:xfrm>
            <a:off x="3138009" y="4630838"/>
            <a:ext cx="2138672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ko-KR" altLang="en-US" sz="1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은행 이상거래 탐지</a:t>
            </a:r>
            <a:endParaRPr lang="en-US" altLang="ko-KR" sz="12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ko-KR" altLang="en-US" sz="1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업무 </a:t>
            </a:r>
            <a:r>
              <a:rPr lang="en-US" altLang="ko-KR" sz="1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WEB </a:t>
            </a:r>
            <a:r>
              <a:rPr lang="ko-KR" altLang="en-US" sz="1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환경 적용 모듈</a:t>
            </a:r>
            <a:endParaRPr lang="en-US" altLang="ko-KR" sz="12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en-US" altLang="ko-KR" sz="1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sym typeface="Wingdings" panose="05000000000000000000" pitchFamily="2" charset="2"/>
              </a:rPr>
              <a:t> </a:t>
            </a:r>
            <a:r>
              <a:rPr lang="ko-KR" altLang="en-US" sz="1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sym typeface="Wingdings" panose="05000000000000000000" pitchFamily="2" charset="2"/>
              </a:rPr>
              <a:t>조사</a:t>
            </a:r>
            <a:r>
              <a:rPr lang="en-US" altLang="ko-KR" sz="1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sym typeface="Wingdings" panose="05000000000000000000" pitchFamily="2" charset="2"/>
              </a:rPr>
              <a:t>/</a:t>
            </a:r>
            <a:r>
              <a:rPr lang="ko-KR" altLang="en-US" sz="1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sym typeface="Wingdings" panose="05000000000000000000" pitchFamily="2" charset="2"/>
              </a:rPr>
              <a:t>계획</a:t>
            </a:r>
            <a:r>
              <a:rPr lang="en-US" altLang="ko-KR" sz="1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sym typeface="Wingdings" panose="05000000000000000000" pitchFamily="2" charset="2"/>
              </a:rPr>
              <a:t>/</a:t>
            </a:r>
            <a:r>
              <a:rPr lang="ko-KR" altLang="en-US" sz="1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sym typeface="Wingdings" panose="05000000000000000000" pitchFamily="2" charset="2"/>
              </a:rPr>
              <a:t>협업 지원</a:t>
            </a:r>
            <a:endParaRPr sz="12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18C509-2302-4A6E-BD90-84F1193D7F9F}"/>
              </a:ext>
            </a:extLst>
          </p:cNvPr>
          <p:cNvSpPr txBox="1"/>
          <p:nvPr/>
        </p:nvSpPr>
        <p:spPr>
          <a:xfrm>
            <a:off x="6797964" y="4630838"/>
            <a:ext cx="2408919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ko-KR" altLang="en-US" sz="1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은행 </a:t>
            </a:r>
            <a:r>
              <a:rPr lang="en-US" altLang="ko-KR" sz="1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APP </a:t>
            </a:r>
            <a:r>
              <a:rPr lang="ko-KR" altLang="en-US" sz="1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상시</a:t>
            </a:r>
            <a:r>
              <a:rPr lang="en-US" altLang="ko-KR" sz="1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챗봇</a:t>
            </a:r>
            <a:r>
              <a:rPr lang="en-US" altLang="ko-KR" sz="1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</a:p>
          <a:p>
            <a:pPr algn="r"/>
            <a:r>
              <a:rPr lang="ko-KR" altLang="en-US" sz="1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탐지</a:t>
            </a:r>
            <a:r>
              <a:rPr lang="en-US" altLang="ko-KR" sz="1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이후 송금 여정 중 발동</a:t>
            </a:r>
            <a:endParaRPr lang="en-US" altLang="ko-KR" sz="12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r"/>
            <a:r>
              <a:rPr lang="en-US" altLang="ko-KR" sz="1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sym typeface="Wingdings" panose="05000000000000000000" pitchFamily="2" charset="2"/>
              </a:rPr>
              <a:t> </a:t>
            </a:r>
            <a:r>
              <a:rPr lang="ko-KR" altLang="en-US" sz="1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sym typeface="Wingdings" panose="05000000000000000000" pitchFamily="2" charset="2"/>
              </a:rPr>
              <a:t>고객 소통</a:t>
            </a:r>
            <a:r>
              <a:rPr lang="en-US" altLang="ko-KR" sz="1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sym typeface="Wingdings" panose="05000000000000000000" pitchFamily="2" charset="2"/>
              </a:rPr>
              <a:t>/</a:t>
            </a:r>
            <a:r>
              <a:rPr lang="ko-KR" altLang="en-US" sz="1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sym typeface="Wingdings" panose="05000000000000000000" pitchFamily="2" charset="2"/>
              </a:rPr>
              <a:t>대응 안내 지원</a:t>
            </a:r>
            <a:endParaRPr lang="en-US" altLang="ko-KR" sz="12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6604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C8A7FF-54B4-4FD8-BC37-291E8578B9BE}"/>
              </a:ext>
            </a:extLst>
          </p:cNvPr>
          <p:cNvSpPr/>
          <p:nvPr/>
        </p:nvSpPr>
        <p:spPr>
          <a:xfrm>
            <a:off x="0" y="-13519"/>
            <a:ext cx="12192000" cy="6858000"/>
          </a:xfrm>
          <a:prstGeom prst="rect">
            <a:avLst/>
          </a:prstGeom>
          <a:gradFill flip="none" rotWithShape="1">
            <a:gsLst>
              <a:gs pos="39000">
                <a:srgbClr val="0E2746"/>
              </a:gs>
              <a:gs pos="0">
                <a:schemeClr val="tx1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4AD3D7-F3CC-4C69-8AA5-526B12A11842}"/>
              </a:ext>
            </a:extLst>
          </p:cNvPr>
          <p:cNvSpPr/>
          <p:nvPr/>
        </p:nvSpPr>
        <p:spPr>
          <a:xfrm>
            <a:off x="0" y="1792941"/>
            <a:ext cx="12192000" cy="51009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8D0384-C856-4F47-8F06-0EE808E72A77}"/>
              </a:ext>
            </a:extLst>
          </p:cNvPr>
          <p:cNvSpPr txBox="1"/>
          <p:nvPr/>
        </p:nvSpPr>
        <p:spPr>
          <a:xfrm>
            <a:off x="1416446" y="707954"/>
            <a:ext cx="935913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보이스피싱 범죄자의 발언을 확인하기 위해</a:t>
            </a:r>
            <a:endParaRPr lang="en-US" altLang="ko-KR" sz="2000" b="1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통화 내용의 일부를 데이터화 해야 하지만</a:t>
            </a:r>
            <a:r>
              <a:rPr lang="en-US" altLang="ko-KR" sz="2000" b="1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2000" b="1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법적</a:t>
            </a:r>
            <a:r>
              <a:rPr lang="en-US" altLang="ko-KR" sz="2000" b="1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2000" b="1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신분적 한계가 있음</a:t>
            </a:r>
            <a:endParaRPr lang="en-US" altLang="ko-KR" sz="2000" b="1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ctr"/>
            <a:r>
              <a:rPr lang="ko-KR" altLang="en-US" sz="2000" b="1" dirty="0">
                <a:solidFill>
                  <a:srgbClr val="FFC000"/>
                </a:solidFill>
                <a:latin typeface="페이퍼로지 5 Medium" pitchFamily="2" charset="-127"/>
                <a:ea typeface="페이퍼로지 5 Medium" pitchFamily="2" charset="-127"/>
              </a:rPr>
              <a:t>실제 서비스화 단계에서 유관 기관과 협업 필요할 수있음</a:t>
            </a:r>
            <a:endParaRPr lang="en-US" altLang="ko-KR" sz="2000" b="1" dirty="0">
              <a:solidFill>
                <a:srgbClr val="FFC000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738C85-C4BB-4847-B230-DD9E56CC1236}"/>
              </a:ext>
            </a:extLst>
          </p:cNvPr>
          <p:cNvSpPr txBox="1"/>
          <p:nvPr/>
        </p:nvSpPr>
        <p:spPr>
          <a:xfrm>
            <a:off x="5651984" y="494354"/>
            <a:ext cx="888064" cy="154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75" b="1">
                <a:solidFill>
                  <a:srgbClr val="2F66E8"/>
                </a:solidFill>
              </a:defRPr>
            </a:pPr>
            <a:r>
              <a:rPr lang="ko-KR" altLang="en-US" sz="1050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서비스 제한 사항</a:t>
            </a:r>
            <a:endParaRPr lang="en-US" altLang="ko-KR" sz="1050" u="none" dirty="0">
              <a:solidFill>
                <a:srgbClr val="EEF5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6B6CEC0-B751-4A33-918D-B3A1F2A446D9}"/>
              </a:ext>
            </a:extLst>
          </p:cNvPr>
          <p:cNvGrpSpPr/>
          <p:nvPr/>
        </p:nvGrpSpPr>
        <p:grpSpPr>
          <a:xfrm>
            <a:off x="818711" y="2164444"/>
            <a:ext cx="10809194" cy="4199202"/>
            <a:chOff x="818711" y="1957036"/>
            <a:chExt cx="10809194" cy="4199202"/>
          </a:xfrm>
        </p:grpSpPr>
        <p:sp>
          <p:nvSpPr>
            <p:cNvPr id="25" name="Arrow: Down 24">
              <a:extLst>
                <a:ext uri="{FF2B5EF4-FFF2-40B4-BE49-F238E27FC236}">
                  <a16:creationId xmlns:a16="http://schemas.microsoft.com/office/drawing/2014/main" id="{D55D05BE-323C-4A98-933E-BB327FA25695}"/>
                </a:ext>
              </a:extLst>
            </p:cNvPr>
            <p:cNvSpPr/>
            <p:nvPr/>
          </p:nvSpPr>
          <p:spPr>
            <a:xfrm>
              <a:off x="3260911" y="3108579"/>
              <a:ext cx="318248" cy="360594"/>
            </a:xfrm>
            <a:prstGeom prst="downArrow">
              <a:avLst/>
            </a:prstGeom>
            <a:solidFill>
              <a:srgbClr val="61CB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4C63C91-367F-470F-94FC-20A0767AFACA}"/>
                </a:ext>
              </a:extLst>
            </p:cNvPr>
            <p:cNvSpPr txBox="1"/>
            <p:nvPr/>
          </p:nvSpPr>
          <p:spPr>
            <a:xfrm>
              <a:off x="6170640" y="5694573"/>
              <a:ext cx="507528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0" u="none" strike="noStrike" dirty="0">
                  <a:effectLst/>
                  <a:latin typeface="페이퍼로지 5 Medium" pitchFamily="2" charset="-127"/>
                  <a:ea typeface="페이퍼로지 5 Medium" pitchFamily="2" charset="-127"/>
                </a:rPr>
                <a:t>*</a:t>
              </a:r>
              <a:r>
                <a:rPr lang="ko-KR" altLang="en-US" sz="1200" b="0" u="none" strike="noStrike" dirty="0">
                  <a:effectLst/>
                  <a:latin typeface="페이퍼로지 5 Medium" pitchFamily="2" charset="-127"/>
                  <a:ea typeface="페이퍼로지 5 Medium" pitchFamily="2" charset="-127"/>
                </a:rPr>
                <a:t>온디바이스 </a:t>
              </a:r>
              <a:r>
                <a:rPr lang="en-US" altLang="ko-KR" sz="1200" b="0" u="none" strike="noStrike" dirty="0">
                  <a:effectLst/>
                  <a:latin typeface="페이퍼로지 5 Medium" pitchFamily="2" charset="-127"/>
                  <a:ea typeface="페이퍼로지 5 Medium" pitchFamily="2" charset="-127"/>
                </a:rPr>
                <a:t>AI(On-Device AI)</a:t>
              </a:r>
              <a:r>
                <a:rPr lang="ko-KR" altLang="en-US" sz="1200" b="0" u="none" strike="noStrike" dirty="0">
                  <a:effectLst/>
                  <a:latin typeface="페이퍼로지 5 Medium" pitchFamily="2" charset="-127"/>
                  <a:ea typeface="페이퍼로지 5 Medium" pitchFamily="2" charset="-127"/>
                </a:rPr>
                <a:t>는 </a:t>
              </a:r>
              <a:r>
                <a:rPr lang="ko-KR" altLang="en-US" sz="1200" dirty="0">
                  <a:latin typeface="페이퍼로지 5 Medium" pitchFamily="2" charset="-127"/>
                  <a:ea typeface="페이퍼로지 5 Medium" pitchFamily="2" charset="-127"/>
                </a:rPr>
                <a:t>클라우드 서버를 거치지 않고 스마트폰이나 </a:t>
              </a:r>
              <a:r>
                <a:rPr lang="en-US" altLang="ko-KR" sz="1200" dirty="0">
                  <a:latin typeface="페이퍼로지 5 Medium" pitchFamily="2" charset="-127"/>
                  <a:ea typeface="페이퍼로지 5 Medium" pitchFamily="2" charset="-127"/>
                </a:rPr>
                <a:t>PC </a:t>
              </a:r>
              <a:r>
                <a:rPr lang="ko-KR" altLang="en-US" sz="1200" dirty="0">
                  <a:latin typeface="페이퍼로지 5 Medium" pitchFamily="2" charset="-127"/>
                  <a:ea typeface="페이퍼로지 5 Medium" pitchFamily="2" charset="-127"/>
                </a:rPr>
                <a:t>같은 </a:t>
              </a:r>
              <a:r>
                <a:rPr lang="ko-KR" altLang="en-US" sz="1200" b="0" u="none" strike="noStrike" dirty="0">
                  <a:effectLst/>
                  <a:latin typeface="페이퍼로지 5 Medium" pitchFamily="2" charset="-127"/>
                  <a:ea typeface="페이퍼로지 5 Medium" pitchFamily="2" charset="-127"/>
                </a:rPr>
                <a:t>기기 내부에서 직접 인공지능 연산을 수행</a:t>
              </a:r>
              <a:r>
                <a:rPr lang="ko-KR" altLang="en-US" sz="1200" dirty="0">
                  <a:latin typeface="페이퍼로지 5 Medium" pitchFamily="2" charset="-127"/>
                  <a:ea typeface="페이퍼로지 5 Medium" pitchFamily="2" charset="-127"/>
                </a:rPr>
                <a:t>하는 기술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E52F0B1-2671-444A-950C-6BFBE9A3B75F}"/>
                </a:ext>
              </a:extLst>
            </p:cNvPr>
            <p:cNvGrpSpPr/>
            <p:nvPr/>
          </p:nvGrpSpPr>
          <p:grpSpPr>
            <a:xfrm>
              <a:off x="818711" y="1957036"/>
              <a:ext cx="10554579" cy="1068375"/>
              <a:chOff x="624410" y="1701719"/>
              <a:chExt cx="10909219" cy="1068375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50294C6-2726-4B9D-B3EA-2068141FB322}"/>
                  </a:ext>
                </a:extLst>
              </p:cNvPr>
              <p:cNvSpPr/>
              <p:nvPr/>
            </p:nvSpPr>
            <p:spPr>
              <a:xfrm>
                <a:off x="624410" y="1970470"/>
                <a:ext cx="5377461" cy="799624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400" u="none" strike="noStrike" dirty="0">
                    <a:solidFill>
                      <a:schemeClr val="tx1"/>
                    </a:solidFill>
                    <a:effectLst/>
                    <a:latin typeface="페이퍼로지 5 Medium" pitchFamily="2" charset="-127"/>
                    <a:ea typeface="페이퍼로지 5 Medium" pitchFamily="2" charset="-127"/>
                  </a:rPr>
                  <a:t>“</a:t>
                </a:r>
                <a:r>
                  <a:rPr lang="ko-KR" altLang="en-US" sz="1400" u="none" strike="noStrike" dirty="0">
                    <a:solidFill>
                      <a:schemeClr val="tx1"/>
                    </a:solidFill>
                    <a:effectLst/>
                    <a:latin typeface="페이퍼로지 5 Medium" pitchFamily="2" charset="-127"/>
                    <a:ea typeface="페이퍼로지 5 Medium" pitchFamily="2" charset="-127"/>
                  </a:rPr>
                  <a:t>누구든지 이 법과 형사소송법 또는 군사법원법의 규정에 의하지 아니하고는 우편물의 검열ㆍ</a:t>
                </a:r>
                <a:r>
                  <a:rPr lang="ko-KR" altLang="en-US" sz="1400" u="none" strike="noStrike" dirty="0">
                    <a:solidFill>
                      <a:srgbClr val="E01F16"/>
                    </a:solidFill>
                    <a:effectLst/>
                    <a:latin typeface="페이퍼로지 5 Medium" pitchFamily="2" charset="-127"/>
                    <a:ea typeface="페이퍼로지 5 Medium" pitchFamily="2" charset="-127"/>
                  </a:rPr>
                  <a:t>전기통신의 감청 또는 통신사실확인자료의 제공</a:t>
                </a:r>
                <a:r>
                  <a:rPr lang="ko-KR" altLang="en-US" sz="1400" u="none" strike="noStrike" dirty="0">
                    <a:solidFill>
                      <a:schemeClr val="tx1"/>
                    </a:solidFill>
                    <a:effectLst/>
                    <a:latin typeface="페이퍼로지 5 Medium" pitchFamily="2" charset="-127"/>
                    <a:ea typeface="페이퍼로지 5 Medium" pitchFamily="2" charset="-127"/>
                  </a:rPr>
                  <a:t>을 하거나 공개되지 아니한 타인간의 대화를 </a:t>
                </a:r>
                <a:r>
                  <a:rPr lang="ko-KR" altLang="en-US" sz="1400" u="none" strike="noStrike" dirty="0">
                    <a:solidFill>
                      <a:srgbClr val="E01F16"/>
                    </a:solidFill>
                    <a:effectLst/>
                    <a:latin typeface="페이퍼로지 5 Medium" pitchFamily="2" charset="-127"/>
                    <a:ea typeface="페이퍼로지 5 Medium" pitchFamily="2" charset="-127"/>
                  </a:rPr>
                  <a:t>녹음 또는 청취하지 못한다</a:t>
                </a:r>
                <a:r>
                  <a:rPr lang="en-US" altLang="ko-KR" sz="1400" u="none" strike="noStrike" dirty="0">
                    <a:solidFill>
                      <a:srgbClr val="E01F16"/>
                    </a:solidFill>
                    <a:effectLst/>
                    <a:latin typeface="페이퍼로지 5 Medium" pitchFamily="2" charset="-127"/>
                    <a:ea typeface="페이퍼로지 5 Medium" pitchFamily="2" charset="-127"/>
                  </a:rPr>
                  <a:t>.”</a:t>
                </a:r>
                <a:endParaRPr lang="ko-KR" altLang="en-US" sz="1400" u="none" strike="noStrike" dirty="0">
                  <a:solidFill>
                    <a:srgbClr val="E01F16"/>
                  </a:solidFill>
                  <a:effectLst/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4F94135-8370-4D52-8E9C-BF91CC1FBE8A}"/>
                  </a:ext>
                </a:extLst>
              </p:cNvPr>
              <p:cNvSpPr txBox="1"/>
              <p:nvPr/>
            </p:nvSpPr>
            <p:spPr>
              <a:xfrm>
                <a:off x="624410" y="1701719"/>
                <a:ext cx="4647506" cy="215444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r>
                  <a:rPr lang="en-US" altLang="ko-KR" sz="1400" dirty="0">
                    <a:latin typeface="페이퍼로지 5 Medium" pitchFamily="2" charset="-127"/>
                    <a:ea typeface="페이퍼로지 5 Medium" pitchFamily="2" charset="-127"/>
                  </a:rPr>
                  <a:t>1. </a:t>
                </a:r>
                <a:r>
                  <a:rPr lang="ko-KR" altLang="en-US" sz="1400" dirty="0">
                    <a:latin typeface="페이퍼로지 5 Medium" pitchFamily="2" charset="-127"/>
                    <a:ea typeface="페이퍼로지 5 Medium" pitchFamily="2" charset="-127"/>
                  </a:rPr>
                  <a:t>법적 한계 </a:t>
                </a:r>
                <a:r>
                  <a:rPr lang="en-US" altLang="ko-KR" sz="1400" dirty="0">
                    <a:latin typeface="페이퍼로지 5 Medium" pitchFamily="2" charset="-127"/>
                    <a:ea typeface="페이퍼로지 5 Medium" pitchFamily="2" charset="-127"/>
                  </a:rPr>
                  <a:t>: </a:t>
                </a:r>
                <a:r>
                  <a:rPr lang="ko-KR" altLang="en-US" sz="1400" dirty="0">
                    <a:latin typeface="페이퍼로지 5 Medium" pitchFamily="2" charset="-127"/>
                    <a:ea typeface="페이퍼로지 5 Medium" pitchFamily="2" charset="-127"/>
                  </a:rPr>
                  <a:t>통신비밀보호법 제</a:t>
                </a:r>
                <a:r>
                  <a:rPr lang="en-US" altLang="ko-KR" sz="1400" dirty="0">
                    <a:latin typeface="페이퍼로지 5 Medium" pitchFamily="2" charset="-127"/>
                    <a:ea typeface="페이퍼로지 5 Medium" pitchFamily="2" charset="-127"/>
                  </a:rPr>
                  <a:t>3</a:t>
                </a:r>
                <a:r>
                  <a:rPr lang="ko-KR" altLang="en-US" sz="1400" dirty="0">
                    <a:latin typeface="페이퍼로지 5 Medium" pitchFamily="2" charset="-127"/>
                    <a:ea typeface="페이퍼로지 5 Medium" pitchFamily="2" charset="-127"/>
                  </a:rPr>
                  <a:t>조</a:t>
                </a:r>
                <a:r>
                  <a:rPr lang="en-US" altLang="ko-KR" sz="1400" dirty="0">
                    <a:latin typeface="페이퍼로지 5 Medium" pitchFamily="2" charset="-127"/>
                    <a:ea typeface="페이퍼로지 5 Medium" pitchFamily="2" charset="-127"/>
                  </a:rPr>
                  <a:t>(</a:t>
                </a:r>
                <a:r>
                  <a:rPr lang="ko-KR" altLang="en-US" sz="1400" dirty="0">
                    <a:latin typeface="페이퍼로지 5 Medium" pitchFamily="2" charset="-127"/>
                    <a:ea typeface="페이퍼로지 5 Medium" pitchFamily="2" charset="-127"/>
                  </a:rPr>
                  <a:t>통신 및 대화비밀의 보호</a:t>
                </a:r>
                <a:r>
                  <a:rPr lang="en-US" altLang="ko-KR" sz="1400" dirty="0">
                    <a:latin typeface="페이퍼로지 5 Medium" pitchFamily="2" charset="-127"/>
                    <a:ea typeface="페이퍼로지 5 Medium" pitchFamily="2" charset="-127"/>
                  </a:rPr>
                  <a:t>)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B4835D4-69D7-4234-88B4-3DD8A7881AE3}"/>
                  </a:ext>
                </a:extLst>
              </p:cNvPr>
              <p:cNvSpPr txBox="1"/>
              <p:nvPr/>
            </p:nvSpPr>
            <p:spPr>
              <a:xfrm>
                <a:off x="6156168" y="1701719"/>
                <a:ext cx="4852957" cy="215444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r>
                  <a:rPr lang="en-US" altLang="ko-KR" sz="1400" dirty="0">
                    <a:latin typeface="페이퍼로지 5 Medium" pitchFamily="2" charset="-127"/>
                    <a:ea typeface="페이퍼로지 5 Medium" pitchFamily="2" charset="-127"/>
                  </a:rPr>
                  <a:t>2. </a:t>
                </a:r>
                <a:r>
                  <a:rPr lang="ko-KR" altLang="en-US" sz="1400" dirty="0">
                    <a:latin typeface="페이퍼로지 5 Medium" pitchFamily="2" charset="-127"/>
                    <a:ea typeface="페이퍼로지 5 Medium" pitchFamily="2" charset="-127"/>
                  </a:rPr>
                  <a:t>신분적 한계 </a:t>
                </a:r>
                <a:r>
                  <a:rPr lang="en-US" altLang="ko-KR" sz="1400" dirty="0">
                    <a:latin typeface="페이퍼로지 5 Medium" pitchFamily="2" charset="-127"/>
                    <a:ea typeface="페이퍼로지 5 Medium" pitchFamily="2" charset="-127"/>
                  </a:rPr>
                  <a:t>: </a:t>
                </a:r>
                <a:r>
                  <a:rPr lang="ko-KR" altLang="en-US" sz="1400" dirty="0">
                    <a:latin typeface="페이퍼로지 5 Medium" pitchFamily="2" charset="-127"/>
                    <a:ea typeface="페이퍼로지 5 Medium" pitchFamily="2" charset="-127"/>
                  </a:rPr>
                  <a:t>학생 신분 </a:t>
                </a:r>
                <a:r>
                  <a:rPr lang="en-US" altLang="ko-KR" sz="1400" dirty="0">
                    <a:latin typeface="페이퍼로지 5 Medium" pitchFamily="2" charset="-127"/>
                    <a:ea typeface="페이퍼로지 5 Medium" pitchFamily="2" charset="-127"/>
                  </a:rPr>
                  <a:t>- </a:t>
                </a:r>
                <a:r>
                  <a:rPr lang="ko-KR" altLang="en-US" sz="1400" dirty="0">
                    <a:latin typeface="페이퍼로지 5 Medium" pitchFamily="2" charset="-127"/>
                    <a:ea typeface="페이퍼로지 5 Medium" pitchFamily="2" charset="-127"/>
                  </a:rPr>
                  <a:t>온디바이스 업체 및 은행 관계자가 아님</a:t>
                </a:r>
                <a:endParaRPr lang="en-US" altLang="ko-KR" sz="1400" dirty="0"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FA1E574-01A5-4CEB-AC5C-653AD5A62C2A}"/>
                  </a:ext>
                </a:extLst>
              </p:cNvPr>
              <p:cNvSpPr/>
              <p:nvPr/>
            </p:nvSpPr>
            <p:spPr>
              <a:xfrm>
                <a:off x="6156168" y="1970470"/>
                <a:ext cx="5377461" cy="799624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400" u="none" strike="noStrike" dirty="0">
                    <a:solidFill>
                      <a:schemeClr val="tx1"/>
                    </a:solidFill>
                    <a:effectLst/>
                    <a:latin typeface="페이퍼로지 5 Medium" pitchFamily="2" charset="-127"/>
                    <a:ea typeface="페이퍼로지 5 Medium" pitchFamily="2" charset="-127"/>
                  </a:rPr>
                  <a:t>온디바이스 업체 및 은행은 보안을 위해 폐쇄망을 사용하야 하지만</a:t>
                </a:r>
                <a:r>
                  <a:rPr lang="en-US" altLang="ko-KR" sz="1400" u="none" strike="noStrike" dirty="0">
                    <a:solidFill>
                      <a:schemeClr val="tx1"/>
                    </a:solidFill>
                    <a:effectLst/>
                    <a:latin typeface="페이퍼로지 5 Medium" pitchFamily="2" charset="-127"/>
                    <a:ea typeface="페이퍼로지 5 Medium" pitchFamily="2" charset="-127"/>
                  </a:rPr>
                  <a:t>,</a:t>
                </a:r>
              </a:p>
              <a:p>
                <a:r>
                  <a:rPr lang="en-US" altLang="ko-KR" sz="1400" u="none" strike="noStrike" dirty="0">
                    <a:solidFill>
                      <a:schemeClr val="tx1"/>
                    </a:solidFill>
                    <a:effectLst/>
                    <a:latin typeface="페이퍼로지 5 Medium" pitchFamily="2" charset="-127"/>
                    <a:ea typeface="페이퍼로지 5 Medium" pitchFamily="2" charset="-127"/>
                  </a:rPr>
                  <a:t>PoC </a:t>
                </a:r>
                <a:r>
                  <a:rPr lang="ko-KR" altLang="en-US" sz="1400" u="none" strike="noStrike" dirty="0">
                    <a:solidFill>
                      <a:schemeClr val="tx1"/>
                    </a:solidFill>
                    <a:effectLst/>
                    <a:latin typeface="페이퍼로지 5 Medium" pitchFamily="2" charset="-127"/>
                    <a:ea typeface="페이퍼로지 5 Medium" pitchFamily="2" charset="-127"/>
                  </a:rPr>
                  <a:t>구현 방향 확인을 위해 </a:t>
                </a:r>
                <a:r>
                  <a:rPr lang="ko-KR" altLang="en-US" sz="1400" u="none" strike="noStrike" dirty="0">
                    <a:solidFill>
                      <a:srgbClr val="FF0000"/>
                    </a:solidFill>
                    <a:effectLst/>
                    <a:latin typeface="페이퍼로지 5 Medium" pitchFamily="2" charset="-127"/>
                    <a:ea typeface="페이퍼로지 5 Medium" pitchFamily="2" charset="-127"/>
                  </a:rPr>
                  <a:t>일시적으로 </a:t>
                </a:r>
                <a:r>
                  <a:rPr lang="en-US" altLang="ko-KR" sz="1400" u="none" strike="noStrike" dirty="0">
                    <a:solidFill>
                      <a:srgbClr val="FF0000"/>
                    </a:solidFill>
                    <a:effectLst/>
                    <a:latin typeface="페이퍼로지 5 Medium" pitchFamily="2" charset="-127"/>
                    <a:ea typeface="페이퍼로지 5 Medium" pitchFamily="2" charset="-127"/>
                  </a:rPr>
                  <a:t>GPT API </a:t>
                </a:r>
                <a:r>
                  <a:rPr lang="ko-KR" altLang="en-US" sz="1400" u="none" strike="noStrike" dirty="0">
                    <a:solidFill>
                      <a:srgbClr val="FF0000"/>
                    </a:solidFill>
                    <a:effectLst/>
                    <a:latin typeface="페이퍼로지 5 Medium" pitchFamily="2" charset="-127"/>
                    <a:ea typeface="페이퍼로지 5 Medium" pitchFamily="2" charset="-127"/>
                  </a:rPr>
                  <a:t>사용</a:t>
                </a:r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D5C4CC4-6AA5-4F44-B55B-5489BC6E139D}"/>
                </a:ext>
              </a:extLst>
            </p:cNvPr>
            <p:cNvSpPr/>
            <p:nvPr/>
          </p:nvSpPr>
          <p:spPr>
            <a:xfrm>
              <a:off x="818711" y="3597557"/>
              <a:ext cx="5202649" cy="106595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b="1" u="none" strike="noStrike" dirty="0">
                  <a:solidFill>
                    <a:srgbClr val="0056FB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A</a:t>
              </a:r>
              <a:r>
                <a:rPr lang="ko-KR" altLang="en-US" sz="1400" b="1" u="none" strike="noStrike" dirty="0">
                  <a:solidFill>
                    <a:srgbClr val="0056FB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안</a:t>
              </a:r>
              <a:r>
                <a:rPr lang="en-US" altLang="ko-KR" sz="1400" b="1" u="none" strike="noStrike" dirty="0">
                  <a:solidFill>
                    <a:srgbClr val="0056FB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) ‘</a:t>
              </a:r>
              <a:r>
                <a:rPr lang="ko-KR" altLang="en-US" sz="1400" b="1" u="none" strike="noStrike" dirty="0">
                  <a:solidFill>
                    <a:srgbClr val="0056FB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온디바이스 가공 </a:t>
              </a:r>
              <a:r>
                <a:rPr lang="en-US" altLang="ko-KR" sz="1400" b="1" u="none" strike="noStrike" dirty="0">
                  <a:solidFill>
                    <a:srgbClr val="0056FB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+ </a:t>
              </a:r>
              <a:r>
                <a:rPr lang="ko-KR" altLang="en-US" sz="1400" b="1" u="none" strike="noStrike" dirty="0">
                  <a:solidFill>
                    <a:srgbClr val="0056FB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피해자 동의</a:t>
              </a:r>
              <a:r>
                <a:rPr lang="en-US" altLang="ko-KR" sz="1400" b="1" u="none" strike="noStrike" dirty="0">
                  <a:solidFill>
                    <a:srgbClr val="0056FB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’ </a:t>
              </a:r>
              <a:r>
                <a:rPr lang="ko-KR" altLang="en-US" sz="1400" b="1" u="none" strike="noStrike" dirty="0">
                  <a:solidFill>
                    <a:srgbClr val="0056FB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구조로 개발</a:t>
              </a:r>
              <a:endParaRPr lang="en-US" altLang="ko-KR" sz="1400" b="1" u="none" strike="noStrike" dirty="0">
                <a:solidFill>
                  <a:srgbClr val="0056FB"/>
                </a:solidFill>
                <a:effectLst/>
                <a:latin typeface="페이퍼로지 5 Medium" pitchFamily="2" charset="-127"/>
                <a:ea typeface="페이퍼로지 5 Medium" pitchFamily="2" charset="-127"/>
              </a:endParaRPr>
            </a:p>
            <a:p>
              <a:endParaRPr lang="en-US" altLang="ko-KR" sz="1400" u="none" strike="noStrike" dirty="0">
                <a:solidFill>
                  <a:schemeClr val="tx1"/>
                </a:solidFill>
                <a:effectLst/>
                <a:latin typeface="페이퍼로지 5 Medium" pitchFamily="2" charset="-127"/>
                <a:ea typeface="페이퍼로지 5 Medium" pitchFamily="2" charset="-127"/>
              </a:endParaRPr>
            </a:p>
            <a:p>
              <a:r>
                <a:rPr lang="en-US" altLang="ko-KR" sz="1200" u="none" strike="noStrike" dirty="0">
                  <a:solidFill>
                    <a:schemeClr val="tx1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- </a:t>
              </a:r>
              <a:r>
                <a:rPr lang="ko-KR" altLang="en-US" sz="1200" u="none" strike="noStrike" dirty="0">
                  <a:solidFill>
                    <a:schemeClr val="tx1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은행 앱이나 별도의 보이스피싱 방지 앱에 </a:t>
              </a:r>
              <a:r>
                <a:rPr lang="en-US" altLang="ko-KR" sz="1200" u="none" strike="noStrike" dirty="0">
                  <a:solidFill>
                    <a:schemeClr val="tx1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AI </a:t>
              </a:r>
              <a:r>
                <a:rPr lang="ko-KR" altLang="en-US" sz="1200" u="none" strike="noStrike" dirty="0">
                  <a:solidFill>
                    <a:schemeClr val="tx1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엔진을 탑재</a:t>
              </a:r>
              <a:endParaRPr lang="en-US" altLang="ko-KR" sz="1200" u="none" strike="noStrike" dirty="0">
                <a:solidFill>
                  <a:schemeClr val="tx1"/>
                </a:solidFill>
                <a:effectLst/>
                <a:latin typeface="페이퍼로지 5 Medium" pitchFamily="2" charset="-127"/>
                <a:ea typeface="페이퍼로지 5 Medium" pitchFamily="2" charset="-127"/>
              </a:endParaRPr>
            </a:p>
            <a:p>
              <a:r>
                <a:rPr lang="en-US" altLang="ko-KR" sz="1200" u="none" strike="noStrike" dirty="0">
                  <a:solidFill>
                    <a:schemeClr val="tx1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- </a:t>
              </a:r>
              <a:r>
                <a:rPr lang="ko-KR" altLang="en-US" sz="1200" u="none" strike="noStrike" dirty="0">
                  <a:solidFill>
                    <a:schemeClr val="tx1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스마트폰 기기 자체</a:t>
              </a:r>
              <a:r>
                <a:rPr lang="en-US" altLang="ko-KR" sz="1200" u="none" strike="noStrike" dirty="0">
                  <a:solidFill>
                    <a:schemeClr val="tx1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(</a:t>
              </a:r>
              <a:r>
                <a:rPr lang="ko-KR" altLang="en-US" sz="1200" u="none" strike="noStrike" dirty="0">
                  <a:solidFill>
                    <a:schemeClr val="tx1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온디바이스</a:t>
              </a:r>
              <a:r>
                <a:rPr lang="en-US" altLang="ko-KR" sz="1200" u="none" strike="noStrike" dirty="0">
                  <a:solidFill>
                    <a:schemeClr val="tx1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)</a:t>
              </a:r>
              <a:r>
                <a:rPr lang="ko-KR" altLang="en-US" sz="1200" u="none" strike="noStrike" dirty="0">
                  <a:solidFill>
                    <a:schemeClr val="tx1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에서 통화 내용을 분석해 범죄자 주장 요약본 생성</a:t>
              </a:r>
              <a:endParaRPr lang="en-US" altLang="ko-KR" sz="1200" u="none" strike="noStrike" dirty="0">
                <a:solidFill>
                  <a:schemeClr val="tx1"/>
                </a:solidFill>
                <a:effectLst/>
                <a:latin typeface="페이퍼로지 5 Medium" pitchFamily="2" charset="-127"/>
                <a:ea typeface="페이퍼로지 5 Medium" pitchFamily="2" charset="-127"/>
              </a:endParaRPr>
            </a:p>
            <a:p>
              <a:r>
                <a:rPr lang="en-US" altLang="ko-KR" sz="1200" u="none" strike="noStrike" dirty="0">
                  <a:solidFill>
                    <a:schemeClr val="tx1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- </a:t>
              </a:r>
              <a:r>
                <a:rPr lang="ko-KR" altLang="en-US" sz="1200" u="none" strike="noStrike" dirty="0">
                  <a:solidFill>
                    <a:schemeClr val="tx1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팝업을 통해 </a:t>
              </a:r>
              <a:r>
                <a:rPr lang="ko-KR" altLang="en-US" sz="1200" u="none" strike="noStrike" dirty="0">
                  <a:solidFill>
                    <a:srgbClr val="FF0000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은행</a:t>
              </a:r>
              <a:r>
                <a:rPr lang="en-US" altLang="ko-KR" sz="1200" u="none" strike="noStrike" dirty="0">
                  <a:solidFill>
                    <a:srgbClr val="FF0000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/</a:t>
              </a:r>
              <a:r>
                <a:rPr lang="ko-KR" altLang="en-US" sz="1200" u="none" strike="noStrike" dirty="0">
                  <a:solidFill>
                    <a:srgbClr val="FF0000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공공기관 전송에 대한 사용자의 동의 받기</a:t>
              </a:r>
              <a:endParaRPr lang="en-US" altLang="ko-KR" sz="1200" u="none" strike="noStrike" dirty="0">
                <a:solidFill>
                  <a:srgbClr val="FF0000"/>
                </a:solidFill>
                <a:effectLst/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FE90C7A-55AF-4985-B103-5375FFCE8466}"/>
                </a:ext>
              </a:extLst>
            </p:cNvPr>
            <p:cNvSpPr txBox="1"/>
            <p:nvPr/>
          </p:nvSpPr>
          <p:spPr>
            <a:xfrm>
              <a:off x="818711" y="3307759"/>
              <a:ext cx="2263440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r>
                <a:rPr lang="ko-KR" altLang="en-US" sz="1400" dirty="0">
                  <a:solidFill>
                    <a:srgbClr val="50AACF"/>
                  </a:solidFill>
                  <a:latin typeface="페이퍼로지 5 Medium" pitchFamily="2" charset="-127"/>
                  <a:ea typeface="페이퍼로지 5 Medium" pitchFamily="2" charset="-127"/>
                </a:rPr>
                <a:t>실제 서비스화 시 한계 극복 방안</a:t>
              </a:r>
              <a:endParaRPr lang="en-US" altLang="ko-KR" sz="1400" dirty="0">
                <a:solidFill>
                  <a:srgbClr val="50AACF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27" name="Arrow: Down 26">
              <a:extLst>
                <a:ext uri="{FF2B5EF4-FFF2-40B4-BE49-F238E27FC236}">
                  <a16:creationId xmlns:a16="http://schemas.microsoft.com/office/drawing/2014/main" id="{D3AE841B-020E-45B1-BF99-5F31E1A8473E}"/>
                </a:ext>
              </a:extLst>
            </p:cNvPr>
            <p:cNvSpPr/>
            <p:nvPr/>
          </p:nvSpPr>
          <p:spPr>
            <a:xfrm>
              <a:off x="8612840" y="3108579"/>
              <a:ext cx="318248" cy="360594"/>
            </a:xfrm>
            <a:prstGeom prst="downArrow">
              <a:avLst/>
            </a:prstGeom>
            <a:solidFill>
              <a:srgbClr val="61CB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2685553-6689-4A23-A44C-20A3BC8106EC}"/>
                </a:ext>
              </a:extLst>
            </p:cNvPr>
            <p:cNvSpPr/>
            <p:nvPr/>
          </p:nvSpPr>
          <p:spPr>
            <a:xfrm>
              <a:off x="6170640" y="3597557"/>
              <a:ext cx="5202649" cy="79962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dirty="0"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- </a:t>
              </a:r>
              <a:r>
                <a:rPr lang="ko-KR" altLang="en-US" sz="1400" dirty="0"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폐쇄망</a:t>
              </a:r>
              <a:r>
                <a:rPr lang="en-US" altLang="ko-KR" sz="1400" dirty="0"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(</a:t>
              </a:r>
              <a:r>
                <a:rPr lang="en-US" altLang="ko-KR" sz="1400" u="none" strike="noStrike" dirty="0">
                  <a:solidFill>
                    <a:schemeClr val="tx1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Air-Gapped)</a:t>
              </a:r>
              <a:r>
                <a:rPr lang="ko-KR" altLang="en-US" sz="1400" dirty="0"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400" dirty="0"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/ </a:t>
              </a:r>
              <a:r>
                <a:rPr lang="ko-KR" altLang="en-US" sz="1400" u="none" strike="noStrike" dirty="0">
                  <a:solidFill>
                    <a:schemeClr val="tx1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온프레미스 배포 아키텍처 제시</a:t>
              </a:r>
              <a:endParaRPr lang="en-US" altLang="ko-KR" sz="1400" u="none" strike="noStrike" dirty="0">
                <a:solidFill>
                  <a:schemeClr val="tx1"/>
                </a:solidFill>
                <a:effectLst/>
                <a:latin typeface="페이퍼로지 5 Medium" pitchFamily="2" charset="-127"/>
                <a:ea typeface="페이퍼로지 5 Medium" pitchFamily="2" charset="-127"/>
              </a:endParaRPr>
            </a:p>
            <a:p>
              <a:r>
                <a:rPr lang="en-US" altLang="ko-KR" sz="1400" u="none" strike="noStrike" dirty="0">
                  <a:solidFill>
                    <a:schemeClr val="tx1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- </a:t>
              </a:r>
              <a:r>
                <a:rPr lang="ko-KR" altLang="en-US" sz="1400" u="none" strike="noStrike" dirty="0">
                  <a:solidFill>
                    <a:schemeClr val="tx1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온디바이스 업체 및 은행에게 모듈로 제공</a:t>
              </a:r>
              <a:endParaRPr lang="en-US" altLang="ko-KR" sz="1400" u="none" strike="noStrike" dirty="0">
                <a:solidFill>
                  <a:schemeClr val="tx1"/>
                </a:solidFill>
                <a:effectLst/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E0D4C63-E751-4619-867A-4FB14B37C782}"/>
                </a:ext>
              </a:extLst>
            </p:cNvPr>
            <p:cNvSpPr txBox="1"/>
            <p:nvPr/>
          </p:nvSpPr>
          <p:spPr>
            <a:xfrm>
              <a:off x="6170640" y="3307759"/>
              <a:ext cx="2263440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r>
                <a:rPr lang="ko-KR" altLang="en-US" sz="1400" dirty="0">
                  <a:solidFill>
                    <a:srgbClr val="50AACF"/>
                  </a:solidFill>
                  <a:latin typeface="페이퍼로지 5 Medium" pitchFamily="2" charset="-127"/>
                  <a:ea typeface="페이퍼로지 5 Medium" pitchFamily="2" charset="-127"/>
                </a:rPr>
                <a:t>실제 서비스화 시 한계 극복 방안</a:t>
              </a:r>
              <a:endParaRPr lang="en-US" altLang="ko-KR" sz="1400" dirty="0">
                <a:solidFill>
                  <a:srgbClr val="50AACF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E37AF17-4BDE-4D99-9376-D324A29B5B98}"/>
                </a:ext>
              </a:extLst>
            </p:cNvPr>
            <p:cNvSpPr/>
            <p:nvPr/>
          </p:nvSpPr>
          <p:spPr>
            <a:xfrm>
              <a:off x="818711" y="4791898"/>
              <a:ext cx="5202649" cy="135814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b="1" dirty="0">
                  <a:solidFill>
                    <a:srgbClr val="0056FB"/>
                  </a:solidFill>
                  <a:latin typeface="페이퍼로지 5 Medium" pitchFamily="2" charset="-127"/>
                  <a:ea typeface="페이퍼로지 5 Medium" pitchFamily="2" charset="-127"/>
                </a:rPr>
                <a:t>B</a:t>
              </a:r>
              <a:r>
                <a:rPr lang="ko-KR" altLang="en-US" sz="1400" b="1" u="none" strike="noStrike" dirty="0">
                  <a:solidFill>
                    <a:srgbClr val="0056FB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안</a:t>
              </a:r>
              <a:r>
                <a:rPr lang="en-US" altLang="ko-KR" sz="1400" b="1" u="none" strike="noStrike" dirty="0">
                  <a:solidFill>
                    <a:srgbClr val="0056FB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) </a:t>
              </a:r>
              <a:r>
                <a:rPr lang="ko-KR" altLang="en-US" sz="1400" b="1" u="none" strike="noStrike" dirty="0">
                  <a:solidFill>
                    <a:srgbClr val="0056FB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정부의 </a:t>
              </a:r>
              <a:r>
                <a:rPr lang="en-US" altLang="ko-KR" sz="1400" b="1" u="none" strike="noStrike" dirty="0">
                  <a:solidFill>
                    <a:srgbClr val="0056FB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'</a:t>
              </a:r>
              <a:r>
                <a:rPr lang="ko-KR" altLang="en-US" sz="1400" b="1" u="none" strike="noStrike" dirty="0">
                  <a:solidFill>
                    <a:srgbClr val="0056FB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규제 샌드박스</a:t>
              </a:r>
              <a:r>
                <a:rPr lang="en-US" altLang="ko-KR" sz="1400" b="1" dirty="0">
                  <a:solidFill>
                    <a:srgbClr val="0056FB"/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400" b="1" u="none" strike="noStrike" dirty="0">
                  <a:solidFill>
                    <a:srgbClr val="0056FB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or </a:t>
              </a:r>
              <a:r>
                <a:rPr lang="ko-KR" altLang="en-US" sz="1400" b="1" u="none" strike="noStrike" dirty="0">
                  <a:solidFill>
                    <a:srgbClr val="0056FB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혁신금융서비스</a:t>
              </a:r>
              <a:r>
                <a:rPr lang="en-US" altLang="ko-KR" sz="1400" b="1" u="none" strike="noStrike" dirty="0">
                  <a:solidFill>
                    <a:srgbClr val="0056FB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' </a:t>
              </a:r>
              <a:r>
                <a:rPr lang="ko-KR" altLang="en-US" sz="1400" b="1" u="none" strike="noStrike" dirty="0">
                  <a:solidFill>
                    <a:srgbClr val="0056FB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신청</a:t>
              </a:r>
              <a:endParaRPr lang="en-US" altLang="ko-KR" sz="1400" b="1" u="none" strike="noStrike" dirty="0">
                <a:solidFill>
                  <a:srgbClr val="0056FB"/>
                </a:solidFill>
                <a:effectLst/>
                <a:latin typeface="페이퍼로지 5 Medium" pitchFamily="2" charset="-127"/>
                <a:ea typeface="페이퍼로지 5 Medium" pitchFamily="2" charset="-127"/>
              </a:endParaRPr>
            </a:p>
            <a:p>
              <a:endParaRPr lang="en-US" altLang="ko-KR" sz="1400" u="none" strike="noStrike" dirty="0">
                <a:solidFill>
                  <a:schemeClr val="tx1"/>
                </a:solidFill>
                <a:effectLst/>
                <a:latin typeface="페이퍼로지 5 Medium" pitchFamily="2" charset="-127"/>
                <a:ea typeface="페이퍼로지 5 Medium" pitchFamily="2" charset="-127"/>
              </a:endParaRPr>
            </a:p>
            <a:p>
              <a:r>
                <a:rPr lang="en-US" altLang="ko-KR" sz="1200" u="none" strike="noStrike" dirty="0">
                  <a:solidFill>
                    <a:schemeClr val="tx1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- </a:t>
              </a:r>
              <a:r>
                <a:rPr lang="ko-KR" altLang="en-US" sz="1200" u="none" strike="noStrike" dirty="0">
                  <a:solidFill>
                    <a:schemeClr val="tx1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보이스피싱 근절을 위해 법적 규제를 일시적으로 면제해 주는 제도 신청</a:t>
              </a:r>
              <a:endParaRPr lang="en-US" altLang="ko-KR" sz="1200" u="none" strike="noStrike" dirty="0">
                <a:solidFill>
                  <a:schemeClr val="tx1"/>
                </a:solidFill>
                <a:effectLst/>
                <a:latin typeface="페이퍼로지 5 Medium" pitchFamily="2" charset="-127"/>
                <a:ea typeface="페이퍼로지 5 Medium" pitchFamily="2" charset="-127"/>
              </a:endParaRPr>
            </a:p>
            <a:p>
              <a:r>
                <a:rPr lang="en-US" altLang="ko-KR" sz="1200" u="none" strike="noStrike" dirty="0">
                  <a:solidFill>
                    <a:schemeClr val="tx1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- </a:t>
              </a:r>
              <a:r>
                <a:rPr lang="ko-KR" altLang="en-US" sz="1200" u="none" strike="noStrike" dirty="0">
                  <a:solidFill>
                    <a:schemeClr val="tx1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은행과 컨소시엄을 맺고 과학기술정보통신부나 금융위원회에 신청</a:t>
              </a:r>
              <a:endParaRPr lang="en-US" altLang="ko-KR" sz="1200" u="none" strike="noStrike" dirty="0">
                <a:solidFill>
                  <a:schemeClr val="tx1"/>
                </a:solidFill>
                <a:effectLst/>
                <a:latin typeface="페이퍼로지 5 Medium" pitchFamily="2" charset="-127"/>
                <a:ea typeface="페이퍼로지 5 Medium" pitchFamily="2" charset="-127"/>
              </a:endParaRPr>
            </a:p>
            <a:p>
              <a:r>
                <a:rPr lang="en-US" altLang="ko-KR" sz="1200" u="none" strike="noStrike" dirty="0">
                  <a:solidFill>
                    <a:schemeClr val="tx1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- "</a:t>
              </a:r>
              <a:r>
                <a:rPr lang="ko-KR" altLang="en-US" sz="1200" u="none" strike="noStrike" dirty="0">
                  <a:solidFill>
                    <a:schemeClr val="tx1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보이스피싱 범죄 예방</a:t>
              </a:r>
              <a:r>
                <a:rPr lang="en-US" altLang="ko-KR" sz="1200" u="none" strike="noStrike" dirty="0">
                  <a:solidFill>
                    <a:schemeClr val="tx1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"</a:t>
              </a:r>
              <a:r>
                <a:rPr lang="ko-KR" altLang="en-US" sz="1200" u="none" strike="noStrike" dirty="0">
                  <a:solidFill>
                    <a:schemeClr val="tx1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이라는 명확한 공익적 목적이 인정되면</a:t>
              </a:r>
              <a:r>
                <a:rPr lang="en-US" altLang="ko-KR" sz="1200" u="none" strike="noStrike" dirty="0">
                  <a:solidFill>
                    <a:schemeClr val="tx1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, </a:t>
              </a:r>
              <a:r>
                <a:rPr lang="ko-KR" altLang="en-US" sz="1200" u="none" strike="noStrike" dirty="0">
                  <a:solidFill>
                    <a:srgbClr val="FF0000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정부가 특정 조건</a:t>
              </a:r>
              <a:br>
                <a:rPr lang="en-US" altLang="ko-KR" sz="1200" u="none" strike="noStrike" dirty="0">
                  <a:solidFill>
                    <a:srgbClr val="FF0000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</a:br>
              <a:r>
                <a:rPr lang="en-US" altLang="ko-KR" sz="1200" u="none" strike="noStrike" dirty="0">
                  <a:solidFill>
                    <a:srgbClr val="FF0000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   (</a:t>
              </a:r>
              <a:r>
                <a:rPr lang="ko-KR" altLang="en-US" sz="1200" u="none" strike="noStrike" dirty="0">
                  <a:solidFill>
                    <a:srgbClr val="FF0000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데이터 즉시 파기</a:t>
              </a:r>
              <a:r>
                <a:rPr lang="en-US" altLang="ko-KR" sz="1200" u="none" strike="noStrike" dirty="0">
                  <a:solidFill>
                    <a:srgbClr val="FF0000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, </a:t>
              </a:r>
              <a:r>
                <a:rPr lang="ko-KR" altLang="en-US" sz="1200" u="none" strike="noStrike" dirty="0">
                  <a:solidFill>
                    <a:srgbClr val="FF0000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익명화 등</a:t>
              </a:r>
              <a:r>
                <a:rPr lang="en-US" altLang="ko-KR" sz="1200" u="none" strike="noStrike" dirty="0">
                  <a:solidFill>
                    <a:srgbClr val="FF0000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) </a:t>
              </a:r>
              <a:r>
                <a:rPr lang="ko-KR" altLang="en-US" sz="1200" u="none" strike="noStrike" dirty="0">
                  <a:solidFill>
                    <a:srgbClr val="FF0000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하에 통신비밀보호법 제</a:t>
              </a:r>
              <a:r>
                <a:rPr lang="en-US" altLang="ko-KR" sz="1200" u="none" strike="noStrike" dirty="0">
                  <a:solidFill>
                    <a:srgbClr val="FF0000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3</a:t>
              </a:r>
              <a:r>
                <a:rPr lang="ko-KR" altLang="en-US" sz="1200" u="none" strike="noStrike" dirty="0">
                  <a:solidFill>
                    <a:srgbClr val="FF0000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조의 적용 예외를 인정</a:t>
              </a:r>
              <a:endParaRPr lang="en-US" altLang="ko-KR" sz="1200" u="none" strike="noStrike" dirty="0">
                <a:solidFill>
                  <a:srgbClr val="FF0000"/>
                </a:solidFill>
                <a:effectLst/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4739D6F-09C5-4873-8078-667DB8597BEA}"/>
                </a:ext>
              </a:extLst>
            </p:cNvPr>
            <p:cNvSpPr txBox="1"/>
            <p:nvPr/>
          </p:nvSpPr>
          <p:spPr>
            <a:xfrm>
              <a:off x="6170640" y="4960331"/>
              <a:ext cx="5457265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latin typeface="페이퍼로지 5 Medium" pitchFamily="2" charset="-127"/>
                  <a:ea typeface="페이퍼로지 5 Medium" pitchFamily="2" charset="-127"/>
                </a:rPr>
                <a:t>[</a:t>
              </a:r>
              <a:r>
                <a:rPr lang="ko-KR" altLang="en-US" sz="1400" dirty="0">
                  <a:latin typeface="페이퍼로지 5 Medium" pitchFamily="2" charset="-127"/>
                  <a:ea typeface="페이퍼로지 5 Medium" pitchFamily="2" charset="-127"/>
                </a:rPr>
                <a:t>주의사항</a:t>
              </a:r>
              <a:r>
                <a:rPr lang="en-US" altLang="ko-KR" sz="1400" dirty="0">
                  <a:latin typeface="페이퍼로지 5 Medium" pitchFamily="2" charset="-127"/>
                  <a:ea typeface="페이퍼로지 5 Medium" pitchFamily="2" charset="-127"/>
                </a:rPr>
                <a:t>]</a:t>
              </a:r>
            </a:p>
            <a:p>
              <a:r>
                <a:rPr lang="ko-KR" altLang="en-US" sz="1400" dirty="0">
                  <a:latin typeface="페이퍼로지 5 Medium" pitchFamily="2" charset="-127"/>
                  <a:ea typeface="페이퍼로지 5 Medium" pitchFamily="2" charset="-127"/>
                </a:rPr>
                <a:t>① 통화 원문을 온디바이스 외부 서버로 전송하지 않는다</a:t>
              </a:r>
              <a:r>
                <a:rPr lang="en-US" altLang="ko-KR" sz="1400" dirty="0">
                  <a:latin typeface="페이퍼로지 5 Medium" pitchFamily="2" charset="-127"/>
                  <a:ea typeface="페이퍼로지 5 Medium" pitchFamily="2" charset="-127"/>
                </a:rPr>
                <a:t>.</a:t>
              </a:r>
            </a:p>
            <a:p>
              <a:r>
                <a:rPr lang="ko-KR" altLang="en-US" sz="1400" dirty="0">
                  <a:latin typeface="페이퍼로지 5 Medium" pitchFamily="2" charset="-127"/>
                  <a:ea typeface="페이퍼로지 5 Medium" pitchFamily="2" charset="-127"/>
                </a:rPr>
                <a:t>② 은행</a:t>
              </a:r>
              <a:r>
                <a:rPr lang="en-US" altLang="ko-KR" sz="1400" dirty="0">
                  <a:latin typeface="페이퍼로지 5 Medium" pitchFamily="2" charset="-127"/>
                  <a:ea typeface="페이퍼로지 5 Medium" pitchFamily="2" charset="-127"/>
                </a:rPr>
                <a:t>(CSR)</a:t>
              </a:r>
              <a:r>
                <a:rPr lang="ko-KR" altLang="en-US" sz="1400" dirty="0">
                  <a:latin typeface="페이퍼로지 5 Medium" pitchFamily="2" charset="-127"/>
                  <a:ea typeface="페이퍼로지 5 Medium" pitchFamily="2" charset="-127"/>
                </a:rPr>
                <a:t>서버에 전송하는 데이터는 반드시 가공된 데이터여야 한다</a:t>
              </a:r>
              <a:r>
                <a:rPr lang="en-US" altLang="ko-KR" sz="1400" dirty="0">
                  <a:latin typeface="페이퍼로지 5 Medium" pitchFamily="2" charset="-127"/>
                  <a:ea typeface="페이퍼로지 5 Medium" pitchFamily="2" charset="-127"/>
                </a:rPr>
                <a:t>.</a:t>
              </a:r>
              <a:endParaRPr lang="ko-KR" altLang="en-US" sz="1400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7350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53F654C-F153-40C6-9569-B8B068188D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9000">
                <a:srgbClr val="0E2746"/>
              </a:gs>
              <a:gs pos="0">
                <a:schemeClr val="tx1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ED9A9-4627-4E81-B5A6-885E6C35133E}"/>
              </a:ext>
            </a:extLst>
          </p:cNvPr>
          <p:cNvSpPr/>
          <p:nvPr/>
        </p:nvSpPr>
        <p:spPr>
          <a:xfrm>
            <a:off x="0" y="3900706"/>
            <a:ext cx="12192000" cy="29931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A9C3B93-E9EE-4A1A-A0ED-F006138A4084}"/>
              </a:ext>
            </a:extLst>
          </p:cNvPr>
          <p:cNvGrpSpPr/>
          <p:nvPr/>
        </p:nvGrpSpPr>
        <p:grpSpPr>
          <a:xfrm>
            <a:off x="912397" y="1868915"/>
            <a:ext cx="10053322" cy="1638246"/>
            <a:chOff x="589667" y="1937334"/>
            <a:chExt cx="10053328" cy="163824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17A0861-2E9B-48B4-8622-96DAC48B025C}"/>
                </a:ext>
              </a:extLst>
            </p:cNvPr>
            <p:cNvGrpSpPr/>
            <p:nvPr/>
          </p:nvGrpSpPr>
          <p:grpSpPr>
            <a:xfrm>
              <a:off x="1684628" y="1937334"/>
              <a:ext cx="8958367" cy="1638249"/>
              <a:chOff x="1684627" y="1937330"/>
              <a:chExt cx="8958362" cy="1638249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944B7AA3-BB76-4013-A591-B3391FF0A855}"/>
                  </a:ext>
                </a:extLst>
              </p:cNvPr>
              <p:cNvGrpSpPr/>
              <p:nvPr/>
            </p:nvGrpSpPr>
            <p:grpSpPr>
              <a:xfrm>
                <a:off x="2040036" y="2489479"/>
                <a:ext cx="7985137" cy="1086100"/>
                <a:chOff x="1039793" y="2286694"/>
                <a:chExt cx="9578057" cy="1302762"/>
              </a:xfrm>
            </p:grpSpPr>
            <p:sp>
              <p:nvSpPr>
                <p:cNvPr id="25" name="Arrow: Bent 24">
                  <a:extLst>
                    <a:ext uri="{FF2B5EF4-FFF2-40B4-BE49-F238E27FC236}">
                      <a16:creationId xmlns:a16="http://schemas.microsoft.com/office/drawing/2014/main" id="{DEC553EC-9835-4D32-A019-D335C482AEE3}"/>
                    </a:ext>
                  </a:extLst>
                </p:cNvPr>
                <p:cNvSpPr/>
                <p:nvPr/>
              </p:nvSpPr>
              <p:spPr>
                <a:xfrm flipV="1">
                  <a:off x="1039793" y="2286694"/>
                  <a:ext cx="831712" cy="1001006"/>
                </a:xfrm>
                <a:prstGeom prst="bentArrow">
                  <a:avLst>
                    <a:gd name="adj1" fmla="val 25000"/>
                    <a:gd name="adj2" fmla="val 25000"/>
                    <a:gd name="adj3" fmla="val 35112"/>
                    <a:gd name="adj4" fmla="val 43750"/>
                  </a:avLst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: Rounded Corners 25">
                  <a:extLst>
                    <a:ext uri="{FF2B5EF4-FFF2-40B4-BE49-F238E27FC236}">
                      <a16:creationId xmlns:a16="http://schemas.microsoft.com/office/drawing/2014/main" id="{C40B40FF-8B92-4098-AB37-6148118FE865}"/>
                    </a:ext>
                  </a:extLst>
                </p:cNvPr>
                <p:cNvSpPr/>
                <p:nvPr/>
              </p:nvSpPr>
              <p:spPr>
                <a:xfrm>
                  <a:off x="2738304" y="2732481"/>
                  <a:ext cx="7879546" cy="671586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schemeClr val="tx1"/>
                      </a:solidFill>
                      <a:latin typeface="페이퍼로지 5 Medium" pitchFamily="2" charset="-127"/>
                      <a:ea typeface="페이퍼로지 5 Medium" pitchFamily="2" charset="-127"/>
                    </a:rPr>
                    <a:t>     분해된 </a:t>
                  </a:r>
                  <a:r>
                    <a:rPr lang="en-US" altLang="ko-KR" dirty="0">
                      <a:solidFill>
                        <a:schemeClr val="tx1"/>
                      </a:solidFill>
                      <a:latin typeface="페이퍼로지 5 Medium" pitchFamily="2" charset="-127"/>
                      <a:ea typeface="페이퍼로지 5 Medium" pitchFamily="2" charset="-127"/>
                    </a:rPr>
                    <a:t>JSON </a:t>
                  </a:r>
                  <a:r>
                    <a:rPr lang="ko-KR" altLang="en-US" dirty="0">
                      <a:solidFill>
                        <a:schemeClr val="tx1"/>
                      </a:solidFill>
                      <a:latin typeface="페이퍼로지 5 Medium" pitchFamily="2" charset="-127"/>
                      <a:ea typeface="페이퍼로지 5 Medium" pitchFamily="2" charset="-127"/>
                    </a:rPr>
                    <a:t>데이터 회신 </a:t>
                  </a:r>
                  <a:r>
                    <a:rPr lang="en-US" altLang="ko-KR" dirty="0">
                      <a:solidFill>
                        <a:schemeClr val="tx1"/>
                      </a:solidFill>
                      <a:latin typeface="페이퍼로지 5 Medium" pitchFamily="2" charset="-127"/>
                      <a:ea typeface="페이퍼로지 5 Medium" pitchFamily="2" charset="-127"/>
                      <a:sym typeface="Wingdings" panose="05000000000000000000" pitchFamily="2" charset="2"/>
                    </a:rPr>
                    <a:t> </a:t>
                  </a:r>
                  <a:r>
                    <a:rPr lang="ko-KR" altLang="en-US" dirty="0">
                      <a:solidFill>
                        <a:schemeClr val="tx1"/>
                      </a:solidFill>
                      <a:latin typeface="페이퍼로지 5 Medium" pitchFamily="2" charset="-127"/>
                      <a:ea typeface="페이퍼로지 5 Medium" pitchFamily="2" charset="-127"/>
                    </a:rPr>
                    <a:t>보이스피싱 발화 맥락 재구성</a:t>
                  </a:r>
                  <a:endParaRPr lang="ko-KR" altLang="en-US" dirty="0">
                    <a:solidFill>
                      <a:srgbClr val="E01F16"/>
                    </a:solidFill>
                    <a:latin typeface="페이퍼로지 5 Medium" pitchFamily="2" charset="-127"/>
                    <a:ea typeface="페이퍼로지 5 Medium" pitchFamily="2" charset="-127"/>
                  </a:endParaRPr>
                </a:p>
              </p:txBody>
            </p:sp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6B9BC815-86DD-44C6-93F3-1EE337B6A523}"/>
                    </a:ext>
                  </a:extLst>
                </p:cNvPr>
                <p:cNvGrpSpPr/>
                <p:nvPr/>
              </p:nvGrpSpPr>
              <p:grpSpPr>
                <a:xfrm>
                  <a:off x="2036719" y="2546529"/>
                  <a:ext cx="1031974" cy="1042927"/>
                  <a:chOff x="4735477" y="2308762"/>
                  <a:chExt cx="2865190" cy="2895600"/>
                </a:xfrm>
              </p:grpSpPr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E6F76ABB-CFEF-4697-B216-5C5710026FD7}"/>
                      </a:ext>
                    </a:extLst>
                  </p:cNvPr>
                  <p:cNvSpPr/>
                  <p:nvPr/>
                </p:nvSpPr>
                <p:spPr>
                  <a:xfrm>
                    <a:off x="4735478" y="2308762"/>
                    <a:ext cx="2865188" cy="286518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pic>
                <p:nvPicPr>
                  <p:cNvPr id="29" name="Picture 28">
                    <a:extLst>
                      <a:ext uri="{FF2B5EF4-FFF2-40B4-BE49-F238E27FC236}">
                        <a16:creationId xmlns:a16="http://schemas.microsoft.com/office/drawing/2014/main" id="{36342C8C-FC4F-4025-BF1C-7FB022715DE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-12564" r="-12389"/>
                  <a:stretch/>
                </p:blipFill>
                <p:spPr>
                  <a:xfrm>
                    <a:off x="4735477" y="2311121"/>
                    <a:ext cx="2865190" cy="2893241"/>
                  </a:xfrm>
                  <a:custGeom>
                    <a:avLst/>
                    <a:gdLst>
                      <a:gd name="connsiteX0" fmla="*/ 747486 w 1494972"/>
                      <a:gd name="connsiteY0" fmla="*/ 0 h 1494972"/>
                      <a:gd name="connsiteX1" fmla="*/ 1494972 w 1494972"/>
                      <a:gd name="connsiteY1" fmla="*/ 747486 h 1494972"/>
                      <a:gd name="connsiteX2" fmla="*/ 747486 w 1494972"/>
                      <a:gd name="connsiteY2" fmla="*/ 1494972 h 1494972"/>
                      <a:gd name="connsiteX3" fmla="*/ 0 w 1494972"/>
                      <a:gd name="connsiteY3" fmla="*/ 747486 h 1494972"/>
                      <a:gd name="connsiteX4" fmla="*/ 747486 w 1494972"/>
                      <a:gd name="connsiteY4" fmla="*/ 0 h 14949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494972" h="1494972">
                        <a:moveTo>
                          <a:pt x="747486" y="0"/>
                        </a:moveTo>
                        <a:cubicBezTo>
                          <a:pt x="1160311" y="0"/>
                          <a:pt x="1494972" y="334661"/>
                          <a:pt x="1494972" y="747486"/>
                        </a:cubicBezTo>
                        <a:cubicBezTo>
                          <a:pt x="1494972" y="1160311"/>
                          <a:pt x="1160311" y="1494972"/>
                          <a:pt x="747486" y="1494972"/>
                        </a:cubicBezTo>
                        <a:cubicBezTo>
                          <a:pt x="334661" y="1494972"/>
                          <a:pt x="0" y="1160311"/>
                          <a:pt x="0" y="747486"/>
                        </a:cubicBezTo>
                        <a:cubicBezTo>
                          <a:pt x="0" y="334661"/>
                          <a:pt x="334661" y="0"/>
                          <a:pt x="747486" y="0"/>
                        </a:cubicBezTo>
                        <a:close/>
                      </a:path>
                    </a:pathLst>
                  </a:custGeom>
                  <a:ln w="38100">
                    <a:solidFill>
                      <a:srgbClr val="FFC000"/>
                    </a:solidFill>
                  </a:ln>
                </p:spPr>
              </p:pic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E0C76751-07D3-421F-A73E-762743A69561}"/>
                      </a:ext>
                    </a:extLst>
                  </p:cNvPr>
                  <p:cNvSpPr/>
                  <p:nvPr/>
                </p:nvSpPr>
                <p:spPr>
                  <a:xfrm>
                    <a:off x="5348752" y="4690031"/>
                    <a:ext cx="1641356" cy="16366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3311B7EF-91F8-44D3-9728-9C7345D1EDAA}"/>
                  </a:ext>
                </a:extLst>
              </p:cNvPr>
              <p:cNvGrpSpPr/>
              <p:nvPr/>
            </p:nvGrpSpPr>
            <p:grpSpPr>
              <a:xfrm>
                <a:off x="1684627" y="1937330"/>
                <a:ext cx="8958362" cy="586861"/>
                <a:chOff x="1330199" y="3972634"/>
                <a:chExt cx="8958361" cy="586860"/>
              </a:xfrm>
            </p:grpSpPr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7F0DC2E1-4EA3-47C6-8A7F-EFA05813F283}"/>
                    </a:ext>
                  </a:extLst>
                </p:cNvPr>
                <p:cNvGrpSpPr/>
                <p:nvPr/>
              </p:nvGrpSpPr>
              <p:grpSpPr>
                <a:xfrm>
                  <a:off x="1330199" y="3972634"/>
                  <a:ext cx="2431883" cy="586860"/>
                  <a:chOff x="936372" y="3972634"/>
                  <a:chExt cx="2431883" cy="586860"/>
                </a:xfrm>
              </p:grpSpPr>
              <p:sp>
                <p:nvSpPr>
                  <p:cNvPr id="45" name="Rounded Rectangle 8">
                    <a:extLst>
                      <a:ext uri="{FF2B5EF4-FFF2-40B4-BE49-F238E27FC236}">
                        <a16:creationId xmlns:a16="http://schemas.microsoft.com/office/drawing/2014/main" id="{9BBFC2E9-A5EF-4495-BE16-83D16172A122}"/>
                      </a:ext>
                    </a:extLst>
                  </p:cNvPr>
                  <p:cNvSpPr/>
                  <p:nvPr/>
                </p:nvSpPr>
                <p:spPr>
                  <a:xfrm>
                    <a:off x="936372" y="3972634"/>
                    <a:ext cx="2431883" cy="586860"/>
                  </a:xfrm>
                  <a:prstGeom prst="roundRect">
                    <a:avLst/>
                  </a:prstGeom>
                  <a:solidFill>
                    <a:srgbClr val="FFFFFF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페이퍼로지 7 Bold" pitchFamily="2" charset="-127"/>
                      <a:ea typeface="페이퍼로지 7 Bold" pitchFamily="2" charset="-127"/>
                    </a:endParaRPr>
                  </a:p>
                </p:txBody>
              </p:sp>
              <p:sp>
                <p:nvSpPr>
                  <p:cNvPr id="46" name="Rounded Rectangle 9">
                    <a:extLst>
                      <a:ext uri="{FF2B5EF4-FFF2-40B4-BE49-F238E27FC236}">
                        <a16:creationId xmlns:a16="http://schemas.microsoft.com/office/drawing/2014/main" id="{62018189-D32C-47FC-9EEA-6E4EBC538F61}"/>
                      </a:ext>
                    </a:extLst>
                  </p:cNvPr>
                  <p:cNvSpPr/>
                  <p:nvPr/>
                </p:nvSpPr>
                <p:spPr>
                  <a:xfrm>
                    <a:off x="1057171" y="4148979"/>
                    <a:ext cx="758952" cy="234168"/>
                  </a:xfrm>
                  <a:prstGeom prst="roundRect">
                    <a:avLst/>
                  </a:prstGeom>
                  <a:solidFill>
                    <a:srgbClr val="2F69F5"/>
                  </a:solidFill>
                  <a:ln w="12700">
                    <a:solidFill>
                      <a:srgbClr val="2F69F5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페이퍼로지 7 Bold" pitchFamily="2" charset="-127"/>
                      <a:ea typeface="페이퍼로지 7 Bold" pitchFamily="2" charset="-127"/>
                    </a:endParaRPr>
                  </a:p>
                </p:txBody>
              </p:sp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DE01CBB0-EC64-4885-91A8-1D0D3A7D5F79}"/>
                      </a:ext>
                    </a:extLst>
                  </p:cNvPr>
                  <p:cNvSpPr txBox="1"/>
                  <p:nvPr/>
                </p:nvSpPr>
                <p:spPr>
                  <a:xfrm>
                    <a:off x="1218638" y="4214955"/>
                    <a:ext cx="436017" cy="10221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anchor="ctr">
                    <a:spAutoFit/>
                  </a:bodyPr>
                  <a:lstStyle/>
                  <a:p>
                    <a:pPr algn="ctr"/>
                    <a:r>
                      <a:rPr sz="830" b="1" dirty="0">
                        <a:solidFill>
                          <a:srgbClr val="FFFFFF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DETECT</a:t>
                    </a:r>
                  </a:p>
                </p:txBody>
              </p:sp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151B6707-2423-4444-A8ED-8D2B13720027}"/>
                      </a:ext>
                    </a:extLst>
                  </p:cNvPr>
                  <p:cNvSpPr txBox="1"/>
                  <p:nvPr/>
                </p:nvSpPr>
                <p:spPr>
                  <a:xfrm>
                    <a:off x="1970224" y="4135254"/>
                    <a:ext cx="1243930" cy="26161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anchor="ctr">
                    <a:spAutoFit/>
                  </a:bodyPr>
                  <a:lstStyle/>
                  <a:p>
                    <a:pPr algn="l"/>
                    <a:r>
                      <a:rPr lang="ko-KR" altLang="en-US" sz="1700" b="1" dirty="0">
                        <a:solidFill>
                          <a:srgbClr val="2F69F5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온디바이스</a:t>
                    </a:r>
                    <a:r>
                      <a:rPr sz="1700" b="1" dirty="0">
                        <a:solidFill>
                          <a:srgbClr val="2F69F5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 AI</a:t>
                    </a:r>
                  </a:p>
                </p:txBody>
              </p:sp>
            </p:grpSp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ED76A980-0C01-4716-B6D7-A0E579803324}"/>
                    </a:ext>
                  </a:extLst>
                </p:cNvPr>
                <p:cNvGrpSpPr/>
                <p:nvPr/>
              </p:nvGrpSpPr>
              <p:grpSpPr>
                <a:xfrm>
                  <a:off x="4593438" y="3972634"/>
                  <a:ext cx="2431884" cy="586860"/>
                  <a:chOff x="4813384" y="3972634"/>
                  <a:chExt cx="2431884" cy="586860"/>
                </a:xfrm>
              </p:grpSpPr>
              <p:sp>
                <p:nvSpPr>
                  <p:cNvPr id="41" name="Rounded Rectangle 18">
                    <a:extLst>
                      <a:ext uri="{FF2B5EF4-FFF2-40B4-BE49-F238E27FC236}">
                        <a16:creationId xmlns:a16="http://schemas.microsoft.com/office/drawing/2014/main" id="{49E8DCA0-CC2F-46B5-91D4-C8CBCA1D472C}"/>
                      </a:ext>
                    </a:extLst>
                  </p:cNvPr>
                  <p:cNvSpPr/>
                  <p:nvPr/>
                </p:nvSpPr>
                <p:spPr>
                  <a:xfrm>
                    <a:off x="4813384" y="3972634"/>
                    <a:ext cx="2431884" cy="586860"/>
                  </a:xfrm>
                  <a:prstGeom prst="roundRect">
                    <a:avLst/>
                  </a:prstGeom>
                  <a:solidFill>
                    <a:srgbClr val="FFFFFF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페이퍼로지 7 Bold" pitchFamily="2" charset="-127"/>
                      <a:ea typeface="페이퍼로지 7 Bold" pitchFamily="2" charset="-127"/>
                    </a:endParaRPr>
                  </a:p>
                </p:txBody>
              </p:sp>
              <p:sp>
                <p:nvSpPr>
                  <p:cNvPr id="42" name="Rounded Rectangle 19">
                    <a:extLst>
                      <a:ext uri="{FF2B5EF4-FFF2-40B4-BE49-F238E27FC236}">
                        <a16:creationId xmlns:a16="http://schemas.microsoft.com/office/drawing/2014/main" id="{49750884-DEEF-4B67-8287-6C3E6015A0E6}"/>
                      </a:ext>
                    </a:extLst>
                  </p:cNvPr>
                  <p:cNvSpPr/>
                  <p:nvPr/>
                </p:nvSpPr>
                <p:spPr>
                  <a:xfrm>
                    <a:off x="5211705" y="4148979"/>
                    <a:ext cx="758952" cy="234168"/>
                  </a:xfrm>
                  <a:prstGeom prst="roundRect">
                    <a:avLst/>
                  </a:prstGeom>
                  <a:solidFill>
                    <a:srgbClr val="7052BE"/>
                  </a:solidFill>
                  <a:ln w="12700">
                    <a:solidFill>
                      <a:srgbClr val="7052BE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페이퍼로지 7 Bold" pitchFamily="2" charset="-127"/>
                      <a:ea typeface="페이퍼로지 7 Bold" pitchFamily="2" charset="-127"/>
                    </a:endParaRPr>
                  </a:p>
                </p:txBody>
              </p:sp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A7D1835D-E103-4CE6-B8CF-FDB669B827A6}"/>
                      </a:ext>
                    </a:extLst>
                  </p:cNvPr>
                  <p:cNvSpPr txBox="1"/>
                  <p:nvPr/>
                </p:nvSpPr>
                <p:spPr>
                  <a:xfrm>
                    <a:off x="5398820" y="4214955"/>
                    <a:ext cx="384721" cy="10221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anchor="ctr">
                    <a:spAutoFit/>
                  </a:bodyPr>
                  <a:lstStyle/>
                  <a:p>
                    <a:pPr algn="ctr"/>
                    <a:r>
                      <a:rPr sz="830" b="1" dirty="0">
                        <a:solidFill>
                          <a:srgbClr val="FFFFFF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SHARE</a:t>
                    </a:r>
                  </a:p>
                </p:txBody>
              </p:sp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C0E81332-7BB7-44B5-A5A3-B729BD0875F0}"/>
                      </a:ext>
                    </a:extLst>
                  </p:cNvPr>
                  <p:cNvSpPr txBox="1"/>
                  <p:nvPr/>
                </p:nvSpPr>
                <p:spPr>
                  <a:xfrm>
                    <a:off x="6174678" y="4161384"/>
                    <a:ext cx="629981" cy="20936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anchor="ctr">
                    <a:spAutoFit/>
                  </a:bodyPr>
                  <a:lstStyle/>
                  <a:p>
                    <a:pPr algn="l"/>
                    <a:r>
                      <a:rPr sz="1700" b="1">
                        <a:solidFill>
                          <a:srgbClr val="7052BE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ASAP</a:t>
                    </a:r>
                  </a:p>
                </p:txBody>
              </p:sp>
            </p:grpSp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id="{20DB9C30-9974-46D6-8636-A316BB2E816E}"/>
                    </a:ext>
                  </a:extLst>
                </p:cNvPr>
                <p:cNvGrpSpPr/>
                <p:nvPr/>
              </p:nvGrpSpPr>
              <p:grpSpPr>
                <a:xfrm>
                  <a:off x="7856676" y="3972634"/>
                  <a:ext cx="2431884" cy="586860"/>
                  <a:chOff x="8690395" y="3972634"/>
                  <a:chExt cx="2431884" cy="586860"/>
                </a:xfrm>
              </p:grpSpPr>
              <p:sp>
                <p:nvSpPr>
                  <p:cNvPr id="37" name="Rounded Rectangle 28">
                    <a:extLst>
                      <a:ext uri="{FF2B5EF4-FFF2-40B4-BE49-F238E27FC236}">
                        <a16:creationId xmlns:a16="http://schemas.microsoft.com/office/drawing/2014/main" id="{DCCD0BA1-8140-4D8C-B764-3E6905559FAB}"/>
                      </a:ext>
                    </a:extLst>
                  </p:cNvPr>
                  <p:cNvSpPr/>
                  <p:nvPr/>
                </p:nvSpPr>
                <p:spPr>
                  <a:xfrm>
                    <a:off x="8690395" y="3972634"/>
                    <a:ext cx="2431884" cy="586860"/>
                  </a:xfrm>
                  <a:prstGeom prst="roundRect">
                    <a:avLst/>
                  </a:prstGeom>
                  <a:solidFill>
                    <a:srgbClr val="FFFFFF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dirty="0">
                      <a:latin typeface="페이퍼로지 7 Bold" pitchFamily="2" charset="-127"/>
                      <a:ea typeface="페이퍼로지 7 Bold" pitchFamily="2" charset="-127"/>
                    </a:endParaRPr>
                  </a:p>
                </p:txBody>
              </p:sp>
              <p:sp>
                <p:nvSpPr>
                  <p:cNvPr id="38" name="Rounded Rectangle 29">
                    <a:extLst>
                      <a:ext uri="{FF2B5EF4-FFF2-40B4-BE49-F238E27FC236}">
                        <a16:creationId xmlns:a16="http://schemas.microsoft.com/office/drawing/2014/main" id="{E4BE5A4A-063B-43ED-831A-25ECB7F097CE}"/>
                      </a:ext>
                    </a:extLst>
                  </p:cNvPr>
                  <p:cNvSpPr/>
                  <p:nvPr/>
                </p:nvSpPr>
                <p:spPr>
                  <a:xfrm>
                    <a:off x="9194820" y="4148979"/>
                    <a:ext cx="758952" cy="234168"/>
                  </a:xfrm>
                  <a:prstGeom prst="roundRect">
                    <a:avLst/>
                  </a:prstGeom>
                  <a:solidFill>
                    <a:srgbClr val="EF4646"/>
                  </a:solidFill>
                  <a:ln w="12700">
                    <a:solidFill>
                      <a:srgbClr val="EF4646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페이퍼로지 7 Bold" pitchFamily="2" charset="-127"/>
                      <a:ea typeface="페이퍼로지 7 Bold" pitchFamily="2" charset="-127"/>
                    </a:endParaRPr>
                  </a:p>
                </p:txBody>
              </p:sp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69B8FECC-04E8-4E5F-8963-F2F0A43F5BDD}"/>
                      </a:ext>
                    </a:extLst>
                  </p:cNvPr>
                  <p:cNvSpPr txBox="1"/>
                  <p:nvPr/>
                </p:nvSpPr>
                <p:spPr>
                  <a:xfrm>
                    <a:off x="9312206" y="4214955"/>
                    <a:ext cx="524180" cy="10221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anchor="ctr">
                    <a:spAutoFit/>
                  </a:bodyPr>
                  <a:lstStyle/>
                  <a:p>
                    <a:pPr algn="ctr"/>
                    <a:r>
                      <a:rPr sz="830" b="1" dirty="0">
                        <a:solidFill>
                          <a:srgbClr val="FFFFFF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PROTECT</a:t>
                    </a:r>
                  </a:p>
                </p:txBody>
              </p:sp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920B7695-0E05-47CF-A54F-C6E1169B52A6}"/>
                      </a:ext>
                    </a:extLst>
                  </p:cNvPr>
                  <p:cNvSpPr txBox="1"/>
                  <p:nvPr/>
                </p:nvSpPr>
                <p:spPr>
                  <a:xfrm>
                    <a:off x="10157793" y="4161384"/>
                    <a:ext cx="460061" cy="20936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anchor="ctr">
                    <a:spAutoFit/>
                  </a:bodyPr>
                  <a:lstStyle/>
                  <a:p>
                    <a:pPr algn="l"/>
                    <a:r>
                      <a:rPr sz="1700" b="1" dirty="0">
                        <a:solidFill>
                          <a:srgbClr val="EF4646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FDS</a:t>
                    </a:r>
                  </a:p>
                </p:txBody>
              </p:sp>
            </p:grpSp>
            <p:sp>
              <p:nvSpPr>
                <p:cNvPr id="35" name="Arrow: Left-Right 34">
                  <a:extLst>
                    <a:ext uri="{FF2B5EF4-FFF2-40B4-BE49-F238E27FC236}">
                      <a16:creationId xmlns:a16="http://schemas.microsoft.com/office/drawing/2014/main" id="{85C8CAC7-C571-4E31-A5A0-10E774F80697}"/>
                    </a:ext>
                  </a:extLst>
                </p:cNvPr>
                <p:cNvSpPr/>
                <p:nvPr/>
              </p:nvSpPr>
              <p:spPr>
                <a:xfrm>
                  <a:off x="3922222" y="4073316"/>
                  <a:ext cx="511079" cy="385486"/>
                </a:xfrm>
                <a:prstGeom prst="leftRightArrow">
                  <a:avLst>
                    <a:gd name="adj1" fmla="val 36046"/>
                    <a:gd name="adj2" fmla="val 36047"/>
                  </a:avLst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" name="Arrow: Left-Right 35">
                  <a:extLst>
                    <a:ext uri="{FF2B5EF4-FFF2-40B4-BE49-F238E27FC236}">
                      <a16:creationId xmlns:a16="http://schemas.microsoft.com/office/drawing/2014/main" id="{A31B91F8-53E8-416D-8EC7-C8AE3CD33B59}"/>
                    </a:ext>
                  </a:extLst>
                </p:cNvPr>
                <p:cNvSpPr/>
                <p:nvPr/>
              </p:nvSpPr>
              <p:spPr>
                <a:xfrm>
                  <a:off x="7185460" y="4073320"/>
                  <a:ext cx="511079" cy="385486"/>
                </a:xfrm>
                <a:prstGeom prst="leftRightArrow">
                  <a:avLst>
                    <a:gd name="adj1" fmla="val 36046"/>
                    <a:gd name="adj2" fmla="val 36047"/>
                  </a:avLst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8A6B341-37B3-4AA4-A99B-4CFC50060206}"/>
                </a:ext>
              </a:extLst>
            </p:cNvPr>
            <p:cNvSpPr txBox="1"/>
            <p:nvPr/>
          </p:nvSpPr>
          <p:spPr>
            <a:xfrm>
              <a:off x="589667" y="1957439"/>
              <a:ext cx="959203" cy="553999"/>
            </a:xfrm>
            <a:prstGeom prst="rect">
              <a:avLst/>
            </a:prstGeom>
            <a:solidFill>
              <a:srgbClr val="0056FB"/>
            </a:solidFill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현행</a:t>
              </a:r>
              <a:endParaRPr lang="en-US" altLang="ko-KR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endParaRPr>
            </a:p>
            <a:p>
              <a:pPr algn="ctr"/>
              <a:r>
                <a:rPr lang="ko-KR" altLang="en-US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탐지 체계</a:t>
              </a:r>
              <a:endParaRPr lang="en-US" altLang="ko-KR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F0AEBEE-8A22-4346-9C33-2ACD5597D1EE}"/>
                </a:ext>
              </a:extLst>
            </p:cNvPr>
            <p:cNvSpPr txBox="1"/>
            <p:nvPr/>
          </p:nvSpPr>
          <p:spPr>
            <a:xfrm>
              <a:off x="589667" y="2924505"/>
              <a:ext cx="959203" cy="553999"/>
            </a:xfrm>
            <a:prstGeom prst="rect">
              <a:avLst/>
            </a:prstGeom>
            <a:solidFill>
              <a:srgbClr val="0056FB"/>
            </a:solidFill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제안</a:t>
              </a:r>
              <a:endParaRPr lang="en-US" altLang="ko-KR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endParaRPr>
            </a:p>
            <a:p>
              <a:pPr algn="ctr"/>
              <a:r>
                <a:rPr lang="ko-KR" altLang="en-US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대응 체계 </a:t>
              </a:r>
              <a:endParaRPr lang="en-US" altLang="ko-KR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1935332D-BE1B-495A-989B-91CDD5282A4B}"/>
              </a:ext>
            </a:extLst>
          </p:cNvPr>
          <p:cNvSpPr txBox="1"/>
          <p:nvPr/>
        </p:nvSpPr>
        <p:spPr>
          <a:xfrm>
            <a:off x="5445205" y="324938"/>
            <a:ext cx="1301638" cy="154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75" b="1">
                <a:solidFill>
                  <a:srgbClr val="2F66E8"/>
                </a:solidFill>
              </a:defRPr>
            </a:pPr>
            <a:r>
              <a:rPr lang="ko-KR" altLang="en-US" sz="105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실제 상용화 시 적용 영역</a:t>
            </a:r>
            <a:endParaRPr lang="en-US" altLang="ko-KR" sz="1050" u="none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DBACC6A-F3BB-48CC-A5C5-A7EFBCB289A7}"/>
              </a:ext>
            </a:extLst>
          </p:cNvPr>
          <p:cNvSpPr txBox="1"/>
          <p:nvPr/>
        </p:nvSpPr>
        <p:spPr>
          <a:xfrm>
            <a:off x="152422" y="680499"/>
            <a:ext cx="11887178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현행 체계</a:t>
            </a:r>
            <a:r>
              <a:rPr lang="en-US" altLang="ko-KR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(ASAP, FDS)</a:t>
            </a:r>
            <a:r>
              <a:rPr lang="ko-KR" altLang="en-US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와 별개 체계로 개발</a:t>
            </a:r>
            <a:r>
              <a:rPr lang="en-US" altLang="ko-KR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및 운영하는 방식으로 개발</a:t>
            </a:r>
            <a:endParaRPr lang="en-US" altLang="ko-KR" b="1" dirty="0">
              <a:solidFill>
                <a:srgbClr val="FFC000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ctr"/>
            <a:r>
              <a:rPr lang="ko-KR" altLang="en-US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개발한 모듈을 온디바이스 </a:t>
            </a:r>
            <a:r>
              <a:rPr lang="en-US" altLang="ko-KR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AI </a:t>
            </a:r>
            <a:r>
              <a:rPr lang="ko-KR" altLang="en-US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업체</a:t>
            </a:r>
            <a:r>
              <a:rPr lang="en-US" altLang="ko-KR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ko-KR" altLang="en-US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통신사</a:t>
            </a:r>
            <a:r>
              <a:rPr lang="en-US" altLang="ko-KR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이동통신기기 제조사 등</a:t>
            </a:r>
            <a:r>
              <a:rPr lang="en-US" altLang="ko-KR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)</a:t>
            </a:r>
            <a:r>
              <a:rPr lang="ko-KR" altLang="en-US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에게 제공하거나</a:t>
            </a:r>
            <a:endParaRPr lang="en-US" altLang="ko-KR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/>
            <a:r>
              <a:rPr lang="ko-KR" altLang="en-US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온디바이스 </a:t>
            </a:r>
            <a:r>
              <a:rPr lang="en-US" altLang="ko-KR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AI </a:t>
            </a:r>
            <a:r>
              <a:rPr lang="ko-KR" altLang="en-US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업체로부터 스키마 구조에 맞게 </a:t>
            </a:r>
            <a:r>
              <a:rPr lang="en-US" altLang="ko-KR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JSON</a:t>
            </a:r>
            <a:r>
              <a:rPr lang="ko-KR" altLang="en-US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 데이터 회신 요청</a:t>
            </a:r>
            <a:endParaRPr lang="en-US" altLang="ko-KR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EC6DE6C-E238-4176-85AD-7056C515512F}"/>
              </a:ext>
            </a:extLst>
          </p:cNvPr>
          <p:cNvSpPr txBox="1"/>
          <p:nvPr/>
        </p:nvSpPr>
        <p:spPr>
          <a:xfrm>
            <a:off x="5592685" y="4101223"/>
            <a:ext cx="1006686" cy="154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75" b="1">
                <a:solidFill>
                  <a:srgbClr val="2F66E8"/>
                </a:solidFill>
              </a:defRPr>
            </a:pPr>
            <a:r>
              <a:rPr lang="ko-KR" altLang="en-US" sz="1050" dirty="0">
                <a:latin typeface="페이퍼로지 7 Bold" pitchFamily="2" charset="-127"/>
                <a:ea typeface="페이퍼로지 7 Bold" pitchFamily="2" charset="-127"/>
                <a:cs typeface="Arial"/>
              </a:rPr>
              <a:t>프로젝트 구현 범위</a:t>
            </a:r>
            <a:endParaRPr lang="en-US" altLang="ko-KR" sz="1050" u="none" dirty="0"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DFE69EB-129B-458D-B048-479D48C52BC4}"/>
              </a:ext>
            </a:extLst>
          </p:cNvPr>
          <p:cNvSpPr txBox="1"/>
          <p:nvPr/>
        </p:nvSpPr>
        <p:spPr>
          <a:xfrm>
            <a:off x="152422" y="4403347"/>
            <a:ext cx="1188717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b="1" dirty="0">
                <a:latin typeface="페이퍼로지 7 Bold" pitchFamily="2" charset="-127"/>
                <a:ea typeface="페이퍼로지 7 Bold" pitchFamily="2" charset="-127"/>
              </a:rPr>
              <a:t>보이스피싱 판정부터 </a:t>
            </a:r>
            <a:r>
              <a:rPr lang="en-US" altLang="ko-KR" b="1" dirty="0">
                <a:latin typeface="페이퍼로지 7 Bold" pitchFamily="2" charset="-127"/>
                <a:ea typeface="페이퍼로지 7 Bold" pitchFamily="2" charset="-127"/>
              </a:rPr>
              <a:t>~ </a:t>
            </a:r>
            <a:r>
              <a:rPr lang="ko-KR" altLang="en-US" b="1" dirty="0">
                <a:latin typeface="페이퍼로지 7 Bold" pitchFamily="2" charset="-127"/>
                <a:ea typeface="페이퍼로지 7 Bold" pitchFamily="2" charset="-127"/>
              </a:rPr>
              <a:t>대응 </a:t>
            </a:r>
            <a:r>
              <a:rPr lang="en-US" altLang="ko-KR" b="1" dirty="0">
                <a:latin typeface="페이퍼로지 7 Bold" pitchFamily="2" charset="-127"/>
                <a:ea typeface="페이퍼로지 7 Bold" pitchFamily="2" charset="-127"/>
              </a:rPr>
              <a:t>AI </a:t>
            </a:r>
            <a:r>
              <a:rPr lang="ko-KR" altLang="en-US" b="1" dirty="0">
                <a:latin typeface="페이퍼로지 7 Bold" pitchFamily="2" charset="-127"/>
                <a:ea typeface="페이퍼로지 7 Bold" pitchFamily="2" charset="-127"/>
              </a:rPr>
              <a:t>워크스페이스 및 고객 챗봇 구현</a:t>
            </a:r>
            <a:endParaRPr lang="en-US" altLang="ko-KR" b="1" dirty="0">
              <a:latin typeface="페이퍼로지 7 Bold" pitchFamily="2" charset="-127"/>
              <a:ea typeface="페이퍼로지 7 Bold" pitchFamily="2" charset="-127"/>
            </a:endParaRP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1C264771-C5E4-4198-8E70-B28DBFAD035B}"/>
              </a:ext>
            </a:extLst>
          </p:cNvPr>
          <p:cNvGrpSpPr/>
          <p:nvPr/>
        </p:nvGrpSpPr>
        <p:grpSpPr>
          <a:xfrm>
            <a:off x="1023439" y="4879632"/>
            <a:ext cx="10049906" cy="1668002"/>
            <a:chOff x="465559" y="4844985"/>
            <a:chExt cx="10049906" cy="1668002"/>
          </a:xfrm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12CC9ADE-16E9-4AFC-A6AC-9EBC4494575F}"/>
                </a:ext>
              </a:extLst>
            </p:cNvPr>
            <p:cNvGrpSpPr/>
            <p:nvPr/>
          </p:nvGrpSpPr>
          <p:grpSpPr>
            <a:xfrm>
              <a:off x="1676535" y="4844985"/>
              <a:ext cx="8838930" cy="868648"/>
              <a:chOff x="672156" y="4957803"/>
              <a:chExt cx="8838930" cy="1265162"/>
            </a:xfrm>
          </p:grpSpPr>
          <p:sp>
            <p:nvSpPr>
              <p:cNvPr id="102" name="Rounded Rectangle 8">
                <a:extLst>
                  <a:ext uri="{FF2B5EF4-FFF2-40B4-BE49-F238E27FC236}">
                    <a16:creationId xmlns:a16="http://schemas.microsoft.com/office/drawing/2014/main" id="{FDAA0621-3EFF-44F2-9993-82609F196D98}"/>
                  </a:ext>
                </a:extLst>
              </p:cNvPr>
              <p:cNvSpPr/>
              <p:nvPr/>
            </p:nvSpPr>
            <p:spPr>
              <a:xfrm>
                <a:off x="672156" y="4957803"/>
                <a:ext cx="1954503" cy="1265162"/>
              </a:xfrm>
              <a:prstGeom prst="roundRect">
                <a:avLst/>
              </a:prstGeom>
              <a:solidFill>
                <a:srgbClr val="0056FB"/>
              </a:solidFill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kern="1200" dirty="0">
                    <a:solidFill>
                      <a:schemeClr val="bg1"/>
                    </a:solidFill>
                    <a:effectLst/>
                    <a:latin typeface="페이퍼로지 5 Medium" pitchFamily="2" charset="-127"/>
                    <a:ea typeface="페이퍼로지 5 Medium" pitchFamily="2" charset="-127"/>
                    <a:cs typeface="+mn-cs"/>
                  </a:rPr>
                  <a:t>보이스피싱 여부</a:t>
                </a:r>
                <a:endParaRPr lang="en-US" altLang="ko-KR" sz="1600" b="1" kern="1200" dirty="0">
                  <a:solidFill>
                    <a:schemeClr val="bg1"/>
                  </a:solidFill>
                  <a:effectLst/>
                  <a:latin typeface="페이퍼로지 5 Medium" pitchFamily="2" charset="-127"/>
                  <a:ea typeface="페이퍼로지 5 Medium" pitchFamily="2" charset="-127"/>
                  <a:cs typeface="+mn-cs"/>
                </a:endParaRPr>
              </a:p>
              <a:p>
                <a:pPr algn="ctr"/>
                <a:r>
                  <a:rPr lang="ko-KR" altLang="en-US" sz="1600" b="1" kern="1200" dirty="0">
                    <a:solidFill>
                      <a:schemeClr val="bg1"/>
                    </a:solidFill>
                    <a:effectLst/>
                    <a:latin typeface="페이퍼로지 5 Medium" pitchFamily="2" charset="-127"/>
                    <a:ea typeface="페이퍼로지 5 Medium" pitchFamily="2" charset="-127"/>
                    <a:cs typeface="+mn-cs"/>
                  </a:rPr>
                  <a:t>판정 </a:t>
                </a:r>
                <a:r>
                  <a:rPr lang="en-US" altLang="ko-KR" sz="1600" b="1" kern="1200" dirty="0">
                    <a:solidFill>
                      <a:schemeClr val="bg1"/>
                    </a:solidFill>
                    <a:effectLst/>
                    <a:latin typeface="페이퍼로지 5 Medium" pitchFamily="2" charset="-127"/>
                    <a:ea typeface="페이퍼로지 5 Medium" pitchFamily="2" charset="-127"/>
                    <a:cs typeface="+mn-cs"/>
                  </a:rPr>
                  <a:t>ML</a:t>
                </a:r>
              </a:p>
            </p:txBody>
          </p:sp>
          <p:sp>
            <p:nvSpPr>
              <p:cNvPr id="107" name="Rounded Rectangle 8">
                <a:extLst>
                  <a:ext uri="{FF2B5EF4-FFF2-40B4-BE49-F238E27FC236}">
                    <a16:creationId xmlns:a16="http://schemas.microsoft.com/office/drawing/2014/main" id="{D72A412D-C321-4537-B5FF-9770504FFA01}"/>
                  </a:ext>
                </a:extLst>
              </p:cNvPr>
              <p:cNvSpPr/>
              <p:nvPr/>
            </p:nvSpPr>
            <p:spPr>
              <a:xfrm>
                <a:off x="2966965" y="4957803"/>
                <a:ext cx="1954503" cy="1265162"/>
              </a:xfrm>
              <a:prstGeom prst="roundRect">
                <a:avLst/>
              </a:prstGeom>
              <a:solidFill>
                <a:srgbClr val="0056FB"/>
              </a:solidFill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통화 내용 분석</a:t>
                </a:r>
                <a:endParaRPr lang="en-US" altLang="ko-KR" sz="16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  <a:p>
                <a:pPr algn="ctr"/>
                <a:r>
                  <a:rPr lang="ko-KR" altLang="en-US" sz="16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및 재구성 </a:t>
                </a:r>
                <a:r>
                  <a:rPr lang="en-US" altLang="ko-KR" sz="16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LLM</a:t>
                </a:r>
              </a:p>
            </p:txBody>
          </p:sp>
          <p:sp>
            <p:nvSpPr>
              <p:cNvPr id="108" name="Rounded Rectangle 8">
                <a:extLst>
                  <a:ext uri="{FF2B5EF4-FFF2-40B4-BE49-F238E27FC236}">
                    <a16:creationId xmlns:a16="http://schemas.microsoft.com/office/drawing/2014/main" id="{FBA92BD1-288E-4F2D-9DC4-DA1F12BA5EC8}"/>
                  </a:ext>
                </a:extLst>
              </p:cNvPr>
              <p:cNvSpPr/>
              <p:nvPr/>
            </p:nvSpPr>
            <p:spPr>
              <a:xfrm>
                <a:off x="5261774" y="4957803"/>
                <a:ext cx="1954503" cy="1265162"/>
              </a:xfrm>
              <a:prstGeom prst="roundRect">
                <a:avLst/>
              </a:prstGeom>
              <a:solidFill>
                <a:srgbClr val="0056FB"/>
              </a:solidFill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kern="1200" dirty="0">
                    <a:solidFill>
                      <a:schemeClr val="bg1"/>
                    </a:solidFill>
                    <a:effectLst/>
                    <a:latin typeface="페이퍼로지 5 Medium" pitchFamily="2" charset="-127"/>
                    <a:ea typeface="페이퍼로지 5 Medium" pitchFamily="2" charset="-127"/>
                    <a:cs typeface="+mn-cs"/>
                  </a:rPr>
                  <a:t>은행 담당자용</a:t>
                </a:r>
                <a:endParaRPr lang="en-US" altLang="ko-KR" sz="1600" b="1" kern="1200" dirty="0">
                  <a:solidFill>
                    <a:schemeClr val="bg1"/>
                  </a:solidFill>
                  <a:effectLst/>
                  <a:latin typeface="페이퍼로지 5 Medium" pitchFamily="2" charset="-127"/>
                  <a:ea typeface="페이퍼로지 5 Medium" pitchFamily="2" charset="-127"/>
                  <a:cs typeface="+mn-cs"/>
                </a:endParaRPr>
              </a:p>
              <a:p>
                <a:pPr algn="ctr"/>
                <a:r>
                  <a:rPr lang="en-US" altLang="ko-KR" sz="1600" b="1" kern="1200" dirty="0">
                    <a:solidFill>
                      <a:schemeClr val="bg1"/>
                    </a:solidFill>
                    <a:effectLst/>
                    <a:latin typeface="페이퍼로지 5 Medium" pitchFamily="2" charset="-127"/>
                    <a:ea typeface="페이퍼로지 5 Medium" pitchFamily="2" charset="-127"/>
                    <a:cs typeface="+mn-cs"/>
                  </a:rPr>
                  <a:t>AI </a:t>
                </a:r>
                <a:r>
                  <a:rPr lang="ko-KR" altLang="en-US" sz="1600" b="1" kern="1200" dirty="0">
                    <a:solidFill>
                      <a:schemeClr val="bg1"/>
                    </a:solidFill>
                    <a:effectLst/>
                    <a:latin typeface="페이퍼로지 5 Medium" pitchFamily="2" charset="-127"/>
                    <a:ea typeface="페이퍼로지 5 Medium" pitchFamily="2" charset="-127"/>
                    <a:cs typeface="+mn-cs"/>
                  </a:rPr>
                  <a:t>워크스페이스</a:t>
                </a:r>
                <a:endParaRPr lang="en-US" altLang="ko-KR" sz="1600" b="1" kern="1200" dirty="0">
                  <a:solidFill>
                    <a:schemeClr val="bg1"/>
                  </a:solidFill>
                  <a:effectLst/>
                  <a:latin typeface="페이퍼로지 5 Medium" pitchFamily="2" charset="-127"/>
                  <a:ea typeface="페이퍼로지 5 Medium" pitchFamily="2" charset="-127"/>
                  <a:cs typeface="+mn-cs"/>
                </a:endParaRPr>
              </a:p>
              <a:p>
                <a:pPr algn="ctr"/>
                <a:r>
                  <a:rPr lang="en-US" altLang="ko-KR" sz="1600" b="1" kern="1200" dirty="0">
                    <a:solidFill>
                      <a:schemeClr val="bg1"/>
                    </a:solidFill>
                    <a:effectLst/>
                    <a:latin typeface="페이퍼로지 5 Medium" pitchFamily="2" charset="-127"/>
                    <a:ea typeface="페이퍼로지 5 Medium" pitchFamily="2" charset="-127"/>
                    <a:cs typeface="+mn-cs"/>
                  </a:rPr>
                  <a:t>+ AI</a:t>
                </a:r>
                <a:r>
                  <a:rPr lang="ko-KR" altLang="en-US" sz="1600" b="1" kern="1200" dirty="0">
                    <a:solidFill>
                      <a:schemeClr val="bg1"/>
                    </a:solidFill>
                    <a:effectLst/>
                    <a:latin typeface="페이퍼로지 5 Medium" pitchFamily="2" charset="-127"/>
                    <a:ea typeface="페이퍼로지 5 Medium" pitchFamily="2" charset="-127"/>
                    <a:cs typeface="+mn-cs"/>
                  </a:rPr>
                  <a:t>챗봇</a:t>
                </a:r>
                <a:endParaRPr lang="en-US" altLang="ko-KR" sz="1600" b="1" kern="1200" dirty="0">
                  <a:solidFill>
                    <a:schemeClr val="bg1"/>
                  </a:solidFill>
                  <a:effectLst/>
                  <a:latin typeface="페이퍼로지 5 Medium" pitchFamily="2" charset="-127"/>
                  <a:ea typeface="페이퍼로지 5 Medium" pitchFamily="2" charset="-127"/>
                  <a:cs typeface="+mn-cs"/>
                </a:endParaRPr>
              </a:p>
            </p:txBody>
          </p:sp>
          <p:sp>
            <p:nvSpPr>
              <p:cNvPr id="109" name="Rounded Rectangle 8">
                <a:extLst>
                  <a:ext uri="{FF2B5EF4-FFF2-40B4-BE49-F238E27FC236}">
                    <a16:creationId xmlns:a16="http://schemas.microsoft.com/office/drawing/2014/main" id="{3E94CCA9-8CDF-4B53-828A-10155DF42564}"/>
                  </a:ext>
                </a:extLst>
              </p:cNvPr>
              <p:cNvSpPr/>
              <p:nvPr/>
            </p:nvSpPr>
            <p:spPr>
              <a:xfrm>
                <a:off x="7556583" y="4957803"/>
                <a:ext cx="1954503" cy="1265162"/>
              </a:xfrm>
              <a:prstGeom prst="roundRect">
                <a:avLst/>
              </a:prstGeom>
              <a:solidFill>
                <a:srgbClr val="0056FB"/>
              </a:solidFill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kern="1200" dirty="0">
                    <a:solidFill>
                      <a:schemeClr val="bg1"/>
                    </a:solidFill>
                    <a:effectLst/>
                    <a:latin typeface="페이퍼로지 5 Medium" pitchFamily="2" charset="-127"/>
                    <a:ea typeface="페이퍼로지 5 Medium" pitchFamily="2" charset="-127"/>
                    <a:cs typeface="+mn-cs"/>
                  </a:rPr>
                  <a:t>고객용 챗봇 </a:t>
                </a:r>
                <a:r>
                  <a:rPr lang="en-US" altLang="ko-KR" sz="1600" b="1" kern="1200" dirty="0">
                    <a:solidFill>
                      <a:schemeClr val="bg1"/>
                    </a:solidFill>
                    <a:effectLst/>
                    <a:latin typeface="페이퍼로지 5 Medium" pitchFamily="2" charset="-127"/>
                    <a:ea typeface="페이퍼로지 5 Medium" pitchFamily="2" charset="-127"/>
                    <a:cs typeface="+mn-cs"/>
                  </a:rPr>
                  <a:t>AI</a:t>
                </a:r>
              </a:p>
            </p:txBody>
          </p: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5232212-A662-40EC-B73B-C5CE08EC3FBB}"/>
                </a:ext>
              </a:extLst>
            </p:cNvPr>
            <p:cNvSpPr txBox="1"/>
            <p:nvPr/>
          </p:nvSpPr>
          <p:spPr>
            <a:xfrm>
              <a:off x="465559" y="5092602"/>
              <a:ext cx="959202" cy="369332"/>
            </a:xfrm>
            <a:prstGeom prst="rect">
              <a:avLst/>
            </a:prstGeom>
            <a:solidFill>
              <a:srgbClr val="0056FB"/>
            </a:solidFill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ko-KR" altLang="en-US" sz="1200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구현</a:t>
              </a:r>
              <a:endParaRPr lang="en-US" altLang="ko-KR" sz="1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endParaRPr>
            </a:p>
            <a:p>
              <a:pPr algn="ctr"/>
              <a:r>
                <a:rPr lang="ko-KR" altLang="en-US" sz="1200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사항</a:t>
              </a:r>
              <a:endParaRPr lang="en-US" altLang="ko-KR" sz="1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43022A6-492C-4987-B10B-A7742378C022}"/>
                </a:ext>
              </a:extLst>
            </p:cNvPr>
            <p:cNvSpPr txBox="1"/>
            <p:nvPr/>
          </p:nvSpPr>
          <p:spPr>
            <a:xfrm>
              <a:off x="465559" y="6066230"/>
              <a:ext cx="959202" cy="369332"/>
            </a:xfrm>
            <a:prstGeom prst="rect">
              <a:avLst/>
            </a:prstGeom>
            <a:solidFill>
              <a:srgbClr val="0056FB"/>
            </a:solidFill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ko-KR" altLang="en-US" sz="1200" b="1" kern="1200" dirty="0">
                  <a:solidFill>
                    <a:schemeClr val="bg1"/>
                  </a:solidFill>
                  <a:effectLst/>
                  <a:latin typeface="페이퍼로지 5 Medium" pitchFamily="2" charset="-127"/>
                  <a:ea typeface="페이퍼로지 5 Medium" pitchFamily="2" charset="-127"/>
                  <a:cs typeface="+mn-cs"/>
                </a:rPr>
                <a:t>실서비스</a:t>
              </a:r>
              <a:endParaRPr lang="en-US" altLang="ko-KR" sz="1200" b="1" kern="1200" dirty="0">
                <a:solidFill>
                  <a:schemeClr val="bg1"/>
                </a:solidFill>
                <a:effectLst/>
                <a:latin typeface="페이퍼로지 5 Medium" pitchFamily="2" charset="-127"/>
                <a:ea typeface="페이퍼로지 5 Medium" pitchFamily="2" charset="-127"/>
                <a:cs typeface="+mn-cs"/>
              </a:endParaRPr>
            </a:p>
            <a:p>
              <a:pPr algn="ctr"/>
              <a:r>
                <a:rPr lang="ko-KR" altLang="en-US" sz="1200" b="1" kern="1200" dirty="0">
                  <a:solidFill>
                    <a:schemeClr val="bg1"/>
                  </a:solidFill>
                  <a:effectLst/>
                  <a:latin typeface="페이퍼로지 5 Medium" pitchFamily="2" charset="-127"/>
                  <a:ea typeface="페이퍼로지 5 Medium" pitchFamily="2" charset="-127"/>
                  <a:cs typeface="+mn-cs"/>
                </a:rPr>
                <a:t>적용 시</a:t>
              </a:r>
              <a:endParaRPr lang="en-US" altLang="ko-KR" sz="1200" b="1" kern="1200" dirty="0">
                <a:solidFill>
                  <a:schemeClr val="bg1"/>
                </a:solidFill>
                <a:effectLst/>
                <a:latin typeface="페이퍼로지 5 Medium" pitchFamily="2" charset="-127"/>
                <a:ea typeface="페이퍼로지 5 Medium" pitchFamily="2" charset="-127"/>
                <a:cs typeface="+mn-cs"/>
              </a:endParaRPr>
            </a:p>
          </p:txBody>
        </p: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B91A1A1A-33C7-4006-89F3-B55C7B4D31E9}"/>
                </a:ext>
              </a:extLst>
            </p:cNvPr>
            <p:cNvGrpSpPr/>
            <p:nvPr/>
          </p:nvGrpSpPr>
          <p:grpSpPr>
            <a:xfrm>
              <a:off x="1676535" y="5988809"/>
              <a:ext cx="8838930" cy="524178"/>
              <a:chOff x="672156" y="4942184"/>
              <a:chExt cx="8838930" cy="763451"/>
            </a:xfrm>
          </p:grpSpPr>
          <p:sp>
            <p:nvSpPr>
              <p:cNvPr id="119" name="Rounded Rectangle 8">
                <a:extLst>
                  <a:ext uri="{FF2B5EF4-FFF2-40B4-BE49-F238E27FC236}">
                    <a16:creationId xmlns:a16="http://schemas.microsoft.com/office/drawing/2014/main" id="{C895AD15-CAB6-46C1-9F78-623522FCB86C}"/>
                  </a:ext>
                </a:extLst>
              </p:cNvPr>
              <p:cNvSpPr/>
              <p:nvPr/>
            </p:nvSpPr>
            <p:spPr>
              <a:xfrm>
                <a:off x="672156" y="4942184"/>
                <a:ext cx="1954503" cy="763447"/>
              </a:xfrm>
              <a:prstGeom prst="roundRect">
                <a:avLst/>
              </a:prstGeom>
              <a:solidFill>
                <a:srgbClr val="FFFFFF"/>
              </a:solidFill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b="1" kern="1200" dirty="0">
                    <a:solidFill>
                      <a:srgbClr val="000000"/>
                    </a:solidFill>
                    <a:effectLst/>
                    <a:latin typeface="페이퍼로지 5 Medium" pitchFamily="2" charset="-127"/>
                    <a:ea typeface="페이퍼로지 5 Medium" pitchFamily="2" charset="-127"/>
                    <a:cs typeface="+mn-cs"/>
                  </a:rPr>
                  <a:t>현행 체계로 탐지</a:t>
                </a:r>
                <a:endParaRPr lang="en-US" altLang="ko-KR" sz="1200" b="1" kern="1200" dirty="0">
                  <a:solidFill>
                    <a:srgbClr val="000000"/>
                  </a:solidFill>
                  <a:effectLst/>
                  <a:latin typeface="페이퍼로지 5 Medium" pitchFamily="2" charset="-127"/>
                  <a:ea typeface="페이퍼로지 5 Medium" pitchFamily="2" charset="-127"/>
                  <a:cs typeface="+mn-cs"/>
                </a:endParaRPr>
              </a:p>
            </p:txBody>
          </p:sp>
          <p:sp>
            <p:nvSpPr>
              <p:cNvPr id="120" name="Rounded Rectangle 8">
                <a:extLst>
                  <a:ext uri="{FF2B5EF4-FFF2-40B4-BE49-F238E27FC236}">
                    <a16:creationId xmlns:a16="http://schemas.microsoft.com/office/drawing/2014/main" id="{BAFEB1CF-82EA-4692-8D59-6EDA6CD81448}"/>
                  </a:ext>
                </a:extLst>
              </p:cNvPr>
              <p:cNvSpPr/>
              <p:nvPr/>
            </p:nvSpPr>
            <p:spPr>
              <a:xfrm>
                <a:off x="2966965" y="4942189"/>
                <a:ext cx="1954503" cy="763446"/>
              </a:xfrm>
              <a:prstGeom prst="roundRect">
                <a:avLst/>
              </a:prstGeom>
              <a:solidFill>
                <a:srgbClr val="FFFFFF"/>
              </a:solidFill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b="1" kern="1200" dirty="0">
                    <a:solidFill>
                      <a:srgbClr val="000000"/>
                    </a:solidFill>
                    <a:effectLst/>
                    <a:latin typeface="페이퍼로지 5 Medium" pitchFamily="2" charset="-127"/>
                    <a:ea typeface="페이퍼로지 5 Medium" pitchFamily="2" charset="-127"/>
                    <a:cs typeface="+mn-cs"/>
                  </a:rPr>
                  <a:t>온디바이스 </a:t>
                </a:r>
                <a:r>
                  <a:rPr lang="en-US" altLang="ko-KR" sz="1200" b="1" kern="1200" dirty="0">
                    <a:solidFill>
                      <a:srgbClr val="000000"/>
                    </a:solidFill>
                    <a:effectLst/>
                    <a:latin typeface="페이퍼로지 5 Medium" pitchFamily="2" charset="-127"/>
                    <a:ea typeface="페이퍼로지 5 Medium" pitchFamily="2" charset="-127"/>
                    <a:cs typeface="+mn-cs"/>
                  </a:rPr>
                  <a:t>AI </a:t>
                </a:r>
                <a:r>
                  <a:rPr lang="ko-KR" altLang="en-US" sz="1200" b="1" kern="1200" dirty="0">
                    <a:solidFill>
                      <a:srgbClr val="000000"/>
                    </a:solidFill>
                    <a:effectLst/>
                    <a:latin typeface="페이퍼로지 5 Medium" pitchFamily="2" charset="-127"/>
                    <a:ea typeface="페이퍼로지 5 Medium" pitchFamily="2" charset="-127"/>
                    <a:cs typeface="+mn-cs"/>
                  </a:rPr>
                  <a:t>협업</a:t>
                </a:r>
                <a:endParaRPr lang="en-US" altLang="ko-KR" sz="1200" b="1" kern="1200" dirty="0">
                  <a:solidFill>
                    <a:srgbClr val="000000"/>
                  </a:solidFill>
                  <a:effectLst/>
                  <a:latin typeface="페이퍼로지 5 Medium" pitchFamily="2" charset="-127"/>
                  <a:ea typeface="페이퍼로지 5 Medium" pitchFamily="2" charset="-127"/>
                  <a:cs typeface="+mn-cs"/>
                </a:endParaRPr>
              </a:p>
            </p:txBody>
          </p:sp>
          <p:sp>
            <p:nvSpPr>
              <p:cNvPr id="121" name="Rounded Rectangle 8">
                <a:extLst>
                  <a:ext uri="{FF2B5EF4-FFF2-40B4-BE49-F238E27FC236}">
                    <a16:creationId xmlns:a16="http://schemas.microsoft.com/office/drawing/2014/main" id="{3E6F42E9-0DD1-4769-A99F-1397D6D68595}"/>
                  </a:ext>
                </a:extLst>
              </p:cNvPr>
              <p:cNvSpPr/>
              <p:nvPr/>
            </p:nvSpPr>
            <p:spPr>
              <a:xfrm>
                <a:off x="5261774" y="4942184"/>
                <a:ext cx="1954503" cy="763447"/>
              </a:xfrm>
              <a:prstGeom prst="roundRect">
                <a:avLst/>
              </a:prstGeom>
              <a:solidFill>
                <a:srgbClr val="FFFFFF"/>
              </a:solidFill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b="1" kern="1200" dirty="0">
                    <a:solidFill>
                      <a:srgbClr val="000000"/>
                    </a:solidFill>
                    <a:effectLst/>
                    <a:latin typeface="페이퍼로지 5 Medium" pitchFamily="2" charset="-127"/>
                    <a:ea typeface="페이퍼로지 5 Medium" pitchFamily="2" charset="-127"/>
                    <a:cs typeface="+mn-cs"/>
                  </a:rPr>
                  <a:t>은행 내부 대응 업무 체계</a:t>
                </a:r>
                <a:endParaRPr lang="en-US" altLang="ko-KR" sz="1200" b="1" kern="1200" dirty="0">
                  <a:solidFill>
                    <a:srgbClr val="000000"/>
                  </a:solidFill>
                  <a:effectLst/>
                  <a:latin typeface="페이퍼로지 5 Medium" pitchFamily="2" charset="-127"/>
                  <a:ea typeface="페이퍼로지 5 Medium" pitchFamily="2" charset="-127"/>
                  <a:cs typeface="+mn-cs"/>
                </a:endParaRPr>
              </a:p>
            </p:txBody>
          </p:sp>
          <p:sp>
            <p:nvSpPr>
              <p:cNvPr id="122" name="Rounded Rectangle 8">
                <a:extLst>
                  <a:ext uri="{FF2B5EF4-FFF2-40B4-BE49-F238E27FC236}">
                    <a16:creationId xmlns:a16="http://schemas.microsoft.com/office/drawing/2014/main" id="{A4B55AB3-F919-4C5C-9B7E-BF646308CC89}"/>
                  </a:ext>
                </a:extLst>
              </p:cNvPr>
              <p:cNvSpPr/>
              <p:nvPr/>
            </p:nvSpPr>
            <p:spPr>
              <a:xfrm>
                <a:off x="7556583" y="4942186"/>
                <a:ext cx="1954503" cy="763447"/>
              </a:xfrm>
              <a:prstGeom prst="roundRect">
                <a:avLst/>
              </a:prstGeom>
              <a:solidFill>
                <a:srgbClr val="FFFFFF"/>
              </a:solidFill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b="1" kern="1200" dirty="0">
                    <a:solidFill>
                      <a:srgbClr val="000000"/>
                    </a:solidFill>
                    <a:effectLst/>
                    <a:latin typeface="페이퍼로지 5 Medium" pitchFamily="2" charset="-127"/>
                    <a:ea typeface="페이퍼로지 5 Medium" pitchFamily="2" charset="-127"/>
                    <a:cs typeface="+mn-cs"/>
                  </a:rPr>
                  <a:t>은행 앱 챗봇</a:t>
                </a:r>
                <a:endParaRPr lang="en-US" altLang="ko-KR" sz="1200" b="1" kern="1200" dirty="0">
                  <a:solidFill>
                    <a:srgbClr val="000000"/>
                  </a:solidFill>
                  <a:effectLst/>
                  <a:latin typeface="페이퍼로지 5 Medium" pitchFamily="2" charset="-127"/>
                  <a:ea typeface="페이퍼로지 5 Medium" pitchFamily="2" charset="-127"/>
                  <a:cs typeface="+mn-cs"/>
                </a:endParaRPr>
              </a:p>
              <a:p>
                <a:pPr algn="ctr"/>
                <a:r>
                  <a:rPr lang="ko-KR" altLang="en-US" sz="1200" b="1" kern="1200" dirty="0">
                    <a:solidFill>
                      <a:srgbClr val="000000"/>
                    </a:solidFill>
                    <a:effectLst/>
                    <a:latin typeface="페이퍼로지 5 Medium" pitchFamily="2" charset="-127"/>
                    <a:ea typeface="페이퍼로지 5 Medium" pitchFamily="2" charset="-127"/>
                    <a:cs typeface="+mn-cs"/>
                  </a:rPr>
                  <a:t>탐지 이후 송금 플로우</a:t>
                </a:r>
                <a:endParaRPr lang="en-US" altLang="ko-KR" sz="1200" b="1" kern="1200" dirty="0">
                  <a:solidFill>
                    <a:srgbClr val="000000"/>
                  </a:solidFill>
                  <a:effectLst/>
                  <a:latin typeface="페이퍼로지 5 Medium" pitchFamily="2" charset="-127"/>
                  <a:ea typeface="페이퍼로지 5 Medium" pitchFamily="2" charset="-127"/>
                  <a:cs typeface="+mn-cs"/>
                </a:endParaRPr>
              </a:p>
            </p:txBody>
          </p:sp>
        </p:grpSp>
      </p:grp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2138D09C-969D-4CCE-8463-5DD4368F2F78}"/>
              </a:ext>
            </a:extLst>
          </p:cNvPr>
          <p:cNvCxnSpPr/>
          <p:nvPr/>
        </p:nvCxnSpPr>
        <p:spPr>
          <a:xfrm>
            <a:off x="997527" y="5884372"/>
            <a:ext cx="10132291" cy="0"/>
          </a:xfrm>
          <a:prstGeom prst="line">
            <a:avLst/>
          </a:prstGeom>
          <a:ln>
            <a:solidFill>
              <a:srgbClr val="0056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948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EB35520-819C-4C30-866E-31339B9C4531}"/>
              </a:ext>
            </a:extLst>
          </p:cNvPr>
          <p:cNvSpPr/>
          <p:nvPr/>
        </p:nvSpPr>
        <p:spPr>
          <a:xfrm>
            <a:off x="708212" y="2819401"/>
            <a:ext cx="3173506" cy="14881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프론트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597FA27-9CB6-41AF-9DD3-341CB4F850EB}"/>
              </a:ext>
            </a:extLst>
          </p:cNvPr>
          <p:cNvSpPr/>
          <p:nvPr/>
        </p:nvSpPr>
        <p:spPr>
          <a:xfrm>
            <a:off x="1219199" y="838200"/>
            <a:ext cx="3173506" cy="14881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엔진엑스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CF97BE8-55C5-4A55-B579-6760C9E1F300}"/>
              </a:ext>
            </a:extLst>
          </p:cNvPr>
          <p:cNvSpPr/>
          <p:nvPr/>
        </p:nvSpPr>
        <p:spPr>
          <a:xfrm>
            <a:off x="4078940" y="2918012"/>
            <a:ext cx="3173506" cy="14881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패스트</a:t>
            </a:r>
            <a:r>
              <a:rPr lang="en-US" altLang="ko-KR" dirty="0" err="1"/>
              <a:t>api</a:t>
            </a:r>
            <a:r>
              <a:rPr lang="en-US" altLang="ko-KR" dirty="0"/>
              <a:t>  </a:t>
            </a:r>
            <a:r>
              <a:rPr lang="ko-KR" altLang="en-US" dirty="0"/>
              <a:t>유비콘</a:t>
            </a:r>
            <a:r>
              <a:rPr lang="en-US" altLang="ko-KR" dirty="0"/>
              <a:t>..</a:t>
            </a:r>
          </a:p>
          <a:p>
            <a:pPr algn="ctr"/>
            <a:r>
              <a:rPr lang="ko-KR" altLang="en-US" dirty="0"/>
              <a:t>백엔드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44B87FF-22B4-46F5-B712-56250FF943F0}"/>
              </a:ext>
            </a:extLst>
          </p:cNvPr>
          <p:cNvSpPr/>
          <p:nvPr/>
        </p:nvSpPr>
        <p:spPr>
          <a:xfrm>
            <a:off x="7368987" y="2918011"/>
            <a:ext cx="3173506" cy="14881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Ai</a:t>
            </a:r>
            <a:r>
              <a:rPr lang="ko-KR" altLang="en-US" dirty="0"/>
              <a:t>밷엔드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A8EA6D-57F2-4AA7-AAC1-9C6BCC1BA6B1}"/>
              </a:ext>
            </a:extLst>
          </p:cNvPr>
          <p:cNvSpPr/>
          <p:nvPr/>
        </p:nvSpPr>
        <p:spPr>
          <a:xfrm>
            <a:off x="7368987" y="4719918"/>
            <a:ext cx="3173506" cy="14881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Ml</a:t>
            </a:r>
            <a:r>
              <a:rPr lang="en-US" altLang="ko-KR" dirty="0"/>
              <a:t>, </a:t>
            </a:r>
            <a:r>
              <a:rPr lang="en-US" altLang="ko-KR" dirty="0" err="1"/>
              <a:t>llm</a:t>
            </a:r>
            <a:r>
              <a:rPr lang="en-US" altLang="ko-KR" dirty="0"/>
              <a:t> </a:t>
            </a:r>
            <a:r>
              <a:rPr lang="ko-KR" altLang="en-US" dirty="0"/>
              <a:t>각각 </a:t>
            </a:r>
            <a:r>
              <a:rPr lang="en-US" altLang="ko-KR" dirty="0"/>
              <a:t>ai </a:t>
            </a:r>
            <a:r>
              <a:rPr lang="ko-KR" altLang="en-US" dirty="0"/>
              <a:t>들 구조</a:t>
            </a:r>
          </a:p>
        </p:txBody>
      </p:sp>
    </p:spTree>
    <p:extLst>
      <p:ext uri="{BB962C8B-B14F-4D97-AF65-F5344CB8AC3E}">
        <p14:creationId xmlns:p14="http://schemas.microsoft.com/office/powerpoint/2010/main" val="1516171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53F654C-F153-40C6-9569-B8B068188D36}"/>
              </a:ext>
            </a:extLst>
          </p:cNvPr>
          <p:cNvSpPr/>
          <p:nvPr/>
        </p:nvSpPr>
        <p:spPr>
          <a:xfrm>
            <a:off x="0" y="1703294"/>
            <a:ext cx="12192000" cy="5154705"/>
          </a:xfrm>
          <a:prstGeom prst="rect">
            <a:avLst/>
          </a:prstGeom>
          <a:gradFill flip="none" rotWithShape="1">
            <a:gsLst>
              <a:gs pos="39000">
                <a:srgbClr val="0E2746"/>
              </a:gs>
              <a:gs pos="0">
                <a:schemeClr val="tx1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96EA022-256D-4A2F-8381-84094314F4C9}"/>
              </a:ext>
            </a:extLst>
          </p:cNvPr>
          <p:cNvGrpSpPr/>
          <p:nvPr/>
        </p:nvGrpSpPr>
        <p:grpSpPr>
          <a:xfrm>
            <a:off x="326019" y="1885963"/>
            <a:ext cx="11539962" cy="4634612"/>
            <a:chOff x="299718" y="1824672"/>
            <a:chExt cx="11539962" cy="463461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D348CFD-ABA3-4BE2-8329-F1B022205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9718" y="2977700"/>
              <a:ext cx="3329307" cy="348158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17CD018-7C6E-4913-9837-44BA79D46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31190" y="1824672"/>
              <a:ext cx="7808490" cy="4634612"/>
            </a:xfrm>
            <a:prstGeom prst="rect">
              <a:avLst/>
            </a:prstGeom>
          </p:spPr>
        </p:pic>
      </p:grpSp>
      <p:sp>
        <p:nvSpPr>
          <p:cNvPr id="16" name="Google Shape;1068;p16">
            <a:extLst>
              <a:ext uri="{FF2B5EF4-FFF2-40B4-BE49-F238E27FC236}">
                <a16:creationId xmlns:a16="http://schemas.microsoft.com/office/drawing/2014/main" id="{48910DCE-C87A-4039-B74C-EAD0DFC4AB67}"/>
              </a:ext>
            </a:extLst>
          </p:cNvPr>
          <p:cNvSpPr>
            <a:spLocks noGrp="1"/>
          </p:cNvSpPr>
          <p:nvPr/>
        </p:nvSpPr>
        <p:spPr>
          <a:xfrm>
            <a:off x="474153" y="4328931"/>
            <a:ext cx="3033038" cy="729576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t">
            <a:spAutoFit/>
          </a:bodyPr>
          <a:lstStyle/>
          <a:p>
            <a:r>
              <a:rPr lang="ko-KR" altLang="en-US" sz="900" dirty="0">
                <a:latin typeface="페이퍼로지 7 Bold" pitchFamily="2" charset="-127"/>
                <a:ea typeface="페이퍼로지 7 Bold" pitchFamily="2" charset="-127"/>
              </a:rPr>
              <a:t>서울지검 수사관입니다</a:t>
            </a:r>
            <a:r>
              <a:rPr lang="en-US" altLang="ko-KR" sz="900" dirty="0">
                <a:latin typeface="페이퍼로지 7 Bold" pitchFamily="2" charset="-127"/>
                <a:ea typeface="페이퍼로지 7 Bold" pitchFamily="2" charset="-127"/>
              </a:rPr>
              <a:t>. </a:t>
            </a:r>
            <a:r>
              <a:rPr lang="ko-KR" altLang="en-US" sz="900" dirty="0">
                <a:latin typeface="페이퍼로지 7 Bold" pitchFamily="2" charset="-127"/>
                <a:ea typeface="페이퍼로지 7 Bold" pitchFamily="2" charset="-127"/>
              </a:rPr>
              <a:t>고객님 명의 계좌가 범죄에 연루됐습니다</a:t>
            </a:r>
            <a:r>
              <a:rPr lang="en-US" altLang="ko-KR" sz="900" dirty="0">
                <a:latin typeface="페이퍼로지 7 Bold" pitchFamily="2" charset="-127"/>
                <a:ea typeface="페이퍼로지 7 Bold" pitchFamily="2" charset="-127"/>
              </a:rPr>
              <a:t>.</a:t>
            </a:r>
          </a:p>
          <a:p>
            <a:r>
              <a:rPr lang="ko-KR" altLang="en-US" sz="900" dirty="0">
                <a:latin typeface="페이퍼로지 7 Bold" pitchFamily="2" charset="-127"/>
                <a:ea typeface="페이퍼로지 7 Bold" pitchFamily="2" charset="-127"/>
              </a:rPr>
              <a:t>현재 자금 추적을 위해 계좌 검증이 필요합니다</a:t>
            </a:r>
            <a:r>
              <a:rPr lang="en-US" altLang="ko-KR" sz="900" dirty="0">
                <a:latin typeface="페이퍼로지 7 Bold" pitchFamily="2" charset="-127"/>
                <a:ea typeface="페이퍼로지 7 Bold" pitchFamily="2" charset="-127"/>
              </a:rPr>
              <a:t>.</a:t>
            </a:r>
          </a:p>
          <a:p>
            <a:r>
              <a:rPr lang="ko-KR" altLang="en-US" sz="900" dirty="0">
                <a:latin typeface="페이퍼로지 7 Bold" pitchFamily="2" charset="-127"/>
                <a:ea typeface="페이퍼로지 7 Bold" pitchFamily="2" charset="-127"/>
              </a:rPr>
              <a:t>오늘 안에 안내드리는 안전계좌로 자금을 이체하셔야 합니다</a:t>
            </a:r>
            <a:r>
              <a:rPr lang="en-US" altLang="ko-KR" sz="900" dirty="0">
                <a:latin typeface="페이퍼로지 7 Bold" pitchFamily="2" charset="-127"/>
                <a:ea typeface="페이퍼로지 7 Bold" pitchFamily="2" charset="-127"/>
              </a:rPr>
              <a:t>.</a:t>
            </a:r>
          </a:p>
          <a:p>
            <a:r>
              <a:rPr lang="ko-KR" altLang="en-US" sz="900" dirty="0">
                <a:latin typeface="페이퍼로지 7 Bold" pitchFamily="2" charset="-127"/>
                <a:ea typeface="페이퍼로지 7 Bold" pitchFamily="2" charset="-127"/>
              </a:rPr>
              <a:t>수사 중이므로 가족이나 은행 직원에게는 알리지 마세요</a:t>
            </a:r>
            <a:r>
              <a:rPr lang="en-US" altLang="ko-KR" sz="900" dirty="0">
                <a:latin typeface="페이퍼로지 7 Bold" pitchFamily="2" charset="-127"/>
                <a:ea typeface="페이퍼로지 7 Bold" pitchFamily="2" charset="-127"/>
              </a:rPr>
              <a:t>.</a:t>
            </a:r>
          </a:p>
          <a:p>
            <a:r>
              <a:rPr lang="ko-KR" altLang="en-US" sz="900" dirty="0">
                <a:latin typeface="페이퍼로지 7 Bold" pitchFamily="2" charset="-127"/>
                <a:ea typeface="페이퍼로지 7 Bold" pitchFamily="2" charset="-127"/>
              </a:rPr>
              <a:t>통화를 끊지 말고 지금 바로 이체 절차를 진행해 주세요</a:t>
            </a:r>
            <a:r>
              <a:rPr lang="en-US" altLang="ko-KR" sz="900" dirty="0">
                <a:latin typeface="페이퍼로지 7 Bold" pitchFamily="2" charset="-127"/>
                <a:ea typeface="페이퍼로지 7 Bold" pitchFamily="2" charset="-127"/>
              </a:rPr>
              <a:t>.</a:t>
            </a:r>
          </a:p>
        </p:txBody>
      </p:sp>
      <p:sp>
        <p:nvSpPr>
          <p:cNvPr id="18" name="Chevron 17">
            <a:extLst>
              <a:ext uri="{FF2B5EF4-FFF2-40B4-BE49-F238E27FC236}">
                <a16:creationId xmlns:a16="http://schemas.microsoft.com/office/drawing/2014/main" id="{89716994-BE1A-4887-B767-7B2BE73ACB01}"/>
              </a:ext>
            </a:extLst>
          </p:cNvPr>
          <p:cNvSpPr/>
          <p:nvPr/>
        </p:nvSpPr>
        <p:spPr>
          <a:xfrm>
            <a:off x="3762602" y="4603530"/>
            <a:ext cx="187613" cy="234168"/>
          </a:xfrm>
          <a:prstGeom prst="chevron">
            <a:avLst/>
          </a:prstGeom>
          <a:solidFill>
            <a:srgbClr val="D3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F54E38-3B70-40C1-B4DD-F23DEF34C63C}"/>
              </a:ext>
            </a:extLst>
          </p:cNvPr>
          <p:cNvSpPr txBox="1"/>
          <p:nvPr/>
        </p:nvSpPr>
        <p:spPr>
          <a:xfrm>
            <a:off x="230104" y="1821071"/>
            <a:ext cx="6100762" cy="357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lang="ko-KR" altLang="en-US" sz="1800" b="0" u="none" dirty="0">
                <a:solidFill>
                  <a:schemeClr val="accent4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실제 도입 시 </a:t>
            </a:r>
            <a:r>
              <a:rPr lang="en-US" altLang="ko-KR" sz="1800" b="0" u="none" dirty="0">
                <a:solidFill>
                  <a:schemeClr val="accent4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API</a:t>
            </a:r>
            <a:r>
              <a:rPr lang="ko-KR" altLang="en-US" sz="1800" b="0" u="none" dirty="0">
                <a:solidFill>
                  <a:schemeClr val="accent4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연동 및 협업  </a:t>
            </a:r>
            <a:endParaRPr lang="en-US" altLang="ko-KR" sz="1800" b="0" u="none" dirty="0">
              <a:solidFill>
                <a:schemeClr val="accent4">
                  <a:lumMod val="60000"/>
                  <a:lumOff val="40000"/>
                </a:schemeClr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20" name="Google Shape;1068;p16">
            <a:extLst>
              <a:ext uri="{FF2B5EF4-FFF2-40B4-BE49-F238E27FC236}">
                <a16:creationId xmlns:a16="http://schemas.microsoft.com/office/drawing/2014/main" id="{2C54C4B6-C06E-4891-9EB8-1338523E79C2}"/>
              </a:ext>
            </a:extLst>
          </p:cNvPr>
          <p:cNvSpPr>
            <a:spLocks noGrp="1"/>
          </p:cNvSpPr>
          <p:nvPr/>
        </p:nvSpPr>
        <p:spPr>
          <a:xfrm>
            <a:off x="326019" y="2206377"/>
            <a:ext cx="3624196" cy="3768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t">
            <a:spAutoFit/>
          </a:bodyPr>
          <a:lstStyle/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lang="ko-KR" altLang="en-US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통신사</a:t>
            </a:r>
            <a:r>
              <a:rPr lang="en-US" altLang="ko-KR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</a:t>
            </a:r>
            <a:r>
              <a:rPr lang="ko-KR" altLang="en-US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스마트폰 </a:t>
            </a:r>
            <a:r>
              <a:rPr lang="en-US" altLang="ko-KR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AI (KT, SKT, LG U+, </a:t>
            </a:r>
            <a:r>
              <a:rPr lang="ko-KR" altLang="en-US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삼성 등</a:t>
            </a:r>
            <a:r>
              <a:rPr lang="en-US" altLang="ko-KR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 </a:t>
            </a:r>
            <a:r>
              <a:rPr lang="ko-KR" altLang="en-US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온디바이스 업체</a:t>
            </a:r>
            <a:r>
              <a:rPr lang="en-US" altLang="ko-KR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)</a:t>
            </a:r>
          </a:p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lang="en-US" altLang="ko-KR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→ </a:t>
            </a:r>
            <a:r>
              <a:rPr lang="ko-KR" altLang="en-US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구조화된 위험</a:t>
            </a:r>
            <a:r>
              <a:rPr lang="en-US" altLang="ko-KR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</a:t>
            </a:r>
            <a:r>
              <a:rPr lang="ko-KR" altLang="en-US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맥락 정보</a:t>
            </a:r>
            <a:r>
              <a:rPr lang="en-US" altLang="ko-KR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, </a:t>
            </a:r>
            <a:r>
              <a:rPr lang="ko-KR" altLang="en-US" sz="11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메타데이터 </a:t>
            </a:r>
            <a:r>
              <a:rPr lang="en-US" altLang="ko-KR" sz="1100" b="0" u="none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JSON </a:t>
            </a:r>
            <a:r>
              <a:rPr lang="ko-KR" altLang="en-US" sz="1100" b="0" u="none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→ </a:t>
            </a:r>
            <a:r>
              <a:rPr lang="en-US" altLang="ko-KR" sz="1100" b="0" u="none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CSR </a:t>
            </a:r>
            <a:r>
              <a:rPr lang="ko-KR" altLang="en-US" sz="1100" b="0" u="none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서버로</a:t>
            </a:r>
            <a:endParaRPr lang="en-US" altLang="ko-KR" sz="1100" dirty="0">
              <a:solidFill>
                <a:srgbClr val="FFC000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A0E084-CA6E-4F64-B79A-C493C5CD4255}"/>
              </a:ext>
            </a:extLst>
          </p:cNvPr>
          <p:cNvSpPr txBox="1"/>
          <p:nvPr/>
        </p:nvSpPr>
        <p:spPr>
          <a:xfrm>
            <a:off x="152422" y="707954"/>
            <a:ext cx="11887178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ASAP/FDS </a:t>
            </a:r>
            <a:r>
              <a:rPr lang="ko-KR" altLang="en-US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탐지 체계 대신 </a:t>
            </a:r>
            <a:r>
              <a:rPr lang="en-US" altLang="ko-KR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sym typeface="Wingdings" panose="05000000000000000000" pitchFamily="2" charset="2"/>
              </a:rPr>
              <a:t></a:t>
            </a:r>
            <a:r>
              <a:rPr lang="en-US" altLang="ko-KR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자체 제작 </a:t>
            </a:r>
            <a:r>
              <a:rPr lang="en-US" altLang="ko-KR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ML</a:t>
            </a:r>
            <a:r>
              <a:rPr lang="ko-KR" altLang="en-US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이 보이스피싱을 여부를 판정</a:t>
            </a:r>
            <a:endParaRPr lang="en-US" altLang="ko-KR" b="1" dirty="0">
              <a:solidFill>
                <a:srgbClr val="FFC000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/>
            <a:r>
              <a:rPr lang="ko-KR" altLang="en-US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온디바이스 </a:t>
            </a:r>
            <a:r>
              <a:rPr lang="en-US" altLang="ko-KR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AI </a:t>
            </a:r>
            <a:r>
              <a:rPr lang="ko-KR" altLang="en-US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분석 대신 </a:t>
            </a:r>
            <a:r>
              <a:rPr lang="en-US" altLang="ko-KR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sym typeface="Wingdings" panose="05000000000000000000" pitchFamily="2" charset="2"/>
              </a:rPr>
              <a:t></a:t>
            </a:r>
            <a:r>
              <a:rPr lang="en-US" altLang="ko-KR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자체 제작 </a:t>
            </a:r>
            <a:r>
              <a:rPr lang="en-US" altLang="ko-KR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LLM</a:t>
            </a:r>
            <a:r>
              <a:rPr lang="ko-KR" altLang="en-US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이 텍스트</a:t>
            </a:r>
            <a:r>
              <a:rPr lang="en-US" altLang="ko-KR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/</a:t>
            </a:r>
            <a:r>
              <a:rPr lang="ko-KR" altLang="en-US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음원 파일을 분석 분해 </a:t>
            </a:r>
            <a:r>
              <a:rPr lang="en-US" altLang="ko-KR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sym typeface="Wingdings" panose="05000000000000000000" pitchFamily="2" charset="2"/>
              </a:rPr>
              <a:t></a:t>
            </a:r>
            <a:r>
              <a:rPr lang="en-US" altLang="ko-KR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 JSON</a:t>
            </a:r>
            <a:r>
              <a:rPr lang="ko-KR" altLang="en-US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으로 변환</a:t>
            </a:r>
            <a:endParaRPr lang="en-US" altLang="ko-KR" b="1" dirty="0">
              <a:solidFill>
                <a:srgbClr val="FFC000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/>
            <a:r>
              <a:rPr lang="ko-KR" altLang="en-US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온디바이스에게 </a:t>
            </a:r>
            <a:r>
              <a:rPr lang="en-US" altLang="ko-KR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JSON</a:t>
            </a:r>
            <a:r>
              <a:rPr lang="ko-KR" altLang="en-US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을 회신 했다는 전재로 </a:t>
            </a:r>
            <a:r>
              <a:rPr lang="en-US" altLang="ko-KR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sym typeface="Wingdings" panose="05000000000000000000" pitchFamily="2" charset="2"/>
              </a:rPr>
              <a:t></a:t>
            </a:r>
            <a:r>
              <a:rPr lang="en-US" altLang="ko-KR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 JSON </a:t>
            </a:r>
            <a:r>
              <a:rPr lang="ko-KR" altLang="en-US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데이터 활용해 사건 맥락 및 정황 재구성</a:t>
            </a:r>
            <a:endParaRPr lang="en-US" altLang="ko-KR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7A84B2-7E45-4EBD-8028-93669AF4EDD4}"/>
              </a:ext>
            </a:extLst>
          </p:cNvPr>
          <p:cNvSpPr txBox="1"/>
          <p:nvPr/>
        </p:nvSpPr>
        <p:spPr>
          <a:xfrm>
            <a:off x="5592680" y="494354"/>
            <a:ext cx="1006686" cy="154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75" b="1">
                <a:solidFill>
                  <a:srgbClr val="2F66E8"/>
                </a:solidFill>
              </a:defRPr>
            </a:pPr>
            <a:r>
              <a:rPr lang="ko-KR" altLang="en-US" sz="1050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프로젝트 구현 범위</a:t>
            </a:r>
            <a:endParaRPr lang="en-US" altLang="ko-KR" sz="1050" u="none" dirty="0">
              <a:solidFill>
                <a:srgbClr val="EEF5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52437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70041B-B5F4-48AC-B429-AA5460F18F69}"/>
              </a:ext>
            </a:extLst>
          </p:cNvPr>
          <p:cNvSpPr txBox="1"/>
          <p:nvPr/>
        </p:nvSpPr>
        <p:spPr>
          <a:xfrm>
            <a:off x="152422" y="575961"/>
            <a:ext cx="1188717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ML </a:t>
            </a:r>
            <a:r>
              <a:rPr lang="ko-KR" altLang="en-US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구현사항</a:t>
            </a:r>
            <a:endParaRPr lang="en-US" altLang="ko-KR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11FCE8-1C69-4A29-B8BC-3E505F2DC0CE}"/>
              </a:ext>
            </a:extLst>
          </p:cNvPr>
          <p:cNvSpPr txBox="1"/>
          <p:nvPr/>
        </p:nvSpPr>
        <p:spPr>
          <a:xfrm>
            <a:off x="5592680" y="362361"/>
            <a:ext cx="1006686" cy="154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75" b="1">
                <a:solidFill>
                  <a:srgbClr val="2F66E8"/>
                </a:solidFill>
              </a:defRPr>
            </a:pPr>
            <a:r>
              <a:rPr lang="ko-KR" altLang="en-US" sz="1050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프로젝트 구현 범위</a:t>
            </a:r>
            <a:endParaRPr lang="en-US" altLang="ko-KR" sz="1050" u="none" dirty="0">
              <a:solidFill>
                <a:srgbClr val="EEF5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4108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F933A5-0632-4BF0-9AFD-944B0289E566}"/>
              </a:ext>
            </a:extLst>
          </p:cNvPr>
          <p:cNvSpPr/>
          <p:nvPr/>
        </p:nvSpPr>
        <p:spPr>
          <a:xfrm>
            <a:off x="0" y="1043831"/>
            <a:ext cx="12192000" cy="58500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D3E420-AD38-4E9C-9EBF-E9DE489220A0}"/>
              </a:ext>
            </a:extLst>
          </p:cNvPr>
          <p:cNvSpPr txBox="1"/>
          <p:nvPr/>
        </p:nvSpPr>
        <p:spPr>
          <a:xfrm>
            <a:off x="152422" y="575961"/>
            <a:ext cx="1188717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LLM</a:t>
            </a:r>
            <a:r>
              <a:rPr lang="ko-KR" altLang="en-US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이 원본 데이터를 어떻게 분석 분해 하여 </a:t>
            </a:r>
            <a:r>
              <a:rPr lang="en-US" altLang="ko-KR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sym typeface="Wingdings" panose="05000000000000000000" pitchFamily="2" charset="2"/>
              </a:rPr>
              <a:t></a:t>
            </a:r>
            <a:r>
              <a:rPr lang="en-US" altLang="ko-KR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데이터 및 </a:t>
            </a:r>
            <a:r>
              <a:rPr lang="en-US" altLang="ko-KR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JSON </a:t>
            </a:r>
            <a:r>
              <a:rPr lang="ko-KR" altLang="en-US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구조화 하는가</a:t>
            </a:r>
            <a:r>
              <a:rPr lang="en-US" altLang="ko-KR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80D96F-F632-48B3-8F1C-F619A18F77F4}"/>
              </a:ext>
            </a:extLst>
          </p:cNvPr>
          <p:cNvSpPr txBox="1"/>
          <p:nvPr/>
        </p:nvSpPr>
        <p:spPr>
          <a:xfrm>
            <a:off x="5592680" y="362361"/>
            <a:ext cx="1006686" cy="154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75" b="1">
                <a:solidFill>
                  <a:srgbClr val="2F66E8"/>
                </a:solidFill>
              </a:defRPr>
            </a:pPr>
            <a:r>
              <a:rPr lang="ko-KR" altLang="en-US" sz="1050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프로젝트 구현 범위</a:t>
            </a:r>
            <a:endParaRPr lang="en-US" altLang="ko-KR" sz="1050" u="none" dirty="0">
              <a:solidFill>
                <a:srgbClr val="EEF5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16B7967-4829-4482-B5BD-21A325F577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518264"/>
              </p:ext>
            </p:extLst>
          </p:nvPr>
        </p:nvGraphicFramePr>
        <p:xfrm>
          <a:off x="416276" y="3780039"/>
          <a:ext cx="4844080" cy="3004960"/>
        </p:xfrm>
        <a:graphic>
          <a:graphicData uri="http://schemas.openxmlformats.org/drawingml/2006/table">
            <a:tbl>
              <a:tblPr/>
              <a:tblGrid>
                <a:gridCol w="1213392">
                  <a:extLst>
                    <a:ext uri="{9D8B030D-6E8A-4147-A177-3AD203B41FA5}">
                      <a16:colId xmlns:a16="http://schemas.microsoft.com/office/drawing/2014/main" val="3065165360"/>
                    </a:ext>
                  </a:extLst>
                </a:gridCol>
                <a:gridCol w="2068227">
                  <a:extLst>
                    <a:ext uri="{9D8B030D-6E8A-4147-A177-3AD203B41FA5}">
                      <a16:colId xmlns:a16="http://schemas.microsoft.com/office/drawing/2014/main" val="3392361359"/>
                    </a:ext>
                  </a:extLst>
                </a:gridCol>
                <a:gridCol w="1562461">
                  <a:extLst>
                    <a:ext uri="{9D8B030D-6E8A-4147-A177-3AD203B41FA5}">
                      <a16:colId xmlns:a16="http://schemas.microsoft.com/office/drawing/2014/main" val="891352495"/>
                    </a:ext>
                  </a:extLst>
                </a:gridCol>
              </a:tblGrid>
              <a:tr h="288091">
                <a:tc>
                  <a:txBody>
                    <a:bodyPr/>
                    <a:lstStyle/>
                    <a:p>
                      <a:r>
                        <a:rPr lang="ko-KR" altLang="en-US" sz="100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분해 객체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사람에게 설명하면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예시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135476"/>
                  </a:ext>
                </a:extLst>
              </a:tr>
              <a:tr h="288091">
                <a:tc>
                  <a:txBody>
                    <a:bodyPr/>
                    <a:lstStyle/>
                    <a:p>
                      <a:r>
                        <a:rPr lang="en-US" sz="1000" b="1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Turn</a:t>
                      </a:r>
                      <a:endParaRPr 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페이퍼로지 5 Medium" pitchFamily="2" charset="-127"/>
                          <a:ea typeface="페이퍼로지 5 Medium" pitchFamily="2" charset="-127"/>
                        </a:rPr>
                        <a:t>누가 언제 무엇을 말했는가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SUSPECTED_PARTY</a:t>
                      </a:r>
                    </a:p>
                    <a:p>
                      <a:r>
                        <a:rPr lang="en-US" sz="10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→ </a:t>
                      </a:r>
                      <a:r>
                        <a:rPr lang="ko-KR" altLang="en-US" sz="10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송금</a:t>
                      </a:r>
                      <a:r>
                        <a:rPr lang="en-US" altLang="ko-KR" sz="10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앱 설치 요구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385494"/>
                  </a:ext>
                </a:extLst>
              </a:tr>
              <a:tr h="691418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페이퍼로지 5 Medium" pitchFamily="2" charset="-127"/>
                          <a:ea typeface="페이퍼로지 5 Medium" pitchFamily="2" charset="-127"/>
                        </a:rPr>
                        <a:t>Event</a:t>
                      </a:r>
                      <a:endParaRPr lang="en-US" sz="100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어떤 위험 사건이 발생했는가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페이퍼로지 5 Medium" pitchFamily="2" charset="-127"/>
                          <a:ea typeface="페이퍼로지 5 Medium" pitchFamily="2" charset="-127"/>
                        </a:rPr>
                        <a:t>IMPERSONATION, MONEY_MOVEMENT, ACTION_REQUEST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2811589"/>
                  </a:ext>
                </a:extLst>
              </a:tr>
              <a:tr h="288091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페이퍼로지 5 Medium" pitchFamily="2" charset="-127"/>
                          <a:ea typeface="페이퍼로지 5 Medium" pitchFamily="2" charset="-127"/>
                        </a:rPr>
                        <a:t>Semantic Atom</a:t>
                      </a:r>
                      <a:endParaRPr lang="en-US" sz="100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페이퍼로지 5 Medium" pitchFamily="2" charset="-127"/>
                          <a:ea typeface="페이퍼로지 5 Medium" pitchFamily="2" charset="-127"/>
                        </a:rPr>
                        <a:t>독립적으로 판단 가능한 하나의 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송금 </a:t>
                      </a:r>
                      <a:r>
                        <a:rPr lang="en-US" sz="10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REQUESTED, </a:t>
                      </a:r>
                    </a:p>
                    <a:p>
                      <a:r>
                        <a:rPr lang="ko-KR" altLang="en-US" sz="10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앱 설치 </a:t>
                      </a:r>
                      <a:r>
                        <a:rPr lang="en-US" sz="10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REQUESTED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767596"/>
                  </a:ext>
                </a:extLst>
              </a:tr>
              <a:tr h="288091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페이퍼로지 5 Medium" pitchFamily="2" charset="-127"/>
                          <a:ea typeface="페이퍼로지 5 Medium" pitchFamily="2" charset="-127"/>
                        </a:rPr>
                        <a:t>Mention</a:t>
                      </a:r>
                      <a:endParaRPr lang="en-US" sz="100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페이퍼로지 5 Medium" pitchFamily="2" charset="-127"/>
                          <a:ea typeface="페이퍼로지 5 Medium" pitchFamily="2" charset="-127"/>
                        </a:rPr>
                        <a:t>등장한 핵심 대상</a:t>
                      </a:r>
                      <a:r>
                        <a:rPr lang="en-US" altLang="ko-KR" sz="1000">
                          <a:latin typeface="페이퍼로지 5 Medium" pitchFamily="2" charset="-127"/>
                          <a:ea typeface="페이퍼로지 5 Medium" pitchFamily="2" charset="-127"/>
                        </a:rPr>
                        <a:t>·</a:t>
                      </a:r>
                      <a:r>
                        <a:rPr lang="ko-KR" altLang="en-US" sz="1000">
                          <a:latin typeface="페이퍼로지 5 Medium" pitchFamily="2" charset="-127"/>
                          <a:ea typeface="페이퍼로지 5 Medium" pitchFamily="2" charset="-127"/>
                        </a:rPr>
                        <a:t>행동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페이퍼로지 5 Medium" pitchFamily="2" charset="-127"/>
                          <a:ea typeface="페이퍼로지 5 Medium" pitchFamily="2" charset="-127"/>
                        </a:rPr>
                        <a:t>대출회사</a:t>
                      </a:r>
                      <a:r>
                        <a:rPr lang="en-US" altLang="ko-KR" sz="1000">
                          <a:latin typeface="페이퍼로지 5 Medium" pitchFamily="2" charset="-127"/>
                          <a:ea typeface="페이퍼로지 5 Medium" pitchFamily="2" charset="-127"/>
                        </a:rPr>
                        <a:t>, </a:t>
                      </a:r>
                      <a:r>
                        <a:rPr lang="ko-KR" altLang="en-US" sz="1000">
                          <a:latin typeface="페이퍼로지 5 Medium" pitchFamily="2" charset="-127"/>
                          <a:ea typeface="페이퍼로지 5 Medium" pitchFamily="2" charset="-127"/>
                        </a:rPr>
                        <a:t>앱 설치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1726775"/>
                  </a:ext>
                </a:extLst>
              </a:tr>
              <a:tr h="288091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페이퍼로지 5 Medium" pitchFamily="2" charset="-127"/>
                          <a:ea typeface="페이퍼로지 5 Medium" pitchFamily="2" charset="-127"/>
                        </a:rPr>
                        <a:t>Relation</a:t>
                      </a:r>
                      <a:endParaRPr lang="en-US" sz="100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페이퍼로지 5 Medium" pitchFamily="2" charset="-127"/>
                          <a:ea typeface="페이퍼로지 5 Medium" pitchFamily="2" charset="-127"/>
                        </a:rPr>
                        <a:t>의미들이 어떤 관계인가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기관 사칭</a:t>
                      </a:r>
                      <a:endParaRPr lang="en-US" altLang="ko-KR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  <a:p>
                      <a:r>
                        <a:rPr lang="ko-KR" altLang="en-US" sz="10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→ 송금 요구의 근거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4403288"/>
                  </a:ext>
                </a:extLst>
              </a:tr>
              <a:tr h="489754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페이퍼로지 5 Medium" pitchFamily="2" charset="-127"/>
                          <a:ea typeface="페이퍼로지 5 Medium" pitchFamily="2" charset="-127"/>
                        </a:rPr>
                        <a:t>Context Feature</a:t>
                      </a:r>
                      <a:endParaRPr lang="en-US" sz="100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페이퍼로지 5 Medium" pitchFamily="2" charset="-127"/>
                          <a:ea typeface="페이퍼로지 5 Medium" pitchFamily="2" charset="-127"/>
                        </a:rPr>
                        <a:t>전체 사건의 압축된 특징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LOAN_COMPANY, TRANSFER_FUNDS, INSTALL_APP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527683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EA2A28F-91EC-4402-9D05-A72AA8936AF2}"/>
              </a:ext>
            </a:extLst>
          </p:cNvPr>
          <p:cNvSpPr txBox="1"/>
          <p:nvPr/>
        </p:nvSpPr>
        <p:spPr>
          <a:xfrm>
            <a:off x="5736103" y="1152688"/>
            <a:ext cx="3745006" cy="56323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 dirty="0"/>
              <a:t>{</a:t>
            </a:r>
          </a:p>
          <a:p>
            <a:r>
              <a:rPr lang="ko-KR" altLang="en-US" sz="1000" dirty="0"/>
              <a:t>  "schema_version": "analysis-envelope.v1",</a:t>
            </a:r>
          </a:p>
          <a:p>
            <a:r>
              <a:rPr lang="ko-KR" altLang="en-US" sz="1000" dirty="0"/>
              <a:t>  "source": "TELECOM",</a:t>
            </a:r>
          </a:p>
          <a:p>
            <a:r>
              <a:rPr lang="ko-KR" altLang="en-US" sz="1000" dirty="0"/>
              <a:t>  "source_text_included": false,</a:t>
            </a:r>
          </a:p>
          <a:p>
            <a:endParaRPr lang="ko-KR" altLang="en-US" sz="1000" dirty="0"/>
          </a:p>
          <a:p>
            <a:r>
              <a:rPr lang="ko-KR" altLang="en-US" sz="1000" dirty="0"/>
              <a:t>  "turns": [</a:t>
            </a:r>
          </a:p>
          <a:p>
            <a:r>
              <a:rPr lang="ko-KR" altLang="en-US" sz="1000" dirty="0"/>
              <a:t>    {</a:t>
            </a:r>
          </a:p>
          <a:p>
            <a:r>
              <a:rPr lang="ko-KR" altLang="en-US" sz="1000" dirty="0"/>
              <a:t>      "speaker_role": "SUSPECTED_PARTY",</a:t>
            </a:r>
          </a:p>
          <a:p>
            <a:r>
              <a:rPr lang="ko-KR" altLang="en-US" sz="1000" dirty="0"/>
              <a:t>      "normalized_summary":</a:t>
            </a:r>
          </a:p>
          <a:p>
            <a:r>
              <a:rPr lang="ko-KR" altLang="en-US" sz="1000" dirty="0"/>
              <a:t>        "대출회사 담당자라고 주장하고 송금과 앱 설치를 요구함"</a:t>
            </a:r>
          </a:p>
          <a:p>
            <a:r>
              <a:rPr lang="ko-KR" altLang="en-US" sz="1000" dirty="0"/>
              <a:t>    }</a:t>
            </a:r>
          </a:p>
          <a:p>
            <a:r>
              <a:rPr lang="ko-KR" altLang="en-US" sz="1000" dirty="0"/>
              <a:t>  ],</a:t>
            </a:r>
          </a:p>
          <a:p>
            <a:endParaRPr lang="ko-KR" altLang="en-US" sz="1000" dirty="0"/>
          </a:p>
          <a:p>
            <a:r>
              <a:rPr lang="ko-KR" altLang="en-US" sz="1000" dirty="0"/>
              <a:t>  "events": [</a:t>
            </a:r>
          </a:p>
          <a:p>
            <a:r>
              <a:rPr lang="ko-KR" altLang="en-US" sz="1000" dirty="0"/>
              <a:t>    { "event_family": "IMPERSONATION" },</a:t>
            </a:r>
          </a:p>
          <a:p>
            <a:r>
              <a:rPr lang="ko-KR" altLang="en-US" sz="1000" dirty="0"/>
              <a:t>    { "event_family": "MONEY_MOVEMENT" },</a:t>
            </a:r>
          </a:p>
          <a:p>
            <a:r>
              <a:rPr lang="ko-KR" altLang="en-US" sz="1000" dirty="0"/>
              <a:t>    { "event_family": "ACTION_REQUEST" }</a:t>
            </a:r>
          </a:p>
          <a:p>
            <a:r>
              <a:rPr lang="ko-KR" altLang="en-US" sz="1000" dirty="0"/>
              <a:t>  ],</a:t>
            </a:r>
          </a:p>
          <a:p>
            <a:endParaRPr lang="ko-KR" altLang="en-US" sz="1000" dirty="0"/>
          </a:p>
          <a:p>
            <a:r>
              <a:rPr lang="ko-KR" altLang="en-US" sz="1000" dirty="0"/>
              <a:t>  "semantic_atoms": [</a:t>
            </a:r>
          </a:p>
          <a:p>
            <a:r>
              <a:rPr lang="ko-KR" altLang="en-US" sz="1000" dirty="0"/>
              <a:t>    {</a:t>
            </a:r>
          </a:p>
          <a:p>
            <a:r>
              <a:rPr lang="ko-KR" altLang="en-US" sz="1000" dirty="0"/>
              <a:t>      "predicate": "TRANSFER_FUNDS",</a:t>
            </a:r>
          </a:p>
          <a:p>
            <a:r>
              <a:rPr lang="ko-KR" altLang="en-US" sz="1000" dirty="0"/>
              <a:t>      "action_state": "REQUESTED",</a:t>
            </a:r>
          </a:p>
          <a:p>
            <a:r>
              <a:rPr lang="ko-KR" altLang="en-US" sz="1000" dirty="0"/>
              <a:t>      "claim_status": "UNVERIFIED"</a:t>
            </a:r>
          </a:p>
          <a:p>
            <a:r>
              <a:rPr lang="ko-KR" altLang="en-US" sz="1000" dirty="0"/>
              <a:t>    }</a:t>
            </a:r>
          </a:p>
          <a:p>
            <a:r>
              <a:rPr lang="ko-KR" altLang="en-US" sz="1000" dirty="0"/>
              <a:t>  ],</a:t>
            </a:r>
          </a:p>
          <a:p>
            <a:endParaRPr lang="ko-KR" altLang="en-US" sz="1000" dirty="0"/>
          </a:p>
          <a:p>
            <a:r>
              <a:rPr lang="ko-KR" altLang="en-US" sz="1000" dirty="0"/>
              <a:t>  "semantic_relations": [...],</a:t>
            </a:r>
          </a:p>
          <a:p>
            <a:endParaRPr lang="ko-KR" altLang="en-US" sz="1000" dirty="0"/>
          </a:p>
          <a:p>
            <a:r>
              <a:rPr lang="ko-KR" altLang="en-US" sz="1000" dirty="0"/>
              <a:t>  "context_features": {</a:t>
            </a:r>
          </a:p>
          <a:p>
            <a:r>
              <a:rPr lang="ko-KR" altLang="en-US" sz="1000" dirty="0"/>
              <a:t>    "requested_action_codes": [</a:t>
            </a:r>
          </a:p>
          <a:p>
            <a:r>
              <a:rPr lang="ko-KR" altLang="en-US" sz="1000" dirty="0"/>
              <a:t>      "TRANSFER_FUNDS",</a:t>
            </a:r>
          </a:p>
          <a:p>
            <a:r>
              <a:rPr lang="ko-KR" altLang="en-US" sz="1000" dirty="0"/>
              <a:t>      "INSTALL_APP"</a:t>
            </a:r>
          </a:p>
          <a:p>
            <a:r>
              <a:rPr lang="ko-KR" altLang="en-US" sz="1000" dirty="0"/>
              <a:t>    ]</a:t>
            </a:r>
          </a:p>
          <a:p>
            <a:r>
              <a:rPr lang="ko-KR" altLang="en-US" sz="1000" dirty="0"/>
              <a:t>  }</a:t>
            </a:r>
          </a:p>
          <a:p>
            <a:r>
              <a:rPr lang="ko-KR" altLang="en-US" sz="1000" dirty="0"/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A8A5CC-4F20-45C2-897F-B8CD6935A648}"/>
              </a:ext>
            </a:extLst>
          </p:cNvPr>
          <p:cNvSpPr txBox="1"/>
          <p:nvPr/>
        </p:nvSpPr>
        <p:spPr>
          <a:xfrm>
            <a:off x="9641817" y="3307124"/>
            <a:ext cx="1969994" cy="34778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 err="1"/>
              <a:t>AnalysisEnvelope</a:t>
            </a:r>
            <a:r>
              <a:rPr lang="en-US" altLang="ko-KR" sz="1000" dirty="0"/>
              <a:t> v1</a:t>
            </a:r>
          </a:p>
          <a:p>
            <a:endParaRPr lang="en-US" altLang="ko-KR" sz="1000" dirty="0"/>
          </a:p>
          <a:p>
            <a:r>
              <a:rPr lang="ko-KR" altLang="en-US" sz="1000" dirty="0"/>
              <a:t>통화 정보</a:t>
            </a:r>
          </a:p>
          <a:p>
            <a:r>
              <a:rPr lang="ko-KR" altLang="en-US" sz="1000" dirty="0"/>
              <a:t> └─ </a:t>
            </a:r>
            <a:r>
              <a:rPr lang="en-US" altLang="ko-KR" sz="1000" dirty="0"/>
              <a:t>source / </a:t>
            </a:r>
            <a:r>
              <a:rPr lang="ko-KR" altLang="en-US" sz="1000" dirty="0"/>
              <a:t>시간 </a:t>
            </a:r>
            <a:r>
              <a:rPr lang="en-US" altLang="ko-KR" sz="1000" dirty="0"/>
              <a:t>/ </a:t>
            </a:r>
            <a:r>
              <a:rPr lang="ko-KR" altLang="en-US" sz="1000" dirty="0"/>
              <a:t>분석 출처</a:t>
            </a:r>
          </a:p>
          <a:p>
            <a:endParaRPr lang="ko-KR" altLang="en-US" sz="1000" dirty="0"/>
          </a:p>
          <a:p>
            <a:r>
              <a:rPr lang="ko-KR" altLang="en-US" sz="1000" dirty="0"/>
              <a:t>대화 구조</a:t>
            </a:r>
          </a:p>
          <a:p>
            <a:r>
              <a:rPr lang="ko-KR" altLang="en-US" sz="1000" dirty="0"/>
              <a:t> └─ </a:t>
            </a:r>
            <a:r>
              <a:rPr lang="en-US" altLang="ko-KR" sz="1000" dirty="0"/>
              <a:t>turns</a:t>
            </a:r>
          </a:p>
          <a:p>
            <a:endParaRPr lang="en-US" altLang="ko-KR" sz="1000" dirty="0"/>
          </a:p>
          <a:p>
            <a:r>
              <a:rPr lang="ko-KR" altLang="en-US" sz="1000" dirty="0"/>
              <a:t>위험 사건</a:t>
            </a:r>
          </a:p>
          <a:p>
            <a:r>
              <a:rPr lang="ko-KR" altLang="en-US" sz="1000" dirty="0"/>
              <a:t> └─ </a:t>
            </a:r>
            <a:r>
              <a:rPr lang="en-US" altLang="ko-KR" sz="1000" dirty="0"/>
              <a:t>events</a:t>
            </a:r>
          </a:p>
          <a:p>
            <a:endParaRPr lang="en-US" altLang="ko-KR" sz="1000" dirty="0"/>
          </a:p>
          <a:p>
            <a:r>
              <a:rPr lang="ko-KR" altLang="en-US" sz="1000" dirty="0"/>
              <a:t>사건 의미</a:t>
            </a:r>
          </a:p>
          <a:p>
            <a:r>
              <a:rPr lang="ko-KR" altLang="en-US" sz="1000" dirty="0"/>
              <a:t> └─ </a:t>
            </a:r>
            <a:r>
              <a:rPr lang="en-US" altLang="ko-KR" sz="1000" dirty="0" err="1"/>
              <a:t>semantic_atoms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en-US" sz="1000" dirty="0"/>
              <a:t>핵심 개체</a:t>
            </a:r>
          </a:p>
          <a:p>
            <a:r>
              <a:rPr lang="ko-KR" altLang="en-US" sz="1000" dirty="0"/>
              <a:t> └─ </a:t>
            </a:r>
            <a:r>
              <a:rPr lang="en-US" altLang="ko-KR" sz="1000" dirty="0" err="1"/>
              <a:t>semantic_mentions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en-US" sz="1000" dirty="0"/>
              <a:t>의미 관계</a:t>
            </a:r>
          </a:p>
          <a:p>
            <a:r>
              <a:rPr lang="ko-KR" altLang="en-US" sz="1000" dirty="0"/>
              <a:t> └─ </a:t>
            </a:r>
            <a:r>
              <a:rPr lang="en-US" altLang="ko-KR" sz="1000" dirty="0" err="1"/>
              <a:t>semantic_relations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en-US" sz="1000" dirty="0"/>
              <a:t>종합 특징</a:t>
            </a:r>
          </a:p>
          <a:p>
            <a:r>
              <a:rPr lang="ko-KR" altLang="en-US" sz="1000" dirty="0"/>
              <a:t> └─ </a:t>
            </a:r>
            <a:r>
              <a:rPr lang="en-US" altLang="ko-KR" sz="1000" dirty="0" err="1"/>
              <a:t>context_features</a:t>
            </a:r>
            <a:endParaRPr lang="ko-KR" altLang="en-US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2F05DC-E65D-414B-A7FF-67859FC017CB}"/>
              </a:ext>
            </a:extLst>
          </p:cNvPr>
          <p:cNvSpPr txBox="1"/>
          <p:nvPr/>
        </p:nvSpPr>
        <p:spPr>
          <a:xfrm>
            <a:off x="323068" y="2744909"/>
            <a:ext cx="493728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상대방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: “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대출회사 담당자입니다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. 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상환금을 보내고 앱을 설치하세요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.”</a:t>
            </a:r>
            <a:b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</a:b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고객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: “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송금하거나 설치했는지는 아직 모르겠습니다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.”</a:t>
            </a:r>
            <a:endParaRPr lang="ko-KR" altLang="en-US" sz="14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02A15005-E0B3-4F36-B1AE-B0C9DF15915B}"/>
              </a:ext>
            </a:extLst>
          </p:cNvPr>
          <p:cNvSpPr/>
          <p:nvPr/>
        </p:nvSpPr>
        <p:spPr>
          <a:xfrm>
            <a:off x="2531037" y="3336196"/>
            <a:ext cx="675150" cy="3349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F029C0-41ED-4E2A-ACDF-FC0F3F0B3A97}"/>
              </a:ext>
            </a:extLst>
          </p:cNvPr>
          <p:cNvSpPr txBox="1"/>
          <p:nvPr/>
        </p:nvSpPr>
        <p:spPr>
          <a:xfrm>
            <a:off x="323068" y="1204889"/>
            <a:ext cx="5030496" cy="14311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600" b="1" dirty="0">
                <a:latin typeface="페이퍼로지 7 Bold" pitchFamily="2" charset="-127"/>
                <a:ea typeface="페이퍼로지 7 Bold" pitchFamily="2" charset="-127"/>
              </a:rPr>
              <a:t>단순 텍스트 추출이 아닌</a:t>
            </a:r>
            <a:r>
              <a:rPr lang="en-US" altLang="ko-KR" sz="1600" b="1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1600" b="1" dirty="0">
                <a:latin typeface="페이퍼로지 7 Bold" pitchFamily="2" charset="-127"/>
                <a:ea typeface="페이퍼로지 7 Bold" pitchFamily="2" charset="-127"/>
              </a:rPr>
              <a:t>사건 재구성을 위한 구조화</a:t>
            </a:r>
          </a:p>
          <a:p>
            <a:endParaRPr lang="ko-KR" altLang="en-US" sz="1100" dirty="0"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ko-KR" altLang="en-US" sz="1100" dirty="0">
                <a:latin typeface="페이퍼로지 7 Bold" pitchFamily="2" charset="-127"/>
                <a:ea typeface="페이퍼로지 7 Bold" pitchFamily="2" charset="-127"/>
              </a:rPr>
              <a:t>통화에서 추출된 정보는 </a:t>
            </a:r>
            <a:r>
              <a:rPr lang="ko-KR" altLang="en-US" sz="1100" dirty="0">
                <a:solidFill>
                  <a:srgbClr val="0056FB"/>
                </a:solidFill>
                <a:latin typeface="페이퍼로지 7 Bold" pitchFamily="2" charset="-127"/>
                <a:ea typeface="페이퍼로지 7 Bold" pitchFamily="2" charset="-127"/>
              </a:rPr>
              <a:t>하나의 텍스트 요약으로 합치는 것이 아니라</a:t>
            </a:r>
            <a:endParaRPr lang="en-US" altLang="ko-KR" sz="1100" dirty="0">
              <a:solidFill>
                <a:srgbClr val="0056FB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ko-KR" altLang="en-US" sz="1100" dirty="0">
                <a:solidFill>
                  <a:srgbClr val="0056FB"/>
                </a:solidFill>
                <a:latin typeface="페이퍼로지 7 Bold" pitchFamily="2" charset="-127"/>
                <a:ea typeface="페이퍼로지 7 Bold" pitchFamily="2" charset="-127"/>
              </a:rPr>
              <a:t>발화</a:t>
            </a:r>
            <a:r>
              <a:rPr lang="en-US" altLang="ko-KR" sz="1100" dirty="0">
                <a:solidFill>
                  <a:srgbClr val="0056FB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1100" dirty="0">
                <a:solidFill>
                  <a:srgbClr val="0056FB"/>
                </a:solidFill>
                <a:latin typeface="페이퍼로지 7 Bold" pitchFamily="2" charset="-127"/>
                <a:ea typeface="페이퍼로지 7 Bold" pitchFamily="2" charset="-127"/>
              </a:rPr>
              <a:t>사건</a:t>
            </a:r>
            <a:r>
              <a:rPr lang="en-US" altLang="ko-KR" sz="1100" dirty="0">
                <a:solidFill>
                  <a:srgbClr val="0056FB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1100" dirty="0">
                <a:solidFill>
                  <a:srgbClr val="0056FB"/>
                </a:solidFill>
                <a:latin typeface="페이퍼로지 7 Bold" pitchFamily="2" charset="-127"/>
                <a:ea typeface="페이퍼로지 7 Bold" pitchFamily="2" charset="-127"/>
              </a:rPr>
              <a:t>의미</a:t>
            </a:r>
            <a:r>
              <a:rPr lang="en-US" altLang="ko-KR" sz="1100" dirty="0">
                <a:solidFill>
                  <a:srgbClr val="0056FB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1100" dirty="0">
                <a:solidFill>
                  <a:srgbClr val="0056FB"/>
                </a:solidFill>
                <a:latin typeface="페이퍼로지 7 Bold" pitchFamily="2" charset="-127"/>
                <a:ea typeface="페이퍼로지 7 Bold" pitchFamily="2" charset="-127"/>
              </a:rPr>
              <a:t>대상</a:t>
            </a:r>
            <a:r>
              <a:rPr lang="en-US" altLang="ko-KR" sz="1100" dirty="0">
                <a:solidFill>
                  <a:srgbClr val="0056FB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1100" dirty="0">
                <a:solidFill>
                  <a:srgbClr val="0056FB"/>
                </a:solidFill>
                <a:latin typeface="페이퍼로지 7 Bold" pitchFamily="2" charset="-127"/>
                <a:ea typeface="페이퍼로지 7 Bold" pitchFamily="2" charset="-127"/>
              </a:rPr>
              <a:t>관계</a:t>
            </a:r>
            <a:r>
              <a:rPr lang="en-US" altLang="ko-KR" sz="1100" dirty="0">
                <a:solidFill>
                  <a:srgbClr val="0056FB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1100" dirty="0">
                <a:solidFill>
                  <a:srgbClr val="0056FB"/>
                </a:solidFill>
                <a:latin typeface="페이퍼로지 7 Bold" pitchFamily="2" charset="-127"/>
                <a:ea typeface="페이퍼로지 7 Bold" pitchFamily="2" charset="-127"/>
              </a:rPr>
              <a:t>맥락 특징으로 분리</a:t>
            </a:r>
            <a:r>
              <a:rPr lang="ko-KR" altLang="en-US" sz="1100" dirty="0">
                <a:latin typeface="페이퍼로지 7 Bold" pitchFamily="2" charset="-127"/>
                <a:ea typeface="페이퍼로지 7 Bold" pitchFamily="2" charset="-127"/>
              </a:rPr>
              <a:t>된 구조화 데이터로 관리합니다</a:t>
            </a:r>
            <a:r>
              <a:rPr lang="en-US" altLang="ko-KR" sz="1100" dirty="0">
                <a:latin typeface="페이퍼로지 7 Bold" pitchFamily="2" charset="-127"/>
                <a:ea typeface="페이퍼로지 7 Bold" pitchFamily="2" charset="-127"/>
              </a:rPr>
              <a:t>.</a:t>
            </a:r>
          </a:p>
          <a:p>
            <a:endParaRPr lang="en-US" altLang="ko-KR" sz="1100" dirty="0"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ko-KR" altLang="en-US" sz="1100" dirty="0">
                <a:latin typeface="페이퍼로지 7 Bold" pitchFamily="2" charset="-127"/>
                <a:ea typeface="페이퍼로지 7 Bold" pitchFamily="2" charset="-127"/>
              </a:rPr>
              <a:t>예를 들어 ‘대출회사 담당자 사칭’</a:t>
            </a:r>
            <a:r>
              <a:rPr lang="en-US" altLang="ko-KR" sz="1100" dirty="0">
                <a:latin typeface="페이퍼로지 7 Bold" pitchFamily="2" charset="-127"/>
                <a:ea typeface="페이퍼로지 7 Bold" pitchFamily="2" charset="-127"/>
              </a:rPr>
              <a:t>, ‘</a:t>
            </a:r>
            <a:r>
              <a:rPr lang="ko-KR" altLang="en-US" sz="1100" dirty="0">
                <a:latin typeface="페이퍼로지 7 Bold" pitchFamily="2" charset="-127"/>
                <a:ea typeface="페이퍼로지 7 Bold" pitchFamily="2" charset="-127"/>
              </a:rPr>
              <a:t>송금 요구’</a:t>
            </a:r>
            <a:r>
              <a:rPr lang="en-US" altLang="ko-KR" sz="1100" dirty="0">
                <a:latin typeface="페이퍼로지 7 Bold" pitchFamily="2" charset="-127"/>
                <a:ea typeface="페이퍼로지 7 Bold" pitchFamily="2" charset="-127"/>
              </a:rPr>
              <a:t>, ‘</a:t>
            </a:r>
            <a:r>
              <a:rPr lang="ko-KR" altLang="en-US" sz="1100" dirty="0">
                <a:latin typeface="페이퍼로지 7 Bold" pitchFamily="2" charset="-127"/>
                <a:ea typeface="페이퍼로지 7 Bold" pitchFamily="2" charset="-127"/>
              </a:rPr>
              <a:t>앱 설치 요구’</a:t>
            </a:r>
            <a:r>
              <a:rPr lang="en-US" altLang="ko-KR" sz="1100" dirty="0">
                <a:latin typeface="페이퍼로지 7 Bold" pitchFamily="2" charset="-127"/>
                <a:ea typeface="페이퍼로지 7 Bold" pitchFamily="2" charset="-127"/>
              </a:rPr>
              <a:t>, ‘</a:t>
            </a:r>
            <a:r>
              <a:rPr lang="ko-KR" altLang="en-US" sz="1100" dirty="0">
                <a:latin typeface="페이퍼로지 7 Bold" pitchFamily="2" charset="-127"/>
                <a:ea typeface="페이퍼로지 7 Bold" pitchFamily="2" charset="-127"/>
              </a:rPr>
              <a:t>고객의 실제 수행 여부 미확인’같은 개별 사실을 각각 보존하고</a:t>
            </a:r>
            <a:r>
              <a:rPr lang="en-US" altLang="ko-KR" sz="1100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1100" dirty="0">
                <a:latin typeface="페이퍼로지 7 Bold" pitchFamily="2" charset="-127"/>
                <a:ea typeface="페이퍼로지 7 Bold" pitchFamily="2" charset="-127"/>
              </a:rPr>
              <a:t>이들 사이의 관계를 연결할 수 있습니다</a:t>
            </a:r>
            <a:r>
              <a:rPr lang="en-US" altLang="ko-KR" sz="1100" dirty="0">
                <a:latin typeface="페이퍼로지 7 Bold" pitchFamily="2" charset="-127"/>
                <a:ea typeface="페이퍼로지 7 Bold" pitchFamily="2" charset="-127"/>
              </a:rPr>
              <a:t>. CSR</a:t>
            </a:r>
            <a:r>
              <a:rPr lang="ko-KR" altLang="en-US" sz="1100" dirty="0">
                <a:latin typeface="페이퍼로지 7 Bold" pitchFamily="2" charset="-127"/>
                <a:ea typeface="페이퍼로지 7 Bold" pitchFamily="2" charset="-127"/>
              </a:rPr>
              <a:t>은 전달받은 구조화 데이터를 기반으로 사건의 관계와 복합 신호를 분석하고</a:t>
            </a:r>
            <a:r>
              <a:rPr lang="en-US" altLang="ko-KR" sz="1100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1100" dirty="0">
                <a:latin typeface="페이퍼로지 7 Bold" pitchFamily="2" charset="-127"/>
                <a:ea typeface="페이퍼로지 7 Bold" pitchFamily="2" charset="-127"/>
              </a:rPr>
              <a:t>사건을 요약합니다</a:t>
            </a:r>
            <a:r>
              <a:rPr lang="en-US" altLang="ko-KR" sz="1100" dirty="0">
                <a:latin typeface="페이퍼로지 7 Bold" pitchFamily="2" charset="-127"/>
                <a:ea typeface="페이퍼로지 7 Bold" pitchFamily="2" charset="-127"/>
              </a:rPr>
              <a:t>.</a:t>
            </a:r>
            <a:endParaRPr lang="en-US" altLang="ko-KR" sz="1000" dirty="0">
              <a:latin typeface="페이퍼로지 7 Bold" pitchFamily="2" charset="-127"/>
              <a:ea typeface="페이퍼로지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59889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198364-3EB8-4F02-B8AE-7280D7F67D7F}"/>
              </a:ext>
            </a:extLst>
          </p:cNvPr>
          <p:cNvSpPr txBox="1"/>
          <p:nvPr/>
        </p:nvSpPr>
        <p:spPr>
          <a:xfrm>
            <a:off x="618836" y="590760"/>
            <a:ext cx="1095433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JSON</a:t>
            </a:r>
            <a:r>
              <a:rPr lang="ko-KR" altLang="en-US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의 데이터를 재구성하여 </a:t>
            </a:r>
            <a:r>
              <a:rPr lang="en-US" altLang="ko-KR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AI</a:t>
            </a:r>
            <a:r>
              <a:rPr lang="ko-KR" altLang="en-US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가 분석한 데이터를 </a:t>
            </a:r>
            <a:r>
              <a:rPr lang="en-US" altLang="ko-KR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DB</a:t>
            </a:r>
            <a:r>
              <a:rPr lang="ko-KR" altLang="en-US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에 저장하고 </a:t>
            </a:r>
            <a:r>
              <a:rPr lang="en-US" altLang="ko-KR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AI</a:t>
            </a:r>
            <a:r>
              <a:rPr lang="ko-KR" altLang="en-US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가 이 데이터를 </a:t>
            </a:r>
            <a:r>
              <a:rPr lang="en-US" altLang="ko-KR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CRUD</a:t>
            </a:r>
            <a:r>
              <a:rPr lang="ko-KR" altLang="en-US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하도록 함</a:t>
            </a:r>
            <a:endParaRPr lang="en-US" altLang="ko-KR" sz="20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DB</a:t>
            </a:r>
            <a:r>
              <a:rPr lang="ko-KR" altLang="en-US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의 데이터들을 워크스페이스 </a:t>
            </a:r>
            <a:r>
              <a:rPr lang="en-US" altLang="ko-KR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Case room</a:t>
            </a:r>
            <a:r>
              <a:rPr lang="ko-KR" altLang="en-US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이 생성됩니다</a:t>
            </a:r>
            <a:r>
              <a:rPr lang="en-US" altLang="ko-KR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.</a:t>
            </a:r>
          </a:p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Case room</a:t>
            </a:r>
            <a:r>
              <a:rPr lang="ko-KR" altLang="en-US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에는 </a:t>
            </a:r>
            <a:r>
              <a:rPr lang="en-US" altLang="ko-KR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‘</a:t>
            </a:r>
            <a:r>
              <a:rPr lang="ko-KR" altLang="en-US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고객과</a:t>
            </a:r>
            <a:endParaRPr lang="en-US" altLang="ko-KR" sz="20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D4555-1882-48A5-A1CD-87295CCFB061}"/>
              </a:ext>
            </a:extLst>
          </p:cNvPr>
          <p:cNvSpPr txBox="1"/>
          <p:nvPr/>
        </p:nvSpPr>
        <p:spPr>
          <a:xfrm>
            <a:off x="4351943" y="337425"/>
            <a:ext cx="3488135" cy="154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75" b="1">
                <a:solidFill>
                  <a:srgbClr val="2F66E8"/>
                </a:solidFill>
              </a:defRPr>
            </a:pPr>
            <a:r>
              <a:rPr lang="ko-KR" altLang="en-US" sz="1050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서비스 소개 </a:t>
            </a:r>
            <a:r>
              <a:rPr lang="en-US" altLang="ko-KR" sz="1050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- B2B </a:t>
            </a:r>
            <a:r>
              <a:rPr lang="ko-KR" altLang="en-US" sz="1050" u="none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워크스페이스 </a:t>
            </a:r>
            <a:r>
              <a:rPr lang="en-US" altLang="ko-KR" sz="1050" u="none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 CSR | Case Share Room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2A3280-B0F8-4DF3-92E0-7F2396C86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401" y="1459651"/>
            <a:ext cx="10283198" cy="506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227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405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10346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26420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53F654C-F153-40C6-9569-B8B068188D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9000">
                <a:srgbClr val="0E2746"/>
              </a:gs>
              <a:gs pos="0">
                <a:schemeClr val="tx1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8DB111-AB66-4EB4-B86A-6DE88D8B4C05}"/>
              </a:ext>
            </a:extLst>
          </p:cNvPr>
          <p:cNvSpPr txBox="1"/>
          <p:nvPr/>
        </p:nvSpPr>
        <p:spPr>
          <a:xfrm>
            <a:off x="618836" y="590760"/>
            <a:ext cx="1095433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생성된 보이스피싱 </a:t>
            </a:r>
            <a:r>
              <a:rPr lang="en-US" altLang="ko-KR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CASE</a:t>
            </a:r>
            <a:r>
              <a:rPr lang="ko-KR" altLang="en-US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들은 하나의 게시판 형태로 확인하고 관리할 수 있습니다</a:t>
            </a:r>
            <a:endParaRPr sz="20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5835A5-674B-4134-A91F-E20946AE389B}"/>
              </a:ext>
            </a:extLst>
          </p:cNvPr>
          <p:cNvSpPr txBox="1"/>
          <p:nvPr/>
        </p:nvSpPr>
        <p:spPr>
          <a:xfrm>
            <a:off x="4351943" y="337425"/>
            <a:ext cx="3488135" cy="154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75" b="1">
                <a:solidFill>
                  <a:srgbClr val="2F66E8"/>
                </a:solidFill>
              </a:defRPr>
            </a:pPr>
            <a:r>
              <a:rPr lang="ko-KR" altLang="en-US" sz="1050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서비스 소개 </a:t>
            </a:r>
            <a:r>
              <a:rPr lang="en-US" altLang="ko-KR" sz="1050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- B2B </a:t>
            </a:r>
            <a:r>
              <a:rPr lang="ko-KR" altLang="en-US" sz="1050" u="none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워크스페이스 </a:t>
            </a:r>
            <a:r>
              <a:rPr lang="en-US" altLang="ko-KR" sz="1050" u="none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 CSR | Case Share Room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4F55A2-5E22-4183-B5CA-05D21BEAC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34" y="1260239"/>
            <a:ext cx="10954332" cy="5356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6680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B5BED5-FAB5-4637-B22B-FA957D97684F}"/>
              </a:ext>
            </a:extLst>
          </p:cNvPr>
          <p:cNvSpPr txBox="1"/>
          <p:nvPr/>
        </p:nvSpPr>
        <p:spPr>
          <a:xfrm>
            <a:off x="618836" y="590760"/>
            <a:ext cx="1095433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발생한 여러 보이스피싱 사건들을 하나의 게시판 형태로 확인하고 관리할 수 있습니다</a:t>
            </a:r>
            <a:endParaRPr sz="20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00BF99-9D27-4C89-8CC0-A280210F5E21}"/>
              </a:ext>
            </a:extLst>
          </p:cNvPr>
          <p:cNvSpPr txBox="1"/>
          <p:nvPr/>
        </p:nvSpPr>
        <p:spPr>
          <a:xfrm>
            <a:off x="4351943" y="337425"/>
            <a:ext cx="3488135" cy="154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75" b="1">
                <a:solidFill>
                  <a:srgbClr val="2F66E8"/>
                </a:solidFill>
              </a:defRPr>
            </a:pPr>
            <a:r>
              <a:rPr lang="ko-KR" altLang="en-US" sz="1050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서비스 소개 </a:t>
            </a:r>
            <a:r>
              <a:rPr lang="en-US" altLang="ko-KR" sz="1050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- B2B </a:t>
            </a:r>
            <a:r>
              <a:rPr lang="ko-KR" altLang="en-US" sz="1050" u="none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워크스페이스 </a:t>
            </a:r>
            <a:r>
              <a:rPr lang="en-US" altLang="ko-KR" sz="1050" u="none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 CSR | Case Share Room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0127F3-7E0D-4E1C-B3C5-BCFF89E88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79" y="1968734"/>
            <a:ext cx="3472992" cy="38794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75E172-DE32-4D2C-8CD4-F4EDA21D0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943" y="1990724"/>
            <a:ext cx="5879322" cy="3766441"/>
          </a:xfrm>
          <a:prstGeom prst="rect">
            <a:avLst/>
          </a:prstGeom>
        </p:spPr>
      </p:pic>
      <p:sp>
        <p:nvSpPr>
          <p:cNvPr id="7" name="Chevron 17">
            <a:extLst>
              <a:ext uri="{FF2B5EF4-FFF2-40B4-BE49-F238E27FC236}">
                <a16:creationId xmlns:a16="http://schemas.microsoft.com/office/drawing/2014/main" id="{FF6F99AF-648B-4D29-98D0-3A330AED48CB}"/>
              </a:ext>
            </a:extLst>
          </p:cNvPr>
          <p:cNvSpPr/>
          <p:nvPr/>
        </p:nvSpPr>
        <p:spPr>
          <a:xfrm>
            <a:off x="3889087" y="3766385"/>
            <a:ext cx="320040" cy="234168"/>
          </a:xfrm>
          <a:prstGeom prst="chevron">
            <a:avLst/>
          </a:prstGeom>
          <a:solidFill>
            <a:srgbClr val="D3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91617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60898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AAB2A4A-E2CF-4E23-B43A-3F0F051805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9000">
                <a:srgbClr val="0E2746"/>
              </a:gs>
              <a:gs pos="0">
                <a:schemeClr val="tx1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BA5442-B762-4D0D-84E2-A92D11C39D11}"/>
              </a:ext>
            </a:extLst>
          </p:cNvPr>
          <p:cNvSpPr txBox="1"/>
          <p:nvPr/>
        </p:nvSpPr>
        <p:spPr>
          <a:xfrm>
            <a:off x="618836" y="943950"/>
            <a:ext cx="1095433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이 아이디어는 어디에서 나왔는가</a:t>
            </a:r>
            <a:r>
              <a:rPr lang="en-US" altLang="ko-KR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B00EE7-334A-4AE1-A222-ECC8F4084C06}"/>
              </a:ext>
            </a:extLst>
          </p:cNvPr>
          <p:cNvSpPr txBox="1"/>
          <p:nvPr/>
        </p:nvSpPr>
        <p:spPr>
          <a:xfrm>
            <a:off x="4309463" y="494354"/>
            <a:ext cx="3573094" cy="154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75" b="1">
                <a:solidFill>
                  <a:srgbClr val="2F66E8"/>
                </a:solidFill>
              </a:defRPr>
            </a:pPr>
            <a:r>
              <a:rPr lang="ko-KR" altLang="en-US" sz="1050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서비스 방향 </a:t>
            </a:r>
            <a:r>
              <a:rPr lang="en-US" altLang="ko-KR" sz="1050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- B2B </a:t>
            </a:r>
            <a:r>
              <a:rPr lang="ko-KR" altLang="en-US" sz="1050" u="none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워크스페이스 </a:t>
            </a:r>
            <a:r>
              <a:rPr lang="en-US" altLang="ko-KR" sz="1050" u="none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 CSR | Case Share Room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D73350-6430-4EB7-885D-D2ABB5AA17BE}"/>
              </a:ext>
            </a:extLst>
          </p:cNvPr>
          <p:cNvSpPr txBox="1"/>
          <p:nvPr/>
        </p:nvSpPr>
        <p:spPr>
          <a:xfrm>
            <a:off x="11606820" y="6476226"/>
            <a:ext cx="320040" cy="1600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lang="en-US" sz="800" b="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15</a:t>
            </a:r>
            <a:endParaRPr sz="800" b="0" dirty="0">
              <a:solidFill>
                <a:srgbClr val="6A7B97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47769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3651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hevron 13">
            <a:extLst>
              <a:ext uri="{FF2B5EF4-FFF2-40B4-BE49-F238E27FC236}">
                <a16:creationId xmlns:a16="http://schemas.microsoft.com/office/drawing/2014/main" id="{1021D331-45A5-4FB6-80EA-37B37F57ECD5}"/>
              </a:ext>
            </a:extLst>
          </p:cNvPr>
          <p:cNvSpPr/>
          <p:nvPr/>
        </p:nvSpPr>
        <p:spPr>
          <a:xfrm>
            <a:off x="2602992" y="2552315"/>
            <a:ext cx="228600" cy="274320"/>
          </a:xfrm>
          <a:prstGeom prst="chevron">
            <a:avLst/>
          </a:prstGeom>
          <a:solidFill>
            <a:srgbClr val="D3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Chevron 21">
            <a:extLst>
              <a:ext uri="{FF2B5EF4-FFF2-40B4-BE49-F238E27FC236}">
                <a16:creationId xmlns:a16="http://schemas.microsoft.com/office/drawing/2014/main" id="{190E0CCA-F12F-4F5E-8254-A1FC9479D07B}"/>
              </a:ext>
            </a:extLst>
          </p:cNvPr>
          <p:cNvSpPr/>
          <p:nvPr/>
        </p:nvSpPr>
        <p:spPr>
          <a:xfrm>
            <a:off x="4870703" y="2552315"/>
            <a:ext cx="228600" cy="274320"/>
          </a:xfrm>
          <a:prstGeom prst="chevron">
            <a:avLst/>
          </a:prstGeom>
          <a:solidFill>
            <a:srgbClr val="D3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Chevron 29">
            <a:extLst>
              <a:ext uri="{FF2B5EF4-FFF2-40B4-BE49-F238E27FC236}">
                <a16:creationId xmlns:a16="http://schemas.microsoft.com/office/drawing/2014/main" id="{1D8F222C-01E0-4728-91D3-53088039F919}"/>
              </a:ext>
            </a:extLst>
          </p:cNvPr>
          <p:cNvSpPr/>
          <p:nvPr/>
        </p:nvSpPr>
        <p:spPr>
          <a:xfrm>
            <a:off x="7138415" y="2552315"/>
            <a:ext cx="228600" cy="274320"/>
          </a:xfrm>
          <a:prstGeom prst="chevron">
            <a:avLst/>
          </a:prstGeom>
          <a:solidFill>
            <a:srgbClr val="D3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Chevron 37">
            <a:extLst>
              <a:ext uri="{FF2B5EF4-FFF2-40B4-BE49-F238E27FC236}">
                <a16:creationId xmlns:a16="http://schemas.microsoft.com/office/drawing/2014/main" id="{E12E0CDC-BBD4-4A5B-93D1-EB6821825C52}"/>
              </a:ext>
            </a:extLst>
          </p:cNvPr>
          <p:cNvSpPr/>
          <p:nvPr/>
        </p:nvSpPr>
        <p:spPr>
          <a:xfrm>
            <a:off x="9406127" y="2552315"/>
            <a:ext cx="228600" cy="274320"/>
          </a:xfrm>
          <a:prstGeom prst="chevron">
            <a:avLst/>
          </a:prstGeom>
          <a:solidFill>
            <a:srgbClr val="D3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Arrow: Down 89">
            <a:extLst>
              <a:ext uri="{FF2B5EF4-FFF2-40B4-BE49-F238E27FC236}">
                <a16:creationId xmlns:a16="http://schemas.microsoft.com/office/drawing/2014/main" id="{463A1AEA-09E0-4E8B-9947-3059E99586C0}"/>
              </a:ext>
            </a:extLst>
          </p:cNvPr>
          <p:cNvSpPr/>
          <p:nvPr/>
        </p:nvSpPr>
        <p:spPr>
          <a:xfrm rot="16200000">
            <a:off x="7461651" y="5467773"/>
            <a:ext cx="1011562" cy="900289"/>
          </a:xfrm>
          <a:prstGeom prst="downArrow">
            <a:avLst>
              <a:gd name="adj1" fmla="val 50000"/>
              <a:gd name="adj2" fmla="val 59404"/>
            </a:avLst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85000">
                <a:srgbClr val="F7FAFF"/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29D4146-5403-4979-AC2D-C8B9C8CEBCE8}"/>
              </a:ext>
            </a:extLst>
          </p:cNvPr>
          <p:cNvSpPr txBox="1"/>
          <p:nvPr/>
        </p:nvSpPr>
        <p:spPr>
          <a:xfrm>
            <a:off x="548640" y="616935"/>
            <a:ext cx="10744200" cy="71404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lang="ko-KR" altLang="en-US" sz="22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보이스피싱 위험은 탐지와 경고만으로 끝나지 않습니다</a:t>
            </a:r>
          </a:p>
          <a:p>
            <a:pPr algn="l"/>
            <a:r>
              <a:rPr lang="ko-KR" altLang="en-US" sz="22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은행 직원은 즉시 사건을 파악하고</a:t>
            </a:r>
            <a:r>
              <a:rPr lang="en-US" altLang="ko-KR" sz="22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22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고객과 접촉해 사실을 확인</a:t>
            </a:r>
            <a:r>
              <a:rPr lang="en-US" altLang="ko-KR" sz="22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22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설득해야 합니다</a:t>
            </a:r>
            <a:endParaRPr lang="en-US" altLang="ko-KR" sz="2200" b="1" dirty="0">
              <a:solidFill>
                <a:srgbClr val="102D52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E345A3-D24C-4631-A7D0-C1ED1DC4E2C9}"/>
              </a:ext>
            </a:extLst>
          </p:cNvPr>
          <p:cNvSpPr txBox="1"/>
          <p:nvPr/>
        </p:nvSpPr>
        <p:spPr>
          <a:xfrm>
            <a:off x="548640" y="379231"/>
            <a:ext cx="5486400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ko-KR" altLang="en-US"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③</a:t>
            </a:r>
            <a:r>
              <a:rPr lang="en-US" altLang="ko-KR"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 - 2</a:t>
            </a:r>
            <a:r>
              <a:rPr lang="ko-KR" altLang="en-US"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 현재 대응체계와 한계 </a:t>
            </a:r>
            <a:r>
              <a:rPr lang="en-US" altLang="ko-KR"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– </a:t>
            </a:r>
            <a:r>
              <a:rPr lang="ko-KR" altLang="en-US"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탐지 이후 은행 업무 프로세스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1C7DC8F-6AA4-4D90-BF8E-85A1EAFE4643}"/>
              </a:ext>
            </a:extLst>
          </p:cNvPr>
          <p:cNvGrpSpPr/>
          <p:nvPr/>
        </p:nvGrpSpPr>
        <p:grpSpPr>
          <a:xfrm>
            <a:off x="1155697" y="3395963"/>
            <a:ext cx="3013845" cy="1879677"/>
            <a:chOff x="1215085" y="3260965"/>
            <a:chExt cx="3013845" cy="1879677"/>
          </a:xfrm>
        </p:grpSpPr>
        <p:sp>
          <p:nvSpPr>
            <p:cNvPr id="3" name="Arrow: Down 2">
              <a:extLst>
                <a:ext uri="{FF2B5EF4-FFF2-40B4-BE49-F238E27FC236}">
                  <a16:creationId xmlns:a16="http://schemas.microsoft.com/office/drawing/2014/main" id="{434EA460-286D-4581-84D7-A8EB0FC1803B}"/>
                </a:ext>
              </a:extLst>
            </p:cNvPr>
            <p:cNvSpPr/>
            <p:nvPr/>
          </p:nvSpPr>
          <p:spPr>
            <a:xfrm>
              <a:off x="2216226" y="3260965"/>
              <a:ext cx="1011562" cy="900289"/>
            </a:xfrm>
            <a:prstGeom prst="downArrow">
              <a:avLst>
                <a:gd name="adj1" fmla="val 50000"/>
                <a:gd name="adj2" fmla="val 59404"/>
              </a:avLst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85000">
                  <a:srgbClr val="F7FAFF"/>
                </a:gs>
              </a:gsLst>
              <a:lin ang="162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20C0FA4-5364-4EA0-83DB-8AFE28E786B2}"/>
                </a:ext>
              </a:extLst>
            </p:cNvPr>
            <p:cNvGrpSpPr/>
            <p:nvPr/>
          </p:nvGrpSpPr>
          <p:grpSpPr>
            <a:xfrm>
              <a:off x="1215085" y="4104002"/>
              <a:ext cx="3013845" cy="1036640"/>
              <a:chOff x="1215085" y="4104002"/>
              <a:chExt cx="3013845" cy="1036640"/>
            </a:xfrm>
          </p:grpSpPr>
          <p:sp>
            <p:nvSpPr>
              <p:cNvPr id="46" name="Rounded Rectangle 46">
                <a:extLst>
                  <a:ext uri="{FF2B5EF4-FFF2-40B4-BE49-F238E27FC236}">
                    <a16:creationId xmlns:a16="http://schemas.microsoft.com/office/drawing/2014/main" id="{91E43450-BC9D-44D6-92C8-07D61B7CB8E6}"/>
                  </a:ext>
                </a:extLst>
              </p:cNvPr>
              <p:cNvSpPr/>
              <p:nvPr/>
            </p:nvSpPr>
            <p:spPr>
              <a:xfrm>
                <a:off x="1215085" y="4104002"/>
                <a:ext cx="3013845" cy="1036640"/>
              </a:xfrm>
              <a:prstGeom prst="roundRect">
                <a:avLst/>
              </a:prstGeom>
              <a:solidFill>
                <a:srgbClr val="F4F1FF"/>
              </a:solidFill>
              <a:ln w="15240">
                <a:solidFill>
                  <a:srgbClr val="7052B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B8CBAD4-D5C6-4D1E-9FD0-E8AD0754033C}"/>
                  </a:ext>
                </a:extLst>
              </p:cNvPr>
              <p:cNvSpPr txBox="1"/>
              <p:nvPr/>
            </p:nvSpPr>
            <p:spPr>
              <a:xfrm>
                <a:off x="1379677" y="4230023"/>
                <a:ext cx="2066271" cy="17235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lang="en-US" altLang="ko-KR" sz="1120" b="1" dirty="0">
                    <a:solidFill>
                      <a:srgbClr val="7052BE"/>
                    </a:solidFill>
                    <a:latin typeface="페이퍼로지 7 Bold" pitchFamily="2" charset="-127"/>
                    <a:ea typeface="페이퍼로지 7 Bold" pitchFamily="2" charset="-127"/>
                  </a:rPr>
                  <a:t>A. </a:t>
                </a:r>
                <a:r>
                  <a:rPr lang="ko-KR" altLang="en-US" sz="1120" b="1" dirty="0">
                    <a:solidFill>
                      <a:srgbClr val="7052BE"/>
                    </a:solidFill>
                    <a:latin typeface="페이퍼로지 7 Bold" pitchFamily="2" charset="-127"/>
                    <a:ea typeface="페이퍼로지 7 Bold" pitchFamily="2" charset="-127"/>
                  </a:rPr>
                  <a:t>사건 맥락 재구성 </a:t>
                </a:r>
                <a:r>
                  <a:rPr lang="en-US" altLang="ko-KR" sz="1120" b="1" dirty="0">
                    <a:solidFill>
                      <a:srgbClr val="7052BE"/>
                    </a:solidFill>
                    <a:latin typeface="페이퍼로지 7 Bold" pitchFamily="2" charset="-127"/>
                    <a:ea typeface="페이퍼로지 7 Bold" pitchFamily="2" charset="-127"/>
                  </a:rPr>
                  <a:t>· </a:t>
                </a:r>
                <a:r>
                  <a:rPr lang="ko-KR" altLang="en-US" sz="1120" b="1" dirty="0">
                    <a:solidFill>
                      <a:srgbClr val="7052BE"/>
                    </a:solidFill>
                    <a:latin typeface="페이퍼로지 7 Bold" pitchFamily="2" charset="-127"/>
                    <a:ea typeface="페이퍼로지 7 Bold" pitchFamily="2" charset="-127"/>
                  </a:rPr>
                  <a:t>상황 파악 부담</a:t>
                </a:r>
                <a:endParaRPr sz="1120" b="1" dirty="0">
                  <a:solidFill>
                    <a:srgbClr val="7052BE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52C7D2C-2A4F-4785-928F-063C0AD92915}"/>
                  </a:ext>
                </a:extLst>
              </p:cNvPr>
              <p:cNvSpPr txBox="1"/>
              <p:nvPr/>
            </p:nvSpPr>
            <p:spPr>
              <a:xfrm>
                <a:off x="1379678" y="4486280"/>
                <a:ext cx="2703674" cy="46166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ko-KR" altLang="en-US" sz="1000" b="1" dirty="0">
                    <a:latin typeface="페이퍼로지 7 Bold" pitchFamily="2" charset="-127"/>
                    <a:ea typeface="페이퍼로지 7 Bold" pitchFamily="2" charset="-127"/>
                  </a:rPr>
                  <a:t>자연어가 아닌 요소화된 </a:t>
                </a:r>
                <a:r>
                  <a:rPr lang="en-US" altLang="ko-KR" sz="1000" b="1" dirty="0">
                    <a:latin typeface="페이퍼로지 7 Bold" pitchFamily="2" charset="-127"/>
                    <a:ea typeface="페이퍼로지 7 Bold" pitchFamily="2" charset="-127"/>
                  </a:rPr>
                  <a:t>FDS Alert</a:t>
                </a:r>
                <a:r>
                  <a:rPr lang="ko-KR" altLang="en-US" sz="1000" b="1" dirty="0">
                    <a:latin typeface="페이퍼로지 7 Bold" pitchFamily="2" charset="-127"/>
                    <a:ea typeface="페이퍼로지 7 Bold" pitchFamily="2" charset="-127"/>
                  </a:rPr>
                  <a:t>만으로</a:t>
                </a:r>
              </a:p>
              <a:p>
                <a:pPr algn="l"/>
                <a:r>
                  <a:rPr lang="ko-KR" altLang="en-US" sz="1000" b="1" dirty="0">
                    <a:solidFill>
                      <a:srgbClr val="EE4344"/>
                    </a:solidFill>
                    <a:latin typeface="페이퍼로지 7 Bold" pitchFamily="2" charset="-127"/>
                    <a:ea typeface="페이퍼로지 7 Bold" pitchFamily="2" charset="-127"/>
                  </a:rPr>
                  <a:t>사람이 사건의 맥락과 상황을 이해하기 어려움</a:t>
                </a:r>
                <a:endParaRPr lang="en-US" altLang="ko-KR" sz="10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  <a:p>
                <a:r>
                  <a:rPr lang="ko-KR" altLang="en-US" sz="1000" b="1" dirty="0">
                    <a:latin typeface="페이퍼로지 7 Bold" pitchFamily="2" charset="-127"/>
                    <a:ea typeface="페이퍼로지 7 Bold" pitchFamily="2" charset="-127"/>
                  </a:rPr>
                  <a:t>상황을 명확히 알기 어려워 설득력이 떨어질 수 있음</a:t>
                </a:r>
                <a:endParaRPr lang="en-US" altLang="ko-KR" sz="1000" b="1" dirty="0"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F867C4A-9B15-4C3A-A573-D5C00C6CD112}"/>
              </a:ext>
            </a:extLst>
          </p:cNvPr>
          <p:cNvGrpSpPr/>
          <p:nvPr/>
        </p:nvGrpSpPr>
        <p:grpSpPr>
          <a:xfrm>
            <a:off x="4589078" y="3395963"/>
            <a:ext cx="3013845" cy="1879677"/>
            <a:chOff x="4575676" y="3260965"/>
            <a:chExt cx="3013845" cy="1879677"/>
          </a:xfrm>
        </p:grpSpPr>
        <p:sp>
          <p:nvSpPr>
            <p:cNvPr id="70" name="Arrow: Down 69">
              <a:extLst>
                <a:ext uri="{FF2B5EF4-FFF2-40B4-BE49-F238E27FC236}">
                  <a16:creationId xmlns:a16="http://schemas.microsoft.com/office/drawing/2014/main" id="{C4715498-AAA5-4A73-B90E-D3E611FBFCE8}"/>
                </a:ext>
              </a:extLst>
            </p:cNvPr>
            <p:cNvSpPr/>
            <p:nvPr/>
          </p:nvSpPr>
          <p:spPr>
            <a:xfrm>
              <a:off x="5576817" y="3260965"/>
              <a:ext cx="1011562" cy="900289"/>
            </a:xfrm>
            <a:prstGeom prst="downArrow">
              <a:avLst>
                <a:gd name="adj1" fmla="val 50000"/>
                <a:gd name="adj2" fmla="val 59404"/>
              </a:avLst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85000">
                  <a:srgbClr val="F7FAFF"/>
                </a:gs>
              </a:gsLst>
              <a:lin ang="162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2DA4147-D968-47EF-A878-5F41986BACA3}"/>
                </a:ext>
              </a:extLst>
            </p:cNvPr>
            <p:cNvGrpSpPr/>
            <p:nvPr/>
          </p:nvGrpSpPr>
          <p:grpSpPr>
            <a:xfrm>
              <a:off x="4575676" y="4104002"/>
              <a:ext cx="3013845" cy="1036640"/>
              <a:chOff x="4575676" y="4104002"/>
              <a:chExt cx="3013845" cy="1036640"/>
            </a:xfrm>
          </p:grpSpPr>
          <p:sp>
            <p:nvSpPr>
              <p:cNvPr id="49" name="Rounded Rectangle 49">
                <a:extLst>
                  <a:ext uri="{FF2B5EF4-FFF2-40B4-BE49-F238E27FC236}">
                    <a16:creationId xmlns:a16="http://schemas.microsoft.com/office/drawing/2014/main" id="{AC9B2C35-6A02-4514-A6E4-914F4F6088B7}"/>
                  </a:ext>
                </a:extLst>
              </p:cNvPr>
              <p:cNvSpPr/>
              <p:nvPr/>
            </p:nvSpPr>
            <p:spPr>
              <a:xfrm>
                <a:off x="4575676" y="4104002"/>
                <a:ext cx="3013845" cy="1036640"/>
              </a:xfrm>
              <a:prstGeom prst="roundRect">
                <a:avLst/>
              </a:prstGeom>
              <a:solidFill>
                <a:srgbClr val="FFF7E7"/>
              </a:solidFill>
              <a:ln w="15240">
                <a:solidFill>
                  <a:srgbClr val="EE991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2B1B39B-4F34-4C54-BF04-69BA03F89622}"/>
                  </a:ext>
                </a:extLst>
              </p:cNvPr>
              <p:cNvSpPr txBox="1"/>
              <p:nvPr/>
            </p:nvSpPr>
            <p:spPr>
              <a:xfrm>
                <a:off x="4740268" y="4230023"/>
                <a:ext cx="2629795" cy="17235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n-US" altLang="ko-KR" sz="1120" b="1" dirty="0">
                    <a:solidFill>
                      <a:srgbClr val="EE9912"/>
                    </a:solidFill>
                    <a:latin typeface="페이퍼로지 7 Bold" pitchFamily="2" charset="-127"/>
                    <a:ea typeface="페이퍼로지 7 Bold" pitchFamily="2" charset="-127"/>
                  </a:rPr>
                  <a:t>B. </a:t>
                </a:r>
                <a:r>
                  <a:rPr lang="ko-KR" altLang="en-US" sz="1120" b="1" dirty="0">
                    <a:solidFill>
                      <a:srgbClr val="EE9912"/>
                    </a:solidFill>
                    <a:latin typeface="페이퍼로지 7 Bold" pitchFamily="2" charset="-127"/>
                    <a:ea typeface="페이퍼로지 7 Bold" pitchFamily="2" charset="-127"/>
                  </a:rPr>
                  <a:t>고객 답변 불확실성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2FC4577-87DD-401A-8FA2-C93EDAE4BEA1}"/>
                  </a:ext>
                </a:extLst>
              </p:cNvPr>
              <p:cNvSpPr txBox="1"/>
              <p:nvPr/>
            </p:nvSpPr>
            <p:spPr>
              <a:xfrm>
                <a:off x="4740268" y="4486280"/>
                <a:ext cx="2109552" cy="46166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lang="ko-KR" altLang="en-US" sz="1000" b="1" dirty="0">
                    <a:latin typeface="페이퍼로지 7 Bold" pitchFamily="2" charset="-127"/>
                    <a:ea typeface="페이퍼로지 7 Bold" pitchFamily="2" charset="-127"/>
                  </a:rPr>
                  <a:t>고객이 통화 중이거나</a:t>
                </a:r>
                <a:endParaRPr lang="en-US" altLang="ko-KR" sz="1000" b="1" dirty="0">
                  <a:latin typeface="페이퍼로지 7 Bold" pitchFamily="2" charset="-127"/>
                  <a:ea typeface="페이퍼로지 7 Bold" pitchFamily="2" charset="-127"/>
                </a:endParaRPr>
              </a:p>
              <a:p>
                <a:pPr algn="l"/>
                <a:r>
                  <a:rPr lang="ko-KR" altLang="en-US" sz="1000" b="1" dirty="0">
                    <a:latin typeface="페이퍼로지 7 Bold" pitchFamily="2" charset="-127"/>
                    <a:ea typeface="페이퍼로지 7 Bold" pitchFamily="2" charset="-127"/>
                  </a:rPr>
                  <a:t>혼란 </a:t>
                </a:r>
                <a:r>
                  <a:rPr lang="en-US" altLang="ko-KR" sz="1000" b="1" dirty="0">
                    <a:latin typeface="페이퍼로지 7 Bold" pitchFamily="2" charset="-127"/>
                    <a:ea typeface="페이퍼로지 7 Bold" pitchFamily="2" charset="-127"/>
                  </a:rPr>
                  <a:t>· </a:t>
                </a:r>
                <a:r>
                  <a:rPr lang="ko-KR" altLang="en-US" sz="1000" b="1" dirty="0">
                    <a:latin typeface="페이퍼로지 7 Bold" pitchFamily="2" charset="-127"/>
                    <a:ea typeface="페이퍼로지 7 Bold" pitchFamily="2" charset="-127"/>
                  </a:rPr>
                  <a:t>부인 </a:t>
                </a:r>
                <a:r>
                  <a:rPr lang="en-US" altLang="ko-KR" sz="1000" b="1" dirty="0">
                    <a:latin typeface="페이퍼로지 7 Bold" pitchFamily="2" charset="-127"/>
                    <a:ea typeface="페이퍼로지 7 Bold" pitchFamily="2" charset="-127"/>
                  </a:rPr>
                  <a:t>· </a:t>
                </a:r>
                <a:r>
                  <a:rPr lang="ko-KR" altLang="en-US" sz="1000" b="1" dirty="0">
                    <a:latin typeface="페이퍼로지 7 Bold" pitchFamily="2" charset="-127"/>
                    <a:ea typeface="페이퍼로지 7 Bold" pitchFamily="2" charset="-127"/>
                  </a:rPr>
                  <a:t>가스라이팅 상태로</a:t>
                </a:r>
                <a:endParaRPr lang="en-US" altLang="ko-KR" sz="1000" b="1" dirty="0">
                  <a:latin typeface="페이퍼로지 7 Bold" pitchFamily="2" charset="-127"/>
                  <a:ea typeface="페이퍼로지 7 Bold" pitchFamily="2" charset="-127"/>
                </a:endParaRPr>
              </a:p>
              <a:p>
                <a:pPr algn="l"/>
                <a:r>
                  <a:rPr lang="ko-KR" altLang="en-US" sz="1000" b="1" dirty="0">
                    <a:solidFill>
                      <a:srgbClr val="EE4344"/>
                    </a:solidFill>
                    <a:latin typeface="페이퍼로지 7 Bold" pitchFamily="2" charset="-127"/>
                    <a:ea typeface="페이퍼로지 7 Bold" pitchFamily="2" charset="-127"/>
                  </a:rPr>
                  <a:t>제대로 된 진위 여부 확인이 어려울 수 있음</a:t>
                </a:r>
                <a:endParaRPr sz="10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98F62A0-D563-4942-BCAB-D490B79C7D66}"/>
              </a:ext>
            </a:extLst>
          </p:cNvPr>
          <p:cNvGrpSpPr/>
          <p:nvPr/>
        </p:nvGrpSpPr>
        <p:grpSpPr>
          <a:xfrm>
            <a:off x="8022458" y="3395963"/>
            <a:ext cx="3013845" cy="1879677"/>
            <a:chOff x="8081846" y="3260965"/>
            <a:chExt cx="3013845" cy="1879677"/>
          </a:xfrm>
        </p:grpSpPr>
        <p:sp>
          <p:nvSpPr>
            <p:cNvPr id="73" name="Arrow: Down 72">
              <a:extLst>
                <a:ext uri="{FF2B5EF4-FFF2-40B4-BE49-F238E27FC236}">
                  <a16:creationId xmlns:a16="http://schemas.microsoft.com/office/drawing/2014/main" id="{8147A218-62B0-4DFA-A639-524E5D9771BD}"/>
                </a:ext>
              </a:extLst>
            </p:cNvPr>
            <p:cNvSpPr/>
            <p:nvPr/>
          </p:nvSpPr>
          <p:spPr>
            <a:xfrm>
              <a:off x="9082987" y="3260965"/>
              <a:ext cx="1011562" cy="900289"/>
            </a:xfrm>
            <a:prstGeom prst="downArrow">
              <a:avLst>
                <a:gd name="adj1" fmla="val 50000"/>
                <a:gd name="adj2" fmla="val 59404"/>
              </a:avLst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85000">
                  <a:srgbClr val="F7FAFF"/>
                </a:gs>
              </a:gsLst>
              <a:lin ang="162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F4FB4CF-DA75-483D-805B-18A49C5DD7DE}"/>
                </a:ext>
              </a:extLst>
            </p:cNvPr>
            <p:cNvGrpSpPr/>
            <p:nvPr/>
          </p:nvGrpSpPr>
          <p:grpSpPr>
            <a:xfrm>
              <a:off x="8081846" y="4104002"/>
              <a:ext cx="3013845" cy="1036640"/>
              <a:chOff x="8081846" y="4104002"/>
              <a:chExt cx="3013845" cy="1036640"/>
            </a:xfrm>
          </p:grpSpPr>
          <p:sp>
            <p:nvSpPr>
              <p:cNvPr id="52" name="Rounded Rectangle 52">
                <a:extLst>
                  <a:ext uri="{FF2B5EF4-FFF2-40B4-BE49-F238E27FC236}">
                    <a16:creationId xmlns:a16="http://schemas.microsoft.com/office/drawing/2014/main" id="{56161EF4-9CD0-4193-807D-151741AB74BC}"/>
                  </a:ext>
                </a:extLst>
              </p:cNvPr>
              <p:cNvSpPr/>
              <p:nvPr/>
            </p:nvSpPr>
            <p:spPr>
              <a:xfrm>
                <a:off x="8081846" y="4104002"/>
                <a:ext cx="3013845" cy="1036640"/>
              </a:xfrm>
              <a:prstGeom prst="roundRect">
                <a:avLst/>
              </a:prstGeom>
              <a:solidFill>
                <a:srgbClr val="FFF1F1"/>
              </a:solidFill>
              <a:ln w="15240">
                <a:solidFill>
                  <a:srgbClr val="EF464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60C2C3A-ABE7-41C9-A1E9-90C49A6E836B}"/>
                  </a:ext>
                </a:extLst>
              </p:cNvPr>
              <p:cNvSpPr txBox="1"/>
              <p:nvPr/>
            </p:nvSpPr>
            <p:spPr>
              <a:xfrm>
                <a:off x="8246438" y="4230023"/>
                <a:ext cx="2565885" cy="17235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120" b="1" dirty="0">
                    <a:solidFill>
                      <a:srgbClr val="EF4646"/>
                    </a:solidFill>
                    <a:latin typeface="페이퍼로지 7 Bold" pitchFamily="2" charset="-127"/>
                    <a:ea typeface="페이퍼로지 7 Bold" pitchFamily="2" charset="-127"/>
                  </a:rPr>
                  <a:t>C. </a:t>
                </a:r>
                <a:r>
                  <a:rPr sz="1120" b="1" dirty="0" err="1">
                    <a:solidFill>
                      <a:srgbClr val="EF4646"/>
                    </a:solidFill>
                    <a:latin typeface="페이퍼로지 7 Bold" pitchFamily="2" charset="-127"/>
                    <a:ea typeface="페이퍼로지 7 Bold" pitchFamily="2" charset="-127"/>
                  </a:rPr>
                  <a:t>설득</a:t>
                </a:r>
                <a:r>
                  <a:rPr sz="1120" b="1" dirty="0">
                    <a:solidFill>
                      <a:srgbClr val="EF4646"/>
                    </a:solidFill>
                    <a:latin typeface="페이퍼로지 7 Bold" pitchFamily="2" charset="-127"/>
                    <a:ea typeface="페이퍼로지 7 Bold" pitchFamily="2" charset="-127"/>
                  </a:rPr>
                  <a:t> </a:t>
                </a:r>
                <a:r>
                  <a:rPr sz="1120" b="1" dirty="0" err="1">
                    <a:solidFill>
                      <a:srgbClr val="EF4646"/>
                    </a:solidFill>
                    <a:latin typeface="페이퍼로지 7 Bold" pitchFamily="2" charset="-127"/>
                    <a:ea typeface="페이퍼로지 7 Bold" pitchFamily="2" charset="-127"/>
                  </a:rPr>
                  <a:t>업무</a:t>
                </a:r>
                <a:r>
                  <a:rPr sz="1120" b="1" dirty="0">
                    <a:solidFill>
                      <a:srgbClr val="EF4646"/>
                    </a:solidFill>
                    <a:latin typeface="페이퍼로지 7 Bold" pitchFamily="2" charset="-127"/>
                    <a:ea typeface="페이퍼로지 7 Bold" pitchFamily="2" charset="-127"/>
                  </a:rPr>
                  <a:t> </a:t>
                </a:r>
                <a:r>
                  <a:rPr sz="1120" b="1" dirty="0" err="1">
                    <a:solidFill>
                      <a:srgbClr val="EF4646"/>
                    </a:solidFill>
                    <a:latin typeface="페이퍼로지 7 Bold" pitchFamily="2" charset="-127"/>
                    <a:ea typeface="페이퍼로지 7 Bold" pitchFamily="2" charset="-127"/>
                  </a:rPr>
                  <a:t>부담</a:t>
                </a:r>
                <a:endParaRPr sz="1120" b="1" dirty="0">
                  <a:solidFill>
                    <a:srgbClr val="EF4646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8DD763C-AF22-415E-9202-F5F748465028}"/>
                  </a:ext>
                </a:extLst>
              </p:cNvPr>
              <p:cNvSpPr txBox="1"/>
              <p:nvPr/>
            </p:nvSpPr>
            <p:spPr>
              <a:xfrm>
                <a:off x="8246438" y="4601696"/>
                <a:ext cx="268466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ko-KR" altLang="en-US" sz="1000" b="1" dirty="0">
                    <a:latin typeface="페이퍼로지 7 Bold" pitchFamily="2" charset="-127"/>
                    <a:ea typeface="페이퍼로지 7 Bold" pitchFamily="2" charset="-127"/>
                  </a:rPr>
                  <a:t>추가 피해를 막기 위한 지속적인 확인</a:t>
                </a:r>
                <a:r>
                  <a:rPr lang="en-US" altLang="ko-KR" sz="1000" b="1" dirty="0">
                    <a:latin typeface="페이퍼로지 7 Bold" pitchFamily="2" charset="-127"/>
                    <a:ea typeface="페이퍼로지 7 Bold" pitchFamily="2" charset="-127"/>
                  </a:rPr>
                  <a:t>·</a:t>
                </a:r>
                <a:r>
                  <a:rPr lang="ko-KR" altLang="en-US" sz="1000" b="1" dirty="0">
                    <a:latin typeface="페이퍼로지 7 Bold" pitchFamily="2" charset="-127"/>
                    <a:ea typeface="페이퍼로지 7 Bold" pitchFamily="2" charset="-127"/>
                  </a:rPr>
                  <a:t>설득 필요</a:t>
                </a:r>
                <a:endParaRPr lang="en-US" altLang="ko-KR" sz="1000" b="1" dirty="0">
                  <a:latin typeface="페이퍼로지 7 Bold" pitchFamily="2" charset="-127"/>
                  <a:ea typeface="페이퍼로지 7 Bold" pitchFamily="2" charset="-127"/>
                </a:endParaRPr>
              </a:p>
              <a:p>
                <a:r>
                  <a:rPr lang="ko-KR" altLang="en-US" sz="1000" b="1" dirty="0">
                    <a:latin typeface="페이퍼로지 7 Bold" pitchFamily="2" charset="-127"/>
                    <a:ea typeface="페이퍼로지 7 Bold" pitchFamily="2" charset="-127"/>
                  </a:rPr>
                  <a:t>고객이 범죄자를 신뢰하면 설득이 어려움</a:t>
                </a:r>
                <a:endParaRPr lang="en-US" altLang="ko-KR" sz="1000" b="1" dirty="0"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</p:grp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FA9E9EE-0B78-4CC1-B71B-6F7402051F26}"/>
              </a:ext>
            </a:extLst>
          </p:cNvPr>
          <p:cNvGrpSpPr/>
          <p:nvPr/>
        </p:nvGrpSpPr>
        <p:grpSpPr>
          <a:xfrm>
            <a:off x="509017" y="1506553"/>
            <a:ext cx="11173967" cy="2125674"/>
            <a:chOff x="548640" y="1541070"/>
            <a:chExt cx="11173967" cy="212567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51BC610-78D2-4E86-8D90-07C6A8A8E16C}"/>
                </a:ext>
              </a:extLst>
            </p:cNvPr>
            <p:cNvSpPr txBox="1"/>
            <p:nvPr/>
          </p:nvSpPr>
          <p:spPr>
            <a:xfrm>
              <a:off x="548640" y="1541070"/>
              <a:ext cx="1314462" cy="1769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lang="ko-KR" altLang="en-US" sz="1150" b="1" dirty="0">
                  <a:solidFill>
                    <a:srgbClr val="14345B"/>
                  </a:solidFill>
                  <a:latin typeface="페이퍼로지 7 Bold" pitchFamily="2" charset="-127"/>
                  <a:ea typeface="페이퍼로지 7 Bold" pitchFamily="2" charset="-127"/>
                </a:rPr>
                <a:t>① 탐지 이후 대응 과정</a:t>
              </a:r>
              <a:endParaRPr sz="1150" b="1" dirty="0">
                <a:solidFill>
                  <a:srgbClr val="14345B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6" name="Rounded Rectangle 6">
              <a:extLst>
                <a:ext uri="{FF2B5EF4-FFF2-40B4-BE49-F238E27FC236}">
                  <a16:creationId xmlns:a16="http://schemas.microsoft.com/office/drawing/2014/main" id="{34BF582F-8164-4759-9D67-0B8002FEF56D}"/>
                </a:ext>
              </a:extLst>
            </p:cNvPr>
            <p:cNvSpPr/>
            <p:nvPr/>
          </p:nvSpPr>
          <p:spPr>
            <a:xfrm>
              <a:off x="566928" y="1792225"/>
              <a:ext cx="2084831" cy="1874519"/>
            </a:xfrm>
            <a:prstGeom prst="roundRect">
              <a:avLst/>
            </a:prstGeom>
            <a:solidFill>
              <a:srgbClr val="EBF3FF"/>
            </a:solidFill>
            <a:ln w="1651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7" name="Rounded Rectangle 7">
              <a:extLst>
                <a:ext uri="{FF2B5EF4-FFF2-40B4-BE49-F238E27FC236}">
                  <a16:creationId xmlns:a16="http://schemas.microsoft.com/office/drawing/2014/main" id="{1ED31F73-8DEE-4987-8525-6BAF43106249}"/>
                </a:ext>
              </a:extLst>
            </p:cNvPr>
            <p:cNvSpPr/>
            <p:nvPr/>
          </p:nvSpPr>
          <p:spPr>
            <a:xfrm>
              <a:off x="713232" y="1975105"/>
              <a:ext cx="457200" cy="256032"/>
            </a:xfrm>
            <a:prstGeom prst="roundRect">
              <a:avLst/>
            </a:prstGeom>
            <a:solidFill>
              <a:srgbClr val="2F69F5"/>
            </a:solidFill>
            <a:ln w="12700">
              <a:solidFill>
                <a:srgbClr val="2F69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46E5C8A-1F2E-4409-AF6F-9D78FA709382}"/>
                </a:ext>
              </a:extLst>
            </p:cNvPr>
            <p:cNvSpPr txBox="1"/>
            <p:nvPr/>
          </p:nvSpPr>
          <p:spPr>
            <a:xfrm>
              <a:off x="872903" y="2041565"/>
              <a:ext cx="137858" cy="12311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800" b="1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01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56BCC97-4549-4639-AB21-297B44190A62}"/>
                </a:ext>
              </a:extLst>
            </p:cNvPr>
            <p:cNvSpPr txBox="1"/>
            <p:nvPr/>
          </p:nvSpPr>
          <p:spPr>
            <a:xfrm>
              <a:off x="1316736" y="1984007"/>
              <a:ext cx="1128514" cy="20774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sz="1350" b="1" dirty="0" err="1">
                  <a:solidFill>
                    <a:srgbClr val="2F69F5"/>
                  </a:solidFill>
                  <a:latin typeface="페이퍼로지 7 Bold" pitchFamily="2" charset="-127"/>
                  <a:ea typeface="페이퍼로지 7 Bold" pitchFamily="2" charset="-127"/>
                </a:rPr>
                <a:t>위험</a:t>
              </a:r>
              <a:r>
                <a:rPr sz="1350" b="1" dirty="0">
                  <a:solidFill>
                    <a:srgbClr val="2F69F5"/>
                  </a:solidFill>
                  <a:latin typeface="페이퍼로지 7 Bold" pitchFamily="2" charset="-127"/>
                  <a:ea typeface="페이퍼로지 7 Bold" pitchFamily="2" charset="-127"/>
                </a:rPr>
                <a:t> Alert</a:t>
              </a:r>
              <a:r>
                <a:rPr lang="en-US" sz="1350" b="1" dirty="0">
                  <a:solidFill>
                    <a:srgbClr val="2F69F5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lang="ko-KR" altLang="en-US" sz="1350" b="1" dirty="0">
                  <a:solidFill>
                    <a:srgbClr val="2F69F5"/>
                  </a:solidFill>
                  <a:latin typeface="페이퍼로지 7 Bold" pitchFamily="2" charset="-127"/>
                  <a:ea typeface="페이퍼로지 7 Bold" pitchFamily="2" charset="-127"/>
                </a:rPr>
                <a:t>보기</a:t>
              </a:r>
              <a:endParaRPr sz="1350" b="1" dirty="0">
                <a:solidFill>
                  <a:srgbClr val="2F69F5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CB2EDFE-C596-4C52-965B-E97603C5C3E6}"/>
                </a:ext>
              </a:extLst>
            </p:cNvPr>
            <p:cNvSpPr txBox="1"/>
            <p:nvPr/>
          </p:nvSpPr>
          <p:spPr>
            <a:xfrm>
              <a:off x="733793" y="2362867"/>
              <a:ext cx="1548501" cy="28289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sz="919" b="1" dirty="0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FDS·ASAP </a:t>
              </a:r>
              <a:r>
                <a:rPr sz="919" b="1" dirty="0" err="1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신호</a:t>
              </a:r>
              <a:r>
                <a:rPr sz="919" b="1" dirty="0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
</a:t>
              </a:r>
              <a:r>
                <a:rPr sz="919" b="1" dirty="0" err="1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이상거래·위험정보</a:t>
              </a:r>
              <a:r>
                <a:rPr lang="en-US" sz="919" b="1" dirty="0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lang="ko-KR" altLang="en-US" sz="919" b="1" dirty="0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확인하고 해석</a:t>
              </a:r>
              <a:endParaRPr sz="919" b="1" dirty="0">
                <a:solidFill>
                  <a:srgbClr val="20324E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4" name="Rounded Rectangle 14">
              <a:extLst>
                <a:ext uri="{FF2B5EF4-FFF2-40B4-BE49-F238E27FC236}">
                  <a16:creationId xmlns:a16="http://schemas.microsoft.com/office/drawing/2014/main" id="{A54D04AB-7E18-4AA2-928B-ED8DB4943277}"/>
                </a:ext>
              </a:extLst>
            </p:cNvPr>
            <p:cNvSpPr/>
            <p:nvPr/>
          </p:nvSpPr>
          <p:spPr>
            <a:xfrm>
              <a:off x="2834640" y="1792225"/>
              <a:ext cx="2084831" cy="1874519"/>
            </a:xfrm>
            <a:prstGeom prst="roundRect">
              <a:avLst/>
            </a:prstGeom>
            <a:solidFill>
              <a:srgbClr val="F4F1FF"/>
            </a:solidFill>
            <a:ln w="1651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5" name="Rounded Rectangle 15">
              <a:extLst>
                <a:ext uri="{FF2B5EF4-FFF2-40B4-BE49-F238E27FC236}">
                  <a16:creationId xmlns:a16="http://schemas.microsoft.com/office/drawing/2014/main" id="{9FA01E56-371F-45B2-81E2-EABFD0A63576}"/>
                </a:ext>
              </a:extLst>
            </p:cNvPr>
            <p:cNvSpPr/>
            <p:nvPr/>
          </p:nvSpPr>
          <p:spPr>
            <a:xfrm>
              <a:off x="2980944" y="1975105"/>
              <a:ext cx="457200" cy="256032"/>
            </a:xfrm>
            <a:prstGeom prst="roundRect">
              <a:avLst/>
            </a:prstGeom>
            <a:solidFill>
              <a:srgbClr val="7052BE"/>
            </a:solidFill>
            <a:ln w="12700">
              <a:solidFill>
                <a:srgbClr val="7052B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4F964D7-3FCE-4244-97DF-D20036042C13}"/>
                </a:ext>
              </a:extLst>
            </p:cNvPr>
            <p:cNvSpPr txBox="1"/>
            <p:nvPr/>
          </p:nvSpPr>
          <p:spPr>
            <a:xfrm>
              <a:off x="3140615" y="2041565"/>
              <a:ext cx="137858" cy="12311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800" b="1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02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84F3BA2-91CA-4637-8EB8-E5796CFD8955}"/>
                </a:ext>
              </a:extLst>
            </p:cNvPr>
            <p:cNvSpPr txBox="1"/>
            <p:nvPr/>
          </p:nvSpPr>
          <p:spPr>
            <a:xfrm>
              <a:off x="3584448" y="1987272"/>
              <a:ext cx="990656" cy="41549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sz="1350" b="1" dirty="0" err="1">
                  <a:solidFill>
                    <a:srgbClr val="7052BE"/>
                  </a:solidFill>
                  <a:latin typeface="페이퍼로지 7 Bold" pitchFamily="2" charset="-127"/>
                  <a:ea typeface="페이퍼로지 7 Bold" pitchFamily="2" charset="-127"/>
                </a:rPr>
                <a:t>사건</a:t>
              </a:r>
              <a:r>
                <a:rPr sz="1350" b="1" dirty="0">
                  <a:solidFill>
                    <a:srgbClr val="7052B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350" b="1" dirty="0" err="1">
                  <a:solidFill>
                    <a:srgbClr val="7052BE"/>
                  </a:solidFill>
                  <a:latin typeface="페이퍼로지 7 Bold" pitchFamily="2" charset="-127"/>
                  <a:ea typeface="페이퍼로지 7 Bold" pitchFamily="2" charset="-127"/>
                </a:rPr>
                <a:t>파악</a:t>
              </a:r>
              <a:r>
                <a:rPr lang="en-US" sz="1350" b="1" dirty="0">
                  <a:solidFill>
                    <a:srgbClr val="7052B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lang="ko-KR" altLang="en-US" sz="1350" b="1" dirty="0">
                  <a:solidFill>
                    <a:srgbClr val="7052BE"/>
                  </a:solidFill>
                  <a:latin typeface="페이퍼로지 7 Bold" pitchFamily="2" charset="-127"/>
                  <a:ea typeface="페이퍼로지 7 Bold" pitchFamily="2" charset="-127"/>
                </a:rPr>
                <a:t>및</a:t>
              </a:r>
              <a:endParaRPr lang="en-US" altLang="ko-KR" sz="1350" b="1" dirty="0">
                <a:solidFill>
                  <a:srgbClr val="7052BE"/>
                </a:solidFill>
                <a:latin typeface="페이퍼로지 7 Bold" pitchFamily="2" charset="-127"/>
                <a:ea typeface="페이퍼로지 7 Bold" pitchFamily="2" charset="-127"/>
              </a:endParaRPr>
            </a:p>
            <a:p>
              <a:r>
                <a:rPr lang="ko-KR" altLang="en-US" sz="1350" b="1" dirty="0">
                  <a:solidFill>
                    <a:srgbClr val="7052BE"/>
                  </a:solidFill>
                  <a:latin typeface="페이퍼로지 7 Bold" pitchFamily="2" charset="-127"/>
                  <a:ea typeface="페이퍼로지 7 Bold" pitchFamily="2" charset="-127"/>
                </a:rPr>
                <a:t>대응 계획 설계</a:t>
              </a:r>
              <a:endParaRPr lang="en-US" altLang="ko-KR" sz="1350" b="1" dirty="0">
                <a:solidFill>
                  <a:srgbClr val="7052BE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3EF0D99-1A22-4EB4-A81E-57E681EB19A8}"/>
                </a:ext>
              </a:extLst>
            </p:cNvPr>
            <p:cNvSpPr txBox="1"/>
            <p:nvPr/>
          </p:nvSpPr>
          <p:spPr>
            <a:xfrm>
              <a:off x="3015916" y="2648611"/>
              <a:ext cx="676467" cy="70724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sz="919" b="1" dirty="0" err="1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거래내역</a:t>
              </a:r>
              <a:r>
                <a:rPr sz="919" b="1" dirty="0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919" b="1" dirty="0" err="1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확인</a:t>
              </a:r>
              <a:r>
                <a:rPr sz="919" b="1" dirty="0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
</a:t>
              </a:r>
              <a:r>
                <a:rPr sz="919" b="1" dirty="0" err="1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관련정보</a:t>
              </a:r>
              <a:r>
                <a:rPr sz="919" b="1" dirty="0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919" b="1" dirty="0" err="1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조회</a:t>
              </a:r>
              <a:r>
                <a:rPr sz="919" b="1" dirty="0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
</a:t>
              </a:r>
              <a:r>
                <a:rPr sz="919" b="1" dirty="0" err="1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정황</a:t>
              </a:r>
              <a:r>
                <a:rPr sz="919" b="1" dirty="0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919" b="1" dirty="0" err="1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분석</a:t>
              </a:r>
              <a:endParaRPr lang="en-US" sz="919" b="1" dirty="0">
                <a:solidFill>
                  <a:srgbClr val="20324E"/>
                </a:solidFill>
                <a:latin typeface="페이퍼로지 7 Bold" pitchFamily="2" charset="-127"/>
                <a:ea typeface="페이퍼로지 7 Bold" pitchFamily="2" charset="-127"/>
              </a:endParaRPr>
            </a:p>
            <a:p>
              <a:endParaRPr lang="en-US" sz="919" b="1" dirty="0">
                <a:solidFill>
                  <a:srgbClr val="20324E"/>
                </a:solidFill>
                <a:latin typeface="페이퍼로지 7 Bold" pitchFamily="2" charset="-127"/>
                <a:ea typeface="페이퍼로지 7 Bold" pitchFamily="2" charset="-127"/>
              </a:endParaRPr>
            </a:p>
            <a:p>
              <a:r>
                <a:rPr lang="ko-KR" altLang="en-US" sz="919" b="1" dirty="0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대응 계획 설계</a:t>
              </a:r>
              <a:endParaRPr sz="919" b="1" dirty="0">
                <a:solidFill>
                  <a:srgbClr val="20324E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22" name="Rounded Rectangle 22">
              <a:extLst>
                <a:ext uri="{FF2B5EF4-FFF2-40B4-BE49-F238E27FC236}">
                  <a16:creationId xmlns:a16="http://schemas.microsoft.com/office/drawing/2014/main" id="{071D9306-F59B-4F78-93FF-FD41789676AF}"/>
                </a:ext>
              </a:extLst>
            </p:cNvPr>
            <p:cNvSpPr/>
            <p:nvPr/>
          </p:nvSpPr>
          <p:spPr>
            <a:xfrm>
              <a:off x="5102352" y="1792225"/>
              <a:ext cx="2084831" cy="1874519"/>
            </a:xfrm>
            <a:prstGeom prst="roundRect">
              <a:avLst/>
            </a:prstGeom>
            <a:solidFill>
              <a:srgbClr val="FFF7E7"/>
            </a:solidFill>
            <a:ln w="1651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23" name="Rounded Rectangle 23">
              <a:extLst>
                <a:ext uri="{FF2B5EF4-FFF2-40B4-BE49-F238E27FC236}">
                  <a16:creationId xmlns:a16="http://schemas.microsoft.com/office/drawing/2014/main" id="{85BDC2BA-CFCF-43CB-904D-14C4DF619726}"/>
                </a:ext>
              </a:extLst>
            </p:cNvPr>
            <p:cNvSpPr/>
            <p:nvPr/>
          </p:nvSpPr>
          <p:spPr>
            <a:xfrm>
              <a:off x="5248656" y="1975105"/>
              <a:ext cx="457200" cy="256032"/>
            </a:xfrm>
            <a:prstGeom prst="roundRect">
              <a:avLst/>
            </a:prstGeom>
            <a:solidFill>
              <a:srgbClr val="EE9912"/>
            </a:solidFill>
            <a:ln w="12700">
              <a:solidFill>
                <a:srgbClr val="EE991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EAE5A74-1D59-499F-982B-687DCFF8A7DE}"/>
                </a:ext>
              </a:extLst>
            </p:cNvPr>
            <p:cNvSpPr txBox="1"/>
            <p:nvPr/>
          </p:nvSpPr>
          <p:spPr>
            <a:xfrm>
              <a:off x="5408327" y="2041565"/>
              <a:ext cx="137858" cy="12311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800" b="1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03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A7B3242-071E-40F3-A8CC-EA6794C077A1}"/>
                </a:ext>
              </a:extLst>
            </p:cNvPr>
            <p:cNvSpPr txBox="1"/>
            <p:nvPr/>
          </p:nvSpPr>
          <p:spPr>
            <a:xfrm>
              <a:off x="5852160" y="1984007"/>
              <a:ext cx="647613" cy="20774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sz="1350" b="1" dirty="0" err="1">
                  <a:solidFill>
                    <a:srgbClr val="EE9912"/>
                  </a:solidFill>
                  <a:latin typeface="페이퍼로지 7 Bold" pitchFamily="2" charset="-127"/>
                  <a:ea typeface="페이퍼로지 7 Bold" pitchFamily="2" charset="-127"/>
                </a:rPr>
                <a:t>고객</a:t>
              </a:r>
              <a:r>
                <a:rPr sz="1350" b="1" dirty="0">
                  <a:solidFill>
                    <a:srgbClr val="EE9912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lang="ko-KR" altLang="en-US" sz="1350" b="1" dirty="0">
                  <a:solidFill>
                    <a:srgbClr val="EE9912"/>
                  </a:solidFill>
                  <a:latin typeface="페이퍼로지 7 Bold" pitchFamily="2" charset="-127"/>
                  <a:ea typeface="페이퍼로지 7 Bold" pitchFamily="2" charset="-127"/>
                </a:rPr>
                <a:t>접촉</a:t>
              </a:r>
              <a:endParaRPr sz="1350" b="1" dirty="0">
                <a:solidFill>
                  <a:srgbClr val="EE9912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CEFAA57-0838-4AD6-A80E-9D728763CE93}"/>
                </a:ext>
              </a:extLst>
            </p:cNvPr>
            <p:cNvSpPr txBox="1"/>
            <p:nvPr/>
          </p:nvSpPr>
          <p:spPr>
            <a:xfrm>
              <a:off x="5781554" y="2362867"/>
              <a:ext cx="676467" cy="42434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19" b="1" dirty="0" err="1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고객</a:t>
              </a:r>
              <a:r>
                <a:rPr sz="919" b="1" dirty="0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lang="ko-KR" altLang="en-US" sz="919" b="1" dirty="0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상황 확인</a:t>
              </a:r>
              <a:r>
                <a:rPr sz="919" b="1" dirty="0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
</a:t>
              </a:r>
              <a:r>
                <a:rPr sz="919" b="1" dirty="0" err="1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거래경위</a:t>
              </a:r>
              <a:r>
                <a:rPr sz="919" b="1" dirty="0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919" b="1" dirty="0" err="1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질문</a:t>
              </a:r>
              <a:r>
                <a:rPr sz="919" b="1" dirty="0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
</a:t>
              </a:r>
              <a:r>
                <a:rPr sz="919" b="1" dirty="0" err="1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사실관계</a:t>
              </a:r>
              <a:r>
                <a:rPr sz="919" b="1" dirty="0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919" b="1" dirty="0" err="1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확인</a:t>
              </a:r>
              <a:endParaRPr sz="919" b="1" dirty="0">
                <a:solidFill>
                  <a:srgbClr val="20324E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30" name="Rounded Rectangle 30">
              <a:extLst>
                <a:ext uri="{FF2B5EF4-FFF2-40B4-BE49-F238E27FC236}">
                  <a16:creationId xmlns:a16="http://schemas.microsoft.com/office/drawing/2014/main" id="{8A93A3A8-1D70-464B-B7EC-5642E8F11DB0}"/>
                </a:ext>
              </a:extLst>
            </p:cNvPr>
            <p:cNvSpPr/>
            <p:nvPr/>
          </p:nvSpPr>
          <p:spPr>
            <a:xfrm>
              <a:off x="7370063" y="1792225"/>
              <a:ext cx="2084831" cy="1874519"/>
            </a:xfrm>
            <a:prstGeom prst="roundRect">
              <a:avLst/>
            </a:prstGeom>
            <a:solidFill>
              <a:srgbClr val="FFF1F1"/>
            </a:solidFill>
            <a:ln w="1651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31" name="Rounded Rectangle 31">
              <a:extLst>
                <a:ext uri="{FF2B5EF4-FFF2-40B4-BE49-F238E27FC236}">
                  <a16:creationId xmlns:a16="http://schemas.microsoft.com/office/drawing/2014/main" id="{7BBA47E3-4E10-43F1-A2B3-F17DF5C9B105}"/>
                </a:ext>
              </a:extLst>
            </p:cNvPr>
            <p:cNvSpPr/>
            <p:nvPr/>
          </p:nvSpPr>
          <p:spPr>
            <a:xfrm>
              <a:off x="7516367" y="1975105"/>
              <a:ext cx="457200" cy="256032"/>
            </a:xfrm>
            <a:prstGeom prst="roundRect">
              <a:avLst/>
            </a:prstGeom>
            <a:solidFill>
              <a:srgbClr val="EF4646"/>
            </a:solidFill>
            <a:ln w="12700">
              <a:solidFill>
                <a:srgbClr val="EF46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7AABB7A-8FC5-47AC-A1FE-57554E0AC2B5}"/>
                </a:ext>
              </a:extLst>
            </p:cNvPr>
            <p:cNvSpPr txBox="1"/>
            <p:nvPr/>
          </p:nvSpPr>
          <p:spPr>
            <a:xfrm>
              <a:off x="7676038" y="2041565"/>
              <a:ext cx="137858" cy="12311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800" b="1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04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C489668-30C1-4479-B313-F618F69FADA9}"/>
                </a:ext>
              </a:extLst>
            </p:cNvPr>
            <p:cNvSpPr txBox="1"/>
            <p:nvPr/>
          </p:nvSpPr>
          <p:spPr>
            <a:xfrm>
              <a:off x="8119871" y="1984007"/>
              <a:ext cx="969817" cy="20774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sz="1350" b="1" dirty="0" err="1">
                  <a:solidFill>
                    <a:srgbClr val="EF4646"/>
                  </a:solidFill>
                  <a:latin typeface="페이퍼로지 7 Bold" pitchFamily="2" charset="-127"/>
                  <a:ea typeface="페이퍼로지 7 Bold" pitchFamily="2" charset="-127"/>
                </a:rPr>
                <a:t>설득·추가확인</a:t>
              </a:r>
              <a:endParaRPr sz="1350" b="1" dirty="0">
                <a:solidFill>
                  <a:srgbClr val="EF4646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00EF7F6-9D8D-4913-B9BE-49C8038CDB4B}"/>
                </a:ext>
              </a:extLst>
            </p:cNvPr>
            <p:cNvSpPr txBox="1"/>
            <p:nvPr/>
          </p:nvSpPr>
          <p:spPr>
            <a:xfrm>
              <a:off x="7589519" y="2344208"/>
              <a:ext cx="1237518" cy="4616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ko-KR" altLang="en-US" sz="1000" b="1" dirty="0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금융소비자가</a:t>
              </a:r>
              <a:endParaRPr lang="en-US" altLang="ko-KR" sz="1000" b="1" dirty="0">
                <a:solidFill>
                  <a:srgbClr val="20324E"/>
                </a:solidFill>
                <a:latin typeface="페이퍼로지 7 Bold" pitchFamily="2" charset="-127"/>
                <a:ea typeface="페이퍼로지 7 Bold" pitchFamily="2" charset="-127"/>
              </a:endParaRPr>
            </a:p>
            <a:p>
              <a:r>
                <a:rPr lang="ko-KR" altLang="en-US" sz="10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범죄자 지시 신뢰</a:t>
              </a:r>
              <a:r>
                <a:rPr lang="ko-KR" altLang="en-US" sz="1000" b="1" dirty="0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하고</a:t>
              </a:r>
              <a:endParaRPr lang="en-US" altLang="ko-KR" sz="1000" b="1" dirty="0">
                <a:solidFill>
                  <a:srgbClr val="20324E"/>
                </a:solidFill>
                <a:latin typeface="페이퍼로지 7 Bold" pitchFamily="2" charset="-127"/>
                <a:ea typeface="페이퍼로지 7 Bold" pitchFamily="2" charset="-127"/>
              </a:endParaRPr>
            </a:p>
            <a:p>
              <a:r>
                <a:rPr sz="1000" b="1" dirty="0" err="1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추가</a:t>
              </a:r>
              <a:r>
                <a:rPr lang="en-US" sz="10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000" b="1" dirty="0" err="1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이체</a:t>
              </a:r>
              <a:r>
                <a:rPr sz="10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000" b="1" dirty="0" err="1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의사</a:t>
              </a:r>
              <a:r>
                <a:rPr lang="en-US" sz="10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lang="ko-KR" altLang="en-US" sz="1000" b="1" dirty="0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표현 가능</a:t>
              </a:r>
              <a:endParaRPr sz="1000" b="1" dirty="0">
                <a:solidFill>
                  <a:srgbClr val="20324E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38" name="Rounded Rectangle 38">
              <a:extLst>
                <a:ext uri="{FF2B5EF4-FFF2-40B4-BE49-F238E27FC236}">
                  <a16:creationId xmlns:a16="http://schemas.microsoft.com/office/drawing/2014/main" id="{757630D1-2C41-4CEB-A2EE-4A000BEEA43B}"/>
                </a:ext>
              </a:extLst>
            </p:cNvPr>
            <p:cNvSpPr/>
            <p:nvPr/>
          </p:nvSpPr>
          <p:spPr>
            <a:xfrm>
              <a:off x="9637776" y="1792225"/>
              <a:ext cx="2084831" cy="1874519"/>
            </a:xfrm>
            <a:prstGeom prst="roundRect">
              <a:avLst/>
            </a:prstGeom>
            <a:solidFill>
              <a:srgbClr val="EEF9F4"/>
            </a:solidFill>
            <a:ln w="1651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39" name="Rounded Rectangle 39">
              <a:extLst>
                <a:ext uri="{FF2B5EF4-FFF2-40B4-BE49-F238E27FC236}">
                  <a16:creationId xmlns:a16="http://schemas.microsoft.com/office/drawing/2014/main" id="{88A240F7-7C84-45C5-8B04-0765A227CB43}"/>
                </a:ext>
              </a:extLst>
            </p:cNvPr>
            <p:cNvSpPr/>
            <p:nvPr/>
          </p:nvSpPr>
          <p:spPr>
            <a:xfrm>
              <a:off x="9784080" y="1975105"/>
              <a:ext cx="457200" cy="256032"/>
            </a:xfrm>
            <a:prstGeom prst="roundRect">
              <a:avLst/>
            </a:prstGeom>
            <a:solidFill>
              <a:srgbClr val="2AA37E"/>
            </a:solidFill>
            <a:ln w="12700">
              <a:solidFill>
                <a:srgbClr val="2AA37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E047B0E-EEE8-4F76-950F-78CDB47E4FED}"/>
                </a:ext>
              </a:extLst>
            </p:cNvPr>
            <p:cNvSpPr txBox="1"/>
            <p:nvPr/>
          </p:nvSpPr>
          <p:spPr>
            <a:xfrm>
              <a:off x="9943751" y="2041565"/>
              <a:ext cx="137858" cy="12311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800" b="1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05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0BB2C7F-42C1-4B35-85B8-6D292265671D}"/>
                </a:ext>
              </a:extLst>
            </p:cNvPr>
            <p:cNvSpPr txBox="1"/>
            <p:nvPr/>
          </p:nvSpPr>
          <p:spPr>
            <a:xfrm>
              <a:off x="10387584" y="1984007"/>
              <a:ext cx="609141" cy="20774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sz="1350" b="1">
                  <a:solidFill>
                    <a:srgbClr val="2AA37E"/>
                  </a:solidFill>
                  <a:latin typeface="페이퍼로지 7 Bold" pitchFamily="2" charset="-127"/>
                  <a:ea typeface="페이퍼로지 7 Bold" pitchFamily="2" charset="-127"/>
                </a:rPr>
                <a:t>금융조치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5C0BEBC-0508-4F98-AF25-5413B47AF97E}"/>
                </a:ext>
              </a:extLst>
            </p:cNvPr>
            <p:cNvSpPr txBox="1"/>
            <p:nvPr/>
          </p:nvSpPr>
          <p:spPr>
            <a:xfrm>
              <a:off x="9857232" y="2362867"/>
              <a:ext cx="1040349" cy="42434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sz="919" b="1" dirty="0" err="1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거래정지</a:t>
              </a:r>
              <a:r>
                <a:rPr sz="919" b="1" dirty="0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919" b="1" dirty="0" err="1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유지</a:t>
              </a:r>
              <a:r>
                <a:rPr sz="919" b="1" dirty="0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
</a:t>
              </a:r>
              <a:r>
                <a:rPr sz="919" b="1" dirty="0" err="1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지급정지·신고</a:t>
              </a:r>
              <a:r>
                <a:rPr lang="ko-KR" altLang="en-US" sz="919" b="1" dirty="0">
                  <a:solidFill>
                    <a:srgbClr val="20324E"/>
                  </a:solidFill>
                  <a:latin typeface="페이퍼로지 7 Bold" pitchFamily="2" charset="-127"/>
                  <a:ea typeface="페이퍼로지 7 Bold" pitchFamily="2" charset="-127"/>
                </a:rPr>
                <a:t>
정상 확인 시 거래 재개</a:t>
              </a:r>
              <a:endParaRPr sz="919" b="1" dirty="0">
                <a:solidFill>
                  <a:srgbClr val="20324E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63" name="Rounded Rectangle 30">
              <a:extLst>
                <a:ext uri="{FF2B5EF4-FFF2-40B4-BE49-F238E27FC236}">
                  <a16:creationId xmlns:a16="http://schemas.microsoft.com/office/drawing/2014/main" id="{408B88AE-884E-4D5A-8A56-26E9742C96A0}"/>
                </a:ext>
              </a:extLst>
            </p:cNvPr>
            <p:cNvSpPr/>
            <p:nvPr/>
          </p:nvSpPr>
          <p:spPr>
            <a:xfrm>
              <a:off x="9747501" y="2926565"/>
              <a:ext cx="1865380" cy="645062"/>
            </a:xfrm>
            <a:prstGeom prst="roundRect">
              <a:avLst>
                <a:gd name="adj" fmla="val 40486"/>
              </a:avLst>
            </a:prstGeom>
            <a:solidFill>
              <a:srgbClr val="FFF1F1"/>
            </a:solidFill>
            <a:ln w="16510">
              <a:solidFill>
                <a:srgbClr val="EF46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범죄 해당 사항임을</a:t>
              </a:r>
              <a:endParaRPr lang="en-US" altLang="ko-KR" sz="1100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endParaRPr>
            </a:p>
            <a:p>
              <a:pPr algn="ctr"/>
              <a:r>
                <a:rPr lang="ko-KR" altLang="en-US" sz="1100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입증하기 어려울 수 있음</a:t>
              </a:r>
              <a:endParaRPr lang="en-US" altLang="ko-KR" sz="1100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29A956A-2E6B-490E-961C-03C3B79296AB}"/>
                </a:ext>
              </a:extLst>
            </p:cNvPr>
            <p:cNvGrpSpPr/>
            <p:nvPr/>
          </p:nvGrpSpPr>
          <p:grpSpPr>
            <a:xfrm>
              <a:off x="1121515" y="2777495"/>
              <a:ext cx="1019507" cy="733257"/>
              <a:chOff x="1822663" y="2374150"/>
              <a:chExt cx="751501" cy="540500"/>
            </a:xfrm>
          </p:grpSpPr>
          <p:sp>
            <p:nvSpPr>
              <p:cNvPr id="64" name="Rounded Rectangle 6">
                <a:extLst>
                  <a:ext uri="{FF2B5EF4-FFF2-40B4-BE49-F238E27FC236}">
                    <a16:creationId xmlns:a16="http://schemas.microsoft.com/office/drawing/2014/main" id="{5718D82F-C5D2-4629-A7FE-D3EC2786ACCD}"/>
                  </a:ext>
                </a:extLst>
              </p:cNvPr>
              <p:cNvSpPr/>
              <p:nvPr/>
            </p:nvSpPr>
            <p:spPr>
              <a:xfrm>
                <a:off x="1822663" y="2374150"/>
                <a:ext cx="751501" cy="540500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  <a:p>
                <a:pPr algn="ctr"/>
                <a:r>
                  <a:rPr lang="ko-KR" altLang="en-US" sz="1000" dirty="0">
                    <a:solidFill>
                      <a:srgbClr val="EE4344"/>
                    </a:solidFill>
                    <a:latin typeface="페이퍼로지 7 Bold" pitchFamily="2" charset="-127"/>
                    <a:ea typeface="페이퍼로지 7 Bold" pitchFamily="2" charset="-127"/>
                  </a:rPr>
                  <a:t>보이스피싱</a:t>
                </a:r>
                <a:endParaRPr lang="en-US" altLang="ko-KR" sz="1000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  <a:p>
                <a:pPr algn="ctr"/>
                <a:r>
                  <a:rPr lang="ko-KR" altLang="en-US" sz="1000" dirty="0">
                    <a:solidFill>
                      <a:srgbClr val="EE4344"/>
                    </a:solidFill>
                    <a:latin typeface="페이퍼로지 7 Bold" pitchFamily="2" charset="-127"/>
                    <a:ea typeface="페이퍼로지 7 Bold" pitchFamily="2" charset="-127"/>
                  </a:rPr>
                  <a:t>의심 🚨</a:t>
                </a:r>
              </a:p>
            </p:txBody>
          </p: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3A1E7A2-5CA2-40BA-9EB2-421AC35D3675}"/>
                  </a:ext>
                </a:extLst>
              </p:cNvPr>
              <p:cNvSpPr/>
              <p:nvPr/>
            </p:nvSpPr>
            <p:spPr>
              <a:xfrm>
                <a:off x="1822663" y="2374150"/>
                <a:ext cx="751501" cy="154168"/>
              </a:xfrm>
              <a:prstGeom prst="rect">
                <a:avLst/>
              </a:prstGeom>
              <a:solidFill>
                <a:srgbClr val="EE4344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latin typeface="페이퍼로지 7 Bold" pitchFamily="2" charset="-127"/>
                    <a:ea typeface="페이퍼로지 7 Bold" pitchFamily="2" charset="-127"/>
                  </a:rPr>
                  <a:t>경  고</a:t>
                </a:r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1F4B53D4-FEBA-471C-9422-DDB7A51029B9}"/>
                </a:ext>
              </a:extLst>
            </p:cNvPr>
            <p:cNvGrpSpPr/>
            <p:nvPr/>
          </p:nvGrpSpPr>
          <p:grpSpPr>
            <a:xfrm>
              <a:off x="3982079" y="2500723"/>
              <a:ext cx="768858" cy="1015663"/>
              <a:chOff x="3919833" y="2622226"/>
              <a:chExt cx="768858" cy="1015663"/>
            </a:xfrm>
          </p:grpSpPr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006CF34-B991-400F-BC15-5DE7A2484365}"/>
                  </a:ext>
                </a:extLst>
              </p:cNvPr>
              <p:cNvSpPr txBox="1"/>
              <p:nvPr/>
            </p:nvSpPr>
            <p:spPr>
              <a:xfrm>
                <a:off x="3919833" y="2622226"/>
                <a:ext cx="768858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6000" dirty="0">
                    <a:latin typeface="페이퍼로지 7 Bold" pitchFamily="2" charset="-127"/>
                    <a:ea typeface="페이퍼로지 7 Bold" pitchFamily="2" charset="-127"/>
                  </a:rPr>
                  <a:t>💻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CCBCB7D-3D55-45B3-ABE0-FCAF5A0D3C44}"/>
                  </a:ext>
                </a:extLst>
              </p:cNvPr>
              <p:cNvSpPr txBox="1"/>
              <p:nvPr/>
            </p:nvSpPr>
            <p:spPr>
              <a:xfrm>
                <a:off x="3963623" y="2829078"/>
                <a:ext cx="68127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파악</a:t>
                </a:r>
                <a:endParaRPr lang="ko-KR" altLang="en-US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E87D24B0-10B0-449A-BA68-5A52CBB2B5AC}"/>
                </a:ext>
              </a:extLst>
            </p:cNvPr>
            <p:cNvGrpSpPr/>
            <p:nvPr/>
          </p:nvGrpSpPr>
          <p:grpSpPr>
            <a:xfrm>
              <a:off x="5521096" y="2833722"/>
              <a:ext cx="1493515" cy="707886"/>
              <a:chOff x="5748533" y="2862073"/>
              <a:chExt cx="1493515" cy="707886"/>
            </a:xfrm>
          </p:grpSpPr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165E0670-1702-4885-9D9A-2A1614151D45}"/>
                  </a:ext>
                </a:extLst>
              </p:cNvPr>
              <p:cNvGrpSpPr/>
              <p:nvPr/>
            </p:nvGrpSpPr>
            <p:grpSpPr>
              <a:xfrm>
                <a:off x="5748533" y="2958325"/>
                <a:ext cx="795912" cy="552428"/>
                <a:chOff x="5924636" y="2958325"/>
                <a:chExt cx="795912" cy="552428"/>
              </a:xfrm>
            </p:grpSpPr>
            <p:pic>
              <p:nvPicPr>
                <p:cNvPr id="74" name="Graphic 73">
                  <a:extLst>
                    <a:ext uri="{FF2B5EF4-FFF2-40B4-BE49-F238E27FC236}">
                      <a16:creationId xmlns:a16="http://schemas.microsoft.com/office/drawing/2014/main" id="{BFC5A136-7543-4E26-B4A1-77EE86D9A5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t="23190" b="23190"/>
                <a:stretch/>
              </p:blipFill>
              <p:spPr>
                <a:xfrm>
                  <a:off x="5924636" y="2958325"/>
                  <a:ext cx="520916" cy="552428"/>
                </a:xfrm>
                <a:prstGeom prst="rect">
                  <a:avLst/>
                </a:prstGeom>
              </p:spPr>
            </p:pic>
            <p:sp>
              <p:nvSpPr>
                <p:cNvPr id="75" name="Arrow: Left-Right 74">
                  <a:extLst>
                    <a:ext uri="{FF2B5EF4-FFF2-40B4-BE49-F238E27FC236}">
                      <a16:creationId xmlns:a16="http://schemas.microsoft.com/office/drawing/2014/main" id="{ADC71F7B-07DE-4404-899E-7F0326EE5BED}"/>
                    </a:ext>
                  </a:extLst>
                </p:cNvPr>
                <p:cNvSpPr/>
                <p:nvPr/>
              </p:nvSpPr>
              <p:spPr>
                <a:xfrm>
                  <a:off x="6429633" y="3149583"/>
                  <a:ext cx="290915" cy="169911"/>
                </a:xfrm>
                <a:prstGeom prst="leftRightArrow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F3E4438-EFE5-475A-9DA6-96D7C8CDCA6C}"/>
                  </a:ext>
                </a:extLst>
              </p:cNvPr>
              <p:cNvSpPr txBox="1"/>
              <p:nvPr/>
            </p:nvSpPr>
            <p:spPr>
              <a:xfrm>
                <a:off x="6379998" y="2862073"/>
                <a:ext cx="86205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4000" dirty="0">
                    <a:latin typeface="페이퍼로지 7 Bold" pitchFamily="2" charset="-127"/>
                    <a:ea typeface="페이퍼로지 7 Bold" pitchFamily="2" charset="-127"/>
                  </a:rPr>
                  <a:t>📱</a:t>
                </a:r>
              </a:p>
            </p:txBody>
          </p:sp>
        </p:grpSp>
        <p:sp>
          <p:nvSpPr>
            <p:cNvPr id="80" name="Speech Bubble: Rectangle with Corners Rounded 79">
              <a:extLst>
                <a:ext uri="{FF2B5EF4-FFF2-40B4-BE49-F238E27FC236}">
                  <a16:creationId xmlns:a16="http://schemas.microsoft.com/office/drawing/2014/main" id="{509D22DA-94EF-4807-A9E2-DA08637FDDEA}"/>
                </a:ext>
              </a:extLst>
            </p:cNvPr>
            <p:cNvSpPr/>
            <p:nvPr/>
          </p:nvSpPr>
          <p:spPr>
            <a:xfrm>
              <a:off x="7589519" y="3048588"/>
              <a:ext cx="630246" cy="291036"/>
            </a:xfrm>
            <a:prstGeom prst="wedgeRoundRectCallout">
              <a:avLst>
                <a:gd name="adj1" fmla="val -24460"/>
                <a:gd name="adj2" fmla="val 88682"/>
                <a:gd name="adj3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rPr>
                <a:t>송금 하지 마세요</a:t>
              </a:r>
            </a:p>
          </p:txBody>
        </p:sp>
        <p:sp>
          <p:nvSpPr>
            <p:cNvPr id="81" name="Speech Bubble: Rectangle with Corners Rounded 80">
              <a:extLst>
                <a:ext uri="{FF2B5EF4-FFF2-40B4-BE49-F238E27FC236}">
                  <a16:creationId xmlns:a16="http://schemas.microsoft.com/office/drawing/2014/main" id="{04EF375E-4190-4FFB-81ED-48532BC9E0F6}"/>
                </a:ext>
              </a:extLst>
            </p:cNvPr>
            <p:cNvSpPr/>
            <p:nvPr/>
          </p:nvSpPr>
          <p:spPr>
            <a:xfrm>
              <a:off x="8353871" y="2958325"/>
              <a:ext cx="912554" cy="450049"/>
            </a:xfrm>
            <a:prstGeom prst="wedgeRoundRectCallout">
              <a:avLst>
                <a:gd name="adj1" fmla="val 28848"/>
                <a:gd name="adj2" fmla="val 73325"/>
                <a:gd name="adj3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rPr>
                <a:t>돈 안보내면 큰일난대요</a:t>
              </a:r>
              <a:r>
                <a:rPr lang="en-US" altLang="ko-KR" sz="800" dirty="0"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rPr>
                <a:t>…</a:t>
              </a:r>
              <a:r>
                <a:rPr lang="ko-KR" altLang="en-US" sz="800" dirty="0"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rPr>
                <a:t>ㅠㅠ</a:t>
              </a:r>
              <a:endParaRPr lang="en-US" altLang="ko-KR" sz="80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F5E7D3A7-0D8D-4FC7-A907-F3016204E27F}"/>
              </a:ext>
            </a:extLst>
          </p:cNvPr>
          <p:cNvSpPr txBox="1"/>
          <p:nvPr/>
        </p:nvSpPr>
        <p:spPr>
          <a:xfrm>
            <a:off x="1152485" y="4020077"/>
            <a:ext cx="1152560" cy="1769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ko-KR" altLang="en-US" sz="1150" b="1" dirty="0">
                <a:solidFill>
                  <a:srgbClr val="14345B"/>
                </a:solidFill>
                <a:latin typeface="페이퍼로지 7 Bold" pitchFamily="2" charset="-127"/>
                <a:ea typeface="페이퍼로지 7 Bold" pitchFamily="2" charset="-127"/>
              </a:rPr>
              <a:t>② 단계별 업무 부담</a:t>
            </a:r>
            <a:endParaRPr sz="1150" b="1" dirty="0">
              <a:solidFill>
                <a:srgbClr val="14345B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A15B850C-3A8D-43E7-99D2-A174D05242BB}"/>
              </a:ext>
            </a:extLst>
          </p:cNvPr>
          <p:cNvGrpSpPr/>
          <p:nvPr/>
        </p:nvGrpSpPr>
        <p:grpSpPr>
          <a:xfrm>
            <a:off x="1156403" y="5494992"/>
            <a:ext cx="6446520" cy="836436"/>
            <a:chOff x="2889678" y="5494992"/>
            <a:chExt cx="6446520" cy="836436"/>
          </a:xfrm>
        </p:grpSpPr>
        <p:sp>
          <p:nvSpPr>
            <p:cNvPr id="85" name="Rounded Rectangle 55">
              <a:extLst>
                <a:ext uri="{FF2B5EF4-FFF2-40B4-BE49-F238E27FC236}">
                  <a16:creationId xmlns:a16="http://schemas.microsoft.com/office/drawing/2014/main" id="{1A3891EB-AA73-4DFB-B0BD-5BEB895D4375}"/>
                </a:ext>
              </a:extLst>
            </p:cNvPr>
            <p:cNvSpPr/>
            <p:nvPr/>
          </p:nvSpPr>
          <p:spPr>
            <a:xfrm>
              <a:off x="2889678" y="5494992"/>
              <a:ext cx="6446520" cy="83643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3DE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B8E917A-E79E-46A1-81E2-2CE66BFF729B}"/>
                </a:ext>
              </a:extLst>
            </p:cNvPr>
            <p:cNvSpPr txBox="1"/>
            <p:nvPr/>
          </p:nvSpPr>
          <p:spPr>
            <a:xfrm>
              <a:off x="3109134" y="5647979"/>
              <a:ext cx="2789225" cy="15081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lang="ko-KR" altLang="en-US" sz="980" b="1" dirty="0">
                  <a:solidFill>
                    <a:srgbClr val="2F69F5"/>
                  </a:solidFill>
                  <a:latin typeface="페이퍼로지 7 Bold" pitchFamily="2" charset="-127"/>
                  <a:ea typeface="페이퍼로지 7 Bold" pitchFamily="2" charset="-127"/>
                </a:rPr>
                <a:t>③ 실제 사례에서도 확인되는 직원의 직접 확인</a:t>
              </a:r>
              <a:r>
                <a:rPr lang="en-US" altLang="ko-KR" sz="980" b="1" dirty="0">
                  <a:solidFill>
                    <a:srgbClr val="2F69F5"/>
                  </a:solidFill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980" b="1" dirty="0">
                  <a:solidFill>
                    <a:srgbClr val="2F69F5"/>
                  </a:solidFill>
                  <a:latin typeface="페이퍼로지 7 Bold" pitchFamily="2" charset="-127"/>
                  <a:ea typeface="페이퍼로지 7 Bold" pitchFamily="2" charset="-127"/>
                </a:rPr>
                <a:t>설득 업무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4B23764-14F8-4DFB-8BEF-E5D3730B25EF}"/>
                </a:ext>
              </a:extLst>
            </p:cNvPr>
            <p:cNvSpPr txBox="1"/>
            <p:nvPr/>
          </p:nvSpPr>
          <p:spPr>
            <a:xfrm>
              <a:off x="3109134" y="5850435"/>
              <a:ext cx="6003246" cy="353943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lang="ko-KR" altLang="en-US" sz="1200" dirty="0">
                  <a:latin typeface="페이퍼로지 7 Bold" pitchFamily="2" charset="-127"/>
                  <a:ea typeface="페이퍼로지 7 Bold" pitchFamily="2" charset="-127"/>
                </a:rPr>
                <a:t>“짧은 시간 내 의심거래를 찾아내고 피해자를 설득해야 하는 업무”로 표현</a:t>
              </a:r>
              <a:endParaRPr lang="en-US" altLang="ko-KR" sz="1200" dirty="0">
                <a:latin typeface="페이퍼로지 7 Bold" pitchFamily="2" charset="-127"/>
                <a:ea typeface="페이퍼로지 7 Bold" pitchFamily="2" charset="-127"/>
              </a:endParaRPr>
            </a:p>
            <a:p>
              <a:pPr algn="l"/>
              <a:r>
                <a:rPr lang="ko-KR" altLang="en-US" sz="1100" b="0" dirty="0">
                  <a:latin typeface="페이퍼로지 7 Bold" pitchFamily="2" charset="-127"/>
                  <a:ea typeface="페이퍼로지 7 Bold" pitchFamily="2" charset="-127"/>
                </a:rPr>
                <a:t>고객이 사기를 부인하거나 추가이체 의사를 보인 사례에서도 </a:t>
              </a:r>
              <a:r>
                <a:rPr lang="ko-KR" altLang="en-US" sz="1100" b="0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직원의 지속적인 확인</a:t>
              </a:r>
              <a:r>
                <a:rPr lang="en-US" altLang="ko-KR" sz="1100" b="0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100" b="0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설득을 통해 피해가 차단</a:t>
              </a:r>
              <a:endParaRPr sz="1100" b="0" dirty="0">
                <a:solidFill>
                  <a:srgbClr val="708097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sp>
        <p:nvSpPr>
          <p:cNvPr id="91" name="Rounded Rectangle 28">
            <a:extLst>
              <a:ext uri="{FF2B5EF4-FFF2-40B4-BE49-F238E27FC236}">
                <a16:creationId xmlns:a16="http://schemas.microsoft.com/office/drawing/2014/main" id="{A5D0710B-233C-408A-979A-4377C7A2130E}"/>
              </a:ext>
            </a:extLst>
          </p:cNvPr>
          <p:cNvSpPr/>
          <p:nvPr/>
        </p:nvSpPr>
        <p:spPr>
          <a:xfrm>
            <a:off x="8331939" y="5542165"/>
            <a:ext cx="2394882" cy="754032"/>
          </a:xfrm>
          <a:prstGeom prst="roundRect">
            <a:avLst/>
          </a:prstGeom>
          <a:solidFill>
            <a:srgbClr val="EE4344"/>
          </a:solidFill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골든타임 이내 설득 실패 </a:t>
            </a:r>
            <a:endParaRPr lang="en-US" altLang="ko-KR" sz="1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/>
            <a:r>
              <a:rPr lang="en-US" altLang="ko-KR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= </a:t>
            </a:r>
            <a:r>
              <a:rPr lang="ko-KR" altLang="en-US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피해 발생</a:t>
            </a:r>
            <a:endParaRPr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442794A-C6F2-4407-97B8-4BB7B731FB1E}"/>
              </a:ext>
            </a:extLst>
          </p:cNvPr>
          <p:cNvSpPr txBox="1"/>
          <p:nvPr/>
        </p:nvSpPr>
        <p:spPr>
          <a:xfrm>
            <a:off x="11606820" y="6476226"/>
            <a:ext cx="320040" cy="1600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lang="en-US" altLang="ko-KR" sz="800" b="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12</a:t>
            </a:r>
            <a:endParaRPr sz="800" b="0" dirty="0">
              <a:solidFill>
                <a:srgbClr val="6A7B97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75645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2E275967-FA67-4A64-93AA-3D778AB390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9000">
                <a:srgbClr val="0E2746"/>
              </a:gs>
              <a:gs pos="0">
                <a:schemeClr val="tx1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Arrow: Down 60">
            <a:extLst>
              <a:ext uri="{FF2B5EF4-FFF2-40B4-BE49-F238E27FC236}">
                <a16:creationId xmlns:a16="http://schemas.microsoft.com/office/drawing/2014/main" id="{28CCCCC2-3052-4D95-8E3E-486409FF1BE8}"/>
              </a:ext>
            </a:extLst>
          </p:cNvPr>
          <p:cNvSpPr/>
          <p:nvPr/>
        </p:nvSpPr>
        <p:spPr>
          <a:xfrm>
            <a:off x="4095480" y="1624241"/>
            <a:ext cx="571872" cy="940603"/>
          </a:xfrm>
          <a:prstGeom prst="downArrow">
            <a:avLst>
              <a:gd name="adj1" fmla="val 50000"/>
              <a:gd name="adj2" fmla="val 4388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Arrow: Down 62">
            <a:extLst>
              <a:ext uri="{FF2B5EF4-FFF2-40B4-BE49-F238E27FC236}">
                <a16:creationId xmlns:a16="http://schemas.microsoft.com/office/drawing/2014/main" id="{50A05386-4AD0-4F1F-BE18-60D84B000804}"/>
              </a:ext>
            </a:extLst>
          </p:cNvPr>
          <p:cNvSpPr/>
          <p:nvPr/>
        </p:nvSpPr>
        <p:spPr>
          <a:xfrm>
            <a:off x="8309160" y="1624241"/>
            <a:ext cx="571872" cy="940603"/>
          </a:xfrm>
          <a:prstGeom prst="downArrow">
            <a:avLst>
              <a:gd name="adj1" fmla="val 50000"/>
              <a:gd name="adj2" fmla="val 4388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66328AC2-AEA8-4C8D-9E79-F182745FA958}"/>
              </a:ext>
            </a:extLst>
          </p:cNvPr>
          <p:cNvSpPr/>
          <p:nvPr/>
        </p:nvSpPr>
        <p:spPr>
          <a:xfrm>
            <a:off x="731259" y="2692062"/>
            <a:ext cx="2711098" cy="2890420"/>
          </a:xfrm>
          <a:prstGeom prst="roundRect">
            <a:avLst>
              <a:gd name="adj" fmla="val 5444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1800" b="1" dirty="0">
              <a:solidFill>
                <a:srgbClr val="102D52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078EE94-F06E-45B4-A041-D938D39DBF2E}"/>
              </a:ext>
            </a:extLst>
          </p:cNvPr>
          <p:cNvGrpSpPr/>
          <p:nvPr/>
        </p:nvGrpSpPr>
        <p:grpSpPr>
          <a:xfrm>
            <a:off x="845501" y="2807747"/>
            <a:ext cx="2469484" cy="803775"/>
            <a:chOff x="1783080" y="2640207"/>
            <a:chExt cx="2474595" cy="1157083"/>
          </a:xfrm>
          <a:solidFill>
            <a:srgbClr val="FFF1F1"/>
          </a:solidFill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B371B622-5B8D-4232-9582-9006DD483192}"/>
                </a:ext>
              </a:extLst>
            </p:cNvPr>
            <p:cNvSpPr/>
            <p:nvPr/>
          </p:nvSpPr>
          <p:spPr>
            <a:xfrm>
              <a:off x="1783080" y="2640207"/>
              <a:ext cx="2474595" cy="1157083"/>
            </a:xfrm>
            <a:prstGeom prst="roundRect">
              <a:avLst/>
            </a:prstGeom>
            <a:grpFill/>
            <a:ln w="12700">
              <a:solidFill>
                <a:srgbClr val="EE434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l"/>
              <a:endParaRPr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4EF9BEA-5130-4267-960D-007B5C6E88DB}"/>
                </a:ext>
              </a:extLst>
            </p:cNvPr>
            <p:cNvSpPr txBox="1"/>
            <p:nvPr/>
          </p:nvSpPr>
          <p:spPr>
            <a:xfrm>
              <a:off x="2045643" y="2907390"/>
              <a:ext cx="240450" cy="2154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400" b="1" dirty="0">
                  <a:solidFill>
                    <a:srgbClr val="002060"/>
                  </a:solidFill>
                  <a:latin typeface="페이퍼로지 7 Bold" pitchFamily="2" charset="-127"/>
                  <a:ea typeface="페이퍼로지 7 Bold" pitchFamily="2" charset="-127"/>
                </a:rPr>
                <a:t>01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357F422-101B-4AC7-8928-D13CAE6E4086}"/>
                </a:ext>
              </a:extLst>
            </p:cNvPr>
            <p:cNvSpPr txBox="1"/>
            <p:nvPr/>
          </p:nvSpPr>
          <p:spPr>
            <a:xfrm>
              <a:off x="2439837" y="2907390"/>
              <a:ext cx="498534" cy="2154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lang="en-US" altLang="ko-KR" sz="1400" b="1" dirty="0">
                  <a:solidFill>
                    <a:srgbClr val="002060"/>
                  </a:solidFill>
                  <a:latin typeface="페이퍼로지 7 Bold" pitchFamily="2" charset="-127"/>
                  <a:ea typeface="페이퍼로지 7 Bold" pitchFamily="2" charset="-127"/>
                </a:rPr>
                <a:t>|   </a:t>
              </a:r>
              <a:r>
                <a:rPr sz="1400" b="1" dirty="0" err="1">
                  <a:solidFill>
                    <a:srgbClr val="002060"/>
                  </a:solidFill>
                  <a:latin typeface="페이퍼로지 7 Bold" pitchFamily="2" charset="-127"/>
                  <a:ea typeface="페이퍼로지 7 Bold" pitchFamily="2" charset="-127"/>
                </a:rPr>
                <a:t>권위</a:t>
              </a:r>
              <a:endParaRPr sz="1400" b="1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B9E9DAD-282F-4727-9D1F-C22BF0E98D25}"/>
                </a:ext>
              </a:extLst>
            </p:cNvPr>
            <p:cNvSpPr txBox="1"/>
            <p:nvPr/>
          </p:nvSpPr>
          <p:spPr>
            <a:xfrm>
              <a:off x="2020117" y="3332646"/>
              <a:ext cx="1370568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sz="1100" b="1" dirty="0" err="1">
                  <a:latin typeface="페이퍼로지 7 Bold" pitchFamily="2" charset="-127"/>
                  <a:ea typeface="페이퍼로지 7 Bold" pitchFamily="2" charset="-127"/>
                </a:rPr>
                <a:t>검찰·경찰</a:t>
              </a:r>
              <a:r>
                <a:rPr sz="1100" b="1" dirty="0">
                  <a:latin typeface="페이퍼로지 7 Bold" pitchFamily="2" charset="-127"/>
                  <a:ea typeface="페이퍼로지 7 Bold" pitchFamily="2" charset="-127"/>
                </a:rPr>
                <a:t> 등 </a:t>
              </a:r>
              <a:r>
                <a:rPr sz="1100" b="1" dirty="0" err="1">
                  <a:latin typeface="페이퍼로지 7 Bold" pitchFamily="2" charset="-127"/>
                  <a:ea typeface="페이퍼로지 7 Bold" pitchFamily="2" charset="-127"/>
                </a:rPr>
                <a:t>기관을</a:t>
              </a:r>
              <a:r>
                <a:rPr sz="1100" b="1" dirty="0"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100" b="1" dirty="0" err="1">
                  <a:latin typeface="페이퍼로지 7 Bold" pitchFamily="2" charset="-127"/>
                  <a:ea typeface="페이퍼로지 7 Bold" pitchFamily="2" charset="-127"/>
                </a:rPr>
                <a:t>사칭</a:t>
              </a:r>
              <a:endParaRPr sz="1100" b="1" dirty="0"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425E626-D6E1-4A35-92C7-F9B227D963E9}"/>
              </a:ext>
            </a:extLst>
          </p:cNvPr>
          <p:cNvGrpSpPr/>
          <p:nvPr/>
        </p:nvGrpSpPr>
        <p:grpSpPr>
          <a:xfrm>
            <a:off x="845500" y="3739784"/>
            <a:ext cx="2469484" cy="803775"/>
            <a:chOff x="1783080" y="3508886"/>
            <a:chExt cx="2474595" cy="1157083"/>
          </a:xfrm>
          <a:solidFill>
            <a:srgbClr val="FFF1F1"/>
          </a:solidFill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283B1CCC-1A8C-4ED1-BA9A-3D39220B0883}"/>
                </a:ext>
              </a:extLst>
            </p:cNvPr>
            <p:cNvSpPr/>
            <p:nvPr/>
          </p:nvSpPr>
          <p:spPr>
            <a:xfrm>
              <a:off x="1783080" y="3508886"/>
              <a:ext cx="2474595" cy="1157083"/>
            </a:xfrm>
            <a:prstGeom prst="roundRect">
              <a:avLst/>
            </a:prstGeom>
            <a:grpFill/>
            <a:ln w="12700">
              <a:solidFill>
                <a:srgbClr val="EF46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l"/>
              <a:endParaRPr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640B528-E2D1-4A15-B5E2-122AEC3EC829}"/>
                </a:ext>
              </a:extLst>
            </p:cNvPr>
            <p:cNvSpPr txBox="1"/>
            <p:nvPr/>
          </p:nvSpPr>
          <p:spPr>
            <a:xfrm>
              <a:off x="2045643" y="3776069"/>
              <a:ext cx="240450" cy="2154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02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C7CE176-1809-4029-A514-493785A24116}"/>
                </a:ext>
              </a:extLst>
            </p:cNvPr>
            <p:cNvSpPr txBox="1"/>
            <p:nvPr/>
          </p:nvSpPr>
          <p:spPr>
            <a:xfrm>
              <a:off x="2418429" y="3776069"/>
              <a:ext cx="992259" cy="2154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lang="en-US" sz="1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|  </a:t>
              </a:r>
              <a:r>
                <a:rPr sz="1400" b="1" dirty="0" err="1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공포·긴급성</a:t>
              </a:r>
              <a:endParaRPr sz="14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94B8A88-6569-4AC6-AB12-D6801BDC41C0}"/>
                </a:ext>
              </a:extLst>
            </p:cNvPr>
            <p:cNvSpPr txBox="1"/>
            <p:nvPr/>
          </p:nvSpPr>
          <p:spPr>
            <a:xfrm>
              <a:off x="2020117" y="4201325"/>
              <a:ext cx="1894749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sz="1100" b="1" dirty="0" err="1">
                  <a:latin typeface="페이퍼로지 7 Bold" pitchFamily="2" charset="-127"/>
                  <a:ea typeface="페이퍼로지 7 Bold" pitchFamily="2" charset="-127"/>
                </a:rPr>
                <a:t>범죄</a:t>
              </a:r>
              <a:r>
                <a:rPr sz="1100" b="1" dirty="0"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100" b="1" dirty="0" err="1">
                  <a:latin typeface="페이퍼로지 7 Bold" pitchFamily="2" charset="-127"/>
                  <a:ea typeface="페이퍼로지 7 Bold" pitchFamily="2" charset="-127"/>
                </a:rPr>
                <a:t>연루·체포</a:t>
              </a:r>
              <a:r>
                <a:rPr sz="1100" b="1" dirty="0">
                  <a:latin typeface="페이퍼로지 7 Bold" pitchFamily="2" charset="-127"/>
                  <a:ea typeface="페이퍼로지 7 Bold" pitchFamily="2" charset="-127"/>
                </a:rPr>
                <a:t> 등 </a:t>
              </a:r>
              <a:r>
                <a:rPr sz="1100" b="1" dirty="0" err="1">
                  <a:latin typeface="페이퍼로지 7 Bold" pitchFamily="2" charset="-127"/>
                  <a:ea typeface="페이퍼로지 7 Bold" pitchFamily="2" charset="-127"/>
                </a:rPr>
                <a:t>위협과</a:t>
              </a:r>
              <a:r>
                <a:rPr sz="1100" b="1" dirty="0"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100" b="1" dirty="0" err="1">
                  <a:latin typeface="페이퍼로지 7 Bold" pitchFamily="2" charset="-127"/>
                  <a:ea typeface="페이퍼로지 7 Bold" pitchFamily="2" charset="-127"/>
                </a:rPr>
                <a:t>시간압박</a:t>
              </a:r>
              <a:endParaRPr sz="1100" b="1" dirty="0"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64EEF90-81EB-41DF-9D68-D8BB44149647}"/>
              </a:ext>
            </a:extLst>
          </p:cNvPr>
          <p:cNvGrpSpPr/>
          <p:nvPr/>
        </p:nvGrpSpPr>
        <p:grpSpPr>
          <a:xfrm>
            <a:off x="856622" y="4671821"/>
            <a:ext cx="2469484" cy="803775"/>
            <a:chOff x="1783080" y="4377567"/>
            <a:chExt cx="2474595" cy="1157083"/>
          </a:xfrm>
          <a:solidFill>
            <a:srgbClr val="FFF1F1"/>
          </a:solidFill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DA68ECDF-367C-4BC8-AF86-1EACC36C866C}"/>
                </a:ext>
              </a:extLst>
            </p:cNvPr>
            <p:cNvSpPr/>
            <p:nvPr/>
          </p:nvSpPr>
          <p:spPr>
            <a:xfrm>
              <a:off x="1783080" y="4377567"/>
              <a:ext cx="2474595" cy="1157083"/>
            </a:xfrm>
            <a:prstGeom prst="roundRect">
              <a:avLst/>
            </a:prstGeom>
            <a:grpFill/>
            <a:ln w="12700">
              <a:solidFill>
                <a:srgbClr val="EE434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l"/>
              <a:endParaRPr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2CFB8A-6DB9-4CD6-BF88-0D79F531DD7D}"/>
                </a:ext>
              </a:extLst>
            </p:cNvPr>
            <p:cNvSpPr txBox="1"/>
            <p:nvPr/>
          </p:nvSpPr>
          <p:spPr>
            <a:xfrm>
              <a:off x="2045643" y="4644750"/>
              <a:ext cx="240450" cy="2154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</a:rPr>
                <a:t>03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145C5F9-FCF8-49CC-88B4-ED6B59082BCE}"/>
                </a:ext>
              </a:extLst>
            </p:cNvPr>
            <p:cNvSpPr txBox="1"/>
            <p:nvPr/>
          </p:nvSpPr>
          <p:spPr>
            <a:xfrm>
              <a:off x="2418429" y="4644749"/>
              <a:ext cx="815929" cy="21544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lang="en-US" sz="140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</a:rPr>
                <a:t>|  </a:t>
              </a:r>
              <a:r>
                <a:rPr sz="1400" b="1" dirty="0" err="1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</a:rPr>
                <a:t>고립</a:t>
              </a:r>
              <a:r>
                <a:rPr lang="en-US" sz="140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lang="ko-KR" altLang="en-US" sz="140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</a:rPr>
                <a:t>유도</a:t>
              </a:r>
              <a:endParaRPr sz="14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C8CBB09-BEC6-4DE9-B895-6C23177C3C05}"/>
                </a:ext>
              </a:extLst>
            </p:cNvPr>
            <p:cNvSpPr txBox="1"/>
            <p:nvPr/>
          </p:nvSpPr>
          <p:spPr>
            <a:xfrm>
              <a:off x="2020117" y="5070006"/>
              <a:ext cx="1894749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sz="1100" b="1" dirty="0" err="1">
                  <a:latin typeface="페이퍼로지 7 Bold" pitchFamily="2" charset="-127"/>
                  <a:ea typeface="페이퍼로지 7 Bold" pitchFamily="2" charset="-127"/>
                </a:rPr>
                <a:t>외부</a:t>
              </a:r>
              <a:r>
                <a:rPr sz="1100" b="1" dirty="0"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100" b="1" dirty="0" err="1">
                  <a:latin typeface="페이퍼로지 7 Bold" pitchFamily="2" charset="-127"/>
                  <a:ea typeface="페이퍼로지 7 Bold" pitchFamily="2" charset="-127"/>
                </a:rPr>
                <a:t>확인·대안</a:t>
              </a:r>
              <a:r>
                <a:rPr sz="1100" b="1" dirty="0"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100" b="1" dirty="0" err="1">
                  <a:latin typeface="페이퍼로지 7 Bold" pitchFamily="2" charset="-127"/>
                  <a:ea typeface="페이퍼로지 7 Bold" pitchFamily="2" charset="-127"/>
                </a:rPr>
                <a:t>검토가</a:t>
              </a:r>
              <a:r>
                <a:rPr sz="1100" b="1" dirty="0"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100" b="1" dirty="0" err="1">
                  <a:latin typeface="페이퍼로지 7 Bold" pitchFamily="2" charset="-127"/>
                  <a:ea typeface="페이퍼로지 7 Bold" pitchFamily="2" charset="-127"/>
                </a:rPr>
                <a:t>어려운</a:t>
              </a:r>
              <a:r>
                <a:rPr sz="1100" b="1" dirty="0"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100" b="1" dirty="0" err="1">
                  <a:latin typeface="페이퍼로지 7 Bold" pitchFamily="2" charset="-127"/>
                  <a:ea typeface="페이퍼로지 7 Bold" pitchFamily="2" charset="-127"/>
                </a:rPr>
                <a:t>상황</a:t>
              </a:r>
              <a:endParaRPr sz="1100" b="1" dirty="0"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9563224D-81E7-46C7-AFCE-67800BDCC78D}"/>
              </a:ext>
            </a:extLst>
          </p:cNvPr>
          <p:cNvSpPr/>
          <p:nvPr/>
        </p:nvSpPr>
        <p:spPr>
          <a:xfrm>
            <a:off x="4106158" y="2691049"/>
            <a:ext cx="2965557" cy="2892405"/>
          </a:xfrm>
          <a:prstGeom prst="roundRect">
            <a:avLst>
              <a:gd name="adj" fmla="val 5444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1800" b="1" dirty="0">
              <a:solidFill>
                <a:srgbClr val="102D52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1D35C55-D583-44D4-8389-1D0A713FE4FF}"/>
              </a:ext>
            </a:extLst>
          </p:cNvPr>
          <p:cNvGrpSpPr/>
          <p:nvPr/>
        </p:nvGrpSpPr>
        <p:grpSpPr>
          <a:xfrm>
            <a:off x="4188633" y="2807746"/>
            <a:ext cx="2781531" cy="803776"/>
            <a:chOff x="4107846" y="2938087"/>
            <a:chExt cx="3240828" cy="757208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D8BD9DFE-0284-4BCE-A983-3927700F004C}"/>
                </a:ext>
              </a:extLst>
            </p:cNvPr>
            <p:cNvSpPr/>
            <p:nvPr/>
          </p:nvSpPr>
          <p:spPr>
            <a:xfrm>
              <a:off x="4107846" y="2938087"/>
              <a:ext cx="3240828" cy="75720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3DE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l"/>
              <a:endParaRPr sz="120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C406C38-F6BD-4016-BCD5-B606BDDED529}"/>
                </a:ext>
              </a:extLst>
            </p:cNvPr>
            <p:cNvSpPr txBox="1"/>
            <p:nvPr/>
          </p:nvSpPr>
          <p:spPr>
            <a:xfrm>
              <a:off x="4290484" y="3229707"/>
              <a:ext cx="269304" cy="17396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ko-KR" altLang="en-US" sz="1200" b="1" dirty="0">
                  <a:solidFill>
                    <a:srgbClr val="002060"/>
                  </a:solidFill>
                  <a:latin typeface="페이퍼로지 7 Bold" pitchFamily="2" charset="-127"/>
                  <a:ea typeface="페이퍼로지 7 Bold" pitchFamily="2" charset="-127"/>
                </a:rPr>
                <a:t>권위</a:t>
              </a:r>
              <a:endParaRPr sz="1200" b="1" dirty="0"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7936DB9-39CA-44F3-878B-B439136B65E0}"/>
                </a:ext>
              </a:extLst>
            </p:cNvPr>
            <p:cNvSpPr txBox="1"/>
            <p:nvPr/>
          </p:nvSpPr>
          <p:spPr>
            <a:xfrm>
              <a:off x="5312780" y="3190685"/>
              <a:ext cx="1835375" cy="2628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/>
              <a:r>
                <a:rPr lang="en-US" altLang="ko-KR" sz="1200" b="1" dirty="0">
                  <a:latin typeface="페이퍼로지 7 Bold" pitchFamily="2" charset="-127"/>
                  <a:ea typeface="페이퍼로지 7 Bold" pitchFamily="2" charset="-127"/>
                </a:rPr>
                <a:t>“</a:t>
              </a:r>
              <a:r>
                <a:rPr lang="ko-KR" altLang="en-US" sz="1200" b="1" dirty="0">
                  <a:latin typeface="페이퍼로지 7 Bold" pitchFamily="2" charset="-127"/>
                  <a:ea typeface="페이퍼로지 7 Bold" pitchFamily="2" charset="-127"/>
                </a:rPr>
                <a:t>누구지</a:t>
              </a:r>
              <a:r>
                <a:rPr lang="en-US" altLang="ko-KR" sz="1200" b="1" dirty="0">
                  <a:latin typeface="페이퍼로지 7 Bold" pitchFamily="2" charset="-127"/>
                  <a:ea typeface="페이퍼로지 7 Bold" pitchFamily="2" charset="-127"/>
                </a:rPr>
                <a:t>? </a:t>
              </a:r>
              <a:r>
                <a:rPr lang="ko-KR" altLang="en-US" sz="1200" b="1" dirty="0">
                  <a:latin typeface="페이퍼로지 7 Bold" pitchFamily="2" charset="-127"/>
                  <a:ea typeface="페이퍼로지 7 Bold" pitchFamily="2" charset="-127"/>
                </a:rPr>
                <a:t>진짜 경찰인가</a:t>
              </a:r>
              <a:r>
                <a:rPr lang="en-US" altLang="ko-KR" sz="1200" b="1" dirty="0">
                  <a:latin typeface="페이퍼로지 7 Bold" pitchFamily="2" charset="-127"/>
                  <a:ea typeface="페이퍼로지 7 Bold" pitchFamily="2" charset="-127"/>
                </a:rPr>
                <a:t>?”</a:t>
              </a:r>
              <a:endParaRPr sz="1200" b="1" dirty="0"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5DA04DC-10A0-4086-85F7-34FB55FE058B}"/>
              </a:ext>
            </a:extLst>
          </p:cNvPr>
          <p:cNvGrpSpPr/>
          <p:nvPr/>
        </p:nvGrpSpPr>
        <p:grpSpPr>
          <a:xfrm>
            <a:off x="4188633" y="3739783"/>
            <a:ext cx="2781531" cy="803776"/>
            <a:chOff x="4107846" y="3879169"/>
            <a:chExt cx="3240828" cy="757208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3BA861DC-CFDE-4BDA-8216-7FCB1CB46A57}"/>
                </a:ext>
              </a:extLst>
            </p:cNvPr>
            <p:cNvSpPr/>
            <p:nvPr/>
          </p:nvSpPr>
          <p:spPr>
            <a:xfrm>
              <a:off x="4107846" y="3879169"/>
              <a:ext cx="3240828" cy="75720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3DE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l"/>
              <a:endParaRPr sz="120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EDC7B0B-3AC9-4C1E-BD45-75802F5C7DBF}"/>
                </a:ext>
              </a:extLst>
            </p:cNvPr>
            <p:cNvSpPr txBox="1"/>
            <p:nvPr/>
          </p:nvSpPr>
          <p:spPr>
            <a:xfrm>
              <a:off x="4290484" y="4165894"/>
              <a:ext cx="722955" cy="17396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ko-KR" altLang="en-US" sz="12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공포</a:t>
              </a:r>
              <a:r>
                <a:rPr lang="en-US" altLang="ko-KR" sz="12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2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긴급성</a:t>
              </a:r>
              <a:endParaRPr sz="1200" b="1" dirty="0"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2E57E90-33DB-4459-8BFC-20AB0308265B}"/>
                </a:ext>
              </a:extLst>
            </p:cNvPr>
            <p:cNvSpPr txBox="1"/>
            <p:nvPr/>
          </p:nvSpPr>
          <p:spPr>
            <a:xfrm>
              <a:off x="5489330" y="4116554"/>
              <a:ext cx="1658826" cy="2628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/>
              <a:r>
                <a:rPr lang="ko-KR" altLang="en-US" sz="1200" b="1" dirty="0">
                  <a:latin typeface="페이퍼로지 7 Bold" pitchFamily="2" charset="-127"/>
                  <a:ea typeface="페이퍼로지 7 Bold" pitchFamily="2" charset="-127"/>
                </a:rPr>
                <a:t>“빨리 안하면 불이익</a:t>
              </a:r>
              <a:r>
                <a:rPr lang="en-US" altLang="ko-KR" sz="1200" b="1" dirty="0">
                  <a:latin typeface="페이퍼로지 7 Bold" pitchFamily="2" charset="-127"/>
                  <a:ea typeface="페이퍼로지 7 Bold" pitchFamily="2" charset="-127"/>
                </a:rPr>
                <a:t>?”</a:t>
              </a:r>
              <a:endParaRPr lang="ko-KR" altLang="en-US" sz="1200" b="1" dirty="0"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3D5A000-91C2-4C17-AC3C-6387B6F3C939}"/>
              </a:ext>
            </a:extLst>
          </p:cNvPr>
          <p:cNvGrpSpPr/>
          <p:nvPr/>
        </p:nvGrpSpPr>
        <p:grpSpPr>
          <a:xfrm>
            <a:off x="4188633" y="4671820"/>
            <a:ext cx="2781531" cy="803776"/>
            <a:chOff x="4107846" y="4820249"/>
            <a:chExt cx="3240828" cy="757208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2DAEDF3E-CBEA-4146-83E2-28C206D5E206}"/>
                </a:ext>
              </a:extLst>
            </p:cNvPr>
            <p:cNvSpPr/>
            <p:nvPr/>
          </p:nvSpPr>
          <p:spPr>
            <a:xfrm>
              <a:off x="4107846" y="4820249"/>
              <a:ext cx="3240828" cy="75720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3DE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l"/>
              <a:endParaRPr sz="120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75394A8-C27D-41AB-BE15-010158C90209}"/>
                </a:ext>
              </a:extLst>
            </p:cNvPr>
            <p:cNvSpPr txBox="1"/>
            <p:nvPr/>
          </p:nvSpPr>
          <p:spPr>
            <a:xfrm>
              <a:off x="4290484" y="5111869"/>
              <a:ext cx="572273" cy="17396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ko-KR" altLang="en-US" sz="120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</a:rPr>
                <a:t>고립 유도</a:t>
              </a:r>
              <a:endParaRPr sz="1200" b="1" dirty="0"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9ECA5A7-FBD6-42DA-8217-7D7AC33A549B}"/>
                </a:ext>
              </a:extLst>
            </p:cNvPr>
            <p:cNvSpPr txBox="1"/>
            <p:nvPr/>
          </p:nvSpPr>
          <p:spPr>
            <a:xfrm>
              <a:off x="4862757" y="5111869"/>
              <a:ext cx="2285399" cy="17396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/>
              <a:r>
                <a:rPr lang="ko-KR" altLang="en-US" sz="1200" b="1" dirty="0">
                  <a:latin typeface="페이퍼로지 7 Bold" pitchFamily="2" charset="-127"/>
                  <a:ea typeface="페이퍼로지 7 Bold" pitchFamily="2" charset="-127"/>
                </a:rPr>
                <a:t>“공식 절차인지 모르겠어</a:t>
              </a:r>
              <a:r>
                <a:rPr lang="en-US" altLang="ko-KR" sz="1200" b="1" dirty="0">
                  <a:latin typeface="페이퍼로지 7 Bold" pitchFamily="2" charset="-127"/>
                  <a:ea typeface="페이퍼로지 7 Bold" pitchFamily="2" charset="-127"/>
                </a:rPr>
                <a:t>..”</a:t>
              </a:r>
              <a:endParaRPr lang="ko-KR" altLang="en-US" sz="1200" b="1" dirty="0"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sp>
        <p:nvSpPr>
          <p:cNvPr id="3" name="Arrow: Right 2">
            <a:extLst>
              <a:ext uri="{FF2B5EF4-FFF2-40B4-BE49-F238E27FC236}">
                <a16:creationId xmlns:a16="http://schemas.microsoft.com/office/drawing/2014/main" id="{A80AA33E-94A8-48E1-8336-2CBBAC69D867}"/>
              </a:ext>
            </a:extLst>
          </p:cNvPr>
          <p:cNvSpPr/>
          <p:nvPr/>
        </p:nvSpPr>
        <p:spPr>
          <a:xfrm>
            <a:off x="3564909" y="3908801"/>
            <a:ext cx="439720" cy="464769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DF95FED4-CCA4-4102-B6A1-5AE49F55A798}"/>
              </a:ext>
            </a:extLst>
          </p:cNvPr>
          <p:cNvSpPr/>
          <p:nvPr/>
        </p:nvSpPr>
        <p:spPr>
          <a:xfrm>
            <a:off x="7165765" y="3986444"/>
            <a:ext cx="924119" cy="387126"/>
          </a:xfrm>
          <a:prstGeom prst="leftRightArrow">
            <a:avLst>
              <a:gd name="adj1" fmla="val 50000"/>
              <a:gd name="adj2" fmla="val 4902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46F67E0B-801B-4CD5-AED8-D67D904CD7E0}"/>
              </a:ext>
            </a:extLst>
          </p:cNvPr>
          <p:cNvSpPr/>
          <p:nvPr/>
        </p:nvSpPr>
        <p:spPr>
          <a:xfrm>
            <a:off x="8197594" y="2691048"/>
            <a:ext cx="3424720" cy="2890419"/>
          </a:xfrm>
          <a:prstGeom prst="roundRect">
            <a:avLst>
              <a:gd name="adj" fmla="val 5444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1800" b="1" dirty="0">
              <a:solidFill>
                <a:srgbClr val="102D52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85" name="Rounded Rectangle 49">
            <a:extLst>
              <a:ext uri="{FF2B5EF4-FFF2-40B4-BE49-F238E27FC236}">
                <a16:creationId xmlns:a16="http://schemas.microsoft.com/office/drawing/2014/main" id="{66327558-7CF3-4F0D-A6DC-FA7C28BF45FE}"/>
              </a:ext>
            </a:extLst>
          </p:cNvPr>
          <p:cNvSpPr/>
          <p:nvPr/>
        </p:nvSpPr>
        <p:spPr>
          <a:xfrm>
            <a:off x="8323366" y="3739783"/>
            <a:ext cx="3161265" cy="803776"/>
          </a:xfrm>
          <a:prstGeom prst="roundRect">
            <a:avLst/>
          </a:prstGeom>
          <a:solidFill>
            <a:srgbClr val="FFF7E7"/>
          </a:solidFill>
          <a:ln w="15240">
            <a:solidFill>
              <a:srgbClr val="EE99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rgbClr val="EE9912"/>
                </a:solidFill>
                <a:latin typeface="Noto Sans KR"/>
              </a:rPr>
              <a:t>고객 답변 불확실성</a:t>
            </a:r>
            <a:endParaRPr lang="ko-KR" altLang="en-US" sz="1400" b="1" dirty="0">
              <a:solidFill>
                <a:srgbClr val="7052BE"/>
              </a:solidFill>
              <a:latin typeface="Noto Sans KR"/>
            </a:endParaRPr>
          </a:p>
        </p:txBody>
      </p:sp>
      <p:sp>
        <p:nvSpPr>
          <p:cNvPr id="86" name="Rounded Rectangle 46">
            <a:extLst>
              <a:ext uri="{FF2B5EF4-FFF2-40B4-BE49-F238E27FC236}">
                <a16:creationId xmlns:a16="http://schemas.microsoft.com/office/drawing/2014/main" id="{C18B0F1C-C82F-4F5D-BCFA-6BEF9601075C}"/>
              </a:ext>
            </a:extLst>
          </p:cNvPr>
          <p:cNvSpPr/>
          <p:nvPr/>
        </p:nvSpPr>
        <p:spPr>
          <a:xfrm>
            <a:off x="8323366" y="2807746"/>
            <a:ext cx="3161265" cy="803776"/>
          </a:xfrm>
          <a:prstGeom prst="roundRect">
            <a:avLst/>
          </a:prstGeom>
          <a:solidFill>
            <a:srgbClr val="F4F1FF"/>
          </a:solidFill>
          <a:ln w="15240">
            <a:solidFill>
              <a:srgbClr val="705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rgbClr val="7052BE"/>
                </a:solidFill>
                <a:latin typeface="Noto Sans KR"/>
              </a:rPr>
              <a:t>사건 맥락 재구성 </a:t>
            </a:r>
            <a:r>
              <a:rPr lang="en-US" altLang="ko-KR" sz="1400" b="1" dirty="0">
                <a:solidFill>
                  <a:srgbClr val="7052BE"/>
                </a:solidFill>
                <a:latin typeface="Noto Sans KR"/>
              </a:rPr>
              <a:t>· </a:t>
            </a:r>
            <a:r>
              <a:rPr lang="ko-KR" altLang="en-US" sz="1400" b="1" dirty="0">
                <a:solidFill>
                  <a:srgbClr val="7052BE"/>
                </a:solidFill>
                <a:latin typeface="Noto Sans KR"/>
              </a:rPr>
              <a:t>상황 파악 부담</a:t>
            </a:r>
            <a:endParaRPr lang="en-US" altLang="ko-KR" sz="1400" b="1" dirty="0">
              <a:solidFill>
                <a:srgbClr val="7052BE"/>
              </a:solidFill>
              <a:latin typeface="Noto Sans KR"/>
            </a:endParaRPr>
          </a:p>
        </p:txBody>
      </p:sp>
      <p:sp>
        <p:nvSpPr>
          <p:cNvPr id="87" name="Rounded Rectangle 52">
            <a:extLst>
              <a:ext uri="{FF2B5EF4-FFF2-40B4-BE49-F238E27FC236}">
                <a16:creationId xmlns:a16="http://schemas.microsoft.com/office/drawing/2014/main" id="{DED3BA1F-1140-40ED-BC3D-5EA442459E2C}"/>
              </a:ext>
            </a:extLst>
          </p:cNvPr>
          <p:cNvSpPr/>
          <p:nvPr/>
        </p:nvSpPr>
        <p:spPr>
          <a:xfrm>
            <a:off x="8323367" y="4663654"/>
            <a:ext cx="3161265" cy="816797"/>
          </a:xfrm>
          <a:prstGeom prst="roundRect">
            <a:avLst/>
          </a:prstGeom>
          <a:solidFill>
            <a:srgbClr val="FFF1F1"/>
          </a:solidFill>
          <a:ln w="15240">
            <a:solidFill>
              <a:srgbClr val="EF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rgbClr val="EF4646"/>
                </a:solidFill>
                <a:latin typeface="Noto Sans KR"/>
              </a:rPr>
              <a:t>송금 정지 및 차단을 위한</a:t>
            </a:r>
            <a:endParaRPr lang="en-US" altLang="ko-KR" sz="1400" b="1" dirty="0">
              <a:solidFill>
                <a:srgbClr val="EF4646"/>
              </a:solidFill>
              <a:latin typeface="Noto Sans KR"/>
            </a:endParaRPr>
          </a:p>
          <a:p>
            <a:pPr algn="ctr"/>
            <a:r>
              <a:rPr lang="ko-KR" altLang="en-US" sz="1400" b="1" dirty="0">
                <a:solidFill>
                  <a:srgbClr val="EF4646"/>
                </a:solidFill>
                <a:latin typeface="Noto Sans KR"/>
              </a:rPr>
              <a:t>설득 업무 부담</a:t>
            </a:r>
            <a:endParaRPr lang="ko-KR" altLang="en-US" sz="1400" b="1" dirty="0">
              <a:solidFill>
                <a:srgbClr val="7052BE"/>
              </a:solidFill>
              <a:latin typeface="Noto Sans KR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876C1A-ADFD-47C6-AE03-1C7AC6F8D98D}"/>
              </a:ext>
            </a:extLst>
          </p:cNvPr>
          <p:cNvGrpSpPr/>
          <p:nvPr/>
        </p:nvGrpSpPr>
        <p:grpSpPr>
          <a:xfrm>
            <a:off x="4095479" y="5747407"/>
            <a:ext cx="7526835" cy="728118"/>
            <a:chOff x="4095479" y="5748108"/>
            <a:chExt cx="7526835" cy="728118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3712768E-A5DB-472B-BCC3-D524AC432599}"/>
                </a:ext>
              </a:extLst>
            </p:cNvPr>
            <p:cNvGrpSpPr/>
            <p:nvPr/>
          </p:nvGrpSpPr>
          <p:grpSpPr>
            <a:xfrm>
              <a:off x="4095479" y="5748108"/>
              <a:ext cx="7526835" cy="728118"/>
              <a:chOff x="3709970" y="4684520"/>
              <a:chExt cx="7526835" cy="728118"/>
            </a:xfrm>
          </p:grpSpPr>
          <p:sp>
            <p:nvSpPr>
              <p:cNvPr id="81" name="Rectangle: Rounded Corners 80">
                <a:extLst>
                  <a:ext uri="{FF2B5EF4-FFF2-40B4-BE49-F238E27FC236}">
                    <a16:creationId xmlns:a16="http://schemas.microsoft.com/office/drawing/2014/main" id="{7AD31B4A-2429-4593-8A10-9B317D6A95B2}"/>
                  </a:ext>
                </a:extLst>
              </p:cNvPr>
              <p:cNvSpPr/>
              <p:nvPr/>
            </p:nvSpPr>
            <p:spPr>
              <a:xfrm>
                <a:off x="3709970" y="4684520"/>
                <a:ext cx="7526835" cy="728118"/>
              </a:xfrm>
              <a:prstGeom prst="roundRect">
                <a:avLst>
                  <a:gd name="adj" fmla="val 16873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ko-KR" altLang="en-US" sz="1800" b="1" dirty="0">
                  <a:solidFill>
                    <a:srgbClr val="102D52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65A0E1FE-F3ED-4899-AF93-F3FE35551FCE}"/>
                  </a:ext>
                </a:extLst>
              </p:cNvPr>
              <p:cNvSpPr/>
              <p:nvPr/>
            </p:nvSpPr>
            <p:spPr>
              <a:xfrm>
                <a:off x="3803124" y="4761926"/>
                <a:ext cx="2795877" cy="570394"/>
              </a:xfrm>
              <a:prstGeom prst="roundRect">
                <a:avLst/>
              </a:prstGeom>
              <a:solidFill>
                <a:srgbClr val="0E2746"/>
              </a:solidFill>
              <a:ln w="28575"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sz="120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B748C7C-A99A-4F76-9774-64377B7A3C09}"/>
                  </a:ext>
                </a:extLst>
              </p:cNvPr>
              <p:cNvSpPr txBox="1"/>
              <p:nvPr/>
            </p:nvSpPr>
            <p:spPr>
              <a:xfrm>
                <a:off x="4213327" y="4862457"/>
                <a:ext cx="197547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ko-KR" altLang="en-US" sz="1200" b="1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사기가 아니라 사실이라고 믿는</a:t>
                </a:r>
                <a:endParaRPr lang="en-US" altLang="ko-KR" sz="1200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  <a:p>
                <a:pPr algn="ctr"/>
                <a:r>
                  <a:rPr lang="ko-KR" altLang="en-US" sz="1200" b="1" dirty="0">
                    <a:solidFill>
                      <a:srgbClr val="EE4344"/>
                    </a:solidFill>
                    <a:latin typeface="페이퍼로지 7 Bold" pitchFamily="2" charset="-127"/>
                    <a:ea typeface="페이퍼로지 7 Bold" pitchFamily="2" charset="-127"/>
                  </a:rPr>
                  <a:t>잘못된 판단으로</a:t>
                </a:r>
              </a:p>
            </p:txBody>
          </p:sp>
          <p:sp>
            <p:nvSpPr>
              <p:cNvPr id="90" name="Rounded Rectangle 28">
                <a:extLst>
                  <a:ext uri="{FF2B5EF4-FFF2-40B4-BE49-F238E27FC236}">
                    <a16:creationId xmlns:a16="http://schemas.microsoft.com/office/drawing/2014/main" id="{2907B071-88E3-4059-8224-3AAAA74C951E}"/>
                  </a:ext>
                </a:extLst>
              </p:cNvPr>
              <p:cNvSpPr/>
              <p:nvPr/>
            </p:nvSpPr>
            <p:spPr>
              <a:xfrm>
                <a:off x="7904031" y="4761926"/>
                <a:ext cx="3240828" cy="570394"/>
              </a:xfrm>
              <a:prstGeom prst="roundRect">
                <a:avLst/>
              </a:prstGeom>
              <a:solidFill>
                <a:srgbClr val="0E2746"/>
              </a:solidFill>
              <a:ln w="28575"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12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고객 설득 및</a:t>
                </a:r>
                <a:r>
                  <a:rPr lang="en-US" altLang="ko-KR" sz="12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 </a:t>
                </a:r>
                <a:r>
                  <a:rPr lang="ko-KR" altLang="en-US" sz="12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송금 차단 실패</a:t>
                </a:r>
                <a:endParaRPr lang="en-US" altLang="ko-KR" sz="12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  <a:p>
                <a:pPr algn="ctr"/>
                <a:r>
                  <a:rPr lang="ko-KR" altLang="en-US" sz="1200" dirty="0">
                    <a:solidFill>
                      <a:srgbClr val="EE4344"/>
                    </a:solidFill>
                    <a:latin typeface="페이퍼로지 7 Bold" pitchFamily="2" charset="-127"/>
                    <a:ea typeface="페이퍼로지 7 Bold" pitchFamily="2" charset="-127"/>
                  </a:rPr>
                  <a:t>보이스피싱 송금 피해 발생</a:t>
                </a:r>
                <a:endParaRPr sz="1200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</p:grpSp>
        <p:sp>
          <p:nvSpPr>
            <p:cNvPr id="91" name="Arrow: Right 90">
              <a:extLst>
                <a:ext uri="{FF2B5EF4-FFF2-40B4-BE49-F238E27FC236}">
                  <a16:creationId xmlns:a16="http://schemas.microsoft.com/office/drawing/2014/main" id="{97729C89-AF5B-46DE-BA6E-FFCBE3DB9CB5}"/>
                </a:ext>
              </a:extLst>
            </p:cNvPr>
            <p:cNvSpPr/>
            <p:nvPr/>
          </p:nvSpPr>
          <p:spPr>
            <a:xfrm rot="10800000" flipH="1">
              <a:off x="7155645" y="5878326"/>
              <a:ext cx="962759" cy="464769"/>
            </a:xfrm>
            <a:prstGeom prst="rightArrow">
              <a:avLst/>
            </a:prstGeom>
            <a:solidFill>
              <a:srgbClr val="EE43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1733AD3A-5504-4A6D-8807-8566ABC498A3}"/>
              </a:ext>
            </a:extLst>
          </p:cNvPr>
          <p:cNvSpPr txBox="1"/>
          <p:nvPr/>
        </p:nvSpPr>
        <p:spPr>
          <a:xfrm>
            <a:off x="11606820" y="6476226"/>
            <a:ext cx="320040" cy="1600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lang="en-US" sz="800" b="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13</a:t>
            </a:r>
            <a:endParaRPr sz="800" b="0" dirty="0">
              <a:solidFill>
                <a:srgbClr val="6A7B97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78" name="Google Shape;968;p15">
            <a:extLst>
              <a:ext uri="{FF2B5EF4-FFF2-40B4-BE49-F238E27FC236}">
                <a16:creationId xmlns:a16="http://schemas.microsoft.com/office/drawing/2014/main" id="{8C95835B-D4B8-4813-B11F-B74AD98AF160}"/>
              </a:ext>
            </a:extLst>
          </p:cNvPr>
          <p:cNvSpPr>
            <a:spLocks noGrp="1"/>
          </p:cNvSpPr>
          <p:nvPr/>
        </p:nvSpPr>
        <p:spPr>
          <a:xfrm>
            <a:off x="530280" y="316279"/>
            <a:ext cx="2468520" cy="1807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1">
                <a:solidFill>
                  <a:srgbClr val="2F66E8"/>
                </a:solidFill>
              </a:defRPr>
            </a:pPr>
            <a:r>
              <a:rPr lang="ko-KR" altLang="en-US" sz="975" u="none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핵심 문제점</a:t>
            </a:r>
            <a:endParaRPr lang="en-US" sz="975" u="none" dirty="0">
              <a:solidFill>
                <a:srgbClr val="EEF5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CD14E564-C962-44C4-91AA-E0D33F62F135}"/>
              </a:ext>
            </a:extLst>
          </p:cNvPr>
          <p:cNvSpPr/>
          <p:nvPr/>
        </p:nvSpPr>
        <p:spPr>
          <a:xfrm>
            <a:off x="692325" y="1624241"/>
            <a:ext cx="571872" cy="940603"/>
          </a:xfrm>
          <a:prstGeom prst="downArrow">
            <a:avLst>
              <a:gd name="adj1" fmla="val 50000"/>
              <a:gd name="adj2" fmla="val 4388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241A1916-A5D0-4EC7-A5A0-D535E796C2D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0" t="4478" r="65640" b="36401"/>
          <a:stretch/>
        </p:blipFill>
        <p:spPr>
          <a:xfrm>
            <a:off x="530280" y="1233837"/>
            <a:ext cx="895962" cy="895962"/>
          </a:xfrm>
          <a:custGeom>
            <a:avLst/>
            <a:gdLst>
              <a:gd name="connsiteX0" fmla="*/ 2034761 w 4069522"/>
              <a:gd name="connsiteY0" fmla="*/ 0 h 4069522"/>
              <a:gd name="connsiteX1" fmla="*/ 4069522 w 4069522"/>
              <a:gd name="connsiteY1" fmla="*/ 2034761 h 4069522"/>
              <a:gd name="connsiteX2" fmla="*/ 2034761 w 4069522"/>
              <a:gd name="connsiteY2" fmla="*/ 4069522 h 4069522"/>
              <a:gd name="connsiteX3" fmla="*/ 0 w 4069522"/>
              <a:gd name="connsiteY3" fmla="*/ 2034761 h 4069522"/>
              <a:gd name="connsiteX4" fmla="*/ 2034761 w 4069522"/>
              <a:gd name="connsiteY4" fmla="*/ 0 h 4069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69522" h="4069522">
                <a:moveTo>
                  <a:pt x="2034761" y="0"/>
                </a:moveTo>
                <a:cubicBezTo>
                  <a:pt x="3158528" y="0"/>
                  <a:pt x="4069522" y="910994"/>
                  <a:pt x="4069522" y="2034761"/>
                </a:cubicBezTo>
                <a:cubicBezTo>
                  <a:pt x="4069522" y="3158528"/>
                  <a:pt x="3158528" y="4069522"/>
                  <a:pt x="2034761" y="4069522"/>
                </a:cubicBezTo>
                <a:cubicBezTo>
                  <a:pt x="910994" y="4069522"/>
                  <a:pt x="0" y="3158528"/>
                  <a:pt x="0" y="2034761"/>
                </a:cubicBezTo>
                <a:cubicBezTo>
                  <a:pt x="0" y="910994"/>
                  <a:pt x="910994" y="0"/>
                  <a:pt x="2034761" y="0"/>
                </a:cubicBezTo>
                <a:close/>
              </a:path>
            </a:pathLst>
          </a:custGeom>
          <a:ln w="19050">
            <a:solidFill>
              <a:schemeClr val="bg1"/>
            </a:solidFill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F838DF41-9F28-4FB8-B786-661ED3BE276E}"/>
              </a:ext>
            </a:extLst>
          </p:cNvPr>
          <p:cNvSpPr txBox="1"/>
          <p:nvPr/>
        </p:nvSpPr>
        <p:spPr>
          <a:xfrm>
            <a:off x="1465677" y="1246720"/>
            <a:ext cx="21194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가짜 정보로</a:t>
            </a:r>
            <a:endParaRPr lang="en-US" altLang="ko-KR" dirty="0">
              <a:solidFill>
                <a:srgbClr val="EE4344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ko-KR" altLang="en-US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자신에게 유리한</a:t>
            </a:r>
            <a:endParaRPr lang="en-US" altLang="ko-KR" dirty="0">
              <a:solidFill>
                <a:srgbClr val="EE4344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ko-KR" altLang="en-US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환경을 만드는 범죄자</a:t>
            </a:r>
            <a:endParaRPr lang="en-US" altLang="ko-KR" dirty="0">
              <a:solidFill>
                <a:srgbClr val="EE4344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DFBBBCE6-A9DB-42C0-9621-5D76B65729A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26" t="12505" r="-480" b="6987"/>
          <a:stretch/>
        </p:blipFill>
        <p:spPr>
          <a:xfrm>
            <a:off x="3933435" y="1233837"/>
            <a:ext cx="895962" cy="895962"/>
          </a:xfrm>
          <a:custGeom>
            <a:avLst/>
            <a:gdLst>
              <a:gd name="connsiteX0" fmla="*/ 2034761 w 4069522"/>
              <a:gd name="connsiteY0" fmla="*/ 0 h 4069522"/>
              <a:gd name="connsiteX1" fmla="*/ 4069522 w 4069522"/>
              <a:gd name="connsiteY1" fmla="*/ 2034761 h 4069522"/>
              <a:gd name="connsiteX2" fmla="*/ 2034761 w 4069522"/>
              <a:gd name="connsiteY2" fmla="*/ 4069522 h 4069522"/>
              <a:gd name="connsiteX3" fmla="*/ 0 w 4069522"/>
              <a:gd name="connsiteY3" fmla="*/ 2034761 h 4069522"/>
              <a:gd name="connsiteX4" fmla="*/ 2034761 w 4069522"/>
              <a:gd name="connsiteY4" fmla="*/ 0 h 4069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69522" h="4069522">
                <a:moveTo>
                  <a:pt x="2034761" y="0"/>
                </a:moveTo>
                <a:cubicBezTo>
                  <a:pt x="3158528" y="0"/>
                  <a:pt x="4069522" y="910994"/>
                  <a:pt x="4069522" y="2034761"/>
                </a:cubicBezTo>
                <a:cubicBezTo>
                  <a:pt x="4069522" y="3158528"/>
                  <a:pt x="3158528" y="4069522"/>
                  <a:pt x="2034761" y="4069522"/>
                </a:cubicBezTo>
                <a:cubicBezTo>
                  <a:pt x="910994" y="4069522"/>
                  <a:pt x="0" y="3158528"/>
                  <a:pt x="0" y="2034761"/>
                </a:cubicBezTo>
                <a:cubicBezTo>
                  <a:pt x="0" y="910994"/>
                  <a:pt x="910994" y="0"/>
                  <a:pt x="2034761" y="0"/>
                </a:cubicBezTo>
                <a:close/>
              </a:path>
            </a:pathLst>
          </a:custGeom>
          <a:ln w="19050">
            <a:solidFill>
              <a:schemeClr val="bg1"/>
            </a:solidFill>
          </a:ln>
        </p:spPr>
      </p:pic>
      <p:sp>
        <p:nvSpPr>
          <p:cNvPr id="82" name="Google Shape;969;p15">
            <a:extLst>
              <a:ext uri="{FF2B5EF4-FFF2-40B4-BE49-F238E27FC236}">
                <a16:creationId xmlns:a16="http://schemas.microsoft.com/office/drawing/2014/main" id="{C7C90F29-F331-4FDD-8B5D-8AA95143A553}"/>
              </a:ext>
            </a:extLst>
          </p:cNvPr>
          <p:cNvSpPr>
            <a:spLocks noGrp="1"/>
          </p:cNvSpPr>
          <p:nvPr/>
        </p:nvSpPr>
        <p:spPr>
          <a:xfrm>
            <a:off x="530280" y="530280"/>
            <a:ext cx="11076540" cy="40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범죄자가 만든 보이스피싱 환경 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… </a:t>
            </a:r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피해자와 은행 모두 올바른 의사결정이 어려워집니다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4043FB4-B771-4F17-8148-19D425640E10}"/>
              </a:ext>
            </a:extLst>
          </p:cNvPr>
          <p:cNvSpPr txBox="1"/>
          <p:nvPr/>
        </p:nvSpPr>
        <p:spPr>
          <a:xfrm>
            <a:off x="9082512" y="1246720"/>
            <a:ext cx="26308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은행의 사건 파악 </a:t>
            </a:r>
            <a:endParaRPr lang="en-US" altLang="ko-KR" sz="1800" b="1" dirty="0">
              <a:solidFill>
                <a:srgbClr val="EE4344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ko-KR" altLang="en-US" sz="18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진위 여부 확인 어려움</a:t>
            </a:r>
            <a:endParaRPr lang="en-US" altLang="ko-KR" sz="1800" b="1" dirty="0">
              <a:solidFill>
                <a:srgbClr val="EE4344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ko-KR" altLang="en-US" sz="18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설득 부담 증가하는 은행원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F99F4B7-0969-4AD7-B077-7E1E0E410A43}"/>
              </a:ext>
            </a:extLst>
          </p:cNvPr>
          <p:cNvSpPr txBox="1"/>
          <p:nvPr/>
        </p:nvSpPr>
        <p:spPr>
          <a:xfrm>
            <a:off x="6718427" y="3543947"/>
            <a:ext cx="18187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의사소통</a:t>
            </a:r>
            <a:endParaRPr lang="en-US" altLang="ko-KR" sz="1400" b="1" dirty="0">
              <a:solidFill>
                <a:srgbClr val="EE4344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/>
            <a:r>
              <a:rPr lang="ko-KR" altLang="en-US" sz="14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제한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981311F-A7CE-4E7C-B22E-7E0AC4BF239B}"/>
              </a:ext>
            </a:extLst>
          </p:cNvPr>
          <p:cNvSpPr txBox="1"/>
          <p:nvPr/>
        </p:nvSpPr>
        <p:spPr>
          <a:xfrm>
            <a:off x="2875373" y="3543947"/>
            <a:ext cx="18187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압박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4BCF63C3-BEB1-4087-BB63-28EDD00FCC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72" t="4400" r="5672" b="12044"/>
          <a:stretch>
            <a:fillRect/>
          </a:stretch>
        </p:blipFill>
        <p:spPr>
          <a:xfrm>
            <a:off x="8123870" y="1216458"/>
            <a:ext cx="942452" cy="942452"/>
          </a:xfrm>
          <a:custGeom>
            <a:avLst/>
            <a:gdLst>
              <a:gd name="connsiteX0" fmla="*/ 471226 w 942452"/>
              <a:gd name="connsiteY0" fmla="*/ 0 h 942452"/>
              <a:gd name="connsiteX1" fmla="*/ 942452 w 942452"/>
              <a:gd name="connsiteY1" fmla="*/ 471226 h 942452"/>
              <a:gd name="connsiteX2" fmla="*/ 471226 w 942452"/>
              <a:gd name="connsiteY2" fmla="*/ 942452 h 942452"/>
              <a:gd name="connsiteX3" fmla="*/ 0 w 942452"/>
              <a:gd name="connsiteY3" fmla="*/ 471226 h 942452"/>
              <a:gd name="connsiteX4" fmla="*/ 471226 w 942452"/>
              <a:gd name="connsiteY4" fmla="*/ 0 h 942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2452" h="942452">
                <a:moveTo>
                  <a:pt x="471226" y="0"/>
                </a:moveTo>
                <a:cubicBezTo>
                  <a:pt x="731477" y="0"/>
                  <a:pt x="942452" y="210975"/>
                  <a:pt x="942452" y="471226"/>
                </a:cubicBezTo>
                <a:cubicBezTo>
                  <a:pt x="942452" y="731477"/>
                  <a:pt x="731477" y="942452"/>
                  <a:pt x="471226" y="942452"/>
                </a:cubicBezTo>
                <a:cubicBezTo>
                  <a:pt x="210975" y="942452"/>
                  <a:pt x="0" y="731477"/>
                  <a:pt x="0" y="471226"/>
                </a:cubicBezTo>
                <a:cubicBezTo>
                  <a:pt x="0" y="210975"/>
                  <a:pt x="210975" y="0"/>
                  <a:pt x="471226" y="0"/>
                </a:cubicBezTo>
                <a:close/>
              </a:path>
            </a:pathLst>
          </a:custGeom>
          <a:ln w="19050">
            <a:solidFill>
              <a:schemeClr val="bg1"/>
            </a:solidFill>
          </a:ln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1532A034-BA0D-477F-9318-9FD1A23CCA9B}"/>
              </a:ext>
            </a:extLst>
          </p:cNvPr>
          <p:cNvSpPr txBox="1"/>
          <p:nvPr/>
        </p:nvSpPr>
        <p:spPr>
          <a:xfrm>
            <a:off x="4875886" y="1246720"/>
            <a:ext cx="23230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정보 부족과</a:t>
            </a:r>
            <a:endParaRPr lang="en-US" altLang="ko-KR" dirty="0">
              <a:solidFill>
                <a:srgbClr val="EE4344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ko-KR" altLang="en-US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당혹감으로 인해</a:t>
            </a:r>
            <a:endParaRPr lang="en-US" altLang="ko-KR" dirty="0">
              <a:solidFill>
                <a:srgbClr val="EE4344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ko-KR" altLang="en-US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판단력이 흐려진 피해자</a:t>
            </a:r>
            <a:endParaRPr lang="en-US" altLang="ko-KR" dirty="0">
              <a:solidFill>
                <a:srgbClr val="EE4344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00500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108A23-53C1-4A94-B40D-A71227CFBA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9000">
                <a:srgbClr val="0E2746"/>
              </a:gs>
              <a:gs pos="0">
                <a:schemeClr val="tx1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762F8DA-158D-4184-8212-BDFD8D7990EC}"/>
              </a:ext>
            </a:extLst>
          </p:cNvPr>
          <p:cNvGrpSpPr/>
          <p:nvPr/>
        </p:nvGrpSpPr>
        <p:grpSpPr>
          <a:xfrm>
            <a:off x="530280" y="0"/>
            <a:ext cx="8756040" cy="1707874"/>
            <a:chOff x="1780019" y="443430"/>
            <a:chExt cx="8756040" cy="170787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F678D2E-EB4B-41A3-96DE-82BCEBAA8776}"/>
                </a:ext>
              </a:extLst>
            </p:cNvPr>
            <p:cNvSpPr txBox="1"/>
            <p:nvPr/>
          </p:nvSpPr>
          <p:spPr>
            <a:xfrm>
              <a:off x="1780019" y="443430"/>
              <a:ext cx="8377293" cy="123110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ko-KR" altLang="en-US" sz="4000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보이스피싱</a:t>
              </a:r>
              <a:r>
                <a:rPr lang="en-US" altLang="ko-KR" sz="4000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lang="ko-KR" altLang="en-US" sz="4000" b="1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탐지 </a:t>
              </a:r>
              <a:r>
                <a:rPr lang="en-US" altLang="ko-KR" sz="4000" b="1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+ </a:t>
              </a:r>
              <a:r>
                <a:rPr lang="ko-KR" altLang="en-US" sz="4000" b="1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경고 </a:t>
              </a:r>
              <a:r>
                <a:rPr lang="en-US" altLang="ko-KR" sz="4000" b="1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= </a:t>
              </a:r>
              <a:r>
                <a:rPr lang="ko-KR" altLang="en-US" sz="4000" b="1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해결</a:t>
              </a:r>
              <a:r>
                <a:rPr lang="en-US" altLang="ko-KR" sz="4000" b="1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? </a:t>
              </a:r>
              <a:r>
                <a:rPr lang="en-US" altLang="ko-KR" sz="8000" b="1" dirty="0">
                  <a:solidFill>
                    <a:srgbClr val="EE4344"/>
                  </a:solidFill>
                  <a:effectLst>
                    <a:glow rad="63500">
                      <a:schemeClr val="accent2">
                        <a:satMod val="175000"/>
                        <a:alpha val="40000"/>
                      </a:schemeClr>
                    </a:glow>
                  </a:effectLst>
                  <a:latin typeface="페이퍼로지 7 Bold" pitchFamily="2" charset="-127"/>
                  <a:ea typeface="페이퍼로지 7 Bold" pitchFamily="2" charset="-127"/>
                </a:rPr>
                <a:t>NO</a:t>
              </a:r>
              <a:endParaRPr lang="ko-KR" altLang="en-US" sz="8800" b="1" dirty="0">
                <a:solidFill>
                  <a:srgbClr val="EE4344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FFA21B3-B3CC-4AE8-A47A-E3D28BD10C81}"/>
                </a:ext>
              </a:extLst>
            </p:cNvPr>
            <p:cNvSpPr txBox="1"/>
            <p:nvPr/>
          </p:nvSpPr>
          <p:spPr>
            <a:xfrm>
              <a:off x="4439838" y="1658861"/>
              <a:ext cx="6096221" cy="492443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ko-KR" altLang="en-US" sz="1600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탐지하고</a:t>
              </a:r>
              <a:r>
                <a:rPr lang="en-US" altLang="ko-KR" sz="1600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1600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경고해도 심리적 압박으로 좁아진 시야는 올바른 판단을 방해한다</a:t>
              </a:r>
              <a:r>
                <a:rPr lang="en-US" altLang="ko-KR" sz="1600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!</a:t>
              </a:r>
            </a:p>
            <a:p>
              <a:r>
                <a:rPr lang="ko-KR" altLang="en-US" sz="1600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탐지와 경고만으로는 해결되지 않는다</a:t>
              </a:r>
              <a:r>
                <a:rPr lang="en-US" altLang="ko-KR" sz="1600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!</a:t>
              </a:r>
            </a:p>
          </p:txBody>
        </p:sp>
      </p:grpSp>
      <p:sp>
        <p:nvSpPr>
          <p:cNvPr id="18" name="Google Shape;968;p15">
            <a:extLst>
              <a:ext uri="{FF2B5EF4-FFF2-40B4-BE49-F238E27FC236}">
                <a16:creationId xmlns:a16="http://schemas.microsoft.com/office/drawing/2014/main" id="{CEBCCDB9-1323-41F9-8063-F76263A20F4F}"/>
              </a:ext>
            </a:extLst>
          </p:cNvPr>
          <p:cNvSpPr>
            <a:spLocks noGrp="1"/>
          </p:cNvSpPr>
          <p:nvPr/>
        </p:nvSpPr>
        <p:spPr>
          <a:xfrm>
            <a:off x="530280" y="316279"/>
            <a:ext cx="2468520" cy="1807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1">
                <a:solidFill>
                  <a:srgbClr val="2F66E8"/>
                </a:solidFill>
              </a:defRPr>
            </a:pPr>
            <a:r>
              <a:rPr lang="ko-KR" altLang="en-US" sz="975" u="none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인사이트</a:t>
            </a:r>
            <a:endParaRPr lang="en-US" altLang="ko-KR" sz="975" u="none" dirty="0">
              <a:solidFill>
                <a:srgbClr val="EEF5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417E07-4270-45C5-AAE0-6019ACD49195}"/>
              </a:ext>
            </a:extLst>
          </p:cNvPr>
          <p:cNvSpPr txBox="1"/>
          <p:nvPr/>
        </p:nvSpPr>
        <p:spPr>
          <a:xfrm>
            <a:off x="11606820" y="6476226"/>
            <a:ext cx="320040" cy="1600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lang="en-US" sz="80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14</a:t>
            </a:r>
            <a:endParaRPr sz="800" b="0" dirty="0">
              <a:solidFill>
                <a:srgbClr val="6A7B97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6736BE-32D5-4789-8D8B-6B54EEA7A49F}"/>
              </a:ext>
            </a:extLst>
          </p:cNvPr>
          <p:cNvSpPr txBox="1"/>
          <p:nvPr/>
        </p:nvSpPr>
        <p:spPr>
          <a:xfrm>
            <a:off x="5233280" y="2120116"/>
            <a:ext cx="6373540" cy="123110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ko-KR" altLang="en-US" sz="4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해결은 은행원의 </a:t>
            </a:r>
            <a:r>
              <a:rPr lang="ko-KR" altLang="en-US" sz="4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빠른 상황파악</a:t>
            </a:r>
            <a:r>
              <a:rPr lang="en-US" altLang="ko-KR" sz="4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!</a:t>
            </a:r>
          </a:p>
          <a:p>
            <a:pPr algn="r"/>
            <a:r>
              <a:rPr lang="ko-KR" altLang="en-US" sz="4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고객님과 </a:t>
            </a:r>
            <a:r>
              <a:rPr lang="ko-KR" altLang="en-US" sz="4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빠른 의사소통</a:t>
            </a:r>
            <a:r>
              <a:rPr lang="en-US" altLang="ko-KR" sz="4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B6C03A-EFE8-428A-A3ED-F5EB05AEE974}"/>
              </a:ext>
            </a:extLst>
          </p:cNvPr>
          <p:cNvSpPr txBox="1"/>
          <p:nvPr/>
        </p:nvSpPr>
        <p:spPr>
          <a:xfrm>
            <a:off x="503174" y="4998898"/>
            <a:ext cx="10545826" cy="1477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ko-KR" altLang="en-US" sz="3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탐지도 </a:t>
            </a:r>
            <a:r>
              <a:rPr lang="en-US" altLang="ko-KR" sz="3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AI</a:t>
            </a:r>
            <a:r>
              <a:rPr lang="ko-KR" altLang="en-US" sz="3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가 빠르게 도와주는 것처럼</a:t>
            </a:r>
            <a:endParaRPr lang="en-US" altLang="ko-KR" sz="32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ko-KR" altLang="en-US" sz="3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탐지 이후의 </a:t>
            </a:r>
            <a:r>
              <a:rPr lang="ko-KR" altLang="en-US" sz="3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사건 파악</a:t>
            </a:r>
            <a:r>
              <a:rPr lang="en-US" altLang="ko-KR" sz="3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3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진위 확인</a:t>
            </a:r>
            <a:r>
              <a:rPr lang="en-US" altLang="ko-KR" sz="3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3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고객 소통</a:t>
            </a:r>
            <a:r>
              <a:rPr lang="ko-KR" altLang="en-US" sz="3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도</a:t>
            </a:r>
            <a:endParaRPr lang="en-US" altLang="ko-KR" sz="32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en-US" altLang="ko-KR" sz="3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AI</a:t>
            </a:r>
            <a:r>
              <a:rPr lang="ko-KR" altLang="en-US" sz="3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가 도와줄 수 있다면 더 빠르게 대처할 수 있지 않을까</a:t>
            </a:r>
            <a:r>
              <a:rPr lang="en-US" altLang="ko-KR" sz="3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7D3EB01-E821-41D2-A26B-0723A7D658C1}"/>
              </a:ext>
            </a:extLst>
          </p:cNvPr>
          <p:cNvGrpSpPr/>
          <p:nvPr/>
        </p:nvGrpSpPr>
        <p:grpSpPr>
          <a:xfrm>
            <a:off x="467360" y="3726896"/>
            <a:ext cx="11257280" cy="823319"/>
            <a:chOff x="381910" y="3448046"/>
            <a:chExt cx="11257280" cy="82331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5F34EE9E-2801-411E-A8DB-C7AF0F14A6D1}"/>
                </a:ext>
              </a:extLst>
            </p:cNvPr>
            <p:cNvSpPr/>
            <p:nvPr/>
          </p:nvSpPr>
          <p:spPr>
            <a:xfrm>
              <a:off x="381910" y="3448046"/>
              <a:ext cx="11257280" cy="823319"/>
            </a:xfrm>
            <a:prstGeom prst="roundRect">
              <a:avLst>
                <a:gd name="adj" fmla="val 1049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B7FADB7-9EF9-4BAB-9E9D-1DBC31FB9539}"/>
                </a:ext>
              </a:extLst>
            </p:cNvPr>
            <p:cNvGrpSpPr/>
            <p:nvPr/>
          </p:nvGrpSpPr>
          <p:grpSpPr>
            <a:xfrm>
              <a:off x="681884" y="3551930"/>
              <a:ext cx="10513033" cy="615553"/>
              <a:chOff x="666503" y="3551930"/>
              <a:chExt cx="10513033" cy="615553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8B063ED8-3ABB-4015-9905-D32066BB9CFA}"/>
                  </a:ext>
                </a:extLst>
              </p:cNvPr>
              <p:cNvGrpSpPr/>
              <p:nvPr/>
            </p:nvGrpSpPr>
            <p:grpSpPr>
              <a:xfrm>
                <a:off x="666503" y="3551930"/>
                <a:ext cx="5328666" cy="615553"/>
                <a:chOff x="666503" y="3551930"/>
                <a:chExt cx="5328666" cy="615553"/>
              </a:xfrm>
            </p:grpSpPr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4DA434F7-F687-45E6-8D28-249CD72ACD57}"/>
                    </a:ext>
                  </a:extLst>
                </p:cNvPr>
                <p:cNvSpPr txBox="1"/>
                <p:nvPr/>
              </p:nvSpPr>
              <p:spPr>
                <a:xfrm>
                  <a:off x="2003435" y="3626046"/>
                  <a:ext cx="3991734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spAutoFit/>
                </a:bodyPr>
                <a:lstStyle/>
                <a:p>
                  <a:r>
                    <a:rPr lang="ko-KR" altLang="en-US" sz="1600" b="1" dirty="0">
                      <a:solidFill>
                        <a:srgbClr val="0E274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맥락을 모르는데 어떻게 상황파악 할 수 있지</a:t>
                  </a:r>
                  <a:r>
                    <a:rPr lang="en-US" altLang="ko-KR" sz="1600" b="1" dirty="0">
                      <a:solidFill>
                        <a:srgbClr val="0E274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..? </a:t>
                  </a:r>
                </a:p>
                <a:p>
                  <a:r>
                    <a:rPr lang="ko-KR" altLang="en-US" sz="1600" b="1" dirty="0">
                      <a:solidFill>
                        <a:srgbClr val="0E274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고객님이 통화 중이면 소통이 안 되는 거 아니야</a:t>
                  </a:r>
                  <a:r>
                    <a:rPr lang="en-US" altLang="ko-KR" sz="1600" b="1" dirty="0">
                      <a:solidFill>
                        <a:srgbClr val="0E274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..?</a:t>
                  </a: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389A4650-A06B-4BA6-A84F-6026690CD714}"/>
                    </a:ext>
                  </a:extLst>
                </p:cNvPr>
                <p:cNvSpPr txBox="1"/>
                <p:nvPr/>
              </p:nvSpPr>
              <p:spPr>
                <a:xfrm>
                  <a:off x="666503" y="3551930"/>
                  <a:ext cx="1189428" cy="61555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r"/>
                  <a:r>
                    <a:rPr lang="ko-KR" altLang="en-US" sz="4000" b="1" dirty="0">
                      <a:solidFill>
                        <a:srgbClr val="0E274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근데</a:t>
                  </a:r>
                  <a:r>
                    <a:rPr lang="en-US" altLang="ko-KR" sz="4000" b="1" dirty="0">
                      <a:solidFill>
                        <a:srgbClr val="0E274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..</a:t>
                  </a:r>
                </a:p>
              </p:txBody>
            </p:sp>
          </p:grp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CAE9932A-33B2-4DDB-BA9B-478F3083AAFD}"/>
                  </a:ext>
                </a:extLst>
              </p:cNvPr>
              <p:cNvGrpSpPr/>
              <p:nvPr/>
            </p:nvGrpSpPr>
            <p:grpSpPr>
              <a:xfrm>
                <a:off x="6429631" y="3551930"/>
                <a:ext cx="4749905" cy="615553"/>
                <a:chOff x="6429631" y="3551930"/>
                <a:chExt cx="4749905" cy="615553"/>
              </a:xfrm>
            </p:grpSpPr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401514A7-1F1F-45BA-B408-9C465A7AE901}"/>
                    </a:ext>
                  </a:extLst>
                </p:cNvPr>
                <p:cNvSpPr txBox="1"/>
                <p:nvPr/>
              </p:nvSpPr>
              <p:spPr>
                <a:xfrm>
                  <a:off x="7548734" y="3619281"/>
                  <a:ext cx="3630802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spAutoFit/>
                </a:bodyPr>
                <a:lstStyle/>
                <a:p>
                  <a:r>
                    <a:rPr lang="ko-KR" altLang="en-US" sz="1600" b="1" dirty="0">
                      <a:solidFill>
                        <a:srgbClr val="0E274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맥락을 분석해서 정리해주면 어떨까</a:t>
                  </a:r>
                  <a:r>
                    <a:rPr lang="en-US" altLang="ko-KR" sz="1600" b="1" dirty="0">
                      <a:solidFill>
                        <a:srgbClr val="0E274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?</a:t>
                  </a:r>
                </a:p>
                <a:p>
                  <a:r>
                    <a:rPr lang="ko-KR" altLang="en-US" sz="1600" b="1" dirty="0">
                      <a:solidFill>
                        <a:srgbClr val="0E274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대신 소통해주고</a:t>
                  </a:r>
                  <a:r>
                    <a:rPr lang="en-US" altLang="ko-KR" sz="1600" b="1" dirty="0">
                      <a:solidFill>
                        <a:srgbClr val="0E274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, </a:t>
                  </a:r>
                  <a:r>
                    <a:rPr lang="ko-KR" altLang="en-US" sz="1600" b="1" dirty="0">
                      <a:solidFill>
                        <a:srgbClr val="0E274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정보를 수집해주면 어떨까</a:t>
                  </a:r>
                  <a:r>
                    <a:rPr lang="en-US" altLang="ko-KR" sz="1600" b="1" dirty="0">
                      <a:solidFill>
                        <a:srgbClr val="0E274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?</a:t>
                  </a: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8D652283-FDB3-448F-A0B2-47E201DC927A}"/>
                    </a:ext>
                  </a:extLst>
                </p:cNvPr>
                <p:cNvSpPr txBox="1"/>
                <p:nvPr/>
              </p:nvSpPr>
              <p:spPr>
                <a:xfrm>
                  <a:off x="6429631" y="3551930"/>
                  <a:ext cx="1000274" cy="61555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r"/>
                  <a:r>
                    <a:rPr lang="en-US" altLang="ko-KR" sz="4000" b="1" dirty="0">
                      <a:solidFill>
                        <a:srgbClr val="0E274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AI</a:t>
                  </a:r>
                  <a:r>
                    <a:rPr lang="ko-KR" altLang="en-US" sz="4000" b="1" dirty="0">
                      <a:solidFill>
                        <a:srgbClr val="0E274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가</a:t>
                  </a:r>
                  <a:endParaRPr lang="en-US" altLang="ko-KR" sz="4000" b="1" dirty="0">
                    <a:solidFill>
                      <a:srgbClr val="0E2746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4987648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D6BFF"/>
          </a:solidFill>
          <a:ln>
            <a:solidFill>
              <a:srgbClr val="2D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80827"/>
            <a:ext cx="5486400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ko-KR" altLang="en-US"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①</a:t>
            </a:r>
            <a:r>
              <a:rPr lang="en-US" altLang="ko-KR"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 - 2 </a:t>
            </a:r>
            <a:r>
              <a:rPr lang="ko-KR" altLang="en-US"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보이스피싱 수법과 구조 </a:t>
            </a:r>
            <a:r>
              <a:rPr lang="en-US" altLang="ko-KR"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- </a:t>
            </a:r>
            <a:r>
              <a:rPr sz="950" dirty="0" err="1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통화</a:t>
            </a:r>
            <a:r>
              <a:rPr lang="en-US"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분석</a:t>
            </a:r>
            <a:endParaRPr sz="950" dirty="0">
              <a:solidFill>
                <a:srgbClr val="2D6BFF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622909"/>
            <a:ext cx="11446136" cy="71404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200" b="1" dirty="0" err="1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범죄</a:t>
            </a:r>
            <a:r>
              <a:rPr sz="22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2200" b="1" dirty="0" err="1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통화의</a:t>
            </a:r>
            <a:r>
              <a:rPr sz="22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sz="22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발화 내용 분석 결과</a:t>
            </a:r>
            <a:r>
              <a:rPr lang="en-US" altLang="ko-KR" sz="22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,</a:t>
            </a:r>
            <a:r>
              <a:rPr lang="ko-KR" altLang="en-US" sz="22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22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‘</a:t>
            </a:r>
            <a:r>
              <a:rPr sz="2200" b="1" dirty="0" err="1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심리전략</a:t>
            </a:r>
            <a:r>
              <a:rPr sz="22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 84.4% + </a:t>
            </a:r>
            <a:r>
              <a:rPr sz="2200" b="1" dirty="0" err="1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사칭</a:t>
            </a:r>
            <a:r>
              <a:rPr sz="22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 70.1%’의 결</a:t>
            </a:r>
            <a:r>
              <a:rPr lang="ko-KR" altLang="en-US" sz="22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합이 선행됨</a:t>
            </a:r>
            <a:endParaRPr lang="en-US" altLang="ko-KR" sz="2200" b="1" dirty="0">
              <a:solidFill>
                <a:srgbClr val="102D52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l"/>
            <a:r>
              <a:rPr lang="ko-KR" altLang="en-US" sz="22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송금 요구 전</a:t>
            </a:r>
            <a:r>
              <a:rPr lang="en-US" altLang="ko-KR" sz="22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22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기관 사칭과 권위</a:t>
            </a:r>
            <a:r>
              <a:rPr lang="en-US" altLang="ko-KR" sz="22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22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긴급성</a:t>
            </a:r>
            <a:r>
              <a:rPr lang="en-US" altLang="ko-KR" sz="22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22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공포 등의 심리전략을 먼저 사용하는 경향을 보입니다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1525"/>
            <a:ext cx="996696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20" b="0" dirty="0" err="1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출처</a:t>
            </a:r>
            <a:r>
              <a:rPr sz="720" b="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: Team Guardrails EDA · </a:t>
            </a:r>
            <a:r>
              <a:rPr sz="720" b="0" dirty="0" err="1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보이스피싱</a:t>
            </a:r>
            <a:r>
              <a:rPr sz="720" b="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z="720" b="0" dirty="0" err="1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통화</a:t>
            </a:r>
            <a:r>
              <a:rPr sz="720" b="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 776건</a:t>
            </a:r>
            <a:r>
              <a:rPr lang="en-US" sz="720" b="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720" b="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금융감독원 보이스피싱 체험관 공개 영상</a:t>
            </a:r>
            <a:r>
              <a:rPr lang="en-US" altLang="ko-KR" sz="720" b="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20" b="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음원 데이터</a:t>
            </a:r>
            <a:r>
              <a:rPr lang="en-US" altLang="ko-KR" sz="720" b="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) </a:t>
            </a:r>
            <a:r>
              <a:rPr lang="ko-KR" altLang="en-US" sz="720" b="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머신러닝 분석</a:t>
            </a:r>
            <a:endParaRPr sz="720" b="0" dirty="0">
              <a:solidFill>
                <a:srgbClr val="6A7B97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653018" y="5477834"/>
            <a:ext cx="10885964" cy="672736"/>
          </a:xfrm>
          <a:prstGeom prst="roundRect">
            <a:avLst/>
          </a:prstGeom>
          <a:solidFill>
            <a:srgbClr val="102D52"/>
          </a:solidFill>
          <a:ln>
            <a:solidFill>
              <a:srgbClr val="10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권위</a:t>
            </a:r>
            <a:r>
              <a:rPr lang="en-US" altLang="ko-KR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긴급성으로 판단을 흔들고</a:t>
            </a:r>
            <a:r>
              <a:rPr lang="en-US" altLang="ko-KR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은행</a:t>
            </a:r>
            <a:r>
              <a:rPr lang="en-US" altLang="ko-KR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검찰 사칭을 통해로 신뢰와 정당성을 확보하기 위한 수법을 사용하는 것으로 보입니다</a:t>
            </a:r>
            <a:r>
              <a:rPr lang="en-US" altLang="ko-KR" sz="16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.</a:t>
            </a:r>
            <a:endParaRPr lang="ko-KR" altLang="en-US" sz="16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53018" y="1614284"/>
            <a:ext cx="10885964" cy="3686510"/>
          </a:xfrm>
          <a:prstGeom prst="roundRect">
            <a:avLst>
              <a:gd name="adj" fmla="val 5329"/>
            </a:avLst>
          </a:prstGeom>
          <a:solidFill>
            <a:srgbClr val="FFFFFF"/>
          </a:solidFill>
          <a:ln w="12700">
            <a:solidFill>
              <a:srgbClr val="D9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F4EE6B4E-C3C0-4D34-85A7-0663F06252F2}"/>
              </a:ext>
            </a:extLst>
          </p:cNvPr>
          <p:cNvGrpSpPr/>
          <p:nvPr/>
        </p:nvGrpSpPr>
        <p:grpSpPr>
          <a:xfrm>
            <a:off x="979519" y="1911291"/>
            <a:ext cx="5055521" cy="513987"/>
            <a:chOff x="806404" y="2859007"/>
            <a:chExt cx="4398263" cy="534155"/>
          </a:xfrm>
        </p:grpSpPr>
        <p:sp>
          <p:nvSpPr>
            <p:cNvPr id="34" name="Rounded Rectangle 33"/>
            <p:cNvSpPr/>
            <p:nvPr/>
          </p:nvSpPr>
          <p:spPr>
            <a:xfrm>
              <a:off x="806404" y="2898602"/>
              <a:ext cx="868680" cy="228601"/>
            </a:xfrm>
            <a:prstGeom prst="roundRect">
              <a:avLst/>
            </a:prstGeom>
            <a:solidFill>
              <a:srgbClr val="EBF3FF"/>
            </a:solidFill>
            <a:ln w="6350">
              <a:solidFill>
                <a:srgbClr val="EBF3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576" tIns="9144" rIns="36576" bIns="9144" rtlCol="0" anchor="ctr"/>
            <a:lstStyle/>
            <a:p>
              <a:pPr algn="ctr"/>
              <a:r>
                <a:rPr lang="ko-KR" altLang="en-US" sz="850" b="1" dirty="0">
                  <a:solidFill>
                    <a:srgbClr val="2D6BFF"/>
                  </a:solidFill>
                  <a:latin typeface="페이퍼로지 7 Bold" pitchFamily="2" charset="-127"/>
                  <a:ea typeface="페이퍼로지 7 Bold" pitchFamily="2" charset="-127"/>
                </a:rPr>
                <a:t>범죄자 발화 분석</a:t>
              </a:r>
              <a:endParaRPr sz="850" b="1" dirty="0">
                <a:solidFill>
                  <a:srgbClr val="2D6BFF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775668" y="2859007"/>
              <a:ext cx="3428999" cy="534155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l"/>
              <a:r>
                <a:rPr lang="ko-KR" altLang="en-US" sz="1200" b="1" dirty="0">
                  <a:solidFill>
                    <a:srgbClr val="102D52"/>
                  </a:solidFill>
                  <a:latin typeface="페이퍼로지 7 Bold" pitchFamily="2" charset="-127"/>
                  <a:ea typeface="페이퍼로지 7 Bold" pitchFamily="2" charset="-127"/>
                </a:rPr>
                <a:t>통화 중 범죄자 발화 목적의 선행</a:t>
              </a:r>
              <a:r>
                <a:rPr lang="en-US" altLang="ko-KR" sz="1200" b="1" dirty="0">
                  <a:solidFill>
                    <a:srgbClr val="102D52"/>
                  </a:solidFill>
                  <a:latin typeface="페이퍼로지 7 Bold" pitchFamily="2" charset="-127"/>
                  <a:ea typeface="페이퍼로지 7 Bold" pitchFamily="2" charset="-127"/>
                </a:rPr>
                <a:t>(</a:t>
              </a:r>
              <a:r>
                <a:rPr lang="ko-KR" altLang="en-US" sz="1200" b="1" dirty="0">
                  <a:solidFill>
                    <a:srgbClr val="102D52"/>
                  </a:solidFill>
                  <a:latin typeface="페이퍼로지 7 Bold" pitchFamily="2" charset="-127"/>
                  <a:ea typeface="페이퍼로지 7 Bold" pitchFamily="2" charset="-127"/>
                </a:rPr>
                <a:t>동행</a:t>
              </a:r>
              <a:r>
                <a:rPr lang="en-US" altLang="ko-KR" sz="1200" b="1" dirty="0">
                  <a:solidFill>
                    <a:srgbClr val="102D52"/>
                  </a:solidFill>
                  <a:latin typeface="페이퍼로지 7 Bold" pitchFamily="2" charset="-127"/>
                  <a:ea typeface="페이퍼로지 7 Bold" pitchFamily="2" charset="-127"/>
                </a:rPr>
                <a:t>)</a:t>
              </a:r>
              <a:r>
                <a:rPr lang="ko-KR" altLang="en-US" sz="1200" b="1" dirty="0">
                  <a:solidFill>
                    <a:srgbClr val="102D52"/>
                  </a:solidFill>
                  <a:latin typeface="페이퍼로지 7 Bold" pitchFamily="2" charset="-127"/>
                  <a:ea typeface="페이퍼로지 7 Bold" pitchFamily="2" charset="-127"/>
                </a:rPr>
                <a:t> 관계</a:t>
              </a:r>
              <a:endParaRPr lang="en-US" altLang="ko-KR" sz="12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endParaRPr>
            </a:p>
            <a:p>
              <a:pPr algn="l"/>
              <a:r>
                <a:rPr lang="en-US" altLang="ko-KR" sz="120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</a:rPr>
                <a:t>“</a:t>
              </a:r>
              <a:r>
                <a:rPr lang="ko-KR" altLang="en-US" sz="120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</a:rPr>
                <a:t>심리전략</a:t>
              </a:r>
              <a:r>
                <a:rPr lang="en-US" altLang="ko-KR" sz="120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120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</a:rPr>
                <a:t>사칭 선행</a:t>
              </a:r>
              <a:r>
                <a:rPr lang="en-US" altLang="ko-KR" sz="120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</a:rPr>
                <a:t>”</a:t>
              </a:r>
            </a:p>
            <a:p>
              <a:pPr algn="l"/>
              <a:r>
                <a:rPr lang="ko-KR" altLang="en-US" sz="700" b="1" dirty="0">
                  <a:solidFill>
                    <a:srgbClr val="6A7B97"/>
                  </a:solidFill>
                  <a:latin typeface="페이퍼로지 7 Bold" pitchFamily="2" charset="-127"/>
                  <a:ea typeface="페이퍼로지 7 Bold" pitchFamily="2" charset="-127"/>
                </a:rPr>
                <a:t>분석 대상 </a:t>
              </a:r>
              <a:r>
                <a:rPr lang="en-US" altLang="ko-KR" sz="700" b="1" dirty="0">
                  <a:solidFill>
                    <a:srgbClr val="6A7B97"/>
                  </a:solidFill>
                  <a:latin typeface="페이퍼로지 7 Bold" pitchFamily="2" charset="-127"/>
                  <a:ea typeface="페이퍼로지 7 Bold" pitchFamily="2" charset="-127"/>
                </a:rPr>
                <a:t>: </a:t>
              </a:r>
              <a:r>
                <a:rPr lang="ko-KR" altLang="en-US" sz="700" b="1" dirty="0">
                  <a:solidFill>
                    <a:srgbClr val="6A7B97"/>
                  </a:solidFill>
                  <a:latin typeface="페이퍼로지 7 Bold" pitchFamily="2" charset="-127"/>
                  <a:ea typeface="페이퍼로지 7 Bold" pitchFamily="2" charset="-127"/>
                </a:rPr>
                <a:t>총 </a:t>
              </a:r>
              <a:r>
                <a:rPr lang="en-US" altLang="ko-KR" sz="700" b="1" dirty="0">
                  <a:solidFill>
                    <a:srgbClr val="6A7B97"/>
                  </a:solidFill>
                  <a:latin typeface="페이퍼로지 7 Bold" pitchFamily="2" charset="-127"/>
                  <a:ea typeface="페이퍼로지 7 Bold" pitchFamily="2" charset="-127"/>
                </a:rPr>
                <a:t>776</a:t>
              </a:r>
              <a:r>
                <a:rPr lang="ko-KR" altLang="en-US" sz="700" b="1" dirty="0">
                  <a:solidFill>
                    <a:srgbClr val="6A7B97"/>
                  </a:solidFill>
                  <a:latin typeface="페이퍼로지 7 Bold" pitchFamily="2" charset="-127"/>
                  <a:ea typeface="페이퍼로지 7 Bold" pitchFamily="2" charset="-127"/>
                </a:rPr>
                <a:t>개의 통화 사례 </a:t>
              </a:r>
              <a:r>
                <a:rPr lang="en-US" altLang="ko-KR" sz="700" b="1" dirty="0">
                  <a:solidFill>
                    <a:srgbClr val="6A7B97"/>
                  </a:solidFill>
                  <a:latin typeface="페이퍼로지 7 Bold" pitchFamily="2" charset="-127"/>
                  <a:ea typeface="페이퍼로지 7 Bold" pitchFamily="2" charset="-127"/>
                </a:rPr>
                <a:t>/ </a:t>
              </a:r>
              <a:r>
                <a:rPr lang="ko-KR" altLang="en-US" sz="700" b="1" dirty="0">
                  <a:solidFill>
                    <a:srgbClr val="6A7B97"/>
                  </a:solidFill>
                  <a:latin typeface="페이퍼로지 7 Bold" pitchFamily="2" charset="-127"/>
                  <a:ea typeface="페이퍼로지 7 Bold" pitchFamily="2" charset="-127"/>
                </a:rPr>
                <a:t>발화 구분 </a:t>
              </a:r>
              <a:r>
                <a:rPr lang="en-US" altLang="ko-KR" sz="700" b="1" dirty="0">
                  <a:solidFill>
                    <a:srgbClr val="6A7B97"/>
                  </a:solidFill>
                  <a:latin typeface="페이퍼로지 7 Bold" pitchFamily="2" charset="-127"/>
                  <a:ea typeface="페이퍼로지 7 Bold" pitchFamily="2" charset="-127"/>
                </a:rPr>
                <a:t>: </a:t>
              </a:r>
              <a:r>
                <a:rPr lang="ko-KR" altLang="en-US" sz="700" b="1" dirty="0">
                  <a:solidFill>
                    <a:srgbClr val="6A7B97"/>
                  </a:solidFill>
                  <a:latin typeface="페이퍼로지 7 Bold" pitchFamily="2" charset="-127"/>
                  <a:ea typeface="페이퍼로지 7 Bold" pitchFamily="2" charset="-127"/>
                </a:rPr>
                <a:t>심리전략</a:t>
              </a:r>
              <a:r>
                <a:rPr lang="en-US" altLang="ko-KR" sz="700" b="1" dirty="0">
                  <a:solidFill>
                    <a:srgbClr val="6A7B97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700" b="1" dirty="0">
                  <a:solidFill>
                    <a:srgbClr val="6A7B97"/>
                  </a:solidFill>
                  <a:latin typeface="페이퍼로지 7 Bold" pitchFamily="2" charset="-127"/>
                  <a:ea typeface="페이퍼로지 7 Bold" pitchFamily="2" charset="-127"/>
                </a:rPr>
                <a:t>사칭</a:t>
              </a:r>
              <a:r>
                <a:rPr lang="en-US" altLang="ko-KR" sz="700" b="1" dirty="0">
                  <a:solidFill>
                    <a:srgbClr val="6A7B97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700" b="1" dirty="0">
                  <a:solidFill>
                    <a:srgbClr val="6A7B97"/>
                  </a:solidFill>
                  <a:latin typeface="페이퍼로지 7 Bold" pitchFamily="2" charset="-127"/>
                  <a:ea typeface="페이퍼로지 7 Bold" pitchFamily="2" charset="-127"/>
                </a:rPr>
                <a:t>행동요구</a:t>
              </a:r>
              <a:r>
                <a:rPr lang="en-US" altLang="ko-KR" sz="700" b="1" dirty="0">
                  <a:solidFill>
                    <a:srgbClr val="6A7B97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700" b="1" dirty="0">
                  <a:solidFill>
                    <a:srgbClr val="6A7B97"/>
                  </a:solidFill>
                  <a:latin typeface="페이퍼로지 7 Bold" pitchFamily="2" charset="-127"/>
                  <a:ea typeface="페이퍼로지 7 Bold" pitchFamily="2" charset="-127"/>
                </a:rPr>
                <a:t>금액 </a:t>
              </a:r>
              <a:r>
                <a:rPr lang="en-US" altLang="ko-KR" sz="700" b="1" dirty="0">
                  <a:solidFill>
                    <a:srgbClr val="6A7B97"/>
                  </a:solidFill>
                  <a:latin typeface="페이퍼로지 7 Bold" pitchFamily="2" charset="-127"/>
                  <a:ea typeface="페이퍼로지 7 Bold" pitchFamily="2" charset="-127"/>
                </a:rPr>
                <a:t>/ </a:t>
              </a:r>
              <a:r>
                <a:rPr lang="ko-KR" altLang="en-US" sz="700" b="1" dirty="0">
                  <a:solidFill>
                    <a:srgbClr val="6A7B97"/>
                  </a:solidFill>
                  <a:latin typeface="페이퍼로지 7 Bold" pitchFamily="2" charset="-127"/>
                  <a:ea typeface="페이퍼로지 7 Bold" pitchFamily="2" charset="-127"/>
                </a:rPr>
                <a:t>왼쪽이 선행 탐지 됨</a:t>
              </a:r>
              <a:endParaRPr lang="en-US" altLang="ko-KR" sz="700" b="1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7A41854A-8F32-4301-B36C-96E978ABAE94}"/>
              </a:ext>
            </a:extLst>
          </p:cNvPr>
          <p:cNvGrpSpPr/>
          <p:nvPr/>
        </p:nvGrpSpPr>
        <p:grpSpPr>
          <a:xfrm>
            <a:off x="778365" y="2667341"/>
            <a:ext cx="5110009" cy="2257797"/>
            <a:chOff x="813485" y="3198912"/>
            <a:chExt cx="4445667" cy="1597024"/>
          </a:xfrm>
        </p:grpSpPr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4B4979FB-25AD-4665-BB27-8CD7FE242ACB}"/>
                </a:ext>
              </a:extLst>
            </p:cNvPr>
            <p:cNvGrpSpPr/>
            <p:nvPr/>
          </p:nvGrpSpPr>
          <p:grpSpPr>
            <a:xfrm>
              <a:off x="813485" y="4553275"/>
              <a:ext cx="4445667" cy="242661"/>
              <a:chOff x="971148" y="3096936"/>
              <a:chExt cx="4105322" cy="224198"/>
            </a:xfrm>
          </p:grpSpPr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1CFE4449-5E43-446B-A816-2418141A3971}"/>
                  </a:ext>
                </a:extLst>
              </p:cNvPr>
              <p:cNvSpPr txBox="1"/>
              <p:nvPr/>
            </p:nvSpPr>
            <p:spPr>
              <a:xfrm>
                <a:off x="971148" y="3135169"/>
                <a:ext cx="802178" cy="147734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ctr">
                <a:spAutoFit/>
              </a:bodyPr>
              <a:lstStyle/>
              <a:p>
                <a:pPr algn="r"/>
                <a:r>
                  <a:rPr sz="720" b="0" dirty="0" err="1">
                    <a:solidFill>
                      <a:srgbClr val="4D5E78"/>
                    </a:solidFill>
                    <a:latin typeface="페이퍼로지 7 Bold" pitchFamily="2" charset="-127"/>
                    <a:ea typeface="페이퍼로지 7 Bold" pitchFamily="2" charset="-127"/>
                  </a:rPr>
                  <a:t>사칭→금액</a:t>
                </a:r>
                <a:endParaRPr sz="720" b="0" dirty="0">
                  <a:solidFill>
                    <a:srgbClr val="4D5E78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4EA6A574-907D-4768-8A24-B1B83DCF130B}"/>
                  </a:ext>
                </a:extLst>
              </p:cNvPr>
              <p:cNvSpPr/>
              <p:nvPr/>
            </p:nvSpPr>
            <p:spPr>
              <a:xfrm>
                <a:off x="1873911" y="3096936"/>
                <a:ext cx="3202559" cy="224198"/>
              </a:xfrm>
              <a:prstGeom prst="rect">
                <a:avLst/>
              </a:prstGeom>
              <a:solidFill>
                <a:srgbClr val="ECF2F8"/>
              </a:solidFill>
              <a:ln>
                <a:solidFill>
                  <a:srgbClr val="ECF2F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7C1DA148-0B55-4E77-BA4B-ABC178515817}"/>
                  </a:ext>
                </a:extLst>
              </p:cNvPr>
              <p:cNvSpPr/>
              <p:nvPr/>
            </p:nvSpPr>
            <p:spPr>
              <a:xfrm>
                <a:off x="1873911" y="3096936"/>
                <a:ext cx="2129702" cy="224198"/>
              </a:xfrm>
              <a:prstGeom prst="rect">
                <a:avLst/>
              </a:prstGeom>
              <a:solidFill>
                <a:srgbClr val="102D52"/>
              </a:solidFill>
              <a:ln>
                <a:solidFill>
                  <a:srgbClr val="102D5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altLang="ko-KR" sz="800" b="1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66.5% (516</a:t>
                </a:r>
                <a:r>
                  <a:rPr lang="ko-KR" altLang="en-US" sz="800" b="1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건</a:t>
                </a:r>
                <a:r>
                  <a:rPr lang="en-US" altLang="ko-KR" sz="800" b="1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)</a:t>
                </a:r>
              </a:p>
            </p:txBody>
          </p:sp>
        </p:grp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A579266F-2C7F-40C4-831A-61F945F0F0C2}"/>
                </a:ext>
              </a:extLst>
            </p:cNvPr>
            <p:cNvGrpSpPr/>
            <p:nvPr/>
          </p:nvGrpSpPr>
          <p:grpSpPr>
            <a:xfrm>
              <a:off x="813485" y="4214685"/>
              <a:ext cx="4445667" cy="242661"/>
              <a:chOff x="971148" y="3438309"/>
              <a:chExt cx="4105322" cy="224198"/>
            </a:xfrm>
          </p:grpSpPr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92A3FFAA-DBCB-4EBB-9BBD-1FDC983D5C22}"/>
                  </a:ext>
                </a:extLst>
              </p:cNvPr>
              <p:cNvSpPr txBox="1"/>
              <p:nvPr/>
            </p:nvSpPr>
            <p:spPr>
              <a:xfrm>
                <a:off x="971148" y="3470387"/>
                <a:ext cx="802178" cy="160044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ctr">
                <a:spAutoFit/>
              </a:bodyPr>
              <a:lstStyle/>
              <a:p>
                <a:pPr algn="r"/>
                <a:r>
                  <a:rPr sz="720" b="0" dirty="0" err="1">
                    <a:solidFill>
                      <a:srgbClr val="4D5E78"/>
                    </a:solidFill>
                    <a:latin typeface="페이퍼로지 7 Bold" pitchFamily="2" charset="-127"/>
                    <a:ea typeface="페이퍼로지 7 Bold" pitchFamily="2" charset="-127"/>
                  </a:rPr>
                  <a:t>사칭</a:t>
                </a:r>
                <a:r>
                  <a:rPr sz="720" b="0" dirty="0">
                    <a:solidFill>
                      <a:srgbClr val="4D5E78"/>
                    </a:solidFill>
                    <a:latin typeface="페이퍼로지 7 Bold" pitchFamily="2" charset="-127"/>
                    <a:ea typeface="페이퍼로지 7 Bold" pitchFamily="2" charset="-127"/>
                  </a:rPr>
                  <a:t>→</a:t>
                </a:r>
                <a:r>
                  <a:rPr lang="ko-KR" altLang="en-US" sz="800" b="1" dirty="0">
                    <a:solidFill>
                      <a:srgbClr val="4D5E78"/>
                    </a:solidFill>
                    <a:latin typeface="페이퍼로지 7 Bold" pitchFamily="2" charset="-127"/>
                    <a:ea typeface="페이퍼로지 7 Bold" pitchFamily="2" charset="-127"/>
                  </a:rPr>
                  <a:t> </a:t>
                </a:r>
                <a:r>
                  <a:rPr lang="ko-KR" altLang="en-US" sz="800" b="0" dirty="0">
                    <a:solidFill>
                      <a:srgbClr val="4D5E78"/>
                    </a:solidFill>
                    <a:latin typeface="페이퍼로지 7 Bold" pitchFamily="2" charset="-127"/>
                    <a:ea typeface="페이퍼로지 7 Bold" pitchFamily="2" charset="-127"/>
                  </a:rPr>
                  <a:t>행동요구</a:t>
                </a:r>
                <a:endParaRPr sz="720" b="0" dirty="0">
                  <a:solidFill>
                    <a:srgbClr val="4D5E78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D88A4B74-42B2-4A85-9CB9-65335D4D9165}"/>
                  </a:ext>
                </a:extLst>
              </p:cNvPr>
              <p:cNvSpPr/>
              <p:nvPr/>
            </p:nvSpPr>
            <p:spPr>
              <a:xfrm>
                <a:off x="1873911" y="3438309"/>
                <a:ext cx="3202559" cy="224198"/>
              </a:xfrm>
              <a:prstGeom prst="rect">
                <a:avLst/>
              </a:prstGeom>
              <a:solidFill>
                <a:srgbClr val="ECF2F8"/>
              </a:solidFill>
              <a:ln>
                <a:solidFill>
                  <a:srgbClr val="ECF2F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0F56280E-07D6-4CF2-A6A1-04970A404146}"/>
                  </a:ext>
                </a:extLst>
              </p:cNvPr>
              <p:cNvSpPr/>
              <p:nvPr/>
            </p:nvSpPr>
            <p:spPr>
              <a:xfrm>
                <a:off x="1873911" y="3438309"/>
                <a:ext cx="2581263" cy="224198"/>
              </a:xfrm>
              <a:prstGeom prst="rect">
                <a:avLst/>
              </a:prstGeom>
              <a:solidFill>
                <a:srgbClr val="102D52"/>
              </a:solidFill>
              <a:ln>
                <a:solidFill>
                  <a:srgbClr val="102D5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altLang="ko-KR" sz="800" b="1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80.6% (627</a:t>
                </a:r>
                <a:r>
                  <a:rPr lang="ko-KR" altLang="en-US" sz="800" b="1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건</a:t>
                </a:r>
                <a:r>
                  <a:rPr lang="en-US" altLang="ko-KR" sz="800" b="1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)</a:t>
                </a:r>
              </a:p>
            </p:txBody>
          </p:sp>
        </p:grp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FDA057FC-7527-4903-A088-DBE47FE629A5}"/>
                </a:ext>
              </a:extLst>
            </p:cNvPr>
            <p:cNvGrpSpPr/>
            <p:nvPr/>
          </p:nvGrpSpPr>
          <p:grpSpPr>
            <a:xfrm>
              <a:off x="813485" y="3876094"/>
              <a:ext cx="4445667" cy="242661"/>
              <a:chOff x="971148" y="3779683"/>
              <a:chExt cx="4105322" cy="224198"/>
            </a:xfrm>
          </p:grpSpPr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218913FB-50E4-4F7B-802D-4B64713EEDA0}"/>
                  </a:ext>
                </a:extLst>
              </p:cNvPr>
              <p:cNvSpPr txBox="1"/>
              <p:nvPr/>
            </p:nvSpPr>
            <p:spPr>
              <a:xfrm>
                <a:off x="971148" y="3817915"/>
                <a:ext cx="802178" cy="147734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ctr">
                <a:spAutoFit/>
              </a:bodyPr>
              <a:lstStyle/>
              <a:p>
                <a:pPr algn="r"/>
                <a:r>
                  <a:rPr sz="720" b="0" dirty="0" err="1">
                    <a:solidFill>
                      <a:srgbClr val="4D5E78"/>
                    </a:solidFill>
                    <a:latin typeface="페이퍼로지 7 Bold" pitchFamily="2" charset="-127"/>
                    <a:ea typeface="페이퍼로지 7 Bold" pitchFamily="2" charset="-127"/>
                  </a:rPr>
                  <a:t>심리전략→사칭</a:t>
                </a:r>
                <a:endParaRPr sz="720" b="0" dirty="0">
                  <a:solidFill>
                    <a:srgbClr val="4D5E78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96ED3EB3-01BE-4AD5-B195-14732BB08E09}"/>
                  </a:ext>
                </a:extLst>
              </p:cNvPr>
              <p:cNvSpPr/>
              <p:nvPr/>
            </p:nvSpPr>
            <p:spPr>
              <a:xfrm>
                <a:off x="1873911" y="3779683"/>
                <a:ext cx="3202559" cy="224198"/>
              </a:xfrm>
              <a:prstGeom prst="rect">
                <a:avLst/>
              </a:prstGeom>
              <a:solidFill>
                <a:srgbClr val="ECF2F8"/>
              </a:solidFill>
              <a:ln>
                <a:solidFill>
                  <a:srgbClr val="ECF2F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99DB5520-709D-4C24-88B5-DE29F01A0796}"/>
                  </a:ext>
                </a:extLst>
              </p:cNvPr>
              <p:cNvSpPr/>
              <p:nvPr/>
            </p:nvSpPr>
            <p:spPr>
              <a:xfrm>
                <a:off x="1873911" y="3779683"/>
                <a:ext cx="2869493" cy="224198"/>
              </a:xfrm>
              <a:prstGeom prst="rect">
                <a:avLst/>
              </a:prstGeom>
              <a:solidFill>
                <a:srgbClr val="102D52"/>
              </a:solidFill>
              <a:ln>
                <a:solidFill>
                  <a:srgbClr val="102D5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altLang="ko-KR" sz="800" b="1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89.6% (695</a:t>
                </a:r>
                <a:r>
                  <a:rPr lang="ko-KR" altLang="en-US" sz="800" b="1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건</a:t>
                </a:r>
                <a:r>
                  <a:rPr lang="en-US" altLang="ko-KR" sz="800" b="1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)</a:t>
                </a:r>
              </a:p>
            </p:txBody>
          </p:sp>
        </p:grpSp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AA5A57E7-36FB-4DB3-A887-377A8E8866DB}"/>
                </a:ext>
              </a:extLst>
            </p:cNvPr>
            <p:cNvGrpSpPr/>
            <p:nvPr/>
          </p:nvGrpSpPr>
          <p:grpSpPr>
            <a:xfrm>
              <a:off x="813485" y="3537503"/>
              <a:ext cx="4445667" cy="242661"/>
              <a:chOff x="971148" y="4121056"/>
              <a:chExt cx="4105322" cy="224198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A63467F6-50D6-4BE0-A3DE-210616786B9A}"/>
                  </a:ext>
                </a:extLst>
              </p:cNvPr>
              <p:cNvSpPr txBox="1"/>
              <p:nvPr/>
            </p:nvSpPr>
            <p:spPr>
              <a:xfrm>
                <a:off x="971148" y="4159289"/>
                <a:ext cx="802178" cy="147734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ctr">
                <a:spAutoFit/>
              </a:bodyPr>
              <a:lstStyle/>
              <a:p>
                <a:pPr algn="r"/>
                <a:r>
                  <a:rPr sz="720" b="0">
                    <a:solidFill>
                      <a:srgbClr val="4D5E78"/>
                    </a:solidFill>
                    <a:latin typeface="페이퍼로지 7 Bold" pitchFamily="2" charset="-127"/>
                    <a:ea typeface="페이퍼로지 7 Bold" pitchFamily="2" charset="-127"/>
                  </a:rPr>
                  <a:t>심리전략→금액</a:t>
                </a:r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4C7A75E7-2699-4E8D-9FB3-10CF311BBAC9}"/>
                  </a:ext>
                </a:extLst>
              </p:cNvPr>
              <p:cNvSpPr/>
              <p:nvPr/>
            </p:nvSpPr>
            <p:spPr>
              <a:xfrm>
                <a:off x="1873911" y="4121056"/>
                <a:ext cx="3202559" cy="224198"/>
              </a:xfrm>
              <a:prstGeom prst="rect">
                <a:avLst/>
              </a:prstGeom>
              <a:solidFill>
                <a:srgbClr val="ECF2F8"/>
              </a:solidFill>
              <a:ln>
                <a:solidFill>
                  <a:srgbClr val="ECF2F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D54F1B91-2BC2-4410-9185-8324A4E1B469}"/>
                  </a:ext>
                </a:extLst>
              </p:cNvPr>
              <p:cNvSpPr/>
              <p:nvPr/>
            </p:nvSpPr>
            <p:spPr>
              <a:xfrm>
                <a:off x="1873911" y="4121056"/>
                <a:ext cx="2891911" cy="224198"/>
              </a:xfrm>
              <a:prstGeom prst="rect">
                <a:avLst/>
              </a:prstGeom>
              <a:solidFill>
                <a:srgbClr val="102D52"/>
              </a:solidFill>
              <a:ln>
                <a:solidFill>
                  <a:srgbClr val="102D5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altLang="ko-KR" sz="800" b="1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90.3% (700</a:t>
                </a:r>
                <a:r>
                  <a:rPr lang="ko-KR" altLang="en-US" sz="800" b="1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건</a:t>
                </a:r>
                <a:r>
                  <a:rPr lang="en-US" altLang="ko-KR" sz="800" b="1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)</a:t>
                </a:r>
              </a:p>
            </p:txBody>
          </p:sp>
        </p:grpSp>
        <p:grpSp>
          <p:nvGrpSpPr>
            <p:cNvPr id="240" name="Group 239">
              <a:extLst>
                <a:ext uri="{FF2B5EF4-FFF2-40B4-BE49-F238E27FC236}">
                  <a16:creationId xmlns:a16="http://schemas.microsoft.com/office/drawing/2014/main" id="{709CF7EA-6AE1-436D-B0CC-D3DE67C28D46}"/>
                </a:ext>
              </a:extLst>
            </p:cNvPr>
            <p:cNvGrpSpPr/>
            <p:nvPr/>
          </p:nvGrpSpPr>
          <p:grpSpPr>
            <a:xfrm>
              <a:off x="813485" y="3198912"/>
              <a:ext cx="4445667" cy="242661"/>
              <a:chOff x="971148" y="4462429"/>
              <a:chExt cx="4105322" cy="224198"/>
            </a:xfrm>
          </p:grpSpPr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B92D959D-48D3-4FAC-82E0-75246F7981B2}"/>
                  </a:ext>
                </a:extLst>
              </p:cNvPr>
              <p:cNvSpPr txBox="1"/>
              <p:nvPr/>
            </p:nvSpPr>
            <p:spPr>
              <a:xfrm>
                <a:off x="971148" y="4500662"/>
                <a:ext cx="802178" cy="147734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ctr">
                <a:spAutoFit/>
              </a:bodyPr>
              <a:lstStyle/>
              <a:p>
                <a:pPr algn="r"/>
                <a:r>
                  <a:rPr sz="720" b="0" dirty="0" err="1">
                    <a:solidFill>
                      <a:srgbClr val="4D5E78"/>
                    </a:solidFill>
                    <a:latin typeface="페이퍼로지 7 Bold" pitchFamily="2" charset="-127"/>
                    <a:ea typeface="페이퍼로지 7 Bold" pitchFamily="2" charset="-127"/>
                  </a:rPr>
                  <a:t>심리전략</a:t>
                </a:r>
                <a:r>
                  <a:rPr sz="720" b="0" dirty="0">
                    <a:solidFill>
                      <a:srgbClr val="4D5E78"/>
                    </a:solidFill>
                    <a:latin typeface="페이퍼로지 7 Bold" pitchFamily="2" charset="-127"/>
                    <a:ea typeface="페이퍼로지 7 Bold" pitchFamily="2" charset="-127"/>
                  </a:rPr>
                  <a:t>→</a:t>
                </a:r>
                <a:r>
                  <a:rPr lang="ko-KR" altLang="en-US" sz="720" b="0" dirty="0">
                    <a:solidFill>
                      <a:srgbClr val="4D5E78"/>
                    </a:solidFill>
                    <a:latin typeface="페이퍼로지 7 Bold" pitchFamily="2" charset="-127"/>
                    <a:ea typeface="페이퍼로지 7 Bold" pitchFamily="2" charset="-127"/>
                  </a:rPr>
                  <a:t>행동요구</a:t>
                </a:r>
                <a:endParaRPr sz="720" b="0" dirty="0">
                  <a:solidFill>
                    <a:srgbClr val="4D5E78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E22BF126-D393-4A50-9005-754DDD65B7D6}"/>
                  </a:ext>
                </a:extLst>
              </p:cNvPr>
              <p:cNvSpPr/>
              <p:nvPr/>
            </p:nvSpPr>
            <p:spPr>
              <a:xfrm>
                <a:off x="1873911" y="4462429"/>
                <a:ext cx="3202559" cy="224198"/>
              </a:xfrm>
              <a:prstGeom prst="rect">
                <a:avLst/>
              </a:prstGeom>
              <a:solidFill>
                <a:srgbClr val="ECF2F8"/>
              </a:solidFill>
              <a:ln>
                <a:solidFill>
                  <a:srgbClr val="ECF2F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A07C28B1-3C89-449F-B8F3-A057497C67FE}"/>
                  </a:ext>
                </a:extLst>
              </p:cNvPr>
              <p:cNvSpPr/>
              <p:nvPr/>
            </p:nvSpPr>
            <p:spPr>
              <a:xfrm>
                <a:off x="1873911" y="4462429"/>
                <a:ext cx="3096875" cy="224198"/>
              </a:xfrm>
              <a:prstGeom prst="rect">
                <a:avLst/>
              </a:prstGeom>
              <a:solidFill>
                <a:srgbClr val="102D52"/>
              </a:solidFill>
              <a:ln>
                <a:solidFill>
                  <a:srgbClr val="102D5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altLang="ko-KR" sz="800" b="1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96.7% (750</a:t>
                </a:r>
                <a:r>
                  <a:rPr lang="ko-KR" altLang="en-US" sz="800" b="1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건</a:t>
                </a:r>
                <a:r>
                  <a:rPr lang="en-US" altLang="ko-KR" sz="800" b="1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)</a:t>
                </a: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3C89F2A-8212-4CDB-98E2-6386E4B6E935}"/>
              </a:ext>
            </a:extLst>
          </p:cNvPr>
          <p:cNvGrpSpPr/>
          <p:nvPr/>
        </p:nvGrpSpPr>
        <p:grpSpPr>
          <a:xfrm>
            <a:off x="6247645" y="3690645"/>
            <a:ext cx="4969771" cy="1310007"/>
            <a:chOff x="6336455" y="3611952"/>
            <a:chExt cx="4969771" cy="1310007"/>
          </a:xfrm>
        </p:grpSpPr>
        <p:grpSp>
          <p:nvGrpSpPr>
            <p:cNvPr id="371" name="Group 370">
              <a:extLst>
                <a:ext uri="{FF2B5EF4-FFF2-40B4-BE49-F238E27FC236}">
                  <a16:creationId xmlns:a16="http://schemas.microsoft.com/office/drawing/2014/main" id="{1BD106D3-142E-405C-8CBC-171392B750FD}"/>
                </a:ext>
              </a:extLst>
            </p:cNvPr>
            <p:cNvGrpSpPr/>
            <p:nvPr/>
          </p:nvGrpSpPr>
          <p:grpSpPr>
            <a:xfrm>
              <a:off x="6384805" y="3611952"/>
              <a:ext cx="4921421" cy="485218"/>
              <a:chOff x="965838" y="2782017"/>
              <a:chExt cx="4903128" cy="332150"/>
            </a:xfrm>
          </p:grpSpPr>
          <p:sp>
            <p:nvSpPr>
              <p:cNvPr id="372" name="Rounded Rectangle 33">
                <a:extLst>
                  <a:ext uri="{FF2B5EF4-FFF2-40B4-BE49-F238E27FC236}">
                    <a16:creationId xmlns:a16="http://schemas.microsoft.com/office/drawing/2014/main" id="{4A7EE20D-7D97-4450-9D58-76FF1929ED7A}"/>
                  </a:ext>
                </a:extLst>
              </p:cNvPr>
              <p:cNvSpPr/>
              <p:nvPr/>
            </p:nvSpPr>
            <p:spPr>
              <a:xfrm>
                <a:off x="965838" y="2806638"/>
                <a:ext cx="998492" cy="125626"/>
              </a:xfrm>
              <a:prstGeom prst="roundRect">
                <a:avLst/>
              </a:prstGeom>
              <a:solidFill>
                <a:srgbClr val="EBF3FF"/>
              </a:solidFill>
              <a:ln w="6350">
                <a:solidFill>
                  <a:srgbClr val="EBF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36576" tIns="9144" rIns="36576" bIns="9144" rtlCol="0" anchor="ctr"/>
              <a:lstStyle/>
              <a:p>
                <a:pPr algn="ctr"/>
                <a:r>
                  <a:rPr lang="ko-KR" altLang="en-US" sz="850" b="1" dirty="0">
                    <a:solidFill>
                      <a:srgbClr val="2D6B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피해자 응답 분석</a:t>
                </a:r>
                <a:endParaRPr sz="850" b="1" dirty="0">
                  <a:solidFill>
                    <a:srgbClr val="2D6BFF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373" name="TextBox 372">
                <a:extLst>
                  <a:ext uri="{FF2B5EF4-FFF2-40B4-BE49-F238E27FC236}">
                    <a16:creationId xmlns:a16="http://schemas.microsoft.com/office/drawing/2014/main" id="{DC47E3E1-E7D3-4D62-AEF7-6DE4F848BAF0}"/>
                  </a:ext>
                </a:extLst>
              </p:cNvPr>
              <p:cNvSpPr txBox="1"/>
              <p:nvPr/>
            </p:nvSpPr>
            <p:spPr>
              <a:xfrm>
                <a:off x="2079945" y="2782017"/>
                <a:ext cx="3789021" cy="332150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>
                <a:spAutoFit/>
              </a:bodyPr>
              <a:lstStyle/>
              <a:p>
                <a:pPr algn="l"/>
                <a:r>
                  <a:rPr lang="ko-KR" altLang="en-US" sz="1200" b="1" dirty="0">
                    <a:solidFill>
                      <a:srgbClr val="102D52"/>
                    </a:solidFill>
                    <a:latin typeface="페이퍼로지 7 Bold" pitchFamily="2" charset="-127"/>
                    <a:ea typeface="페이퍼로지 7 Bold" pitchFamily="2" charset="-127"/>
                  </a:rPr>
                  <a:t>통화 중 피해자 질문형 응답의 목적</a:t>
                </a:r>
                <a:endParaRPr lang="en-US" altLang="ko-KR" sz="1200" b="1" dirty="0">
                  <a:solidFill>
                    <a:srgbClr val="102D52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  <a:p>
                <a:pPr algn="l"/>
                <a:r>
                  <a:rPr lang="en-US" altLang="ko-KR" sz="1200" b="1" dirty="0">
                    <a:solidFill>
                      <a:srgbClr val="FF4B16"/>
                    </a:solidFill>
                    <a:latin typeface="페이퍼로지 7 Bold" pitchFamily="2" charset="-127"/>
                    <a:ea typeface="페이퍼로지 7 Bold" pitchFamily="2" charset="-127"/>
                  </a:rPr>
                  <a:t>“</a:t>
                </a:r>
                <a:r>
                  <a:rPr lang="ko-KR" altLang="en-US" sz="1200" b="1" dirty="0">
                    <a:solidFill>
                      <a:srgbClr val="FF4B16"/>
                    </a:solidFill>
                    <a:latin typeface="페이퍼로지 7 Bold" pitchFamily="2" charset="-127"/>
                    <a:ea typeface="페이퍼로지 7 Bold" pitchFamily="2" charset="-127"/>
                  </a:rPr>
                  <a:t>의심보다 지속 위한 질문이 더 많아</a:t>
                </a:r>
                <a:r>
                  <a:rPr lang="en-US" altLang="ko-KR" sz="1200" b="1" dirty="0">
                    <a:solidFill>
                      <a:srgbClr val="FF4B16"/>
                    </a:solidFill>
                    <a:latin typeface="페이퍼로지 7 Bold" pitchFamily="2" charset="-127"/>
                    <a:ea typeface="페이퍼로지 7 Bold" pitchFamily="2" charset="-127"/>
                  </a:rPr>
                  <a:t>”</a:t>
                </a:r>
              </a:p>
              <a:p>
                <a:pPr algn="l"/>
                <a:r>
                  <a:rPr lang="ko-KR" altLang="en-US" sz="700" b="1" dirty="0">
                    <a:solidFill>
                      <a:srgbClr val="6A7B97"/>
                    </a:solidFill>
                    <a:latin typeface="페이퍼로지 7 Bold" pitchFamily="2" charset="-127"/>
                    <a:ea typeface="페이퍼로지 7 Bold" pitchFamily="2" charset="-127"/>
                  </a:rPr>
                  <a:t>분석 대상 </a:t>
                </a:r>
                <a:r>
                  <a:rPr lang="en-US" altLang="ko-KR" sz="700" b="1" dirty="0">
                    <a:solidFill>
                      <a:srgbClr val="6A7B97"/>
                    </a:solidFill>
                    <a:latin typeface="페이퍼로지 7 Bold" pitchFamily="2" charset="-127"/>
                    <a:ea typeface="페이퍼로지 7 Bold" pitchFamily="2" charset="-127"/>
                  </a:rPr>
                  <a:t>: </a:t>
                </a:r>
                <a:r>
                  <a:rPr lang="ko-KR" altLang="en-US" sz="700" b="1" dirty="0">
                    <a:solidFill>
                      <a:srgbClr val="6A7B97"/>
                    </a:solidFill>
                    <a:latin typeface="페이퍼로지 7 Bold" pitchFamily="2" charset="-127"/>
                    <a:ea typeface="페이퍼로지 7 Bold" pitchFamily="2" charset="-127"/>
                  </a:rPr>
                  <a:t>피해자의 질문 목적의 발화</a:t>
                </a:r>
                <a:r>
                  <a:rPr lang="en-US" altLang="ko-KR" sz="700" b="1" dirty="0">
                    <a:solidFill>
                      <a:srgbClr val="6A7B97"/>
                    </a:solidFill>
                    <a:latin typeface="페이퍼로지 7 Bold" pitchFamily="2" charset="-127"/>
                    <a:ea typeface="페이퍼로지 7 Bold" pitchFamily="2" charset="-127"/>
                  </a:rPr>
                  <a:t> 1,347</a:t>
                </a:r>
                <a:r>
                  <a:rPr lang="ko-KR" altLang="en-US" sz="700" b="1" dirty="0">
                    <a:solidFill>
                      <a:srgbClr val="6A7B97"/>
                    </a:solidFill>
                    <a:latin typeface="페이퍼로지 7 Bold" pitchFamily="2" charset="-127"/>
                    <a:ea typeface="페이퍼로지 7 Bold" pitchFamily="2" charset="-127"/>
                  </a:rPr>
                  <a:t>개</a:t>
                </a:r>
              </a:p>
            </p:txBody>
          </p:sp>
        </p:grp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BDA51C32-C3CD-4D21-B1EE-17303FC5D4B7}"/>
                </a:ext>
              </a:extLst>
            </p:cNvPr>
            <p:cNvSpPr txBox="1"/>
            <p:nvPr/>
          </p:nvSpPr>
          <p:spPr>
            <a:xfrm>
              <a:off x="6336455" y="4305825"/>
              <a:ext cx="1082802" cy="147733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r"/>
              <a:r>
                <a:rPr lang="ko-KR" altLang="en-US" sz="720" b="0" dirty="0">
                  <a:solidFill>
                    <a:srgbClr val="4D5E78"/>
                  </a:solidFill>
                  <a:latin typeface="페이퍼로지 7 Bold" pitchFamily="2" charset="-127"/>
                  <a:ea typeface="페이퍼로지 7 Bold" pitchFamily="2" charset="-127"/>
                </a:rPr>
                <a:t>대화 지속 </a:t>
              </a:r>
              <a:r>
                <a:rPr lang="en-US" altLang="ko-KR" sz="720" b="0" dirty="0">
                  <a:solidFill>
                    <a:srgbClr val="4D5E78"/>
                  </a:solidFill>
                  <a:latin typeface="페이퍼로지 7 Bold" pitchFamily="2" charset="-127"/>
                  <a:ea typeface="페이퍼로지 7 Bold" pitchFamily="2" charset="-127"/>
                </a:rPr>
                <a:t>· </a:t>
              </a:r>
              <a:r>
                <a:rPr lang="ko-KR" altLang="en-US" sz="720" b="0" dirty="0">
                  <a:solidFill>
                    <a:srgbClr val="4D5E78"/>
                  </a:solidFill>
                  <a:latin typeface="페이퍼로지 7 Bold" pitchFamily="2" charset="-127"/>
                  <a:ea typeface="페이퍼로지 7 Bold" pitchFamily="2" charset="-127"/>
                </a:rPr>
                <a:t>지시수행형 응답</a:t>
              </a:r>
              <a:endParaRPr sz="720" b="0" dirty="0">
                <a:solidFill>
                  <a:srgbClr val="4D5E78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A9E0ED1-120D-4A38-A57C-E486940306F2}"/>
                </a:ext>
              </a:extLst>
            </p:cNvPr>
            <p:cNvGrpSpPr/>
            <p:nvPr/>
          </p:nvGrpSpPr>
          <p:grpSpPr>
            <a:xfrm>
              <a:off x="7520861" y="4222810"/>
              <a:ext cx="3608573" cy="699149"/>
              <a:chOff x="7520861" y="4222810"/>
              <a:chExt cx="4001187" cy="699149"/>
            </a:xfrm>
          </p:grpSpPr>
          <p:sp>
            <p:nvSpPr>
              <p:cNvPr id="378" name="Rectangle 377">
                <a:extLst>
                  <a:ext uri="{FF2B5EF4-FFF2-40B4-BE49-F238E27FC236}">
                    <a16:creationId xmlns:a16="http://schemas.microsoft.com/office/drawing/2014/main" id="{4702B4FE-FF64-4749-92B4-41A2A163E8E7}"/>
                  </a:ext>
                </a:extLst>
              </p:cNvPr>
              <p:cNvSpPr/>
              <p:nvPr/>
            </p:nvSpPr>
            <p:spPr>
              <a:xfrm>
                <a:off x="7520861" y="4222810"/>
                <a:ext cx="4001187" cy="312431"/>
              </a:xfrm>
              <a:prstGeom prst="rect">
                <a:avLst/>
              </a:prstGeom>
              <a:solidFill>
                <a:srgbClr val="ECF2F8"/>
              </a:solidFill>
              <a:ln>
                <a:solidFill>
                  <a:srgbClr val="ECF2F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379" name="Rectangle 378">
                <a:extLst>
                  <a:ext uri="{FF2B5EF4-FFF2-40B4-BE49-F238E27FC236}">
                    <a16:creationId xmlns:a16="http://schemas.microsoft.com/office/drawing/2014/main" id="{FB5D79E9-7DB4-42C9-AEFF-AA0CE8CE891F}"/>
                  </a:ext>
                </a:extLst>
              </p:cNvPr>
              <p:cNvSpPr/>
              <p:nvPr/>
            </p:nvSpPr>
            <p:spPr>
              <a:xfrm>
                <a:off x="7520861" y="4223473"/>
                <a:ext cx="2840843" cy="312431"/>
              </a:xfrm>
              <a:prstGeom prst="rect">
                <a:avLst/>
              </a:prstGeom>
              <a:solidFill>
                <a:srgbClr val="EE4344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altLang="ko-KR" sz="800" b="1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71.0% (956</a:t>
                </a:r>
                <a:r>
                  <a:rPr lang="ko-KR" altLang="en-US" sz="800" b="1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건</a:t>
                </a:r>
                <a:r>
                  <a:rPr lang="en-US" altLang="ko-KR" sz="800" b="1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)</a:t>
                </a:r>
              </a:p>
            </p:txBody>
          </p:sp>
          <p:sp>
            <p:nvSpPr>
              <p:cNvPr id="381" name="Rectangle 380">
                <a:extLst>
                  <a:ext uri="{FF2B5EF4-FFF2-40B4-BE49-F238E27FC236}">
                    <a16:creationId xmlns:a16="http://schemas.microsoft.com/office/drawing/2014/main" id="{EE67DDD6-8E07-4696-AD13-1CA6ED79C4C6}"/>
                  </a:ext>
                </a:extLst>
              </p:cNvPr>
              <p:cNvSpPr/>
              <p:nvPr/>
            </p:nvSpPr>
            <p:spPr>
              <a:xfrm>
                <a:off x="7520861" y="4608865"/>
                <a:ext cx="4001187" cy="312431"/>
              </a:xfrm>
              <a:prstGeom prst="rect">
                <a:avLst/>
              </a:prstGeom>
              <a:solidFill>
                <a:srgbClr val="ECF2F8"/>
              </a:solidFill>
              <a:ln>
                <a:solidFill>
                  <a:srgbClr val="ECF2F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382" name="Rectangle 381">
                <a:extLst>
                  <a:ext uri="{FF2B5EF4-FFF2-40B4-BE49-F238E27FC236}">
                    <a16:creationId xmlns:a16="http://schemas.microsoft.com/office/drawing/2014/main" id="{A63E6131-E8E1-4C6E-8996-FAE7A362E404}"/>
                  </a:ext>
                </a:extLst>
              </p:cNvPr>
              <p:cNvSpPr/>
              <p:nvPr/>
            </p:nvSpPr>
            <p:spPr>
              <a:xfrm>
                <a:off x="7520861" y="4609528"/>
                <a:ext cx="1088322" cy="312431"/>
              </a:xfrm>
              <a:prstGeom prst="rect">
                <a:avLst/>
              </a:prstGeom>
              <a:solidFill>
                <a:srgbClr val="2D6B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altLang="ko-KR" sz="800" b="1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27.2% (366</a:t>
                </a:r>
                <a:r>
                  <a:rPr lang="ko-KR" altLang="en-US" sz="800" b="1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건</a:t>
                </a:r>
                <a:r>
                  <a:rPr lang="en-US" altLang="ko-KR" sz="800" b="1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)</a:t>
                </a:r>
              </a:p>
            </p:txBody>
          </p:sp>
        </p:grpSp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79C4F1FB-D8E6-429D-B50D-83F5588179C5}"/>
                </a:ext>
              </a:extLst>
            </p:cNvPr>
            <p:cNvSpPr txBox="1"/>
            <p:nvPr/>
          </p:nvSpPr>
          <p:spPr>
            <a:xfrm>
              <a:off x="6360518" y="4684391"/>
              <a:ext cx="1034676" cy="147733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r"/>
              <a:r>
                <a:rPr lang="ko-KR" altLang="en-US" sz="720" b="0" dirty="0">
                  <a:solidFill>
                    <a:srgbClr val="4D5E78"/>
                  </a:solidFill>
                  <a:latin typeface="페이퍼로지 7 Bold" pitchFamily="2" charset="-127"/>
                  <a:ea typeface="페이퍼로지 7 Bold" pitchFamily="2" charset="-127"/>
                </a:rPr>
                <a:t>경계 </a:t>
              </a:r>
              <a:r>
                <a:rPr lang="en-US" altLang="ko-KR" sz="720" b="0" dirty="0">
                  <a:solidFill>
                    <a:srgbClr val="4D5E78"/>
                  </a:solidFill>
                  <a:latin typeface="페이퍼로지 7 Bold" pitchFamily="2" charset="-127"/>
                  <a:ea typeface="페이퍼로지 7 Bold" pitchFamily="2" charset="-127"/>
                </a:rPr>
                <a:t>· </a:t>
              </a:r>
              <a:r>
                <a:rPr lang="ko-KR" altLang="en-US" sz="720" b="0" dirty="0">
                  <a:solidFill>
                    <a:srgbClr val="4D5E78"/>
                  </a:solidFill>
                  <a:latin typeface="페이퍼로지 7 Bold" pitchFamily="2" charset="-127"/>
                  <a:ea typeface="페이퍼로지 7 Bold" pitchFamily="2" charset="-127"/>
                </a:rPr>
                <a:t>의심형 응답</a:t>
              </a:r>
              <a:endParaRPr sz="720" b="0" dirty="0">
                <a:solidFill>
                  <a:srgbClr val="4D5E78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F4CFA5F-CB56-4F7C-BBAF-970D768B9EC1}"/>
              </a:ext>
            </a:extLst>
          </p:cNvPr>
          <p:cNvGrpSpPr/>
          <p:nvPr/>
        </p:nvGrpSpPr>
        <p:grpSpPr>
          <a:xfrm>
            <a:off x="5906712" y="1911291"/>
            <a:ext cx="5227076" cy="1491167"/>
            <a:chOff x="5995522" y="1911291"/>
            <a:chExt cx="5227076" cy="1491167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13A504C-AC81-4EC0-A1A3-9EF421AC2921}"/>
                </a:ext>
              </a:extLst>
            </p:cNvPr>
            <p:cNvGrpSpPr/>
            <p:nvPr/>
          </p:nvGrpSpPr>
          <p:grpSpPr>
            <a:xfrm>
              <a:off x="5995522" y="2327226"/>
              <a:ext cx="5125445" cy="1075232"/>
              <a:chOff x="6160462" y="2335147"/>
              <a:chExt cx="4863228" cy="1075232"/>
            </a:xfrm>
          </p:grpSpPr>
          <p:grpSp>
            <p:nvGrpSpPr>
              <p:cNvPr id="264" name="Group 263">
                <a:extLst>
                  <a:ext uri="{FF2B5EF4-FFF2-40B4-BE49-F238E27FC236}">
                    <a16:creationId xmlns:a16="http://schemas.microsoft.com/office/drawing/2014/main" id="{8C153C59-9DC2-4C1E-8EC8-719E553D26BC}"/>
                  </a:ext>
                </a:extLst>
              </p:cNvPr>
              <p:cNvGrpSpPr/>
              <p:nvPr/>
            </p:nvGrpSpPr>
            <p:grpSpPr>
              <a:xfrm>
                <a:off x="6160462" y="2335147"/>
                <a:ext cx="4863228" cy="282379"/>
                <a:chOff x="6126480" y="3213573"/>
                <a:chExt cx="4773168" cy="201168"/>
              </a:xfrm>
            </p:grpSpPr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id="{151607F5-4214-43A3-9922-31B6B0C8CAB2}"/>
                    </a:ext>
                  </a:extLst>
                </p:cNvPr>
                <p:cNvSpPr txBox="1"/>
                <p:nvPr/>
              </p:nvSpPr>
              <p:spPr>
                <a:xfrm>
                  <a:off x="6126480" y="3225716"/>
                  <a:ext cx="1325880" cy="167738"/>
                </a:xfrm>
                <a:prstGeom prst="rect">
                  <a:avLst/>
                </a:prstGeom>
                <a:noFill/>
              </p:spPr>
              <p:txBody>
                <a:bodyPr wrap="square" lIns="18288" tIns="18288" rIns="18288" bIns="18288" anchor="ctr">
                  <a:spAutoFit/>
                </a:bodyPr>
                <a:lstStyle/>
                <a:p>
                  <a:pPr algn="r"/>
                  <a:r>
                    <a:rPr sz="850" b="0" dirty="0" err="1">
                      <a:solidFill>
                        <a:srgbClr val="4D5E78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권위·신뢰</a:t>
                  </a:r>
                  <a:r>
                    <a:rPr sz="850" b="0" dirty="0">
                      <a:solidFill>
                        <a:srgbClr val="4D5E78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 · 455건</a:t>
                  </a:r>
                </a:p>
              </p:txBody>
            </p:sp>
            <p:sp>
              <p:nvSpPr>
                <p:cNvPr id="165" name="Rectangle 164">
                  <a:extLst>
                    <a:ext uri="{FF2B5EF4-FFF2-40B4-BE49-F238E27FC236}">
                      <a16:creationId xmlns:a16="http://schemas.microsoft.com/office/drawing/2014/main" id="{F87883B7-AFE3-4904-8C6E-8BFF1897D2F3}"/>
                    </a:ext>
                  </a:extLst>
                </p:cNvPr>
                <p:cNvSpPr/>
                <p:nvPr/>
              </p:nvSpPr>
              <p:spPr>
                <a:xfrm>
                  <a:off x="7543800" y="3213573"/>
                  <a:ext cx="3355848" cy="201168"/>
                </a:xfrm>
                <a:prstGeom prst="rect">
                  <a:avLst/>
                </a:prstGeom>
                <a:solidFill>
                  <a:srgbClr val="ECF2F8"/>
                </a:solidFill>
                <a:ln>
                  <a:solidFill>
                    <a:srgbClr val="ECF2F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66" name="Rectangle 165">
                  <a:extLst>
                    <a:ext uri="{FF2B5EF4-FFF2-40B4-BE49-F238E27FC236}">
                      <a16:creationId xmlns:a16="http://schemas.microsoft.com/office/drawing/2014/main" id="{BC854516-9255-4204-A73D-DC925B1E0F7B}"/>
                    </a:ext>
                  </a:extLst>
                </p:cNvPr>
                <p:cNvSpPr/>
                <p:nvPr/>
              </p:nvSpPr>
              <p:spPr>
                <a:xfrm>
                  <a:off x="7543800" y="3213573"/>
                  <a:ext cx="2809324" cy="201168"/>
                </a:xfrm>
                <a:prstGeom prst="rect">
                  <a:avLst/>
                </a:prstGeom>
                <a:solidFill>
                  <a:srgbClr val="2D6BFF"/>
                </a:solidFill>
                <a:ln>
                  <a:solidFill>
                    <a:srgbClr val="2D6B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altLang="ko-KR" sz="85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58.6%</a:t>
                  </a:r>
                </a:p>
              </p:txBody>
            </p:sp>
          </p:grpSp>
          <p:grpSp>
            <p:nvGrpSpPr>
              <p:cNvPr id="263" name="Group 262">
                <a:extLst>
                  <a:ext uri="{FF2B5EF4-FFF2-40B4-BE49-F238E27FC236}">
                    <a16:creationId xmlns:a16="http://schemas.microsoft.com/office/drawing/2014/main" id="{E2AA0FC3-5805-4B55-B93B-BD2B63185937}"/>
                  </a:ext>
                </a:extLst>
              </p:cNvPr>
              <p:cNvGrpSpPr/>
              <p:nvPr/>
            </p:nvGrpSpPr>
            <p:grpSpPr>
              <a:xfrm>
                <a:off x="6160462" y="2728585"/>
                <a:ext cx="4863228" cy="282379"/>
                <a:chOff x="6126480" y="3487044"/>
                <a:chExt cx="4773168" cy="201168"/>
              </a:xfrm>
            </p:grpSpPr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EBD2BED3-2400-489E-86FF-6BA6F1E38E7D}"/>
                    </a:ext>
                  </a:extLst>
                </p:cNvPr>
                <p:cNvSpPr txBox="1"/>
                <p:nvPr/>
              </p:nvSpPr>
              <p:spPr>
                <a:xfrm>
                  <a:off x="6126480" y="3499187"/>
                  <a:ext cx="1325880" cy="167738"/>
                </a:xfrm>
                <a:prstGeom prst="rect">
                  <a:avLst/>
                </a:prstGeom>
                <a:noFill/>
              </p:spPr>
              <p:txBody>
                <a:bodyPr wrap="square" lIns="18288" tIns="18288" rIns="18288" bIns="18288" anchor="ctr">
                  <a:spAutoFit/>
                </a:bodyPr>
                <a:lstStyle/>
                <a:p>
                  <a:pPr algn="r"/>
                  <a:r>
                    <a:rPr sz="850" b="0" dirty="0" err="1">
                      <a:solidFill>
                        <a:srgbClr val="4D5E78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긴급성·시간압박</a:t>
                  </a:r>
                  <a:r>
                    <a:rPr sz="850" b="0" dirty="0">
                      <a:solidFill>
                        <a:srgbClr val="4D5E78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 · 448건</a:t>
                  </a:r>
                </a:p>
              </p:txBody>
            </p:sp>
            <p:sp>
              <p:nvSpPr>
                <p:cNvPr id="169" name="Rectangle 168">
                  <a:extLst>
                    <a:ext uri="{FF2B5EF4-FFF2-40B4-BE49-F238E27FC236}">
                      <a16:creationId xmlns:a16="http://schemas.microsoft.com/office/drawing/2014/main" id="{C621F7F1-94F2-4ED8-B2E0-4A63C6860C43}"/>
                    </a:ext>
                  </a:extLst>
                </p:cNvPr>
                <p:cNvSpPr/>
                <p:nvPr/>
              </p:nvSpPr>
              <p:spPr>
                <a:xfrm>
                  <a:off x="7543800" y="3487044"/>
                  <a:ext cx="3355848" cy="201168"/>
                </a:xfrm>
                <a:prstGeom prst="rect">
                  <a:avLst/>
                </a:prstGeom>
                <a:solidFill>
                  <a:srgbClr val="ECF2F8"/>
                </a:solidFill>
                <a:ln>
                  <a:solidFill>
                    <a:srgbClr val="ECF2F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70" name="Rectangle 169">
                  <a:extLst>
                    <a:ext uri="{FF2B5EF4-FFF2-40B4-BE49-F238E27FC236}">
                      <a16:creationId xmlns:a16="http://schemas.microsoft.com/office/drawing/2014/main" id="{D85E970F-32EF-445C-A728-8E07689CB116}"/>
                    </a:ext>
                  </a:extLst>
                </p:cNvPr>
                <p:cNvSpPr/>
                <p:nvPr/>
              </p:nvSpPr>
              <p:spPr>
                <a:xfrm>
                  <a:off x="7543800" y="3487044"/>
                  <a:ext cx="2766177" cy="201168"/>
                </a:xfrm>
                <a:prstGeom prst="rect">
                  <a:avLst/>
                </a:prstGeom>
                <a:solidFill>
                  <a:srgbClr val="2D6BFF"/>
                </a:solidFill>
                <a:ln>
                  <a:solidFill>
                    <a:srgbClr val="2D6B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sz="85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57.7%</a:t>
                  </a:r>
                  <a:endParaRPr sz="85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  <p:grpSp>
            <p:nvGrpSpPr>
              <p:cNvPr id="265" name="Group 264">
                <a:extLst>
                  <a:ext uri="{FF2B5EF4-FFF2-40B4-BE49-F238E27FC236}">
                    <a16:creationId xmlns:a16="http://schemas.microsoft.com/office/drawing/2014/main" id="{E15A454C-F2D3-4D3C-B9C2-172CC4F9BEB8}"/>
                  </a:ext>
                </a:extLst>
              </p:cNvPr>
              <p:cNvGrpSpPr/>
              <p:nvPr/>
            </p:nvGrpSpPr>
            <p:grpSpPr>
              <a:xfrm>
                <a:off x="6160462" y="3122023"/>
                <a:ext cx="4863228" cy="288356"/>
                <a:chOff x="6126480" y="3813230"/>
                <a:chExt cx="4773168" cy="205426"/>
              </a:xfrm>
            </p:grpSpPr>
            <p:sp>
              <p:nvSpPr>
                <p:cNvPr id="259" name="TextBox 258">
                  <a:extLst>
                    <a:ext uri="{FF2B5EF4-FFF2-40B4-BE49-F238E27FC236}">
                      <a16:creationId xmlns:a16="http://schemas.microsoft.com/office/drawing/2014/main" id="{95AE5D2B-E8B9-40B4-B9D6-66DD2C63691A}"/>
                    </a:ext>
                  </a:extLst>
                </p:cNvPr>
                <p:cNvSpPr txBox="1"/>
                <p:nvPr/>
              </p:nvSpPr>
              <p:spPr>
                <a:xfrm>
                  <a:off x="6126480" y="3825373"/>
                  <a:ext cx="1325880" cy="167738"/>
                </a:xfrm>
                <a:prstGeom prst="rect">
                  <a:avLst/>
                </a:prstGeom>
                <a:noFill/>
              </p:spPr>
              <p:txBody>
                <a:bodyPr wrap="square" lIns="18288" tIns="18288" rIns="18288" bIns="18288" anchor="ctr">
                  <a:spAutoFit/>
                </a:bodyPr>
                <a:lstStyle/>
                <a:p>
                  <a:pPr algn="r"/>
                  <a:r>
                    <a:rPr lang="ko-KR" altLang="en-US" sz="850" b="0" dirty="0">
                      <a:solidFill>
                        <a:srgbClr val="4D5E78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공포</a:t>
                  </a:r>
                  <a:r>
                    <a:rPr sz="850" b="0" dirty="0">
                      <a:solidFill>
                        <a:srgbClr val="4D5E78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·</a:t>
                  </a:r>
                  <a:r>
                    <a:rPr lang="ko-KR" altLang="en-US" sz="850" b="0" dirty="0">
                      <a:solidFill>
                        <a:srgbClr val="4D5E78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위협 </a:t>
                  </a:r>
                  <a:r>
                    <a:rPr sz="850" b="0" dirty="0">
                      <a:solidFill>
                        <a:srgbClr val="4D5E78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· </a:t>
                  </a:r>
                  <a:r>
                    <a:rPr lang="en-US" altLang="ko-KR" sz="850" dirty="0">
                      <a:solidFill>
                        <a:srgbClr val="4D5E78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294</a:t>
                  </a:r>
                  <a:r>
                    <a:rPr sz="850" b="0" dirty="0">
                      <a:solidFill>
                        <a:srgbClr val="4D5E78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건</a:t>
                  </a:r>
                </a:p>
              </p:txBody>
            </p:sp>
            <p:sp>
              <p:nvSpPr>
                <p:cNvPr id="260" name="Rectangle 259">
                  <a:extLst>
                    <a:ext uri="{FF2B5EF4-FFF2-40B4-BE49-F238E27FC236}">
                      <a16:creationId xmlns:a16="http://schemas.microsoft.com/office/drawing/2014/main" id="{D0561105-AE38-44A6-9ACB-7D27480C9DA1}"/>
                    </a:ext>
                  </a:extLst>
                </p:cNvPr>
                <p:cNvSpPr/>
                <p:nvPr/>
              </p:nvSpPr>
              <p:spPr>
                <a:xfrm>
                  <a:off x="7543800" y="3813230"/>
                  <a:ext cx="3355848" cy="201168"/>
                </a:xfrm>
                <a:prstGeom prst="rect">
                  <a:avLst/>
                </a:prstGeom>
                <a:solidFill>
                  <a:srgbClr val="ECF2F8"/>
                </a:solidFill>
                <a:ln>
                  <a:solidFill>
                    <a:srgbClr val="ECF2F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261" name="Rectangle 260">
                  <a:extLst>
                    <a:ext uri="{FF2B5EF4-FFF2-40B4-BE49-F238E27FC236}">
                      <a16:creationId xmlns:a16="http://schemas.microsoft.com/office/drawing/2014/main" id="{0E72C2A0-9F3B-488A-B1AA-C8EF4DF2AF16}"/>
                    </a:ext>
                  </a:extLst>
                </p:cNvPr>
                <p:cNvSpPr/>
                <p:nvPr/>
              </p:nvSpPr>
              <p:spPr>
                <a:xfrm>
                  <a:off x="7543800" y="3817488"/>
                  <a:ext cx="1816951" cy="201168"/>
                </a:xfrm>
                <a:prstGeom prst="rect">
                  <a:avLst/>
                </a:prstGeom>
                <a:solidFill>
                  <a:srgbClr val="2D6BFF"/>
                </a:solidFill>
                <a:ln>
                  <a:solidFill>
                    <a:srgbClr val="2D6B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altLang="ko-KR" sz="85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37.9%</a:t>
                  </a:r>
                </a:p>
              </p:txBody>
            </p:sp>
          </p:grpSp>
        </p:grpSp>
        <p:grpSp>
          <p:nvGrpSpPr>
            <p:cNvPr id="429" name="Group 428">
              <a:extLst>
                <a:ext uri="{FF2B5EF4-FFF2-40B4-BE49-F238E27FC236}">
                  <a16:creationId xmlns:a16="http://schemas.microsoft.com/office/drawing/2014/main" id="{4E56F0DD-2CCD-4264-9913-E38DD059B64C}"/>
                </a:ext>
              </a:extLst>
            </p:cNvPr>
            <p:cNvGrpSpPr/>
            <p:nvPr/>
          </p:nvGrpSpPr>
          <p:grpSpPr>
            <a:xfrm>
              <a:off x="6377452" y="1911291"/>
              <a:ext cx="4845146" cy="329321"/>
              <a:chOff x="6397339" y="2587269"/>
              <a:chExt cx="4845146" cy="329321"/>
            </a:xfrm>
          </p:grpSpPr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81E1A040-52CB-4CDB-85AF-22552E7EE478}"/>
                  </a:ext>
                </a:extLst>
              </p:cNvPr>
              <p:cNvSpPr txBox="1"/>
              <p:nvPr/>
            </p:nvSpPr>
            <p:spPr>
              <a:xfrm>
                <a:off x="7498200" y="2587269"/>
                <a:ext cx="3744285" cy="329321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ctr">
                <a:spAutoFit/>
              </a:bodyPr>
              <a:lstStyle/>
              <a:p>
                <a:pPr algn="l"/>
                <a:r>
                  <a:rPr lang="ko-KR" altLang="en-US" sz="1200" b="1" dirty="0">
                    <a:solidFill>
                      <a:srgbClr val="102D52"/>
                    </a:solidFill>
                    <a:latin typeface="페이퍼로지 7 Bold" pitchFamily="2" charset="-127"/>
                    <a:ea typeface="페이퍼로지 7 Bold" pitchFamily="2" charset="-127"/>
                  </a:rPr>
                  <a:t>범죄자가 사용하는 심리전략 중 </a:t>
                </a:r>
                <a:r>
                  <a:rPr lang="en-US" altLang="ko-KR" sz="1200" b="1" dirty="0">
                    <a:solidFill>
                      <a:srgbClr val="FF4B16"/>
                    </a:solidFill>
                    <a:latin typeface="페이퍼로지 7 Bold" pitchFamily="2" charset="-127"/>
                    <a:ea typeface="페이퍼로지 7 Bold" pitchFamily="2" charset="-127"/>
                  </a:rPr>
                  <a:t>“</a:t>
                </a:r>
                <a:r>
                  <a:rPr lang="ko-KR" altLang="en-US" sz="1200" b="1" dirty="0">
                    <a:solidFill>
                      <a:srgbClr val="FF4B16"/>
                    </a:solidFill>
                    <a:latin typeface="페이퍼로지 7 Bold" pitchFamily="2" charset="-127"/>
                    <a:ea typeface="페이퍼로지 7 Bold" pitchFamily="2" charset="-127"/>
                  </a:rPr>
                  <a:t>권</a:t>
                </a:r>
                <a:r>
                  <a:rPr sz="1200" b="1" dirty="0" err="1">
                    <a:solidFill>
                      <a:srgbClr val="FF4B16"/>
                    </a:solidFill>
                    <a:latin typeface="페이퍼로지 7 Bold" pitchFamily="2" charset="-127"/>
                    <a:ea typeface="페이퍼로지 7 Bold" pitchFamily="2" charset="-127"/>
                  </a:rPr>
                  <a:t>위·신뢰</a:t>
                </a:r>
                <a:r>
                  <a:rPr lang="en-US" sz="1200" b="1" dirty="0">
                    <a:solidFill>
                      <a:srgbClr val="FF4B16"/>
                    </a:solidFill>
                    <a:latin typeface="페이퍼로지 7 Bold" pitchFamily="2" charset="-127"/>
                    <a:ea typeface="페이퍼로지 7 Bold" pitchFamily="2" charset="-127"/>
                  </a:rPr>
                  <a:t>,</a:t>
                </a:r>
                <a:r>
                  <a:rPr sz="1200" b="1" dirty="0">
                    <a:solidFill>
                      <a:srgbClr val="FF4B16"/>
                    </a:solidFill>
                    <a:latin typeface="페이퍼로지 7 Bold" pitchFamily="2" charset="-127"/>
                    <a:ea typeface="페이퍼로지 7 Bold" pitchFamily="2" charset="-127"/>
                  </a:rPr>
                  <a:t> </a:t>
                </a:r>
                <a:r>
                  <a:rPr sz="1200" b="1" dirty="0" err="1">
                    <a:solidFill>
                      <a:srgbClr val="FF4B16"/>
                    </a:solidFill>
                    <a:latin typeface="페이퍼로지 7 Bold" pitchFamily="2" charset="-127"/>
                    <a:ea typeface="페이퍼로지 7 Bold" pitchFamily="2" charset="-127"/>
                  </a:rPr>
                  <a:t>긴급성</a:t>
                </a:r>
                <a:r>
                  <a:rPr lang="en-US" sz="1200" b="1" dirty="0">
                    <a:solidFill>
                      <a:srgbClr val="FF4B16"/>
                    </a:solidFill>
                    <a:latin typeface="페이퍼로지 7 Bold" pitchFamily="2" charset="-127"/>
                    <a:ea typeface="페이퍼로지 7 Bold" pitchFamily="2" charset="-127"/>
                  </a:rPr>
                  <a:t>, </a:t>
                </a:r>
                <a:r>
                  <a:rPr sz="1200" b="1" dirty="0" err="1">
                    <a:solidFill>
                      <a:srgbClr val="FF4B16"/>
                    </a:solidFill>
                    <a:latin typeface="페이퍼로지 7 Bold" pitchFamily="2" charset="-127"/>
                    <a:ea typeface="페이퍼로지 7 Bold" pitchFamily="2" charset="-127"/>
                  </a:rPr>
                  <a:t>공포</a:t>
                </a:r>
                <a:r>
                  <a:rPr lang="en-US" sz="1200" b="1" dirty="0">
                    <a:solidFill>
                      <a:srgbClr val="FF4B16"/>
                    </a:solidFill>
                    <a:latin typeface="페이퍼로지 7 Bold" pitchFamily="2" charset="-127"/>
                    <a:ea typeface="페이퍼로지 7 Bold" pitchFamily="2" charset="-127"/>
                  </a:rPr>
                  <a:t> </a:t>
                </a:r>
                <a:r>
                  <a:rPr lang="ko-KR" altLang="en-US" sz="1200" b="1" dirty="0">
                    <a:solidFill>
                      <a:srgbClr val="FF4B16"/>
                    </a:solidFill>
                    <a:latin typeface="페이퍼로지 7 Bold" pitchFamily="2" charset="-127"/>
                    <a:ea typeface="페이퍼로지 7 Bold" pitchFamily="2" charset="-127"/>
                  </a:rPr>
                  <a:t>유도</a:t>
                </a:r>
                <a:r>
                  <a:rPr lang="en-US" altLang="ko-KR" sz="1200" b="1" dirty="0">
                    <a:solidFill>
                      <a:srgbClr val="FF4B16"/>
                    </a:solidFill>
                    <a:latin typeface="페이퍼로지 7 Bold" pitchFamily="2" charset="-127"/>
                    <a:ea typeface="페이퍼로지 7 Bold" pitchFamily="2" charset="-127"/>
                  </a:rPr>
                  <a:t>”</a:t>
                </a:r>
                <a:endParaRPr lang="en-US" sz="120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  <a:p>
                <a:r>
                  <a:rPr lang="ko-KR" altLang="en-US" sz="700" b="1" dirty="0">
                    <a:solidFill>
                      <a:srgbClr val="6A7B97"/>
                    </a:solidFill>
                    <a:latin typeface="페이퍼로지 7 Bold" pitchFamily="2" charset="-127"/>
                    <a:ea typeface="페이퍼로지 7 Bold" pitchFamily="2" charset="-127"/>
                  </a:rPr>
                  <a:t>분석 대상 </a:t>
                </a:r>
                <a:r>
                  <a:rPr lang="en-US" altLang="ko-KR" sz="700" b="1" dirty="0">
                    <a:solidFill>
                      <a:srgbClr val="6A7B97"/>
                    </a:solidFill>
                    <a:latin typeface="페이퍼로지 7 Bold" pitchFamily="2" charset="-127"/>
                    <a:ea typeface="페이퍼로지 7 Bold" pitchFamily="2" charset="-127"/>
                  </a:rPr>
                  <a:t>: </a:t>
                </a:r>
                <a:r>
                  <a:rPr lang="ko-KR" altLang="en-US" sz="700" b="1" dirty="0">
                    <a:solidFill>
                      <a:srgbClr val="6A7B97"/>
                    </a:solidFill>
                    <a:latin typeface="페이퍼로지 7 Bold" pitchFamily="2" charset="-127"/>
                    <a:ea typeface="페이퍼로지 7 Bold" pitchFamily="2" charset="-127"/>
                  </a:rPr>
                  <a:t>총 </a:t>
                </a:r>
                <a:r>
                  <a:rPr lang="en-US" altLang="ko-KR" sz="700" b="1" dirty="0">
                    <a:solidFill>
                      <a:srgbClr val="6A7B97"/>
                    </a:solidFill>
                    <a:latin typeface="페이퍼로지 7 Bold" pitchFamily="2" charset="-127"/>
                    <a:ea typeface="페이퍼로지 7 Bold" pitchFamily="2" charset="-127"/>
                  </a:rPr>
                  <a:t>776</a:t>
                </a:r>
                <a:r>
                  <a:rPr lang="ko-KR" altLang="en-US" sz="700" b="1" dirty="0">
                    <a:solidFill>
                      <a:srgbClr val="6A7B97"/>
                    </a:solidFill>
                    <a:latin typeface="페이퍼로지 7 Bold" pitchFamily="2" charset="-127"/>
                    <a:ea typeface="페이퍼로지 7 Bold" pitchFamily="2" charset="-127"/>
                  </a:rPr>
                  <a:t>개의 통화 사례 중 심리전략</a:t>
                </a:r>
                <a:endParaRPr lang="en-US" altLang="ko-KR" sz="700" b="1" dirty="0">
                  <a:solidFill>
                    <a:srgbClr val="6A7B97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428" name="Rounded Rectangle 33">
                <a:extLst>
                  <a:ext uri="{FF2B5EF4-FFF2-40B4-BE49-F238E27FC236}">
                    <a16:creationId xmlns:a16="http://schemas.microsoft.com/office/drawing/2014/main" id="{A56EF7F5-1932-44BD-83CA-2D82CA0E59B3}"/>
                  </a:ext>
                </a:extLst>
              </p:cNvPr>
              <p:cNvSpPr/>
              <p:nvPr/>
            </p:nvSpPr>
            <p:spPr>
              <a:xfrm>
                <a:off x="6397339" y="2625369"/>
                <a:ext cx="998492" cy="194167"/>
              </a:xfrm>
              <a:prstGeom prst="roundRect">
                <a:avLst/>
              </a:prstGeom>
              <a:solidFill>
                <a:srgbClr val="EBF3FF"/>
              </a:solidFill>
              <a:ln w="6350">
                <a:solidFill>
                  <a:srgbClr val="EBF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36576" tIns="9144" rIns="36576" bIns="9144" rtlCol="0" anchor="ctr"/>
              <a:lstStyle/>
              <a:p>
                <a:pPr algn="ctr"/>
                <a:r>
                  <a:rPr lang="ko-KR" altLang="en-US" sz="850" b="1" dirty="0">
                    <a:solidFill>
                      <a:srgbClr val="2D6B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심리전략 </a:t>
                </a:r>
                <a:r>
                  <a:rPr lang="en-US" altLang="ko-KR" sz="850" b="1" dirty="0">
                    <a:solidFill>
                      <a:srgbClr val="2D6B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TOP 3 </a:t>
                </a:r>
                <a:endParaRPr lang="ko-KR" altLang="en-US" sz="850" b="1" dirty="0">
                  <a:solidFill>
                    <a:srgbClr val="2D6BFF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</p:grp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5CCB5811-A494-4A11-9D77-431669243DF5}"/>
              </a:ext>
            </a:extLst>
          </p:cNvPr>
          <p:cNvSpPr txBox="1"/>
          <p:nvPr/>
        </p:nvSpPr>
        <p:spPr>
          <a:xfrm>
            <a:off x="11606820" y="6476226"/>
            <a:ext cx="320040" cy="1600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lang="en-US" altLang="ko-KR" sz="800" b="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749821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Arrow: Down 97">
            <a:extLst>
              <a:ext uri="{FF2B5EF4-FFF2-40B4-BE49-F238E27FC236}">
                <a16:creationId xmlns:a16="http://schemas.microsoft.com/office/drawing/2014/main" id="{B618F55F-9E20-4E49-8065-24CE1147D3A6}"/>
              </a:ext>
            </a:extLst>
          </p:cNvPr>
          <p:cNvSpPr/>
          <p:nvPr/>
        </p:nvSpPr>
        <p:spPr>
          <a:xfrm>
            <a:off x="5543551" y="3352595"/>
            <a:ext cx="1104900" cy="511536"/>
          </a:xfrm>
          <a:prstGeom prst="downArrow">
            <a:avLst/>
          </a:prstGeom>
          <a:solidFill>
            <a:srgbClr val="102D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Rounded Rectangle 59">
            <a:extLst>
              <a:ext uri="{FF2B5EF4-FFF2-40B4-BE49-F238E27FC236}">
                <a16:creationId xmlns:a16="http://schemas.microsoft.com/office/drawing/2014/main" id="{C3E82C22-D5A5-484F-A0E1-44EC8FE5FC7C}"/>
              </a:ext>
            </a:extLst>
          </p:cNvPr>
          <p:cNvSpPr/>
          <p:nvPr/>
        </p:nvSpPr>
        <p:spPr>
          <a:xfrm>
            <a:off x="548640" y="1536179"/>
            <a:ext cx="11073384" cy="1903279"/>
          </a:xfrm>
          <a:prstGeom prst="roundRect">
            <a:avLst>
              <a:gd name="adj" fmla="val 9196"/>
            </a:avLst>
          </a:prstGeom>
          <a:solidFill>
            <a:schemeClr val="bg1"/>
          </a:solidFill>
          <a:ln w="12700">
            <a:solidFill>
              <a:srgbClr val="D9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99613B2D-D6CA-4C74-8B4D-7195CE10EBA5}"/>
              </a:ext>
            </a:extLst>
          </p:cNvPr>
          <p:cNvGrpSpPr/>
          <p:nvPr/>
        </p:nvGrpSpPr>
        <p:grpSpPr>
          <a:xfrm>
            <a:off x="723900" y="1645844"/>
            <a:ext cx="10741152" cy="1666510"/>
            <a:chOff x="566928" y="3886201"/>
            <a:chExt cx="11055096" cy="1715220"/>
          </a:xfrm>
        </p:grpSpPr>
        <p:sp>
          <p:nvSpPr>
            <p:cNvPr id="66" name="Rounded Rectangle 25">
              <a:extLst>
                <a:ext uri="{FF2B5EF4-FFF2-40B4-BE49-F238E27FC236}">
                  <a16:creationId xmlns:a16="http://schemas.microsoft.com/office/drawing/2014/main" id="{4CFAB6BF-21C5-4F6B-96AD-D653DB483C32}"/>
                </a:ext>
              </a:extLst>
            </p:cNvPr>
            <p:cNvSpPr/>
            <p:nvPr/>
          </p:nvSpPr>
          <p:spPr>
            <a:xfrm>
              <a:off x="566928" y="3886201"/>
              <a:ext cx="3529584" cy="1155478"/>
            </a:xfrm>
            <a:prstGeom prst="roundRect">
              <a:avLst/>
            </a:prstGeom>
            <a:solidFill>
              <a:srgbClr val="EEF5FF"/>
            </a:solidFill>
            <a:ln w="12700">
              <a:solidFill>
                <a:srgbClr val="D3DE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CD25852-EF13-4A14-9212-C4A519C8842F}"/>
                </a:ext>
              </a:extLst>
            </p:cNvPr>
            <p:cNvSpPr txBox="1"/>
            <p:nvPr/>
          </p:nvSpPr>
          <p:spPr>
            <a:xfrm>
              <a:off x="844436" y="4666910"/>
              <a:ext cx="1171397" cy="12670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800" b="1" dirty="0" err="1">
                  <a:solidFill>
                    <a:srgbClr val="2F69F5"/>
                  </a:solidFill>
                  <a:latin typeface="페이퍼로지 7 Bold" pitchFamily="2" charset="-127"/>
                  <a:ea typeface="페이퍼로지 7 Bold" pitchFamily="2" charset="-127"/>
                </a:rPr>
                <a:t>시간압박</a:t>
              </a:r>
              <a:r>
                <a:rPr sz="800" b="1" dirty="0">
                  <a:solidFill>
                    <a:srgbClr val="2F69F5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800" b="1" dirty="0" err="1">
                  <a:solidFill>
                    <a:srgbClr val="2F69F5"/>
                  </a:solidFill>
                  <a:latin typeface="페이퍼로지 7 Bold" pitchFamily="2" charset="-127"/>
                  <a:ea typeface="페이퍼로지 7 Bold" pitchFamily="2" charset="-127"/>
                </a:rPr>
                <a:t>피싱</a:t>
              </a:r>
              <a:r>
                <a:rPr sz="800" b="1" dirty="0">
                  <a:solidFill>
                    <a:srgbClr val="2F69F5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800" b="1" dirty="0" err="1">
                  <a:solidFill>
                    <a:srgbClr val="2F69F5"/>
                  </a:solidFill>
                  <a:latin typeface="페이퍼로지 7 Bold" pitchFamily="2" charset="-127"/>
                  <a:ea typeface="페이퍼로지 7 Bold" pitchFamily="2" charset="-127"/>
                </a:rPr>
                <a:t>실험</a:t>
              </a:r>
              <a:r>
                <a:rPr sz="800" b="1" dirty="0">
                  <a:solidFill>
                    <a:srgbClr val="2F69F5"/>
                  </a:solidFill>
                  <a:latin typeface="페이퍼로지 7 Bold" pitchFamily="2" charset="-127"/>
                  <a:ea typeface="페이퍼로지 7 Bold" pitchFamily="2" charset="-127"/>
                </a:rPr>
                <a:t> · 472명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1573A83-6959-4EDD-87F2-A97BA6998B43}"/>
                </a:ext>
              </a:extLst>
            </p:cNvPr>
            <p:cNvSpPr txBox="1"/>
            <p:nvPr/>
          </p:nvSpPr>
          <p:spPr>
            <a:xfrm>
              <a:off x="844436" y="4171644"/>
              <a:ext cx="2355994" cy="38012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2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시간압박이</a:t>
              </a:r>
              <a:r>
                <a:rPr sz="12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2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피싱</a:t>
              </a:r>
              <a:r>
                <a:rPr sz="12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2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메시지</a:t>
              </a:r>
              <a:r>
                <a:rPr sz="12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2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탐지</a:t>
              </a:r>
              <a:r>
                <a:rPr sz="12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2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정확도를</a:t>
              </a:r>
              <a:r>
                <a:rPr sz="12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
</a:t>
              </a:r>
              <a:r>
                <a:rPr sz="12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유의하게</a:t>
              </a:r>
              <a:r>
                <a:rPr sz="12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2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낮춘</a:t>
              </a:r>
              <a:r>
                <a:rPr sz="12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2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실험</a:t>
              </a:r>
              <a:r>
                <a:rPr sz="12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2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결과</a:t>
              </a:r>
              <a:endParaRPr sz="1200" b="0" dirty="0">
                <a:solidFill>
                  <a:srgbClr val="19304E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69" name="Rounded Rectangle 28">
              <a:extLst>
                <a:ext uri="{FF2B5EF4-FFF2-40B4-BE49-F238E27FC236}">
                  <a16:creationId xmlns:a16="http://schemas.microsoft.com/office/drawing/2014/main" id="{B5F4E21E-BBD7-455E-8B4B-C28D621944E8}"/>
                </a:ext>
              </a:extLst>
            </p:cNvPr>
            <p:cNvSpPr/>
            <p:nvPr/>
          </p:nvSpPr>
          <p:spPr>
            <a:xfrm>
              <a:off x="4279392" y="3886201"/>
              <a:ext cx="3529584" cy="1155478"/>
            </a:xfrm>
            <a:prstGeom prst="roundRect">
              <a:avLst/>
            </a:prstGeom>
            <a:solidFill>
              <a:srgbClr val="EEF5FF"/>
            </a:solidFill>
            <a:ln w="12700">
              <a:solidFill>
                <a:srgbClr val="D3DE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03FB24C-D23F-4301-911E-591E1CEEBF28}"/>
                </a:ext>
              </a:extLst>
            </p:cNvPr>
            <p:cNvSpPr txBox="1"/>
            <p:nvPr/>
          </p:nvSpPr>
          <p:spPr>
            <a:xfrm>
              <a:off x="4556900" y="4666910"/>
              <a:ext cx="1935281" cy="12670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800" b="1">
                  <a:solidFill>
                    <a:srgbClr val="2F69F5"/>
                  </a:solidFill>
                  <a:latin typeface="페이퍼로지 7 Bold" pitchFamily="2" charset="-127"/>
                  <a:ea typeface="페이퍼로지 7 Bold" pitchFamily="2" charset="-127"/>
                </a:rPr>
                <a:t>실제 통화 분석 · 배승희·최민경·이혜용(2023)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C9A579B-2D1E-4A90-9E03-89777E25AA76}"/>
                </a:ext>
              </a:extLst>
            </p:cNvPr>
            <p:cNvSpPr txBox="1"/>
            <p:nvPr/>
          </p:nvSpPr>
          <p:spPr>
            <a:xfrm>
              <a:off x="4556900" y="4171644"/>
              <a:ext cx="2534179" cy="38012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2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접근</a:t>
              </a:r>
              <a:r>
                <a:rPr sz="12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→ </a:t>
              </a:r>
              <a:r>
                <a:rPr sz="12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범죄</a:t>
              </a:r>
              <a:r>
                <a:rPr sz="12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2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연루</a:t>
              </a:r>
              <a:r>
                <a:rPr sz="12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2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위협</a:t>
              </a:r>
              <a:r>
                <a:rPr sz="12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→ </a:t>
              </a:r>
              <a:r>
                <a:rPr sz="12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사회적</a:t>
              </a:r>
              <a:r>
                <a:rPr sz="12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2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고립</a:t>
              </a:r>
              <a:endParaRPr lang="en-US" sz="1200" dirty="0">
                <a:solidFill>
                  <a:srgbClr val="19304E"/>
                </a:solidFill>
                <a:latin typeface="페이퍼로지 7 Bold" pitchFamily="2" charset="-127"/>
                <a:ea typeface="페이퍼로지 7 Bold" pitchFamily="2" charset="-127"/>
              </a:endParaRPr>
            </a:p>
            <a:p>
              <a:pPr algn="l"/>
              <a:r>
                <a:rPr sz="12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→</a:t>
              </a:r>
              <a:r>
                <a:rPr lang="en-US" sz="120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2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수직관계</a:t>
              </a:r>
              <a:r>
                <a:rPr sz="12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2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강화</a:t>
              </a:r>
              <a:r>
                <a:rPr sz="12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→ </a:t>
              </a:r>
              <a:r>
                <a:rPr sz="12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인출</a:t>
              </a:r>
              <a:r>
                <a:rPr sz="12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2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유도</a:t>
              </a:r>
              <a:r>
                <a:rPr sz="12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→ </a:t>
              </a:r>
              <a:r>
                <a:rPr sz="12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인출</a:t>
              </a:r>
              <a:r>
                <a:rPr sz="12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2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확인</a:t>
              </a:r>
              <a:endParaRPr sz="1200" b="0" dirty="0">
                <a:solidFill>
                  <a:srgbClr val="19304E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72" name="Rounded Rectangle 31">
              <a:extLst>
                <a:ext uri="{FF2B5EF4-FFF2-40B4-BE49-F238E27FC236}">
                  <a16:creationId xmlns:a16="http://schemas.microsoft.com/office/drawing/2014/main" id="{E3AB66FF-E013-4DB1-9007-5F5FA1168F19}"/>
                </a:ext>
              </a:extLst>
            </p:cNvPr>
            <p:cNvSpPr/>
            <p:nvPr/>
          </p:nvSpPr>
          <p:spPr>
            <a:xfrm>
              <a:off x="7991856" y="3886201"/>
              <a:ext cx="3630168" cy="1155478"/>
            </a:xfrm>
            <a:prstGeom prst="roundRect">
              <a:avLst/>
            </a:prstGeom>
            <a:solidFill>
              <a:srgbClr val="EEF5FF"/>
            </a:solidFill>
            <a:ln w="12700">
              <a:solidFill>
                <a:srgbClr val="D3DE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708B85F-2A64-400E-9384-FD3E9B144F46}"/>
                </a:ext>
              </a:extLst>
            </p:cNvPr>
            <p:cNvSpPr txBox="1"/>
            <p:nvPr/>
          </p:nvSpPr>
          <p:spPr>
            <a:xfrm>
              <a:off x="8269364" y="4666909"/>
              <a:ext cx="1600360" cy="12670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800" b="1">
                  <a:solidFill>
                    <a:srgbClr val="EF4848"/>
                  </a:solidFill>
                  <a:latin typeface="페이퍼로지 7 Bold" pitchFamily="2" charset="-127"/>
                  <a:ea typeface="페이퍼로지 7 Bold" pitchFamily="2" charset="-127"/>
                </a:rPr>
                <a:t>스크립트 분석 · 이영은·서준배(2024)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2147A14-E976-4103-8FFD-D08ADE04845A}"/>
                </a:ext>
              </a:extLst>
            </p:cNvPr>
            <p:cNvSpPr txBox="1"/>
            <p:nvPr/>
          </p:nvSpPr>
          <p:spPr>
            <a:xfrm>
              <a:off x="8269364" y="4171644"/>
              <a:ext cx="2237204" cy="38012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2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신뢰·권위</a:t>
              </a:r>
              <a:r>
                <a:rPr sz="12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→ </a:t>
              </a:r>
              <a:r>
                <a:rPr sz="12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공포</a:t>
              </a:r>
              <a:r>
                <a:rPr sz="12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2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강화</a:t>
              </a:r>
              <a:endParaRPr lang="en-US" sz="1200" dirty="0">
                <a:solidFill>
                  <a:srgbClr val="19304E"/>
                </a:solidFill>
                <a:latin typeface="페이퍼로지 7 Bold" pitchFamily="2" charset="-127"/>
                <a:ea typeface="페이퍼로지 7 Bold" pitchFamily="2" charset="-127"/>
              </a:endParaRPr>
            </a:p>
            <a:p>
              <a:pPr algn="l"/>
              <a:r>
                <a:rPr sz="12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→</a:t>
              </a:r>
              <a:r>
                <a:rPr lang="en-US" sz="120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2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정신·물리적</a:t>
              </a:r>
              <a:r>
                <a:rPr sz="12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2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고립</a:t>
              </a:r>
              <a:r>
                <a:rPr sz="12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→ </a:t>
              </a:r>
              <a:r>
                <a:rPr sz="12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자기통제</a:t>
              </a:r>
              <a:r>
                <a:rPr sz="12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2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부족</a:t>
              </a:r>
              <a:endParaRPr sz="1200" b="0" dirty="0">
                <a:solidFill>
                  <a:srgbClr val="19304E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75" name="Rounded Rectangle 34">
              <a:extLst>
                <a:ext uri="{FF2B5EF4-FFF2-40B4-BE49-F238E27FC236}">
                  <a16:creationId xmlns:a16="http://schemas.microsoft.com/office/drawing/2014/main" id="{2907AFFA-CA40-4B4A-BFDF-8982E3F0BC0F}"/>
                </a:ext>
              </a:extLst>
            </p:cNvPr>
            <p:cNvSpPr/>
            <p:nvPr/>
          </p:nvSpPr>
          <p:spPr>
            <a:xfrm>
              <a:off x="566928" y="5162509"/>
              <a:ext cx="11055096" cy="43891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3DE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5E339FC-7CD0-4CC9-9258-DDFB544E0D7E}"/>
                </a:ext>
              </a:extLst>
            </p:cNvPr>
            <p:cNvSpPr txBox="1"/>
            <p:nvPr/>
          </p:nvSpPr>
          <p:spPr>
            <a:xfrm>
              <a:off x="844436" y="5293629"/>
              <a:ext cx="6477334" cy="15838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0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보조</a:t>
              </a:r>
              <a:r>
                <a:rPr sz="10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0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근거</a:t>
              </a:r>
              <a:r>
                <a:rPr sz="10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· </a:t>
              </a:r>
              <a:r>
                <a:rPr sz="10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권위</a:t>
              </a:r>
              <a:r>
                <a:rPr sz="10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0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단서</a:t>
              </a:r>
              <a:r>
                <a:rPr sz="10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0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연구</a:t>
              </a:r>
              <a:r>
                <a:rPr lang="en-US" sz="10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0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: </a:t>
              </a:r>
              <a:r>
                <a:rPr sz="10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공신력</a:t>
              </a:r>
              <a:r>
                <a:rPr sz="10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0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있는</a:t>
              </a:r>
              <a:r>
                <a:rPr sz="10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0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기관을</a:t>
              </a:r>
              <a:r>
                <a:rPr sz="10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0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연상시키는</a:t>
              </a:r>
              <a:r>
                <a:rPr sz="10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0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단서가</a:t>
              </a:r>
              <a:r>
                <a:rPr sz="10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0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실제</a:t>
              </a:r>
              <a:r>
                <a:rPr sz="10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0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기관과</a:t>
              </a:r>
              <a:r>
                <a:rPr sz="10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0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사기</a:t>
              </a:r>
              <a:r>
                <a:rPr sz="10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0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메시지의</a:t>
              </a:r>
              <a:r>
                <a:rPr sz="10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0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구별을</a:t>
              </a:r>
              <a:r>
                <a:rPr sz="10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0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어렵게</a:t>
              </a:r>
              <a:r>
                <a:rPr sz="10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할 수 </a:t>
              </a:r>
              <a:r>
                <a:rPr sz="10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있음을</a:t>
              </a:r>
              <a:r>
                <a:rPr sz="1000" b="0" dirty="0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000" b="0" dirty="0" err="1">
                  <a:solidFill>
                    <a:srgbClr val="19304E"/>
                  </a:solidFill>
                  <a:latin typeface="페이퍼로지 7 Bold" pitchFamily="2" charset="-127"/>
                  <a:ea typeface="페이퍼로지 7 Bold" pitchFamily="2" charset="-127"/>
                </a:rPr>
                <a:t>보고</a:t>
              </a:r>
              <a:endParaRPr sz="1000" b="0" dirty="0">
                <a:solidFill>
                  <a:srgbClr val="19304E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0901707-0665-428A-8B80-31CB999ACEF6}"/>
              </a:ext>
            </a:extLst>
          </p:cNvPr>
          <p:cNvGrpSpPr/>
          <p:nvPr/>
        </p:nvGrpSpPr>
        <p:grpSpPr>
          <a:xfrm>
            <a:off x="791464" y="3854017"/>
            <a:ext cx="10587736" cy="1650312"/>
            <a:chOff x="791464" y="3900943"/>
            <a:chExt cx="10587736" cy="1650312"/>
          </a:xfrm>
        </p:grpSpPr>
        <p:sp>
          <p:nvSpPr>
            <p:cNvPr id="97" name="Rounded Rectangle 59">
              <a:extLst>
                <a:ext uri="{FF2B5EF4-FFF2-40B4-BE49-F238E27FC236}">
                  <a16:creationId xmlns:a16="http://schemas.microsoft.com/office/drawing/2014/main" id="{162069A7-0D67-436C-B5FE-787CBA94D4C1}"/>
                </a:ext>
              </a:extLst>
            </p:cNvPr>
            <p:cNvSpPr/>
            <p:nvPr/>
          </p:nvSpPr>
          <p:spPr>
            <a:xfrm>
              <a:off x="791464" y="3900943"/>
              <a:ext cx="10587736" cy="1650312"/>
            </a:xfrm>
            <a:prstGeom prst="roundRect">
              <a:avLst>
                <a:gd name="adj" fmla="val 8711"/>
              </a:avLst>
            </a:prstGeom>
            <a:solidFill>
              <a:schemeClr val="bg1"/>
            </a:solidFill>
            <a:ln w="12700">
              <a:solidFill>
                <a:srgbClr val="D9E4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835028C8-4703-428B-8390-6508891DDA9D}"/>
                </a:ext>
              </a:extLst>
            </p:cNvPr>
            <p:cNvGrpSpPr/>
            <p:nvPr/>
          </p:nvGrpSpPr>
          <p:grpSpPr>
            <a:xfrm>
              <a:off x="1026414" y="4077094"/>
              <a:ext cx="10117836" cy="1297326"/>
              <a:chOff x="566928" y="1755648"/>
              <a:chExt cx="10853928" cy="1536192"/>
            </a:xfrm>
          </p:grpSpPr>
          <p:sp>
            <p:nvSpPr>
              <p:cNvPr id="61" name="Rounded Rectangle 20">
                <a:extLst>
                  <a:ext uri="{FF2B5EF4-FFF2-40B4-BE49-F238E27FC236}">
                    <a16:creationId xmlns:a16="http://schemas.microsoft.com/office/drawing/2014/main" id="{EA9B32E2-5614-4929-91C5-4A4753A8AE53}"/>
                  </a:ext>
                </a:extLst>
              </p:cNvPr>
              <p:cNvSpPr/>
              <p:nvPr/>
            </p:nvSpPr>
            <p:spPr>
              <a:xfrm>
                <a:off x="8933688" y="1755648"/>
                <a:ext cx="2487168" cy="1536192"/>
              </a:xfrm>
              <a:prstGeom prst="roundRect">
                <a:avLst>
                  <a:gd name="adj" fmla="val 8813"/>
                </a:avLst>
              </a:prstGeom>
              <a:solidFill>
                <a:srgbClr val="FFFFFF"/>
              </a:solidFill>
              <a:ln w="12700">
                <a:solidFill>
                  <a:srgbClr val="14345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56" name="Rounded Rectangle 15">
                <a:extLst>
                  <a:ext uri="{FF2B5EF4-FFF2-40B4-BE49-F238E27FC236}">
                    <a16:creationId xmlns:a16="http://schemas.microsoft.com/office/drawing/2014/main" id="{181618CD-F1B1-4CAD-8D8E-3AD86E37B8EF}"/>
                  </a:ext>
                </a:extLst>
              </p:cNvPr>
              <p:cNvSpPr/>
              <p:nvPr/>
            </p:nvSpPr>
            <p:spPr>
              <a:xfrm>
                <a:off x="6144768" y="1755648"/>
                <a:ext cx="2487168" cy="1536192"/>
              </a:xfrm>
              <a:prstGeom prst="roundRect">
                <a:avLst>
                  <a:gd name="adj" fmla="val 8193"/>
                </a:avLst>
              </a:prstGeom>
              <a:solidFill>
                <a:srgbClr val="FFF8EB"/>
              </a:solidFill>
              <a:ln w="12700">
                <a:solidFill>
                  <a:srgbClr val="EE991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51" name="Rounded Rectangle 10">
                <a:extLst>
                  <a:ext uri="{FF2B5EF4-FFF2-40B4-BE49-F238E27FC236}">
                    <a16:creationId xmlns:a16="http://schemas.microsoft.com/office/drawing/2014/main" id="{F722054D-EAC1-4B8D-A1B2-CEEB4A6F2047}"/>
                  </a:ext>
                </a:extLst>
              </p:cNvPr>
              <p:cNvSpPr/>
              <p:nvPr/>
            </p:nvSpPr>
            <p:spPr>
              <a:xfrm>
                <a:off x="3355848" y="1755648"/>
                <a:ext cx="2487168" cy="1536192"/>
              </a:xfrm>
              <a:prstGeom prst="roundRect">
                <a:avLst>
                  <a:gd name="adj" fmla="val 8606"/>
                </a:avLst>
              </a:prstGeom>
              <a:solidFill>
                <a:srgbClr val="FFF2F2"/>
              </a:solidFill>
              <a:ln w="12700">
                <a:solidFill>
                  <a:srgbClr val="EF48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46" name="Rounded Rectangle 5">
                <a:extLst>
                  <a:ext uri="{FF2B5EF4-FFF2-40B4-BE49-F238E27FC236}">
                    <a16:creationId xmlns:a16="http://schemas.microsoft.com/office/drawing/2014/main" id="{DA46C070-34D4-4822-B6C8-E9F138A7DDBC}"/>
                  </a:ext>
                </a:extLst>
              </p:cNvPr>
              <p:cNvSpPr/>
              <p:nvPr/>
            </p:nvSpPr>
            <p:spPr>
              <a:xfrm>
                <a:off x="566928" y="1755648"/>
                <a:ext cx="2487168" cy="1536192"/>
              </a:xfrm>
              <a:prstGeom prst="roundRect">
                <a:avLst>
                  <a:gd name="adj" fmla="val 8400"/>
                </a:avLst>
              </a:prstGeom>
              <a:solidFill>
                <a:srgbClr val="FFFFFF"/>
              </a:solidFill>
              <a:ln w="12700">
                <a:solidFill>
                  <a:srgbClr val="2F69F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8F8D32A-04AF-4318-8C18-0670862D5887}"/>
                  </a:ext>
                </a:extLst>
              </p:cNvPr>
              <p:cNvSpPr txBox="1"/>
              <p:nvPr/>
            </p:nvSpPr>
            <p:spPr>
              <a:xfrm>
                <a:off x="713232" y="1947002"/>
                <a:ext cx="153888" cy="138499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sz="900" b="1">
                    <a:solidFill>
                      <a:srgbClr val="2F69F5"/>
                    </a:solidFill>
                    <a:latin typeface="페이퍼로지 7 Bold" pitchFamily="2" charset="-127"/>
                    <a:ea typeface="페이퍼로지 7 Bold" pitchFamily="2" charset="-127"/>
                  </a:rPr>
                  <a:t>01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FBC9FC5-E8FF-493A-AAC0-486695BC1777}"/>
                  </a:ext>
                </a:extLst>
              </p:cNvPr>
              <p:cNvSpPr txBox="1"/>
              <p:nvPr/>
            </p:nvSpPr>
            <p:spPr>
              <a:xfrm>
                <a:off x="713232" y="2225448"/>
                <a:ext cx="1123706" cy="23083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sz="1500" b="1">
                    <a:solidFill>
                      <a:srgbClr val="2F69F5"/>
                    </a:solidFill>
                    <a:latin typeface="페이퍼로지 7 Bold" pitchFamily="2" charset="-127"/>
                    <a:ea typeface="페이퍼로지 7 Bold" pitchFamily="2" charset="-127"/>
                  </a:rPr>
                  <a:t>신뢰·권위 형성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ED87657-D64C-42FD-9D3C-247669CF983C}"/>
                  </a:ext>
                </a:extLst>
              </p:cNvPr>
              <p:cNvSpPr txBox="1"/>
              <p:nvPr/>
            </p:nvSpPr>
            <p:spPr>
              <a:xfrm>
                <a:off x="713232" y="2718777"/>
                <a:ext cx="1819409" cy="32316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sz="1050" b="0">
                    <a:solidFill>
                      <a:srgbClr val="1930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검찰·경찰 등 기관의 권위를 이용해
상대 설명의 신뢰성을 높임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91151E1-DE25-4016-A81B-A1F8C632789F}"/>
                  </a:ext>
                </a:extLst>
              </p:cNvPr>
              <p:cNvSpPr txBox="1"/>
              <p:nvPr/>
            </p:nvSpPr>
            <p:spPr>
              <a:xfrm>
                <a:off x="3117777" y="2291362"/>
                <a:ext cx="220112" cy="43733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ctr"/>
                <a:r>
                  <a:rPr sz="2400" b="1" dirty="0">
                    <a:solidFill>
                      <a:srgbClr val="2F69F5"/>
                    </a:solidFill>
                    <a:latin typeface="페이퍼로지 7 Bold" pitchFamily="2" charset="-127"/>
                    <a:ea typeface="페이퍼로지 7 Bold" pitchFamily="2" charset="-127"/>
                  </a:rPr>
                  <a:t>→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D564A38-055B-4F37-A0CD-AD5A6E6506B0}"/>
                  </a:ext>
                </a:extLst>
              </p:cNvPr>
              <p:cNvSpPr txBox="1"/>
              <p:nvPr/>
            </p:nvSpPr>
            <p:spPr>
              <a:xfrm>
                <a:off x="3502152" y="1947002"/>
                <a:ext cx="153888" cy="138499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sz="900" b="1">
                    <a:solidFill>
                      <a:srgbClr val="EF4848"/>
                    </a:solidFill>
                    <a:latin typeface="페이퍼로지 7 Bold" pitchFamily="2" charset="-127"/>
                    <a:ea typeface="페이퍼로지 7 Bold" pitchFamily="2" charset="-127"/>
                  </a:rPr>
                  <a:t>02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38F1549-84BD-4963-8958-5E050C07108A}"/>
                  </a:ext>
                </a:extLst>
              </p:cNvPr>
              <p:cNvSpPr txBox="1"/>
              <p:nvPr/>
            </p:nvSpPr>
            <p:spPr>
              <a:xfrm>
                <a:off x="3502152" y="2225448"/>
                <a:ext cx="1293624" cy="23083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sz="1500" b="1">
                    <a:solidFill>
                      <a:srgbClr val="EF4848"/>
                    </a:solidFill>
                    <a:latin typeface="페이퍼로지 7 Bold" pitchFamily="2" charset="-127"/>
                    <a:ea typeface="페이퍼로지 7 Bold" pitchFamily="2" charset="-127"/>
                  </a:rPr>
                  <a:t>공포·긴급성 강화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E249AB3-6654-452F-A5BA-BB5324271E65}"/>
                  </a:ext>
                </a:extLst>
              </p:cNvPr>
              <p:cNvSpPr txBox="1"/>
              <p:nvPr/>
            </p:nvSpPr>
            <p:spPr>
              <a:xfrm>
                <a:off x="3502152" y="2718777"/>
                <a:ext cx="1510029" cy="32316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sz="1050" b="0">
                    <a:solidFill>
                      <a:srgbClr val="1930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범죄 연루·체포 등 위협과
촉박한 시간으로 심리적 압박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8D323DA-74C1-42C8-ABCF-B03F2BCFC10E}"/>
                  </a:ext>
                </a:extLst>
              </p:cNvPr>
              <p:cNvSpPr txBox="1"/>
              <p:nvPr/>
            </p:nvSpPr>
            <p:spPr>
              <a:xfrm>
                <a:off x="5906697" y="2291362"/>
                <a:ext cx="220112" cy="43733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ctr"/>
                <a:r>
                  <a:rPr sz="2400" b="1">
                    <a:solidFill>
                      <a:srgbClr val="2F69F5"/>
                    </a:solidFill>
                    <a:latin typeface="페이퍼로지 7 Bold" pitchFamily="2" charset="-127"/>
                    <a:ea typeface="페이퍼로지 7 Bold" pitchFamily="2" charset="-127"/>
                  </a:rPr>
                  <a:t>→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E099CB5-00C9-4167-9B4F-143526CDDB48}"/>
                  </a:ext>
                </a:extLst>
              </p:cNvPr>
              <p:cNvSpPr txBox="1"/>
              <p:nvPr/>
            </p:nvSpPr>
            <p:spPr>
              <a:xfrm>
                <a:off x="6291072" y="1947002"/>
                <a:ext cx="153888" cy="138499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sz="900" b="1">
                    <a:solidFill>
                      <a:srgbClr val="EE9914"/>
                    </a:solidFill>
                    <a:latin typeface="페이퍼로지 7 Bold" pitchFamily="2" charset="-127"/>
                    <a:ea typeface="페이퍼로지 7 Bold" pitchFamily="2" charset="-127"/>
                  </a:rPr>
                  <a:t>03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1CF5B51-60A5-46DB-B265-3E9369DD6851}"/>
                  </a:ext>
                </a:extLst>
              </p:cNvPr>
              <p:cNvSpPr txBox="1"/>
              <p:nvPr/>
            </p:nvSpPr>
            <p:spPr>
              <a:xfrm>
                <a:off x="6291072" y="2225448"/>
                <a:ext cx="1505220" cy="23083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sz="1500" b="1">
                    <a:solidFill>
                      <a:srgbClr val="EE9914"/>
                    </a:solidFill>
                    <a:latin typeface="페이퍼로지 7 Bold" pitchFamily="2" charset="-127"/>
                    <a:ea typeface="페이퍼로지 7 Bold" pitchFamily="2" charset="-127"/>
                  </a:rPr>
                  <a:t>고립·판단 여지 축소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E59C71F-D3AE-4176-9E6E-7D83CFBA6CF4}"/>
                  </a:ext>
                </a:extLst>
              </p:cNvPr>
              <p:cNvSpPr txBox="1"/>
              <p:nvPr/>
            </p:nvSpPr>
            <p:spPr>
              <a:xfrm>
                <a:off x="6291072" y="2718777"/>
                <a:ext cx="1405834" cy="32316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sz="1050" b="0">
                    <a:solidFill>
                      <a:srgbClr val="1930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외부와의 접촉·대안 검토가
어려운 상황으로 유도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C10C247-7911-4F6F-8FD9-06C4D4FF4783}"/>
                  </a:ext>
                </a:extLst>
              </p:cNvPr>
              <p:cNvSpPr txBox="1"/>
              <p:nvPr/>
            </p:nvSpPr>
            <p:spPr>
              <a:xfrm>
                <a:off x="8695617" y="2291362"/>
                <a:ext cx="220112" cy="43733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ctr"/>
                <a:r>
                  <a:rPr sz="2400" b="1" dirty="0">
                    <a:solidFill>
                      <a:srgbClr val="2F69F5"/>
                    </a:solidFill>
                    <a:latin typeface="페이퍼로지 7 Bold" pitchFamily="2" charset="-127"/>
                    <a:ea typeface="페이퍼로지 7 Bold" pitchFamily="2" charset="-127"/>
                  </a:rPr>
                  <a:t>→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0A17BB7-EA6E-4C5B-8968-70F534CF224B}"/>
                  </a:ext>
                </a:extLst>
              </p:cNvPr>
              <p:cNvSpPr txBox="1"/>
              <p:nvPr/>
            </p:nvSpPr>
            <p:spPr>
              <a:xfrm>
                <a:off x="9079992" y="1947002"/>
                <a:ext cx="153888" cy="13849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sz="900" b="1">
                    <a:solidFill>
                      <a:srgbClr val="14345B"/>
                    </a:solidFill>
                    <a:latin typeface="페이퍼로지 7 Bold" pitchFamily="2" charset="-127"/>
                    <a:ea typeface="페이퍼로지 7 Bold" pitchFamily="2" charset="-127"/>
                  </a:rPr>
                  <a:t>04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5D7D65F-15D7-4DEB-BB66-3CED2D72F218}"/>
                  </a:ext>
                </a:extLst>
              </p:cNvPr>
              <p:cNvSpPr txBox="1"/>
              <p:nvPr/>
            </p:nvSpPr>
            <p:spPr>
              <a:xfrm>
                <a:off x="9079992" y="2225448"/>
                <a:ext cx="1061188" cy="23083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sz="1500" b="1" dirty="0" err="1">
                    <a:solidFill>
                      <a:srgbClr val="14345B"/>
                    </a:solidFill>
                    <a:latin typeface="페이퍼로지 7 Bold" pitchFamily="2" charset="-127"/>
                    <a:ea typeface="페이퍼로지 7 Bold" pitchFamily="2" charset="-127"/>
                  </a:rPr>
                  <a:t>금융행동</a:t>
                </a:r>
                <a:r>
                  <a:rPr sz="1500" b="1" dirty="0">
                    <a:solidFill>
                      <a:srgbClr val="14345B"/>
                    </a:solidFill>
                    <a:latin typeface="페이퍼로지 7 Bold" pitchFamily="2" charset="-127"/>
                    <a:ea typeface="페이퍼로지 7 Bold" pitchFamily="2" charset="-127"/>
                  </a:rPr>
                  <a:t> </a:t>
                </a:r>
                <a:r>
                  <a:rPr sz="1500" b="1" dirty="0" err="1">
                    <a:solidFill>
                      <a:srgbClr val="14345B"/>
                    </a:solidFill>
                    <a:latin typeface="페이퍼로지 7 Bold" pitchFamily="2" charset="-127"/>
                    <a:ea typeface="페이퍼로지 7 Bold" pitchFamily="2" charset="-127"/>
                  </a:rPr>
                  <a:t>유도</a:t>
                </a:r>
                <a:endParaRPr sz="1500" b="1" dirty="0">
                  <a:solidFill>
                    <a:srgbClr val="14345B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8F07668-43C0-4BBF-95C8-8A7B38B787CA}"/>
                  </a:ext>
                </a:extLst>
              </p:cNvPr>
              <p:cNvSpPr txBox="1"/>
              <p:nvPr/>
            </p:nvSpPr>
            <p:spPr>
              <a:xfrm>
                <a:off x="9079992" y="2718777"/>
                <a:ext cx="1168591" cy="32316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sz="1050" b="0">
                    <a:solidFill>
                      <a:srgbClr val="1930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인출·송금 등 구체적인
금융행동으로 이어짐</a:t>
                </a:r>
              </a:p>
            </p:txBody>
          </p:sp>
        </p:grp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B83F84E3-90AC-48A0-8945-1941D12D915C}"/>
              </a:ext>
            </a:extLst>
          </p:cNvPr>
          <p:cNvSpPr txBox="1"/>
          <p:nvPr/>
        </p:nvSpPr>
        <p:spPr>
          <a:xfrm>
            <a:off x="566928" y="6531269"/>
            <a:ext cx="8180124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ko-KR" altLang="en-US" sz="800" b="0" dirty="0">
                <a:solidFill>
                  <a:srgbClr val="708094"/>
                </a:solidFill>
                <a:latin typeface="페이퍼로지 4 Regular" pitchFamily="2" charset="-127"/>
                <a:ea typeface="페이퍼로지 4 Regular" pitchFamily="2" charset="-127"/>
              </a:rPr>
              <a:t>출처</a:t>
            </a:r>
            <a:r>
              <a:rPr lang="en-US" altLang="ko-KR" sz="800" b="0" dirty="0">
                <a:solidFill>
                  <a:srgbClr val="708094"/>
                </a:solidFill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en-US" altLang="ko-KR" sz="800" b="0" dirty="0" err="1">
                <a:solidFill>
                  <a:srgbClr val="708094"/>
                </a:solidFill>
                <a:latin typeface="페이퍼로지 4 Regular" pitchFamily="2" charset="-127"/>
                <a:ea typeface="페이퍼로지 4 Regular" pitchFamily="2" charset="-127"/>
              </a:rPr>
              <a:t>Butavicius</a:t>
            </a:r>
            <a:r>
              <a:rPr lang="en-US" altLang="ko-KR" sz="800" b="0" dirty="0">
                <a:solidFill>
                  <a:srgbClr val="708094"/>
                </a:solidFill>
                <a:latin typeface="페이퍼로지 4 Regular" pitchFamily="2" charset="-127"/>
                <a:ea typeface="페이퍼로지 4 Regular" pitchFamily="2" charset="-127"/>
              </a:rPr>
              <a:t> et al.(2022), Computers &amp; Security, 123, 102937. / </a:t>
            </a:r>
            <a:r>
              <a:rPr lang="ko-KR" altLang="en-US" sz="800" b="0" dirty="0">
                <a:solidFill>
                  <a:srgbClr val="708094"/>
                </a:solidFill>
                <a:latin typeface="페이퍼로지 4 Regular" pitchFamily="2" charset="-127"/>
                <a:ea typeface="페이퍼로지 4 Regular" pitchFamily="2" charset="-127"/>
              </a:rPr>
              <a:t>배승희 외</a:t>
            </a:r>
            <a:r>
              <a:rPr lang="en-US" altLang="ko-KR" sz="800" b="0" dirty="0">
                <a:solidFill>
                  <a:srgbClr val="708094"/>
                </a:solidFill>
                <a:latin typeface="페이퍼로지 4 Regular" pitchFamily="2" charset="-127"/>
                <a:ea typeface="페이퍼로지 4 Regular" pitchFamily="2" charset="-127"/>
              </a:rPr>
              <a:t>(2023), </a:t>
            </a:r>
            <a:r>
              <a:rPr lang="ko-KR" altLang="en-US" sz="800" b="0" dirty="0">
                <a:solidFill>
                  <a:srgbClr val="708094"/>
                </a:solidFill>
                <a:latin typeface="페이퍼로지 4 Regular" pitchFamily="2" charset="-127"/>
                <a:ea typeface="페이퍼로지 4 Regular" pitchFamily="2" charset="-127"/>
              </a:rPr>
              <a:t>「보이스피싱 대화의 대화 원형 연구」 </a:t>
            </a:r>
            <a:r>
              <a:rPr lang="en-US" altLang="ko-KR" sz="800" b="0" dirty="0">
                <a:solidFill>
                  <a:srgbClr val="708094"/>
                </a:solidFill>
                <a:latin typeface="페이퍼로지 4 Regular" pitchFamily="2" charset="-127"/>
                <a:ea typeface="페이퍼로지 4 Regular" pitchFamily="2" charset="-127"/>
              </a:rPr>
              <a:t>/ </a:t>
            </a:r>
            <a:r>
              <a:rPr lang="ko-KR" altLang="en-US" sz="800" b="0" dirty="0">
                <a:solidFill>
                  <a:srgbClr val="708094"/>
                </a:solidFill>
                <a:latin typeface="페이퍼로지 4 Regular" pitchFamily="2" charset="-127"/>
                <a:ea typeface="페이퍼로지 4 Regular" pitchFamily="2" charset="-127"/>
              </a:rPr>
              <a:t>이영은</a:t>
            </a:r>
            <a:r>
              <a:rPr lang="en-US" altLang="ko-KR" sz="800" b="0" dirty="0">
                <a:solidFill>
                  <a:srgbClr val="708094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800" b="0" dirty="0">
                <a:solidFill>
                  <a:srgbClr val="708094"/>
                </a:solidFill>
                <a:latin typeface="페이퍼로지 4 Regular" pitchFamily="2" charset="-127"/>
                <a:ea typeface="페이퍼로지 4 Regular" pitchFamily="2" charset="-127"/>
              </a:rPr>
              <a:t>서준배</a:t>
            </a:r>
            <a:r>
              <a:rPr lang="en-US" altLang="ko-KR" sz="800" b="0" dirty="0">
                <a:solidFill>
                  <a:srgbClr val="708094"/>
                </a:solidFill>
                <a:latin typeface="페이퍼로지 4 Regular" pitchFamily="2" charset="-127"/>
                <a:ea typeface="페이퍼로지 4 Regular" pitchFamily="2" charset="-127"/>
              </a:rPr>
              <a:t>(2024), </a:t>
            </a:r>
            <a:r>
              <a:rPr lang="ko-KR" altLang="en-US" sz="800" b="0" dirty="0">
                <a:solidFill>
                  <a:srgbClr val="708094"/>
                </a:solidFill>
                <a:latin typeface="페이퍼로지 4 Regular" pitchFamily="2" charset="-127"/>
                <a:ea typeface="페이퍼로지 4 Regular" pitchFamily="2" charset="-127"/>
              </a:rPr>
              <a:t>「기관 사칭형 보이스피싱 시나리오 분석」</a:t>
            </a:r>
            <a:endParaRPr sz="800" b="0" dirty="0">
              <a:solidFill>
                <a:srgbClr val="708094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C9CF431-5F16-41DC-B457-8BD7D097161B}"/>
              </a:ext>
            </a:extLst>
          </p:cNvPr>
          <p:cNvSpPr txBox="1"/>
          <p:nvPr/>
        </p:nvSpPr>
        <p:spPr>
          <a:xfrm>
            <a:off x="548640" y="593954"/>
            <a:ext cx="10744200" cy="71404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lang="ko-KR" altLang="en-US" sz="22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기관사칭형 보이스피싱은 신뢰를 얻고</a:t>
            </a:r>
            <a:r>
              <a:rPr lang="en-US" altLang="ko-KR" sz="22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22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불안을 높이고</a:t>
            </a:r>
            <a:r>
              <a:rPr lang="en-US" altLang="ko-KR" sz="22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22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외부 확인을 차단하며</a:t>
            </a:r>
            <a:endParaRPr lang="en-US" altLang="ko-KR" sz="2200" b="1" dirty="0">
              <a:solidFill>
                <a:srgbClr val="102D52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l"/>
            <a:r>
              <a:rPr lang="ko-KR" altLang="en-US" sz="22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피해자의 독립적인 판단을 단계적으로 어렵게 만듭니다</a:t>
            </a:r>
          </a:p>
        </p:txBody>
      </p:sp>
      <p:sp>
        <p:nvSpPr>
          <p:cNvPr id="104" name="Rounded Rectangle 36">
            <a:extLst>
              <a:ext uri="{FF2B5EF4-FFF2-40B4-BE49-F238E27FC236}">
                <a16:creationId xmlns:a16="http://schemas.microsoft.com/office/drawing/2014/main" id="{C9993A54-B52A-45FE-86A8-DF3480E56F5E}"/>
              </a:ext>
            </a:extLst>
          </p:cNvPr>
          <p:cNvSpPr/>
          <p:nvPr/>
        </p:nvSpPr>
        <p:spPr>
          <a:xfrm>
            <a:off x="1425702" y="5680257"/>
            <a:ext cx="9337548" cy="502920"/>
          </a:xfrm>
          <a:prstGeom prst="roundRect">
            <a:avLst/>
          </a:prstGeom>
          <a:solidFill>
            <a:srgbClr val="14345B"/>
          </a:solidFill>
          <a:ln w="12700">
            <a:solidFill>
              <a:srgbClr val="14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F035685-C501-4D5D-BAFF-3241AAA94ED7}"/>
              </a:ext>
            </a:extLst>
          </p:cNvPr>
          <p:cNvSpPr txBox="1"/>
          <p:nvPr/>
        </p:nvSpPr>
        <p:spPr>
          <a:xfrm>
            <a:off x="2138071" y="5823995"/>
            <a:ext cx="7921195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신뢰</a:t>
            </a:r>
            <a:r>
              <a:rPr lang="en-US" altLang="ko-KR" sz="14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14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공포</a:t>
            </a:r>
            <a:r>
              <a:rPr lang="en-US" altLang="ko-KR" sz="14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14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긴급성이 결합된 </a:t>
            </a:r>
            <a:r>
              <a:rPr lang="ko-KR" altLang="en-US" sz="1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범죄환경에 놓인 피해자</a:t>
            </a:r>
            <a:r>
              <a:rPr lang="ko-KR" altLang="en-US" sz="14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는 독립적인 판단이 어려워지고</a:t>
            </a:r>
            <a:r>
              <a:rPr lang="en-US" altLang="ko-KR" sz="14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1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판단 오류 가능성이 높아</a:t>
            </a:r>
            <a:r>
              <a:rPr lang="ko-KR" altLang="en-US" sz="14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질 수 있습니다</a:t>
            </a:r>
            <a:r>
              <a:rPr lang="en-US" altLang="ko-KR" sz="14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.</a:t>
            </a:r>
            <a:endParaRPr lang="ko-KR" altLang="en-US" sz="1400" b="1" dirty="0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5B7FA02-7DE0-492B-83C2-8867095F3728}"/>
              </a:ext>
            </a:extLst>
          </p:cNvPr>
          <p:cNvSpPr txBox="1"/>
          <p:nvPr/>
        </p:nvSpPr>
        <p:spPr>
          <a:xfrm>
            <a:off x="548640" y="379231"/>
            <a:ext cx="5486400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ko-KR" altLang="en-US"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②</a:t>
            </a:r>
            <a:r>
              <a:rPr lang="en-US"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 - 2 </a:t>
            </a:r>
            <a:r>
              <a:rPr lang="ko-KR" altLang="en-US"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금융소비자의 취약성 </a:t>
            </a:r>
            <a:r>
              <a:rPr lang="en-US" altLang="ko-KR"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– </a:t>
            </a:r>
            <a:r>
              <a:rPr lang="ko-KR" altLang="en-US"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판단 오류 가능성이 높은 금융소비자</a:t>
            </a:r>
            <a:endParaRPr sz="950" dirty="0">
              <a:solidFill>
                <a:srgbClr val="2D6BFF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D8A422-DAA3-4431-8F86-09E30D57A634}"/>
              </a:ext>
            </a:extLst>
          </p:cNvPr>
          <p:cNvSpPr txBox="1"/>
          <p:nvPr/>
        </p:nvSpPr>
        <p:spPr>
          <a:xfrm>
            <a:off x="11606820" y="6476226"/>
            <a:ext cx="320040" cy="1600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lang="en-US" sz="800" b="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1</a:t>
            </a:r>
            <a:r>
              <a:rPr lang="en-US" altLang="ko-KR" sz="800" b="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0</a:t>
            </a:r>
            <a:endParaRPr sz="800" b="0" dirty="0">
              <a:solidFill>
                <a:srgbClr val="6A7B97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10053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317F118-E3B8-4F2B-B793-B94DE76FBA91}"/>
              </a:ext>
            </a:extLst>
          </p:cNvPr>
          <p:cNvSpPr/>
          <p:nvPr/>
        </p:nvSpPr>
        <p:spPr>
          <a:xfrm>
            <a:off x="0" y="3030"/>
            <a:ext cx="12192000" cy="6858000"/>
          </a:xfrm>
          <a:prstGeom prst="rect">
            <a:avLst/>
          </a:prstGeom>
          <a:gradFill flip="none" rotWithShape="1">
            <a:gsLst>
              <a:gs pos="39000">
                <a:srgbClr val="0E2746"/>
              </a:gs>
              <a:gs pos="0">
                <a:schemeClr val="tx1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89" name="Google Shape;968;p15">
            <a:extLst>
              <a:ext uri="{FF2B5EF4-FFF2-40B4-BE49-F238E27FC236}">
                <a16:creationId xmlns:a16="http://schemas.microsoft.com/office/drawing/2014/main" id="{D3619CF9-E0DE-475A-8499-FD0C3B2C4850}"/>
              </a:ext>
            </a:extLst>
          </p:cNvPr>
          <p:cNvSpPr>
            <a:spLocks noGrp="1"/>
          </p:cNvSpPr>
          <p:nvPr/>
        </p:nvSpPr>
        <p:spPr>
          <a:xfrm>
            <a:off x="530279" y="316279"/>
            <a:ext cx="3856993" cy="1807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ctr">
            <a:spAutoFit/>
          </a:bodyPr>
          <a:lstStyle/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1">
                <a:solidFill>
                  <a:srgbClr val="2F66E8"/>
                </a:solidFill>
              </a:defRPr>
            </a:pPr>
            <a:r>
              <a:rPr lang="en-US" altLang="ko-KR" sz="975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01 </a:t>
            </a:r>
            <a:r>
              <a:rPr lang="ko-KR" altLang="en-US" sz="975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프로젝트 개요 </a:t>
            </a:r>
            <a:r>
              <a:rPr lang="en-US" altLang="ko-KR" sz="975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– </a:t>
            </a:r>
            <a:r>
              <a:rPr lang="ko-KR" altLang="en-US" sz="975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현행 협업 체계와</a:t>
            </a:r>
            <a:r>
              <a:rPr lang="en-US" altLang="ko-KR" sz="975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 </a:t>
            </a:r>
            <a:r>
              <a:rPr lang="ko-KR" altLang="en-US" sz="975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협업의 필요성</a:t>
            </a:r>
          </a:p>
        </p:txBody>
      </p:sp>
      <p:sp>
        <p:nvSpPr>
          <p:cNvPr id="690" name="Google Shape;969;p15">
            <a:extLst>
              <a:ext uri="{FF2B5EF4-FFF2-40B4-BE49-F238E27FC236}">
                <a16:creationId xmlns:a16="http://schemas.microsoft.com/office/drawing/2014/main" id="{1BBDF033-1061-4F0E-B664-30A118C17D92}"/>
              </a:ext>
            </a:extLst>
          </p:cNvPr>
          <p:cNvSpPr>
            <a:spLocks noGrp="1"/>
          </p:cNvSpPr>
          <p:nvPr/>
        </p:nvSpPr>
        <p:spPr>
          <a:xfrm>
            <a:off x="530280" y="530280"/>
            <a:ext cx="10698120" cy="7222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2175" b="1">
                <a:solidFill>
                  <a:srgbClr val="FFFFFF"/>
                </a:solidFill>
              </a:defRPr>
            </a:pPr>
            <a:r>
              <a:rPr lang="en-US" altLang="ko-KR" sz="2200" b="0" u="none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(</a:t>
            </a:r>
            <a:r>
              <a:rPr lang="ko-KR" altLang="en-US" sz="2200" b="0" u="none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협업 진행</a:t>
            </a:r>
            <a:r>
              <a:rPr lang="en-US" altLang="ko-KR" sz="2200" b="0" u="none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) </a:t>
            </a:r>
            <a:r>
              <a:rPr lang="ko-KR" altLang="en-US" sz="2200" b="0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통신사</a:t>
            </a:r>
            <a:r>
              <a:rPr lang="en-US" altLang="ko-KR" sz="2200" b="0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, </a:t>
            </a:r>
            <a:r>
              <a:rPr lang="ko-KR" altLang="en-US" sz="2200" b="0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이동통신기기 제조사 등 온디바이스 업체 </a:t>
            </a:r>
            <a:r>
              <a:rPr lang="en-US" altLang="ko-KR" sz="2200" b="0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AI</a:t>
            </a:r>
            <a:r>
              <a:rPr lang="ko-KR" altLang="en-US" sz="2200" b="0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와 협업해야 함</a:t>
            </a:r>
            <a:endParaRPr lang="en-US" altLang="ko-KR" sz="2200" b="0" u="none" dirty="0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2175" b="1">
                <a:solidFill>
                  <a:srgbClr val="FFFFFF"/>
                </a:solidFill>
              </a:defRPr>
            </a:pPr>
            <a:r>
              <a:rPr lang="en-US" altLang="ko-KR" sz="2200" b="0" u="none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(</a:t>
            </a:r>
            <a:r>
              <a:rPr lang="ko-KR" altLang="en-US" sz="2200" b="0" u="none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정보 수집</a:t>
            </a:r>
            <a:r>
              <a:rPr lang="en-US" altLang="ko-KR" sz="2200" b="0" u="none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) </a:t>
            </a:r>
            <a:r>
              <a:rPr lang="ko-KR" altLang="en-US" sz="2200" b="0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보이스피싱 통화 내용 일부 요소와 메타데이터를 제공 받아 </a:t>
            </a:r>
            <a:r>
              <a:rPr lang="en-US" altLang="ko-KR" sz="2200" b="0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  <a:sym typeface="Wingdings" panose="05000000000000000000" pitchFamily="2" charset="2"/>
              </a:rPr>
              <a:t></a:t>
            </a:r>
            <a:r>
              <a:rPr lang="en-US" altLang="ko-KR" sz="2200" b="0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 AI </a:t>
            </a:r>
            <a:r>
              <a:rPr lang="ko-KR" altLang="en-US" sz="2200" b="0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워크스페이스 생성</a:t>
            </a:r>
            <a:endParaRPr sz="2200" b="0" u="none" dirty="0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691" name="Google Shape;970;p15">
            <a:extLst>
              <a:ext uri="{FF2B5EF4-FFF2-40B4-BE49-F238E27FC236}">
                <a16:creationId xmlns:a16="http://schemas.microsoft.com/office/drawing/2014/main" id="{B45E2BA0-2830-4C64-8021-A3181392E14C}"/>
              </a:ext>
            </a:extLst>
          </p:cNvPr>
          <p:cNvSpPr>
            <a:spLocks noGrp="1"/>
          </p:cNvSpPr>
          <p:nvPr/>
        </p:nvSpPr>
        <p:spPr>
          <a:xfrm>
            <a:off x="495312" y="1445289"/>
            <a:ext cx="10698120" cy="7898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BFD0E8"/>
                </a:solidFill>
              </a:defRPr>
            </a:pPr>
            <a:r>
              <a:rPr lang="en-US" altLang="ko-KR" sz="16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[</a:t>
            </a:r>
            <a:r>
              <a:rPr lang="ko-KR" altLang="en-US" sz="16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제한 사항</a:t>
            </a:r>
            <a:r>
              <a:rPr lang="en-US" altLang="ko-KR" sz="16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]</a:t>
            </a:r>
          </a:p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BFD0E8"/>
                </a:solidFill>
              </a:defRPr>
            </a:pPr>
            <a:r>
              <a:rPr lang="en-US" altLang="ko-KR" sz="16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[</a:t>
            </a:r>
            <a:r>
              <a:rPr lang="ko-KR" altLang="en-US" sz="16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적용 가능성</a:t>
            </a:r>
            <a:r>
              <a:rPr lang="en-US" altLang="ko-KR" sz="16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]</a:t>
            </a:r>
          </a:p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BFD0E8"/>
                </a:solidFill>
              </a:defRPr>
            </a:pPr>
            <a:r>
              <a:rPr lang="en-US" altLang="ko-KR" sz="16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[</a:t>
            </a:r>
            <a:r>
              <a:rPr lang="ko-KR" altLang="en-US" sz="16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협업 필요성</a:t>
            </a:r>
            <a:r>
              <a:rPr lang="en-US" altLang="ko-KR" sz="16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]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BDA50C-7D7A-4696-8B0C-C2B606EF6BF9}"/>
              </a:ext>
            </a:extLst>
          </p:cNvPr>
          <p:cNvSpPr txBox="1"/>
          <p:nvPr/>
        </p:nvSpPr>
        <p:spPr>
          <a:xfrm>
            <a:off x="11606820" y="6476226"/>
            <a:ext cx="320040" cy="1600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lang="en-US" sz="800" b="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16</a:t>
            </a:r>
            <a:endParaRPr sz="800" b="0" dirty="0">
              <a:solidFill>
                <a:srgbClr val="6A7B97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98" name="Google Shape;970;p15">
            <a:extLst>
              <a:ext uri="{FF2B5EF4-FFF2-40B4-BE49-F238E27FC236}">
                <a16:creationId xmlns:a16="http://schemas.microsoft.com/office/drawing/2014/main" id="{AEB00382-86A9-441E-9BDC-1EFF95461F3B}"/>
              </a:ext>
            </a:extLst>
          </p:cNvPr>
          <p:cNvSpPr>
            <a:spLocks noGrp="1"/>
          </p:cNvSpPr>
          <p:nvPr/>
        </p:nvSpPr>
        <p:spPr>
          <a:xfrm>
            <a:off x="1824492" y="1445289"/>
            <a:ext cx="9782328" cy="7898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t">
            <a:spAutoFit/>
          </a:bodyPr>
          <a:lstStyle/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BFD0E8"/>
                </a:solidFill>
              </a:defRPr>
            </a:pPr>
            <a:r>
              <a:rPr lang="ko-KR" altLang="en-US" sz="16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개인정보 법률적 한계로 </a:t>
            </a:r>
            <a:r>
              <a:rPr lang="ko-KR" altLang="en-US" sz="1600" b="0" u="none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통화 원문을 받을 수 없는 구조</a:t>
            </a:r>
            <a:endParaRPr lang="en-US" altLang="ko-KR" sz="1600" b="0" u="none" dirty="0">
              <a:solidFill>
                <a:srgbClr val="FFC000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BFD0E8"/>
                </a:solidFill>
              </a:defRPr>
            </a:pPr>
            <a:r>
              <a:rPr lang="ko-KR" altLang="en-US" sz="16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온디바이스 업체</a:t>
            </a:r>
            <a:r>
              <a:rPr lang="en-US" altLang="ko-KR" sz="16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(</a:t>
            </a:r>
            <a:r>
              <a:rPr lang="ko-KR" altLang="en-US" sz="16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통신사</a:t>
            </a:r>
            <a:r>
              <a:rPr lang="en-US" altLang="ko-KR" sz="16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, </a:t>
            </a:r>
            <a:r>
              <a:rPr lang="ko-KR" altLang="en-US" sz="16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제조사</a:t>
            </a:r>
            <a:r>
              <a:rPr lang="en-US" altLang="ko-KR" sz="16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)</a:t>
            </a:r>
            <a:r>
              <a:rPr lang="ko-KR" altLang="en-US" sz="16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의 </a:t>
            </a:r>
            <a:r>
              <a:rPr lang="en-US" altLang="ko-KR" sz="16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AI</a:t>
            </a:r>
            <a:r>
              <a:rPr lang="ko-KR" altLang="en-US" sz="16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를 통해</a:t>
            </a:r>
            <a:r>
              <a:rPr lang="ko-KR" altLang="en-US" sz="1600" b="0" u="none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 일부 데이터를 가공 및 공유하는 협업</a:t>
            </a:r>
            <a:r>
              <a:rPr lang="en-US" altLang="ko-KR" sz="1600" b="0" u="none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(</a:t>
            </a:r>
            <a:r>
              <a:rPr lang="ko-KR" altLang="en-US" sz="1600" b="0" u="none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통신사</a:t>
            </a:r>
            <a:r>
              <a:rPr lang="en-US" altLang="ko-KR" sz="1600" b="0" u="none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,</a:t>
            </a:r>
            <a:r>
              <a:rPr lang="ko-KR" altLang="en-US" sz="1600" b="0" u="none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경찰</a:t>
            </a:r>
            <a:r>
              <a:rPr lang="en-US" altLang="ko-KR" sz="1600" b="0" u="none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,</a:t>
            </a:r>
            <a:r>
              <a:rPr lang="ko-KR" altLang="en-US" sz="1600" b="0" u="none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은행</a:t>
            </a:r>
            <a:r>
              <a:rPr lang="en-US" altLang="ko-KR" sz="1600" b="0" u="none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)</a:t>
            </a:r>
            <a:r>
              <a:rPr lang="ko-KR" altLang="en-US" sz="1600" b="0" u="none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 체계 </a:t>
            </a:r>
            <a:r>
              <a:rPr lang="ko-KR" altLang="en-US" sz="1600" b="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갖춰진 상황</a:t>
            </a:r>
            <a:endParaRPr lang="en-US" altLang="ko-KR" sz="1600" b="0" u="none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BFD0E8"/>
                </a:solidFill>
              </a:defRPr>
            </a:pPr>
            <a:r>
              <a:rPr lang="ko-KR" altLang="en-US" sz="16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즉</a:t>
            </a:r>
            <a:r>
              <a:rPr lang="en-US" altLang="ko-KR" sz="16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, </a:t>
            </a:r>
            <a:r>
              <a:rPr lang="ko-KR" altLang="en-US" sz="16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보이스피싱 피해 대응을 위해 온디바이스 업체와의 협업 진행 시 </a:t>
            </a:r>
            <a:r>
              <a:rPr lang="ko-KR" altLang="en-US" sz="1600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실시간 분석 및 </a:t>
            </a:r>
            <a:r>
              <a:rPr lang="en-US" altLang="ko-KR" sz="1600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CASE </a:t>
            </a:r>
            <a:r>
              <a:rPr lang="ko-KR" altLang="en-US" sz="1600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생성 활성화 가능</a:t>
            </a:r>
            <a:endParaRPr lang="en-US" altLang="ko-KR" sz="1600" dirty="0">
              <a:solidFill>
                <a:srgbClr val="FFC000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BD1F892-E8A6-4FBB-BAB7-E70A90C30FC4}"/>
              </a:ext>
            </a:extLst>
          </p:cNvPr>
          <p:cNvGrpSpPr/>
          <p:nvPr/>
        </p:nvGrpSpPr>
        <p:grpSpPr>
          <a:xfrm>
            <a:off x="1039794" y="5173465"/>
            <a:ext cx="9578061" cy="1302761"/>
            <a:chOff x="1039794" y="2286695"/>
            <a:chExt cx="9578061" cy="1302761"/>
          </a:xfrm>
        </p:grpSpPr>
        <p:sp>
          <p:nvSpPr>
            <p:cNvPr id="3" name="Arrow: Bent 2">
              <a:extLst>
                <a:ext uri="{FF2B5EF4-FFF2-40B4-BE49-F238E27FC236}">
                  <a16:creationId xmlns:a16="http://schemas.microsoft.com/office/drawing/2014/main" id="{9F77CE65-7874-42D8-A744-C01D86F8A2ED}"/>
                </a:ext>
              </a:extLst>
            </p:cNvPr>
            <p:cNvSpPr/>
            <p:nvPr/>
          </p:nvSpPr>
          <p:spPr>
            <a:xfrm flipV="1">
              <a:off x="1039794" y="2286695"/>
              <a:ext cx="831713" cy="1001007"/>
            </a:xfrm>
            <a:prstGeom prst="bentArrow">
              <a:avLst>
                <a:gd name="adj1" fmla="val 25000"/>
                <a:gd name="adj2" fmla="val 25000"/>
                <a:gd name="adj3" fmla="val 35112"/>
                <a:gd name="adj4" fmla="val 43750"/>
              </a:avLst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A74EDF1-DDD5-4274-91B0-669CF723194D}"/>
                </a:ext>
              </a:extLst>
            </p:cNvPr>
            <p:cNvSpPr/>
            <p:nvPr/>
          </p:nvSpPr>
          <p:spPr>
            <a:xfrm>
              <a:off x="2738305" y="2732482"/>
              <a:ext cx="7879550" cy="67158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     보이스피싱 발화 맥락화 </a:t>
              </a:r>
              <a:r>
                <a:rPr lang="en-US" altLang="ko-KR" dirty="0"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  <a:sym typeface="Wingdings" panose="05000000000000000000" pitchFamily="2" charset="2"/>
                </a:rPr>
                <a:t> </a:t>
              </a:r>
              <a:r>
                <a:rPr lang="ko-KR" altLang="en-US" dirty="0"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  <a:sym typeface="Wingdings" panose="05000000000000000000" pitchFamily="2" charset="2"/>
                </a:rPr>
                <a:t>빠른</a:t>
              </a:r>
              <a:r>
                <a:rPr lang="en-US" altLang="ko-KR" dirty="0"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  <a:sym typeface="Wingdings" panose="05000000000000000000" pitchFamily="2" charset="2"/>
                </a:rPr>
                <a:t> </a:t>
              </a:r>
              <a:r>
                <a:rPr lang="ko-KR" altLang="en-US" dirty="0"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  <a:sym typeface="Wingdings" panose="05000000000000000000" pitchFamily="2" charset="2"/>
                </a:rPr>
                <a:t>고객 상황 확인 </a:t>
              </a:r>
              <a:r>
                <a:rPr lang="en-US" altLang="ko-KR" dirty="0"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  <a:sym typeface="Wingdings" panose="05000000000000000000" pitchFamily="2" charset="2"/>
                </a:rPr>
                <a:t> </a:t>
              </a:r>
              <a:r>
                <a:rPr lang="ko-KR" altLang="en-US" dirty="0"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  <a:sym typeface="Wingdings" panose="05000000000000000000" pitchFamily="2" charset="2"/>
                </a:rPr>
                <a:t>설득력 증가 </a:t>
              </a:r>
              <a:r>
                <a:rPr lang="en-US" altLang="ko-KR" dirty="0"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  <a:sym typeface="Wingdings" panose="05000000000000000000" pitchFamily="2" charset="2"/>
                </a:rPr>
                <a:t> </a:t>
              </a:r>
              <a:r>
                <a:rPr lang="ko-KR" altLang="en-US" dirty="0">
                  <a:solidFill>
                    <a:srgbClr val="E01F16"/>
                  </a:solidFill>
                  <a:latin typeface="페이퍼로지 5 Medium" pitchFamily="2" charset="-127"/>
                  <a:ea typeface="페이퍼로지 5 Medium" pitchFamily="2" charset="-127"/>
                  <a:sym typeface="Wingdings" panose="05000000000000000000" pitchFamily="2" charset="2"/>
                </a:rPr>
                <a:t>송금 차단 동의</a:t>
              </a:r>
              <a:endParaRPr lang="ko-KR" altLang="en-US" dirty="0">
                <a:solidFill>
                  <a:srgbClr val="E01F16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AAB748B6-BBC9-4001-9786-7840CD6C23B9}"/>
                </a:ext>
              </a:extLst>
            </p:cNvPr>
            <p:cNvGrpSpPr/>
            <p:nvPr/>
          </p:nvGrpSpPr>
          <p:grpSpPr>
            <a:xfrm>
              <a:off x="2036719" y="2546529"/>
              <a:ext cx="1031975" cy="1042927"/>
              <a:chOff x="4735477" y="2308762"/>
              <a:chExt cx="2865190" cy="2895600"/>
            </a:xfrm>
          </p:grpSpPr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9136C000-AC87-415B-A044-EDBFB72EDD1E}"/>
                  </a:ext>
                </a:extLst>
              </p:cNvPr>
              <p:cNvSpPr/>
              <p:nvPr/>
            </p:nvSpPr>
            <p:spPr>
              <a:xfrm>
                <a:off x="4735478" y="2308762"/>
                <a:ext cx="2865188" cy="286518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20" name="Picture 119">
                <a:extLst>
                  <a:ext uri="{FF2B5EF4-FFF2-40B4-BE49-F238E27FC236}">
                    <a16:creationId xmlns:a16="http://schemas.microsoft.com/office/drawing/2014/main" id="{FC82442F-384A-435E-B3C5-C2C491164E9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2564" r="-12389"/>
              <a:stretch/>
            </p:blipFill>
            <p:spPr>
              <a:xfrm>
                <a:off x="4735477" y="2311121"/>
                <a:ext cx="2865190" cy="2893241"/>
              </a:xfrm>
              <a:custGeom>
                <a:avLst/>
                <a:gdLst>
                  <a:gd name="connsiteX0" fmla="*/ 747486 w 1494972"/>
                  <a:gd name="connsiteY0" fmla="*/ 0 h 1494972"/>
                  <a:gd name="connsiteX1" fmla="*/ 1494972 w 1494972"/>
                  <a:gd name="connsiteY1" fmla="*/ 747486 h 1494972"/>
                  <a:gd name="connsiteX2" fmla="*/ 747486 w 1494972"/>
                  <a:gd name="connsiteY2" fmla="*/ 1494972 h 1494972"/>
                  <a:gd name="connsiteX3" fmla="*/ 0 w 1494972"/>
                  <a:gd name="connsiteY3" fmla="*/ 747486 h 1494972"/>
                  <a:gd name="connsiteX4" fmla="*/ 747486 w 1494972"/>
                  <a:gd name="connsiteY4" fmla="*/ 0 h 1494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94972" h="1494972">
                    <a:moveTo>
                      <a:pt x="747486" y="0"/>
                    </a:moveTo>
                    <a:cubicBezTo>
                      <a:pt x="1160311" y="0"/>
                      <a:pt x="1494972" y="334661"/>
                      <a:pt x="1494972" y="747486"/>
                    </a:cubicBezTo>
                    <a:cubicBezTo>
                      <a:pt x="1494972" y="1160311"/>
                      <a:pt x="1160311" y="1494972"/>
                      <a:pt x="747486" y="1494972"/>
                    </a:cubicBezTo>
                    <a:cubicBezTo>
                      <a:pt x="334661" y="1494972"/>
                      <a:pt x="0" y="1160311"/>
                      <a:pt x="0" y="747486"/>
                    </a:cubicBezTo>
                    <a:cubicBezTo>
                      <a:pt x="0" y="334661"/>
                      <a:pt x="334661" y="0"/>
                      <a:pt x="747486" y="0"/>
                    </a:cubicBezTo>
                    <a:close/>
                  </a:path>
                </a:pathLst>
              </a:custGeom>
              <a:ln w="38100">
                <a:solidFill>
                  <a:srgbClr val="FFC000"/>
                </a:solidFill>
              </a:ln>
            </p:spPr>
          </p:pic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6A62B515-44F8-46CF-8109-7D23B1AE250F}"/>
                  </a:ext>
                </a:extLst>
              </p:cNvPr>
              <p:cNvSpPr/>
              <p:nvPr/>
            </p:nvSpPr>
            <p:spPr>
              <a:xfrm>
                <a:off x="5348752" y="4690031"/>
                <a:ext cx="1641356" cy="1636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A0B626D-C1A3-49A8-A224-63565C2FC0A6}"/>
              </a:ext>
            </a:extLst>
          </p:cNvPr>
          <p:cNvGrpSpPr/>
          <p:nvPr/>
        </p:nvGrpSpPr>
        <p:grpSpPr>
          <a:xfrm>
            <a:off x="620693" y="2589943"/>
            <a:ext cx="10817263" cy="526878"/>
            <a:chOff x="594360" y="7787064"/>
            <a:chExt cx="10378440" cy="658368"/>
          </a:xfrm>
        </p:grpSpPr>
        <p:sp>
          <p:nvSpPr>
            <p:cNvPr id="64" name="Rounded Rectangle 37">
              <a:extLst>
                <a:ext uri="{FF2B5EF4-FFF2-40B4-BE49-F238E27FC236}">
                  <a16:creationId xmlns:a16="http://schemas.microsoft.com/office/drawing/2014/main" id="{4FDD4EAA-517C-4642-8E5D-132303E1931B}"/>
                </a:ext>
              </a:extLst>
            </p:cNvPr>
            <p:cNvSpPr/>
            <p:nvPr/>
          </p:nvSpPr>
          <p:spPr>
            <a:xfrm>
              <a:off x="594360" y="7787064"/>
              <a:ext cx="10378440" cy="65836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3DE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BEC536B3-483B-4CF9-8A62-74EA42A8DBAE}"/>
                </a:ext>
              </a:extLst>
            </p:cNvPr>
            <p:cNvGrpSpPr/>
            <p:nvPr/>
          </p:nvGrpSpPr>
          <p:grpSpPr>
            <a:xfrm>
              <a:off x="860776" y="7907949"/>
              <a:ext cx="9846998" cy="392898"/>
              <a:chOff x="805912" y="7835800"/>
              <a:chExt cx="9846998" cy="392898"/>
            </a:xfrm>
          </p:grpSpPr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593E158-B706-4664-9FEA-6D2D9DBF5D6D}"/>
                  </a:ext>
                </a:extLst>
              </p:cNvPr>
              <p:cNvSpPr txBox="1"/>
              <p:nvPr/>
            </p:nvSpPr>
            <p:spPr>
              <a:xfrm>
                <a:off x="805912" y="7844111"/>
                <a:ext cx="881259" cy="38458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lang="en-US" altLang="ko-KR" sz="1000" b="1" dirty="0">
                    <a:solidFill>
                      <a:srgbClr val="14345B"/>
                    </a:solidFill>
                    <a:latin typeface="페이퍼로지 7 Bold" pitchFamily="2" charset="-127"/>
                    <a:ea typeface="페이퍼로지 7 Bold" pitchFamily="2" charset="-127"/>
                  </a:rPr>
                  <a:t>2025</a:t>
                </a:r>
                <a:r>
                  <a:rPr lang="ko-KR" altLang="en-US" sz="1000" b="1" dirty="0">
                    <a:solidFill>
                      <a:srgbClr val="14345B"/>
                    </a:solidFill>
                    <a:latin typeface="페이퍼로지 7 Bold" pitchFamily="2" charset="-127"/>
                    <a:ea typeface="페이퍼로지 7 Bold" pitchFamily="2" charset="-127"/>
                  </a:rPr>
                  <a:t>년 출범 후 </a:t>
                </a:r>
                <a:r>
                  <a:rPr lang="en-US" altLang="ko-KR" sz="1000" b="1" dirty="0">
                    <a:solidFill>
                      <a:srgbClr val="14345B"/>
                    </a:solidFill>
                    <a:latin typeface="페이퍼로지 7 Bold" pitchFamily="2" charset="-127"/>
                    <a:ea typeface="페이퍼로지 7 Bold" pitchFamily="2" charset="-127"/>
                  </a:rPr>
                  <a:t>|</a:t>
                </a:r>
                <a:endParaRPr lang="en-US" sz="1000" b="1" dirty="0">
                  <a:solidFill>
                    <a:srgbClr val="14345B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  <a:p>
                <a:pPr algn="l"/>
                <a:r>
                  <a:rPr sz="1000" b="1" dirty="0">
                    <a:solidFill>
                      <a:srgbClr val="14345B"/>
                    </a:solidFill>
                    <a:latin typeface="페이퍼로지 7 Bold" pitchFamily="2" charset="-127"/>
                    <a:ea typeface="페이퍼로지 7 Bold" pitchFamily="2" charset="-127"/>
                  </a:rPr>
                  <a:t>2026년 </a:t>
                </a:r>
                <a:r>
                  <a:rPr lang="ko-KR" altLang="en-US" sz="1000" b="1" dirty="0">
                    <a:solidFill>
                      <a:srgbClr val="14345B"/>
                    </a:solidFill>
                    <a:latin typeface="페이퍼로지 7 Bold" pitchFamily="2" charset="-127"/>
                    <a:ea typeface="페이퍼로지 7 Bold" pitchFamily="2" charset="-127"/>
                  </a:rPr>
                  <a:t>확대 중</a:t>
                </a:r>
                <a:r>
                  <a:rPr lang="en-US" sz="1000" b="1" dirty="0">
                    <a:solidFill>
                      <a:srgbClr val="14345B"/>
                    </a:solidFill>
                    <a:latin typeface="페이퍼로지 7 Bold" pitchFamily="2" charset="-127"/>
                    <a:ea typeface="페이퍼로지 7 Bold" pitchFamily="2" charset="-127"/>
                  </a:rPr>
                  <a:t> </a:t>
                </a:r>
                <a:r>
                  <a:rPr lang="en-US" altLang="ko-KR" sz="1000" b="1" dirty="0">
                    <a:solidFill>
                      <a:srgbClr val="14345B"/>
                    </a:solidFill>
                    <a:latin typeface="페이퍼로지 7 Bold" pitchFamily="2" charset="-127"/>
                    <a:ea typeface="페이퍼로지 7 Bold" pitchFamily="2" charset="-127"/>
                  </a:rPr>
                  <a:t>|</a:t>
                </a:r>
                <a:endParaRPr sz="1000" b="1" dirty="0">
                  <a:solidFill>
                    <a:srgbClr val="14345B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5B49A82-5CDB-4E1B-A8D8-8DE727A566A7}"/>
                  </a:ext>
                </a:extLst>
              </p:cNvPr>
              <p:cNvSpPr txBox="1"/>
              <p:nvPr/>
            </p:nvSpPr>
            <p:spPr>
              <a:xfrm>
                <a:off x="2063665" y="7936378"/>
                <a:ext cx="5737148" cy="21544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sz="1400" b="1" dirty="0" err="1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금융·통신·수사</a:t>
                </a:r>
                <a:r>
                  <a:rPr sz="14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 </a:t>
                </a:r>
                <a:r>
                  <a:rPr sz="1400" b="1" dirty="0" err="1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정보</a:t>
                </a:r>
                <a:r>
                  <a:rPr sz="14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 </a:t>
                </a:r>
                <a:r>
                  <a:rPr sz="1400" b="1" dirty="0" err="1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공유</a:t>
                </a:r>
                <a:r>
                  <a:rPr sz="14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 </a:t>
                </a:r>
                <a:r>
                  <a:rPr sz="1400" b="1" dirty="0" err="1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확대</a:t>
                </a:r>
                <a:r>
                  <a:rPr sz="14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  +  </a:t>
                </a:r>
                <a:r>
                  <a:rPr sz="1400" b="1" dirty="0" err="1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일부</a:t>
                </a:r>
                <a:r>
                  <a:rPr sz="14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 </a:t>
                </a:r>
                <a:r>
                  <a:rPr sz="1400" b="1" dirty="0" err="1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금융회사에서</a:t>
                </a:r>
                <a:r>
                  <a:rPr sz="14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 ASAP </a:t>
                </a:r>
                <a:r>
                  <a:rPr sz="1400" b="1" dirty="0" err="1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정보를</a:t>
                </a:r>
                <a:r>
                  <a:rPr sz="14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 </a:t>
                </a:r>
                <a:r>
                  <a:rPr sz="1400" b="1" dirty="0" err="1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FDS에</a:t>
                </a:r>
                <a:r>
                  <a:rPr sz="1400" b="1" dirty="0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 </a:t>
                </a:r>
                <a:r>
                  <a:rPr sz="1400" b="1" dirty="0" err="1">
                    <a:solidFill>
                      <a:srgbClr val="1D324E"/>
                    </a:solidFill>
                    <a:latin typeface="페이퍼로지 7 Bold" pitchFamily="2" charset="-127"/>
                    <a:ea typeface="페이퍼로지 7 Bold" pitchFamily="2" charset="-127"/>
                  </a:rPr>
                  <a:t>접목</a:t>
                </a:r>
                <a:endParaRPr sz="1400" b="1" dirty="0">
                  <a:solidFill>
                    <a:srgbClr val="1D324E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68" name="Rounded Rectangle 40">
                <a:extLst>
                  <a:ext uri="{FF2B5EF4-FFF2-40B4-BE49-F238E27FC236}">
                    <a16:creationId xmlns:a16="http://schemas.microsoft.com/office/drawing/2014/main" id="{2294A958-BF14-4F32-998F-2D273FDE53AC}"/>
                  </a:ext>
                </a:extLst>
              </p:cNvPr>
              <p:cNvSpPr/>
              <p:nvPr/>
            </p:nvSpPr>
            <p:spPr>
              <a:xfrm>
                <a:off x="7858527" y="7835800"/>
                <a:ext cx="2794383" cy="386837"/>
              </a:xfrm>
              <a:prstGeom prst="roundRect">
                <a:avLst/>
              </a:prstGeom>
              <a:solidFill>
                <a:srgbClr val="EBF3FF"/>
              </a:solidFill>
              <a:ln w="12700">
                <a:solidFill>
                  <a:srgbClr val="2F69F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dirty="0"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7145009-A7DD-47B1-A2EF-84A8F2CD00FA}"/>
                  </a:ext>
                </a:extLst>
              </p:cNvPr>
              <p:cNvSpPr txBox="1"/>
              <p:nvPr/>
            </p:nvSpPr>
            <p:spPr>
              <a:xfrm>
                <a:off x="8152424" y="7944072"/>
                <a:ext cx="2273532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ko-KR" altLang="en-US" sz="1200" b="1" dirty="0">
                    <a:solidFill>
                      <a:srgbClr val="0E2746"/>
                    </a:solidFill>
                    <a:latin typeface="페이퍼로지 7 Bold" pitchFamily="2" charset="-127"/>
                    <a:ea typeface="페이퍼로지 7 Bold" pitchFamily="2" charset="-127"/>
                  </a:rPr>
                  <a:t>앞으로도 적극 대응 위해 노력한다고 함</a:t>
                </a:r>
                <a:endParaRPr sz="12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87B673A-5EFA-4DB0-950C-C51B86E8CBB9}"/>
              </a:ext>
            </a:extLst>
          </p:cNvPr>
          <p:cNvGrpSpPr/>
          <p:nvPr/>
        </p:nvGrpSpPr>
        <p:grpSpPr>
          <a:xfrm>
            <a:off x="620694" y="3358662"/>
            <a:ext cx="10817263" cy="1814803"/>
            <a:chOff x="620694" y="3358662"/>
            <a:chExt cx="10817263" cy="1814803"/>
          </a:xfrm>
        </p:grpSpPr>
        <p:sp>
          <p:nvSpPr>
            <p:cNvPr id="75" name="Rounded Rectangle 8">
              <a:extLst>
                <a:ext uri="{FF2B5EF4-FFF2-40B4-BE49-F238E27FC236}">
                  <a16:creationId xmlns:a16="http://schemas.microsoft.com/office/drawing/2014/main" id="{FEFC7950-9E32-48E8-B8A8-9CE6A849C346}"/>
                </a:ext>
              </a:extLst>
            </p:cNvPr>
            <p:cNvSpPr/>
            <p:nvPr/>
          </p:nvSpPr>
          <p:spPr>
            <a:xfrm>
              <a:off x="620694" y="3358662"/>
              <a:ext cx="3063240" cy="1814803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3DE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76" name="Rounded Rectangle 9">
              <a:extLst>
                <a:ext uri="{FF2B5EF4-FFF2-40B4-BE49-F238E27FC236}">
                  <a16:creationId xmlns:a16="http://schemas.microsoft.com/office/drawing/2014/main" id="{3809F1BA-0CB3-4BFD-9BCF-B66C2DA39722}"/>
                </a:ext>
              </a:extLst>
            </p:cNvPr>
            <p:cNvSpPr/>
            <p:nvPr/>
          </p:nvSpPr>
          <p:spPr>
            <a:xfrm>
              <a:off x="1241223" y="3551468"/>
              <a:ext cx="758952" cy="234168"/>
            </a:xfrm>
            <a:prstGeom prst="roundRect">
              <a:avLst/>
            </a:prstGeom>
            <a:solidFill>
              <a:srgbClr val="2F69F5"/>
            </a:solidFill>
            <a:ln w="12700">
              <a:solidFill>
                <a:srgbClr val="2F69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BEBBDEE-9BD8-4AAA-9DAB-30B324E9C628}"/>
                </a:ext>
              </a:extLst>
            </p:cNvPr>
            <p:cNvSpPr txBox="1"/>
            <p:nvPr/>
          </p:nvSpPr>
          <p:spPr>
            <a:xfrm>
              <a:off x="1402690" y="3617443"/>
              <a:ext cx="436017" cy="10221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83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DETECT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EB2D04E-4345-43C9-9349-17D47839F865}"/>
                </a:ext>
              </a:extLst>
            </p:cNvPr>
            <p:cNvSpPr txBox="1"/>
            <p:nvPr/>
          </p:nvSpPr>
          <p:spPr>
            <a:xfrm>
              <a:off x="2204196" y="3563871"/>
              <a:ext cx="859210" cy="20936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700" b="1" dirty="0" err="1">
                  <a:solidFill>
                    <a:srgbClr val="2F69F5"/>
                  </a:solidFill>
                  <a:latin typeface="페이퍼로지 7 Bold" pitchFamily="2" charset="-127"/>
                  <a:ea typeface="페이퍼로지 7 Bold" pitchFamily="2" charset="-127"/>
                </a:rPr>
                <a:t>통신사</a:t>
              </a:r>
              <a:r>
                <a:rPr sz="1700" b="1" dirty="0">
                  <a:solidFill>
                    <a:srgbClr val="2F69F5"/>
                  </a:solidFill>
                  <a:latin typeface="페이퍼로지 7 Bold" pitchFamily="2" charset="-127"/>
                  <a:ea typeface="페이퍼로지 7 Bold" pitchFamily="2" charset="-127"/>
                </a:rPr>
                <a:t> AI</a:t>
              </a:r>
            </a:p>
          </p:txBody>
        </p:sp>
        <p:sp>
          <p:nvSpPr>
            <p:cNvPr id="79" name="Rounded Rectangle 18">
              <a:extLst>
                <a:ext uri="{FF2B5EF4-FFF2-40B4-BE49-F238E27FC236}">
                  <a16:creationId xmlns:a16="http://schemas.microsoft.com/office/drawing/2014/main" id="{43AD4646-6F7E-46E8-920E-DFEC0AFDA191}"/>
                </a:ext>
              </a:extLst>
            </p:cNvPr>
            <p:cNvSpPr/>
            <p:nvPr/>
          </p:nvSpPr>
          <p:spPr>
            <a:xfrm>
              <a:off x="4497706" y="3358662"/>
              <a:ext cx="3063240" cy="1814803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3DE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80" name="Rounded Rectangle 19">
              <a:extLst>
                <a:ext uri="{FF2B5EF4-FFF2-40B4-BE49-F238E27FC236}">
                  <a16:creationId xmlns:a16="http://schemas.microsoft.com/office/drawing/2014/main" id="{76422956-C3BF-4BBD-8B81-0BB4149C5371}"/>
                </a:ext>
              </a:extLst>
            </p:cNvPr>
            <p:cNvSpPr/>
            <p:nvPr/>
          </p:nvSpPr>
          <p:spPr>
            <a:xfrm>
              <a:off x="5211705" y="3551468"/>
              <a:ext cx="758952" cy="234168"/>
            </a:xfrm>
            <a:prstGeom prst="roundRect">
              <a:avLst/>
            </a:prstGeom>
            <a:solidFill>
              <a:srgbClr val="7052BE"/>
            </a:solidFill>
            <a:ln w="12700">
              <a:solidFill>
                <a:srgbClr val="7052B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E4EC877-0C42-432A-A3F9-64A15BE12969}"/>
                </a:ext>
              </a:extLst>
            </p:cNvPr>
            <p:cNvSpPr txBox="1"/>
            <p:nvPr/>
          </p:nvSpPr>
          <p:spPr>
            <a:xfrm>
              <a:off x="5398820" y="3617443"/>
              <a:ext cx="384721" cy="10221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830" b="1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SHARE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14F45BF-6C26-496F-9DBB-479C4165B5C8}"/>
                </a:ext>
              </a:extLst>
            </p:cNvPr>
            <p:cNvSpPr txBox="1"/>
            <p:nvPr/>
          </p:nvSpPr>
          <p:spPr>
            <a:xfrm>
              <a:off x="6174678" y="3563871"/>
              <a:ext cx="629981" cy="20936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700" b="1">
                  <a:solidFill>
                    <a:srgbClr val="7052BE"/>
                  </a:solidFill>
                  <a:latin typeface="페이퍼로지 7 Bold" pitchFamily="2" charset="-127"/>
                  <a:ea typeface="페이퍼로지 7 Bold" pitchFamily="2" charset="-127"/>
                </a:rPr>
                <a:t>ASAP</a:t>
              </a:r>
            </a:p>
          </p:txBody>
        </p:sp>
        <p:sp>
          <p:nvSpPr>
            <p:cNvPr id="83" name="Rounded Rectangle 28">
              <a:extLst>
                <a:ext uri="{FF2B5EF4-FFF2-40B4-BE49-F238E27FC236}">
                  <a16:creationId xmlns:a16="http://schemas.microsoft.com/office/drawing/2014/main" id="{372DE314-9016-4886-981B-AC9F009612AF}"/>
                </a:ext>
              </a:extLst>
            </p:cNvPr>
            <p:cNvSpPr/>
            <p:nvPr/>
          </p:nvSpPr>
          <p:spPr>
            <a:xfrm>
              <a:off x="8374717" y="3358662"/>
              <a:ext cx="3063240" cy="1814803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3DE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84" name="Rounded Rectangle 29">
              <a:extLst>
                <a:ext uri="{FF2B5EF4-FFF2-40B4-BE49-F238E27FC236}">
                  <a16:creationId xmlns:a16="http://schemas.microsoft.com/office/drawing/2014/main" id="{5B61F53E-411A-4EF7-B727-9C99B16C6BEF}"/>
                </a:ext>
              </a:extLst>
            </p:cNvPr>
            <p:cNvSpPr/>
            <p:nvPr/>
          </p:nvSpPr>
          <p:spPr>
            <a:xfrm>
              <a:off x="9194820" y="3551468"/>
              <a:ext cx="758952" cy="234168"/>
            </a:xfrm>
            <a:prstGeom prst="roundRect">
              <a:avLst/>
            </a:prstGeom>
            <a:solidFill>
              <a:srgbClr val="EF4646"/>
            </a:solidFill>
            <a:ln w="12700">
              <a:solidFill>
                <a:srgbClr val="EF46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F02F2EE-C1A8-4A9E-88A3-B99ED5F241CC}"/>
                </a:ext>
              </a:extLst>
            </p:cNvPr>
            <p:cNvSpPr txBox="1"/>
            <p:nvPr/>
          </p:nvSpPr>
          <p:spPr>
            <a:xfrm>
              <a:off x="9312205" y="3617443"/>
              <a:ext cx="524181" cy="10221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83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PROTECT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FF69885-A419-4B1D-98E5-9F2F13ACECCE}"/>
                </a:ext>
              </a:extLst>
            </p:cNvPr>
            <p:cNvSpPr txBox="1"/>
            <p:nvPr/>
          </p:nvSpPr>
          <p:spPr>
            <a:xfrm>
              <a:off x="10157793" y="3563871"/>
              <a:ext cx="460062" cy="20936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700" b="1" dirty="0">
                  <a:solidFill>
                    <a:srgbClr val="EF4646"/>
                  </a:solidFill>
                  <a:latin typeface="페이퍼로지 7 Bold" pitchFamily="2" charset="-127"/>
                  <a:ea typeface="페이퍼로지 7 Bold" pitchFamily="2" charset="-127"/>
                </a:rPr>
                <a:t>FDS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10A4875-B900-4C34-8A0A-08F77D32897A}"/>
                </a:ext>
              </a:extLst>
            </p:cNvPr>
            <p:cNvSpPr txBox="1"/>
            <p:nvPr/>
          </p:nvSpPr>
          <p:spPr>
            <a:xfrm>
              <a:off x="1307535" y="4874454"/>
              <a:ext cx="1689565" cy="12069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80" b="1" dirty="0" err="1">
                  <a:solidFill>
                    <a:srgbClr val="2F69F5"/>
                  </a:solidFill>
                  <a:latin typeface="페이퍼로지 7 Bold" pitchFamily="2" charset="-127"/>
                  <a:ea typeface="페이퍼로지 7 Bold" pitchFamily="2" charset="-127"/>
                </a:rPr>
                <a:t>실시간</a:t>
              </a:r>
              <a:r>
                <a:rPr sz="980" b="1" dirty="0">
                  <a:solidFill>
                    <a:srgbClr val="2F69F5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980" b="1" dirty="0" err="1">
                  <a:solidFill>
                    <a:srgbClr val="2F69F5"/>
                  </a:solidFill>
                  <a:latin typeface="페이퍼로지 7 Bold" pitchFamily="2" charset="-127"/>
                  <a:ea typeface="페이퍼로지 7 Bold" pitchFamily="2" charset="-127"/>
                </a:rPr>
                <a:t>탐지</a:t>
              </a:r>
              <a:r>
                <a:rPr lang="en-US" sz="980" b="1" dirty="0">
                  <a:solidFill>
                    <a:srgbClr val="2F69F5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lang="ko-KR" altLang="en-US" sz="980" b="1" dirty="0">
                  <a:solidFill>
                    <a:srgbClr val="2F69F5"/>
                  </a:solidFill>
                  <a:latin typeface="페이퍼로지 7 Bold" pitchFamily="2" charset="-127"/>
                  <a:ea typeface="페이퍼로지 7 Bold" pitchFamily="2" charset="-127"/>
                </a:rPr>
                <a:t>→ </a:t>
              </a:r>
              <a:r>
                <a:rPr lang="en-US" altLang="ko-KR" sz="980" b="1" dirty="0">
                  <a:solidFill>
                    <a:srgbClr val="2F69F5"/>
                  </a:solidFill>
                  <a:latin typeface="페이퍼로지 7 Bold" pitchFamily="2" charset="-127"/>
                  <a:ea typeface="페이퍼로지 7 Bold" pitchFamily="2" charset="-127"/>
                </a:rPr>
                <a:t>ASAP </a:t>
              </a:r>
              <a:r>
                <a:rPr lang="ko-KR" altLang="en-US" sz="980" b="1" dirty="0">
                  <a:solidFill>
                    <a:srgbClr val="2F69F5"/>
                  </a:solidFill>
                  <a:latin typeface="페이퍼로지 7 Bold" pitchFamily="2" charset="-127"/>
                  <a:ea typeface="페이퍼로지 7 Bold" pitchFamily="2" charset="-127"/>
                </a:rPr>
                <a:t>데이터 공유</a:t>
              </a:r>
              <a:endParaRPr sz="980" b="1" dirty="0">
                <a:solidFill>
                  <a:srgbClr val="2F69F5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79FCA6CB-CBAC-441E-9EB3-C736B30EAD12}"/>
                </a:ext>
              </a:extLst>
            </p:cNvPr>
            <p:cNvSpPr txBox="1"/>
            <p:nvPr/>
          </p:nvSpPr>
          <p:spPr>
            <a:xfrm>
              <a:off x="5044781" y="4874454"/>
              <a:ext cx="1926810" cy="12069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80" b="1" dirty="0" err="1">
                  <a:solidFill>
                    <a:srgbClr val="7052BE"/>
                  </a:solidFill>
                  <a:latin typeface="페이퍼로지 7 Bold" pitchFamily="2" charset="-127"/>
                  <a:ea typeface="페이퍼로지 7 Bold" pitchFamily="2" charset="-127"/>
                </a:rPr>
                <a:t>기관</a:t>
              </a:r>
              <a:r>
                <a:rPr sz="980" b="1" dirty="0">
                  <a:solidFill>
                    <a:srgbClr val="7052BE"/>
                  </a:solidFill>
                  <a:latin typeface="페이퍼로지 7 Bold" pitchFamily="2" charset="-127"/>
                  <a:ea typeface="페이퍼로지 7 Bold" pitchFamily="2" charset="-127"/>
                </a:rPr>
                <a:t> 간 </a:t>
              </a:r>
              <a:r>
                <a:rPr sz="980" b="1" dirty="0" err="1">
                  <a:solidFill>
                    <a:srgbClr val="7052BE"/>
                  </a:solidFill>
                  <a:latin typeface="페이퍼로지 7 Bold" pitchFamily="2" charset="-127"/>
                  <a:ea typeface="페이퍼로지 7 Bold" pitchFamily="2" charset="-127"/>
                </a:rPr>
                <a:t>연결</a:t>
              </a:r>
              <a:r>
                <a:rPr lang="en-US" sz="980" b="1" dirty="0">
                  <a:solidFill>
                    <a:srgbClr val="7052B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lang="ko-KR" altLang="en-US" sz="980" b="1" dirty="0">
                  <a:solidFill>
                    <a:srgbClr val="7052BE"/>
                  </a:solidFill>
                  <a:latin typeface="페이퍼로지 7 Bold" pitchFamily="2" charset="-127"/>
                  <a:ea typeface="페이퍼로지 7 Bold" pitchFamily="2" charset="-127"/>
                </a:rPr>
                <a:t>→ 통신사 </a:t>
              </a:r>
              <a:r>
                <a:rPr lang="en-US" altLang="ko-KR" sz="980" b="1" dirty="0">
                  <a:solidFill>
                    <a:srgbClr val="7052BE"/>
                  </a:solidFill>
                  <a:latin typeface="페이퍼로지 7 Bold" pitchFamily="2" charset="-127"/>
                  <a:ea typeface="페이퍼로지 7 Bold" pitchFamily="2" charset="-127"/>
                </a:rPr>
                <a:t>AI, FDS</a:t>
              </a:r>
              <a:r>
                <a:rPr lang="ko-KR" altLang="en-US" sz="980" b="1" dirty="0">
                  <a:solidFill>
                    <a:srgbClr val="7052BE"/>
                  </a:solidFill>
                  <a:latin typeface="페이퍼로지 7 Bold" pitchFamily="2" charset="-127"/>
                  <a:ea typeface="페이퍼로지 7 Bold" pitchFamily="2" charset="-127"/>
                </a:rPr>
                <a:t>에 공유</a:t>
              </a:r>
              <a:endParaRPr sz="980" b="1" dirty="0">
                <a:solidFill>
                  <a:srgbClr val="7052BE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E4EF04C1-08F7-4960-9E22-A89879699F5E}"/>
                </a:ext>
              </a:extLst>
            </p:cNvPr>
            <p:cNvSpPr txBox="1"/>
            <p:nvPr/>
          </p:nvSpPr>
          <p:spPr>
            <a:xfrm>
              <a:off x="9075187" y="4874454"/>
              <a:ext cx="1662315" cy="12069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en-US" altLang="ko-KR" sz="980" b="1" dirty="0">
                  <a:solidFill>
                    <a:srgbClr val="EF4646"/>
                  </a:solidFill>
                  <a:latin typeface="페이퍼로지 7 Bold" pitchFamily="2" charset="-127"/>
                  <a:ea typeface="페이퍼로지 7 Bold" pitchFamily="2" charset="-127"/>
                </a:rPr>
                <a:t>ASAP</a:t>
              </a:r>
              <a:r>
                <a:rPr lang="ko-KR" altLang="en-US" sz="980" b="1" dirty="0">
                  <a:solidFill>
                    <a:srgbClr val="EF4646"/>
                  </a:solidFill>
                  <a:latin typeface="페이퍼로지 7 Bold" pitchFamily="2" charset="-127"/>
                  <a:ea typeface="페이퍼로지 7 Bold" pitchFamily="2" charset="-127"/>
                </a:rPr>
                <a:t>에서 받음 → </a:t>
              </a:r>
              <a:r>
                <a:rPr sz="980" b="1" dirty="0" err="1">
                  <a:solidFill>
                    <a:srgbClr val="EF4646"/>
                  </a:solidFill>
                  <a:latin typeface="페이퍼로지 7 Bold" pitchFamily="2" charset="-127"/>
                  <a:ea typeface="페이퍼로지 7 Bold" pitchFamily="2" charset="-127"/>
                </a:rPr>
                <a:t>금융거래</a:t>
              </a:r>
              <a:r>
                <a:rPr sz="980" b="1" dirty="0">
                  <a:solidFill>
                    <a:srgbClr val="EF4646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980" b="1" dirty="0" err="1">
                  <a:solidFill>
                    <a:srgbClr val="EF4646"/>
                  </a:solidFill>
                  <a:latin typeface="페이퍼로지 7 Bold" pitchFamily="2" charset="-127"/>
                  <a:ea typeface="페이퍼로지 7 Bold" pitchFamily="2" charset="-127"/>
                </a:rPr>
                <a:t>보호</a:t>
              </a:r>
              <a:endParaRPr sz="980" b="1" dirty="0">
                <a:solidFill>
                  <a:srgbClr val="EF4646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92" name="Rounded Rectangle 12">
              <a:extLst>
                <a:ext uri="{FF2B5EF4-FFF2-40B4-BE49-F238E27FC236}">
                  <a16:creationId xmlns:a16="http://schemas.microsoft.com/office/drawing/2014/main" id="{FD605A30-014C-4F6D-84DD-C5CB8C386FFB}"/>
                </a:ext>
              </a:extLst>
            </p:cNvPr>
            <p:cNvSpPr/>
            <p:nvPr/>
          </p:nvSpPr>
          <p:spPr>
            <a:xfrm>
              <a:off x="1039794" y="3921191"/>
              <a:ext cx="2225040" cy="835605"/>
            </a:xfrm>
            <a:prstGeom prst="roundRect">
              <a:avLst/>
            </a:prstGeom>
            <a:solidFill>
              <a:srgbClr val="EBF3FF"/>
            </a:solidFill>
            <a:ln w="12700">
              <a:solidFill>
                <a:srgbClr val="2F69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B3D5CA5-1778-4610-92E3-99A1949B8302}"/>
                </a:ext>
              </a:extLst>
            </p:cNvPr>
            <p:cNvSpPr txBox="1"/>
            <p:nvPr/>
          </p:nvSpPr>
          <p:spPr>
            <a:xfrm>
              <a:off x="1241223" y="4021642"/>
              <a:ext cx="968214" cy="634703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sz="1200" b="1" dirty="0">
                  <a:solidFill>
                    <a:srgbClr val="1D324E"/>
                  </a:solidFill>
                  <a:latin typeface="페이퍼로지 7 Bold" pitchFamily="2" charset="-127"/>
                  <a:ea typeface="페이퍼로지 7 Bold" pitchFamily="2" charset="-127"/>
                </a:rPr>
                <a:t>• </a:t>
              </a:r>
              <a:r>
                <a:rPr sz="1200" b="1" dirty="0" err="1">
                  <a:solidFill>
                    <a:srgbClr val="1D324E"/>
                  </a:solidFill>
                  <a:latin typeface="페이퍼로지 7 Bold" pitchFamily="2" charset="-127"/>
                  <a:ea typeface="페이퍼로지 7 Bold" pitchFamily="2" charset="-127"/>
                </a:rPr>
                <a:t>통화</a:t>
              </a:r>
              <a:r>
                <a:rPr sz="1200" b="1" dirty="0">
                  <a:solidFill>
                    <a:srgbClr val="1D324E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200" b="1" dirty="0" err="1">
                  <a:solidFill>
                    <a:srgbClr val="1D324E"/>
                  </a:solidFill>
                  <a:latin typeface="페이퍼로지 7 Bold" pitchFamily="2" charset="-127"/>
                  <a:ea typeface="페이퍼로지 7 Bold" pitchFamily="2" charset="-127"/>
                </a:rPr>
                <a:t>분석</a:t>
              </a:r>
              <a:endParaRPr lang="en-US" sz="1200" b="1" dirty="0">
                <a:solidFill>
                  <a:srgbClr val="1D324E"/>
                </a:solidFill>
                <a:latin typeface="페이퍼로지 7 Bold" pitchFamily="2" charset="-127"/>
                <a:ea typeface="페이퍼로지 7 Bold" pitchFamily="2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1D324E"/>
                  </a:solidFill>
                  <a:latin typeface="페이퍼로지 7 Bold" pitchFamily="2" charset="-127"/>
                  <a:ea typeface="페이퍼로지 7 Bold" pitchFamily="2" charset="-127"/>
                </a:rPr>
                <a:t>• </a:t>
              </a:r>
              <a:r>
                <a:rPr lang="ko-KR" altLang="en-US" sz="1200" b="1" dirty="0">
                  <a:solidFill>
                    <a:srgbClr val="1D324E"/>
                  </a:solidFill>
                  <a:latin typeface="페이퍼로지 7 Bold" pitchFamily="2" charset="-127"/>
                  <a:ea typeface="페이퍼로지 7 Bold" pitchFamily="2" charset="-127"/>
                </a:rPr>
                <a:t>위험 신호 탐지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1D324E"/>
                  </a:solidFill>
                  <a:latin typeface="페이퍼로지 7 Bold" pitchFamily="2" charset="-127"/>
                  <a:ea typeface="페이퍼로지 7 Bold" pitchFamily="2" charset="-127"/>
                </a:rPr>
                <a:t>• </a:t>
              </a:r>
              <a:r>
                <a:rPr lang="ko-KR" altLang="en-US" sz="1200" b="1" dirty="0">
                  <a:solidFill>
                    <a:srgbClr val="1D324E"/>
                  </a:solidFill>
                  <a:latin typeface="페이퍼로지 7 Bold" pitchFamily="2" charset="-127"/>
                  <a:ea typeface="페이퍼로지 7 Bold" pitchFamily="2" charset="-127"/>
                </a:rPr>
                <a:t>실시간 경고</a:t>
              </a:r>
            </a:p>
          </p:txBody>
        </p:sp>
        <p:sp>
          <p:nvSpPr>
            <p:cNvPr id="94" name="Rounded Rectangle 22">
              <a:extLst>
                <a:ext uri="{FF2B5EF4-FFF2-40B4-BE49-F238E27FC236}">
                  <a16:creationId xmlns:a16="http://schemas.microsoft.com/office/drawing/2014/main" id="{3AEFB940-E864-45A0-8157-B4E9554DCF80}"/>
                </a:ext>
              </a:extLst>
            </p:cNvPr>
            <p:cNvSpPr/>
            <p:nvPr/>
          </p:nvSpPr>
          <p:spPr>
            <a:xfrm>
              <a:off x="4895662" y="3921191"/>
              <a:ext cx="2225040" cy="835605"/>
            </a:xfrm>
            <a:prstGeom prst="roundRect">
              <a:avLst/>
            </a:prstGeom>
            <a:solidFill>
              <a:srgbClr val="F4F1FF"/>
            </a:solidFill>
            <a:ln w="12700">
              <a:solidFill>
                <a:srgbClr val="7052B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4A5592CC-BC7D-47C1-BA2E-088B678E2E05}"/>
                </a:ext>
              </a:extLst>
            </p:cNvPr>
            <p:cNvSpPr txBox="1"/>
            <p:nvPr/>
          </p:nvSpPr>
          <p:spPr>
            <a:xfrm>
              <a:off x="5211705" y="4021642"/>
              <a:ext cx="1237518" cy="634703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1D324E"/>
                  </a:solidFill>
                  <a:latin typeface="페이퍼로지 7 Bold" pitchFamily="2" charset="-127"/>
                  <a:ea typeface="페이퍼로지 7 Bold" pitchFamily="2" charset="-127"/>
                </a:rPr>
                <a:t>• </a:t>
              </a:r>
              <a:r>
                <a:rPr lang="ko-KR" altLang="en-US" sz="1200" b="1" dirty="0">
                  <a:solidFill>
                    <a:srgbClr val="1D324E"/>
                  </a:solidFill>
                  <a:latin typeface="페이퍼로지 7 Bold" pitchFamily="2" charset="-127"/>
                  <a:ea typeface="페이퍼로지 7 Bold" pitchFamily="2" charset="-127"/>
                </a:rPr>
                <a:t>의심정보 수집</a:t>
              </a:r>
              <a:br>
                <a:rPr lang="en-US" altLang="ko-KR" sz="1200" b="1" dirty="0">
                  <a:solidFill>
                    <a:srgbClr val="1D324E"/>
                  </a:solidFill>
                  <a:latin typeface="페이퍼로지 7 Bold" pitchFamily="2" charset="-127"/>
                  <a:ea typeface="페이퍼로지 7 Bold" pitchFamily="2" charset="-127"/>
                </a:rPr>
              </a:br>
              <a:r>
                <a:rPr lang="en-US" altLang="ko-KR" sz="1200" b="1" dirty="0">
                  <a:solidFill>
                    <a:srgbClr val="1D324E"/>
                  </a:solidFill>
                  <a:latin typeface="페이퍼로지 7 Bold" pitchFamily="2" charset="-127"/>
                  <a:ea typeface="페이퍼로지 7 Bold" pitchFamily="2" charset="-127"/>
                </a:rPr>
                <a:t>• </a:t>
              </a:r>
              <a:r>
                <a:rPr lang="ko-KR" altLang="en-US" sz="1200" b="1" dirty="0">
                  <a:solidFill>
                    <a:srgbClr val="1D324E"/>
                  </a:solidFill>
                  <a:latin typeface="페이퍼로지 7 Bold" pitchFamily="2" charset="-127"/>
                  <a:ea typeface="페이퍼로지 7 Bold" pitchFamily="2" charset="-127"/>
                </a:rPr>
                <a:t>공유</a:t>
              </a:r>
              <a:r>
                <a:rPr lang="en-US" altLang="ko-KR" sz="1200" b="1" dirty="0">
                  <a:solidFill>
                    <a:srgbClr val="1D324E"/>
                  </a:solidFill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200" b="1" dirty="0">
                  <a:solidFill>
                    <a:srgbClr val="1D324E"/>
                  </a:solidFill>
                  <a:latin typeface="페이퍼로지 7 Bold" pitchFamily="2" charset="-127"/>
                  <a:ea typeface="페이퍼로지 7 Bold" pitchFamily="2" charset="-127"/>
                </a:rPr>
                <a:t>분석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1D324E"/>
                  </a:solidFill>
                  <a:latin typeface="페이퍼로지 7 Bold" pitchFamily="2" charset="-127"/>
                  <a:ea typeface="페이퍼로지 7 Bold" pitchFamily="2" charset="-127"/>
                </a:rPr>
                <a:t>• </a:t>
              </a:r>
              <a:r>
                <a:rPr lang="ko-KR" altLang="en-US" sz="1200" b="1" dirty="0">
                  <a:solidFill>
                    <a:srgbClr val="1D324E"/>
                  </a:solidFill>
                  <a:latin typeface="페이퍼로지 7 Bold" pitchFamily="2" charset="-127"/>
                  <a:ea typeface="페이퍼로지 7 Bold" pitchFamily="2" charset="-127"/>
                </a:rPr>
                <a:t>관계기관 공동 활용</a:t>
              </a:r>
            </a:p>
          </p:txBody>
        </p:sp>
        <p:sp>
          <p:nvSpPr>
            <p:cNvPr id="96" name="Rounded Rectangle 32">
              <a:extLst>
                <a:ext uri="{FF2B5EF4-FFF2-40B4-BE49-F238E27FC236}">
                  <a16:creationId xmlns:a16="http://schemas.microsoft.com/office/drawing/2014/main" id="{174D56EB-D9F9-41C0-AA05-CBCCD013E866}"/>
                </a:ext>
              </a:extLst>
            </p:cNvPr>
            <p:cNvSpPr/>
            <p:nvPr/>
          </p:nvSpPr>
          <p:spPr>
            <a:xfrm>
              <a:off x="8793817" y="3921191"/>
              <a:ext cx="2225040" cy="835605"/>
            </a:xfrm>
            <a:prstGeom prst="roundRect">
              <a:avLst/>
            </a:prstGeom>
            <a:solidFill>
              <a:srgbClr val="FFF1F1"/>
            </a:solidFill>
            <a:ln w="12700">
              <a:solidFill>
                <a:srgbClr val="EF46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881878A2-E37F-4147-B247-047A29FB6AAB}"/>
                </a:ext>
              </a:extLst>
            </p:cNvPr>
            <p:cNvSpPr txBox="1"/>
            <p:nvPr/>
          </p:nvSpPr>
          <p:spPr>
            <a:xfrm>
              <a:off x="9194820" y="4021642"/>
              <a:ext cx="1303242" cy="634703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1D324E"/>
                  </a:solidFill>
                  <a:latin typeface="페이퍼로지 7 Bold" pitchFamily="2" charset="-127"/>
                  <a:ea typeface="페이퍼로지 7 Bold" pitchFamily="2" charset="-127"/>
                </a:rPr>
                <a:t>• </a:t>
              </a:r>
              <a:r>
                <a:rPr lang="ko-KR" altLang="en-US" sz="1200" b="1" dirty="0">
                  <a:solidFill>
                    <a:srgbClr val="1D324E"/>
                  </a:solidFill>
                  <a:latin typeface="페이퍼로지 7 Bold" pitchFamily="2" charset="-127"/>
                  <a:ea typeface="페이퍼로지 7 Bold" pitchFamily="2" charset="-127"/>
                </a:rPr>
                <a:t>거래 패턴 분석</a:t>
              </a:r>
              <a:endParaRPr lang="en-US" altLang="ko-KR" sz="1200" b="1" dirty="0">
                <a:solidFill>
                  <a:srgbClr val="1D324E"/>
                </a:solidFill>
                <a:latin typeface="페이퍼로지 7 Bold" pitchFamily="2" charset="-127"/>
                <a:ea typeface="페이퍼로지 7 Bold" pitchFamily="2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1D324E"/>
                  </a:solidFill>
                  <a:latin typeface="페이퍼로지 7 Bold" pitchFamily="2" charset="-127"/>
                  <a:ea typeface="페이퍼로지 7 Bold" pitchFamily="2" charset="-127"/>
                </a:rPr>
                <a:t>• </a:t>
              </a:r>
              <a:r>
                <a:rPr lang="ko-KR" altLang="en-US" sz="1200" b="1" dirty="0">
                  <a:solidFill>
                    <a:srgbClr val="1D324E"/>
                  </a:solidFill>
                  <a:latin typeface="페이퍼로지 7 Bold" pitchFamily="2" charset="-127"/>
                  <a:ea typeface="페이퍼로지 7 Bold" pitchFamily="2" charset="-127"/>
                </a:rPr>
                <a:t>이상거래 탐지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1D324E"/>
                  </a:solidFill>
                  <a:latin typeface="페이퍼로지 7 Bold" pitchFamily="2" charset="-127"/>
                  <a:ea typeface="페이퍼로지 7 Bold" pitchFamily="2" charset="-127"/>
                </a:rPr>
                <a:t>• </a:t>
              </a:r>
              <a:r>
                <a:rPr lang="ko-KR" altLang="en-US" sz="1200" b="1" dirty="0">
                  <a:solidFill>
                    <a:srgbClr val="1D324E"/>
                  </a:solidFill>
                  <a:latin typeface="페이퍼로지 7 Bold" pitchFamily="2" charset="-127"/>
                  <a:ea typeface="페이퍼로지 7 Bold" pitchFamily="2" charset="-127"/>
                </a:rPr>
                <a:t>지연</a:t>
              </a:r>
              <a:r>
                <a:rPr lang="en-US" altLang="ko-KR" sz="1200" b="1" dirty="0">
                  <a:solidFill>
                    <a:srgbClr val="1D324E"/>
                  </a:solidFill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200" b="1" dirty="0">
                  <a:solidFill>
                    <a:srgbClr val="1D324E"/>
                  </a:solidFill>
                  <a:latin typeface="페이퍼로지 7 Bold" pitchFamily="2" charset="-127"/>
                  <a:ea typeface="페이퍼로지 7 Bold" pitchFamily="2" charset="-127"/>
                </a:rPr>
                <a:t>정지</a:t>
              </a:r>
              <a:r>
                <a:rPr lang="en-US" altLang="ko-KR" sz="1200" b="1" dirty="0">
                  <a:solidFill>
                    <a:srgbClr val="1D324E"/>
                  </a:solidFill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200" b="1" dirty="0">
                  <a:solidFill>
                    <a:srgbClr val="1D324E"/>
                  </a:solidFill>
                  <a:latin typeface="페이퍼로지 7 Bold" pitchFamily="2" charset="-127"/>
                  <a:ea typeface="페이퍼로지 7 Bold" pitchFamily="2" charset="-127"/>
                </a:rPr>
                <a:t>추가 확인</a:t>
              </a:r>
            </a:p>
          </p:txBody>
        </p:sp>
        <p:sp>
          <p:nvSpPr>
            <p:cNvPr id="2" name="Arrow: Left-Right 1">
              <a:extLst>
                <a:ext uri="{FF2B5EF4-FFF2-40B4-BE49-F238E27FC236}">
                  <a16:creationId xmlns:a16="http://schemas.microsoft.com/office/drawing/2014/main" id="{3135C723-79B4-4425-8540-368263985970}"/>
                </a:ext>
              </a:extLst>
            </p:cNvPr>
            <p:cNvSpPr/>
            <p:nvPr/>
          </p:nvSpPr>
          <p:spPr>
            <a:xfrm>
              <a:off x="3847494" y="4131497"/>
              <a:ext cx="511079" cy="385486"/>
            </a:xfrm>
            <a:prstGeom prst="leftRightArrow">
              <a:avLst>
                <a:gd name="adj1" fmla="val 36046"/>
                <a:gd name="adj2" fmla="val 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Arrow: Left-Right 45">
              <a:extLst>
                <a:ext uri="{FF2B5EF4-FFF2-40B4-BE49-F238E27FC236}">
                  <a16:creationId xmlns:a16="http://schemas.microsoft.com/office/drawing/2014/main" id="{AA465DD1-12AA-4102-87E8-3868D2AA5C60}"/>
                </a:ext>
              </a:extLst>
            </p:cNvPr>
            <p:cNvSpPr/>
            <p:nvPr/>
          </p:nvSpPr>
          <p:spPr>
            <a:xfrm>
              <a:off x="7711956" y="4131497"/>
              <a:ext cx="511079" cy="385486"/>
            </a:xfrm>
            <a:prstGeom prst="leftRightArrow">
              <a:avLst>
                <a:gd name="adj1" fmla="val 36046"/>
                <a:gd name="adj2" fmla="val 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748669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317F118-E3B8-4F2B-B793-B94DE76FBA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9000">
                <a:srgbClr val="0E2746"/>
              </a:gs>
              <a:gs pos="0">
                <a:schemeClr val="tx1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71" name="Google Shape;990;p15"/>
          <p:cNvCxnSpPr/>
          <p:nvPr/>
        </p:nvCxnSpPr>
        <p:spPr>
          <a:xfrm>
            <a:off x="6175140" y="4389480"/>
            <a:ext cx="360" cy="521640"/>
          </a:xfrm>
          <a:prstGeom prst="straightConnector1">
            <a:avLst/>
          </a:prstGeom>
          <a:ln w="21575">
            <a:solidFill>
              <a:srgbClr val="4B89FF"/>
            </a:solidFill>
            <a:miter/>
          </a:ln>
        </p:spPr>
      </p:cxnSp>
      <p:sp>
        <p:nvSpPr>
          <p:cNvPr id="693" name="Google Shape;972;p15">
            <a:extLst>
              <a:ext uri="{FF2B5EF4-FFF2-40B4-BE49-F238E27FC236}">
                <a16:creationId xmlns:a16="http://schemas.microsoft.com/office/drawing/2014/main" id="{4A4700D8-F652-4E34-A75E-EE45B3F001E8}"/>
              </a:ext>
            </a:extLst>
          </p:cNvPr>
          <p:cNvSpPr>
            <a:spLocks noGrp="1"/>
          </p:cNvSpPr>
          <p:nvPr/>
        </p:nvSpPr>
        <p:spPr>
          <a:xfrm>
            <a:off x="734820" y="2584690"/>
            <a:ext cx="2761200" cy="1865103"/>
          </a:xfrm>
          <a:prstGeom prst="roundRect">
            <a:avLst>
              <a:gd name="adj" fmla="val 8000"/>
            </a:avLst>
          </a:prstGeom>
          <a:solidFill>
            <a:srgbClr val="143458"/>
          </a:solidFill>
          <a:ln w="12700">
            <a:solidFill>
              <a:srgbClr val="355B85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696" name="Google Shape;975;p15">
            <a:extLst>
              <a:ext uri="{FF2B5EF4-FFF2-40B4-BE49-F238E27FC236}">
                <a16:creationId xmlns:a16="http://schemas.microsoft.com/office/drawing/2014/main" id="{8702EE9A-3BDA-457A-A1F5-FB4CCE4FE79F}"/>
              </a:ext>
            </a:extLst>
          </p:cNvPr>
          <p:cNvSpPr>
            <a:spLocks noGrp="1"/>
          </p:cNvSpPr>
          <p:nvPr/>
        </p:nvSpPr>
        <p:spPr>
          <a:xfrm>
            <a:off x="8845620" y="2584690"/>
            <a:ext cx="2761200" cy="1865103"/>
          </a:xfrm>
          <a:prstGeom prst="roundRect">
            <a:avLst>
              <a:gd name="adj" fmla="val 8000"/>
            </a:avLst>
          </a:prstGeom>
          <a:solidFill>
            <a:srgbClr val="143458"/>
          </a:solidFill>
          <a:ln w="12700">
            <a:solidFill>
              <a:srgbClr val="355B85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697" name="Google Shape;976;p15">
            <a:extLst>
              <a:ext uri="{FF2B5EF4-FFF2-40B4-BE49-F238E27FC236}">
                <a16:creationId xmlns:a16="http://schemas.microsoft.com/office/drawing/2014/main" id="{C867FC8D-6892-40B1-919B-11A91DCEBAC3}"/>
              </a:ext>
            </a:extLst>
          </p:cNvPr>
          <p:cNvSpPr>
            <a:spLocks noGrp="1"/>
          </p:cNvSpPr>
          <p:nvPr/>
        </p:nvSpPr>
        <p:spPr>
          <a:xfrm>
            <a:off x="972600" y="2916124"/>
            <a:ext cx="2285640" cy="2875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</a:pPr>
            <a:r>
              <a:rPr sz="17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Bank Agent</a:t>
            </a:r>
            <a:endParaRPr sz="1700" b="0" u="none" dirty="0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698" name="Google Shape;977;p15">
            <a:extLst>
              <a:ext uri="{FF2B5EF4-FFF2-40B4-BE49-F238E27FC236}">
                <a16:creationId xmlns:a16="http://schemas.microsoft.com/office/drawing/2014/main" id="{CA09FF92-747E-467F-8C4B-9195921E1270}"/>
              </a:ext>
            </a:extLst>
          </p:cNvPr>
          <p:cNvSpPr>
            <a:spLocks noGrp="1"/>
          </p:cNvSpPr>
          <p:nvPr/>
        </p:nvSpPr>
        <p:spPr>
          <a:xfrm>
            <a:off x="972600" y="3407650"/>
            <a:ext cx="2285640" cy="6016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00" b="1">
                <a:solidFill>
                  <a:srgbClr val="FFFFFF"/>
                </a:solidFill>
              </a:defRPr>
            </a:pPr>
            <a:r>
              <a:rPr lang="ko-KR" altLang="en-US"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통화</a:t>
            </a:r>
            <a:r>
              <a:rPr lang="en-US" altLang="ko-KR"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</a:t>
            </a:r>
            <a:r>
              <a:rPr lang="ko-KR" altLang="en-US"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거래 맥락 분석</a:t>
            </a:r>
          </a:p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00" b="1">
                <a:solidFill>
                  <a:srgbClr val="FFFFFF"/>
                </a:solidFill>
              </a:defRPr>
            </a:pPr>
            <a:r>
              <a:rPr lang="ko-KR" altLang="en-US"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사건 </a:t>
            </a:r>
            <a:r>
              <a:rPr lang="en-US" altLang="ko-KR"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Brief</a:t>
            </a:r>
          </a:p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00" b="1">
                <a:solidFill>
                  <a:srgbClr val="FFFFFF"/>
                </a:solidFill>
              </a:defRPr>
            </a:pPr>
            <a:r>
              <a:rPr lang="ko-KR" altLang="en-US"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확인사항</a:t>
            </a:r>
            <a:r>
              <a:rPr lang="en-US" altLang="ko-KR"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</a:t>
            </a:r>
            <a:r>
              <a:rPr lang="ko-KR" altLang="en-US"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조치 초안 제안</a:t>
            </a:r>
            <a:endParaRPr lang="ko-KR" altLang="en-US" sz="1600" b="0" u="none" dirty="0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699" name="Google Shape;978;p15">
            <a:extLst>
              <a:ext uri="{FF2B5EF4-FFF2-40B4-BE49-F238E27FC236}">
                <a16:creationId xmlns:a16="http://schemas.microsoft.com/office/drawing/2014/main" id="{A58B5E6C-835E-49A7-A8FB-72C9CA13279E}"/>
              </a:ext>
            </a:extLst>
          </p:cNvPr>
          <p:cNvSpPr>
            <a:spLocks noGrp="1"/>
          </p:cNvSpPr>
          <p:nvPr/>
        </p:nvSpPr>
        <p:spPr>
          <a:xfrm>
            <a:off x="4675740" y="2667131"/>
            <a:ext cx="2998800" cy="1733486"/>
          </a:xfrm>
          <a:prstGeom prst="roundRect">
            <a:avLst>
              <a:gd name="adj" fmla="val 8000"/>
            </a:avLst>
          </a:prstGeom>
          <a:solidFill>
            <a:srgbClr val="091D36"/>
          </a:solidFill>
          <a:ln w="25400">
            <a:solidFill>
              <a:srgbClr val="4B89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700" name="Google Shape;979;p15">
            <a:extLst>
              <a:ext uri="{FF2B5EF4-FFF2-40B4-BE49-F238E27FC236}">
                <a16:creationId xmlns:a16="http://schemas.microsoft.com/office/drawing/2014/main" id="{0181A81F-9DBD-4896-86EF-9E3E2AB514F6}"/>
              </a:ext>
            </a:extLst>
          </p:cNvPr>
          <p:cNvSpPr>
            <a:spLocks noGrp="1"/>
          </p:cNvSpPr>
          <p:nvPr/>
        </p:nvSpPr>
        <p:spPr>
          <a:xfrm>
            <a:off x="4968420" y="3029611"/>
            <a:ext cx="2404440" cy="28015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</a:pPr>
            <a:r>
              <a:rPr sz="165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Case Orchestrator</a:t>
            </a:r>
            <a:endParaRPr sz="1650" b="0" u="none" dirty="0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701" name="Google Shape;980;p15">
            <a:extLst>
              <a:ext uri="{FF2B5EF4-FFF2-40B4-BE49-F238E27FC236}">
                <a16:creationId xmlns:a16="http://schemas.microsoft.com/office/drawing/2014/main" id="{18BDE09E-B0DD-4208-839B-CE421D72BF81}"/>
              </a:ext>
            </a:extLst>
          </p:cNvPr>
          <p:cNvSpPr>
            <a:spLocks noGrp="1"/>
          </p:cNvSpPr>
          <p:nvPr/>
        </p:nvSpPr>
        <p:spPr>
          <a:xfrm>
            <a:off x="4968420" y="3490090"/>
            <a:ext cx="2404440" cy="6016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00" b="1">
                <a:solidFill>
                  <a:srgbClr val="BFD0E8"/>
                </a:solidFill>
              </a:defRPr>
            </a:pPr>
            <a:r>
              <a:rPr sz="1200" b="1" u="none" dirty="0" err="1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발화</a:t>
            </a:r>
            <a:r>
              <a:rPr sz="1200" b="1" u="none" dirty="0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 </a:t>
            </a:r>
            <a:r>
              <a:rPr sz="1200" b="1" u="none" dirty="0" err="1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맥락</a:t>
            </a:r>
            <a:r>
              <a:rPr sz="1200" b="1" u="none" dirty="0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 </a:t>
            </a:r>
            <a:r>
              <a:rPr sz="1200" b="1" u="none" dirty="0" err="1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구조화</a:t>
            </a:r>
            <a:endParaRPr sz="1400" b="0" u="none" dirty="0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00" b="1">
                <a:solidFill>
                  <a:srgbClr val="BFD0E8"/>
                </a:solidFill>
              </a:defRPr>
            </a:pPr>
            <a:r>
              <a:rPr lang="ko-KR" altLang="en-US" sz="1200" b="1" u="none" dirty="0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업무 유형별 </a:t>
            </a:r>
            <a:r>
              <a:rPr lang="en-US" altLang="ko-KR" sz="1200" b="1" u="none" dirty="0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AI </a:t>
            </a:r>
            <a:r>
              <a:rPr lang="ko-KR" altLang="en-US" sz="1200" b="1" u="none" dirty="0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서비스 라우팅</a:t>
            </a:r>
          </a:p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00" b="1">
                <a:solidFill>
                  <a:srgbClr val="BFD0E8"/>
                </a:solidFill>
              </a:defRPr>
            </a:pPr>
            <a:r>
              <a:rPr lang="en-US" altLang="ko-KR" sz="1200" b="1" u="none" dirty="0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Case </a:t>
            </a:r>
            <a:r>
              <a:rPr lang="ko-KR" altLang="en-US" sz="1200" b="1" u="none" dirty="0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상태</a:t>
            </a:r>
            <a:r>
              <a:rPr lang="en-US" altLang="ko-KR" sz="1200" b="1" u="none" dirty="0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</a:t>
            </a:r>
            <a:r>
              <a:rPr lang="ko-KR" altLang="en-US" sz="1200" b="1" u="none" dirty="0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기록 통합</a:t>
            </a:r>
            <a:endParaRPr sz="1400" b="0" u="none" dirty="0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cxnSp>
        <p:nvCxnSpPr>
          <p:cNvPr id="862" name="Google Shape;981;p15"/>
          <p:cNvCxnSpPr/>
          <p:nvPr/>
        </p:nvCxnSpPr>
        <p:spPr>
          <a:xfrm>
            <a:off x="3505380" y="3564039"/>
            <a:ext cx="1161360" cy="360"/>
          </a:xfrm>
          <a:prstGeom prst="straightConnector1">
            <a:avLst/>
          </a:prstGeom>
          <a:ln w="27925">
            <a:solidFill>
              <a:srgbClr val="4B89FF"/>
            </a:solidFill>
            <a:miter/>
          </a:ln>
        </p:spPr>
      </p:cxnSp>
      <p:cxnSp>
        <p:nvCxnSpPr>
          <p:cNvPr id="863" name="Google Shape;982;p15"/>
          <p:cNvCxnSpPr/>
          <p:nvPr/>
        </p:nvCxnSpPr>
        <p:spPr>
          <a:xfrm>
            <a:off x="7674900" y="3564039"/>
            <a:ext cx="1161720" cy="360"/>
          </a:xfrm>
          <a:prstGeom prst="straightConnector1">
            <a:avLst/>
          </a:prstGeom>
          <a:ln w="27925">
            <a:solidFill>
              <a:srgbClr val="4B89FF"/>
            </a:solidFill>
            <a:miter/>
          </a:ln>
        </p:spPr>
      </p:cxnSp>
      <p:sp>
        <p:nvSpPr>
          <p:cNvPr id="706" name="Google Shape;985;p15">
            <a:extLst>
              <a:ext uri="{FF2B5EF4-FFF2-40B4-BE49-F238E27FC236}">
                <a16:creationId xmlns:a16="http://schemas.microsoft.com/office/drawing/2014/main" id="{E914C492-F18A-4C1C-A32A-F1F316F9F9EA}"/>
              </a:ext>
            </a:extLst>
          </p:cNvPr>
          <p:cNvSpPr>
            <a:spLocks noGrp="1"/>
          </p:cNvSpPr>
          <p:nvPr/>
        </p:nvSpPr>
        <p:spPr>
          <a:xfrm>
            <a:off x="4676460" y="1807237"/>
            <a:ext cx="2997720" cy="438480"/>
          </a:xfrm>
          <a:prstGeom prst="roundRect">
            <a:avLst>
              <a:gd name="adj" fmla="val 8000"/>
            </a:avLst>
          </a:prstGeom>
          <a:solidFill>
            <a:srgbClr val="091D36"/>
          </a:solidFill>
          <a:ln w="12700">
            <a:solidFill>
              <a:srgbClr val="4B89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707" name="Google Shape;986;p15">
            <a:extLst>
              <a:ext uri="{FF2B5EF4-FFF2-40B4-BE49-F238E27FC236}">
                <a16:creationId xmlns:a16="http://schemas.microsoft.com/office/drawing/2014/main" id="{C36C714B-1A63-4957-A900-206472BD96A2}"/>
              </a:ext>
            </a:extLst>
          </p:cNvPr>
          <p:cNvSpPr>
            <a:spLocks noGrp="1"/>
          </p:cNvSpPr>
          <p:nvPr/>
        </p:nvSpPr>
        <p:spPr>
          <a:xfrm>
            <a:off x="4556847" y="1917742"/>
            <a:ext cx="3218226" cy="1991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00" b="1">
                <a:solidFill>
                  <a:srgbClr val="FFFFFF"/>
                </a:solidFill>
              </a:defRPr>
            </a:pPr>
            <a:r>
              <a:rPr sz="11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Verification Agent · </a:t>
            </a:r>
            <a:r>
              <a:rPr sz="1100" b="1" u="none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사칭기관</a:t>
            </a:r>
            <a:r>
              <a:rPr sz="11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/</a:t>
            </a:r>
            <a:r>
              <a:rPr lang="ko-KR" altLang="en-US" sz="11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주장 정리</a:t>
            </a:r>
            <a:endParaRPr sz="1100" b="0" u="none" dirty="0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cxnSp>
        <p:nvCxnSpPr>
          <p:cNvPr id="868" name="Google Shape;987;p15"/>
          <p:cNvCxnSpPr>
            <a:cxnSpLocks/>
            <a:stCxn id="706" idx="2"/>
          </p:cNvCxnSpPr>
          <p:nvPr/>
        </p:nvCxnSpPr>
        <p:spPr>
          <a:xfrm>
            <a:off x="6175320" y="2245717"/>
            <a:ext cx="180" cy="421413"/>
          </a:xfrm>
          <a:prstGeom prst="straightConnector1">
            <a:avLst/>
          </a:prstGeom>
          <a:ln w="21575">
            <a:solidFill>
              <a:srgbClr val="4B89FF"/>
            </a:solidFill>
            <a:miter/>
          </a:ln>
        </p:spPr>
      </p:cxnSp>
      <p:sp>
        <p:nvSpPr>
          <p:cNvPr id="709" name="Google Shape;988;p15">
            <a:extLst>
              <a:ext uri="{FF2B5EF4-FFF2-40B4-BE49-F238E27FC236}">
                <a16:creationId xmlns:a16="http://schemas.microsoft.com/office/drawing/2014/main" id="{6E6C9250-9AF6-453B-B4BE-C44D8B735D4D}"/>
              </a:ext>
            </a:extLst>
          </p:cNvPr>
          <p:cNvSpPr>
            <a:spLocks noGrp="1"/>
          </p:cNvSpPr>
          <p:nvPr/>
        </p:nvSpPr>
        <p:spPr>
          <a:xfrm>
            <a:off x="3532740" y="4863830"/>
            <a:ext cx="5303160" cy="559744"/>
          </a:xfrm>
          <a:prstGeom prst="roundRect">
            <a:avLst>
              <a:gd name="adj" fmla="val 8000"/>
            </a:avLst>
          </a:prstGeom>
          <a:solidFill>
            <a:srgbClr val="0B1E37"/>
          </a:solidFill>
          <a:ln w="12700">
            <a:solidFill>
              <a:srgbClr val="375E8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710" name="Google Shape;989;p15">
            <a:extLst>
              <a:ext uri="{FF2B5EF4-FFF2-40B4-BE49-F238E27FC236}">
                <a16:creationId xmlns:a16="http://schemas.microsoft.com/office/drawing/2014/main" id="{52CB81E6-576D-4FC0-BE30-09D90B6E9F75}"/>
              </a:ext>
            </a:extLst>
          </p:cNvPr>
          <p:cNvSpPr>
            <a:spLocks noGrp="1"/>
          </p:cNvSpPr>
          <p:nvPr/>
        </p:nvSpPr>
        <p:spPr>
          <a:xfrm>
            <a:off x="3733980" y="5057557"/>
            <a:ext cx="4900680" cy="21385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00" b="1">
                <a:solidFill>
                  <a:srgbClr val="FFFFFF"/>
                </a:solidFill>
              </a:defRPr>
            </a:pPr>
            <a:r>
              <a:rPr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Shared Case Engine · </a:t>
            </a:r>
            <a:r>
              <a:rPr sz="1200" b="1" u="none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발화</a:t>
            </a:r>
            <a:r>
              <a:rPr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 </a:t>
            </a:r>
            <a:r>
              <a:rPr sz="1200" b="1" u="none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맥락</a:t>
            </a:r>
            <a:r>
              <a:rPr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 · </a:t>
            </a:r>
            <a:r>
              <a:rPr sz="1200" b="1" u="none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확인</a:t>
            </a:r>
            <a:r>
              <a:rPr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 </a:t>
            </a:r>
            <a:r>
              <a:rPr sz="1200" b="1" u="none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근거</a:t>
            </a:r>
            <a:r>
              <a:rPr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 · </a:t>
            </a:r>
            <a:r>
              <a:rPr sz="1200" b="1" u="none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설득</a:t>
            </a:r>
            <a:r>
              <a:rPr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 </a:t>
            </a:r>
            <a:r>
              <a:rPr sz="1200" b="1" u="none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포인트</a:t>
            </a:r>
            <a:endParaRPr sz="1200" b="0" u="none" dirty="0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712" name="Google Shape;991;p15">
            <a:extLst>
              <a:ext uri="{FF2B5EF4-FFF2-40B4-BE49-F238E27FC236}">
                <a16:creationId xmlns:a16="http://schemas.microsoft.com/office/drawing/2014/main" id="{E8A5F3E6-6BAD-4E19-9894-F1B100AA599C}"/>
              </a:ext>
            </a:extLst>
          </p:cNvPr>
          <p:cNvSpPr>
            <a:spLocks noGrp="1"/>
          </p:cNvSpPr>
          <p:nvPr/>
        </p:nvSpPr>
        <p:spPr>
          <a:xfrm>
            <a:off x="2124780" y="5852520"/>
            <a:ext cx="8101080" cy="475200"/>
          </a:xfrm>
          <a:prstGeom prst="roundRect">
            <a:avLst>
              <a:gd name="adj" fmla="val 8000"/>
            </a:avLst>
          </a:prstGeom>
          <a:solidFill>
            <a:srgbClr val="133C69"/>
          </a:solidFill>
          <a:ln w="12700">
            <a:solidFill>
              <a:srgbClr val="133C6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713" name="Google Shape;992;p15">
            <a:extLst>
              <a:ext uri="{FF2B5EF4-FFF2-40B4-BE49-F238E27FC236}">
                <a16:creationId xmlns:a16="http://schemas.microsoft.com/office/drawing/2014/main" id="{D478C87D-4941-484C-BD11-B2BB9713768B}"/>
              </a:ext>
            </a:extLst>
          </p:cNvPr>
          <p:cNvSpPr>
            <a:spLocks noGrp="1"/>
          </p:cNvSpPr>
          <p:nvPr/>
        </p:nvSpPr>
        <p:spPr>
          <a:xfrm>
            <a:off x="2348520" y="5978695"/>
            <a:ext cx="7634880" cy="2433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1125" b="1">
                <a:solidFill>
                  <a:srgbClr val="FFFFFF"/>
                </a:solidFill>
              </a:defRPr>
            </a:pPr>
            <a:r>
              <a:rPr lang="ko-KR" altLang="en-US" sz="14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각 </a:t>
            </a:r>
            <a:r>
              <a:rPr lang="en-US" altLang="ko-KR" sz="14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AI </a:t>
            </a:r>
            <a:r>
              <a:rPr lang="ko-KR" altLang="en-US" sz="14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지원 결과는 따로 흩어지지 않고 동일한 </a:t>
            </a:r>
            <a:r>
              <a:rPr lang="en-US" altLang="ko-KR" sz="14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Shared Case</a:t>
            </a:r>
            <a:r>
              <a:rPr lang="ko-KR" altLang="en-US" sz="14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에 기록됩니다</a:t>
            </a:r>
            <a:r>
              <a:rPr lang="en-US" altLang="ko-KR" sz="14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.</a:t>
            </a:r>
            <a:endParaRPr sz="1400" b="0" u="none" dirty="0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694" name="Google Shape;973;p15">
            <a:extLst>
              <a:ext uri="{FF2B5EF4-FFF2-40B4-BE49-F238E27FC236}">
                <a16:creationId xmlns:a16="http://schemas.microsoft.com/office/drawing/2014/main" id="{5DB271C9-2E54-4EDB-B3B7-3E2962866BA2}"/>
              </a:ext>
            </a:extLst>
          </p:cNvPr>
          <p:cNvSpPr>
            <a:spLocks noGrp="1"/>
          </p:cNvSpPr>
          <p:nvPr/>
        </p:nvSpPr>
        <p:spPr>
          <a:xfrm>
            <a:off x="9083400" y="2847386"/>
            <a:ext cx="2285640" cy="2875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</a:pPr>
            <a:r>
              <a:rPr sz="17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Customer Agent</a:t>
            </a:r>
            <a:endParaRPr sz="1700" b="0" u="none" dirty="0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695" name="Google Shape;974;p15">
            <a:extLst>
              <a:ext uri="{FF2B5EF4-FFF2-40B4-BE49-F238E27FC236}">
                <a16:creationId xmlns:a16="http://schemas.microsoft.com/office/drawing/2014/main" id="{6EDA629C-AA7D-4BA3-9506-6751F3DED71D}"/>
              </a:ext>
            </a:extLst>
          </p:cNvPr>
          <p:cNvSpPr>
            <a:spLocks noGrp="1"/>
          </p:cNvSpPr>
          <p:nvPr/>
        </p:nvSpPr>
        <p:spPr>
          <a:xfrm>
            <a:off x="9083400" y="3338912"/>
            <a:ext cx="2285640" cy="7955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00" b="1">
                <a:solidFill>
                  <a:srgbClr val="FFFFFF"/>
                </a:solidFill>
              </a:defRPr>
            </a:pPr>
            <a:r>
              <a:rPr lang="ko-KR" altLang="en-US"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상황 브리핑</a:t>
            </a:r>
          </a:p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00" b="1">
                <a:solidFill>
                  <a:srgbClr val="FFFFFF"/>
                </a:solidFill>
              </a:defRPr>
            </a:pPr>
            <a:r>
              <a:rPr lang="ko-KR" altLang="en-US"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안전 확인 질문</a:t>
            </a:r>
          </a:p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00" b="1">
                <a:solidFill>
                  <a:srgbClr val="FFFFFF"/>
                </a:solidFill>
              </a:defRPr>
            </a:pPr>
            <a:r>
              <a:rPr lang="ko-KR" altLang="en-US"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답변 구조화</a:t>
            </a:r>
          </a:p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00" b="1">
                <a:solidFill>
                  <a:srgbClr val="FFFFFF"/>
                </a:solidFill>
              </a:defRPr>
            </a:pPr>
            <a:r>
              <a:rPr lang="ko-KR" altLang="en-US"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안전 행동 안내</a:t>
            </a:r>
            <a:endParaRPr lang="ko-KR" altLang="en-US" sz="1200" b="0" u="none" dirty="0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BDA50C-7D7A-4696-8B0C-C2B606EF6BF9}"/>
              </a:ext>
            </a:extLst>
          </p:cNvPr>
          <p:cNvSpPr txBox="1"/>
          <p:nvPr/>
        </p:nvSpPr>
        <p:spPr>
          <a:xfrm>
            <a:off x="11606820" y="6476226"/>
            <a:ext cx="320040" cy="1600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lang="en-US" sz="800" b="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16</a:t>
            </a:r>
            <a:endParaRPr sz="800" b="0" dirty="0">
              <a:solidFill>
                <a:srgbClr val="6A7B97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87AA5E-ACFA-47D3-BF70-058342449963}"/>
              </a:ext>
            </a:extLst>
          </p:cNvPr>
          <p:cNvSpPr txBox="1"/>
          <p:nvPr/>
        </p:nvSpPr>
        <p:spPr>
          <a:xfrm>
            <a:off x="618836" y="790062"/>
            <a:ext cx="10954330" cy="923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은행 직원이 확인하기 어려웠던 </a:t>
            </a:r>
            <a:r>
              <a:rPr lang="ko-KR" altLang="en-US" sz="20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보이스피싱범의 주장과 고객이 처한 상황을 </a:t>
            </a:r>
            <a:r>
              <a:rPr lang="en-US" altLang="ko-KR" sz="20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AI</a:t>
            </a:r>
            <a:r>
              <a:rPr lang="ko-KR" altLang="en-US" sz="20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가 빠르게 정리</a:t>
            </a:r>
            <a:r>
              <a:rPr lang="ko-KR" altLang="en-US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하고</a:t>
            </a:r>
            <a:endParaRPr lang="en-US" altLang="ko-KR" sz="20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/>
            <a:r>
              <a:rPr lang="ko-KR" altLang="en-US" sz="20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맞춤 대응 가이드를 제공</a:t>
            </a:r>
            <a:r>
              <a:rPr lang="ko-KR" altLang="en-US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하여</a:t>
            </a:r>
            <a:r>
              <a:rPr lang="en-US" altLang="ko-KR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은행이 고객과 </a:t>
            </a:r>
            <a:r>
              <a:rPr lang="ko-KR" altLang="en-US" sz="20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신속하게 소통하고 대응</a:t>
            </a:r>
            <a:r>
              <a:rPr lang="ko-KR" altLang="en-US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할 수 있는</a:t>
            </a:r>
            <a:br>
              <a:rPr lang="en-US" altLang="ko-KR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</a:b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AI </a:t>
            </a:r>
            <a:r>
              <a:rPr lang="ko-KR" alt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워크스페이스 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:</a:t>
            </a:r>
            <a:r>
              <a:rPr lang="en-US" altLang="ko-KR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en-US" altLang="ko-KR" sz="2000" u="none" dirty="0">
                <a:solidFill>
                  <a:schemeClr val="accent4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CSR | Case Share Room </a:t>
            </a:r>
            <a:r>
              <a:rPr lang="en-US" altLang="ko-KR" sz="200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B2B </a:t>
            </a:r>
            <a:r>
              <a:rPr lang="ko-KR" altLang="en-US" sz="2000" u="none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서비스</a:t>
            </a:r>
            <a:endParaRPr sz="20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0A64B0-487F-4B0E-B238-88E362188252}"/>
              </a:ext>
            </a:extLst>
          </p:cNvPr>
          <p:cNvSpPr txBox="1"/>
          <p:nvPr/>
        </p:nvSpPr>
        <p:spPr>
          <a:xfrm>
            <a:off x="4720632" y="494354"/>
            <a:ext cx="2750753" cy="1547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75" b="1">
                <a:solidFill>
                  <a:srgbClr val="2F66E8"/>
                </a:solidFill>
              </a:defRPr>
            </a:pPr>
            <a:r>
              <a:rPr lang="en-US" altLang="ko-KR" sz="1050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B2B </a:t>
            </a:r>
            <a:r>
              <a:rPr lang="ko-KR" altLang="en-US" sz="1050" u="none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워크스페이스 </a:t>
            </a:r>
            <a:r>
              <a:rPr lang="en-US" altLang="ko-KR" sz="1050" u="none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 CSR | Case Share Room</a:t>
            </a:r>
          </a:p>
        </p:txBody>
      </p:sp>
    </p:spTree>
    <p:extLst>
      <p:ext uri="{BB962C8B-B14F-4D97-AF65-F5344CB8AC3E}">
        <p14:creationId xmlns:p14="http://schemas.microsoft.com/office/powerpoint/2010/main" val="41709161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317F118-E3B8-4F2B-B793-B94DE76FBA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9000">
                <a:srgbClr val="0E2746"/>
              </a:gs>
              <a:gs pos="0">
                <a:schemeClr val="tx1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71" name="Google Shape;990;p15"/>
          <p:cNvCxnSpPr/>
          <p:nvPr/>
        </p:nvCxnSpPr>
        <p:spPr>
          <a:xfrm>
            <a:off x="6175140" y="4389480"/>
            <a:ext cx="360" cy="521640"/>
          </a:xfrm>
          <a:prstGeom prst="straightConnector1">
            <a:avLst/>
          </a:prstGeom>
          <a:ln w="21575">
            <a:solidFill>
              <a:srgbClr val="4B89FF"/>
            </a:solidFill>
            <a:miter/>
          </a:ln>
        </p:spPr>
      </p:cxnSp>
      <p:sp>
        <p:nvSpPr>
          <p:cNvPr id="690" name="Google Shape;969;p15">
            <a:extLst>
              <a:ext uri="{FF2B5EF4-FFF2-40B4-BE49-F238E27FC236}">
                <a16:creationId xmlns:a16="http://schemas.microsoft.com/office/drawing/2014/main" id="{1BBDF033-1061-4F0E-B664-30A118C17D92}"/>
              </a:ext>
            </a:extLst>
          </p:cNvPr>
          <p:cNvSpPr>
            <a:spLocks noGrp="1"/>
          </p:cNvSpPr>
          <p:nvPr/>
        </p:nvSpPr>
        <p:spPr>
          <a:xfrm>
            <a:off x="746940" y="600401"/>
            <a:ext cx="10698120" cy="361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2175" b="1">
                <a:solidFill>
                  <a:srgbClr val="FFFFFF"/>
                </a:solidFill>
              </a:defRPr>
            </a:pPr>
            <a:r>
              <a:rPr lang="ko-KR" altLang="en-US" sz="2200" dirty="0">
                <a:latin typeface="페이퍼로지 7 Bold" pitchFamily="2" charset="-127"/>
                <a:ea typeface="페이퍼로지 7 Bold" pitchFamily="2" charset="-127"/>
              </a:rPr>
              <a:t>은행의 대응업무와 고객 상담을 양방향으로 지원하는 보이스피싱 대응 플랫폼</a:t>
            </a:r>
            <a:endParaRPr lang="ko-KR" altLang="en-US" sz="2200" b="0" u="none" dirty="0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691" name="Google Shape;970;p15">
            <a:extLst>
              <a:ext uri="{FF2B5EF4-FFF2-40B4-BE49-F238E27FC236}">
                <a16:creationId xmlns:a16="http://schemas.microsoft.com/office/drawing/2014/main" id="{B45E2BA0-2830-4C64-8021-A3181392E14C}"/>
              </a:ext>
            </a:extLst>
          </p:cNvPr>
          <p:cNvSpPr>
            <a:spLocks noGrp="1"/>
          </p:cNvSpPr>
          <p:nvPr/>
        </p:nvSpPr>
        <p:spPr>
          <a:xfrm>
            <a:off x="746940" y="1329378"/>
            <a:ext cx="10698120" cy="1991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75" b="0">
                <a:solidFill>
                  <a:srgbClr val="BFD0E8"/>
                </a:solidFill>
              </a:defRPr>
            </a:pPr>
            <a:r>
              <a:rPr lang="ko-KR" altLang="en-US" sz="1100" b="0" u="none" dirty="0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통화</a:t>
            </a:r>
            <a:r>
              <a:rPr lang="en-US" altLang="ko-KR" sz="1100" b="0" u="none" dirty="0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</a:t>
            </a:r>
            <a:r>
              <a:rPr lang="ko-KR" altLang="en-US" sz="1100" b="0" u="none" dirty="0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고객 응답</a:t>
            </a:r>
            <a:r>
              <a:rPr lang="en-US" altLang="ko-KR" sz="1100" b="0" u="none" dirty="0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</a:t>
            </a:r>
            <a:r>
              <a:rPr lang="ko-KR" altLang="en-US" sz="1100" b="0" u="none" dirty="0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은행 거래정보</a:t>
            </a:r>
            <a:r>
              <a:rPr lang="en-US" altLang="ko-KR" sz="1100" b="0" u="none" dirty="0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</a:t>
            </a:r>
            <a:r>
              <a:rPr lang="ko-KR" altLang="en-US" sz="1100" b="0" u="none" dirty="0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기관 검증 결과를 하나의 </a:t>
            </a:r>
            <a:r>
              <a:rPr lang="en-US" altLang="ko-KR" sz="1100" b="0" u="none" dirty="0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Case Share Room</a:t>
            </a:r>
            <a:r>
              <a:rPr lang="ko-KR" altLang="en-US" sz="1100" b="0" u="none" dirty="0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에 축적하고</a:t>
            </a:r>
            <a:r>
              <a:rPr lang="en-US" altLang="ko-KR" sz="1100" b="0" u="none" dirty="0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, </a:t>
            </a:r>
            <a:r>
              <a:rPr lang="ko-KR" altLang="en-US" sz="1100" b="0" u="none" dirty="0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역할별 </a:t>
            </a:r>
            <a:r>
              <a:rPr lang="en-US" altLang="ko-KR" sz="1100" b="0" u="none" dirty="0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AI</a:t>
            </a:r>
            <a:r>
              <a:rPr lang="ko-KR" altLang="en-US" sz="1100" b="0" u="none" dirty="0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가 필요한 정보를 분석하여 은행과 고객의 빠른 대응을 지원합니다</a:t>
            </a:r>
            <a:r>
              <a:rPr lang="en-US" altLang="ko-KR" sz="1100" b="0" u="none" dirty="0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.</a:t>
            </a:r>
            <a:endParaRPr sz="1400" b="0" u="none" dirty="0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693" name="Google Shape;972;p15">
            <a:extLst>
              <a:ext uri="{FF2B5EF4-FFF2-40B4-BE49-F238E27FC236}">
                <a16:creationId xmlns:a16="http://schemas.microsoft.com/office/drawing/2014/main" id="{4A4700D8-F652-4E34-A75E-EE45B3F001E8}"/>
              </a:ext>
            </a:extLst>
          </p:cNvPr>
          <p:cNvSpPr>
            <a:spLocks noGrp="1"/>
          </p:cNvSpPr>
          <p:nvPr/>
        </p:nvSpPr>
        <p:spPr>
          <a:xfrm>
            <a:off x="734820" y="2584690"/>
            <a:ext cx="2761200" cy="1865103"/>
          </a:xfrm>
          <a:prstGeom prst="roundRect">
            <a:avLst>
              <a:gd name="adj" fmla="val 8000"/>
            </a:avLst>
          </a:prstGeom>
          <a:solidFill>
            <a:srgbClr val="143458"/>
          </a:solidFill>
          <a:ln w="12700">
            <a:solidFill>
              <a:srgbClr val="355B85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696" name="Google Shape;975;p15">
            <a:extLst>
              <a:ext uri="{FF2B5EF4-FFF2-40B4-BE49-F238E27FC236}">
                <a16:creationId xmlns:a16="http://schemas.microsoft.com/office/drawing/2014/main" id="{8702EE9A-3BDA-457A-A1F5-FB4CCE4FE79F}"/>
              </a:ext>
            </a:extLst>
          </p:cNvPr>
          <p:cNvSpPr>
            <a:spLocks noGrp="1"/>
          </p:cNvSpPr>
          <p:nvPr/>
        </p:nvSpPr>
        <p:spPr>
          <a:xfrm>
            <a:off x="8845620" y="2584690"/>
            <a:ext cx="2761200" cy="1865103"/>
          </a:xfrm>
          <a:prstGeom prst="roundRect">
            <a:avLst>
              <a:gd name="adj" fmla="val 8000"/>
            </a:avLst>
          </a:prstGeom>
          <a:solidFill>
            <a:srgbClr val="143458"/>
          </a:solidFill>
          <a:ln w="12700">
            <a:solidFill>
              <a:srgbClr val="355B85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697" name="Google Shape;976;p15">
            <a:extLst>
              <a:ext uri="{FF2B5EF4-FFF2-40B4-BE49-F238E27FC236}">
                <a16:creationId xmlns:a16="http://schemas.microsoft.com/office/drawing/2014/main" id="{C867FC8D-6892-40B1-919B-11A91DCEBAC3}"/>
              </a:ext>
            </a:extLst>
          </p:cNvPr>
          <p:cNvSpPr>
            <a:spLocks noGrp="1"/>
          </p:cNvSpPr>
          <p:nvPr/>
        </p:nvSpPr>
        <p:spPr>
          <a:xfrm>
            <a:off x="972600" y="2916124"/>
            <a:ext cx="2285640" cy="2875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</a:pPr>
            <a:r>
              <a:rPr sz="17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Bank Agent</a:t>
            </a:r>
            <a:endParaRPr sz="1700" b="0" u="none" dirty="0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698" name="Google Shape;977;p15">
            <a:extLst>
              <a:ext uri="{FF2B5EF4-FFF2-40B4-BE49-F238E27FC236}">
                <a16:creationId xmlns:a16="http://schemas.microsoft.com/office/drawing/2014/main" id="{CA09FF92-747E-467F-8C4B-9195921E1270}"/>
              </a:ext>
            </a:extLst>
          </p:cNvPr>
          <p:cNvSpPr>
            <a:spLocks noGrp="1"/>
          </p:cNvSpPr>
          <p:nvPr/>
        </p:nvSpPr>
        <p:spPr>
          <a:xfrm>
            <a:off x="972600" y="3407650"/>
            <a:ext cx="2285640" cy="6016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00" b="1">
                <a:solidFill>
                  <a:srgbClr val="FFFFFF"/>
                </a:solidFill>
              </a:defRPr>
            </a:pPr>
            <a:r>
              <a:rPr lang="ko-KR" altLang="en-US"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통화</a:t>
            </a:r>
            <a:r>
              <a:rPr lang="en-US" altLang="ko-KR"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</a:t>
            </a:r>
            <a:r>
              <a:rPr lang="ko-KR" altLang="en-US"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거래 맥락 분석</a:t>
            </a:r>
          </a:p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00" b="1">
                <a:solidFill>
                  <a:srgbClr val="FFFFFF"/>
                </a:solidFill>
              </a:defRPr>
            </a:pPr>
            <a:r>
              <a:rPr lang="ko-KR" altLang="en-US"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사건 </a:t>
            </a:r>
            <a:r>
              <a:rPr lang="en-US" altLang="ko-KR"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Brief</a:t>
            </a:r>
          </a:p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00" b="1">
                <a:solidFill>
                  <a:srgbClr val="FFFFFF"/>
                </a:solidFill>
              </a:defRPr>
            </a:pPr>
            <a:r>
              <a:rPr lang="ko-KR" altLang="en-US"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확인사항</a:t>
            </a:r>
            <a:r>
              <a:rPr lang="en-US" altLang="ko-KR"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</a:t>
            </a:r>
            <a:r>
              <a:rPr lang="ko-KR" altLang="en-US"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조치 초안 제안</a:t>
            </a:r>
            <a:endParaRPr lang="ko-KR" altLang="en-US" sz="1600" b="0" u="none" dirty="0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699" name="Google Shape;978;p15">
            <a:extLst>
              <a:ext uri="{FF2B5EF4-FFF2-40B4-BE49-F238E27FC236}">
                <a16:creationId xmlns:a16="http://schemas.microsoft.com/office/drawing/2014/main" id="{A58B5E6C-835E-49A7-A8FB-72C9CA13279E}"/>
              </a:ext>
            </a:extLst>
          </p:cNvPr>
          <p:cNvSpPr>
            <a:spLocks noGrp="1"/>
          </p:cNvSpPr>
          <p:nvPr/>
        </p:nvSpPr>
        <p:spPr>
          <a:xfrm>
            <a:off x="4675740" y="2667131"/>
            <a:ext cx="2998800" cy="1733486"/>
          </a:xfrm>
          <a:prstGeom prst="roundRect">
            <a:avLst>
              <a:gd name="adj" fmla="val 8000"/>
            </a:avLst>
          </a:prstGeom>
          <a:solidFill>
            <a:srgbClr val="091D36"/>
          </a:solidFill>
          <a:ln w="25400">
            <a:solidFill>
              <a:srgbClr val="4B89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700" name="Google Shape;979;p15">
            <a:extLst>
              <a:ext uri="{FF2B5EF4-FFF2-40B4-BE49-F238E27FC236}">
                <a16:creationId xmlns:a16="http://schemas.microsoft.com/office/drawing/2014/main" id="{0181A81F-9DBD-4896-86EF-9E3E2AB514F6}"/>
              </a:ext>
            </a:extLst>
          </p:cNvPr>
          <p:cNvSpPr>
            <a:spLocks noGrp="1"/>
          </p:cNvSpPr>
          <p:nvPr/>
        </p:nvSpPr>
        <p:spPr>
          <a:xfrm>
            <a:off x="4968420" y="3029611"/>
            <a:ext cx="2404440" cy="28015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</a:pPr>
            <a:r>
              <a:rPr sz="165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Case Orchestrator</a:t>
            </a:r>
            <a:endParaRPr sz="1650" b="0" u="none" dirty="0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701" name="Google Shape;980;p15">
            <a:extLst>
              <a:ext uri="{FF2B5EF4-FFF2-40B4-BE49-F238E27FC236}">
                <a16:creationId xmlns:a16="http://schemas.microsoft.com/office/drawing/2014/main" id="{18BDE09E-B0DD-4208-839B-CE421D72BF81}"/>
              </a:ext>
            </a:extLst>
          </p:cNvPr>
          <p:cNvSpPr>
            <a:spLocks noGrp="1"/>
          </p:cNvSpPr>
          <p:nvPr/>
        </p:nvSpPr>
        <p:spPr>
          <a:xfrm>
            <a:off x="4968420" y="3490090"/>
            <a:ext cx="2404440" cy="6016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00" b="1">
                <a:solidFill>
                  <a:srgbClr val="BFD0E8"/>
                </a:solidFill>
              </a:defRPr>
            </a:pPr>
            <a:r>
              <a:rPr sz="1200" b="1" u="none" dirty="0" err="1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발화</a:t>
            </a:r>
            <a:r>
              <a:rPr sz="1200" b="1" u="none" dirty="0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 </a:t>
            </a:r>
            <a:r>
              <a:rPr sz="1200" b="1" u="none" dirty="0" err="1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맥락</a:t>
            </a:r>
            <a:r>
              <a:rPr sz="1200" b="1" u="none" dirty="0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 </a:t>
            </a:r>
            <a:r>
              <a:rPr sz="1200" b="1" u="none" dirty="0" err="1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구조화</a:t>
            </a:r>
            <a:endParaRPr sz="1400" b="0" u="none" dirty="0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00" b="1">
                <a:solidFill>
                  <a:srgbClr val="BFD0E8"/>
                </a:solidFill>
              </a:defRPr>
            </a:pPr>
            <a:r>
              <a:rPr lang="ko-KR" altLang="en-US" sz="1200" b="1" u="none" dirty="0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업무 유형별 </a:t>
            </a:r>
            <a:r>
              <a:rPr lang="en-US" altLang="ko-KR" sz="1200" b="1" u="none" dirty="0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AI </a:t>
            </a:r>
            <a:r>
              <a:rPr lang="ko-KR" altLang="en-US" sz="1200" b="1" u="none" dirty="0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서비스 라우팅</a:t>
            </a:r>
          </a:p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00" b="1">
                <a:solidFill>
                  <a:srgbClr val="BFD0E8"/>
                </a:solidFill>
              </a:defRPr>
            </a:pPr>
            <a:r>
              <a:rPr lang="en-US" altLang="ko-KR" sz="1200" b="1" u="none" dirty="0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Case </a:t>
            </a:r>
            <a:r>
              <a:rPr lang="ko-KR" altLang="en-US" sz="1200" b="1" u="none" dirty="0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상태</a:t>
            </a:r>
            <a:r>
              <a:rPr lang="en-US" altLang="ko-KR" sz="1200" b="1" u="none" dirty="0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·</a:t>
            </a:r>
            <a:r>
              <a:rPr lang="ko-KR" altLang="en-US" sz="1200" b="1" u="none" dirty="0">
                <a:solidFill>
                  <a:srgbClr val="BFD0E8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기록 통합</a:t>
            </a:r>
            <a:endParaRPr sz="1400" b="0" u="none" dirty="0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cxnSp>
        <p:nvCxnSpPr>
          <p:cNvPr id="862" name="Google Shape;981;p15"/>
          <p:cNvCxnSpPr/>
          <p:nvPr/>
        </p:nvCxnSpPr>
        <p:spPr>
          <a:xfrm>
            <a:off x="3505380" y="3564039"/>
            <a:ext cx="1161360" cy="360"/>
          </a:xfrm>
          <a:prstGeom prst="straightConnector1">
            <a:avLst/>
          </a:prstGeom>
          <a:ln w="27925">
            <a:solidFill>
              <a:srgbClr val="4B89FF"/>
            </a:solidFill>
            <a:miter/>
          </a:ln>
        </p:spPr>
      </p:cxnSp>
      <p:cxnSp>
        <p:nvCxnSpPr>
          <p:cNvPr id="863" name="Google Shape;982;p15"/>
          <p:cNvCxnSpPr/>
          <p:nvPr/>
        </p:nvCxnSpPr>
        <p:spPr>
          <a:xfrm>
            <a:off x="7674900" y="3564039"/>
            <a:ext cx="1161720" cy="360"/>
          </a:xfrm>
          <a:prstGeom prst="straightConnector1">
            <a:avLst/>
          </a:prstGeom>
          <a:ln w="27925">
            <a:solidFill>
              <a:srgbClr val="4B89FF"/>
            </a:solidFill>
            <a:miter/>
          </a:ln>
        </p:spPr>
      </p:cxnSp>
      <p:sp>
        <p:nvSpPr>
          <p:cNvPr id="706" name="Google Shape;985;p15">
            <a:extLst>
              <a:ext uri="{FF2B5EF4-FFF2-40B4-BE49-F238E27FC236}">
                <a16:creationId xmlns:a16="http://schemas.microsoft.com/office/drawing/2014/main" id="{E914C492-F18A-4C1C-A32A-F1F316F9F9EA}"/>
              </a:ext>
            </a:extLst>
          </p:cNvPr>
          <p:cNvSpPr>
            <a:spLocks noGrp="1"/>
          </p:cNvSpPr>
          <p:nvPr/>
        </p:nvSpPr>
        <p:spPr>
          <a:xfrm>
            <a:off x="4676460" y="1807237"/>
            <a:ext cx="2997720" cy="438480"/>
          </a:xfrm>
          <a:prstGeom prst="roundRect">
            <a:avLst>
              <a:gd name="adj" fmla="val 8000"/>
            </a:avLst>
          </a:prstGeom>
          <a:solidFill>
            <a:srgbClr val="091D36"/>
          </a:solidFill>
          <a:ln w="12700">
            <a:solidFill>
              <a:srgbClr val="4B89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707" name="Google Shape;986;p15">
            <a:extLst>
              <a:ext uri="{FF2B5EF4-FFF2-40B4-BE49-F238E27FC236}">
                <a16:creationId xmlns:a16="http://schemas.microsoft.com/office/drawing/2014/main" id="{C36C714B-1A63-4957-A900-206472BD96A2}"/>
              </a:ext>
            </a:extLst>
          </p:cNvPr>
          <p:cNvSpPr>
            <a:spLocks noGrp="1"/>
          </p:cNvSpPr>
          <p:nvPr/>
        </p:nvSpPr>
        <p:spPr>
          <a:xfrm>
            <a:off x="4556847" y="1917742"/>
            <a:ext cx="3218226" cy="1991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00" b="1">
                <a:solidFill>
                  <a:srgbClr val="FFFFFF"/>
                </a:solidFill>
              </a:defRPr>
            </a:pPr>
            <a:r>
              <a:rPr sz="11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Verification Agent · </a:t>
            </a:r>
            <a:r>
              <a:rPr sz="1100" b="1" u="none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사칭기관</a:t>
            </a:r>
            <a:r>
              <a:rPr sz="11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/</a:t>
            </a:r>
            <a:r>
              <a:rPr lang="ko-KR" altLang="en-US" sz="11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주장 정리</a:t>
            </a:r>
            <a:endParaRPr sz="1100" b="0" u="none" dirty="0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cxnSp>
        <p:nvCxnSpPr>
          <p:cNvPr id="868" name="Google Shape;987;p15"/>
          <p:cNvCxnSpPr>
            <a:cxnSpLocks/>
            <a:stCxn id="706" idx="2"/>
          </p:cNvCxnSpPr>
          <p:nvPr/>
        </p:nvCxnSpPr>
        <p:spPr>
          <a:xfrm>
            <a:off x="6175320" y="2245717"/>
            <a:ext cx="180" cy="421413"/>
          </a:xfrm>
          <a:prstGeom prst="straightConnector1">
            <a:avLst/>
          </a:prstGeom>
          <a:ln w="21575">
            <a:solidFill>
              <a:srgbClr val="4B89FF"/>
            </a:solidFill>
            <a:miter/>
          </a:ln>
        </p:spPr>
      </p:cxnSp>
      <p:sp>
        <p:nvSpPr>
          <p:cNvPr id="709" name="Google Shape;988;p15">
            <a:extLst>
              <a:ext uri="{FF2B5EF4-FFF2-40B4-BE49-F238E27FC236}">
                <a16:creationId xmlns:a16="http://schemas.microsoft.com/office/drawing/2014/main" id="{6E6C9250-9AF6-453B-B4BE-C44D8B735D4D}"/>
              </a:ext>
            </a:extLst>
          </p:cNvPr>
          <p:cNvSpPr>
            <a:spLocks noGrp="1"/>
          </p:cNvSpPr>
          <p:nvPr/>
        </p:nvSpPr>
        <p:spPr>
          <a:xfrm>
            <a:off x="3532740" y="4863830"/>
            <a:ext cx="5303160" cy="559744"/>
          </a:xfrm>
          <a:prstGeom prst="roundRect">
            <a:avLst>
              <a:gd name="adj" fmla="val 8000"/>
            </a:avLst>
          </a:prstGeom>
          <a:solidFill>
            <a:srgbClr val="0B1E37"/>
          </a:solidFill>
          <a:ln w="12700">
            <a:solidFill>
              <a:srgbClr val="375E8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710" name="Google Shape;989;p15">
            <a:extLst>
              <a:ext uri="{FF2B5EF4-FFF2-40B4-BE49-F238E27FC236}">
                <a16:creationId xmlns:a16="http://schemas.microsoft.com/office/drawing/2014/main" id="{52CB81E6-576D-4FC0-BE30-09D90B6E9F75}"/>
              </a:ext>
            </a:extLst>
          </p:cNvPr>
          <p:cNvSpPr>
            <a:spLocks noGrp="1"/>
          </p:cNvSpPr>
          <p:nvPr/>
        </p:nvSpPr>
        <p:spPr>
          <a:xfrm>
            <a:off x="3733980" y="5057557"/>
            <a:ext cx="4900680" cy="21385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00" b="1">
                <a:solidFill>
                  <a:srgbClr val="FFFFFF"/>
                </a:solidFill>
              </a:defRPr>
            </a:pPr>
            <a:r>
              <a:rPr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Shared Case Engine · </a:t>
            </a:r>
            <a:r>
              <a:rPr sz="1200" b="1" u="none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발화</a:t>
            </a:r>
            <a:r>
              <a:rPr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 </a:t>
            </a:r>
            <a:r>
              <a:rPr sz="1200" b="1" u="none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맥락</a:t>
            </a:r>
            <a:r>
              <a:rPr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 · </a:t>
            </a:r>
            <a:r>
              <a:rPr sz="1200" b="1" u="none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확인</a:t>
            </a:r>
            <a:r>
              <a:rPr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 </a:t>
            </a:r>
            <a:r>
              <a:rPr sz="1200" b="1" u="none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근거</a:t>
            </a:r>
            <a:r>
              <a:rPr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 · </a:t>
            </a:r>
            <a:r>
              <a:rPr sz="1200" b="1" u="none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설득</a:t>
            </a:r>
            <a:r>
              <a:rPr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 </a:t>
            </a:r>
            <a:r>
              <a:rPr sz="1200" b="1" u="none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포인트</a:t>
            </a:r>
            <a:endParaRPr sz="1200" b="0" u="none" dirty="0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712" name="Google Shape;991;p15">
            <a:extLst>
              <a:ext uri="{FF2B5EF4-FFF2-40B4-BE49-F238E27FC236}">
                <a16:creationId xmlns:a16="http://schemas.microsoft.com/office/drawing/2014/main" id="{E8A5F3E6-6BAD-4E19-9894-F1B100AA599C}"/>
              </a:ext>
            </a:extLst>
          </p:cNvPr>
          <p:cNvSpPr>
            <a:spLocks noGrp="1"/>
          </p:cNvSpPr>
          <p:nvPr/>
        </p:nvSpPr>
        <p:spPr>
          <a:xfrm>
            <a:off x="2124780" y="5852520"/>
            <a:ext cx="8101080" cy="475200"/>
          </a:xfrm>
          <a:prstGeom prst="roundRect">
            <a:avLst>
              <a:gd name="adj" fmla="val 8000"/>
            </a:avLst>
          </a:prstGeom>
          <a:solidFill>
            <a:srgbClr val="133C69"/>
          </a:solidFill>
          <a:ln w="12700">
            <a:solidFill>
              <a:srgbClr val="133C6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713" name="Google Shape;992;p15">
            <a:extLst>
              <a:ext uri="{FF2B5EF4-FFF2-40B4-BE49-F238E27FC236}">
                <a16:creationId xmlns:a16="http://schemas.microsoft.com/office/drawing/2014/main" id="{D478C87D-4941-484C-BD11-B2BB9713768B}"/>
              </a:ext>
            </a:extLst>
          </p:cNvPr>
          <p:cNvSpPr>
            <a:spLocks noGrp="1"/>
          </p:cNvSpPr>
          <p:nvPr/>
        </p:nvSpPr>
        <p:spPr>
          <a:xfrm>
            <a:off x="2348520" y="5978695"/>
            <a:ext cx="7634880" cy="2433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1125" b="1">
                <a:solidFill>
                  <a:srgbClr val="FFFFFF"/>
                </a:solidFill>
              </a:defRPr>
            </a:pPr>
            <a:r>
              <a:rPr lang="ko-KR" altLang="en-US" sz="14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각 </a:t>
            </a:r>
            <a:r>
              <a:rPr lang="en-US" altLang="ko-KR" sz="14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AI </a:t>
            </a:r>
            <a:r>
              <a:rPr lang="ko-KR" altLang="en-US" sz="14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지원 결과는 따로 흩어지지 않고 동일한 </a:t>
            </a:r>
            <a:r>
              <a:rPr lang="en-US" altLang="ko-KR" sz="14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Shared Case</a:t>
            </a:r>
            <a:r>
              <a:rPr lang="ko-KR" altLang="en-US" sz="14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에 기록됩니다</a:t>
            </a:r>
            <a:r>
              <a:rPr lang="en-US" altLang="ko-KR" sz="14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.</a:t>
            </a:r>
            <a:endParaRPr sz="1400" b="0" u="none" dirty="0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694" name="Google Shape;973;p15">
            <a:extLst>
              <a:ext uri="{FF2B5EF4-FFF2-40B4-BE49-F238E27FC236}">
                <a16:creationId xmlns:a16="http://schemas.microsoft.com/office/drawing/2014/main" id="{5DB271C9-2E54-4EDB-B3B7-3E2962866BA2}"/>
              </a:ext>
            </a:extLst>
          </p:cNvPr>
          <p:cNvSpPr>
            <a:spLocks noGrp="1"/>
          </p:cNvSpPr>
          <p:nvPr/>
        </p:nvSpPr>
        <p:spPr>
          <a:xfrm>
            <a:off x="9083400" y="2847386"/>
            <a:ext cx="2285640" cy="2875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</a:pPr>
            <a:r>
              <a:rPr sz="17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Customer Agent</a:t>
            </a:r>
            <a:endParaRPr sz="1700" b="0" u="none" dirty="0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695" name="Google Shape;974;p15">
            <a:extLst>
              <a:ext uri="{FF2B5EF4-FFF2-40B4-BE49-F238E27FC236}">
                <a16:creationId xmlns:a16="http://schemas.microsoft.com/office/drawing/2014/main" id="{6EDA629C-AA7D-4BA3-9506-6751F3DED71D}"/>
              </a:ext>
            </a:extLst>
          </p:cNvPr>
          <p:cNvSpPr>
            <a:spLocks noGrp="1"/>
          </p:cNvSpPr>
          <p:nvPr/>
        </p:nvSpPr>
        <p:spPr>
          <a:xfrm>
            <a:off x="9083400" y="3338912"/>
            <a:ext cx="2285640" cy="7955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00" b="1">
                <a:solidFill>
                  <a:srgbClr val="FFFFFF"/>
                </a:solidFill>
              </a:defRPr>
            </a:pPr>
            <a:r>
              <a:rPr lang="ko-KR" altLang="en-US"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상황 브리핑</a:t>
            </a:r>
          </a:p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00" b="1">
                <a:solidFill>
                  <a:srgbClr val="FFFFFF"/>
                </a:solidFill>
              </a:defRPr>
            </a:pPr>
            <a:r>
              <a:rPr lang="ko-KR" altLang="en-US"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안전 확인 질문</a:t>
            </a:r>
          </a:p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00" b="1">
                <a:solidFill>
                  <a:srgbClr val="FFFFFF"/>
                </a:solidFill>
              </a:defRPr>
            </a:pPr>
            <a:r>
              <a:rPr lang="ko-KR" altLang="en-US"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답변 구조화</a:t>
            </a:r>
          </a:p>
          <a:p>
            <a:pPr algn="ctr">
              <a:lnSpc>
                <a:spcPct val="105000"/>
              </a:lnSpc>
              <a:buNone/>
              <a:tabLst>
                <a:tab pos="0" algn="l"/>
              </a:tabLst>
              <a:defRPr sz="900" b="1">
                <a:solidFill>
                  <a:srgbClr val="FFFFFF"/>
                </a:solidFill>
              </a:defRPr>
            </a:pPr>
            <a:r>
              <a:rPr lang="ko-KR" altLang="en-US" sz="1200" b="1" u="none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안전 행동 안내</a:t>
            </a:r>
            <a:endParaRPr lang="ko-KR" altLang="en-US" sz="1200" b="0" u="none" dirty="0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BDA50C-7D7A-4696-8B0C-C2B606EF6BF9}"/>
              </a:ext>
            </a:extLst>
          </p:cNvPr>
          <p:cNvSpPr txBox="1"/>
          <p:nvPr/>
        </p:nvSpPr>
        <p:spPr>
          <a:xfrm>
            <a:off x="11606820" y="6476226"/>
            <a:ext cx="320040" cy="1600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lang="en-US" sz="800" b="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16</a:t>
            </a:r>
            <a:endParaRPr sz="800" b="0" dirty="0">
              <a:solidFill>
                <a:srgbClr val="6A7B97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DC852B1-83BB-4A0C-82FB-FC359EE6BF5B}"/>
              </a:ext>
            </a:extLst>
          </p:cNvPr>
          <p:cNvSpPr>
            <a:spLocks noGrp="1"/>
          </p:cNvSpPr>
          <p:nvPr/>
        </p:nvSpPr>
        <p:spPr>
          <a:xfrm>
            <a:off x="2047875" y="296569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/>
              </a:rPr>
              <a:t>01 </a:t>
            </a:r>
            <a:r>
              <a:rPr sz="1050" b="0" dirty="0" err="1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/>
              </a:rPr>
              <a:t>프로젝트</a:t>
            </a:r>
            <a:r>
              <a:rPr sz="1050" b="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/>
              </a:rPr>
              <a:t> </a:t>
            </a:r>
            <a:r>
              <a:rPr sz="1050" b="0" dirty="0" err="1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/>
              </a:rPr>
              <a:t>개요</a:t>
            </a:r>
            <a:r>
              <a:rPr lang="en-US" sz="1050" b="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/>
              </a:rPr>
              <a:t> – </a:t>
            </a:r>
            <a:r>
              <a:rPr lang="ko-KR" altLang="en-US" sz="1050" b="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/>
              </a:rPr>
              <a:t>서비스 소개</a:t>
            </a:r>
            <a:endParaRPr sz="1050" b="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37271421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28138E-D025-45FD-80DD-92885086579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9000">
                <a:srgbClr val="0E2746"/>
              </a:gs>
              <a:gs pos="0">
                <a:schemeClr val="tx1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3AAE51-D6BC-488B-A905-DB9C5436B9D6}"/>
              </a:ext>
            </a:extLst>
          </p:cNvPr>
          <p:cNvSpPr>
            <a:spLocks noGrp="1"/>
          </p:cNvSpPr>
          <p:nvPr/>
        </p:nvSpPr>
        <p:spPr>
          <a:xfrm>
            <a:off x="524375" y="304410"/>
            <a:ext cx="2569549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/>
              </a:rPr>
              <a:t>01 </a:t>
            </a:r>
            <a:r>
              <a:rPr sz="1050" b="0" dirty="0" err="1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/>
              </a:rPr>
              <a:t>프로젝트</a:t>
            </a:r>
            <a:r>
              <a:rPr sz="1050" b="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/>
              </a:rPr>
              <a:t> </a:t>
            </a:r>
            <a:r>
              <a:rPr sz="1050" b="0" dirty="0" err="1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/>
              </a:rPr>
              <a:t>개요</a:t>
            </a:r>
            <a:r>
              <a:rPr lang="en-US" sz="1050" b="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/>
              </a:rPr>
              <a:t> </a:t>
            </a:r>
            <a:r>
              <a:rPr lang="en-US" altLang="ko-KR" sz="1050" b="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/>
              </a:rPr>
              <a:t>– </a:t>
            </a:r>
            <a:r>
              <a:rPr lang="ko-KR" altLang="en-US" sz="1050" b="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/>
              </a:rPr>
              <a:t>왜 필요할까요</a:t>
            </a:r>
            <a:r>
              <a:rPr lang="en-US" altLang="ko-KR" sz="1050" b="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Noto Sans KR"/>
              </a:rPr>
              <a:t>?</a:t>
            </a:r>
            <a:endParaRPr sz="1050" b="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  <a:cs typeface="Noto Sans K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65D52A-1637-47D0-9F4F-69547D55BD88}"/>
              </a:ext>
            </a:extLst>
          </p:cNvPr>
          <p:cNvSpPr txBox="1"/>
          <p:nvPr/>
        </p:nvSpPr>
        <p:spPr>
          <a:xfrm>
            <a:off x="566928" y="564930"/>
            <a:ext cx="10744200" cy="71404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lang="ko-KR" altLang="en-US" sz="2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기존 보이스피싱 대응체계는 통신</a:t>
            </a:r>
            <a:r>
              <a:rPr lang="en-US" altLang="ko-KR" sz="2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2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금융</a:t>
            </a:r>
            <a:r>
              <a:rPr lang="en-US" altLang="ko-KR" sz="2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2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수사 과정에서 포착된 위험정보를</a:t>
            </a:r>
          </a:p>
          <a:p>
            <a:pPr algn="l"/>
            <a:r>
              <a:rPr lang="ko-KR" altLang="en-US" sz="22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각 단계에서 ‘탐지 → 정보공유 → 금융거래보호’의 역할별 체계로 작동합니다</a:t>
            </a:r>
          </a:p>
        </p:txBody>
      </p:sp>
      <p:sp>
        <p:nvSpPr>
          <p:cNvPr id="13" name="Rounded Rectangle 42">
            <a:extLst>
              <a:ext uri="{FF2B5EF4-FFF2-40B4-BE49-F238E27FC236}">
                <a16:creationId xmlns:a16="http://schemas.microsoft.com/office/drawing/2014/main" id="{9CBB38AF-A5DF-4E13-A7FC-641398B48226}"/>
              </a:ext>
            </a:extLst>
          </p:cNvPr>
          <p:cNvSpPr/>
          <p:nvPr/>
        </p:nvSpPr>
        <p:spPr>
          <a:xfrm>
            <a:off x="1809150" y="5156806"/>
            <a:ext cx="8498650" cy="47426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14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rPr>
              <a:t>기존 대응체계는 위험을 탐지하고 정보를 공유하며 금융거래를 보호하는 방향으로 빠르게 고도화되고 있습니다</a:t>
            </a:r>
            <a:r>
              <a:rPr lang="en-US" altLang="ko-KR" sz="1400" b="1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rPr>
              <a:t>.</a:t>
            </a:r>
            <a:endParaRPr lang="ko-KR" altLang="en-US" sz="1400" b="1" dirty="0">
              <a:solidFill>
                <a:srgbClr val="0E2746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4" name="Rounded Rectangle 42">
            <a:extLst>
              <a:ext uri="{FF2B5EF4-FFF2-40B4-BE49-F238E27FC236}">
                <a16:creationId xmlns:a16="http://schemas.microsoft.com/office/drawing/2014/main" id="{B67ABD88-FDF2-4701-8041-E863857ABC82}"/>
              </a:ext>
            </a:extLst>
          </p:cNvPr>
          <p:cNvSpPr/>
          <p:nvPr/>
        </p:nvSpPr>
        <p:spPr>
          <a:xfrm>
            <a:off x="1809150" y="5747303"/>
            <a:ext cx="8498650" cy="474264"/>
          </a:xfrm>
          <a:prstGeom prst="roundRect">
            <a:avLst/>
          </a:prstGeom>
          <a:solidFill>
            <a:srgbClr val="14345B"/>
          </a:solidFill>
          <a:ln w="12700">
            <a:solidFill>
              <a:srgbClr val="14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그렇다면 위험정보가 </a:t>
            </a:r>
            <a:r>
              <a:rPr lang="en-US" altLang="ko-KR" sz="1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FDS</a:t>
            </a:r>
            <a:r>
              <a:rPr lang="ko-KR" altLang="en-US" sz="1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에 포착된 이후</a:t>
            </a:r>
            <a:r>
              <a:rPr lang="en-US" altLang="ko-KR" sz="1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1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실제 피해를 막기 위해 금융회사에서는 어떤 업무</a:t>
            </a:r>
            <a:r>
              <a:rPr lang="ko-KR" altLang="en-US" sz="1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가 이어질까요</a:t>
            </a:r>
            <a:r>
              <a:rPr lang="en-US" altLang="ko-KR" sz="1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593D088-BE32-44FE-A241-273EBF45FD5D}"/>
              </a:ext>
            </a:extLst>
          </p:cNvPr>
          <p:cNvSpPr txBox="1"/>
          <p:nvPr/>
        </p:nvSpPr>
        <p:spPr>
          <a:xfrm>
            <a:off x="566928" y="6531269"/>
            <a:ext cx="4514056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ko-KR" altLang="en-US" sz="800" b="0" dirty="0">
                <a:solidFill>
                  <a:srgbClr val="6E8097"/>
                </a:solidFill>
                <a:latin typeface="페이퍼로지 4 Regular" pitchFamily="2" charset="-127"/>
                <a:ea typeface="페이퍼로지 4 Regular" pitchFamily="2" charset="-127"/>
              </a:rPr>
              <a:t>출처</a:t>
            </a:r>
            <a:r>
              <a:rPr lang="en-US" altLang="ko-KR" sz="800" b="0" dirty="0">
                <a:solidFill>
                  <a:srgbClr val="6E8097"/>
                </a:solidFill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800" b="0" dirty="0">
                <a:solidFill>
                  <a:srgbClr val="6E8097"/>
                </a:solidFill>
                <a:latin typeface="페이퍼로지 4 Regular" pitchFamily="2" charset="-127"/>
                <a:ea typeface="페이퍼로지 4 Regular" pitchFamily="2" charset="-127"/>
              </a:rPr>
              <a:t>금융위원회 </a:t>
            </a:r>
            <a:r>
              <a:rPr lang="en-US" altLang="ko-KR" sz="800" b="0" dirty="0">
                <a:solidFill>
                  <a:srgbClr val="6E8097"/>
                </a:solidFill>
                <a:latin typeface="페이퍼로지 4 Regular" pitchFamily="2" charset="-127"/>
                <a:ea typeface="페이퍼로지 4 Regular" pitchFamily="2" charset="-127"/>
              </a:rPr>
              <a:t>ASAP </a:t>
            </a:r>
            <a:r>
              <a:rPr lang="ko-KR" altLang="en-US" sz="800" b="0" dirty="0">
                <a:solidFill>
                  <a:srgbClr val="6E8097"/>
                </a:solidFill>
                <a:latin typeface="페이퍼로지 4 Regular" pitchFamily="2" charset="-127"/>
                <a:ea typeface="페이퍼로지 4 Regular" pitchFamily="2" charset="-127"/>
              </a:rPr>
              <a:t>관련 보도자료 </a:t>
            </a:r>
            <a:r>
              <a:rPr lang="en-US" altLang="ko-KR" sz="800" b="0" dirty="0">
                <a:solidFill>
                  <a:srgbClr val="6E8097"/>
                </a:solidFill>
                <a:latin typeface="페이퍼로지 4 Regular" pitchFamily="2" charset="-127"/>
                <a:ea typeface="페이퍼로지 4 Regular" pitchFamily="2" charset="-127"/>
              </a:rPr>
              <a:t>· </a:t>
            </a:r>
            <a:r>
              <a:rPr lang="ko-KR" altLang="en-US" sz="800" b="0" dirty="0">
                <a:solidFill>
                  <a:srgbClr val="6E8097"/>
                </a:solidFill>
                <a:latin typeface="페이퍼로지 4 Regular" pitchFamily="2" charset="-127"/>
                <a:ea typeface="페이퍼로지 4 Regular" pitchFamily="2" charset="-127"/>
              </a:rPr>
              <a:t>금융보안원 </a:t>
            </a:r>
            <a:r>
              <a:rPr lang="en-US" altLang="ko-KR" sz="800" b="0" dirty="0">
                <a:solidFill>
                  <a:srgbClr val="6E8097"/>
                </a:solidFill>
                <a:latin typeface="페이퍼로지 4 Regular" pitchFamily="2" charset="-127"/>
                <a:ea typeface="페이퍼로지 4 Regular" pitchFamily="2" charset="-127"/>
              </a:rPr>
              <a:t>FDS </a:t>
            </a:r>
            <a:r>
              <a:rPr lang="ko-KR" altLang="en-US" sz="800" b="0" dirty="0">
                <a:solidFill>
                  <a:srgbClr val="6E8097"/>
                </a:solidFill>
                <a:latin typeface="페이퍼로지 4 Regular" pitchFamily="2" charset="-127"/>
                <a:ea typeface="페이퍼로지 4 Regular" pitchFamily="2" charset="-127"/>
              </a:rPr>
              <a:t>운영 가이드라인 </a:t>
            </a:r>
            <a:r>
              <a:rPr lang="en-US" altLang="ko-KR" sz="800" b="0" dirty="0">
                <a:solidFill>
                  <a:srgbClr val="6E8097"/>
                </a:solidFill>
                <a:latin typeface="페이퍼로지 4 Regular" pitchFamily="2" charset="-127"/>
                <a:ea typeface="페이퍼로지 4 Regular" pitchFamily="2" charset="-127"/>
              </a:rPr>
              <a:t>· </a:t>
            </a:r>
            <a:r>
              <a:rPr lang="ko-KR" altLang="en-US" sz="800" b="0" dirty="0">
                <a:solidFill>
                  <a:srgbClr val="6E8097"/>
                </a:solidFill>
                <a:latin typeface="페이퍼로지 4 Regular" pitchFamily="2" charset="-127"/>
                <a:ea typeface="페이퍼로지 4 Regular" pitchFamily="2" charset="-127"/>
              </a:rPr>
              <a:t>통신사 </a:t>
            </a:r>
            <a:r>
              <a:rPr lang="en-US" altLang="ko-KR" sz="800" b="0" dirty="0">
                <a:solidFill>
                  <a:srgbClr val="6E8097"/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800" b="0" dirty="0">
                <a:solidFill>
                  <a:srgbClr val="6E8097"/>
                </a:solidFill>
                <a:latin typeface="페이퍼로지 4 Regular" pitchFamily="2" charset="-127"/>
                <a:ea typeface="페이퍼로지 4 Regular" pitchFamily="2" charset="-127"/>
              </a:rPr>
              <a:t>보이스피싱 탐지 공개자료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136DB43-C9CD-404B-A5B3-2284A0F2287A}"/>
              </a:ext>
            </a:extLst>
          </p:cNvPr>
          <p:cNvSpPr>
            <a:spLocks noGrp="1"/>
          </p:cNvSpPr>
          <p:nvPr/>
        </p:nvSpPr>
        <p:spPr>
          <a:xfrm>
            <a:off x="11656436" y="6450052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0</a:t>
            </a:r>
            <a:r>
              <a:rPr lang="en-US" sz="1050" b="0" dirty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4</a:t>
            </a:r>
            <a:endParaRPr sz="1050" b="0" dirty="0">
              <a:solidFill>
                <a:srgbClr val="698099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33344087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79318" y="5750044"/>
            <a:ext cx="11623845" cy="971034"/>
          </a:xfrm>
          <a:prstGeom prst="roundRect">
            <a:avLst>
              <a:gd name="adj" fmla="val 8824"/>
            </a:avLst>
          </a:prstGeom>
          <a:solidFill>
            <a:srgbClr val="FDEFEF"/>
          </a:solidFill>
          <a:ln w="19050">
            <a:solidFill>
              <a:srgbClr val="FDE9E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547" y="5921402"/>
            <a:ext cx="19040" cy="6473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35" y="5911883"/>
            <a:ext cx="742555" cy="6568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126186" y="5873802"/>
            <a:ext cx="7044755" cy="666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923"/>
              </a:lnSpc>
            </a:pPr>
            <a:r>
              <a:rPr lang="en-US" sz="1957" b="1" dirty="0">
                <a:solidFill>
                  <a:srgbClr val="33455D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FDS는 이상거래를 탐지하지만, 이후의 대응은 한 명이 아닌
</a:t>
            </a:r>
            <a:r>
              <a:rPr lang="en-US" sz="1957" b="1" dirty="0">
                <a:solidFill>
                  <a:srgbClr val="E4313D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여러 담당자의 확인과 조치로 이어진다.</a:t>
            </a:r>
            <a:endParaRPr lang="en-US" sz="1957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Shape 3"/>
          <p:cNvSpPr/>
          <p:nvPr/>
        </p:nvSpPr>
        <p:spPr>
          <a:xfrm>
            <a:off x="9770697" y="4122135"/>
            <a:ext cx="2132466" cy="1513670"/>
          </a:xfrm>
          <a:prstGeom prst="rect">
            <a:avLst/>
          </a:prstGeom>
          <a:solidFill>
            <a:srgbClr val="ECF2F8"/>
          </a:solidFill>
          <a:ln w="19050">
            <a:solidFill>
              <a:srgbClr val="FAFAFC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884936" y="4912289"/>
            <a:ext cx="1913508" cy="647356"/>
          </a:xfrm>
          <a:prstGeom prst="roundRect">
            <a:avLst>
              <a:gd name="adj" fmla="val 10294"/>
            </a:avLst>
          </a:prstGeom>
          <a:solidFill>
            <a:srgbClr val="F9FBFC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5334" y="5321647"/>
            <a:ext cx="38080" cy="2856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5334" y="5169327"/>
            <a:ext cx="38080" cy="28560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5334" y="5017008"/>
            <a:ext cx="38080" cy="285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265734" y="5102688"/>
            <a:ext cx="1047193" cy="46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08"/>
              </a:lnSpc>
            </a:pPr>
            <a:r>
              <a:rPr lang="en-US" sz="975" dirty="0">
                <a:solidFill>
                  <a:srgbClr val="778699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관련부서 협업</a:t>
            </a:r>
            <a:endParaRPr lang="en-US" sz="975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1208"/>
              </a:lnSpc>
            </a:pPr>
            <a:r>
              <a:rPr lang="en-US" sz="975" dirty="0">
                <a:solidFill>
                  <a:srgbClr val="778699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거래 중지/해제 등</a:t>
            </a:r>
            <a:endParaRPr lang="en-US" sz="975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1208"/>
              </a:lnSpc>
            </a:pPr>
            <a:r>
              <a:rPr lang="en-US" sz="975" dirty="0">
                <a:solidFill>
                  <a:srgbClr val="778699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후속조치 검토</a:t>
            </a:r>
            <a:endParaRPr lang="en-US" sz="975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3" name="Text 6"/>
          <p:cNvSpPr/>
          <p:nvPr/>
        </p:nvSpPr>
        <p:spPr>
          <a:xfrm>
            <a:off x="10265734" y="4940849"/>
            <a:ext cx="495037" cy="1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67"/>
              </a:lnSpc>
            </a:pPr>
            <a:r>
              <a:rPr lang="en-US" sz="946" dirty="0">
                <a:solidFill>
                  <a:srgbClr val="728093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추가조회</a:t>
            </a:r>
            <a:endParaRPr lang="en-US" sz="946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4" name="Shape 7"/>
          <p:cNvSpPr/>
          <p:nvPr/>
        </p:nvSpPr>
        <p:spPr>
          <a:xfrm>
            <a:off x="9884936" y="4617172"/>
            <a:ext cx="1923027" cy="276078"/>
          </a:xfrm>
          <a:prstGeom prst="roundRect">
            <a:avLst>
              <a:gd name="adj" fmla="val 5172"/>
            </a:avLst>
          </a:prstGeom>
          <a:solidFill>
            <a:srgbClr val="194771"/>
          </a:solidFill>
          <a:ln w="9525">
            <a:solidFill>
              <a:srgbClr val="1C4973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10170535" y="4664771"/>
            <a:ext cx="1380391" cy="18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15"/>
              </a:lnSpc>
            </a:pPr>
            <a:r>
              <a:rPr lang="en-US" sz="992" dirty="0">
                <a:solidFill>
                  <a:srgbClr val="A2B5C6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내부 검토 · 조치 담당자</a:t>
            </a:r>
            <a:endParaRPr lang="en-US" sz="992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89411" y="4169734"/>
            <a:ext cx="495037" cy="418877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7647751" y="4141174"/>
            <a:ext cx="2122946" cy="1485111"/>
          </a:xfrm>
          <a:prstGeom prst="rect">
            <a:avLst/>
          </a:prstGeom>
          <a:solidFill>
            <a:srgbClr val="EFF4F9"/>
          </a:solidFill>
          <a:ln w="28575">
            <a:solidFill>
              <a:srgbClr val="F8FAFC"/>
            </a:solidFill>
            <a:prstDash val="solid"/>
          </a:ln>
        </p:spPr>
      </p:sp>
      <p:sp>
        <p:nvSpPr>
          <p:cNvPr id="18" name="Shape 10"/>
          <p:cNvSpPr/>
          <p:nvPr/>
        </p:nvSpPr>
        <p:spPr>
          <a:xfrm>
            <a:off x="7761990" y="4931329"/>
            <a:ext cx="1903988" cy="599756"/>
          </a:xfrm>
          <a:prstGeom prst="roundRect">
            <a:avLst>
              <a:gd name="adj" fmla="val 9524"/>
            </a:avLst>
          </a:prstGeom>
          <a:solidFill>
            <a:srgbClr val="F9FBFC"/>
          </a:solidFill>
          <a:ln/>
        </p:spPr>
      </p:sp>
      <p:sp>
        <p:nvSpPr>
          <p:cNvPr id="19" name="Text 11"/>
          <p:cNvSpPr/>
          <p:nvPr/>
        </p:nvSpPr>
        <p:spPr>
          <a:xfrm>
            <a:off x="7923829" y="5026529"/>
            <a:ext cx="1618389" cy="390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300"/>
              </a:lnSpc>
            </a:pPr>
            <a:r>
              <a:rPr lang="en-US" sz="999" dirty="0">
                <a:solidFill>
                  <a:srgbClr val="77879A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고객 연락  · 거래 목적/경위</a:t>
            </a:r>
            <a:endParaRPr lang="en-US" sz="999" dirty="0">
              <a:latin typeface="페이퍼로지 5 Medium" pitchFamily="2" charset="-127"/>
              <a:ea typeface="페이퍼로지 5 Medium" pitchFamily="2" charset="-127"/>
            </a:endParaRPr>
          </a:p>
          <a:p>
            <a:pPr algn="ctr">
              <a:lnSpc>
                <a:spcPts val="1300"/>
              </a:lnSpc>
            </a:pPr>
            <a:r>
              <a:rPr lang="en-US" sz="999" dirty="0">
                <a:solidFill>
                  <a:srgbClr val="77879A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확인</a:t>
            </a:r>
            <a:endParaRPr lang="en-US" sz="999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7752470" y="4617171"/>
            <a:ext cx="1923027" cy="285598"/>
          </a:xfrm>
          <a:prstGeom prst="roundRect">
            <a:avLst>
              <a:gd name="adj" fmla="val 3333"/>
            </a:avLst>
          </a:prstGeom>
          <a:solidFill>
            <a:srgbClr val="134470"/>
          </a:solidFill>
          <a:ln/>
        </p:spPr>
      </p:sp>
      <p:sp>
        <p:nvSpPr>
          <p:cNvPr id="21" name="Text 13"/>
          <p:cNvSpPr/>
          <p:nvPr/>
        </p:nvSpPr>
        <p:spPr>
          <a:xfrm>
            <a:off x="8076148" y="4664771"/>
            <a:ext cx="1304231" cy="18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75"/>
              </a:lnSpc>
            </a:pPr>
            <a:r>
              <a:rPr lang="en-US" sz="959" dirty="0">
                <a:solidFill>
                  <a:srgbClr val="A3B6C7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고객 사실확인 담당자</a:t>
            </a:r>
            <a:endParaRPr lang="en-US" sz="959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6945" y="4179254"/>
            <a:ext cx="504557" cy="409357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5496244" y="4122135"/>
            <a:ext cx="2151506" cy="1513670"/>
          </a:xfrm>
          <a:prstGeom prst="rect">
            <a:avLst/>
          </a:prstGeom>
          <a:solidFill>
            <a:srgbClr val="EDF3F9"/>
          </a:solidFill>
          <a:ln w="19050">
            <a:solidFill>
              <a:srgbClr val="F7F9FB"/>
            </a:solidFill>
            <a:prstDash val="solid"/>
          </a:ln>
        </p:spPr>
      </p:sp>
      <p:sp>
        <p:nvSpPr>
          <p:cNvPr id="24" name="Shape 15"/>
          <p:cNvSpPr/>
          <p:nvPr/>
        </p:nvSpPr>
        <p:spPr>
          <a:xfrm>
            <a:off x="5629523" y="4931329"/>
            <a:ext cx="1913508" cy="599756"/>
          </a:xfrm>
          <a:prstGeom prst="roundRect">
            <a:avLst>
              <a:gd name="adj" fmla="val 9524"/>
            </a:avLst>
          </a:prstGeom>
          <a:solidFill>
            <a:srgbClr val="F9FBFC"/>
          </a:solidFill>
          <a:ln/>
        </p:spPr>
      </p:sp>
      <p:sp>
        <p:nvSpPr>
          <p:cNvPr id="25" name="Text 16"/>
          <p:cNvSpPr/>
          <p:nvPr/>
        </p:nvSpPr>
        <p:spPr>
          <a:xfrm>
            <a:off x="5781843" y="5121727"/>
            <a:ext cx="1627909" cy="190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97"/>
              </a:lnSpc>
            </a:pPr>
            <a:r>
              <a:rPr lang="en-US" sz="959" dirty="0">
                <a:solidFill>
                  <a:srgbClr val="768699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탐지 건 확인 · 거래내역 검토</a:t>
            </a:r>
            <a:endParaRPr lang="en-US" sz="959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6" name="Shape 17"/>
          <p:cNvSpPr/>
          <p:nvPr/>
        </p:nvSpPr>
        <p:spPr>
          <a:xfrm>
            <a:off x="5620004" y="4617171"/>
            <a:ext cx="1932547" cy="285598"/>
          </a:xfrm>
          <a:prstGeom prst="roundRect">
            <a:avLst>
              <a:gd name="adj" fmla="val 5833"/>
            </a:avLst>
          </a:prstGeom>
          <a:solidFill>
            <a:srgbClr val="14446F"/>
          </a:solidFill>
          <a:ln/>
        </p:spPr>
      </p:sp>
      <p:sp>
        <p:nvSpPr>
          <p:cNvPr id="27" name="Text 18"/>
          <p:cNvSpPr/>
          <p:nvPr/>
        </p:nvSpPr>
        <p:spPr>
          <a:xfrm>
            <a:off x="5781843" y="4664771"/>
            <a:ext cx="1608869" cy="18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41"/>
              </a:lnSpc>
            </a:pPr>
            <a:r>
              <a:rPr lang="en-US" sz="1019" dirty="0">
                <a:solidFill>
                  <a:srgbClr val="A2B5C6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이상거래 후속 대응 담당자</a:t>
            </a:r>
            <a:endParaRPr lang="en-US" sz="1019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3999" y="4179254"/>
            <a:ext cx="495037" cy="409357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5496244" y="3798457"/>
            <a:ext cx="6435479" cy="295118"/>
          </a:xfrm>
          <a:prstGeom prst="roundRect">
            <a:avLst>
              <a:gd name="adj" fmla="val 15323"/>
            </a:avLst>
          </a:prstGeom>
          <a:solidFill>
            <a:srgbClr val="638AA7"/>
          </a:solidFill>
          <a:ln w="9525">
            <a:solidFill>
              <a:srgbClr val="89A6BB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7381192" y="3855575"/>
            <a:ext cx="2437104" cy="209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61"/>
              </a:lnSpc>
            </a:pPr>
            <a:r>
              <a:rPr lang="en-US" sz="1208" dirty="0">
                <a:solidFill>
                  <a:srgbClr val="C6D4D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대응 단계에 참여하는 주요 담당자</a:t>
            </a:r>
            <a:endParaRPr lang="en-US" sz="1208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1" name="Shape 21"/>
          <p:cNvSpPr/>
          <p:nvPr/>
        </p:nvSpPr>
        <p:spPr>
          <a:xfrm>
            <a:off x="203158" y="2579904"/>
            <a:ext cx="5159807" cy="3074940"/>
          </a:xfrm>
          <a:prstGeom prst="rect">
            <a:avLst/>
          </a:prstGeom>
          <a:solidFill>
            <a:srgbClr val="FDFEFE"/>
          </a:solidFill>
          <a:ln/>
        </p:spPr>
      </p:sp>
      <p:sp>
        <p:nvSpPr>
          <p:cNvPr id="32" name="Shape 22"/>
          <p:cNvSpPr/>
          <p:nvPr/>
        </p:nvSpPr>
        <p:spPr>
          <a:xfrm>
            <a:off x="4087294" y="3236779"/>
            <a:ext cx="1037673" cy="2094387"/>
          </a:xfrm>
          <a:prstGeom prst="roundRect">
            <a:avLst>
              <a:gd name="adj" fmla="val 3670"/>
            </a:avLst>
          </a:prstGeom>
          <a:solidFill>
            <a:srgbClr val="F4F5F6"/>
          </a:solidFill>
          <a:ln w="9525">
            <a:solidFill>
              <a:srgbClr val="D1D5DA"/>
            </a:solidFill>
            <a:prstDash val="solid"/>
          </a:ln>
        </p:spPr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39531" y="3922216"/>
            <a:ext cx="399837" cy="390317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344332" y="4436293"/>
            <a:ext cx="523597" cy="18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20"/>
              </a:lnSpc>
            </a:pPr>
            <a:r>
              <a:rPr lang="en-US" sz="999" dirty="0">
                <a:solidFill>
                  <a:srgbClr val="677B93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로그아웃</a:t>
            </a:r>
            <a:endParaRPr lang="en-US" sz="999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5" name="Shape 24"/>
          <p:cNvSpPr/>
          <p:nvPr/>
        </p:nvSpPr>
        <p:spPr>
          <a:xfrm>
            <a:off x="1602588" y="3246300"/>
            <a:ext cx="2418065" cy="2065827"/>
          </a:xfrm>
          <a:prstGeom prst="rect">
            <a:avLst/>
          </a:prstGeom>
          <a:solidFill>
            <a:srgbClr val="BFD2EF"/>
          </a:solidFill>
          <a:ln w="9525">
            <a:solidFill>
              <a:srgbClr val="819ABF"/>
            </a:solidFill>
            <a:prstDash val="solid"/>
          </a:ln>
        </p:spPr>
      </p:sp>
      <p:sp>
        <p:nvSpPr>
          <p:cNvPr id="36" name="Shape 25"/>
          <p:cNvSpPr/>
          <p:nvPr/>
        </p:nvSpPr>
        <p:spPr>
          <a:xfrm>
            <a:off x="2487944" y="4978929"/>
            <a:ext cx="1456551" cy="237999"/>
          </a:xfrm>
          <a:prstGeom prst="rect">
            <a:avLst/>
          </a:prstGeom>
          <a:solidFill>
            <a:srgbClr val="E8F5FE"/>
          </a:solidFill>
          <a:ln w="9525">
            <a:solidFill>
              <a:srgbClr val="A1BBDD"/>
            </a:solidFill>
            <a:prstDash val="solid"/>
          </a:ln>
        </p:spPr>
      </p:sp>
      <p:sp>
        <p:nvSpPr>
          <p:cNvPr id="37" name="Text 26"/>
          <p:cNvSpPr/>
          <p:nvPr/>
        </p:nvSpPr>
        <p:spPr>
          <a:xfrm>
            <a:off x="2687862" y="5007488"/>
            <a:ext cx="1075753" cy="152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81"/>
              </a:lnSpc>
            </a:pPr>
            <a:r>
              <a:rPr lang="en-US" sz="858" dirty="0">
                <a:solidFill>
                  <a:srgbClr val="6A819D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추심이체·츨급동의 동</a:t>
            </a:r>
            <a:endParaRPr lang="en-US" sz="858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8" name="Shape 27"/>
          <p:cNvSpPr/>
          <p:nvPr/>
        </p:nvSpPr>
        <p:spPr>
          <a:xfrm>
            <a:off x="2487944" y="4702850"/>
            <a:ext cx="1456551" cy="228479"/>
          </a:xfrm>
          <a:prstGeom prst="roundRect">
            <a:avLst>
              <a:gd name="adj" fmla="val 3125"/>
            </a:avLst>
          </a:prstGeom>
          <a:solidFill>
            <a:srgbClr val="E9F4FD"/>
          </a:solidFill>
          <a:ln w="9525">
            <a:solidFill>
              <a:srgbClr val="9FBBDD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906821" y="4731410"/>
            <a:ext cx="628316" cy="152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783"/>
              </a:lnSpc>
            </a:pPr>
            <a:r>
              <a:rPr lang="en-US" sz="842" dirty="0">
                <a:solidFill>
                  <a:srgbClr val="667E9B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지급 및 결제</a:t>
            </a:r>
            <a:endParaRPr lang="en-US" sz="842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0" name="Shape 29"/>
          <p:cNvSpPr/>
          <p:nvPr/>
        </p:nvSpPr>
        <p:spPr>
          <a:xfrm>
            <a:off x="2487944" y="4436292"/>
            <a:ext cx="1456551" cy="228479"/>
          </a:xfrm>
          <a:prstGeom prst="rect">
            <a:avLst/>
          </a:prstGeom>
          <a:solidFill>
            <a:srgbClr val="E8F4FD"/>
          </a:solidFill>
          <a:ln w="9525">
            <a:solidFill>
              <a:srgbClr val="97B5DA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2992501" y="4464852"/>
            <a:ext cx="447437" cy="152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795"/>
              </a:lnSpc>
            </a:pPr>
            <a:r>
              <a:rPr lang="en-US" sz="855" dirty="0">
                <a:solidFill>
                  <a:srgbClr val="6982A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오픈뱅킹</a:t>
            </a:r>
            <a:endParaRPr lang="en-US" sz="855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2" name="Shape 31"/>
          <p:cNvSpPr/>
          <p:nvPr/>
        </p:nvSpPr>
        <p:spPr>
          <a:xfrm>
            <a:off x="2487944" y="4169733"/>
            <a:ext cx="1456551" cy="228479"/>
          </a:xfrm>
          <a:prstGeom prst="roundRect">
            <a:avLst>
              <a:gd name="adj" fmla="val 3125"/>
            </a:avLst>
          </a:prstGeom>
          <a:solidFill>
            <a:srgbClr val="E8F4FE"/>
          </a:solidFill>
          <a:ln w="9525">
            <a:solidFill>
              <a:srgbClr val="9CB8DC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2944900" y="4207813"/>
            <a:ext cx="552157" cy="152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63"/>
              </a:lnSpc>
            </a:pPr>
            <a:r>
              <a:rPr lang="en-US" sz="904" dirty="0">
                <a:solidFill>
                  <a:srgbClr val="647D9A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츨금(ATM)</a:t>
            </a:r>
            <a:endParaRPr lang="en-US" sz="904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4" name="Shape 33"/>
          <p:cNvSpPr/>
          <p:nvPr/>
        </p:nvSpPr>
        <p:spPr>
          <a:xfrm>
            <a:off x="2487943" y="3903176"/>
            <a:ext cx="1466071" cy="237999"/>
          </a:xfrm>
          <a:prstGeom prst="roundRect">
            <a:avLst>
              <a:gd name="adj" fmla="val 12000"/>
            </a:avLst>
          </a:prstGeom>
          <a:solidFill>
            <a:srgbClr val="E8F3FD"/>
          </a:solidFill>
          <a:ln w="9525">
            <a:solidFill>
              <a:srgbClr val="9AB6DA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3106740" y="3941256"/>
            <a:ext cx="218959" cy="1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754"/>
              </a:lnSpc>
            </a:pPr>
            <a:r>
              <a:rPr lang="en-US" sz="836" dirty="0">
                <a:solidFill>
                  <a:srgbClr val="647E9A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대출</a:t>
            </a:r>
            <a:endParaRPr lang="en-US" sz="836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6" name="Shape 35"/>
          <p:cNvSpPr/>
          <p:nvPr/>
        </p:nvSpPr>
        <p:spPr>
          <a:xfrm>
            <a:off x="2487944" y="3646137"/>
            <a:ext cx="1456551" cy="228479"/>
          </a:xfrm>
          <a:prstGeom prst="rect">
            <a:avLst/>
          </a:prstGeom>
          <a:solidFill>
            <a:srgbClr val="E8F4FD"/>
          </a:solidFill>
          <a:ln w="9525">
            <a:solidFill>
              <a:srgbClr val="A8C0E0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2992501" y="3674697"/>
            <a:ext cx="447437" cy="152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795"/>
              </a:lnSpc>
            </a:pPr>
            <a:r>
              <a:rPr lang="en-US" sz="855" dirty="0">
                <a:solidFill>
                  <a:srgbClr val="7289A6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자금이동</a:t>
            </a:r>
            <a:endParaRPr lang="en-US" sz="855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8" name="Shape 37"/>
          <p:cNvSpPr/>
          <p:nvPr/>
        </p:nvSpPr>
        <p:spPr>
          <a:xfrm>
            <a:off x="1669229" y="3646137"/>
            <a:ext cx="771115" cy="1589830"/>
          </a:xfrm>
          <a:prstGeom prst="roundRect">
            <a:avLst>
              <a:gd name="adj" fmla="val 16049"/>
            </a:avLst>
          </a:prstGeom>
          <a:solidFill>
            <a:srgbClr val="E9F4FD"/>
          </a:solidFill>
          <a:ln w="19050">
            <a:solidFill>
              <a:srgbClr val="A5BFE0"/>
            </a:solidFill>
            <a:prstDash val="solid"/>
          </a:ln>
        </p:spPr>
      </p:sp>
      <p:sp>
        <p:nvSpPr>
          <p:cNvPr id="49" name="Text 38"/>
          <p:cNvSpPr/>
          <p:nvPr/>
        </p:nvSpPr>
        <p:spPr>
          <a:xfrm>
            <a:off x="1792988" y="4379172"/>
            <a:ext cx="523597" cy="171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49"/>
              </a:lnSpc>
            </a:pPr>
            <a:r>
              <a:rPr lang="en-US" sz="999" dirty="0">
                <a:solidFill>
                  <a:srgbClr val="5C7392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거래지시</a:t>
            </a:r>
            <a:endParaRPr lang="en-US" sz="999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0" name="Shape 39"/>
          <p:cNvSpPr/>
          <p:nvPr/>
        </p:nvSpPr>
        <p:spPr>
          <a:xfrm>
            <a:off x="1669229" y="3341500"/>
            <a:ext cx="2275265" cy="266558"/>
          </a:xfrm>
          <a:prstGeom prst="roundRect">
            <a:avLst>
              <a:gd name="adj" fmla="val 2679"/>
            </a:avLst>
          </a:prstGeom>
          <a:solidFill>
            <a:srgbClr val="E9F4FD"/>
          </a:solidFill>
          <a:ln w="9525">
            <a:solidFill>
              <a:srgbClr val="A1BEDF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668823" y="3379579"/>
            <a:ext cx="266558" cy="16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14"/>
              </a:lnSpc>
            </a:pPr>
            <a:r>
              <a:rPr lang="en-US" sz="1018" dirty="0">
                <a:solidFill>
                  <a:srgbClr val="697E9B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조회</a:t>
            </a:r>
            <a:endParaRPr lang="en-US" sz="1018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2" name="Shape 41"/>
          <p:cNvSpPr/>
          <p:nvPr/>
        </p:nvSpPr>
        <p:spPr>
          <a:xfrm>
            <a:off x="460196" y="3236779"/>
            <a:ext cx="1085273" cy="2094387"/>
          </a:xfrm>
          <a:prstGeom prst="roundRect">
            <a:avLst>
              <a:gd name="adj" fmla="val 3509"/>
            </a:avLst>
          </a:prstGeom>
          <a:solidFill>
            <a:srgbClr val="F3F5F6"/>
          </a:solidFill>
          <a:ln w="9525">
            <a:solidFill>
              <a:srgbClr val="CFD3D8"/>
            </a:solidFill>
            <a:prstDash val="solid"/>
          </a:ln>
        </p:spPr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4835" y="4388693"/>
            <a:ext cx="466477" cy="466477"/>
          </a:xfrm>
          <a:prstGeom prst="rect">
            <a:avLst/>
          </a:prstGeom>
        </p:spPr>
      </p:pic>
      <p:pic>
        <p:nvPicPr>
          <p:cNvPr id="54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1474" y="3560457"/>
            <a:ext cx="333198" cy="304638"/>
          </a:xfrm>
          <a:prstGeom prst="rect">
            <a:avLst/>
          </a:prstGeom>
        </p:spPr>
      </p:pic>
      <p:sp>
        <p:nvSpPr>
          <p:cNvPr id="55" name="Text 42"/>
          <p:cNvSpPr/>
          <p:nvPr/>
        </p:nvSpPr>
        <p:spPr>
          <a:xfrm>
            <a:off x="793395" y="4883730"/>
            <a:ext cx="409357" cy="16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13"/>
              </a:lnSpc>
            </a:pPr>
            <a:r>
              <a:rPr lang="en-US" sz="1042" dirty="0">
                <a:solidFill>
                  <a:srgbClr val="677A9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로그인</a:t>
            </a:r>
            <a:endParaRPr lang="en-US" sz="1042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6" name="Text 43"/>
          <p:cNvSpPr/>
          <p:nvPr/>
        </p:nvSpPr>
        <p:spPr>
          <a:xfrm>
            <a:off x="526836" y="3922216"/>
            <a:ext cx="961514" cy="16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10"/>
              </a:lnSpc>
            </a:pPr>
            <a:r>
              <a:rPr lang="en-US" sz="858" dirty="0">
                <a:solidFill>
                  <a:srgbClr val="66799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접근매체 발급:갱신</a:t>
            </a:r>
            <a:endParaRPr lang="en-US" sz="858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7" name="Shape 44"/>
          <p:cNvSpPr/>
          <p:nvPr/>
        </p:nvSpPr>
        <p:spPr>
          <a:xfrm>
            <a:off x="269798" y="2170548"/>
            <a:ext cx="5026528" cy="409357"/>
          </a:xfrm>
          <a:prstGeom prst="roundRect">
            <a:avLst>
              <a:gd name="adj" fmla="val 8721"/>
            </a:avLst>
          </a:prstGeom>
          <a:solidFill>
            <a:srgbClr val="6B88AA"/>
          </a:solidFill>
          <a:ln w="9525">
            <a:solidFill>
              <a:srgbClr val="7B95B3"/>
            </a:solidFill>
            <a:prstDash val="solid"/>
          </a:ln>
        </p:spPr>
      </p:sp>
      <p:sp>
        <p:nvSpPr>
          <p:cNvPr id="58" name="Text 45"/>
          <p:cNvSpPr/>
          <p:nvPr/>
        </p:nvSpPr>
        <p:spPr>
          <a:xfrm>
            <a:off x="1707309" y="2256227"/>
            <a:ext cx="2132466" cy="257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74"/>
              </a:lnSpc>
            </a:pPr>
            <a:r>
              <a:rPr lang="en-US" sz="1679" b="1" dirty="0">
                <a:solidFill>
                  <a:srgbClr val="DAE1E9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FDS 적용업무의 범위</a:t>
            </a:r>
            <a:endParaRPr lang="en-US" sz="1679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9" name="Text 46"/>
          <p:cNvSpPr/>
          <p:nvPr/>
        </p:nvSpPr>
        <p:spPr>
          <a:xfrm>
            <a:off x="2411784" y="3036861"/>
            <a:ext cx="799675" cy="16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50"/>
              </a:lnSpc>
            </a:pPr>
            <a:r>
              <a:rPr lang="en-US" sz="1073" dirty="0">
                <a:solidFill>
                  <a:srgbClr val="6B7F98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전자금거래</a:t>
            </a:r>
            <a:endParaRPr lang="en-US" sz="1073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0" name="Text 47"/>
          <p:cNvSpPr/>
          <p:nvPr/>
        </p:nvSpPr>
        <p:spPr>
          <a:xfrm>
            <a:off x="1926267" y="2741743"/>
            <a:ext cx="1761189" cy="247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59"/>
              </a:lnSpc>
            </a:pPr>
            <a:r>
              <a:rPr lang="en-US" sz="1280" dirty="0">
                <a:solidFill>
                  <a:srgbClr val="4A5E77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&lt;FDS적용업무의 범위&gt;</a:t>
            </a:r>
            <a:endParaRPr lang="en-US" sz="128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1" name="Shape 48"/>
          <p:cNvSpPr/>
          <p:nvPr/>
        </p:nvSpPr>
        <p:spPr>
          <a:xfrm>
            <a:off x="5486725" y="2598943"/>
            <a:ext cx="6444999" cy="1085273"/>
          </a:xfrm>
          <a:prstGeom prst="roundRect">
            <a:avLst>
              <a:gd name="adj" fmla="val 3509"/>
            </a:avLst>
          </a:prstGeom>
          <a:solidFill>
            <a:srgbClr val="FBF9F9"/>
          </a:solidFill>
          <a:ln/>
        </p:spPr>
      </p:sp>
      <p:sp>
        <p:nvSpPr>
          <p:cNvPr id="62" name="Shape 49"/>
          <p:cNvSpPr/>
          <p:nvPr/>
        </p:nvSpPr>
        <p:spPr>
          <a:xfrm>
            <a:off x="10656051" y="2913101"/>
            <a:ext cx="1094793" cy="571196"/>
          </a:xfrm>
          <a:prstGeom prst="roundRect">
            <a:avLst>
              <a:gd name="adj" fmla="val 15000"/>
            </a:avLst>
          </a:prstGeom>
          <a:solidFill>
            <a:srgbClr val="1E5FA3"/>
          </a:solidFill>
          <a:ln w="9525">
            <a:solidFill>
              <a:srgbClr val="0D52A2"/>
            </a:solidFill>
            <a:prstDash val="solid"/>
          </a:ln>
        </p:spPr>
      </p:sp>
      <p:sp>
        <p:nvSpPr>
          <p:cNvPr id="63" name="Text 50"/>
          <p:cNvSpPr/>
          <p:nvPr/>
        </p:nvSpPr>
        <p:spPr>
          <a:xfrm>
            <a:off x="10875010" y="2989262"/>
            <a:ext cx="704475" cy="399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34"/>
              </a:lnSpc>
            </a:pPr>
            <a:r>
              <a:rPr lang="en-US" sz="1076" dirty="0">
                <a:solidFill>
                  <a:srgbClr val="A4BFDA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금융소비자</a:t>
            </a:r>
            <a:endParaRPr lang="en-US" sz="1076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1334"/>
              </a:lnSpc>
            </a:pPr>
            <a:r>
              <a:rPr lang="en-US" sz="1076" dirty="0">
                <a:solidFill>
                  <a:srgbClr val="A4BFDA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보호(목표)</a:t>
            </a:r>
            <a:endParaRPr lang="en-US" sz="1076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64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80135" y="2998782"/>
            <a:ext cx="618796" cy="380797"/>
          </a:xfrm>
          <a:prstGeom prst="rect">
            <a:avLst/>
          </a:prstGeom>
        </p:spPr>
      </p:pic>
      <p:sp>
        <p:nvSpPr>
          <p:cNvPr id="65" name="Text 51"/>
          <p:cNvSpPr/>
          <p:nvPr/>
        </p:nvSpPr>
        <p:spPr>
          <a:xfrm>
            <a:off x="10113415" y="3093981"/>
            <a:ext cx="266558" cy="171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98"/>
              </a:lnSpc>
            </a:pPr>
            <a:r>
              <a:rPr lang="en-US" sz="1018" dirty="0">
                <a:solidFill>
                  <a:srgbClr val="F8AE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대응</a:t>
            </a:r>
            <a:endParaRPr lang="en-US" sz="1018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6" name="Shape 52"/>
          <p:cNvSpPr/>
          <p:nvPr/>
        </p:nvSpPr>
        <p:spPr>
          <a:xfrm>
            <a:off x="8942462" y="2951182"/>
            <a:ext cx="990073" cy="523597"/>
          </a:xfrm>
          <a:prstGeom prst="roundRect">
            <a:avLst>
              <a:gd name="adj" fmla="val 16364"/>
            </a:avLst>
          </a:prstGeom>
          <a:solidFill>
            <a:srgbClr val="223849"/>
          </a:solidFill>
          <a:ln w="9525">
            <a:solidFill>
              <a:srgbClr val="3D5264"/>
            </a:solidFill>
            <a:prstDash val="solid"/>
          </a:ln>
        </p:spPr>
      </p:sp>
      <p:sp>
        <p:nvSpPr>
          <p:cNvPr id="67" name="Text 53"/>
          <p:cNvSpPr/>
          <p:nvPr/>
        </p:nvSpPr>
        <p:spPr>
          <a:xfrm>
            <a:off x="9047182" y="3017822"/>
            <a:ext cx="809195" cy="390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283"/>
              </a:lnSpc>
            </a:pPr>
            <a:r>
              <a:rPr lang="en-US" sz="1031" dirty="0">
                <a:solidFill>
                  <a:srgbClr val="AAB2BA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이상금융거래</a:t>
            </a:r>
            <a:endParaRPr lang="en-US" sz="1031" dirty="0">
              <a:latin typeface="페이퍼로지 5 Medium" pitchFamily="2" charset="-127"/>
              <a:ea typeface="페이퍼로지 5 Medium" pitchFamily="2" charset="-127"/>
            </a:endParaRPr>
          </a:p>
          <a:p>
            <a:pPr algn="ctr">
              <a:lnSpc>
                <a:spcPts val="1283"/>
              </a:lnSpc>
            </a:pPr>
            <a:r>
              <a:rPr lang="en-US" sz="1031" dirty="0">
                <a:solidFill>
                  <a:srgbClr val="AAB2BA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데이터</a:t>
            </a:r>
            <a:endParaRPr lang="en-US" sz="1031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68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61745" y="3008302"/>
            <a:ext cx="552157" cy="380797"/>
          </a:xfrm>
          <a:prstGeom prst="rect">
            <a:avLst/>
          </a:prstGeom>
        </p:spPr>
      </p:pic>
      <p:sp>
        <p:nvSpPr>
          <p:cNvPr id="69" name="Text 54"/>
          <p:cNvSpPr/>
          <p:nvPr/>
        </p:nvSpPr>
        <p:spPr>
          <a:xfrm>
            <a:off x="8437906" y="3093981"/>
            <a:ext cx="276078" cy="18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75"/>
              </a:lnSpc>
            </a:pPr>
            <a:r>
              <a:rPr lang="en-US" sz="1050" dirty="0">
                <a:solidFill>
                  <a:srgbClr val="F8A6A8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분석</a:t>
            </a:r>
            <a:endParaRPr lang="en-US" sz="10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0" name="Shape 55"/>
          <p:cNvSpPr/>
          <p:nvPr/>
        </p:nvSpPr>
        <p:spPr>
          <a:xfrm>
            <a:off x="7324073" y="2951182"/>
            <a:ext cx="980554" cy="523597"/>
          </a:xfrm>
          <a:prstGeom prst="roundRect">
            <a:avLst>
              <a:gd name="adj" fmla="val 16364"/>
            </a:avLst>
          </a:prstGeom>
          <a:solidFill>
            <a:srgbClr val="273C51"/>
          </a:solidFill>
          <a:ln w="9525">
            <a:solidFill>
              <a:srgbClr val="17314E"/>
            </a:solidFill>
            <a:prstDash val="solid"/>
          </a:ln>
        </p:spPr>
      </p:sp>
      <p:sp>
        <p:nvSpPr>
          <p:cNvPr id="71" name="Text 56"/>
          <p:cNvSpPr/>
          <p:nvPr/>
        </p:nvSpPr>
        <p:spPr>
          <a:xfrm>
            <a:off x="7457352" y="3103501"/>
            <a:ext cx="723515" cy="199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11"/>
              </a:lnSpc>
            </a:pPr>
            <a:r>
              <a:rPr lang="en-US" sz="1032" dirty="0">
                <a:solidFill>
                  <a:srgbClr val="A6AFB7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의심 데이터</a:t>
            </a:r>
            <a:endParaRPr lang="en-US" sz="1032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72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52876" y="3008302"/>
            <a:ext cx="514077" cy="380797"/>
          </a:xfrm>
          <a:prstGeom prst="rect">
            <a:avLst/>
          </a:prstGeom>
        </p:spPr>
      </p:pic>
      <p:pic>
        <p:nvPicPr>
          <p:cNvPr id="73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96163" y="2932142"/>
            <a:ext cx="999593" cy="580716"/>
          </a:xfrm>
          <a:prstGeom prst="rect">
            <a:avLst/>
          </a:prstGeom>
        </p:spPr>
      </p:pic>
      <p:sp>
        <p:nvSpPr>
          <p:cNvPr id="74" name="Text 57"/>
          <p:cNvSpPr/>
          <p:nvPr/>
        </p:nvSpPr>
        <p:spPr>
          <a:xfrm>
            <a:off x="5848482" y="2960702"/>
            <a:ext cx="733035" cy="504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298"/>
              </a:lnSpc>
            </a:pPr>
            <a:r>
              <a:rPr lang="en-US" sz="1047" dirty="0">
                <a:solidFill>
                  <a:srgbClr val="A6AFB7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대상 데이터</a:t>
            </a:r>
            <a:endParaRPr lang="en-US" sz="1047" dirty="0">
              <a:latin typeface="페이퍼로지 5 Medium" pitchFamily="2" charset="-127"/>
              <a:ea typeface="페이퍼로지 5 Medium" pitchFamily="2" charset="-127"/>
            </a:endParaRPr>
          </a:p>
          <a:p>
            <a:pPr algn="ctr">
              <a:lnSpc>
                <a:spcPts val="1298"/>
              </a:lnSpc>
            </a:pPr>
            <a:r>
              <a:rPr lang="en-US" sz="1047" dirty="0">
                <a:solidFill>
                  <a:srgbClr val="A6AFB7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(거래기기</a:t>
            </a:r>
            <a:endParaRPr lang="en-US" sz="1047" dirty="0">
              <a:latin typeface="페이퍼로지 5 Medium" pitchFamily="2" charset="-127"/>
              <a:ea typeface="페이퍼로지 5 Medium" pitchFamily="2" charset="-127"/>
            </a:endParaRPr>
          </a:p>
          <a:p>
            <a:pPr algn="ctr">
              <a:lnSpc>
                <a:spcPts val="1298"/>
              </a:lnSpc>
            </a:pPr>
            <a:r>
              <a:rPr lang="en-US" sz="1047" dirty="0">
                <a:solidFill>
                  <a:srgbClr val="A6AFB7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개인·외부)</a:t>
            </a:r>
            <a:endParaRPr lang="en-US" sz="1047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5" name="Shape 58"/>
          <p:cNvSpPr/>
          <p:nvPr/>
        </p:nvSpPr>
        <p:spPr>
          <a:xfrm>
            <a:off x="5496244" y="2189587"/>
            <a:ext cx="6435479" cy="390317"/>
          </a:xfrm>
          <a:prstGeom prst="roundRect">
            <a:avLst>
              <a:gd name="adj" fmla="val 7927"/>
            </a:avLst>
          </a:prstGeom>
          <a:solidFill>
            <a:srgbClr val="DE4346"/>
          </a:solidFill>
          <a:ln/>
        </p:spPr>
      </p:sp>
      <p:sp>
        <p:nvSpPr>
          <p:cNvPr id="76" name="Text 59"/>
          <p:cNvSpPr/>
          <p:nvPr/>
        </p:nvSpPr>
        <p:spPr>
          <a:xfrm>
            <a:off x="6857596" y="2275266"/>
            <a:ext cx="3703256" cy="237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31"/>
              </a:lnSpc>
            </a:pPr>
            <a:r>
              <a:rPr lang="en-US" sz="1424" dirty="0">
                <a:solidFill>
                  <a:srgbClr val="F4C1C2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FDS 운영 프로세스에 따른 데이터 변화 과정</a:t>
            </a:r>
            <a:endParaRPr lang="en-US" sz="1424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7" name="Text 60"/>
          <p:cNvSpPr/>
          <p:nvPr/>
        </p:nvSpPr>
        <p:spPr>
          <a:xfrm>
            <a:off x="6819516" y="3103501"/>
            <a:ext cx="266558" cy="16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46"/>
              </a:lnSpc>
            </a:pPr>
            <a:r>
              <a:rPr lang="en-US" sz="1018" dirty="0">
                <a:solidFill>
                  <a:srgbClr val="F7A7A8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탐지</a:t>
            </a:r>
            <a:endParaRPr lang="en-US" sz="1018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8" name="Text 61"/>
          <p:cNvSpPr/>
          <p:nvPr/>
        </p:nvSpPr>
        <p:spPr>
          <a:xfrm>
            <a:off x="7228873" y="2656064"/>
            <a:ext cx="2817902" cy="199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17"/>
              </a:lnSpc>
            </a:pPr>
            <a:r>
              <a:rPr lang="en-US" sz="1011" dirty="0">
                <a:solidFill>
                  <a:srgbClr val="6C7B8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&lt;FDS 운영 프로세스에 따른 데이터 변화 과정&gt;</a:t>
            </a:r>
            <a:endParaRPr lang="en-US" sz="1011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80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22934" y="3398619"/>
            <a:ext cx="323678" cy="333198"/>
          </a:xfrm>
          <a:prstGeom prst="rect">
            <a:avLst/>
          </a:prstGeom>
        </p:spPr>
      </p:pic>
      <p:sp>
        <p:nvSpPr>
          <p:cNvPr id="86" name="Text 67"/>
          <p:cNvSpPr/>
          <p:nvPr/>
        </p:nvSpPr>
        <p:spPr>
          <a:xfrm>
            <a:off x="370633" y="2167489"/>
            <a:ext cx="6578278" cy="132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5247"/>
              </a:lnSpc>
            </a:pPr>
            <a:endParaRPr lang="en-US" sz="4431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0" name="Text 45">
            <a:extLst>
              <a:ext uri="{FF2B5EF4-FFF2-40B4-BE49-F238E27FC236}">
                <a16:creationId xmlns:a16="http://schemas.microsoft.com/office/drawing/2014/main" id="{318A1B8A-6C4E-4284-B725-52A71AA8ED8D}"/>
              </a:ext>
            </a:extLst>
          </p:cNvPr>
          <p:cNvSpPr/>
          <p:nvPr/>
        </p:nvSpPr>
        <p:spPr>
          <a:xfrm>
            <a:off x="993314" y="235016"/>
            <a:ext cx="1675509" cy="230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34"/>
              </a:lnSpc>
            </a:pPr>
            <a:r>
              <a:rPr lang="en-US" altLang="ko-KR" sz="1377" dirty="0" err="1">
                <a:solidFill>
                  <a:srgbClr val="798695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탐지이후의</a:t>
            </a:r>
            <a:r>
              <a:rPr lang="en-US" altLang="ko-KR" sz="1377" dirty="0">
                <a:solidFill>
                  <a:srgbClr val="798695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altLang="ko-KR" sz="1377" dirty="0" err="1">
                <a:solidFill>
                  <a:srgbClr val="798695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업무</a:t>
            </a:r>
            <a:endParaRPr lang="en-US" altLang="ko-KR" sz="1377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91DA3E4-9CF5-4B20-B45A-BEAC145D5F7F}"/>
              </a:ext>
            </a:extLst>
          </p:cNvPr>
          <p:cNvGrpSpPr/>
          <p:nvPr/>
        </p:nvGrpSpPr>
        <p:grpSpPr>
          <a:xfrm>
            <a:off x="203159" y="39903"/>
            <a:ext cx="713995" cy="628316"/>
            <a:chOff x="261284" y="-32064"/>
            <a:chExt cx="933152" cy="821174"/>
          </a:xfrm>
        </p:grpSpPr>
        <p:sp>
          <p:nvSpPr>
            <p:cNvPr id="92" name="Shape 46">
              <a:extLst>
                <a:ext uri="{FF2B5EF4-FFF2-40B4-BE49-F238E27FC236}">
                  <a16:creationId xmlns:a16="http://schemas.microsoft.com/office/drawing/2014/main" id="{BABD97B1-4A03-474D-8EFD-3692F5DD3035}"/>
                </a:ext>
              </a:extLst>
            </p:cNvPr>
            <p:cNvSpPr/>
            <p:nvPr/>
          </p:nvSpPr>
          <p:spPr>
            <a:xfrm>
              <a:off x="335935" y="114359"/>
              <a:ext cx="758964" cy="398145"/>
            </a:xfrm>
            <a:prstGeom prst="roundRect">
              <a:avLst>
                <a:gd name="adj" fmla="val 4688"/>
              </a:avLst>
            </a:prstGeom>
            <a:solidFill>
              <a:srgbClr val="021C37"/>
            </a:solidFill>
            <a:ln w="9525">
              <a:solidFill>
                <a:srgbClr val="090D24"/>
              </a:solidFill>
              <a:prstDash val="solid"/>
            </a:ln>
          </p:spPr>
        </p:sp>
        <p:sp>
          <p:nvSpPr>
            <p:cNvPr id="93" name="Text 47">
              <a:extLst>
                <a:ext uri="{FF2B5EF4-FFF2-40B4-BE49-F238E27FC236}">
                  <a16:creationId xmlns:a16="http://schemas.microsoft.com/office/drawing/2014/main" id="{CD4260BA-99DC-4DB6-8E0C-4F23A8D41656}"/>
                </a:ext>
              </a:extLst>
            </p:cNvPr>
            <p:cNvSpPr/>
            <p:nvPr/>
          </p:nvSpPr>
          <p:spPr>
            <a:xfrm>
              <a:off x="261284" y="-32064"/>
              <a:ext cx="933152" cy="8211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ts val="1125"/>
                </a:lnSpc>
              </a:pPr>
              <a:r>
                <a:rPr lang="en-US" sz="1476" dirty="0">
                  <a:solidFill>
                    <a:srgbClr val="98A5AF"/>
                  </a:solidFill>
                  <a:latin typeface="페이퍼로지 5 Medium" pitchFamily="2" charset="-127"/>
                  <a:ea typeface="페이퍼로지 5 Medium" pitchFamily="2" charset="-127"/>
                  <a:cs typeface="Aptos" pitchFamily="34" charset="-120"/>
                </a:rPr>
                <a:t>01</a:t>
              </a:r>
              <a:endParaRPr lang="en-US" sz="1476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</p:grpSp>
      <p:pic>
        <p:nvPicPr>
          <p:cNvPr id="94" name="Image 16" descr="preencoded.png">
            <a:extLst>
              <a:ext uri="{FF2B5EF4-FFF2-40B4-BE49-F238E27FC236}">
                <a16:creationId xmlns:a16="http://schemas.microsoft.com/office/drawing/2014/main" id="{B92F6DF0-3DFF-48D3-A9AA-B410D88596D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191687" y="252278"/>
            <a:ext cx="4588610" cy="66639"/>
          </a:xfrm>
          <a:prstGeom prst="rect">
            <a:avLst/>
          </a:prstGeom>
        </p:spPr>
      </p:pic>
      <p:sp>
        <p:nvSpPr>
          <p:cNvPr id="95" name="Text 63">
            <a:extLst>
              <a:ext uri="{FF2B5EF4-FFF2-40B4-BE49-F238E27FC236}">
                <a16:creationId xmlns:a16="http://schemas.microsoft.com/office/drawing/2014/main" id="{4398DC09-B020-406C-8013-7F7222C729CB}"/>
              </a:ext>
            </a:extLst>
          </p:cNvPr>
          <p:cNvSpPr/>
          <p:nvPr/>
        </p:nvSpPr>
        <p:spPr>
          <a:xfrm>
            <a:off x="6886156" y="185638"/>
            <a:ext cx="4664770" cy="199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66"/>
              </a:lnSpc>
            </a:pPr>
            <a:r>
              <a:rPr lang="en-US" sz="979" dirty="0">
                <a:solidFill>
                  <a:srgbClr val="909BA9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FDS는 탐지를 수행하고, 대응 단계에서는 여러 담당자의 확인과 조치가 이어진다.</a:t>
            </a:r>
            <a:endParaRPr lang="en-US" sz="979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6" name="Text 49">
            <a:extLst>
              <a:ext uri="{FF2B5EF4-FFF2-40B4-BE49-F238E27FC236}">
                <a16:creationId xmlns:a16="http://schemas.microsoft.com/office/drawing/2014/main" id="{6E07E3C1-2F20-408A-8D5F-2F6E397995CD}"/>
              </a:ext>
            </a:extLst>
          </p:cNvPr>
          <p:cNvSpPr/>
          <p:nvPr/>
        </p:nvSpPr>
        <p:spPr>
          <a:xfrm>
            <a:off x="298357" y="538582"/>
            <a:ext cx="11890404" cy="788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4947"/>
              </a:lnSpc>
            </a:pPr>
            <a:r>
              <a:rPr lang="en-US" altLang="ko-KR" sz="3606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FDS </a:t>
            </a:r>
            <a:r>
              <a:rPr lang="ko-KR" altLang="en-US" sz="3606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적용 업무범위와</a:t>
            </a:r>
            <a:r>
              <a:rPr lang="en-US" altLang="ko-KR" sz="3606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ko-KR" altLang="en-US" sz="3606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대응 프로세스는 어떻게 이어질까</a:t>
            </a:r>
            <a:r>
              <a:rPr lang="en-US" altLang="ko-KR" sz="3606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?</a:t>
            </a:r>
            <a:endParaRPr lang="ko-KR" altLang="en-US" sz="3606" b="1" dirty="0">
              <a:solidFill>
                <a:srgbClr val="283B4F"/>
              </a:solidFill>
              <a:latin typeface="페이퍼로지 5 Medium" pitchFamily="2" charset="-127"/>
              <a:ea typeface="페이퍼로지 5 Medium" pitchFamily="2" charset="-127"/>
              <a:cs typeface="Malgun Gothic" pitchFamily="34" charset="-12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84119" y="2353247"/>
            <a:ext cx="11833284" cy="4417252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364997" y="4833192"/>
            <a:ext cx="6835316" cy="1832587"/>
          </a:xfrm>
          <a:prstGeom prst="rect">
            <a:avLst/>
          </a:prstGeom>
          <a:solidFill>
            <a:srgbClr val="FCFCFC"/>
          </a:solidFill>
          <a:ln w="38100">
            <a:solidFill>
              <a:srgbClr val="F6F7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203" y="5562882"/>
            <a:ext cx="57119" cy="1018633"/>
          </a:xfrm>
          <a:prstGeom prst="rect">
            <a:avLst/>
          </a:prstGeom>
          <a:solidFill>
            <a:srgbClr val="F8F9F9"/>
          </a:solidFill>
          <a:ln/>
        </p:spPr>
      </p:sp>
      <p:sp>
        <p:nvSpPr>
          <p:cNvPr id="6" name="Shape 4"/>
          <p:cNvSpPr/>
          <p:nvPr/>
        </p:nvSpPr>
        <p:spPr>
          <a:xfrm>
            <a:off x="4182493" y="5553361"/>
            <a:ext cx="47600" cy="1028153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7" name="Shape 5"/>
          <p:cNvSpPr/>
          <p:nvPr/>
        </p:nvSpPr>
        <p:spPr>
          <a:xfrm>
            <a:off x="2821141" y="5543841"/>
            <a:ext cx="47600" cy="1028153"/>
          </a:xfrm>
          <a:prstGeom prst="rect">
            <a:avLst/>
          </a:prstGeom>
          <a:solidFill>
            <a:srgbClr val="F7F8F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6349" y="5543842"/>
            <a:ext cx="47600" cy="1037673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878" y="5267762"/>
            <a:ext cx="504557" cy="114239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4561" y="5205883"/>
            <a:ext cx="314158" cy="23799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38800" y="5271422"/>
            <a:ext cx="104719" cy="1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825"/>
              </a:lnSpc>
            </a:pPr>
            <a:r>
              <a:rPr lang="en-US" sz="1064" b="1" dirty="0">
                <a:solidFill>
                  <a:srgbClr val="E08489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5</a:t>
            </a:r>
            <a:endParaRPr lang="en-US" sz="1064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6888" y="5272522"/>
            <a:ext cx="923434" cy="104719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5610" y="5205883"/>
            <a:ext cx="304638" cy="237999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2892" y="5272522"/>
            <a:ext cx="295118" cy="104719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77774" y="5220163"/>
            <a:ext cx="266558" cy="209439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2012" y="5263002"/>
            <a:ext cx="38080" cy="123759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20898" y="5272522"/>
            <a:ext cx="637836" cy="104719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44495" y="5315362"/>
            <a:ext cx="104719" cy="19040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49621" y="5205883"/>
            <a:ext cx="314158" cy="237999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3163860" y="5271422"/>
            <a:ext cx="104719" cy="1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825"/>
              </a:lnSpc>
            </a:pPr>
            <a:r>
              <a:rPr lang="en-US" sz="989" dirty="0">
                <a:solidFill>
                  <a:srgbClr val="AEB8C3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3</a:t>
            </a:r>
            <a:endParaRPr lang="en-US" sz="989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21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26105" y="5272522"/>
            <a:ext cx="637836" cy="104719"/>
          </a:xfrm>
          <a:prstGeom prst="rect">
            <a:avLst/>
          </a:prstGeom>
        </p:spPr>
      </p:pic>
      <p:pic>
        <p:nvPicPr>
          <p:cNvPr id="22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16748" y="5205883"/>
            <a:ext cx="314158" cy="237999"/>
          </a:xfrm>
          <a:prstGeom prst="rect">
            <a:avLst/>
          </a:prstGeom>
        </p:spPr>
      </p:pic>
      <p:pic>
        <p:nvPicPr>
          <p:cNvPr id="23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4273" y="5277282"/>
            <a:ext cx="856795" cy="95199"/>
          </a:xfrm>
          <a:prstGeom prst="rect">
            <a:avLst/>
          </a:prstGeom>
        </p:spPr>
      </p:pic>
      <p:pic>
        <p:nvPicPr>
          <p:cNvPr id="24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4917" y="5205883"/>
            <a:ext cx="314158" cy="237999"/>
          </a:xfrm>
          <a:prstGeom prst="rect">
            <a:avLst/>
          </a:prstGeom>
        </p:spPr>
      </p:pic>
      <p:sp>
        <p:nvSpPr>
          <p:cNvPr id="25" name="Text 8"/>
          <p:cNvSpPr/>
          <p:nvPr/>
        </p:nvSpPr>
        <p:spPr>
          <a:xfrm>
            <a:off x="688675" y="5276182"/>
            <a:ext cx="85679" cy="133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754"/>
              </a:lnSpc>
            </a:pPr>
            <a:r>
              <a:rPr lang="en-US" sz="1179" dirty="0">
                <a:solidFill>
                  <a:srgbClr val="A9B2BA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1</a:t>
            </a:r>
            <a:endParaRPr lang="en-US" sz="1179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6" name="Text 9"/>
          <p:cNvSpPr/>
          <p:nvPr/>
        </p:nvSpPr>
        <p:spPr>
          <a:xfrm>
            <a:off x="5896082" y="5981757"/>
            <a:ext cx="1218552" cy="533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39"/>
              </a:lnSpc>
            </a:pPr>
            <a:r>
              <a:rPr lang="en-US" sz="959" dirty="0">
                <a:solidFill>
                  <a:srgbClr val="A4A8A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다른 계좌로</a:t>
            </a:r>
            <a:endParaRPr lang="en-US" sz="959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1239"/>
              </a:lnSpc>
            </a:pPr>
            <a:r>
              <a:rPr lang="en-US" sz="959" dirty="0">
                <a:solidFill>
                  <a:srgbClr val="A4A8A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추가 송금이 이어져</a:t>
            </a:r>
            <a:endParaRPr lang="en-US" sz="959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1239"/>
              </a:lnSpc>
            </a:pPr>
            <a:r>
              <a:rPr lang="en-US" sz="959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총 15억 6천만원 피해</a:t>
            </a:r>
            <a:endParaRPr lang="en-US" sz="959" dirty="0">
              <a:solidFill>
                <a:srgbClr val="C00000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1945307" y="5972238"/>
            <a:ext cx="780635" cy="352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88"/>
              </a:lnSpc>
            </a:pPr>
            <a:r>
              <a:rPr lang="en-US" sz="900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“주식 투자</a:t>
            </a:r>
            <a:endParaRPr lang="en-US" sz="900" dirty="0">
              <a:solidFill>
                <a:srgbClr val="C00000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1288"/>
              </a:lnSpc>
            </a:pPr>
            <a:r>
              <a:rPr lang="en-US" sz="900" dirty="0" err="1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목적입니다</a:t>
            </a:r>
            <a:r>
              <a:rPr lang="en-US" sz="900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.</a:t>
            </a:r>
            <a:r>
              <a:rPr lang="en-US" altLang="ko-KR" sz="900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”</a:t>
            </a:r>
            <a:endParaRPr lang="en-US" sz="900" dirty="0">
              <a:solidFill>
                <a:srgbClr val="C00000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6000801" y="5734239"/>
            <a:ext cx="647356" cy="171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50"/>
              </a:lnSpc>
            </a:pPr>
            <a:r>
              <a:rPr lang="en-US" sz="1073" dirty="0">
                <a:solidFill>
                  <a:srgbClr val="69707C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추가 송금</a:t>
            </a:r>
            <a:endParaRPr lang="en-US" sz="1073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4582330" y="5972238"/>
            <a:ext cx="1085273" cy="390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11"/>
              </a:lnSpc>
            </a:pPr>
            <a:r>
              <a:rPr lang="en-US" sz="900" dirty="0" err="1">
                <a:solidFill>
                  <a:srgbClr val="A7ABB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추가</a:t>
            </a:r>
            <a:r>
              <a:rPr lang="en-US" sz="900" dirty="0">
                <a:solidFill>
                  <a:srgbClr val="A7ABB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A7ABB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이체된</a:t>
            </a:r>
            <a:r>
              <a:rPr lang="en-US" sz="900" dirty="0">
                <a:solidFill>
                  <a:srgbClr val="A7ABB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A7ABB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계좌가</a:t>
            </a:r>
            <a:endParaRPr lang="en-US" sz="900" dirty="0">
              <a:solidFill>
                <a:srgbClr val="A7ABB1"/>
              </a:solidFill>
              <a:latin typeface="페이퍼로지 5 Medium" pitchFamily="2" charset="-127"/>
              <a:ea typeface="페이퍼로지 5 Medium" pitchFamily="2" charset="-127"/>
              <a:cs typeface="Malgun Gothic" pitchFamily="34" charset="-120"/>
            </a:endParaRPr>
          </a:p>
          <a:p>
            <a:pPr>
              <a:lnSpc>
                <a:spcPts val="1311"/>
              </a:lnSpc>
            </a:pPr>
            <a:r>
              <a:rPr lang="en-US" sz="900" dirty="0" err="1">
                <a:solidFill>
                  <a:srgbClr val="A7ABB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의심계좌</a:t>
            </a:r>
            <a:r>
              <a:rPr lang="ko-KR" altLang="en-US" sz="900" dirty="0">
                <a:solidFill>
                  <a:srgbClr val="A7ABB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로 추가 </a:t>
            </a:r>
            <a:r>
              <a:rPr lang="en-US" sz="900" dirty="0" err="1">
                <a:solidFill>
                  <a:srgbClr val="A7ABB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확인됨</a:t>
            </a:r>
            <a:endParaRPr lang="en-US" sz="9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4582330" y="5724720"/>
            <a:ext cx="951994" cy="18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50"/>
              </a:lnSpc>
            </a:pPr>
            <a:r>
              <a:rPr lang="en-US" sz="1073" dirty="0">
                <a:solidFill>
                  <a:srgbClr val="6E7582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의심계좌확인</a:t>
            </a:r>
            <a:endParaRPr lang="en-US" sz="1073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1" name="Text 14"/>
          <p:cNvSpPr/>
          <p:nvPr/>
        </p:nvSpPr>
        <p:spPr>
          <a:xfrm>
            <a:off x="1945307" y="5724720"/>
            <a:ext cx="637836" cy="18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50"/>
              </a:lnSpc>
            </a:pPr>
            <a:r>
              <a:rPr lang="en-US" sz="1050" dirty="0">
                <a:solidFill>
                  <a:srgbClr val="666E7C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고객설명</a:t>
            </a:r>
            <a:endParaRPr lang="en-US" sz="10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2" name="Text 15"/>
          <p:cNvSpPr/>
          <p:nvPr/>
        </p:nvSpPr>
        <p:spPr>
          <a:xfrm>
            <a:off x="4715609" y="5534321"/>
            <a:ext cx="561677" cy="14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88"/>
              </a:lnSpc>
            </a:pPr>
            <a:r>
              <a:rPr lang="en-US" sz="1096" dirty="0">
                <a:solidFill>
                  <a:srgbClr val="BD9BA1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2/21</a:t>
            </a:r>
            <a:endParaRPr lang="en-US" sz="1096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3068661" y="5972238"/>
            <a:ext cx="990073" cy="361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07"/>
              </a:lnSpc>
            </a:pPr>
            <a:r>
              <a:rPr lang="ko-KR" altLang="en-US" sz="900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고객의 말을 신뢰하고</a:t>
            </a:r>
            <a:endParaRPr lang="en-US" altLang="ko-KR" sz="900" dirty="0">
              <a:solidFill>
                <a:srgbClr val="C00000"/>
              </a:solidFill>
              <a:latin typeface="페이퍼로지 5 Medium" pitchFamily="2" charset="-127"/>
              <a:ea typeface="페이퍼로지 5 Medium" pitchFamily="2" charset="-127"/>
              <a:cs typeface="Malgun Gothic" pitchFamily="34" charset="-120"/>
            </a:endParaRPr>
          </a:p>
          <a:p>
            <a:pPr>
              <a:lnSpc>
                <a:spcPts val="1207"/>
              </a:lnSpc>
            </a:pPr>
            <a:r>
              <a:rPr lang="en-US" sz="900" dirty="0" err="1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거래</a:t>
            </a:r>
            <a:r>
              <a:rPr lang="en-US" sz="900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제한 해제</a:t>
            </a:r>
            <a:endParaRPr lang="en-US" sz="900" dirty="0">
              <a:solidFill>
                <a:srgbClr val="C00000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4" name="Text 17"/>
          <p:cNvSpPr/>
          <p:nvPr/>
        </p:nvSpPr>
        <p:spPr>
          <a:xfrm>
            <a:off x="3068660" y="5724720"/>
            <a:ext cx="656876" cy="18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50"/>
              </a:lnSpc>
            </a:pPr>
            <a:r>
              <a:rPr lang="en-US" sz="1073" dirty="0">
                <a:solidFill>
                  <a:srgbClr val="68707D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조치 해제</a:t>
            </a:r>
            <a:endParaRPr lang="en-US" sz="1073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5" name="Text 18"/>
          <p:cNvSpPr/>
          <p:nvPr/>
        </p:nvSpPr>
        <p:spPr>
          <a:xfrm>
            <a:off x="6000801" y="5534321"/>
            <a:ext cx="799675" cy="16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00"/>
              </a:lnSpc>
            </a:pPr>
            <a:r>
              <a:rPr lang="en-US" sz="967" dirty="0">
                <a:solidFill>
                  <a:srgbClr val="C59BA0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2/21~2/23</a:t>
            </a:r>
            <a:endParaRPr lang="en-US" sz="967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6" name="Text 19"/>
          <p:cNvSpPr/>
          <p:nvPr/>
        </p:nvSpPr>
        <p:spPr>
          <a:xfrm>
            <a:off x="3068660" y="5534321"/>
            <a:ext cx="323678" cy="16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00"/>
              </a:lnSpc>
            </a:pPr>
            <a:r>
              <a:rPr lang="en-US" sz="1080" dirty="0">
                <a:solidFill>
                  <a:srgbClr val="9A9CA1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2/20</a:t>
            </a:r>
            <a:endParaRPr lang="en-US" sz="108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7" name="Text 20"/>
          <p:cNvSpPr/>
          <p:nvPr/>
        </p:nvSpPr>
        <p:spPr>
          <a:xfrm>
            <a:off x="545877" y="5724720"/>
            <a:ext cx="942474" cy="18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50"/>
              </a:lnSpc>
            </a:pPr>
            <a:r>
              <a:rPr lang="en-US" sz="1057" b="1" dirty="0">
                <a:solidFill>
                  <a:srgbClr val="6C738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이상거래 감지</a:t>
            </a:r>
            <a:endParaRPr lang="en-US" sz="1057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8" name="Text 21"/>
          <p:cNvSpPr/>
          <p:nvPr/>
        </p:nvSpPr>
        <p:spPr>
          <a:xfrm>
            <a:off x="1945307" y="5534320"/>
            <a:ext cx="323678" cy="152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00"/>
              </a:lnSpc>
            </a:pPr>
            <a:r>
              <a:rPr lang="en-US" sz="1073" dirty="0">
                <a:solidFill>
                  <a:srgbClr val="989B9F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2/20</a:t>
            </a:r>
            <a:endParaRPr lang="en-US" sz="1073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9" name="Text 22"/>
          <p:cNvSpPr/>
          <p:nvPr/>
        </p:nvSpPr>
        <p:spPr>
          <a:xfrm>
            <a:off x="536356" y="5972238"/>
            <a:ext cx="1161433" cy="342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33"/>
              </a:lnSpc>
            </a:pPr>
            <a:r>
              <a:rPr lang="en-US" sz="914" dirty="0">
                <a:solidFill>
                  <a:srgbClr val="ACB0B6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고액 이체가 탐지되어</a:t>
            </a:r>
            <a:endParaRPr lang="en-US" sz="914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1133"/>
              </a:lnSpc>
            </a:pPr>
            <a:r>
              <a:rPr lang="en-US" sz="914" dirty="0">
                <a:solidFill>
                  <a:srgbClr val="ACB0B6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거래 제한 조치</a:t>
            </a:r>
            <a:endParaRPr lang="en-US" sz="914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0" name="Text 23"/>
          <p:cNvSpPr/>
          <p:nvPr/>
        </p:nvSpPr>
        <p:spPr>
          <a:xfrm>
            <a:off x="545876" y="5534320"/>
            <a:ext cx="323678" cy="152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00"/>
              </a:lnSpc>
            </a:pPr>
            <a:r>
              <a:rPr lang="en-US" sz="1080" dirty="0">
                <a:solidFill>
                  <a:srgbClr val="9D9FA4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2/20</a:t>
            </a:r>
            <a:endParaRPr lang="en-US" sz="108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1" name="Text 24"/>
          <p:cNvSpPr/>
          <p:nvPr/>
        </p:nvSpPr>
        <p:spPr>
          <a:xfrm>
            <a:off x="4820329" y="5276182"/>
            <a:ext cx="104719" cy="133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750"/>
              </a:lnSpc>
            </a:pPr>
            <a:r>
              <a:rPr lang="en-US" sz="1012" b="1" dirty="0">
                <a:solidFill>
                  <a:srgbClr val="DF8F92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4</a:t>
            </a:r>
            <a:endParaRPr lang="en-US" sz="1012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2" name="Text 25"/>
          <p:cNvSpPr/>
          <p:nvPr/>
        </p:nvSpPr>
        <p:spPr>
          <a:xfrm>
            <a:off x="2030986" y="5276182"/>
            <a:ext cx="95199" cy="133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825"/>
              </a:lnSpc>
            </a:pPr>
            <a:r>
              <a:rPr lang="en-US" sz="998" dirty="0">
                <a:solidFill>
                  <a:srgbClr val="ACB6C1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2</a:t>
            </a:r>
            <a:endParaRPr lang="en-US" sz="998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3" name="Text 26"/>
          <p:cNvSpPr/>
          <p:nvPr/>
        </p:nvSpPr>
        <p:spPr>
          <a:xfrm>
            <a:off x="536357" y="4934565"/>
            <a:ext cx="1361351" cy="190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25"/>
              </a:lnSpc>
            </a:pPr>
            <a:r>
              <a:rPr lang="en-US" sz="1162" dirty="0">
                <a:solidFill>
                  <a:srgbClr val="6F7682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사건 진행 타임라인</a:t>
            </a:r>
            <a:endParaRPr lang="en-US" sz="1162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44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91687" y="2515087"/>
            <a:ext cx="6835316" cy="2218146"/>
          </a:xfrm>
          <a:prstGeom prst="rect">
            <a:avLst/>
          </a:prstGeom>
        </p:spPr>
      </p:pic>
      <p:sp>
        <p:nvSpPr>
          <p:cNvPr id="45" name="Shape 27"/>
          <p:cNvSpPr/>
          <p:nvPr/>
        </p:nvSpPr>
        <p:spPr>
          <a:xfrm>
            <a:off x="345958" y="2753085"/>
            <a:ext cx="4636210" cy="1980148"/>
          </a:xfrm>
          <a:prstGeom prst="roundRect">
            <a:avLst>
              <a:gd name="adj" fmla="val 1886"/>
            </a:avLst>
          </a:prstGeom>
          <a:solidFill>
            <a:srgbClr val="FCFCFC"/>
          </a:solidFill>
          <a:ln w="19050">
            <a:solidFill>
              <a:srgbClr val="F6F7F8"/>
            </a:solidFill>
            <a:prstDash val="solid"/>
          </a:ln>
        </p:spPr>
      </p:sp>
      <p:sp>
        <p:nvSpPr>
          <p:cNvPr id="46" name="Shape 28"/>
          <p:cNvSpPr/>
          <p:nvPr/>
        </p:nvSpPr>
        <p:spPr>
          <a:xfrm>
            <a:off x="7324072" y="4991683"/>
            <a:ext cx="4426772" cy="1523192"/>
          </a:xfrm>
          <a:prstGeom prst="rect">
            <a:avLst/>
          </a:prstGeom>
          <a:solidFill>
            <a:srgbClr val="FAEFEF"/>
          </a:solidFill>
          <a:ln w="28575">
            <a:solidFill>
              <a:srgbClr val="FAF8F8"/>
            </a:solidFill>
            <a:prstDash val="solid"/>
          </a:ln>
        </p:spPr>
      </p:sp>
      <p:pic>
        <p:nvPicPr>
          <p:cNvPr id="47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23991" y="5264608"/>
            <a:ext cx="352238" cy="285598"/>
          </a:xfrm>
          <a:prstGeom prst="rect">
            <a:avLst/>
          </a:prstGeom>
        </p:spPr>
      </p:pic>
      <p:sp>
        <p:nvSpPr>
          <p:cNvPr id="48" name="Text 29"/>
          <p:cNvSpPr/>
          <p:nvPr/>
        </p:nvSpPr>
        <p:spPr>
          <a:xfrm>
            <a:off x="8004747" y="5163976"/>
            <a:ext cx="3589017" cy="1170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49"/>
              </a:lnSpc>
            </a:pPr>
            <a:r>
              <a:rPr lang="en-US" altLang="ko-KR" sz="1377" b="1" dirty="0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[ </a:t>
            </a:r>
            <a:r>
              <a:rPr lang="en-US" sz="1377" b="1" dirty="0" err="1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시사점</a:t>
            </a:r>
            <a:r>
              <a:rPr lang="en-US" sz="1377" b="1" dirty="0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altLang="ko-KR" sz="1377" b="1" dirty="0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]</a:t>
            </a:r>
            <a:endParaRPr lang="en-US" sz="1377" b="1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1649"/>
              </a:lnSpc>
            </a:pPr>
            <a:r>
              <a:rPr lang="ko-KR" altLang="en-US" sz="1377" dirty="0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탐지만으로 보이스피싱 피해가 막아지는  게 아니다</a:t>
            </a:r>
            <a:r>
              <a:rPr lang="en-US" altLang="ko-KR" sz="1377" dirty="0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!</a:t>
            </a:r>
          </a:p>
          <a:p>
            <a:pPr>
              <a:lnSpc>
                <a:spcPts val="1649"/>
              </a:lnSpc>
            </a:pPr>
            <a:endParaRPr lang="en-US" sz="1377" dirty="0">
              <a:solidFill>
                <a:srgbClr val="C76C73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1649"/>
              </a:lnSpc>
            </a:pPr>
            <a:r>
              <a:rPr lang="ko-KR" altLang="en-US" sz="1377" dirty="0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</a:rPr>
              <a:t>중요한 것은</a:t>
            </a:r>
            <a:r>
              <a:rPr lang="en-US" altLang="ko-KR" sz="1377" dirty="0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377" dirty="0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</a:rPr>
              <a:t>탐지 이후</a:t>
            </a:r>
            <a:r>
              <a:rPr lang="en-US" altLang="ko-KR" sz="1377" dirty="0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377" dirty="0">
                <a:solidFill>
                  <a:schemeClr val="bg1"/>
                </a:solidFill>
                <a:highlight>
                  <a:srgbClr val="800000"/>
                </a:highlight>
                <a:latin typeface="페이퍼로지 5 Medium" pitchFamily="2" charset="-127"/>
                <a:ea typeface="페이퍼로지 5 Medium" pitchFamily="2" charset="-127"/>
              </a:rPr>
              <a:t>은행 직원이</a:t>
            </a:r>
            <a:endParaRPr lang="en-US" altLang="ko-KR" sz="1377" dirty="0">
              <a:solidFill>
                <a:schemeClr val="bg1"/>
              </a:solidFill>
              <a:highlight>
                <a:srgbClr val="800000"/>
              </a:highlight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1649"/>
              </a:lnSpc>
            </a:pPr>
            <a:r>
              <a:rPr lang="en-US" altLang="ko-KR" sz="1377" dirty="0">
                <a:solidFill>
                  <a:schemeClr val="bg1"/>
                </a:solidFill>
                <a:highlight>
                  <a:srgbClr val="800000"/>
                </a:highlight>
                <a:latin typeface="페이퍼로지 5 Medium" pitchFamily="2" charset="-127"/>
                <a:ea typeface="페이퍼로지 5 Medium" pitchFamily="2" charset="-127"/>
              </a:rPr>
              <a:t>‘</a:t>
            </a:r>
            <a:r>
              <a:rPr lang="ko-KR" altLang="en-US" sz="1377" dirty="0">
                <a:solidFill>
                  <a:schemeClr val="bg1"/>
                </a:solidFill>
                <a:highlight>
                  <a:srgbClr val="800000"/>
                </a:highlight>
                <a:latin typeface="페이퍼로지 5 Medium" pitchFamily="2" charset="-127"/>
                <a:ea typeface="페이퍼로지 5 Medium" pitchFamily="2" charset="-127"/>
              </a:rPr>
              <a:t>무엇을 확인하고</a:t>
            </a:r>
            <a:r>
              <a:rPr lang="en-US" altLang="ko-KR" sz="1377" dirty="0">
                <a:solidFill>
                  <a:schemeClr val="bg1"/>
                </a:solidFill>
                <a:highlight>
                  <a:srgbClr val="800000"/>
                </a:highlight>
                <a:latin typeface="페이퍼로지 5 Medium" pitchFamily="2" charset="-127"/>
                <a:ea typeface="페이퍼로지 5 Medium" pitchFamily="2" charset="-127"/>
              </a:rPr>
              <a:t>’ ‘</a:t>
            </a:r>
            <a:r>
              <a:rPr lang="ko-KR" altLang="en-US" sz="1377" dirty="0">
                <a:solidFill>
                  <a:schemeClr val="bg1"/>
                </a:solidFill>
                <a:highlight>
                  <a:srgbClr val="800000"/>
                </a:highlight>
                <a:latin typeface="페이퍼로지 5 Medium" pitchFamily="2" charset="-127"/>
                <a:ea typeface="페이퍼로지 5 Medium" pitchFamily="2" charset="-127"/>
              </a:rPr>
              <a:t>어떻게 대응하는가</a:t>
            </a:r>
            <a:r>
              <a:rPr lang="en-US" altLang="ko-KR" sz="1377" dirty="0">
                <a:solidFill>
                  <a:schemeClr val="bg1"/>
                </a:solidFill>
                <a:highlight>
                  <a:srgbClr val="800000"/>
                </a:highlight>
                <a:latin typeface="페이퍼로지 5 Medium" pitchFamily="2" charset="-127"/>
                <a:ea typeface="페이퍼로지 5 Medium" pitchFamily="2" charset="-127"/>
              </a:rPr>
              <a:t>’</a:t>
            </a:r>
            <a:r>
              <a:rPr lang="ko-KR" altLang="en-US" sz="1377" dirty="0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</a:rPr>
              <a:t>이다</a:t>
            </a:r>
            <a:r>
              <a:rPr lang="en-US" altLang="ko-KR" sz="1377" dirty="0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</p:txBody>
      </p:sp>
      <p:pic>
        <p:nvPicPr>
          <p:cNvPr id="57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93516" y="3567041"/>
            <a:ext cx="4245893" cy="66639"/>
          </a:xfrm>
          <a:prstGeom prst="rect">
            <a:avLst/>
          </a:prstGeom>
        </p:spPr>
      </p:pic>
      <p:pic>
        <p:nvPicPr>
          <p:cNvPr id="58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4998" y="2515086"/>
            <a:ext cx="4617170" cy="247519"/>
          </a:xfrm>
          <a:prstGeom prst="rect">
            <a:avLst/>
          </a:prstGeom>
        </p:spPr>
      </p:pic>
      <p:sp>
        <p:nvSpPr>
          <p:cNvPr id="64" name="Text 39"/>
          <p:cNvSpPr/>
          <p:nvPr/>
        </p:nvSpPr>
        <p:spPr>
          <a:xfrm>
            <a:off x="564916" y="3766959"/>
            <a:ext cx="4245893" cy="837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2"/>
              </a:lnSpc>
            </a:pPr>
            <a:r>
              <a:rPr lang="en-US" sz="1377" dirty="0">
                <a:solidFill>
                  <a:srgbClr val="9A9EA5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은행이 이상거래를 탐지해 첫 거래를 제한했지만.</a:t>
            </a:r>
            <a:endParaRPr lang="en-US" sz="1377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1502"/>
              </a:lnSpc>
            </a:pPr>
            <a:r>
              <a:rPr lang="en-US" sz="1377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고객이 '주식 투자 목적'이라고 설명하자 조치를 해제</a:t>
            </a:r>
            <a:r>
              <a:rPr lang="en-US" sz="1377" dirty="0">
                <a:solidFill>
                  <a:srgbClr val="9A9EA5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했다.</a:t>
            </a:r>
            <a:endParaRPr lang="en-US" sz="1377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1502"/>
              </a:lnSpc>
            </a:pPr>
            <a:r>
              <a:rPr lang="en-US" sz="1377" dirty="0">
                <a:solidFill>
                  <a:srgbClr val="9A9EA5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이후 다른 계좌로 추가 송금이 이어지면서</a:t>
            </a:r>
            <a:endParaRPr lang="en-US" sz="1377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1502"/>
              </a:lnSpc>
            </a:pPr>
            <a:r>
              <a:rPr lang="en-US" sz="1377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총 15억 6천만원의 피해가 발생</a:t>
            </a:r>
            <a:r>
              <a:rPr lang="en-US" sz="1377" dirty="0">
                <a:solidFill>
                  <a:srgbClr val="9A9EA5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했다.</a:t>
            </a:r>
            <a:endParaRPr lang="en-US" sz="1377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5" name="Text 40"/>
          <p:cNvSpPr/>
          <p:nvPr/>
        </p:nvSpPr>
        <p:spPr>
          <a:xfrm>
            <a:off x="574435" y="2862565"/>
            <a:ext cx="3731816" cy="599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197"/>
              </a:lnSpc>
            </a:pPr>
            <a:r>
              <a:rPr lang="en-US" sz="1716" b="1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탐지 이후에도 사흘간 추가 송금,</a:t>
            </a:r>
            <a:endParaRPr lang="en-US" sz="1716" dirty="0">
              <a:solidFill>
                <a:srgbClr val="C00000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2197"/>
              </a:lnSpc>
            </a:pPr>
            <a:r>
              <a:rPr lang="en-US" sz="1716" b="1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15억피해</a:t>
            </a:r>
            <a:endParaRPr lang="en-US" sz="1716" dirty="0">
              <a:solidFill>
                <a:srgbClr val="C00000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6" name="Text 41"/>
          <p:cNvSpPr/>
          <p:nvPr/>
        </p:nvSpPr>
        <p:spPr>
          <a:xfrm>
            <a:off x="1126592" y="2596008"/>
            <a:ext cx="961514" cy="16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25"/>
              </a:lnSpc>
            </a:pPr>
            <a:r>
              <a:rPr lang="en-US" sz="1177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2026.02.23</a:t>
            </a:r>
            <a:endParaRPr lang="en-US" sz="1177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7" name="Text 42"/>
          <p:cNvSpPr/>
          <p:nvPr/>
        </p:nvSpPr>
        <p:spPr>
          <a:xfrm>
            <a:off x="974273" y="2605527"/>
            <a:ext cx="47600" cy="152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891"/>
              </a:lnSpc>
            </a:pPr>
            <a:r>
              <a:rPr lang="en-US" sz="1241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I</a:t>
            </a:r>
            <a:endParaRPr lang="en-US" sz="1241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8" name="Text 43"/>
          <p:cNvSpPr/>
          <p:nvPr/>
        </p:nvSpPr>
        <p:spPr>
          <a:xfrm>
            <a:off x="526836" y="2587038"/>
            <a:ext cx="352238" cy="16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25"/>
              </a:lnSpc>
            </a:pPr>
            <a:r>
              <a:rPr lang="en-US" sz="1005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YTN</a:t>
            </a:r>
            <a:endParaRPr lang="en-US" sz="1005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0" name="Text 44"/>
          <p:cNvSpPr/>
          <p:nvPr/>
        </p:nvSpPr>
        <p:spPr>
          <a:xfrm>
            <a:off x="8574601" y="193708"/>
            <a:ext cx="3160619" cy="190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91"/>
              </a:lnSpc>
            </a:pPr>
            <a:r>
              <a:rPr lang="en-US" sz="966" dirty="0">
                <a:solidFill>
                  <a:srgbClr val="ACB0B6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보이스피싱은 탐지되지 않아서만 발생하는 것이 아니다.</a:t>
            </a:r>
            <a:endParaRPr lang="en-US" sz="966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71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992907" y="201741"/>
            <a:ext cx="6473558" cy="76159"/>
          </a:xfrm>
          <a:prstGeom prst="rect">
            <a:avLst/>
          </a:prstGeom>
        </p:spPr>
      </p:pic>
      <p:sp>
        <p:nvSpPr>
          <p:cNvPr id="72" name="Text 45"/>
          <p:cNvSpPr/>
          <p:nvPr/>
        </p:nvSpPr>
        <p:spPr>
          <a:xfrm>
            <a:off x="993314" y="164913"/>
            <a:ext cx="923434" cy="230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00"/>
              </a:lnSpc>
            </a:pPr>
            <a:r>
              <a:rPr lang="en-US" sz="1251" dirty="0">
                <a:solidFill>
                  <a:srgbClr val="8C929C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문제의시작</a:t>
            </a:r>
            <a:endParaRPr lang="en-US" sz="1251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A9442C9-312C-46E7-957D-7039ACEDD405}"/>
              </a:ext>
            </a:extLst>
          </p:cNvPr>
          <p:cNvGrpSpPr/>
          <p:nvPr/>
        </p:nvGrpSpPr>
        <p:grpSpPr>
          <a:xfrm>
            <a:off x="203159" y="39903"/>
            <a:ext cx="713995" cy="628316"/>
            <a:chOff x="261284" y="-32064"/>
            <a:chExt cx="933152" cy="821174"/>
          </a:xfrm>
        </p:grpSpPr>
        <p:sp>
          <p:nvSpPr>
            <p:cNvPr id="73" name="Shape 46"/>
            <p:cNvSpPr/>
            <p:nvPr/>
          </p:nvSpPr>
          <p:spPr>
            <a:xfrm>
              <a:off x="335935" y="114359"/>
              <a:ext cx="758964" cy="398145"/>
            </a:xfrm>
            <a:prstGeom prst="roundRect">
              <a:avLst>
                <a:gd name="adj" fmla="val 4688"/>
              </a:avLst>
            </a:prstGeom>
            <a:solidFill>
              <a:srgbClr val="021C37"/>
            </a:solidFill>
            <a:ln w="9525">
              <a:solidFill>
                <a:srgbClr val="090D24"/>
              </a:solidFill>
              <a:prstDash val="solid"/>
            </a:ln>
          </p:spPr>
        </p:sp>
        <p:sp>
          <p:nvSpPr>
            <p:cNvPr id="74" name="Text 47"/>
            <p:cNvSpPr/>
            <p:nvPr/>
          </p:nvSpPr>
          <p:spPr>
            <a:xfrm>
              <a:off x="261284" y="-32064"/>
              <a:ext cx="933152" cy="8211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ts val="1125"/>
                </a:lnSpc>
              </a:pPr>
              <a:r>
                <a:rPr lang="en-US" sz="1476" dirty="0">
                  <a:solidFill>
                    <a:srgbClr val="98A5AF"/>
                  </a:solidFill>
                  <a:latin typeface="페이퍼로지 5 Medium" pitchFamily="2" charset="-127"/>
                  <a:ea typeface="페이퍼로지 5 Medium" pitchFamily="2" charset="-127"/>
                  <a:cs typeface="Aptos" pitchFamily="34" charset="-120"/>
                </a:rPr>
                <a:t>02</a:t>
              </a:r>
              <a:endParaRPr lang="en-US" sz="1476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</p:grpSp>
      <p:sp>
        <p:nvSpPr>
          <p:cNvPr id="75" name="Text 48"/>
          <p:cNvSpPr/>
          <p:nvPr/>
        </p:nvSpPr>
        <p:spPr>
          <a:xfrm>
            <a:off x="288837" y="1296533"/>
            <a:ext cx="12146594" cy="923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75"/>
              </a:lnSpc>
            </a:pPr>
            <a:r>
              <a:rPr lang="en-US" sz="1424" dirty="0" err="1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보이스피싱</a:t>
            </a:r>
            <a:r>
              <a:rPr lang="ko-KR" altLang="en-US" sz="1424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을 탐지하는 기술과 체계는 현재도 잘 잡혀 있다</a:t>
            </a:r>
            <a:r>
              <a:rPr lang="en-US" altLang="ko-KR" sz="1424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.</a:t>
            </a:r>
            <a:r>
              <a:rPr lang="ko-KR" altLang="en-US" sz="1424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altLang="ko-KR" sz="1424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------</a:t>
            </a:r>
            <a:r>
              <a:rPr lang="ko-KR" altLang="en-US" sz="1424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통신사 </a:t>
            </a:r>
            <a:r>
              <a:rPr lang="en-US" altLang="ko-KR" sz="1424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AI,</a:t>
            </a:r>
            <a:r>
              <a:rPr lang="ko-KR" altLang="en-US" sz="1424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altLang="ko-KR" sz="1424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ASAP </a:t>
            </a:r>
            <a:r>
              <a:rPr lang="ko-KR" altLang="en-US" sz="1424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체계</a:t>
            </a:r>
            <a:r>
              <a:rPr lang="en-US" altLang="ko-KR" sz="1424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, </a:t>
            </a:r>
            <a:r>
              <a:rPr lang="ko-KR" altLang="en-US" sz="1424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은행 </a:t>
            </a:r>
            <a:r>
              <a:rPr lang="en-US" altLang="ko-KR" sz="1424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FDS </a:t>
            </a:r>
            <a:r>
              <a:rPr lang="ko-KR" altLang="en-US" sz="1424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경고</a:t>
            </a:r>
            <a:endParaRPr lang="en-US" sz="1424" dirty="0">
              <a:solidFill>
                <a:srgbClr val="91969E"/>
              </a:solidFill>
              <a:latin typeface="페이퍼로지 5 Medium" pitchFamily="2" charset="-127"/>
              <a:ea typeface="페이퍼로지 5 Medium" pitchFamily="2" charset="-127"/>
              <a:cs typeface="Malgun Gothic" pitchFamily="34" charset="-120"/>
            </a:endParaRPr>
          </a:p>
          <a:p>
            <a:pPr>
              <a:lnSpc>
                <a:spcPts val="1875"/>
              </a:lnSpc>
            </a:pPr>
            <a:r>
              <a:rPr lang="en-US" sz="1424" dirty="0" err="1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문제는</a:t>
            </a:r>
            <a:r>
              <a:rPr lang="en-US" sz="1424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탐지 이후의 대응 </a:t>
            </a:r>
            <a:r>
              <a:rPr lang="en-US" sz="1424" dirty="0" err="1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과정</a:t>
            </a:r>
            <a:r>
              <a:rPr lang="en-US" sz="1424" dirty="0" err="1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에</a:t>
            </a:r>
            <a:r>
              <a:rPr lang="en-US" sz="1424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ko-KR" altLang="en-US" sz="1424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있는 게 아닐까</a:t>
            </a:r>
            <a:r>
              <a:rPr lang="en-US" altLang="ko-KR" sz="1424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? --------------- </a:t>
            </a:r>
            <a:r>
              <a:rPr lang="ko-KR" altLang="en-US" sz="1424" dirty="0"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탐지는 했지만</a:t>
            </a:r>
            <a:r>
              <a:rPr lang="en-US" altLang="ko-KR" sz="1424" dirty="0"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… </a:t>
            </a:r>
            <a:r>
              <a:rPr lang="ko-KR" altLang="en-US" sz="1424" dirty="0"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고객의 상황과 사실관계를 모른다</a:t>
            </a:r>
            <a:r>
              <a:rPr lang="en-US" altLang="ko-KR" sz="1424" dirty="0"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/ </a:t>
            </a:r>
            <a:r>
              <a:rPr lang="ko-KR" altLang="en-US" sz="1424" dirty="0"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고객의 말을 믿는다 </a:t>
            </a:r>
            <a:r>
              <a:rPr lang="en-US" altLang="ko-KR" sz="1424" dirty="0"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/ </a:t>
            </a:r>
            <a:r>
              <a:rPr lang="ko-KR" altLang="en-US" sz="1424" dirty="0"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고객 설득이 어렵다</a:t>
            </a:r>
            <a:endParaRPr lang="en-US" altLang="ko-KR" sz="1424" dirty="0">
              <a:latin typeface="페이퍼로지 5 Medium" pitchFamily="2" charset="-127"/>
              <a:ea typeface="페이퍼로지 5 Medium" pitchFamily="2" charset="-127"/>
              <a:cs typeface="Malgun Gothic" pitchFamily="34" charset="-120"/>
            </a:endParaRPr>
          </a:p>
          <a:p>
            <a:pPr>
              <a:lnSpc>
                <a:spcPts val="1875"/>
              </a:lnSpc>
            </a:pPr>
            <a:r>
              <a:rPr lang="en-US" sz="1424" dirty="0">
                <a:latin typeface="페이퍼로지 5 Medium" pitchFamily="2" charset="-127"/>
                <a:ea typeface="페이퍼로지 5 Medium" pitchFamily="2" charset="-127"/>
              </a:rPr>
              <a:t>						           (</a:t>
            </a:r>
            <a:r>
              <a:rPr lang="ko-KR" altLang="en-US" sz="1424" dirty="0">
                <a:latin typeface="페이퍼로지 5 Medium" pitchFamily="2" charset="-127"/>
                <a:ea typeface="페이퍼로지 5 Medium" pitchFamily="2" charset="-127"/>
              </a:rPr>
              <a:t>고객도 속거나 혼란스러워서 의사소통이 어렵다 </a:t>
            </a:r>
            <a:r>
              <a:rPr lang="en-US" altLang="ko-KR" sz="1424" dirty="0"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</a:t>
            </a:r>
            <a:r>
              <a:rPr lang="ko-KR" altLang="en-US" sz="1424" dirty="0">
                <a:latin typeface="페이퍼로지 5 Medium" pitchFamily="2" charset="-127"/>
                <a:ea typeface="페이퍼로지 5 Medium" pitchFamily="2" charset="-127"/>
              </a:rPr>
              <a:t> 은행 직원이 사실 확인 및 대응하기 어렵다</a:t>
            </a:r>
            <a:r>
              <a:rPr lang="en-US" altLang="ko-KR" sz="1424" dirty="0">
                <a:latin typeface="페이퍼로지 5 Medium" pitchFamily="2" charset="-127"/>
                <a:ea typeface="페이퍼로지 5 Medium" pitchFamily="2" charset="-127"/>
              </a:rPr>
              <a:t>)</a:t>
            </a:r>
            <a:endParaRPr lang="en-US" sz="1424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6" name="Text 49"/>
          <p:cNvSpPr/>
          <p:nvPr/>
        </p:nvSpPr>
        <p:spPr>
          <a:xfrm>
            <a:off x="298357" y="582539"/>
            <a:ext cx="9186742" cy="609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4947"/>
              </a:lnSpc>
            </a:pPr>
            <a:r>
              <a:rPr lang="ko-KR" altLang="en-US" sz="3606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보이스피싱 </a:t>
            </a:r>
            <a:r>
              <a:rPr lang="en-US" sz="3606" b="1" dirty="0" err="1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탐지는</a:t>
            </a:r>
            <a:r>
              <a:rPr lang="en-US" sz="3606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sz="3606" b="1" dirty="0" err="1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했는데</a:t>
            </a:r>
            <a:r>
              <a:rPr lang="en-US" sz="3606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, </a:t>
            </a:r>
            <a:r>
              <a:rPr lang="en-US" sz="3606" b="1" dirty="0">
                <a:solidFill>
                  <a:srgbClr val="C5313C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왜 피해는 계속될까?</a:t>
            </a:r>
            <a:endParaRPr lang="en-US" sz="3606" dirty="0"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31637" y="5456747"/>
            <a:ext cx="11319207" cy="1266152"/>
          </a:xfrm>
          <a:prstGeom prst="roundRect">
            <a:avLst>
              <a:gd name="adj" fmla="val 7519"/>
            </a:avLst>
          </a:prstGeom>
          <a:solidFill>
            <a:srgbClr val="FDEFF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626" y="5685226"/>
            <a:ext cx="9520" cy="79015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154" y="5770905"/>
            <a:ext cx="761595" cy="6092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421305" y="6227863"/>
            <a:ext cx="5302606" cy="276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49"/>
              </a:lnSpc>
            </a:pPr>
            <a:r>
              <a:rPr lang="en-US" sz="1762" b="1" dirty="0">
                <a:solidFill>
                  <a:srgbClr val="394D64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그리고 그 과정에서 휴먼에러가 발생할 수 있다.</a:t>
            </a:r>
            <a:endParaRPr lang="en-US" sz="1762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Text 3"/>
          <p:cNvSpPr/>
          <p:nvPr/>
        </p:nvSpPr>
        <p:spPr>
          <a:xfrm>
            <a:off x="2411784" y="5618587"/>
            <a:ext cx="8567945" cy="599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474"/>
              </a:lnSpc>
            </a:pPr>
            <a:r>
              <a:rPr lang="en-US" sz="1762" b="1" dirty="0">
                <a:solidFill>
                  <a:srgbClr val="3C4F66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탐지 </a:t>
            </a:r>
            <a:r>
              <a:rPr lang="en-US" sz="1762" b="1" dirty="0" err="1">
                <a:solidFill>
                  <a:srgbClr val="3C4F66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시스템이</a:t>
            </a:r>
            <a:r>
              <a:rPr lang="en-US" sz="1762" b="1" dirty="0">
                <a:solidFill>
                  <a:srgbClr val="3C4F66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sz="1762" b="1" dirty="0" err="1">
                <a:solidFill>
                  <a:srgbClr val="3C4F66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위험</a:t>
            </a:r>
            <a:r>
              <a:rPr lang="ko-KR" altLang="en-US" sz="1762" b="1" dirty="0">
                <a:solidFill>
                  <a:srgbClr val="3C4F66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도를 판별해서 전</a:t>
            </a:r>
            <a:r>
              <a:rPr lang="en-US" sz="1762" b="1" dirty="0" err="1">
                <a:solidFill>
                  <a:srgbClr val="3C4F66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달하더라도</a:t>
            </a:r>
            <a:r>
              <a:rPr lang="en-US" sz="1762" b="1" dirty="0">
                <a:solidFill>
                  <a:srgbClr val="3C4F66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,</a:t>
            </a:r>
            <a:endParaRPr lang="en-US" sz="1762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2474"/>
              </a:lnSpc>
            </a:pPr>
            <a:r>
              <a:rPr lang="en-US" sz="1762" b="1" dirty="0">
                <a:solidFill>
                  <a:srgbClr val="E2495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그 정보를 해석하고 다음 행동을 결정하는 과정에는 사람의 판단이 개입한다.</a:t>
            </a:r>
            <a:endParaRPr lang="en-US" sz="1762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9501" y="3705079"/>
            <a:ext cx="428397" cy="580716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9646938" y="2467487"/>
            <a:ext cx="2141986" cy="380797"/>
          </a:xfrm>
          <a:prstGeom prst="roundRect">
            <a:avLst>
              <a:gd name="adj" fmla="val 12500"/>
            </a:avLst>
          </a:prstGeom>
          <a:solidFill>
            <a:srgbClr val="5A666E"/>
          </a:solidFill>
          <a:ln w="9525">
            <a:solidFill>
              <a:srgbClr val="BBC0C4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9961096" y="2553166"/>
            <a:ext cx="1580310" cy="228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50"/>
              </a:lnSpc>
            </a:pPr>
            <a:r>
              <a:rPr lang="en-US" sz="1312" b="1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사람의 판단 결과</a:t>
            </a:r>
            <a:endParaRPr lang="en-US" sz="1312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9637418" y="2838765"/>
            <a:ext cx="2151506" cy="2427584"/>
          </a:xfrm>
          <a:prstGeom prst="roundRect">
            <a:avLst>
              <a:gd name="adj" fmla="val 2765"/>
            </a:avLst>
          </a:prstGeom>
          <a:solidFill>
            <a:srgbClr val="F6F6F7"/>
          </a:solidFill>
          <a:ln w="9525">
            <a:solidFill>
              <a:srgbClr val="D7DADC"/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4131" y="4866511"/>
            <a:ext cx="47600" cy="190399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9761176" y="4171556"/>
            <a:ext cx="1903988" cy="542637"/>
          </a:xfrm>
          <a:prstGeom prst="rect">
            <a:avLst/>
          </a:prstGeom>
          <a:solidFill>
            <a:srgbClr val="FDFDFD"/>
          </a:solidFill>
          <a:ln w="19050">
            <a:solidFill>
              <a:srgbClr val="F6F6F8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0616" y="4276275"/>
            <a:ext cx="399837" cy="31415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503732" y="4333395"/>
            <a:ext cx="961514" cy="18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50"/>
              </a:lnSpc>
            </a:pPr>
            <a:r>
              <a:rPr lang="en-US" sz="1073" dirty="0">
                <a:solidFill>
                  <a:srgbClr val="747F9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추가 확인 진행</a:t>
            </a:r>
            <a:endParaRPr lang="en-US" sz="1073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6" name="Shape 9"/>
          <p:cNvSpPr/>
          <p:nvPr/>
        </p:nvSpPr>
        <p:spPr>
          <a:xfrm>
            <a:off x="9761176" y="3571799"/>
            <a:ext cx="1903988" cy="542637"/>
          </a:xfrm>
          <a:prstGeom prst="rect">
            <a:avLst/>
          </a:prstGeom>
          <a:solidFill>
            <a:srgbClr val="FCFDFD"/>
          </a:solidFill>
          <a:ln w="47625">
            <a:solidFill>
              <a:srgbClr val="F7F7F8"/>
            </a:solidFill>
            <a:prstDash val="solid"/>
          </a:ln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0616" y="3705079"/>
            <a:ext cx="399837" cy="31415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503732" y="3762198"/>
            <a:ext cx="961514" cy="171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75"/>
              </a:lnSpc>
            </a:pPr>
            <a:r>
              <a:rPr lang="en-US" sz="1034" dirty="0">
                <a:solidFill>
                  <a:srgbClr val="6D788A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거래 제한 해재</a:t>
            </a:r>
            <a:endParaRPr lang="en-US" sz="1034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9808777" y="3029163"/>
            <a:ext cx="1818308" cy="514077"/>
          </a:xfrm>
          <a:prstGeom prst="roundRect">
            <a:avLst>
              <a:gd name="adj" fmla="val 12963"/>
            </a:avLst>
          </a:prstGeom>
          <a:solidFill>
            <a:srgbClr val="FDFDFD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10503732" y="3191003"/>
            <a:ext cx="961514" cy="18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50"/>
              </a:lnSpc>
            </a:pPr>
            <a:r>
              <a:rPr lang="en-US" sz="1057" dirty="0">
                <a:solidFill>
                  <a:srgbClr val="778293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거래 제한 유지</a:t>
            </a:r>
            <a:endParaRPr lang="en-US" sz="1057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70617" y="3133883"/>
            <a:ext cx="390317" cy="314158"/>
          </a:xfrm>
          <a:prstGeom prst="rect">
            <a:avLst/>
          </a:prstGeom>
        </p:spPr>
      </p:pic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49539" y="3952598"/>
            <a:ext cx="1047193" cy="390317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3306659" y="3752678"/>
            <a:ext cx="961514" cy="16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92"/>
              </a:lnSpc>
            </a:pPr>
            <a:r>
              <a:rPr lang="en-US" sz="1090" dirty="0">
                <a:solidFill>
                  <a:srgbClr val="788394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위험 신호 전달</a:t>
            </a:r>
            <a:endParaRPr lang="en-US" sz="109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30337" y="3429001"/>
            <a:ext cx="276078" cy="276078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4344331" y="2381806"/>
            <a:ext cx="4779010" cy="2894062"/>
          </a:xfrm>
          <a:prstGeom prst="rect">
            <a:avLst/>
          </a:prstGeom>
          <a:solidFill>
            <a:srgbClr val="FCF6F5"/>
          </a:solidFill>
          <a:ln/>
        </p:spPr>
      </p:sp>
      <p:sp>
        <p:nvSpPr>
          <p:cNvPr id="26" name="Shape 15"/>
          <p:cNvSpPr/>
          <p:nvPr/>
        </p:nvSpPr>
        <p:spPr>
          <a:xfrm>
            <a:off x="5886562" y="2943483"/>
            <a:ext cx="1504150" cy="523597"/>
          </a:xfrm>
          <a:prstGeom prst="roundRect">
            <a:avLst>
              <a:gd name="adj" fmla="val 16364"/>
            </a:avLst>
          </a:prstGeom>
          <a:solidFill>
            <a:srgbClr val="FDFDFD"/>
          </a:solidFill>
          <a:ln w="9525">
            <a:solidFill>
              <a:srgbClr val="DFE0E2"/>
            </a:solidFill>
            <a:prstDash val="solid"/>
          </a:ln>
        </p:spPr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38881" y="3076763"/>
            <a:ext cx="342718" cy="25703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6476798" y="3095803"/>
            <a:ext cx="761595" cy="190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75"/>
              </a:lnSpc>
            </a:pPr>
            <a:r>
              <a:rPr lang="en-US" sz="1027" dirty="0">
                <a:solidFill>
                  <a:srgbClr val="747F9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고객의 설명</a:t>
            </a:r>
            <a:endParaRPr lang="en-US" sz="1027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91037" y="3457561"/>
            <a:ext cx="199919" cy="237999"/>
          </a:xfrm>
          <a:prstGeom prst="rect">
            <a:avLst/>
          </a:prstGeom>
        </p:spPr>
      </p:pic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29523" y="3771719"/>
            <a:ext cx="1999188" cy="1437511"/>
          </a:xfrm>
          <a:prstGeom prst="rect">
            <a:avLst/>
          </a:prstGeom>
        </p:spPr>
      </p:pic>
      <p:sp>
        <p:nvSpPr>
          <p:cNvPr id="31" name="Shape 17"/>
          <p:cNvSpPr/>
          <p:nvPr/>
        </p:nvSpPr>
        <p:spPr>
          <a:xfrm>
            <a:off x="7571591" y="4114436"/>
            <a:ext cx="1466071" cy="504557"/>
          </a:xfrm>
          <a:prstGeom prst="roundRect">
            <a:avLst>
              <a:gd name="adj" fmla="val 13208"/>
            </a:avLst>
          </a:prstGeom>
          <a:solidFill>
            <a:srgbClr val="FDFDFD"/>
          </a:solidFill>
          <a:ln w="9525">
            <a:solidFill>
              <a:srgbClr val="EBEBEC"/>
            </a:solidFill>
            <a:prstDash val="solid"/>
          </a:ln>
        </p:spPr>
      </p:sp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95351" y="4238196"/>
            <a:ext cx="371277" cy="257038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8152307" y="4266755"/>
            <a:ext cx="809195" cy="171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69"/>
              </a:lnSpc>
            </a:pPr>
            <a:r>
              <a:rPr lang="en-US" sz="923" dirty="0">
                <a:solidFill>
                  <a:srgbClr val="778293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내부 확인 내용</a:t>
            </a:r>
            <a:endParaRPr lang="en-US" sz="923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33593" y="4304835"/>
            <a:ext cx="237999" cy="161839"/>
          </a:xfrm>
          <a:prstGeom prst="rect">
            <a:avLst/>
          </a:prstGeom>
        </p:spPr>
      </p:pic>
      <p:sp>
        <p:nvSpPr>
          <p:cNvPr id="35" name="Shape 19"/>
          <p:cNvSpPr/>
          <p:nvPr/>
        </p:nvSpPr>
        <p:spPr>
          <a:xfrm>
            <a:off x="4496651" y="4162035"/>
            <a:ext cx="1418471" cy="514077"/>
          </a:xfrm>
          <a:prstGeom prst="roundRect">
            <a:avLst>
              <a:gd name="adj" fmla="val 14815"/>
            </a:avLst>
          </a:prstGeom>
          <a:solidFill>
            <a:srgbClr val="FDFDFD"/>
          </a:solidFill>
          <a:ln w="9525">
            <a:solidFill>
              <a:srgbClr val="E0DFE0"/>
            </a:solidFill>
            <a:prstDash val="solid"/>
          </a:ln>
        </p:spPr>
      </p:sp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20410" y="4323875"/>
            <a:ext cx="333198" cy="209439"/>
          </a:xfrm>
          <a:prstGeom prst="rect">
            <a:avLst/>
          </a:prstGeom>
        </p:spPr>
      </p:pic>
      <p:sp>
        <p:nvSpPr>
          <p:cNvPr id="37" name="Text 20"/>
          <p:cNvSpPr/>
          <p:nvPr/>
        </p:nvSpPr>
        <p:spPr>
          <a:xfrm>
            <a:off x="5039288" y="4333395"/>
            <a:ext cx="771115" cy="171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44"/>
              </a:lnSpc>
            </a:pPr>
            <a:r>
              <a:rPr lang="en-US" sz="875" dirty="0">
                <a:solidFill>
                  <a:srgbClr val="768092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거래 계좌 정보</a:t>
            </a:r>
            <a:endParaRPr lang="en-US" sz="875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8" name="Shape 21"/>
          <p:cNvSpPr/>
          <p:nvPr/>
        </p:nvSpPr>
        <p:spPr>
          <a:xfrm>
            <a:off x="7533511" y="3409960"/>
            <a:ext cx="1485111" cy="523597"/>
          </a:xfrm>
          <a:prstGeom prst="roundRect">
            <a:avLst>
              <a:gd name="adj" fmla="val 16364"/>
            </a:avLst>
          </a:prstGeom>
          <a:solidFill>
            <a:srgbClr val="FDFDFD"/>
          </a:solidFill>
          <a:ln w="9525">
            <a:solidFill>
              <a:srgbClr val="E9E9EA"/>
            </a:solidFill>
            <a:prstDash val="solid"/>
          </a:ln>
        </p:spPr>
      </p:sp>
      <p:pic>
        <p:nvPicPr>
          <p:cNvPr id="39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76310" y="3543240"/>
            <a:ext cx="323678" cy="266558"/>
          </a:xfrm>
          <a:prstGeom prst="rect">
            <a:avLst/>
          </a:prstGeom>
        </p:spPr>
      </p:pic>
      <p:sp>
        <p:nvSpPr>
          <p:cNvPr id="40" name="Text 22"/>
          <p:cNvSpPr/>
          <p:nvPr/>
        </p:nvSpPr>
        <p:spPr>
          <a:xfrm>
            <a:off x="8076147" y="3571800"/>
            <a:ext cx="837755" cy="18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84"/>
              </a:lnSpc>
            </a:pPr>
            <a:r>
              <a:rPr lang="en-US" sz="952" dirty="0">
                <a:solidFill>
                  <a:srgbClr val="7A8495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추가 조회 결과</a:t>
            </a:r>
            <a:endParaRPr lang="en-US" sz="952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41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33593" y="3866918"/>
            <a:ext cx="295118" cy="199919"/>
          </a:xfrm>
          <a:prstGeom prst="rect">
            <a:avLst/>
          </a:prstGeom>
        </p:spPr>
      </p:pic>
      <p:sp>
        <p:nvSpPr>
          <p:cNvPr id="42" name="Shape 23"/>
          <p:cNvSpPr/>
          <p:nvPr/>
        </p:nvSpPr>
        <p:spPr>
          <a:xfrm>
            <a:off x="4563291" y="3438521"/>
            <a:ext cx="1342311" cy="504557"/>
          </a:xfrm>
          <a:prstGeom prst="roundRect">
            <a:avLst>
              <a:gd name="adj" fmla="val 16981"/>
            </a:avLst>
          </a:prstGeom>
          <a:solidFill>
            <a:srgbClr val="FDFDFD"/>
          </a:solidFill>
          <a:ln w="9525">
            <a:solidFill>
              <a:srgbClr val="EBECEE"/>
            </a:solidFill>
            <a:prstDash val="solid"/>
          </a:ln>
        </p:spPr>
      </p:sp>
      <p:pic>
        <p:nvPicPr>
          <p:cNvPr id="43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34650" y="3552760"/>
            <a:ext cx="285598" cy="276078"/>
          </a:xfrm>
          <a:prstGeom prst="rect">
            <a:avLst/>
          </a:prstGeom>
        </p:spPr>
      </p:pic>
      <p:sp>
        <p:nvSpPr>
          <p:cNvPr id="44" name="Text 24"/>
          <p:cNvSpPr/>
          <p:nvPr/>
        </p:nvSpPr>
        <p:spPr>
          <a:xfrm>
            <a:off x="5134486" y="3590839"/>
            <a:ext cx="609276" cy="171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75"/>
              </a:lnSpc>
            </a:pPr>
            <a:r>
              <a:rPr lang="en-US" sz="1027" dirty="0">
                <a:solidFill>
                  <a:srgbClr val="747F9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탐지 결과</a:t>
            </a:r>
            <a:endParaRPr lang="en-US" sz="1027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45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819922" y="3876438"/>
            <a:ext cx="323678" cy="199919"/>
          </a:xfrm>
          <a:prstGeom prst="rect">
            <a:avLst/>
          </a:prstGeom>
        </p:spPr>
      </p:pic>
      <p:sp>
        <p:nvSpPr>
          <p:cNvPr id="46" name="Shape 25"/>
          <p:cNvSpPr/>
          <p:nvPr/>
        </p:nvSpPr>
        <p:spPr>
          <a:xfrm>
            <a:off x="4372892" y="2467487"/>
            <a:ext cx="4731410" cy="380797"/>
          </a:xfrm>
          <a:prstGeom prst="roundRect">
            <a:avLst>
              <a:gd name="adj" fmla="val 10000"/>
            </a:avLst>
          </a:prstGeom>
          <a:solidFill>
            <a:srgbClr val="E13C3F"/>
          </a:solidFill>
          <a:ln w="9525">
            <a:solidFill>
              <a:srgbClr val="E6595D"/>
            </a:solidFill>
            <a:prstDash val="solid"/>
          </a:ln>
        </p:spPr>
      </p:sp>
      <p:sp>
        <p:nvSpPr>
          <p:cNvPr id="47" name="Text 26"/>
          <p:cNvSpPr/>
          <p:nvPr/>
        </p:nvSpPr>
        <p:spPr>
          <a:xfrm>
            <a:off x="4514126" y="2553166"/>
            <a:ext cx="4569191" cy="228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50"/>
              </a:lnSpc>
            </a:pPr>
            <a:r>
              <a:rPr lang="ko-KR" altLang="en-US" sz="1409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확인과 </a:t>
            </a:r>
            <a:r>
              <a:rPr lang="en-US" sz="1409" dirty="0" err="1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판단은</a:t>
            </a:r>
            <a:r>
              <a:rPr lang="en-US" sz="1409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sz="1409" dirty="0" err="1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사람의</a:t>
            </a:r>
            <a:r>
              <a:rPr lang="en-US" sz="1409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몫… </a:t>
            </a:r>
            <a:r>
              <a:rPr lang="ko-KR" altLang="en-US" sz="1409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그러나 정확한 정보를 알 수 없는 상황</a:t>
            </a:r>
            <a:endParaRPr lang="en-US" sz="1409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8" name="Shape 27"/>
          <p:cNvSpPr/>
          <p:nvPr/>
        </p:nvSpPr>
        <p:spPr>
          <a:xfrm>
            <a:off x="317398" y="2391327"/>
            <a:ext cx="2875021" cy="2922622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49" name="Shape 28"/>
          <p:cNvSpPr/>
          <p:nvPr/>
        </p:nvSpPr>
        <p:spPr>
          <a:xfrm>
            <a:off x="488756" y="4352434"/>
            <a:ext cx="2579903" cy="685435"/>
          </a:xfrm>
          <a:prstGeom prst="rect">
            <a:avLst/>
          </a:prstGeom>
          <a:solidFill>
            <a:srgbClr val="FDFDFD"/>
          </a:solidFill>
          <a:ln w="47625">
            <a:solidFill>
              <a:srgbClr val="F4F7FA"/>
            </a:solidFill>
            <a:prstDash val="solid"/>
          </a:ln>
        </p:spPr>
      </p:sp>
      <p:sp>
        <p:nvSpPr>
          <p:cNvPr id="50" name="Text 29"/>
          <p:cNvSpPr/>
          <p:nvPr/>
        </p:nvSpPr>
        <p:spPr>
          <a:xfrm>
            <a:off x="1450271" y="4714192"/>
            <a:ext cx="1504150" cy="171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24"/>
              </a:lnSpc>
            </a:pPr>
            <a:r>
              <a:rPr lang="en-US" sz="989" dirty="0">
                <a:solidFill>
                  <a:srgbClr val="9EA5A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이상거래 탐지 · 거래 제한</a:t>
            </a:r>
            <a:endParaRPr lang="en-US" sz="989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1" name="Text 30"/>
          <p:cNvSpPr/>
          <p:nvPr/>
        </p:nvSpPr>
        <p:spPr>
          <a:xfrm>
            <a:off x="1450271" y="4504753"/>
            <a:ext cx="380797" cy="171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75"/>
              </a:lnSpc>
            </a:pPr>
            <a:r>
              <a:rPr lang="en-US" sz="1267" b="1" dirty="0">
                <a:solidFill>
                  <a:srgbClr val="566579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FDS</a:t>
            </a:r>
            <a:endParaRPr lang="en-US" sz="1267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52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93395" y="4533314"/>
            <a:ext cx="390317" cy="323678"/>
          </a:xfrm>
          <a:prstGeom prst="rect">
            <a:avLst/>
          </a:prstGeom>
        </p:spPr>
      </p:pic>
      <p:sp>
        <p:nvSpPr>
          <p:cNvPr id="53" name="Shape 31"/>
          <p:cNvSpPr/>
          <p:nvPr/>
        </p:nvSpPr>
        <p:spPr>
          <a:xfrm>
            <a:off x="536356" y="3686039"/>
            <a:ext cx="2494224" cy="609276"/>
          </a:xfrm>
          <a:prstGeom prst="roundRect">
            <a:avLst>
              <a:gd name="adj" fmla="val 10937"/>
            </a:avLst>
          </a:prstGeom>
          <a:solidFill>
            <a:srgbClr val="FDFDFE"/>
          </a:solidFill>
          <a:ln/>
        </p:spPr>
      </p:sp>
      <p:sp>
        <p:nvSpPr>
          <p:cNvPr id="54" name="Text 32"/>
          <p:cNvSpPr/>
          <p:nvPr/>
        </p:nvSpPr>
        <p:spPr>
          <a:xfrm>
            <a:off x="1440751" y="3981157"/>
            <a:ext cx="1494630" cy="171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00"/>
              </a:lnSpc>
            </a:pPr>
            <a:r>
              <a:rPr lang="en-US" sz="982" dirty="0">
                <a:solidFill>
                  <a:srgbClr val="9FA6A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사기계좌·피해정보 공유</a:t>
            </a:r>
            <a:endParaRPr lang="en-US" sz="982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5" name="Text 33"/>
          <p:cNvSpPr/>
          <p:nvPr/>
        </p:nvSpPr>
        <p:spPr>
          <a:xfrm>
            <a:off x="1450270" y="3771718"/>
            <a:ext cx="523597" cy="171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75"/>
              </a:lnSpc>
            </a:pPr>
            <a:r>
              <a:rPr lang="en-US" sz="1304" b="1" dirty="0">
                <a:solidFill>
                  <a:srgbClr val="526278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ASAP</a:t>
            </a:r>
            <a:endParaRPr lang="en-US" sz="1304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56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2915" y="3809798"/>
            <a:ext cx="380797" cy="304638"/>
          </a:xfrm>
          <a:prstGeom prst="rect">
            <a:avLst/>
          </a:prstGeom>
        </p:spPr>
      </p:pic>
      <p:sp>
        <p:nvSpPr>
          <p:cNvPr id="57" name="Shape 34"/>
          <p:cNvSpPr/>
          <p:nvPr/>
        </p:nvSpPr>
        <p:spPr>
          <a:xfrm>
            <a:off x="498276" y="2924444"/>
            <a:ext cx="2570383" cy="694955"/>
          </a:xfrm>
          <a:prstGeom prst="rect">
            <a:avLst/>
          </a:prstGeom>
          <a:solidFill>
            <a:srgbClr val="FCFDFD"/>
          </a:solidFill>
          <a:ln w="57150">
            <a:solidFill>
              <a:srgbClr val="F4F7FA"/>
            </a:solidFill>
            <a:prstDash val="solid"/>
          </a:ln>
        </p:spPr>
      </p:sp>
      <p:sp>
        <p:nvSpPr>
          <p:cNvPr id="58" name="Text 35"/>
          <p:cNvSpPr/>
          <p:nvPr/>
        </p:nvSpPr>
        <p:spPr>
          <a:xfrm>
            <a:off x="1469310" y="3295721"/>
            <a:ext cx="1237592" cy="171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31"/>
              </a:lnSpc>
            </a:pPr>
            <a:r>
              <a:rPr lang="en-US" sz="1038" dirty="0">
                <a:solidFill>
                  <a:srgbClr val="A0A6A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의심 통화/문자 탐지</a:t>
            </a:r>
            <a:endParaRPr lang="en-US" sz="1038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9" name="Text 36"/>
          <p:cNvSpPr/>
          <p:nvPr/>
        </p:nvSpPr>
        <p:spPr>
          <a:xfrm>
            <a:off x="1469310" y="3076763"/>
            <a:ext cx="780635" cy="190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25"/>
              </a:lnSpc>
            </a:pPr>
            <a:r>
              <a:rPr lang="en-US" sz="1177" dirty="0">
                <a:solidFill>
                  <a:srgbClr val="5E6C8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통신사AI</a:t>
            </a:r>
            <a:endParaRPr lang="en-US" sz="1177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60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1474" y="3095803"/>
            <a:ext cx="437917" cy="380797"/>
          </a:xfrm>
          <a:prstGeom prst="rect">
            <a:avLst/>
          </a:prstGeom>
        </p:spPr>
      </p:pic>
      <p:sp>
        <p:nvSpPr>
          <p:cNvPr id="61" name="Shape 37"/>
          <p:cNvSpPr/>
          <p:nvPr/>
        </p:nvSpPr>
        <p:spPr>
          <a:xfrm>
            <a:off x="384038" y="2467488"/>
            <a:ext cx="2789342" cy="371277"/>
          </a:xfrm>
          <a:prstGeom prst="roundRect">
            <a:avLst>
              <a:gd name="adj" fmla="val 12179"/>
            </a:avLst>
          </a:prstGeom>
          <a:solidFill>
            <a:srgbClr val="718EA8"/>
          </a:solidFill>
          <a:ln w="9525">
            <a:solidFill>
              <a:srgbClr val="859EB5"/>
            </a:solidFill>
            <a:prstDash val="solid"/>
          </a:ln>
        </p:spPr>
      </p:sp>
      <p:sp>
        <p:nvSpPr>
          <p:cNvPr id="62" name="Text 38"/>
          <p:cNvSpPr/>
          <p:nvPr/>
        </p:nvSpPr>
        <p:spPr>
          <a:xfrm>
            <a:off x="745795" y="2553166"/>
            <a:ext cx="1789749" cy="228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50"/>
              </a:lnSpc>
            </a:pPr>
            <a:r>
              <a:rPr lang="en-US" sz="1319" dirty="0" err="1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탐지는</a:t>
            </a:r>
            <a:r>
              <a:rPr lang="en-US" sz="1319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잘 </a:t>
            </a:r>
            <a:r>
              <a:rPr lang="ko-KR" altLang="en-US" sz="1319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작</a:t>
            </a:r>
            <a:r>
              <a:rPr lang="en-US" sz="1319" dirty="0" err="1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동한다</a:t>
            </a:r>
            <a:endParaRPr lang="en-US" sz="1319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1" name="Text 44">
            <a:extLst>
              <a:ext uri="{FF2B5EF4-FFF2-40B4-BE49-F238E27FC236}">
                <a16:creationId xmlns:a16="http://schemas.microsoft.com/office/drawing/2014/main" id="{B3061293-0C3E-43AC-BE69-BB970A6C4CEE}"/>
              </a:ext>
            </a:extLst>
          </p:cNvPr>
          <p:cNvSpPr/>
          <p:nvPr/>
        </p:nvSpPr>
        <p:spPr>
          <a:xfrm>
            <a:off x="8574601" y="193708"/>
            <a:ext cx="3233362" cy="190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76"/>
              </a:lnSpc>
            </a:pPr>
            <a:r>
              <a:rPr lang="en-US" altLang="ko-KR" sz="918" dirty="0" err="1">
                <a:solidFill>
                  <a:srgbClr val="9EA6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탐지는</a:t>
            </a:r>
            <a:r>
              <a:rPr lang="en-US" altLang="ko-KR" sz="918" dirty="0">
                <a:solidFill>
                  <a:srgbClr val="9EA6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altLang="ko-KR" sz="918" dirty="0" err="1">
                <a:solidFill>
                  <a:srgbClr val="9EA6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위험을</a:t>
            </a:r>
            <a:r>
              <a:rPr lang="en-US" altLang="ko-KR" sz="918" dirty="0">
                <a:solidFill>
                  <a:srgbClr val="9EA6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altLang="ko-KR" sz="918" dirty="0" err="1">
                <a:solidFill>
                  <a:srgbClr val="9EA6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알려주지만</a:t>
            </a:r>
            <a:r>
              <a:rPr lang="en-US" altLang="ko-KR" sz="918" dirty="0">
                <a:solidFill>
                  <a:srgbClr val="9EA6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, </a:t>
            </a:r>
            <a:r>
              <a:rPr lang="en-US" altLang="ko-KR" sz="918" dirty="0" err="1">
                <a:solidFill>
                  <a:srgbClr val="9EA6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이후의</a:t>
            </a:r>
            <a:r>
              <a:rPr lang="en-US" altLang="ko-KR" sz="918" dirty="0">
                <a:solidFill>
                  <a:srgbClr val="9EA6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altLang="ko-KR" sz="918" dirty="0" err="1">
                <a:solidFill>
                  <a:srgbClr val="9EA6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판단과</a:t>
            </a:r>
            <a:r>
              <a:rPr lang="en-US" altLang="ko-KR" sz="918" dirty="0">
                <a:solidFill>
                  <a:srgbClr val="9EA6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altLang="ko-KR" sz="918" dirty="0" err="1">
                <a:solidFill>
                  <a:srgbClr val="9EA6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대옹은</a:t>
            </a:r>
            <a:r>
              <a:rPr lang="en-US" altLang="ko-KR" sz="918" dirty="0">
                <a:solidFill>
                  <a:srgbClr val="9EA6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altLang="ko-KR" sz="918" dirty="0" err="1">
                <a:solidFill>
                  <a:srgbClr val="9EA6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사람이</a:t>
            </a:r>
            <a:r>
              <a:rPr lang="en-US" altLang="ko-KR" sz="918" dirty="0">
                <a:solidFill>
                  <a:srgbClr val="9EA6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altLang="ko-KR" sz="918" dirty="0" err="1">
                <a:solidFill>
                  <a:srgbClr val="9EA6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한다</a:t>
            </a:r>
            <a:r>
              <a:rPr lang="en-US" altLang="ko-KR" sz="918" dirty="0">
                <a:solidFill>
                  <a:srgbClr val="9EA6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.</a:t>
            </a:r>
            <a:endParaRPr lang="en-US" altLang="ko-KR" sz="918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72" name="Image 24" descr="preencoded.png">
            <a:extLst>
              <a:ext uri="{FF2B5EF4-FFF2-40B4-BE49-F238E27FC236}">
                <a16:creationId xmlns:a16="http://schemas.microsoft.com/office/drawing/2014/main" id="{61B3266A-3472-496A-9289-D811783E65C0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992907" y="201741"/>
            <a:ext cx="6473558" cy="76159"/>
          </a:xfrm>
          <a:prstGeom prst="rect">
            <a:avLst/>
          </a:prstGeom>
        </p:spPr>
      </p:pic>
      <p:sp>
        <p:nvSpPr>
          <p:cNvPr id="73" name="Text 45">
            <a:extLst>
              <a:ext uri="{FF2B5EF4-FFF2-40B4-BE49-F238E27FC236}">
                <a16:creationId xmlns:a16="http://schemas.microsoft.com/office/drawing/2014/main" id="{E1A5FD3F-7964-4DF5-9B7B-603B56A21425}"/>
              </a:ext>
            </a:extLst>
          </p:cNvPr>
          <p:cNvSpPr/>
          <p:nvPr/>
        </p:nvSpPr>
        <p:spPr>
          <a:xfrm>
            <a:off x="993314" y="164913"/>
            <a:ext cx="923434" cy="230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00"/>
              </a:lnSpc>
            </a:pPr>
            <a:r>
              <a:rPr lang="ko-KR" altLang="en-US" sz="1251" dirty="0">
                <a:solidFill>
                  <a:srgbClr val="8C929C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왜 발생할까</a:t>
            </a:r>
            <a:r>
              <a:rPr lang="en-US" altLang="ko-KR" sz="1251" dirty="0">
                <a:solidFill>
                  <a:srgbClr val="8C929C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?</a:t>
            </a:r>
            <a:endParaRPr lang="en-US" sz="1251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8998880A-A343-4C0D-B8A1-77850636ACD5}"/>
              </a:ext>
            </a:extLst>
          </p:cNvPr>
          <p:cNvGrpSpPr/>
          <p:nvPr/>
        </p:nvGrpSpPr>
        <p:grpSpPr>
          <a:xfrm>
            <a:off x="203159" y="39903"/>
            <a:ext cx="713995" cy="628316"/>
            <a:chOff x="261284" y="-32064"/>
            <a:chExt cx="933152" cy="821174"/>
          </a:xfrm>
        </p:grpSpPr>
        <p:sp>
          <p:nvSpPr>
            <p:cNvPr id="79" name="Shape 46">
              <a:extLst>
                <a:ext uri="{FF2B5EF4-FFF2-40B4-BE49-F238E27FC236}">
                  <a16:creationId xmlns:a16="http://schemas.microsoft.com/office/drawing/2014/main" id="{2CF4E36E-4BB1-4A2F-80F0-06D1C62B8BE1}"/>
                </a:ext>
              </a:extLst>
            </p:cNvPr>
            <p:cNvSpPr/>
            <p:nvPr/>
          </p:nvSpPr>
          <p:spPr>
            <a:xfrm>
              <a:off x="335935" y="114359"/>
              <a:ext cx="758964" cy="398145"/>
            </a:xfrm>
            <a:prstGeom prst="roundRect">
              <a:avLst>
                <a:gd name="adj" fmla="val 4688"/>
              </a:avLst>
            </a:prstGeom>
            <a:solidFill>
              <a:srgbClr val="021C37"/>
            </a:solidFill>
            <a:ln w="9525">
              <a:solidFill>
                <a:srgbClr val="090D24"/>
              </a:solidFill>
              <a:prstDash val="solid"/>
            </a:ln>
          </p:spPr>
        </p:sp>
        <p:sp>
          <p:nvSpPr>
            <p:cNvPr id="80" name="Text 47">
              <a:extLst>
                <a:ext uri="{FF2B5EF4-FFF2-40B4-BE49-F238E27FC236}">
                  <a16:creationId xmlns:a16="http://schemas.microsoft.com/office/drawing/2014/main" id="{CE1AC158-D920-4BCF-B248-431BA2E99BD0}"/>
                </a:ext>
              </a:extLst>
            </p:cNvPr>
            <p:cNvSpPr/>
            <p:nvPr/>
          </p:nvSpPr>
          <p:spPr>
            <a:xfrm>
              <a:off x="261284" y="-32064"/>
              <a:ext cx="933152" cy="8211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ts val="1125"/>
                </a:lnSpc>
              </a:pPr>
              <a:r>
                <a:rPr lang="en-US" sz="1476" dirty="0">
                  <a:solidFill>
                    <a:srgbClr val="98A5AF"/>
                  </a:solidFill>
                  <a:latin typeface="페이퍼로지 5 Medium" pitchFamily="2" charset="-127"/>
                  <a:ea typeface="페이퍼로지 5 Medium" pitchFamily="2" charset="-127"/>
                  <a:cs typeface="Aptos" pitchFamily="34" charset="-120"/>
                </a:rPr>
                <a:t>03</a:t>
              </a:r>
              <a:endParaRPr lang="en-US" sz="1476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</p:grpSp>
      <p:sp>
        <p:nvSpPr>
          <p:cNvPr id="82" name="Text 49">
            <a:extLst>
              <a:ext uri="{FF2B5EF4-FFF2-40B4-BE49-F238E27FC236}">
                <a16:creationId xmlns:a16="http://schemas.microsoft.com/office/drawing/2014/main" id="{D9E43421-C32B-4BDA-A01F-B60A5AD9AF5A}"/>
              </a:ext>
            </a:extLst>
          </p:cNvPr>
          <p:cNvSpPr/>
          <p:nvPr/>
        </p:nvSpPr>
        <p:spPr>
          <a:xfrm>
            <a:off x="298357" y="582538"/>
            <a:ext cx="11890404" cy="1228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4947"/>
              </a:lnSpc>
            </a:pPr>
            <a:r>
              <a:rPr lang="ko-KR" altLang="en-US" sz="3606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탐지 이후</a:t>
            </a:r>
            <a:r>
              <a:rPr lang="en-US" altLang="ko-KR" sz="3606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, </a:t>
            </a:r>
            <a:r>
              <a:rPr lang="ko-KR" altLang="en-US" sz="3606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은행 담당자의 확인</a:t>
            </a:r>
            <a:r>
              <a:rPr lang="en-US" altLang="ko-KR" sz="3606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,</a:t>
            </a:r>
            <a:r>
              <a:rPr lang="ko-KR" altLang="en-US" sz="3606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판단</a:t>
            </a:r>
            <a:r>
              <a:rPr lang="en-US" altLang="ko-KR" sz="3606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,</a:t>
            </a:r>
            <a:r>
              <a:rPr lang="ko-KR" altLang="en-US" sz="3606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조치 과정에서</a:t>
            </a:r>
            <a:endParaRPr lang="en-US" altLang="ko-KR" sz="3606" b="1" dirty="0">
              <a:solidFill>
                <a:srgbClr val="283B4F"/>
              </a:solidFill>
              <a:latin typeface="페이퍼로지 5 Medium" pitchFamily="2" charset="-127"/>
              <a:ea typeface="페이퍼로지 5 Medium" pitchFamily="2" charset="-127"/>
              <a:cs typeface="Malgun Gothic" pitchFamily="34" charset="-120"/>
            </a:endParaRPr>
          </a:p>
          <a:p>
            <a:pPr>
              <a:lnSpc>
                <a:spcPts val="4947"/>
              </a:lnSpc>
            </a:pPr>
            <a:r>
              <a:rPr lang="en-US" altLang="ko-KR" sz="3606" b="1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‘</a:t>
            </a:r>
            <a:r>
              <a:rPr lang="ko-KR" altLang="en-US" sz="3606" b="1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휴먼 에러</a:t>
            </a:r>
            <a:r>
              <a:rPr lang="en-US" altLang="ko-KR" sz="3606" b="1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’</a:t>
            </a:r>
            <a:r>
              <a:rPr lang="ko-KR" altLang="en-US" sz="3606" b="1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가 발생</a:t>
            </a:r>
            <a:r>
              <a:rPr lang="ko-KR" altLang="en-US" sz="3606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할 수 있다</a:t>
            </a:r>
            <a:r>
              <a:rPr lang="en-US" altLang="ko-KR" sz="3606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!</a:t>
            </a:r>
            <a:endParaRPr lang="en-US" sz="3606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4" name="Text 48">
            <a:extLst>
              <a:ext uri="{FF2B5EF4-FFF2-40B4-BE49-F238E27FC236}">
                <a16:creationId xmlns:a16="http://schemas.microsoft.com/office/drawing/2014/main" id="{39E585B7-6D64-4BE8-B9C0-C0749E794185}"/>
              </a:ext>
            </a:extLst>
          </p:cNvPr>
          <p:cNvSpPr/>
          <p:nvPr/>
        </p:nvSpPr>
        <p:spPr>
          <a:xfrm>
            <a:off x="5720734" y="1101375"/>
            <a:ext cx="6386336" cy="904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75"/>
              </a:lnSpc>
            </a:pPr>
            <a:r>
              <a:rPr lang="ko-KR" altLang="en-US" sz="1424" dirty="0">
                <a:latin typeface="페이퍼로지 5 Medium" pitchFamily="2" charset="-127"/>
                <a:ea typeface="페이퍼로지 5 Medium" pitchFamily="2" charset="-127"/>
              </a:rPr>
              <a:t>은행 직원은 </a:t>
            </a:r>
            <a:r>
              <a:rPr lang="en-US" altLang="ko-KR" sz="1424" dirty="0">
                <a:latin typeface="페이퍼로지 5 Medium" pitchFamily="2" charset="-127"/>
                <a:ea typeface="페이퍼로지 5 Medium" pitchFamily="2" charset="-127"/>
              </a:rPr>
              <a:t>‘</a:t>
            </a:r>
            <a:r>
              <a:rPr lang="ko-KR" altLang="en-US" sz="1424" dirty="0">
                <a:latin typeface="페이퍼로지 5 Medium" pitchFamily="2" charset="-127"/>
                <a:ea typeface="페이퍼로지 5 Medium" pitchFamily="2" charset="-127"/>
              </a:rPr>
              <a:t>고객의 상황이나 정황</a:t>
            </a:r>
            <a:r>
              <a:rPr lang="en-US" altLang="ko-KR" sz="1424" dirty="0">
                <a:latin typeface="페이퍼로지 5 Medium" pitchFamily="2" charset="-127"/>
                <a:ea typeface="페이퍼로지 5 Medium" pitchFamily="2" charset="-127"/>
              </a:rPr>
              <a:t>’</a:t>
            </a:r>
            <a:r>
              <a:rPr lang="ko-KR" altLang="en-US" sz="1424" dirty="0">
                <a:latin typeface="페이퍼로지 5 Medium" pitchFamily="2" charset="-127"/>
                <a:ea typeface="페이퍼로지 5 Medium" pitchFamily="2" charset="-127"/>
              </a:rPr>
              <a:t>을 정확히 알 수 없으며</a:t>
            </a:r>
            <a:r>
              <a:rPr lang="en-US" altLang="ko-KR" sz="1424" dirty="0">
                <a:latin typeface="페이퍼로지 5 Medium" pitchFamily="2" charset="-127"/>
                <a:ea typeface="페이퍼로지 5 Medium" pitchFamily="2" charset="-127"/>
              </a:rPr>
              <a:t>,</a:t>
            </a:r>
          </a:p>
          <a:p>
            <a:pPr>
              <a:lnSpc>
                <a:spcPts val="1875"/>
              </a:lnSpc>
            </a:pPr>
            <a:r>
              <a:rPr lang="ko-KR" altLang="en-US" sz="1424" dirty="0">
                <a:latin typeface="페이퍼로지 5 Medium" pitchFamily="2" charset="-127"/>
                <a:ea typeface="페이퍼로지 5 Medium" pitchFamily="2" charset="-127"/>
              </a:rPr>
              <a:t>단지</a:t>
            </a:r>
            <a:r>
              <a:rPr lang="en-US" altLang="ko-KR" sz="1424" dirty="0">
                <a:latin typeface="페이퍼로지 5 Medium" pitchFamily="2" charset="-127"/>
                <a:ea typeface="페이퍼로지 5 Medium" pitchFamily="2" charset="-127"/>
              </a:rPr>
              <a:t> ‘</a:t>
            </a:r>
            <a:r>
              <a:rPr lang="ko-KR" altLang="en-US" sz="1424" dirty="0">
                <a:latin typeface="페이퍼로지 5 Medium" pitchFamily="2" charset="-127"/>
                <a:ea typeface="페이퍼로지 5 Medium" pitchFamily="2" charset="-127"/>
              </a:rPr>
              <a:t>보이스피싱이 발생 했다</a:t>
            </a:r>
            <a:r>
              <a:rPr lang="en-US" altLang="ko-KR" sz="1424" dirty="0">
                <a:latin typeface="페이퍼로지 5 Medium" pitchFamily="2" charset="-127"/>
                <a:ea typeface="페이퍼로지 5 Medium" pitchFamily="2" charset="-127"/>
              </a:rPr>
              <a:t>’</a:t>
            </a:r>
            <a:r>
              <a:rPr lang="ko-KR" altLang="en-US" sz="1424" dirty="0">
                <a:latin typeface="페이퍼로지 5 Medium" pitchFamily="2" charset="-127"/>
                <a:ea typeface="페이퍼로지 5 Medium" pitchFamily="2" charset="-127"/>
              </a:rPr>
              <a:t>는 사실만 알 수 있다</a:t>
            </a:r>
            <a:r>
              <a:rPr lang="en-US" altLang="ko-KR" sz="1424" dirty="0"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7C3EAA4-D7FD-40CA-A122-AE0F8C5856F2}"/>
              </a:ext>
            </a:extLst>
          </p:cNvPr>
          <p:cNvSpPr/>
          <p:nvPr/>
        </p:nvSpPr>
        <p:spPr>
          <a:xfrm>
            <a:off x="9692043" y="2206638"/>
            <a:ext cx="1884568" cy="228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50"/>
              </a:lnSpc>
            </a:pPr>
            <a:r>
              <a:rPr lang="ko-KR" altLang="en-US" sz="1224" dirty="0">
                <a:solidFill>
                  <a:srgbClr val="FF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정확한 정보 없이 판단 하기</a:t>
            </a:r>
            <a:r>
              <a:rPr lang="en-US" altLang="ko-KR" sz="1224" dirty="0">
                <a:solidFill>
                  <a:srgbClr val="FF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?</a:t>
            </a:r>
            <a:endParaRPr lang="en-US" sz="1224" dirty="0">
              <a:solidFill>
                <a:srgbClr val="FF0000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22A4760-B8E4-4B7F-8272-DB17EE448C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EC62D5-C2F6-4A4C-8AE7-BAAEE609EE9A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01 </a:t>
            </a:r>
            <a:r>
              <a:rPr sz="1050" b="0" dirty="0" err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프로젝트</a:t>
            </a:r>
            <a:r>
              <a:rPr sz="1050" b="0" dirty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개요</a:t>
            </a:r>
            <a:r>
              <a:rPr lang="en-US" sz="1050" b="0" dirty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altLang="ko-KR" sz="1050" b="0" dirty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- </a:t>
            </a:r>
            <a:r>
              <a:rPr lang="ko-KR" altLang="en-US" sz="1050" b="0" dirty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발송 트리거 및 적용 영역</a:t>
            </a:r>
            <a:endParaRPr sz="1050" b="0" dirty="0">
              <a:solidFill>
                <a:srgbClr val="1868B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FCDB93-30C7-4FD7-B382-3E9723D7A88F}"/>
              </a:ext>
            </a:extLst>
          </p:cNvPr>
          <p:cNvSpPr>
            <a:spLocks noGrp="1"/>
          </p:cNvSpPr>
          <p:nvPr/>
        </p:nvSpPr>
        <p:spPr>
          <a:xfrm>
            <a:off x="609600" y="542925"/>
            <a:ext cx="109537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 dirty="0" err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서비스</a:t>
            </a:r>
            <a:r>
              <a:rPr sz="2625" b="1" dirty="0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2625" b="1" dirty="0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적용 범위 및 발동 기준</a:t>
            </a:r>
            <a:endParaRPr sz="2625" b="1" dirty="0">
              <a:solidFill>
                <a:srgbClr val="112B5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79B664-D0A7-42FD-982D-7BC492F7E98A}"/>
              </a:ext>
            </a:extLst>
          </p:cNvPr>
          <p:cNvSpPr>
            <a:spLocks noGrp="1"/>
          </p:cNvSpPr>
          <p:nvPr/>
        </p:nvSpPr>
        <p:spPr>
          <a:xfrm>
            <a:off x="619125" y="1114425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CSR은 위험 탐지·공유·신고 흐름과 연결될 수 있는 담당자 업무 공간을 지향합니다.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2A45C1-55E8-4943-AF1E-B7EDCB16753D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1905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445DEC-87F0-4D1E-8246-00E27DBBF191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CSR   CASE SHARE ROOM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36B1F4-96A3-4A9A-8608-3D72EE548D06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FF3C314-ECC0-49D0-8988-B23B264B7C58}"/>
              </a:ext>
            </a:extLst>
          </p:cNvPr>
          <p:cNvSpPr>
            <a:spLocks noGrp="1"/>
          </p:cNvSpPr>
          <p:nvPr/>
        </p:nvSpPr>
        <p:spPr>
          <a:xfrm>
            <a:off x="666750" y="1781175"/>
            <a:ext cx="10810875" cy="723900"/>
          </a:xfrm>
          <a:prstGeom prst="roundRect">
            <a:avLst>
              <a:gd name="adj" fmla="val 10526"/>
            </a:avLst>
          </a:prstGeom>
          <a:solidFill>
            <a:srgbClr val="F3F7FB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65198C-D68B-4A14-8FD0-0795EFEB9C7B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590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0ED423-D594-44CE-B6DC-F4807755AF7D}"/>
              </a:ext>
            </a:extLst>
          </p:cNvPr>
          <p:cNvSpPr>
            <a:spLocks noGrp="1"/>
          </p:cNvSpPr>
          <p:nvPr/>
        </p:nvSpPr>
        <p:spPr>
          <a:xfrm>
            <a:off x="1504950" y="1876425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기존 체계의 주요 역할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5A10BB-F6FB-4EB2-ABEF-DB2CF038A241}"/>
              </a:ext>
            </a:extLst>
          </p:cNvPr>
          <p:cNvSpPr>
            <a:spLocks noGrp="1"/>
          </p:cNvSpPr>
          <p:nvPr/>
        </p:nvSpPr>
        <p:spPr>
          <a:xfrm>
            <a:off x="3857625" y="1876425"/>
            <a:ext cx="7429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위험 탐지(FDS 등) · 위험정보 공유(ASAP) · 신고·상담(1394)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7FF9A1F-588F-4E7C-A9BC-1BDA98AB5B85}"/>
              </a:ext>
            </a:extLst>
          </p:cNvPr>
          <p:cNvSpPr>
            <a:spLocks noGrp="1"/>
          </p:cNvSpPr>
          <p:nvPr/>
        </p:nvSpPr>
        <p:spPr>
          <a:xfrm>
            <a:off x="666750" y="2714625"/>
            <a:ext cx="10810875" cy="723900"/>
          </a:xfrm>
          <a:prstGeom prst="roundRect">
            <a:avLst>
              <a:gd name="adj" fmla="val 10526"/>
            </a:avLst>
          </a:prstGeom>
          <a:solidFill>
            <a:srgbClr val="E9F3FB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4553CB-B2B1-4353-9FAE-5C7FF3535C87}"/>
              </a:ext>
            </a:extLst>
          </p:cNvPr>
          <p:cNvSpPr>
            <a:spLocks noGrp="1"/>
          </p:cNvSpPr>
          <p:nvPr/>
        </p:nvSpPr>
        <p:spPr>
          <a:xfrm>
            <a:off x="838200" y="2876550"/>
            <a:ext cx="590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2976FC-ED9F-46F2-9139-F494DB24AD0C}"/>
              </a:ext>
            </a:extLst>
          </p:cNvPr>
          <p:cNvSpPr>
            <a:spLocks noGrp="1"/>
          </p:cNvSpPr>
          <p:nvPr/>
        </p:nvSpPr>
        <p:spPr>
          <a:xfrm>
            <a:off x="1504950" y="2809875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CSR의 집중 영역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7F240B-0B6C-4B33-9AB7-E0F92195EDBC}"/>
              </a:ext>
            </a:extLst>
          </p:cNvPr>
          <p:cNvSpPr>
            <a:spLocks noGrp="1"/>
          </p:cNvSpPr>
          <p:nvPr/>
        </p:nvSpPr>
        <p:spPr>
          <a:xfrm>
            <a:off x="3857625" y="2809875"/>
            <a:ext cx="7429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한 사건의 Evidence 종합 · 고객 확인 질문 · Fact 검토 · Context 갱신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F4A9F46-1AF3-4567-85E6-26E2616709F1}"/>
              </a:ext>
            </a:extLst>
          </p:cNvPr>
          <p:cNvSpPr>
            <a:spLocks noGrp="1"/>
          </p:cNvSpPr>
          <p:nvPr/>
        </p:nvSpPr>
        <p:spPr>
          <a:xfrm>
            <a:off x="666750" y="3648075"/>
            <a:ext cx="10810875" cy="723900"/>
          </a:xfrm>
          <a:prstGeom prst="roundRect">
            <a:avLst>
              <a:gd name="adj" fmla="val 10526"/>
            </a:avLst>
          </a:prstGeom>
          <a:solidFill>
            <a:srgbClr val="F3F7FB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F1803B-51E8-4FCC-BE94-70B6091B3A16}"/>
              </a:ext>
            </a:extLst>
          </p:cNvPr>
          <p:cNvSpPr>
            <a:spLocks noGrp="1"/>
          </p:cNvSpPr>
          <p:nvPr/>
        </p:nvSpPr>
        <p:spPr>
          <a:xfrm>
            <a:off x="838200" y="3810000"/>
            <a:ext cx="590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2D0960-C98A-4763-B018-B52F4ACE51A2}"/>
              </a:ext>
            </a:extLst>
          </p:cNvPr>
          <p:cNvSpPr>
            <a:spLocks noGrp="1"/>
          </p:cNvSpPr>
          <p:nvPr/>
        </p:nvSpPr>
        <p:spPr>
          <a:xfrm>
            <a:off x="1504950" y="3743325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현재 범위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F7F9F8-CFEB-41FA-A78B-77CAA52E23CF}"/>
              </a:ext>
            </a:extLst>
          </p:cNvPr>
          <p:cNvSpPr>
            <a:spLocks noGrp="1"/>
          </p:cNvSpPr>
          <p:nvPr/>
        </p:nvSpPr>
        <p:spPr>
          <a:xfrm>
            <a:off x="3857625" y="3743325"/>
            <a:ext cx="7429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독립 Web MVP의 담당자 ROOM·고객 ROOM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DC1F678-40EA-4E34-B687-AB11594E1794}"/>
              </a:ext>
            </a:extLst>
          </p:cNvPr>
          <p:cNvSpPr>
            <a:spLocks noGrp="1"/>
          </p:cNvSpPr>
          <p:nvPr/>
        </p:nvSpPr>
        <p:spPr>
          <a:xfrm>
            <a:off x="666750" y="4581525"/>
            <a:ext cx="10810875" cy="723900"/>
          </a:xfrm>
          <a:prstGeom prst="roundRect">
            <a:avLst>
              <a:gd name="adj" fmla="val 10526"/>
            </a:avLst>
          </a:prstGeom>
          <a:solidFill>
            <a:srgbClr val="F3F7FB"/>
          </a:solidFill>
          <a:ln w="0">
            <a:noFill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63B72E-7DEF-4B96-97BE-5D5C1A0915F7}"/>
              </a:ext>
            </a:extLst>
          </p:cNvPr>
          <p:cNvSpPr>
            <a:spLocks noGrp="1"/>
          </p:cNvSpPr>
          <p:nvPr/>
        </p:nvSpPr>
        <p:spPr>
          <a:xfrm>
            <a:off x="838200" y="4743450"/>
            <a:ext cx="590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FD833D-C950-45D4-B0DE-35D8C6715762}"/>
              </a:ext>
            </a:extLst>
          </p:cNvPr>
          <p:cNvSpPr>
            <a:spLocks noGrp="1"/>
          </p:cNvSpPr>
          <p:nvPr/>
        </p:nvSpPr>
        <p:spPr>
          <a:xfrm>
            <a:off x="1504950" y="4676775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목표 적용 형태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DCE210-B5BE-4590-A84A-D18C23F9D9C4}"/>
              </a:ext>
            </a:extLst>
          </p:cNvPr>
          <p:cNvSpPr>
            <a:spLocks noGrp="1"/>
          </p:cNvSpPr>
          <p:nvPr/>
        </p:nvSpPr>
        <p:spPr>
          <a:xfrm>
            <a:off x="3857625" y="4676775"/>
            <a:ext cx="7429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은행 내부 업무 Web + 기존 은행 App의 고객 확인 영역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A00A017-2E4E-432E-8741-E3E17DD401F8}"/>
              </a:ext>
            </a:extLst>
          </p:cNvPr>
          <p:cNvSpPr>
            <a:spLocks noGrp="1"/>
          </p:cNvSpPr>
          <p:nvPr/>
        </p:nvSpPr>
        <p:spPr>
          <a:xfrm>
            <a:off x="666750" y="5838825"/>
            <a:ext cx="10839450" cy="457200"/>
          </a:xfrm>
          <a:prstGeom prst="roundRect">
            <a:avLst>
              <a:gd name="adj" fmla="val 16667"/>
            </a:avLst>
          </a:prstGeom>
          <a:solidFill>
            <a:srgbClr val="FFF6DE"/>
          </a:solidFill>
          <a:ln w="0">
            <a:noFill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84AA13-4D48-4D4D-B763-992AD2397769}"/>
              </a:ext>
            </a:extLst>
          </p:cNvPr>
          <p:cNvSpPr>
            <a:spLocks noGrp="1"/>
          </p:cNvSpPr>
          <p:nvPr/>
        </p:nvSpPr>
        <p:spPr>
          <a:xfrm>
            <a:off x="828675" y="5905500"/>
            <a:ext cx="10525125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차별점  탐지 성능 경쟁보다 탐지 이후의 조사·고객 확인 Workflow를 다룹니다.</a:t>
            </a:r>
          </a:p>
        </p:txBody>
      </p:sp>
    </p:spTree>
    <p:extLst>
      <p:ext uri="{BB962C8B-B14F-4D97-AF65-F5344CB8AC3E}">
        <p14:creationId xmlns:p14="http://schemas.microsoft.com/office/powerpoint/2010/main" val="13387729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D83CD05-1C0E-4A92-8144-C841C3C659DF}"/>
              </a:ext>
            </a:extLst>
          </p:cNvPr>
          <p:cNvGrpSpPr/>
          <p:nvPr/>
        </p:nvGrpSpPr>
        <p:grpSpPr>
          <a:xfrm>
            <a:off x="10844784" y="128016"/>
            <a:ext cx="1188720" cy="1188720"/>
            <a:chOff x="10844784" y="128016"/>
            <a:chExt cx="1188720" cy="1188720"/>
          </a:xfrm>
        </p:grpSpPr>
        <p:sp>
          <p:nvSpPr>
            <p:cNvPr id="53" name="Shape 0">
              <a:extLst>
                <a:ext uri="{FF2B5EF4-FFF2-40B4-BE49-F238E27FC236}">
                  <a16:creationId xmlns:a16="http://schemas.microsoft.com/office/drawing/2014/main" id="{8180EA9B-D86F-480A-827F-E6A6E0D31C69}"/>
                </a:ext>
              </a:extLst>
            </p:cNvPr>
            <p:cNvSpPr/>
            <p:nvPr/>
          </p:nvSpPr>
          <p:spPr>
            <a:xfrm>
              <a:off x="10844784" y="128016"/>
              <a:ext cx="1188720" cy="1188720"/>
            </a:xfrm>
            <a:prstGeom prst="ellipse">
              <a:avLst/>
            </a:prstGeom>
            <a:solidFill>
              <a:srgbClr val="EAF3FF"/>
            </a:solidFill>
            <a:ln w="10160">
              <a:solidFill>
                <a:srgbClr val="EAF3FF"/>
              </a:solidFill>
              <a:prstDash val="solid"/>
            </a:ln>
          </p:spPr>
        </p:sp>
        <p:sp>
          <p:nvSpPr>
            <p:cNvPr id="54" name="Shape 1">
              <a:extLst>
                <a:ext uri="{FF2B5EF4-FFF2-40B4-BE49-F238E27FC236}">
                  <a16:creationId xmlns:a16="http://schemas.microsoft.com/office/drawing/2014/main" id="{A1E94AE9-4178-4DF3-81BE-A4F0E14FB13D}"/>
                </a:ext>
              </a:extLst>
            </p:cNvPr>
            <p:cNvSpPr/>
            <p:nvPr/>
          </p:nvSpPr>
          <p:spPr>
            <a:xfrm>
              <a:off x="11448288" y="292608"/>
              <a:ext cx="310896" cy="310896"/>
            </a:xfrm>
            <a:prstGeom prst="ellipse">
              <a:avLst/>
            </a:prstGeom>
            <a:solidFill>
              <a:srgbClr val="49A8FF"/>
            </a:solidFill>
            <a:ln w="10160">
              <a:solidFill>
                <a:srgbClr val="49A8FF"/>
              </a:solidFill>
              <a:prstDash val="solid"/>
            </a:ln>
          </p:spPr>
        </p:sp>
        <p:sp>
          <p:nvSpPr>
            <p:cNvPr id="55" name="Shape 2">
              <a:extLst>
                <a:ext uri="{FF2B5EF4-FFF2-40B4-BE49-F238E27FC236}">
                  <a16:creationId xmlns:a16="http://schemas.microsoft.com/office/drawing/2014/main" id="{0261E3B0-CF1D-4497-96E2-3E47E2AE44B6}"/>
                </a:ext>
              </a:extLst>
            </p:cNvPr>
            <p:cNvSpPr/>
            <p:nvPr/>
          </p:nvSpPr>
          <p:spPr>
            <a:xfrm>
              <a:off x="10844784" y="1024128"/>
              <a:ext cx="868680" cy="0"/>
            </a:xfrm>
            <a:prstGeom prst="line">
              <a:avLst/>
            </a:prstGeom>
            <a:noFill/>
            <a:ln w="13970">
              <a:solidFill>
                <a:srgbClr val="D6E8FF"/>
              </a:solidFill>
              <a:prstDash val="solid"/>
              <a:headEnd type="none"/>
              <a:tailEnd type="none"/>
            </a:ln>
          </p:spPr>
        </p:sp>
        <p:sp>
          <p:nvSpPr>
            <p:cNvPr id="56" name="Shape 3">
              <a:extLst>
                <a:ext uri="{FF2B5EF4-FFF2-40B4-BE49-F238E27FC236}">
                  <a16:creationId xmlns:a16="http://schemas.microsoft.com/office/drawing/2014/main" id="{77510202-A46B-4098-B6BE-16242DFE16B5}"/>
                </a:ext>
              </a:extLst>
            </p:cNvPr>
            <p:cNvSpPr/>
            <p:nvPr/>
          </p:nvSpPr>
          <p:spPr>
            <a:xfrm>
              <a:off x="11045952" y="1225296"/>
              <a:ext cx="667512" cy="0"/>
            </a:xfrm>
            <a:prstGeom prst="line">
              <a:avLst/>
            </a:prstGeom>
            <a:noFill/>
            <a:ln w="13970">
              <a:solidFill>
                <a:srgbClr val="D6E8FF"/>
              </a:solidFill>
              <a:prstDash val="solid"/>
              <a:headEnd type="none"/>
              <a:tailEnd type="none"/>
            </a:ln>
          </p:spPr>
        </p:sp>
      </p:grpSp>
      <p:sp>
        <p:nvSpPr>
          <p:cNvPr id="57" name="Text 5">
            <a:extLst>
              <a:ext uri="{FF2B5EF4-FFF2-40B4-BE49-F238E27FC236}">
                <a16:creationId xmlns:a16="http://schemas.microsoft.com/office/drawing/2014/main" id="{14DC0ADE-DD2D-4DB4-9ADF-13F891CE62C7}"/>
              </a:ext>
            </a:extLst>
          </p:cNvPr>
          <p:cNvSpPr txBox="1"/>
          <p:nvPr/>
        </p:nvSpPr>
        <p:spPr>
          <a:xfrm>
            <a:off x="-64242" y="162899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현황분석</a:t>
            </a:r>
            <a:endParaRPr lang="en-US" sz="1050" dirty="0">
              <a:solidFill>
                <a:srgbClr val="0E2746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8" name="Text 6">
            <a:extLst>
              <a:ext uri="{FF2B5EF4-FFF2-40B4-BE49-F238E27FC236}">
                <a16:creationId xmlns:a16="http://schemas.microsoft.com/office/drawing/2014/main" id="{A3AB1DBD-1697-472F-9AD7-5B9857EAF0DD}"/>
              </a:ext>
            </a:extLst>
          </p:cNvPr>
          <p:cNvSpPr txBox="1"/>
          <p:nvPr/>
        </p:nvSpPr>
        <p:spPr>
          <a:xfrm>
            <a:off x="594359" y="677610"/>
            <a:ext cx="11016615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ko-KR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2016</a:t>
            </a:r>
            <a:r>
              <a:rPr lang="ko-KR" altLang="en-US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년 이후 동안 보이스피싱 피해 </a:t>
            </a:r>
            <a:r>
              <a:rPr lang="en-US" altLang="ko-KR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260,694</a:t>
            </a:r>
            <a:r>
              <a:rPr lang="ko-KR" altLang="en-US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건</a:t>
            </a:r>
            <a:r>
              <a:rPr lang="en-US" altLang="ko-KR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, </a:t>
            </a:r>
            <a:r>
              <a:rPr lang="ko-KR" altLang="en-US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누적 피해액 </a:t>
            </a:r>
            <a:r>
              <a:rPr lang="en-US" altLang="ko-KR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6</a:t>
            </a:r>
            <a:r>
              <a:rPr lang="ko-KR" altLang="en-US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조</a:t>
            </a:r>
            <a:r>
              <a:rPr lang="en-US" altLang="ko-KR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 153</a:t>
            </a:r>
            <a:r>
              <a:rPr lang="ko-KR" altLang="en-US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억 원</a:t>
            </a:r>
            <a:r>
              <a:rPr lang="en-US" altLang="ko-KR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, </a:t>
            </a:r>
            <a:r>
              <a:rPr lang="ko-KR" altLang="en-US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평균 피해액 </a:t>
            </a:r>
            <a:r>
              <a:rPr lang="ko-KR" altLang="en-US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우상향</a:t>
            </a:r>
            <a:r>
              <a:rPr lang="en-US" altLang="ko-KR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…</a:t>
            </a:r>
          </a:p>
          <a:p>
            <a:r>
              <a:rPr lang="ko-KR" altLang="en-US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rPr>
              <a:t>단순 금전적</a:t>
            </a:r>
            <a:r>
              <a:rPr lang="en-US" altLang="ko-KR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rPr>
              <a:t>경제적 손실뿐 아니라</a:t>
            </a:r>
            <a:r>
              <a:rPr lang="en-US" altLang="ko-KR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</a:rPr>
              <a:t>극단적 선택까지</a:t>
            </a:r>
            <a:r>
              <a:rPr lang="ko-KR" altLang="en-US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rPr>
              <a:t> 이어지는 심각한 상황</a:t>
            </a:r>
            <a:endParaRPr lang="en-US" altLang="ko-KR" sz="2000" dirty="0">
              <a:solidFill>
                <a:srgbClr val="0E2746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7CC2DE4C-207C-45EF-9A0E-5F6667FDA2C7}"/>
              </a:ext>
            </a:extLst>
          </p:cNvPr>
          <p:cNvSpPr txBox="1"/>
          <p:nvPr/>
        </p:nvSpPr>
        <p:spPr>
          <a:xfrm>
            <a:off x="594360" y="54664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대한민국은 아직 보이스피싱 범죄와 전쟁 중</a:t>
            </a:r>
            <a:r>
              <a:rPr lang="en-US" altLang="ko-KR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…</a:t>
            </a:r>
            <a:endParaRPr lang="en-US" sz="123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7" name="Shape 44">
            <a:extLst>
              <a:ext uri="{FF2B5EF4-FFF2-40B4-BE49-F238E27FC236}">
                <a16:creationId xmlns:a16="http://schemas.microsoft.com/office/drawing/2014/main" id="{A76E8C5A-17D3-408B-A296-8675D799E942}"/>
              </a:ext>
            </a:extLst>
          </p:cNvPr>
          <p:cNvSpPr/>
          <p:nvPr/>
        </p:nvSpPr>
        <p:spPr>
          <a:xfrm>
            <a:off x="600456" y="4512716"/>
            <a:ext cx="10991088" cy="1736164"/>
          </a:xfrm>
          <a:prstGeom prst="roundRect">
            <a:avLst>
              <a:gd name="adj" fmla="val 14754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6B820F-AFB7-48E0-9EB6-DDB131DC1B40}"/>
              </a:ext>
            </a:extLst>
          </p:cNvPr>
          <p:cNvGrpSpPr/>
          <p:nvPr/>
        </p:nvGrpSpPr>
        <p:grpSpPr>
          <a:xfrm>
            <a:off x="810836" y="4675129"/>
            <a:ext cx="6480610" cy="1409774"/>
            <a:chOff x="804672" y="4974712"/>
            <a:chExt cx="6480610" cy="1409774"/>
          </a:xfrm>
        </p:grpSpPr>
        <p:sp>
          <p:nvSpPr>
            <p:cNvPr id="98" name="Text 45">
              <a:extLst>
                <a:ext uri="{FF2B5EF4-FFF2-40B4-BE49-F238E27FC236}">
                  <a16:creationId xmlns:a16="http://schemas.microsoft.com/office/drawing/2014/main" id="{4F2E3DE0-CD98-4D61-9489-686484F3DB48}"/>
                </a:ext>
              </a:extLst>
            </p:cNvPr>
            <p:cNvSpPr txBox="1"/>
            <p:nvPr/>
          </p:nvSpPr>
          <p:spPr>
            <a:xfrm>
              <a:off x="804672" y="4987290"/>
              <a:ext cx="53949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endParaRPr lang="en-US" sz="1050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1E646E0-5120-4849-9996-97AD67287F74}"/>
                </a:ext>
              </a:extLst>
            </p:cNvPr>
            <p:cNvSpPr txBox="1"/>
            <p:nvPr/>
          </p:nvSpPr>
          <p:spPr>
            <a:xfrm>
              <a:off x="894649" y="5324056"/>
              <a:ext cx="6390633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ko-KR" sz="1200" b="1" i="0" dirty="0">
                  <a:solidFill>
                    <a:srgbClr val="222222"/>
                  </a:solidFill>
                  <a:effectLst/>
                  <a:latin typeface="페이퍼로지 7 Bold" pitchFamily="2" charset="-127"/>
                  <a:ea typeface="페이퍼로지 7 Bold" pitchFamily="2" charset="-127"/>
                </a:rPr>
                <a:t>“</a:t>
              </a:r>
              <a:r>
                <a:rPr lang="ko-KR" altLang="en-US" sz="1200" b="1" i="0" dirty="0">
                  <a:solidFill>
                    <a:srgbClr val="222222"/>
                  </a:solidFill>
                  <a:effectLst/>
                  <a:latin typeface="페이퍼로지 7 Bold" pitchFamily="2" charset="-127"/>
                  <a:ea typeface="페이퍼로지 7 Bold" pitchFamily="2" charset="-127"/>
                </a:rPr>
                <a:t>보이스피싱 줄었다지만</a:t>
              </a:r>
              <a:r>
                <a:rPr lang="en-US" altLang="ko-KR" sz="1200" b="1" i="0" dirty="0">
                  <a:solidFill>
                    <a:srgbClr val="222222"/>
                  </a:solidFill>
                  <a:effectLst/>
                  <a:latin typeface="페이퍼로지 7 Bold" pitchFamily="2" charset="-127"/>
                  <a:ea typeface="페이퍼로지 7 Bold" pitchFamily="2" charset="-127"/>
                </a:rPr>
                <a:t>…5</a:t>
              </a:r>
              <a:r>
                <a:rPr lang="ko-KR" altLang="en-US" sz="1200" b="1" i="0" dirty="0">
                  <a:solidFill>
                    <a:srgbClr val="222222"/>
                  </a:solidFill>
                  <a:effectLst/>
                  <a:latin typeface="페이퍼로지 7 Bold" pitchFamily="2" charset="-127"/>
                  <a:ea typeface="페이퍼로지 7 Bold" pitchFamily="2" charset="-127"/>
                </a:rPr>
                <a:t>천만 원 피해에 </a:t>
              </a:r>
              <a:r>
                <a:rPr lang="en-US" altLang="ko-KR" sz="1200" b="1" i="0" dirty="0">
                  <a:solidFill>
                    <a:srgbClr val="FF4B16"/>
                  </a:solidFill>
                  <a:effectLst/>
                  <a:latin typeface="페이퍼로지 7 Bold" pitchFamily="2" charset="-127"/>
                  <a:ea typeface="페이퍼로지 7 Bold" pitchFamily="2" charset="-127"/>
                </a:rPr>
                <a:t>20</a:t>
              </a:r>
              <a:r>
                <a:rPr lang="ko-KR" altLang="en-US" sz="1200" b="1" i="0" dirty="0">
                  <a:solidFill>
                    <a:srgbClr val="FF4B16"/>
                  </a:solidFill>
                  <a:effectLst/>
                  <a:latin typeface="페이퍼로지 7 Bold" pitchFamily="2" charset="-127"/>
                  <a:ea typeface="페이퍼로지 7 Bold" pitchFamily="2" charset="-127"/>
                </a:rPr>
                <a:t>대 아들</a:t>
              </a:r>
              <a:r>
                <a:rPr lang="en-US" altLang="ko-KR" sz="1200" b="1" i="0" dirty="0">
                  <a:solidFill>
                    <a:srgbClr val="FF4B16"/>
                  </a:solidFill>
                  <a:effectLst/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1200" b="1" i="0" dirty="0">
                  <a:solidFill>
                    <a:srgbClr val="FF4B16"/>
                  </a:solidFill>
                  <a:effectLst/>
                  <a:latin typeface="페이퍼로지 7 Bold" pitchFamily="2" charset="-127"/>
                  <a:ea typeface="페이퍼로지 7 Bold" pitchFamily="2" charset="-127"/>
                </a:rPr>
                <a:t>엄마와 함께 숨져</a:t>
              </a:r>
              <a:r>
                <a:rPr lang="en-US" altLang="ko-KR" sz="1200" b="1" i="0" dirty="0">
                  <a:solidFill>
                    <a:srgbClr val="222222"/>
                  </a:solidFill>
                  <a:effectLst/>
                  <a:latin typeface="페이퍼로지 7 Bold" pitchFamily="2" charset="-127"/>
                  <a:ea typeface="페이퍼로지 7 Bold" pitchFamily="2" charset="-127"/>
                </a:rPr>
                <a:t>”</a:t>
              </a:r>
              <a:r>
                <a:rPr lang="ko-KR" altLang="en-US" sz="1200" b="1" i="0" dirty="0">
                  <a:solidFill>
                    <a:srgbClr val="222222"/>
                  </a:solidFill>
                  <a:effectLst/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lang="en-US" altLang="ko-KR" sz="1200" i="0" dirty="0">
                  <a:solidFill>
                    <a:srgbClr val="222222"/>
                  </a:solidFill>
                  <a:effectLst/>
                  <a:latin typeface="페이퍼로지 7 Bold" pitchFamily="2" charset="-127"/>
                  <a:ea typeface="페이퍼로지 7 Bold" pitchFamily="2" charset="-127"/>
                </a:rPr>
                <a:t>(KBS</a:t>
              </a:r>
              <a:r>
                <a:rPr lang="ko-KR" altLang="en-US" sz="1200" i="0" dirty="0">
                  <a:solidFill>
                    <a:srgbClr val="222222"/>
                  </a:solidFill>
                  <a:effectLst/>
                  <a:latin typeface="페이퍼로지 7 Bold" pitchFamily="2" charset="-127"/>
                  <a:ea typeface="페이퍼로지 7 Bold" pitchFamily="2" charset="-127"/>
                </a:rPr>
                <a:t>뉴스 </a:t>
              </a:r>
              <a:r>
                <a:rPr lang="en-US" altLang="ko-KR" sz="1200" i="0" dirty="0">
                  <a:solidFill>
                    <a:srgbClr val="222222"/>
                  </a:solidFill>
                  <a:effectLst/>
                  <a:latin typeface="페이퍼로지 7 Bold" pitchFamily="2" charset="-127"/>
                  <a:ea typeface="페이퍼로지 7 Bold" pitchFamily="2" charset="-127"/>
                </a:rPr>
                <a:t>2026.06.22)</a:t>
              </a:r>
              <a:endParaRPr lang="ko-KR" altLang="en-US" sz="1200" i="0" dirty="0">
                <a:solidFill>
                  <a:srgbClr val="222222"/>
                </a:solidFill>
                <a:effectLst/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69DBA008-F345-4089-8070-1624E61E661A}"/>
                </a:ext>
              </a:extLst>
            </p:cNvPr>
            <p:cNvSpPr txBox="1"/>
            <p:nvPr/>
          </p:nvSpPr>
          <p:spPr>
            <a:xfrm>
              <a:off x="826725" y="4974712"/>
              <a:ext cx="422807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ko-KR" altLang="en-US" sz="1200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극단적인 선택 까지 이어지는 보이스피싱 범죄의 심각성</a:t>
              </a:r>
              <a:endParaRPr lang="en-US" altLang="ko-KR" sz="12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2F6B1490-F183-46C5-891C-4DF4DDEBC613}"/>
                </a:ext>
              </a:extLst>
            </p:cNvPr>
            <p:cNvSpPr txBox="1"/>
            <p:nvPr/>
          </p:nvSpPr>
          <p:spPr>
            <a:xfrm>
              <a:off x="894649" y="5711305"/>
              <a:ext cx="5918527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ko-KR" sz="1200" b="1" i="0" dirty="0">
                  <a:effectLst/>
                  <a:latin typeface="페이퍼로지 7 Bold" pitchFamily="2" charset="-127"/>
                  <a:ea typeface="페이퍼로지 7 Bold" pitchFamily="2" charset="-127"/>
                </a:rPr>
                <a:t>“</a:t>
              </a:r>
              <a:r>
                <a:rPr lang="ko-KR" altLang="en-US" sz="1200" b="1" i="0" dirty="0">
                  <a:effectLst/>
                  <a:latin typeface="페이퍼로지 7 Bold" pitchFamily="2" charset="-127"/>
                  <a:ea typeface="페이퍼로지 7 Bold" pitchFamily="2" charset="-127"/>
                </a:rPr>
                <a:t>보이스피싱에 속아 </a:t>
              </a:r>
              <a:r>
                <a:rPr lang="en-US" altLang="ko-KR" sz="1200" b="1" i="0" dirty="0">
                  <a:effectLst/>
                  <a:latin typeface="페이퍼로지 7 Bold" pitchFamily="2" charset="-127"/>
                  <a:ea typeface="페이퍼로지 7 Bold" pitchFamily="2" charset="-127"/>
                </a:rPr>
                <a:t>3</a:t>
              </a:r>
              <a:r>
                <a:rPr lang="ko-KR" altLang="en-US" sz="1200" b="1" i="0" dirty="0">
                  <a:effectLst/>
                  <a:latin typeface="페이퍼로지 7 Bold" pitchFamily="2" charset="-127"/>
                  <a:ea typeface="페이퍼로지 7 Bold" pitchFamily="2" charset="-127"/>
                </a:rPr>
                <a:t>억원 잃은 </a:t>
              </a:r>
              <a:r>
                <a:rPr lang="ko-KR" altLang="en-US" sz="1200" b="1" i="0" dirty="0">
                  <a:solidFill>
                    <a:srgbClr val="FF4B16"/>
                  </a:solidFill>
                  <a:effectLst/>
                  <a:latin typeface="페이퍼로지 7 Bold" pitchFamily="2" charset="-127"/>
                  <a:ea typeface="페이퍼로지 7 Bold" pitchFamily="2" charset="-127"/>
                </a:rPr>
                <a:t>피해자 생 마감</a:t>
              </a:r>
              <a:r>
                <a:rPr lang="en-US" altLang="ko-KR" sz="1200" b="1" i="0" dirty="0">
                  <a:effectLst/>
                  <a:latin typeface="페이퍼로지 7 Bold" pitchFamily="2" charset="-127"/>
                  <a:ea typeface="페이퍼로지 7 Bold" pitchFamily="2" charset="-127"/>
                </a:rPr>
                <a:t>…</a:t>
              </a:r>
              <a:r>
                <a:rPr lang="ko-KR" altLang="en-US" sz="1200" b="1" i="0" dirty="0">
                  <a:effectLst/>
                  <a:latin typeface="페이퍼로지 7 Bold" pitchFamily="2" charset="-127"/>
                  <a:ea typeface="페이퍼로지 7 Bold" pitchFamily="2" charset="-127"/>
                </a:rPr>
                <a:t>인출책 징역 </a:t>
              </a:r>
              <a:r>
                <a:rPr lang="en-US" altLang="ko-KR" sz="1200" b="1" i="0" dirty="0">
                  <a:effectLst/>
                  <a:latin typeface="페이퍼로지 7 Bold" pitchFamily="2" charset="-127"/>
                  <a:ea typeface="페이퍼로지 7 Bold" pitchFamily="2" charset="-127"/>
                </a:rPr>
                <a:t>1</a:t>
              </a:r>
              <a:r>
                <a:rPr lang="ko-KR" altLang="en-US" sz="1200" b="1" i="0" dirty="0">
                  <a:effectLst/>
                  <a:latin typeface="페이퍼로지 7 Bold" pitchFamily="2" charset="-127"/>
                  <a:ea typeface="페이퍼로지 7 Bold" pitchFamily="2" charset="-127"/>
                </a:rPr>
                <a:t>년</a:t>
              </a:r>
              <a:r>
                <a:rPr lang="en-US" altLang="ko-KR" sz="1200" b="1" i="0" dirty="0">
                  <a:effectLst/>
                  <a:latin typeface="페이퍼로지 7 Bold" pitchFamily="2" charset="-127"/>
                  <a:ea typeface="페이퍼로지 7 Bold" pitchFamily="2" charset="-127"/>
                </a:rPr>
                <a:t>”</a:t>
              </a:r>
              <a:r>
                <a:rPr lang="ko-KR" altLang="en-US" sz="1200" b="1" i="0" dirty="0">
                  <a:effectLst/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lang="en-US" altLang="ko-KR" sz="1200" i="0" dirty="0">
                  <a:effectLst/>
                  <a:latin typeface="페이퍼로지 7 Bold" pitchFamily="2" charset="-127"/>
                  <a:ea typeface="페이퍼로지 7 Bold" pitchFamily="2" charset="-127"/>
                </a:rPr>
                <a:t>(</a:t>
              </a:r>
              <a:r>
                <a:rPr lang="ko-KR" altLang="en-US" sz="1200" i="0" dirty="0">
                  <a:effectLst/>
                  <a:latin typeface="페이퍼로지 7 Bold" pitchFamily="2" charset="-127"/>
                  <a:ea typeface="페이퍼로지 7 Bold" pitchFamily="2" charset="-127"/>
                </a:rPr>
                <a:t>연합뉴스 </a:t>
              </a:r>
              <a:r>
                <a:rPr lang="en-US" altLang="ko-KR" sz="1200" i="0" dirty="0">
                  <a:effectLst/>
                  <a:latin typeface="페이퍼로지 7 Bold" pitchFamily="2" charset="-127"/>
                  <a:ea typeface="페이퍼로지 7 Bold" pitchFamily="2" charset="-127"/>
                </a:rPr>
                <a:t>2026.05.27)</a:t>
              </a:r>
              <a:endParaRPr lang="ko-KR" altLang="en-US" sz="1200" i="0" dirty="0">
                <a:effectLst/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AD6700A-593D-446A-8111-A37932502880}"/>
                </a:ext>
              </a:extLst>
            </p:cNvPr>
            <p:cNvSpPr txBox="1"/>
            <p:nvPr/>
          </p:nvSpPr>
          <p:spPr>
            <a:xfrm>
              <a:off x="894649" y="6107487"/>
              <a:ext cx="6173663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ko-KR" sz="1200" b="1" i="0" dirty="0">
                  <a:effectLst/>
                  <a:latin typeface="페이퍼로지 7 Bold" pitchFamily="2" charset="-127"/>
                  <a:ea typeface="페이퍼로지 7 Bold" pitchFamily="2" charset="-127"/>
                </a:rPr>
                <a:t>“</a:t>
              </a:r>
              <a:r>
                <a:rPr lang="ko-KR" altLang="en-US" sz="1200" b="1" i="0" dirty="0">
                  <a:effectLst/>
                  <a:latin typeface="페이퍼로지 7 Bold" pitchFamily="2" charset="-127"/>
                  <a:ea typeface="페이퍼로지 7 Bold" pitchFamily="2" charset="-127"/>
                </a:rPr>
                <a:t>보이스피싱 피해 비관 </a:t>
              </a:r>
              <a:r>
                <a:rPr lang="ko-KR" altLang="en-US" sz="1200" b="1" i="0" dirty="0">
                  <a:solidFill>
                    <a:srgbClr val="FF4B16"/>
                  </a:solidFill>
                  <a:effectLst/>
                  <a:latin typeface="페이퍼로지 7 Bold" pitchFamily="2" charset="-127"/>
                  <a:ea typeface="페이퍼로지 7 Bold" pitchFamily="2" charset="-127"/>
                </a:rPr>
                <a:t>부부 극단선택</a:t>
              </a:r>
              <a:r>
                <a:rPr lang="en-US" altLang="ko-KR" sz="1200" b="1" i="0" dirty="0">
                  <a:effectLst/>
                  <a:latin typeface="페이퍼로지 7 Bold" pitchFamily="2" charset="-127"/>
                  <a:ea typeface="페이퍼로지 7 Bold" pitchFamily="2" charset="-127"/>
                </a:rPr>
                <a:t>…</a:t>
              </a:r>
              <a:r>
                <a:rPr lang="ko-KR" altLang="en-US" sz="1200" b="1" i="0" dirty="0">
                  <a:effectLst/>
                  <a:latin typeface="페이퍼로지 7 Bold" pitchFamily="2" charset="-127"/>
                  <a:ea typeface="페이퍼로지 7 Bold" pitchFamily="2" charset="-127"/>
                </a:rPr>
                <a:t>홀로 산 남편 자살방조 처벌</a:t>
              </a:r>
              <a:r>
                <a:rPr lang="en-US" altLang="ko-KR" sz="1200" b="1" i="0" dirty="0">
                  <a:effectLst/>
                  <a:latin typeface="페이퍼로지 7 Bold" pitchFamily="2" charset="-127"/>
                  <a:ea typeface="페이퍼로지 7 Bold" pitchFamily="2" charset="-127"/>
                </a:rPr>
                <a:t>”</a:t>
              </a:r>
              <a:r>
                <a:rPr lang="ko-KR" altLang="en-US" sz="1200" b="1" i="0" dirty="0">
                  <a:effectLst/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lang="en-US" altLang="ko-KR" sz="1200" i="0" dirty="0">
                  <a:effectLst/>
                  <a:latin typeface="페이퍼로지 7 Bold" pitchFamily="2" charset="-127"/>
                  <a:ea typeface="페이퍼로지 7 Bold" pitchFamily="2" charset="-127"/>
                </a:rPr>
                <a:t>(</a:t>
              </a:r>
              <a:r>
                <a:rPr lang="ko-KR" altLang="en-US" sz="1200" i="0" dirty="0">
                  <a:effectLst/>
                  <a:latin typeface="페이퍼로지 7 Bold" pitchFamily="2" charset="-127"/>
                  <a:ea typeface="페이퍼로지 7 Bold" pitchFamily="2" charset="-127"/>
                </a:rPr>
                <a:t>연합뉴스</a:t>
              </a:r>
              <a:r>
                <a:rPr lang="en-US" altLang="ko-KR" sz="1200" i="0" dirty="0">
                  <a:effectLst/>
                  <a:latin typeface="페이퍼로지 7 Bold" pitchFamily="2" charset="-127"/>
                  <a:ea typeface="페이퍼로지 7 Bold" pitchFamily="2" charset="-127"/>
                </a:rPr>
                <a:t>TV</a:t>
              </a:r>
              <a:r>
                <a:rPr lang="ko-KR" altLang="en-US" sz="1200" i="0" dirty="0">
                  <a:effectLst/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lang="en-US" altLang="ko-KR" sz="1200" i="0" dirty="0">
                  <a:effectLst/>
                  <a:latin typeface="페이퍼로지 7 Bold" pitchFamily="2" charset="-127"/>
                  <a:ea typeface="페이퍼로지 7 Bold" pitchFamily="2" charset="-127"/>
                </a:rPr>
                <a:t>2026.07.26)</a:t>
              </a:r>
              <a:endParaRPr lang="ko-KR" altLang="en-US" sz="1200" i="0" dirty="0">
                <a:effectLst/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15506-C7C5-46AF-97DD-9E8720001060}"/>
              </a:ext>
            </a:extLst>
          </p:cNvPr>
          <p:cNvGrpSpPr/>
          <p:nvPr/>
        </p:nvGrpSpPr>
        <p:grpSpPr>
          <a:xfrm>
            <a:off x="7591803" y="4619884"/>
            <a:ext cx="3656903" cy="1521828"/>
            <a:chOff x="7640448" y="4563464"/>
            <a:chExt cx="3656903" cy="152182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AA21B39-CDD9-416A-94A5-F7D48DFFB9B7}"/>
                </a:ext>
              </a:extLst>
            </p:cNvPr>
            <p:cNvGrpSpPr/>
            <p:nvPr/>
          </p:nvGrpSpPr>
          <p:grpSpPr>
            <a:xfrm>
              <a:off x="7640448" y="4563464"/>
              <a:ext cx="3656903" cy="1521828"/>
              <a:chOff x="7640448" y="4563464"/>
              <a:chExt cx="3656903" cy="1521828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88D801F-1FFC-4DB5-BA05-2750BEE7D95D}"/>
                  </a:ext>
                </a:extLst>
              </p:cNvPr>
              <p:cNvSpPr/>
              <p:nvPr/>
            </p:nvSpPr>
            <p:spPr>
              <a:xfrm>
                <a:off x="7656784" y="4794782"/>
                <a:ext cx="3640567" cy="1290510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5650DA10-F948-4096-918C-238B8CB95A93}"/>
                  </a:ext>
                </a:extLst>
              </p:cNvPr>
              <p:cNvSpPr/>
              <p:nvPr/>
            </p:nvSpPr>
            <p:spPr>
              <a:xfrm>
                <a:off x="7724678" y="4887453"/>
                <a:ext cx="3512773" cy="152226"/>
              </a:xfrm>
              <a:prstGeom prst="rect">
                <a:avLst/>
              </a:prstGeom>
              <a:solidFill>
                <a:srgbClr val="FF4B16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r>
                  <a:rPr lang="ko-KR" altLang="en-US" sz="10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두려움과 분노</a:t>
                </a:r>
                <a:r>
                  <a:rPr lang="en-US" altLang="ko-KR" sz="10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, </a:t>
                </a:r>
                <a:r>
                  <a:rPr lang="ko-KR" altLang="en-US" sz="10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죄책감 느낀다</a:t>
                </a:r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C96D9C1A-8A8D-4FA9-8E69-1BD016277053}"/>
                  </a:ext>
                </a:extLst>
              </p:cNvPr>
              <p:cNvSpPr/>
              <p:nvPr/>
            </p:nvSpPr>
            <p:spPr>
              <a:xfrm>
                <a:off x="7724678" y="5087078"/>
                <a:ext cx="2931106" cy="152226"/>
              </a:xfrm>
              <a:prstGeom prst="rect">
                <a:avLst/>
              </a:prstGeom>
              <a:solidFill>
                <a:srgbClr val="FF4B16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r>
                  <a:rPr lang="ko-KR" altLang="en-US" sz="10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밤에 잠이 잘 안 온다</a:t>
                </a:r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F3D7BAF9-07DE-400A-AC59-9FF748362373}"/>
                  </a:ext>
                </a:extLst>
              </p:cNvPr>
              <p:cNvSpPr/>
              <p:nvPr/>
            </p:nvSpPr>
            <p:spPr>
              <a:xfrm>
                <a:off x="7724678" y="5286703"/>
                <a:ext cx="1993067" cy="152226"/>
              </a:xfrm>
              <a:prstGeom prst="rect">
                <a:avLst/>
              </a:prstGeom>
              <a:solidFill>
                <a:srgbClr val="FF4B16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r>
                  <a:rPr lang="ko-KR" altLang="en-US" sz="10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주변에 대한 과도한 경계심이 생긴다</a:t>
                </a:r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8B5CB79-EE6B-47C6-8864-0A3C9BD3740E}"/>
                  </a:ext>
                </a:extLst>
              </p:cNvPr>
              <p:cNvGrpSpPr/>
              <p:nvPr/>
            </p:nvGrpSpPr>
            <p:grpSpPr>
              <a:xfrm>
                <a:off x="7724678" y="4887453"/>
                <a:ext cx="3512773" cy="751101"/>
                <a:chOff x="7724678" y="4937557"/>
                <a:chExt cx="3512773" cy="751101"/>
              </a:xfrm>
            </p:grpSpPr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AEC622F5-EDC0-4894-A4DF-14A87444EAE9}"/>
                    </a:ext>
                  </a:extLst>
                </p:cNvPr>
                <p:cNvSpPr/>
                <p:nvPr/>
              </p:nvSpPr>
              <p:spPr>
                <a:xfrm>
                  <a:off x="8863296" y="5536432"/>
                  <a:ext cx="2374155" cy="152226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r>
                    <a:rPr lang="ko-KR" altLang="en-US" sz="1000" dirty="0">
                      <a:latin typeface="페이퍼로지 4 Regular" pitchFamily="2" charset="-127"/>
                      <a:ea typeface="페이퍼로지 4 Regular" pitchFamily="2" charset="-127"/>
                    </a:rPr>
                    <a:t>병원에서 우울증 치료 등을 받는다 </a:t>
                  </a:r>
                  <a:r>
                    <a:rPr lang="en-US" altLang="ko-KR" sz="1000" dirty="0">
                      <a:latin typeface="페이퍼로지 7 Bold" pitchFamily="2" charset="-127"/>
                      <a:ea typeface="페이퍼로지 7 Bold" pitchFamily="2" charset="-127"/>
                    </a:rPr>
                    <a:t>25.4%</a:t>
                  </a:r>
                  <a:endParaRPr lang="ko-KR" altLang="en-US" sz="1000" dirty="0"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  <p:sp>
              <p:nvSpPr>
                <p:cNvPr id="140" name="Rectangle 139">
                  <a:extLst>
                    <a:ext uri="{FF2B5EF4-FFF2-40B4-BE49-F238E27FC236}">
                      <a16:creationId xmlns:a16="http://schemas.microsoft.com/office/drawing/2014/main" id="{830D2552-CE5F-4566-9324-CCAA6DE748F6}"/>
                    </a:ext>
                  </a:extLst>
                </p:cNvPr>
                <p:cNvSpPr/>
                <p:nvPr/>
              </p:nvSpPr>
              <p:spPr>
                <a:xfrm>
                  <a:off x="7724678" y="5536432"/>
                  <a:ext cx="1194300" cy="152226"/>
                </a:xfrm>
                <a:prstGeom prst="rect">
                  <a:avLst/>
                </a:prstGeom>
                <a:solidFill>
                  <a:srgbClr val="FF4B16"/>
                </a:solidFill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r"/>
                  <a:endPara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48" name="Rectangle 147">
                  <a:extLst>
                    <a:ext uri="{FF2B5EF4-FFF2-40B4-BE49-F238E27FC236}">
                      <a16:creationId xmlns:a16="http://schemas.microsoft.com/office/drawing/2014/main" id="{67598F49-4387-4F12-AD03-C4CE346ED14C}"/>
                    </a:ext>
                  </a:extLst>
                </p:cNvPr>
                <p:cNvSpPr/>
                <p:nvPr/>
              </p:nvSpPr>
              <p:spPr>
                <a:xfrm>
                  <a:off x="8863297" y="5137182"/>
                  <a:ext cx="1792487" cy="149100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r"/>
                  <a:r>
                    <a:rPr lang="en-US" altLang="ko-KR" sz="10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63.5%</a:t>
                  </a:r>
                  <a:endPara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49" name="Rectangle 148">
                  <a:extLst>
                    <a:ext uri="{FF2B5EF4-FFF2-40B4-BE49-F238E27FC236}">
                      <a16:creationId xmlns:a16="http://schemas.microsoft.com/office/drawing/2014/main" id="{3EE56CF6-75C1-4D6A-8DBB-C3071FCE4454}"/>
                    </a:ext>
                  </a:extLst>
                </p:cNvPr>
                <p:cNvSpPr/>
                <p:nvPr/>
              </p:nvSpPr>
              <p:spPr>
                <a:xfrm>
                  <a:off x="8863296" y="4937557"/>
                  <a:ext cx="2374155" cy="152226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r"/>
                  <a:r>
                    <a:rPr lang="en-US" altLang="ko-KR" sz="10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76.2%</a:t>
                  </a:r>
                  <a:endPara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50" name="Rectangle 149">
                  <a:extLst>
                    <a:ext uri="{FF2B5EF4-FFF2-40B4-BE49-F238E27FC236}">
                      <a16:creationId xmlns:a16="http://schemas.microsoft.com/office/drawing/2014/main" id="{81244667-105A-4A8E-A1ED-B8687ADE3F94}"/>
                    </a:ext>
                  </a:extLst>
                </p:cNvPr>
                <p:cNvSpPr/>
                <p:nvPr/>
              </p:nvSpPr>
              <p:spPr>
                <a:xfrm>
                  <a:off x="8863297" y="5339933"/>
                  <a:ext cx="1423703" cy="149100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r"/>
                  <a:r>
                    <a:rPr lang="en-US" altLang="ko-KR" sz="1000" dirty="0">
                      <a:latin typeface="페이퍼로지 7 Bold" pitchFamily="2" charset="-127"/>
                      <a:ea typeface="페이퍼로지 7 Bold" pitchFamily="2" charset="-127"/>
                    </a:rPr>
                    <a:t>42.9%</a:t>
                  </a:r>
                  <a:endParaRPr lang="ko-KR" altLang="en-US" sz="100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AA0F438C-D494-4FDF-997C-8B697CDADD29}"/>
                  </a:ext>
                </a:extLst>
              </p:cNvPr>
              <p:cNvGrpSpPr/>
              <p:nvPr/>
            </p:nvGrpSpPr>
            <p:grpSpPr>
              <a:xfrm>
                <a:off x="7724680" y="5685954"/>
                <a:ext cx="3512771" cy="152226"/>
                <a:chOff x="7724680" y="5685954"/>
                <a:chExt cx="3512771" cy="152226"/>
              </a:xfrm>
            </p:grpSpPr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153C3079-5F4A-46C5-84EA-640947F7D515}"/>
                    </a:ext>
                  </a:extLst>
                </p:cNvPr>
                <p:cNvSpPr/>
                <p:nvPr/>
              </p:nvSpPr>
              <p:spPr>
                <a:xfrm>
                  <a:off x="7981950" y="5685954"/>
                  <a:ext cx="3255501" cy="152226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r>
                    <a:rPr lang="ko-KR" altLang="en-US" sz="1000" dirty="0">
                      <a:latin typeface="페이퍼로지 4 Regular" pitchFamily="2" charset="-127"/>
                      <a:ea typeface="페이퍼로지 4 Regular" pitchFamily="2" charset="-127"/>
                    </a:rPr>
                    <a:t>극단적인 생각을 한다 </a:t>
                  </a:r>
                  <a:r>
                    <a:rPr lang="en-US" altLang="ko-KR" sz="1000" dirty="0">
                      <a:latin typeface="페이퍼로지 7 Bold" pitchFamily="2" charset="-127"/>
                      <a:ea typeface="페이퍼로지 7 Bold" pitchFamily="2" charset="-127"/>
                    </a:rPr>
                    <a:t>6.3%</a:t>
                  </a:r>
                  <a:endParaRPr lang="ko-KR" altLang="en-US" sz="100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41" name="Rectangle 140">
                  <a:extLst>
                    <a:ext uri="{FF2B5EF4-FFF2-40B4-BE49-F238E27FC236}">
                      <a16:creationId xmlns:a16="http://schemas.microsoft.com/office/drawing/2014/main" id="{33FECE70-51A5-47D3-8535-037BD6E0CE0F}"/>
                    </a:ext>
                  </a:extLst>
                </p:cNvPr>
                <p:cNvSpPr/>
                <p:nvPr/>
              </p:nvSpPr>
              <p:spPr>
                <a:xfrm>
                  <a:off x="7724680" y="5685954"/>
                  <a:ext cx="317705" cy="152226"/>
                </a:xfrm>
                <a:prstGeom prst="rect">
                  <a:avLst/>
                </a:prstGeom>
                <a:solidFill>
                  <a:srgbClr val="FF4B16"/>
                </a:solidFill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r"/>
                  <a:endParaRPr lang="ko-KR" altLang="en-US" sz="100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35A2F2F7-75DB-4643-B439-DAF5D708D01D}"/>
                  </a:ext>
                </a:extLst>
              </p:cNvPr>
              <p:cNvSpPr txBox="1"/>
              <p:nvPr/>
            </p:nvSpPr>
            <p:spPr>
              <a:xfrm>
                <a:off x="7642195" y="5885237"/>
                <a:ext cx="3374034" cy="2000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700" dirty="0">
                    <a:latin typeface="페이퍼로지 4 Regular" pitchFamily="2" charset="-127"/>
                    <a:ea typeface="페이퍼로지 4 Regular" pitchFamily="2" charset="-127"/>
                  </a:rPr>
                  <a:t>*</a:t>
                </a:r>
                <a:r>
                  <a:rPr lang="ko-KR" altLang="en-US" sz="700" dirty="0">
                    <a:latin typeface="페이퍼로지 4 Regular" pitchFamily="2" charset="-127"/>
                    <a:ea typeface="페이퍼로지 4 Regular" pitchFamily="2" charset="-127"/>
                  </a:rPr>
                  <a:t>중앙일보</a:t>
                </a:r>
                <a:r>
                  <a:rPr lang="en-US" altLang="ko-KR" sz="700" dirty="0">
                    <a:latin typeface="페이퍼로지 4 Regular" pitchFamily="2" charset="-127"/>
                    <a:ea typeface="페이퍼로지 4 Regular" pitchFamily="2" charset="-127"/>
                  </a:rPr>
                  <a:t>,</a:t>
                </a:r>
                <a:r>
                  <a:rPr lang="ko-KR" altLang="en-US" sz="700" dirty="0">
                    <a:latin typeface="페이퍼로지 4 Regular" pitchFamily="2" charset="-127"/>
                    <a:ea typeface="페이퍼로지 4 Regular" pitchFamily="2" charset="-127"/>
                  </a:rPr>
                  <a:t> 보이스피싱예방협회 </a:t>
                </a:r>
                <a:r>
                  <a:rPr lang="en-US" altLang="ko-KR" sz="700" dirty="0">
                    <a:latin typeface="페이퍼로지 4 Regular" pitchFamily="2" charset="-127"/>
                    <a:ea typeface="페이퍼로지 4 Regular" pitchFamily="2" charset="-127"/>
                  </a:rPr>
                  <a:t>(2021.10.28 ~ 2021.11. 28)</a:t>
                </a:r>
                <a:endParaRPr lang="ko-KR" altLang="en-US" sz="700" dirty="0"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BA86F9F0-D5C2-4671-AF9B-AA1B1AB15CFD}"/>
                  </a:ext>
                </a:extLst>
              </p:cNvPr>
              <p:cNvSpPr txBox="1"/>
              <p:nvPr/>
            </p:nvSpPr>
            <p:spPr>
              <a:xfrm>
                <a:off x="7640448" y="4563464"/>
                <a:ext cx="359300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000" dirty="0">
                    <a:latin typeface="페이퍼로지 7 Bold" pitchFamily="2" charset="-127"/>
                    <a:ea typeface="페이퍼로지 7 Bold" pitchFamily="2" charset="-127"/>
                  </a:rPr>
                  <a:t>보이스피싱 피해로 인한 정신적 피해 </a:t>
                </a:r>
                <a:r>
                  <a:rPr lang="ko-KR" altLang="en-US" sz="800" dirty="0">
                    <a:latin typeface="페이퍼로지 4 Regular" pitchFamily="2" charset="-127"/>
                    <a:ea typeface="페이퍼로지 4 Regular" pitchFamily="2" charset="-127"/>
                  </a:rPr>
                  <a:t>피해자 </a:t>
                </a:r>
                <a:r>
                  <a:rPr lang="en-US" altLang="ko-KR" sz="800" dirty="0">
                    <a:latin typeface="페이퍼로지 4 Regular" pitchFamily="2" charset="-127"/>
                    <a:ea typeface="페이퍼로지 4 Regular" pitchFamily="2" charset="-127"/>
                  </a:rPr>
                  <a:t>60</a:t>
                </a:r>
                <a:r>
                  <a:rPr lang="ko-KR" altLang="en-US" sz="800" dirty="0">
                    <a:latin typeface="페이퍼로지 4 Regular" pitchFamily="2" charset="-127"/>
                    <a:ea typeface="페이퍼로지 4 Regular" pitchFamily="2" charset="-127"/>
                  </a:rPr>
                  <a:t>명</a:t>
                </a:r>
                <a:r>
                  <a:rPr lang="en-US" altLang="ko-KR" sz="800" dirty="0">
                    <a:latin typeface="페이퍼로지 4 Regular" pitchFamily="2" charset="-127"/>
                    <a:ea typeface="페이퍼로지 4 Regular" pitchFamily="2" charset="-127"/>
                  </a:rPr>
                  <a:t>(</a:t>
                </a:r>
                <a:r>
                  <a:rPr lang="ko-KR" altLang="en-US" sz="800" dirty="0">
                    <a:latin typeface="페이퍼로지 4 Regular" pitchFamily="2" charset="-127"/>
                    <a:ea typeface="페이퍼로지 4 Regular" pitchFamily="2" charset="-127"/>
                  </a:rPr>
                  <a:t>중복응답</a:t>
                </a:r>
                <a:r>
                  <a:rPr lang="en-US" altLang="ko-KR" sz="800" dirty="0">
                    <a:latin typeface="페이퍼로지 4 Regular" pitchFamily="2" charset="-127"/>
                    <a:ea typeface="페이퍼로지 4 Regular" pitchFamily="2" charset="-127"/>
                  </a:rPr>
                  <a:t>, </a:t>
                </a:r>
                <a:r>
                  <a:rPr lang="ko-KR" altLang="en-US" sz="800" dirty="0">
                    <a:latin typeface="페이퍼로지 4 Regular" pitchFamily="2" charset="-127"/>
                    <a:ea typeface="페이퍼로지 4 Regular" pitchFamily="2" charset="-127"/>
                  </a:rPr>
                  <a:t>미응답 </a:t>
                </a:r>
                <a:r>
                  <a:rPr lang="en-US" altLang="ko-KR" sz="800" dirty="0">
                    <a:latin typeface="페이퍼로지 4 Regular" pitchFamily="2" charset="-127"/>
                    <a:ea typeface="페이퍼로지 4 Regular" pitchFamily="2" charset="-127"/>
                  </a:rPr>
                  <a:t>3</a:t>
                </a:r>
                <a:r>
                  <a:rPr lang="ko-KR" altLang="en-US" sz="800" dirty="0">
                    <a:latin typeface="페이퍼로지 4 Regular" pitchFamily="2" charset="-127"/>
                    <a:ea typeface="페이퍼로지 4 Regular" pitchFamily="2" charset="-127"/>
                  </a:rPr>
                  <a:t>명 제외</a:t>
                </a:r>
                <a:r>
                  <a:rPr lang="en-US" altLang="ko-KR" sz="800" dirty="0">
                    <a:latin typeface="페이퍼로지 4 Regular" pitchFamily="2" charset="-127"/>
                    <a:ea typeface="페이퍼로지 4 Regular" pitchFamily="2" charset="-127"/>
                  </a:rPr>
                  <a:t>)</a:t>
                </a:r>
                <a:endParaRPr lang="ko-KR" altLang="en-US" sz="800" dirty="0"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6EEECBB-BB64-41A1-A769-5B4184A6ED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0681" y="5872878"/>
              <a:ext cx="3512773" cy="127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0484559-C80C-4C9F-8C93-F7FCC1E4A777}"/>
              </a:ext>
            </a:extLst>
          </p:cNvPr>
          <p:cNvGrpSpPr/>
          <p:nvPr/>
        </p:nvGrpSpPr>
        <p:grpSpPr>
          <a:xfrm>
            <a:off x="1127834" y="1592931"/>
            <a:ext cx="9936332" cy="2776910"/>
            <a:chOff x="2156114" y="1775283"/>
            <a:chExt cx="9077128" cy="2536789"/>
          </a:xfrm>
        </p:grpSpPr>
        <p:sp>
          <p:nvSpPr>
            <p:cNvPr id="79" name="Shape 8">
              <a:extLst>
                <a:ext uri="{FF2B5EF4-FFF2-40B4-BE49-F238E27FC236}">
                  <a16:creationId xmlns:a16="http://schemas.microsoft.com/office/drawing/2014/main" id="{16834A81-4253-48AC-B97E-FD07265A8D95}"/>
                </a:ext>
              </a:extLst>
            </p:cNvPr>
            <p:cNvSpPr/>
            <p:nvPr/>
          </p:nvSpPr>
          <p:spPr>
            <a:xfrm>
              <a:off x="2156114" y="1775283"/>
              <a:ext cx="4445862" cy="2514600"/>
            </a:xfrm>
            <a:prstGeom prst="roundRect">
              <a:avLst>
                <a:gd name="adj" fmla="val 5818"/>
              </a:avLst>
            </a:prstGeom>
            <a:solidFill>
              <a:srgbClr val="FFFFFF"/>
            </a:solidFill>
            <a:ln w="10160">
              <a:solidFill>
                <a:srgbClr val="DCE8FA"/>
              </a:solidFill>
              <a:prstDash val="solid"/>
            </a:ln>
          </p:spPr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7A855B79-622D-459E-A7F5-4F42EB704F63}"/>
                </a:ext>
              </a:extLst>
            </p:cNvPr>
            <p:cNvSpPr txBox="1"/>
            <p:nvPr/>
          </p:nvSpPr>
          <p:spPr>
            <a:xfrm>
              <a:off x="2635906" y="1849987"/>
              <a:ext cx="3486278" cy="2249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2016~2025 </a:t>
              </a:r>
              <a:r>
                <a:rPr lang="ko-KR" altLang="en-US" sz="10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보이스피싱 피해 발생 수</a:t>
              </a:r>
              <a:r>
                <a:rPr lang="en-US" altLang="ko-KR" sz="10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, </a:t>
              </a:r>
              <a:r>
                <a:rPr lang="ko-KR" altLang="en-US" sz="10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피해액</a:t>
              </a:r>
              <a:endParaRPr lang="ko-KR" altLang="en-US" sz="1000" dirty="0"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BEED6A9-5F2A-494A-887C-CC454F317B02}"/>
                </a:ext>
              </a:extLst>
            </p:cNvPr>
            <p:cNvGrpSpPr/>
            <p:nvPr/>
          </p:nvGrpSpPr>
          <p:grpSpPr>
            <a:xfrm>
              <a:off x="6787380" y="1775283"/>
              <a:ext cx="4445862" cy="2514600"/>
              <a:chOff x="5826188" y="1775283"/>
              <a:chExt cx="4445862" cy="2514600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39CB2445-6554-4212-901E-9C6B7D7612C4}"/>
                  </a:ext>
                </a:extLst>
              </p:cNvPr>
              <p:cNvGrpSpPr/>
              <p:nvPr/>
            </p:nvGrpSpPr>
            <p:grpSpPr>
              <a:xfrm>
                <a:off x="5826188" y="1775283"/>
                <a:ext cx="4445862" cy="2514600"/>
                <a:chOff x="4630032" y="1775283"/>
                <a:chExt cx="4445862" cy="2514600"/>
              </a:xfrm>
            </p:grpSpPr>
            <p:sp>
              <p:nvSpPr>
                <p:cNvPr id="119" name="Shape 8">
                  <a:extLst>
                    <a:ext uri="{FF2B5EF4-FFF2-40B4-BE49-F238E27FC236}">
                      <a16:creationId xmlns:a16="http://schemas.microsoft.com/office/drawing/2014/main" id="{DFF93096-BD0A-4BBF-8479-B0600EFEC37F}"/>
                    </a:ext>
                  </a:extLst>
                </p:cNvPr>
                <p:cNvSpPr/>
                <p:nvPr/>
              </p:nvSpPr>
              <p:spPr>
                <a:xfrm>
                  <a:off x="4630032" y="1775283"/>
                  <a:ext cx="4445862" cy="2514600"/>
                </a:xfrm>
                <a:prstGeom prst="roundRect">
                  <a:avLst>
                    <a:gd name="adj" fmla="val 5818"/>
                  </a:avLst>
                </a:prstGeom>
                <a:solidFill>
                  <a:srgbClr val="FFFFFF"/>
                </a:solidFill>
                <a:ln w="10160">
                  <a:solidFill>
                    <a:srgbClr val="DCE8FA"/>
                  </a:solidFill>
                  <a:prstDash val="solid"/>
                </a:ln>
              </p:spPr>
            </p:sp>
            <p:graphicFrame>
              <p:nvGraphicFramePr>
                <p:cNvPr id="40" name="Chart 39">
                  <a:extLst>
                    <a:ext uri="{FF2B5EF4-FFF2-40B4-BE49-F238E27FC236}">
                      <a16:creationId xmlns:a16="http://schemas.microsoft.com/office/drawing/2014/main" id="{46FDFEB3-28D8-47BD-9371-4A09F7B17AFE}"/>
                    </a:ext>
                  </a:extLst>
                </p:cNvPr>
                <p:cNvGraphicFramePr/>
                <p:nvPr/>
              </p:nvGraphicFramePr>
              <p:xfrm>
                <a:off x="4735830" y="2099334"/>
                <a:ext cx="4282782" cy="2105480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3"/>
                </a:graphicData>
              </a:graphic>
            </p:graphicFrame>
          </p:grp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892428CB-C9D5-47A0-80BE-D571E28C0841}"/>
                  </a:ext>
                </a:extLst>
              </p:cNvPr>
              <p:cNvSpPr txBox="1"/>
              <p:nvPr/>
            </p:nvSpPr>
            <p:spPr>
              <a:xfrm>
                <a:off x="6305980" y="1849987"/>
                <a:ext cx="3486278" cy="224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000" b="1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 Bold" pitchFamily="34" charset="-120"/>
                  </a:rPr>
                  <a:t>연도별 </a:t>
                </a:r>
                <a:r>
                  <a:rPr lang="en-US" altLang="ko-KR" sz="1000" b="1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 Bold" pitchFamily="34" charset="-120"/>
                  </a:rPr>
                  <a:t>1</a:t>
                </a:r>
                <a:r>
                  <a:rPr lang="ko-KR" altLang="en-US" sz="1000" b="1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 Bold" pitchFamily="34" charset="-120"/>
                  </a:rPr>
                  <a:t>개 사건 평균 피해액 추이</a:t>
                </a:r>
                <a:endParaRPr lang="ko-KR" altLang="en-US" sz="1000" dirty="0"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</p:grpSp>
        <p:graphicFrame>
          <p:nvGraphicFramePr>
            <p:cNvPr id="22" name="Chart 21">
              <a:extLst>
                <a:ext uri="{FF2B5EF4-FFF2-40B4-BE49-F238E27FC236}">
                  <a16:creationId xmlns:a16="http://schemas.microsoft.com/office/drawing/2014/main" id="{278C99B9-09AF-4A69-9C94-123324403019}"/>
                </a:ext>
              </a:extLst>
            </p:cNvPr>
            <p:cNvGraphicFramePr/>
            <p:nvPr/>
          </p:nvGraphicFramePr>
          <p:xfrm>
            <a:off x="2237232" y="2092640"/>
            <a:ext cx="4277868" cy="221943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  <p:sp>
        <p:nvSpPr>
          <p:cNvPr id="45" name="Text 11">
            <a:extLst>
              <a:ext uri="{FF2B5EF4-FFF2-40B4-BE49-F238E27FC236}">
                <a16:creationId xmlns:a16="http://schemas.microsoft.com/office/drawing/2014/main" id="{041DA88E-E5DF-430D-B96E-E2B22D0D9A56}"/>
              </a:ext>
            </a:extLst>
          </p:cNvPr>
          <p:cNvSpPr txBox="1"/>
          <p:nvPr/>
        </p:nvSpPr>
        <p:spPr>
          <a:xfrm>
            <a:off x="547516" y="65013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altLang="ko-KR" sz="80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*</a:t>
            </a:r>
            <a:r>
              <a:rPr lang="ko-KR" altLang="en-US" sz="80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출처</a:t>
            </a:r>
            <a:r>
              <a:rPr lang="en-US" altLang="ko-KR" sz="80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80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공공데이터포털 경찰청 보이스피싱 현황 </a:t>
            </a:r>
            <a:r>
              <a:rPr lang="en-US" altLang="ko-KR" sz="80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2025.12.30</a:t>
            </a:r>
            <a:endParaRPr lang="en-US" sz="800" dirty="0">
              <a:solidFill>
                <a:srgbClr val="6A7B97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4C35E4-A7AD-437E-8B11-43F4C197712F}"/>
              </a:ext>
            </a:extLst>
          </p:cNvPr>
          <p:cNvSpPr txBox="1"/>
          <p:nvPr/>
        </p:nvSpPr>
        <p:spPr>
          <a:xfrm>
            <a:off x="11606820" y="6476226"/>
            <a:ext cx="320040" cy="1600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lang="en-US" altLang="ko-KR" sz="800" b="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3</a:t>
            </a:r>
            <a:endParaRPr sz="800" b="0" dirty="0">
              <a:solidFill>
                <a:srgbClr val="6A7B97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10212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22A4760-B8E4-4B7F-8272-DB17EE448C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EC62D5-C2F6-4A4C-8AE7-BAAEE609EE9A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01 프로젝트 개요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FCDB93-30C7-4FD7-B382-3E9723D7A88F}"/>
              </a:ext>
            </a:extLst>
          </p:cNvPr>
          <p:cNvSpPr>
            <a:spLocks noGrp="1"/>
          </p:cNvSpPr>
          <p:nvPr/>
        </p:nvSpPr>
        <p:spPr>
          <a:xfrm>
            <a:off x="609600" y="542925"/>
            <a:ext cx="109537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서비스 위치: 기존 대응 이후의 Case 조사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79B664-D0A7-42FD-982D-7BC492F7E98A}"/>
              </a:ext>
            </a:extLst>
          </p:cNvPr>
          <p:cNvSpPr>
            <a:spLocks noGrp="1"/>
          </p:cNvSpPr>
          <p:nvPr/>
        </p:nvSpPr>
        <p:spPr>
          <a:xfrm>
            <a:off x="619125" y="1114425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CSR은 위험 탐지·공유·신고 흐름과 연결될 수 있는 담당자 업무 공간을 지향합니다.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2A45C1-55E8-4943-AF1E-B7EDCB16753D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1905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445DEC-87F0-4D1E-8246-00E27DBBF191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CSR   CASE SHARE ROOM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36B1F4-96A3-4A9A-8608-3D72EE548D06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FF3C314-ECC0-49D0-8988-B23B264B7C58}"/>
              </a:ext>
            </a:extLst>
          </p:cNvPr>
          <p:cNvSpPr>
            <a:spLocks noGrp="1"/>
          </p:cNvSpPr>
          <p:nvPr/>
        </p:nvSpPr>
        <p:spPr>
          <a:xfrm>
            <a:off x="666750" y="1781175"/>
            <a:ext cx="10810875" cy="723900"/>
          </a:xfrm>
          <a:prstGeom prst="roundRect">
            <a:avLst>
              <a:gd name="adj" fmla="val 10526"/>
            </a:avLst>
          </a:prstGeom>
          <a:solidFill>
            <a:srgbClr val="F3F7FB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65198C-D68B-4A14-8FD0-0795EFEB9C7B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590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0ED423-D594-44CE-B6DC-F4807755AF7D}"/>
              </a:ext>
            </a:extLst>
          </p:cNvPr>
          <p:cNvSpPr>
            <a:spLocks noGrp="1"/>
          </p:cNvSpPr>
          <p:nvPr/>
        </p:nvSpPr>
        <p:spPr>
          <a:xfrm>
            <a:off x="1504950" y="1876425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기존 체계의 주요 역할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5A10BB-F6FB-4EB2-ABEF-DB2CF038A241}"/>
              </a:ext>
            </a:extLst>
          </p:cNvPr>
          <p:cNvSpPr>
            <a:spLocks noGrp="1"/>
          </p:cNvSpPr>
          <p:nvPr/>
        </p:nvSpPr>
        <p:spPr>
          <a:xfrm>
            <a:off x="3857625" y="1876425"/>
            <a:ext cx="7429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위험 탐지(FDS 등) · 위험정보 공유(ASAP) · 신고·상담(1394)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7FF9A1F-588F-4E7C-A9BC-1BDA98AB5B85}"/>
              </a:ext>
            </a:extLst>
          </p:cNvPr>
          <p:cNvSpPr>
            <a:spLocks noGrp="1"/>
          </p:cNvSpPr>
          <p:nvPr/>
        </p:nvSpPr>
        <p:spPr>
          <a:xfrm>
            <a:off x="666750" y="2714625"/>
            <a:ext cx="10810875" cy="723900"/>
          </a:xfrm>
          <a:prstGeom prst="roundRect">
            <a:avLst>
              <a:gd name="adj" fmla="val 10526"/>
            </a:avLst>
          </a:prstGeom>
          <a:solidFill>
            <a:srgbClr val="E9F3FB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4553CB-B2B1-4353-9FAE-5C7FF3535C87}"/>
              </a:ext>
            </a:extLst>
          </p:cNvPr>
          <p:cNvSpPr>
            <a:spLocks noGrp="1"/>
          </p:cNvSpPr>
          <p:nvPr/>
        </p:nvSpPr>
        <p:spPr>
          <a:xfrm>
            <a:off x="838200" y="2876550"/>
            <a:ext cx="590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2976FC-ED9F-46F2-9139-F494DB24AD0C}"/>
              </a:ext>
            </a:extLst>
          </p:cNvPr>
          <p:cNvSpPr>
            <a:spLocks noGrp="1"/>
          </p:cNvSpPr>
          <p:nvPr/>
        </p:nvSpPr>
        <p:spPr>
          <a:xfrm>
            <a:off x="1504950" y="2809875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CSR의 집중 영역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7F240B-0B6C-4B33-9AB7-E0F92195EDBC}"/>
              </a:ext>
            </a:extLst>
          </p:cNvPr>
          <p:cNvSpPr>
            <a:spLocks noGrp="1"/>
          </p:cNvSpPr>
          <p:nvPr/>
        </p:nvSpPr>
        <p:spPr>
          <a:xfrm>
            <a:off x="3857625" y="2809875"/>
            <a:ext cx="7429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한 사건의 Evidence 종합 · 고객 확인 질문 · Fact 검토 · Context 갱신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F4A9F46-1AF3-4567-85E6-26E2616709F1}"/>
              </a:ext>
            </a:extLst>
          </p:cNvPr>
          <p:cNvSpPr>
            <a:spLocks noGrp="1"/>
          </p:cNvSpPr>
          <p:nvPr/>
        </p:nvSpPr>
        <p:spPr>
          <a:xfrm>
            <a:off x="666750" y="3648075"/>
            <a:ext cx="10810875" cy="723900"/>
          </a:xfrm>
          <a:prstGeom prst="roundRect">
            <a:avLst>
              <a:gd name="adj" fmla="val 10526"/>
            </a:avLst>
          </a:prstGeom>
          <a:solidFill>
            <a:srgbClr val="F3F7FB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F1803B-51E8-4FCC-BE94-70B6091B3A16}"/>
              </a:ext>
            </a:extLst>
          </p:cNvPr>
          <p:cNvSpPr>
            <a:spLocks noGrp="1"/>
          </p:cNvSpPr>
          <p:nvPr/>
        </p:nvSpPr>
        <p:spPr>
          <a:xfrm>
            <a:off x="838200" y="3810000"/>
            <a:ext cx="590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2D0960-C98A-4763-B018-B52F4ACE51A2}"/>
              </a:ext>
            </a:extLst>
          </p:cNvPr>
          <p:cNvSpPr>
            <a:spLocks noGrp="1"/>
          </p:cNvSpPr>
          <p:nvPr/>
        </p:nvSpPr>
        <p:spPr>
          <a:xfrm>
            <a:off x="1504950" y="3743325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현재 범위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F7F9F8-CFEB-41FA-A78B-77CAA52E23CF}"/>
              </a:ext>
            </a:extLst>
          </p:cNvPr>
          <p:cNvSpPr>
            <a:spLocks noGrp="1"/>
          </p:cNvSpPr>
          <p:nvPr/>
        </p:nvSpPr>
        <p:spPr>
          <a:xfrm>
            <a:off x="3857625" y="3743325"/>
            <a:ext cx="7429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독립 Web MVP의 담당자 ROOM·고객 ROOM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DC1F678-40EA-4E34-B687-AB11594E1794}"/>
              </a:ext>
            </a:extLst>
          </p:cNvPr>
          <p:cNvSpPr>
            <a:spLocks noGrp="1"/>
          </p:cNvSpPr>
          <p:nvPr/>
        </p:nvSpPr>
        <p:spPr>
          <a:xfrm>
            <a:off x="666750" y="4581525"/>
            <a:ext cx="10810875" cy="723900"/>
          </a:xfrm>
          <a:prstGeom prst="roundRect">
            <a:avLst>
              <a:gd name="adj" fmla="val 10526"/>
            </a:avLst>
          </a:prstGeom>
          <a:solidFill>
            <a:srgbClr val="F3F7FB"/>
          </a:solidFill>
          <a:ln w="0">
            <a:noFill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63B72E-7DEF-4B96-97BE-5D5C1A0915F7}"/>
              </a:ext>
            </a:extLst>
          </p:cNvPr>
          <p:cNvSpPr>
            <a:spLocks noGrp="1"/>
          </p:cNvSpPr>
          <p:nvPr/>
        </p:nvSpPr>
        <p:spPr>
          <a:xfrm>
            <a:off x="838200" y="4743450"/>
            <a:ext cx="590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FD833D-C950-45D4-B0DE-35D8C6715762}"/>
              </a:ext>
            </a:extLst>
          </p:cNvPr>
          <p:cNvSpPr>
            <a:spLocks noGrp="1"/>
          </p:cNvSpPr>
          <p:nvPr/>
        </p:nvSpPr>
        <p:spPr>
          <a:xfrm>
            <a:off x="1504950" y="4676775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목표 적용 형태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DCE210-B5BE-4590-A84A-D18C23F9D9C4}"/>
              </a:ext>
            </a:extLst>
          </p:cNvPr>
          <p:cNvSpPr>
            <a:spLocks noGrp="1"/>
          </p:cNvSpPr>
          <p:nvPr/>
        </p:nvSpPr>
        <p:spPr>
          <a:xfrm>
            <a:off x="3857625" y="4676775"/>
            <a:ext cx="7429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은행 내부 업무 Web + 기존 은행 App의 고객 확인 영역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A00A017-2E4E-432E-8741-E3E17DD401F8}"/>
              </a:ext>
            </a:extLst>
          </p:cNvPr>
          <p:cNvSpPr>
            <a:spLocks noGrp="1"/>
          </p:cNvSpPr>
          <p:nvPr/>
        </p:nvSpPr>
        <p:spPr>
          <a:xfrm>
            <a:off x="666750" y="5838825"/>
            <a:ext cx="10839450" cy="457200"/>
          </a:xfrm>
          <a:prstGeom prst="roundRect">
            <a:avLst>
              <a:gd name="adj" fmla="val 16667"/>
            </a:avLst>
          </a:prstGeom>
          <a:solidFill>
            <a:srgbClr val="FFF6DE"/>
          </a:solidFill>
          <a:ln w="0">
            <a:noFill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84AA13-4D48-4D4D-B763-992AD2397769}"/>
              </a:ext>
            </a:extLst>
          </p:cNvPr>
          <p:cNvSpPr>
            <a:spLocks noGrp="1"/>
          </p:cNvSpPr>
          <p:nvPr/>
        </p:nvSpPr>
        <p:spPr>
          <a:xfrm>
            <a:off x="828675" y="5905500"/>
            <a:ext cx="10525125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차별점  탐지 성능 경쟁보다 탐지 이후의 조사·고객 확인 Workflow를 다룹니다.</a:t>
            </a:r>
          </a:p>
        </p:txBody>
      </p:sp>
    </p:spTree>
    <p:extLst>
      <p:ext uri="{BB962C8B-B14F-4D97-AF65-F5344CB8AC3E}">
        <p14:creationId xmlns:p14="http://schemas.microsoft.com/office/powerpoint/2010/main" val="3916705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1C100538-64C2-45E4-96AD-4D3B05E5D0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E79E52-8625-4B96-818A-3080BCDEFF5E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01 프로젝트 개요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F64077-B2D5-46CC-8E35-7916AA91B26F}"/>
              </a:ext>
            </a:extLst>
          </p:cNvPr>
          <p:cNvSpPr>
            <a:spLocks noGrp="1"/>
          </p:cNvSpPr>
          <p:nvPr/>
        </p:nvSpPr>
        <p:spPr>
          <a:xfrm>
            <a:off x="609600" y="542925"/>
            <a:ext cx="109537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기획 의도: AI 제안과 담당자 확인의 책임을 나눴습니다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3EB9BF-CFFE-45F4-A4BC-9051C87D6E78}"/>
              </a:ext>
            </a:extLst>
          </p:cNvPr>
          <p:cNvSpPr>
            <a:spLocks noGrp="1"/>
          </p:cNvSpPr>
          <p:nvPr/>
        </p:nvSpPr>
        <p:spPr>
          <a:xfrm>
            <a:off x="619125" y="1114425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위험 신호에서 담당자의 최종 판단까지 하나의 Case Context가 이어집니다.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93F033-7F20-47CC-AE89-4228A1318B0C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1905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E5CA8F-F077-4BD7-ACE0-A5AAB8EBDE23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CSR   CASE SHARE ROOM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5A8B0C-801E-4EDA-B1CF-A785D3831133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3DE456D-8EED-4D46-A3B6-8E80A529C266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33909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7E3EE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BB0442-5867-4D82-952F-3110D4CC039E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47625" cy="1104900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D8081F-3842-4086-B9DD-7A698812BC15}"/>
              </a:ext>
            </a:extLst>
          </p:cNvPr>
          <p:cNvSpPr>
            <a:spLocks noGrp="1"/>
          </p:cNvSpPr>
          <p:nvPr/>
        </p:nvSpPr>
        <p:spPr>
          <a:xfrm>
            <a:off x="876300" y="1962150"/>
            <a:ext cx="29718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01  위험 신호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04C843-A296-4385-B0FF-A7B29566F3B8}"/>
              </a:ext>
            </a:extLst>
          </p:cNvPr>
          <p:cNvSpPr>
            <a:spLocks noGrp="1"/>
          </p:cNvSpPr>
          <p:nvPr/>
        </p:nvSpPr>
        <p:spPr>
          <a:xfrm>
            <a:off x="876300" y="2362200"/>
            <a:ext cx="29718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Demo 입력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33FE3D1-EC60-426A-A545-0E978F14B08B}"/>
              </a:ext>
            </a:extLst>
          </p:cNvPr>
          <p:cNvSpPr>
            <a:spLocks noGrp="1"/>
          </p:cNvSpPr>
          <p:nvPr/>
        </p:nvSpPr>
        <p:spPr>
          <a:xfrm>
            <a:off x="4314825" y="1809750"/>
            <a:ext cx="33909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7E3EE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410B59-6857-4E28-87B9-7AF331ED02BA}"/>
              </a:ext>
            </a:extLst>
          </p:cNvPr>
          <p:cNvSpPr>
            <a:spLocks noGrp="1"/>
          </p:cNvSpPr>
          <p:nvPr/>
        </p:nvSpPr>
        <p:spPr>
          <a:xfrm>
            <a:off x="4314825" y="1809750"/>
            <a:ext cx="47625" cy="1104900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1B526D-F80F-48AB-99A8-62C761C015C3}"/>
              </a:ext>
            </a:extLst>
          </p:cNvPr>
          <p:cNvSpPr>
            <a:spLocks noGrp="1"/>
          </p:cNvSpPr>
          <p:nvPr/>
        </p:nvSpPr>
        <p:spPr>
          <a:xfrm>
            <a:off x="4524375" y="1962150"/>
            <a:ext cx="29718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02  Case 생성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E61057-E782-456E-B874-4428EC96BD16}"/>
              </a:ext>
            </a:extLst>
          </p:cNvPr>
          <p:cNvSpPr>
            <a:spLocks noGrp="1"/>
          </p:cNvSpPr>
          <p:nvPr/>
        </p:nvSpPr>
        <p:spPr>
          <a:xfrm>
            <a:off x="4524375" y="2362200"/>
            <a:ext cx="29718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사건 단위 저장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2B0B86A-722B-4EC1-8C56-532D02FA709A}"/>
              </a:ext>
            </a:extLst>
          </p:cNvPr>
          <p:cNvSpPr>
            <a:spLocks noGrp="1"/>
          </p:cNvSpPr>
          <p:nvPr/>
        </p:nvSpPr>
        <p:spPr>
          <a:xfrm>
            <a:off x="7962900" y="1809750"/>
            <a:ext cx="33909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7E3EE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6BF1ED-1874-4CB6-82F1-45CCD7C33D5C}"/>
              </a:ext>
            </a:extLst>
          </p:cNvPr>
          <p:cNvSpPr>
            <a:spLocks noGrp="1"/>
          </p:cNvSpPr>
          <p:nvPr/>
        </p:nvSpPr>
        <p:spPr>
          <a:xfrm>
            <a:off x="7962900" y="1809750"/>
            <a:ext cx="47625" cy="1104900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B04A58-799B-4D4B-8CB6-072513E8DF93}"/>
              </a:ext>
            </a:extLst>
          </p:cNvPr>
          <p:cNvSpPr>
            <a:spLocks noGrp="1"/>
          </p:cNvSpPr>
          <p:nvPr/>
        </p:nvSpPr>
        <p:spPr>
          <a:xfrm>
            <a:off x="8172450" y="1962150"/>
            <a:ext cx="29718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03  맥락 구조화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03C915-3BDE-475D-80B6-A556979F3BB9}"/>
              </a:ext>
            </a:extLst>
          </p:cNvPr>
          <p:cNvSpPr>
            <a:spLocks noGrp="1"/>
          </p:cNvSpPr>
          <p:nvPr/>
        </p:nvSpPr>
        <p:spPr>
          <a:xfrm>
            <a:off x="8172450" y="2362200"/>
            <a:ext cx="29718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Brief·미확인 사항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04AFB39-4FFC-4518-8637-C8373159F7EE}"/>
              </a:ext>
            </a:extLst>
          </p:cNvPr>
          <p:cNvSpPr>
            <a:spLocks noGrp="1"/>
          </p:cNvSpPr>
          <p:nvPr/>
        </p:nvSpPr>
        <p:spPr>
          <a:xfrm>
            <a:off x="666750" y="3171825"/>
            <a:ext cx="33909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7E3EE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64FE6C-4FC0-432B-88E2-54EC5DCAD551}"/>
              </a:ext>
            </a:extLst>
          </p:cNvPr>
          <p:cNvSpPr>
            <a:spLocks noGrp="1"/>
          </p:cNvSpPr>
          <p:nvPr/>
        </p:nvSpPr>
        <p:spPr>
          <a:xfrm>
            <a:off x="666750" y="3171825"/>
            <a:ext cx="47625" cy="1104900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CEF91F-1123-4F94-846A-340CDE4CB576}"/>
              </a:ext>
            </a:extLst>
          </p:cNvPr>
          <p:cNvSpPr>
            <a:spLocks noGrp="1"/>
          </p:cNvSpPr>
          <p:nvPr/>
        </p:nvSpPr>
        <p:spPr>
          <a:xfrm>
            <a:off x="876300" y="3324225"/>
            <a:ext cx="29718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04  고객 확인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143EB5-0169-4ABF-A960-0844CF89774C}"/>
              </a:ext>
            </a:extLst>
          </p:cNvPr>
          <p:cNvSpPr>
            <a:spLocks noGrp="1"/>
          </p:cNvSpPr>
          <p:nvPr/>
        </p:nvSpPr>
        <p:spPr>
          <a:xfrm>
            <a:off x="876300" y="3724275"/>
            <a:ext cx="29718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질문 검토·응답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28380B1-B318-4DE8-84B9-6627572AD956}"/>
              </a:ext>
            </a:extLst>
          </p:cNvPr>
          <p:cNvSpPr>
            <a:spLocks noGrp="1"/>
          </p:cNvSpPr>
          <p:nvPr/>
        </p:nvSpPr>
        <p:spPr>
          <a:xfrm>
            <a:off x="4314825" y="3171825"/>
            <a:ext cx="33909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7E3EE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8D02CF7-E95C-4815-BC17-0F1465D171A5}"/>
              </a:ext>
            </a:extLst>
          </p:cNvPr>
          <p:cNvSpPr>
            <a:spLocks noGrp="1"/>
          </p:cNvSpPr>
          <p:nvPr/>
        </p:nvSpPr>
        <p:spPr>
          <a:xfrm>
            <a:off x="4314825" y="3171825"/>
            <a:ext cx="47625" cy="1104900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E37B1A9-2D1D-4571-B876-F24A5B1D79BF}"/>
              </a:ext>
            </a:extLst>
          </p:cNvPr>
          <p:cNvSpPr>
            <a:spLocks noGrp="1"/>
          </p:cNvSpPr>
          <p:nvPr/>
        </p:nvSpPr>
        <p:spPr>
          <a:xfrm>
            <a:off x="4524375" y="3324225"/>
            <a:ext cx="29718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05  Fact 확인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C9A82F-1534-41FB-9A6A-26ACD7CA5C24}"/>
              </a:ext>
            </a:extLst>
          </p:cNvPr>
          <p:cNvSpPr>
            <a:spLocks noGrp="1"/>
          </p:cNvSpPr>
          <p:nvPr/>
        </p:nvSpPr>
        <p:spPr>
          <a:xfrm>
            <a:off x="4524375" y="3724275"/>
            <a:ext cx="29718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담당자 승인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D0C7E3C-2E72-451F-B948-7977C292A703}"/>
              </a:ext>
            </a:extLst>
          </p:cNvPr>
          <p:cNvSpPr>
            <a:spLocks noGrp="1"/>
          </p:cNvSpPr>
          <p:nvPr/>
        </p:nvSpPr>
        <p:spPr>
          <a:xfrm>
            <a:off x="7962900" y="3171825"/>
            <a:ext cx="3390900" cy="1104900"/>
          </a:xfrm>
          <a:prstGeom prst="roundRect">
            <a:avLst>
              <a:gd name="adj" fmla="val 6897"/>
            </a:avLst>
          </a:prstGeom>
          <a:solidFill>
            <a:srgbClr val="E9F3FB"/>
          </a:solidFill>
          <a:ln w="9525">
            <a:solidFill>
              <a:srgbClr val="D7E3EE"/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83F0E07-EFAB-4E8B-A07C-5F86D089EF77}"/>
              </a:ext>
            </a:extLst>
          </p:cNvPr>
          <p:cNvSpPr>
            <a:spLocks noGrp="1"/>
          </p:cNvSpPr>
          <p:nvPr/>
        </p:nvSpPr>
        <p:spPr>
          <a:xfrm>
            <a:off x="7962900" y="3171825"/>
            <a:ext cx="47625" cy="1104900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8274803-B3FD-407E-AA9E-712EE7132F18}"/>
              </a:ext>
            </a:extLst>
          </p:cNvPr>
          <p:cNvSpPr>
            <a:spLocks noGrp="1"/>
          </p:cNvSpPr>
          <p:nvPr/>
        </p:nvSpPr>
        <p:spPr>
          <a:xfrm>
            <a:off x="8172450" y="3324225"/>
            <a:ext cx="29718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06  후속 판단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7D79E3A-210F-45FD-8DDE-13818658F4B2}"/>
              </a:ext>
            </a:extLst>
          </p:cNvPr>
          <p:cNvSpPr>
            <a:spLocks noGrp="1"/>
          </p:cNvSpPr>
          <p:nvPr/>
        </p:nvSpPr>
        <p:spPr>
          <a:xfrm>
            <a:off x="8172450" y="3724275"/>
            <a:ext cx="29718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Verification·종결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AAA5E39-9518-47E2-A37C-F1310AD3B8B8}"/>
              </a:ext>
            </a:extLst>
          </p:cNvPr>
          <p:cNvSpPr>
            <a:spLocks noGrp="1"/>
          </p:cNvSpPr>
          <p:nvPr/>
        </p:nvSpPr>
        <p:spPr>
          <a:xfrm>
            <a:off x="685800" y="4800600"/>
            <a:ext cx="5238750" cy="619125"/>
          </a:xfrm>
          <a:prstGeom prst="roundRect">
            <a:avLst>
              <a:gd name="adj" fmla="val 12308"/>
            </a:avLst>
          </a:prstGeom>
          <a:solidFill>
            <a:srgbClr val="E9F3FB"/>
          </a:solidFill>
          <a:ln w="0">
            <a:noFill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3FF685D-6B38-46E4-A071-936D0C86A08E}"/>
              </a:ext>
            </a:extLst>
          </p:cNvPr>
          <p:cNvSpPr>
            <a:spLocks noGrp="1"/>
          </p:cNvSpPr>
          <p:nvPr/>
        </p:nvSpPr>
        <p:spPr>
          <a:xfrm>
            <a:off x="819150" y="4829175"/>
            <a:ext cx="4972050" cy="561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AI  정보 구조화·Brief·질문 및 Fact 후보·초안 지원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F3A28E0-ECC2-4D28-8FE9-DA1AD7C96494}"/>
              </a:ext>
            </a:extLst>
          </p:cNvPr>
          <p:cNvSpPr>
            <a:spLocks noGrp="1"/>
          </p:cNvSpPr>
          <p:nvPr/>
        </p:nvSpPr>
        <p:spPr>
          <a:xfrm>
            <a:off x="6134100" y="4800600"/>
            <a:ext cx="5381625" cy="619125"/>
          </a:xfrm>
          <a:prstGeom prst="roundRect">
            <a:avLst>
              <a:gd name="adj" fmla="val 12308"/>
            </a:avLst>
          </a:prstGeom>
          <a:solidFill>
            <a:srgbClr val="E8F5F1"/>
          </a:solidFill>
          <a:ln w="0">
            <a:noFill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DD80A64-C9EA-4C19-AE6D-3C3ADB8C7FC5}"/>
              </a:ext>
            </a:extLst>
          </p:cNvPr>
          <p:cNvSpPr>
            <a:spLocks noGrp="1"/>
          </p:cNvSpPr>
          <p:nvPr/>
        </p:nvSpPr>
        <p:spPr>
          <a:xfrm>
            <a:off x="6267450" y="4829175"/>
            <a:ext cx="5114925" cy="561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담당자  Evidence·질문·Fact 검토, 최종 판단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7201899-AD0B-4A82-8350-7CDD6C21B43C}"/>
              </a:ext>
            </a:extLst>
          </p:cNvPr>
          <p:cNvSpPr>
            <a:spLocks noGrp="1"/>
          </p:cNvSpPr>
          <p:nvPr/>
        </p:nvSpPr>
        <p:spPr>
          <a:xfrm>
            <a:off x="666750" y="5838825"/>
            <a:ext cx="10839450" cy="457200"/>
          </a:xfrm>
          <a:prstGeom prst="roundRect">
            <a:avLst>
              <a:gd name="adj" fmla="val 16667"/>
            </a:avLst>
          </a:prstGeom>
          <a:solidFill>
            <a:srgbClr val="FFF6DE"/>
          </a:solidFill>
          <a:ln w="0">
            <a:noFill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4CB1C4E-4D39-494A-BA2D-1F862B3381E6}"/>
              </a:ext>
            </a:extLst>
          </p:cNvPr>
          <p:cNvSpPr>
            <a:spLocks noGrp="1"/>
          </p:cNvSpPr>
          <p:nvPr/>
        </p:nvSpPr>
        <p:spPr>
          <a:xfrm>
            <a:off x="828675" y="5905500"/>
            <a:ext cx="10525125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금융조치·지급정지·최종 판단을 AI가 자동 수행하는 구조로 설명하지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302276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E4973ADB-B2E2-437E-BF6C-29E098C675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FCF870-F805-49A9-AEE8-091A4E9B1C58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01 프로젝트 개요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FCE0F4-EA7E-4E88-B7B7-5658734083FB}"/>
              </a:ext>
            </a:extLst>
          </p:cNvPr>
          <p:cNvSpPr>
            <a:spLocks noGrp="1"/>
          </p:cNvSpPr>
          <p:nvPr/>
        </p:nvSpPr>
        <p:spPr>
          <a:xfrm>
            <a:off x="609600" y="542925"/>
            <a:ext cx="109537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프로젝트 구조와 훈련내용 연관성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672B9F-5937-4A30-AE62-ACD7307D366F}"/>
              </a:ext>
            </a:extLst>
          </p:cNvPr>
          <p:cNvSpPr>
            <a:spLocks noGrp="1"/>
          </p:cNvSpPr>
          <p:nvPr/>
        </p:nvSpPr>
        <p:spPr>
          <a:xfrm>
            <a:off x="619125" y="1114425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Frontend, 서비스 API, AI API, 사건 데이터를 같은 Case ID로 연결했습니다.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FF45AC-1BDF-42C0-9EA1-D9B93428EC06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1905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22A50B-2382-4C41-8222-4EC5AC639726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CSR   CASE SHARE ROOM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695CA5-3C4B-44C6-B846-AE3FB23CD17C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AE3A198-39B2-46C1-B71B-D07B499B63D9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5162550" cy="1209675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9525">
            <a:solidFill>
              <a:srgbClr val="D7E3EE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9BF0B9-93C6-42E5-87CE-3290455056E3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47625" cy="1209675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540D1E-E09C-4D08-802C-C8979256E0DA}"/>
              </a:ext>
            </a:extLst>
          </p:cNvPr>
          <p:cNvSpPr>
            <a:spLocks noGrp="1"/>
          </p:cNvSpPr>
          <p:nvPr/>
        </p:nvSpPr>
        <p:spPr>
          <a:xfrm>
            <a:off x="876300" y="1962150"/>
            <a:ext cx="47434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React · Vite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EECE30-9785-4677-8072-47BD5828FB79}"/>
              </a:ext>
            </a:extLst>
          </p:cNvPr>
          <p:cNvSpPr>
            <a:spLocks noGrp="1"/>
          </p:cNvSpPr>
          <p:nvPr/>
        </p:nvSpPr>
        <p:spPr>
          <a:xfrm>
            <a:off x="876300" y="2362200"/>
            <a:ext cx="47434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담당자/고객 화면, 질문·응답 UI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0D94DD9-5800-4D74-9450-637E2A83062B}"/>
              </a:ext>
            </a:extLst>
          </p:cNvPr>
          <p:cNvSpPr>
            <a:spLocks noGrp="1"/>
          </p:cNvSpPr>
          <p:nvPr/>
        </p:nvSpPr>
        <p:spPr>
          <a:xfrm>
            <a:off x="6105525" y="1809750"/>
            <a:ext cx="5162550" cy="1209675"/>
          </a:xfrm>
          <a:prstGeom prst="roundRect">
            <a:avLst>
              <a:gd name="adj" fmla="val 6299"/>
            </a:avLst>
          </a:prstGeom>
          <a:solidFill>
            <a:srgbClr val="F3F7FB"/>
          </a:solidFill>
          <a:ln w="9525">
            <a:solidFill>
              <a:srgbClr val="D7E3EE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48ABE6-20E1-4D32-940E-9F782EDE8548}"/>
              </a:ext>
            </a:extLst>
          </p:cNvPr>
          <p:cNvSpPr>
            <a:spLocks noGrp="1"/>
          </p:cNvSpPr>
          <p:nvPr/>
        </p:nvSpPr>
        <p:spPr>
          <a:xfrm>
            <a:off x="6105525" y="1809750"/>
            <a:ext cx="47625" cy="1209675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752EAF-2738-4E93-901C-81DA23F14A68}"/>
              </a:ext>
            </a:extLst>
          </p:cNvPr>
          <p:cNvSpPr>
            <a:spLocks noGrp="1"/>
          </p:cNvSpPr>
          <p:nvPr/>
        </p:nvSpPr>
        <p:spPr>
          <a:xfrm>
            <a:off x="6315075" y="1962150"/>
            <a:ext cx="47434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FastAPI General API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2E3C99-FB87-4C23-95B3-B3717D73E6B8}"/>
              </a:ext>
            </a:extLst>
          </p:cNvPr>
          <p:cNvSpPr>
            <a:spLocks noGrp="1"/>
          </p:cNvSpPr>
          <p:nvPr/>
        </p:nvSpPr>
        <p:spPr>
          <a:xfrm>
            <a:off x="6315075" y="2362200"/>
            <a:ext cx="47434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Case·메시지·질문·상태 처리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D8CB188-F690-4A2A-A7D6-DA3619ECD8F2}"/>
              </a:ext>
            </a:extLst>
          </p:cNvPr>
          <p:cNvSpPr>
            <a:spLocks noGrp="1"/>
          </p:cNvSpPr>
          <p:nvPr/>
        </p:nvSpPr>
        <p:spPr>
          <a:xfrm>
            <a:off x="666750" y="3276600"/>
            <a:ext cx="5162550" cy="1209675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9525">
            <a:solidFill>
              <a:srgbClr val="D7E3EE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599C94-0F85-41AF-ABA6-392F554E0642}"/>
              </a:ext>
            </a:extLst>
          </p:cNvPr>
          <p:cNvSpPr>
            <a:spLocks noGrp="1"/>
          </p:cNvSpPr>
          <p:nvPr/>
        </p:nvSpPr>
        <p:spPr>
          <a:xfrm>
            <a:off x="666750" y="3276600"/>
            <a:ext cx="47625" cy="1209675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7C2837-5456-41C2-B55E-211E33DEAEE0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47434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AI API · LLM/ML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4B58A0-7C8D-458C-A0A5-5E58ACAD179E}"/>
              </a:ext>
            </a:extLst>
          </p:cNvPr>
          <p:cNvSpPr>
            <a:spLocks noGrp="1"/>
          </p:cNvSpPr>
          <p:nvPr/>
        </p:nvSpPr>
        <p:spPr>
          <a:xfrm>
            <a:off x="876300" y="3829050"/>
            <a:ext cx="47434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Brief·질문 추천·Fact 후보·위험 신호 지원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CC61CA0-2BCF-4C26-8741-BDE1EE593A0B}"/>
              </a:ext>
            </a:extLst>
          </p:cNvPr>
          <p:cNvSpPr>
            <a:spLocks noGrp="1"/>
          </p:cNvSpPr>
          <p:nvPr/>
        </p:nvSpPr>
        <p:spPr>
          <a:xfrm>
            <a:off x="6105525" y="3276600"/>
            <a:ext cx="5162550" cy="1209675"/>
          </a:xfrm>
          <a:prstGeom prst="roundRect">
            <a:avLst>
              <a:gd name="adj" fmla="val 6299"/>
            </a:avLst>
          </a:prstGeom>
          <a:solidFill>
            <a:srgbClr val="F3F7FB"/>
          </a:solidFill>
          <a:ln w="9525">
            <a:solidFill>
              <a:srgbClr val="D7E3EE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4922B6-9C68-48A3-8523-AF799D1476D9}"/>
              </a:ext>
            </a:extLst>
          </p:cNvPr>
          <p:cNvSpPr>
            <a:spLocks noGrp="1"/>
          </p:cNvSpPr>
          <p:nvPr/>
        </p:nvSpPr>
        <p:spPr>
          <a:xfrm>
            <a:off x="6105525" y="3276600"/>
            <a:ext cx="47625" cy="1209675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4EAE491-8980-4BEF-85B7-F9ED8BE59A78}"/>
              </a:ext>
            </a:extLst>
          </p:cNvPr>
          <p:cNvSpPr>
            <a:spLocks noGrp="1"/>
          </p:cNvSpPr>
          <p:nvPr/>
        </p:nvSpPr>
        <p:spPr>
          <a:xfrm>
            <a:off x="6315075" y="3429000"/>
            <a:ext cx="47434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MySQL · AWS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E0E82A-193B-4933-BB9B-F1120E0D7F29}"/>
              </a:ext>
            </a:extLst>
          </p:cNvPr>
          <p:cNvSpPr>
            <a:spLocks noGrp="1"/>
          </p:cNvSpPr>
          <p:nvPr/>
        </p:nvSpPr>
        <p:spPr>
          <a:xfrm>
            <a:off x="6315075" y="3829050"/>
            <a:ext cx="47434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Case 기록 저장·독립 Web MVP 배포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09E0492-C3A9-4162-96B4-E84B3F0AC9AC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10820400" cy="638175"/>
          </a:xfrm>
          <a:prstGeom prst="roundRect">
            <a:avLst>
              <a:gd name="adj" fmla="val 11940"/>
            </a:avLst>
          </a:prstGeom>
          <a:solidFill>
            <a:srgbClr val="E9F3FB"/>
          </a:solidFill>
          <a:ln w="0">
            <a:noFill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632D0B-7519-40F5-A115-C74F2D0635B3}"/>
              </a:ext>
            </a:extLst>
          </p:cNvPr>
          <p:cNvSpPr>
            <a:spLocks noGrp="1"/>
          </p:cNvSpPr>
          <p:nvPr/>
        </p:nvSpPr>
        <p:spPr>
          <a:xfrm>
            <a:off x="866775" y="5124450"/>
            <a:ext cx="10458450" cy="390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활용방안  은행 업무 Web·고객 App 연계를 목표로 하는 B2B 업무지원 모듈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469103E-233B-419B-911B-646690ACFE0D}"/>
              </a:ext>
            </a:extLst>
          </p:cNvPr>
          <p:cNvSpPr>
            <a:spLocks noGrp="1"/>
          </p:cNvSpPr>
          <p:nvPr/>
        </p:nvSpPr>
        <p:spPr>
          <a:xfrm>
            <a:off x="666750" y="5838825"/>
            <a:ext cx="10839450" cy="457200"/>
          </a:xfrm>
          <a:prstGeom prst="roundRect">
            <a:avLst>
              <a:gd name="adj" fmla="val 16667"/>
            </a:avLst>
          </a:prstGeom>
          <a:solidFill>
            <a:srgbClr val="FFF6DE"/>
          </a:solidFill>
          <a:ln w="0">
            <a:noFill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51BA41-65D2-476B-95FF-3D10CE6B0D3D}"/>
              </a:ext>
            </a:extLst>
          </p:cNvPr>
          <p:cNvSpPr>
            <a:spLocks noGrp="1"/>
          </p:cNvSpPr>
          <p:nvPr/>
        </p:nvSpPr>
        <p:spPr>
          <a:xfrm>
            <a:off x="828675" y="5905500"/>
            <a:ext cx="10525125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기대효과는 정보 통합·근거 추적 가능성으로 서술하며 정량 감소율은 제시하지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4159598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2F882BE1-2D5D-4FC0-B05C-C507823D18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1A4199-C38E-44B7-88AB-6AB15997D620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02 프로젝트 팀 구성 및 역할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B87923-8560-4E3B-8420-C34E5F0E4D5B}"/>
              </a:ext>
            </a:extLst>
          </p:cNvPr>
          <p:cNvSpPr>
            <a:spLocks noGrp="1"/>
          </p:cNvSpPr>
          <p:nvPr/>
        </p:nvSpPr>
        <p:spPr>
          <a:xfrm>
            <a:off x="609600" y="542925"/>
            <a:ext cx="109537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팀원별 주 책임과 대표 산출물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921ADA-9A95-4AD5-B309-62B1CDC5519A}"/>
              </a:ext>
            </a:extLst>
          </p:cNvPr>
          <p:cNvSpPr>
            <a:spLocks noGrp="1"/>
          </p:cNvSpPr>
          <p:nvPr/>
        </p:nvSpPr>
        <p:spPr>
          <a:xfrm>
            <a:off x="619125" y="1114425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각자의 주도 영역과 멘토 지원 내역을 공식 양식에 맞춰 정리했습니다.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6DDE7B-6F52-4AF6-BC43-859D0F456D6C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1905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FA1CA8-A386-4015-A91D-A4E15F49C55E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CSR   CASE SHARE ROOM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0B7880-B95C-4460-B448-0B2BEEA7C016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CB2DB7-881E-43C9-B9C6-1BEA42A38B11}"/>
              </a:ext>
            </a:extLst>
          </p:cNvPr>
          <p:cNvSpPr>
            <a:spLocks noGrp="1"/>
          </p:cNvSpPr>
          <p:nvPr/>
        </p:nvSpPr>
        <p:spPr>
          <a:xfrm>
            <a:off x="752475" y="1819275"/>
            <a:ext cx="15430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구성원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99790-529C-4003-B9C7-DE1C2128A410}"/>
              </a:ext>
            </a:extLst>
          </p:cNvPr>
          <p:cNvSpPr>
            <a:spLocks noGrp="1"/>
          </p:cNvSpPr>
          <p:nvPr/>
        </p:nvSpPr>
        <p:spPr>
          <a:xfrm>
            <a:off x="2400300" y="1819275"/>
            <a:ext cx="13811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37408B-982D-43DC-B64D-13C2F8984DD4}"/>
              </a:ext>
            </a:extLst>
          </p:cNvPr>
          <p:cNvSpPr>
            <a:spLocks noGrp="1"/>
          </p:cNvSpPr>
          <p:nvPr/>
        </p:nvSpPr>
        <p:spPr>
          <a:xfrm>
            <a:off x="3895725" y="1819275"/>
            <a:ext cx="48101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주요 담당 업무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E2D8CA-3EE7-4E45-B5C8-496CC4E8B4AC}"/>
              </a:ext>
            </a:extLst>
          </p:cNvPr>
          <p:cNvSpPr>
            <a:spLocks noGrp="1"/>
          </p:cNvSpPr>
          <p:nvPr/>
        </p:nvSpPr>
        <p:spPr>
          <a:xfrm>
            <a:off x="8848725" y="1819275"/>
            <a:ext cx="23431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대표 기여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EA7757-DEA8-464B-8ACD-B325F3487DCF}"/>
              </a:ext>
            </a:extLst>
          </p:cNvPr>
          <p:cNvSpPr>
            <a:spLocks noGrp="1"/>
          </p:cNvSpPr>
          <p:nvPr/>
        </p:nvSpPr>
        <p:spPr>
          <a:xfrm>
            <a:off x="695325" y="2228850"/>
            <a:ext cx="10782300" cy="1905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B99A2E-4F73-4A51-9BE0-84AC2BB607D8}"/>
              </a:ext>
            </a:extLst>
          </p:cNvPr>
          <p:cNvSpPr>
            <a:spLocks noGrp="1"/>
          </p:cNvSpPr>
          <p:nvPr/>
        </p:nvSpPr>
        <p:spPr>
          <a:xfrm>
            <a:off x="695325" y="2390775"/>
            <a:ext cx="10810875" cy="6572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131276-31A2-4372-B5D4-17CBA42FED09}"/>
              </a:ext>
            </a:extLst>
          </p:cNvPr>
          <p:cNvSpPr>
            <a:spLocks noGrp="1"/>
          </p:cNvSpPr>
          <p:nvPr/>
        </p:nvSpPr>
        <p:spPr>
          <a:xfrm>
            <a:off x="752475" y="2476500"/>
            <a:ext cx="15430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함형준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08E754-8829-4A37-8065-0A83B51C806C}"/>
              </a:ext>
            </a:extLst>
          </p:cNvPr>
          <p:cNvSpPr>
            <a:spLocks noGrp="1"/>
          </p:cNvSpPr>
          <p:nvPr/>
        </p:nvSpPr>
        <p:spPr>
          <a:xfrm>
            <a:off x="2400300" y="2476500"/>
            <a:ext cx="13811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팀장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808899-EDF2-418D-BE1B-5054985C4ACD}"/>
              </a:ext>
            </a:extLst>
          </p:cNvPr>
          <p:cNvSpPr>
            <a:spLocks noGrp="1"/>
          </p:cNvSpPr>
          <p:nvPr/>
        </p:nvSpPr>
        <p:spPr>
          <a:xfrm>
            <a:off x="3895725" y="2476500"/>
            <a:ext cx="48101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서비스 방향·통화 분석 ML·사건 맥락 구조화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409775-6497-44E7-A57B-78E643F1D77E}"/>
              </a:ext>
            </a:extLst>
          </p:cNvPr>
          <p:cNvSpPr>
            <a:spLocks noGrp="1"/>
          </p:cNvSpPr>
          <p:nvPr/>
        </p:nvSpPr>
        <p:spPr>
          <a:xfrm>
            <a:off x="8848725" y="2476500"/>
            <a:ext cx="23431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Workflow 기준, 통합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03356A-8B88-4BBD-9D6B-5AE93D3F9827}"/>
              </a:ext>
            </a:extLst>
          </p:cNvPr>
          <p:cNvSpPr>
            <a:spLocks noGrp="1"/>
          </p:cNvSpPr>
          <p:nvPr/>
        </p:nvSpPr>
        <p:spPr>
          <a:xfrm>
            <a:off x="695325" y="3152775"/>
            <a:ext cx="10810875" cy="657225"/>
          </a:xfrm>
          <a:prstGeom prst="rect">
            <a:avLst/>
          </a:prstGeom>
          <a:solidFill>
            <a:srgbClr val="F3F7FB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F5C550-6035-4A30-9051-FF00C116EB24}"/>
              </a:ext>
            </a:extLst>
          </p:cNvPr>
          <p:cNvSpPr>
            <a:spLocks noGrp="1"/>
          </p:cNvSpPr>
          <p:nvPr/>
        </p:nvSpPr>
        <p:spPr>
          <a:xfrm>
            <a:off x="752475" y="3238500"/>
            <a:ext cx="15430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이종열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3EBD0F-68FA-40AE-8F03-EAC87BA44B68}"/>
              </a:ext>
            </a:extLst>
          </p:cNvPr>
          <p:cNvSpPr>
            <a:spLocks noGrp="1"/>
          </p:cNvSpPr>
          <p:nvPr/>
        </p:nvSpPr>
        <p:spPr>
          <a:xfrm>
            <a:off x="2400300" y="3238500"/>
            <a:ext cx="13811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팀원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387D28-3AB2-44AB-A907-FA142778C8AE}"/>
              </a:ext>
            </a:extLst>
          </p:cNvPr>
          <p:cNvSpPr>
            <a:spLocks noGrp="1"/>
          </p:cNvSpPr>
          <p:nvPr/>
        </p:nvSpPr>
        <p:spPr>
          <a:xfrm>
            <a:off x="3895725" y="3238500"/>
            <a:ext cx="48101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AI API·질문/응답/Fact Workflow·AWS 배포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8352F2-CF64-4960-9F3E-EE248E4B1AD9}"/>
              </a:ext>
            </a:extLst>
          </p:cNvPr>
          <p:cNvSpPr>
            <a:spLocks noGrp="1"/>
          </p:cNvSpPr>
          <p:nvPr/>
        </p:nvSpPr>
        <p:spPr>
          <a:xfrm>
            <a:off x="8848725" y="3238500"/>
            <a:ext cx="23431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B Part, 운영 검증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6485E5-A67D-4473-9682-178DB78E38F5}"/>
              </a:ext>
            </a:extLst>
          </p:cNvPr>
          <p:cNvSpPr>
            <a:spLocks noGrp="1"/>
          </p:cNvSpPr>
          <p:nvPr/>
        </p:nvSpPr>
        <p:spPr>
          <a:xfrm>
            <a:off x="695325" y="3914775"/>
            <a:ext cx="10810875" cy="6572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7AA189-BE26-44AA-9F37-1497424792C2}"/>
              </a:ext>
            </a:extLst>
          </p:cNvPr>
          <p:cNvSpPr>
            <a:spLocks noGrp="1"/>
          </p:cNvSpPr>
          <p:nvPr/>
        </p:nvSpPr>
        <p:spPr>
          <a:xfrm>
            <a:off x="752475" y="4000500"/>
            <a:ext cx="15430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엄정희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33C2BC-3844-4A7C-9A22-FD0EF6EBD141}"/>
              </a:ext>
            </a:extLst>
          </p:cNvPr>
          <p:cNvSpPr>
            <a:spLocks noGrp="1"/>
          </p:cNvSpPr>
          <p:nvPr/>
        </p:nvSpPr>
        <p:spPr>
          <a:xfrm>
            <a:off x="2400300" y="4000500"/>
            <a:ext cx="13811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팀원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11DE0C-6B43-4932-8449-1BEB8D962BE2}"/>
              </a:ext>
            </a:extLst>
          </p:cNvPr>
          <p:cNvSpPr>
            <a:spLocks noGrp="1"/>
          </p:cNvSpPr>
          <p:nvPr/>
        </p:nvSpPr>
        <p:spPr>
          <a:xfrm>
            <a:off x="3895725" y="4000500"/>
            <a:ext cx="48101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General API·MySQL·사건 업무/보고·고객 UX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1C575B-5CB3-4046-B186-D80FAF5B5898}"/>
              </a:ext>
            </a:extLst>
          </p:cNvPr>
          <p:cNvSpPr>
            <a:spLocks noGrp="1"/>
          </p:cNvSpPr>
          <p:nvPr/>
        </p:nvSpPr>
        <p:spPr>
          <a:xfrm>
            <a:off x="8848725" y="4000500"/>
            <a:ext cx="23431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Case 저장·화면 연결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599905-E3FC-4F2F-9D65-239404DC8020}"/>
              </a:ext>
            </a:extLst>
          </p:cNvPr>
          <p:cNvSpPr>
            <a:spLocks noGrp="1"/>
          </p:cNvSpPr>
          <p:nvPr/>
        </p:nvSpPr>
        <p:spPr>
          <a:xfrm>
            <a:off x="695325" y="4676775"/>
            <a:ext cx="10810875" cy="657225"/>
          </a:xfrm>
          <a:prstGeom prst="rect">
            <a:avLst/>
          </a:prstGeom>
          <a:solidFill>
            <a:srgbClr val="F3F7FB"/>
          </a:solidFill>
          <a:ln w="0">
            <a:noFill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0279B43-CBED-41C6-9B4B-1337DB4B94E9}"/>
              </a:ext>
            </a:extLst>
          </p:cNvPr>
          <p:cNvSpPr>
            <a:spLocks noGrp="1"/>
          </p:cNvSpPr>
          <p:nvPr/>
        </p:nvSpPr>
        <p:spPr>
          <a:xfrm>
            <a:off x="752475" y="4762500"/>
            <a:ext cx="15430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강주희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573B544-F317-49C5-B4E4-E8A1EE7D73DA}"/>
              </a:ext>
            </a:extLst>
          </p:cNvPr>
          <p:cNvSpPr>
            <a:spLocks noGrp="1"/>
          </p:cNvSpPr>
          <p:nvPr/>
        </p:nvSpPr>
        <p:spPr>
          <a:xfrm>
            <a:off x="2400300" y="4762500"/>
            <a:ext cx="13811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멘토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0BBE39D-1F9A-4FA8-A34E-DD5BB35851BA}"/>
              </a:ext>
            </a:extLst>
          </p:cNvPr>
          <p:cNvSpPr>
            <a:spLocks noGrp="1"/>
          </p:cNvSpPr>
          <p:nvPr/>
        </p:nvSpPr>
        <p:spPr>
          <a:xfrm>
            <a:off x="3895725" y="4762500"/>
            <a:ext cx="48101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서비스 구조·기능 구성 피드백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0259B6B-D8EF-4D44-A685-23FF81ACFF05}"/>
              </a:ext>
            </a:extLst>
          </p:cNvPr>
          <p:cNvSpPr>
            <a:spLocks noGrp="1"/>
          </p:cNvSpPr>
          <p:nvPr/>
        </p:nvSpPr>
        <p:spPr>
          <a:xfrm>
            <a:off x="8848725" y="4762500"/>
            <a:ext cx="23431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개선 방향 자문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3D096CE-1E51-4B6E-B899-31FAD2348ABD}"/>
              </a:ext>
            </a:extLst>
          </p:cNvPr>
          <p:cNvSpPr>
            <a:spLocks noGrp="1"/>
          </p:cNvSpPr>
          <p:nvPr/>
        </p:nvSpPr>
        <p:spPr>
          <a:xfrm>
            <a:off x="666750" y="5838825"/>
            <a:ext cx="10839450" cy="457200"/>
          </a:xfrm>
          <a:prstGeom prst="roundRect">
            <a:avLst>
              <a:gd name="adj" fmla="val 16667"/>
            </a:avLst>
          </a:prstGeom>
          <a:solidFill>
            <a:srgbClr val="FFF6DE"/>
          </a:solidFill>
          <a:ln w="0">
            <a:noFill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1FBC06D-01E7-46E0-B1A8-565C9CDB8858}"/>
              </a:ext>
            </a:extLst>
          </p:cNvPr>
          <p:cNvSpPr>
            <a:spLocks noGrp="1"/>
          </p:cNvSpPr>
          <p:nvPr/>
        </p:nvSpPr>
        <p:spPr>
          <a:xfrm>
            <a:off x="828675" y="5905500"/>
            <a:ext cx="10525125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팀원별 담당 범위와 멘토 지원 내용은 당사자·회의 기록으로 최종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5191076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78D4CFD-C400-41F0-AD86-9E830F5382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EFBFB2-63E7-4E13-AA58-F8DFBE9A8B4F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02 프로젝트 팀 구성 및 역할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E3DB3F-056F-49BB-874F-61350D48BC83}"/>
              </a:ext>
            </a:extLst>
          </p:cNvPr>
          <p:cNvSpPr>
            <a:spLocks noGrp="1"/>
          </p:cNvSpPr>
          <p:nvPr/>
        </p:nvSpPr>
        <p:spPr>
          <a:xfrm>
            <a:off x="609600" y="542925"/>
            <a:ext cx="109537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개인 작업을 하나의 Case 흐름으로 통합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78AFC5-1BC1-4889-9F8B-FBF7208E6645}"/>
              </a:ext>
            </a:extLst>
          </p:cNvPr>
          <p:cNvSpPr>
            <a:spLocks noGrp="1"/>
          </p:cNvSpPr>
          <p:nvPr/>
        </p:nvSpPr>
        <p:spPr>
          <a:xfrm>
            <a:off x="619125" y="1114425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설계 기준, B Part, Case API·DB를 연결하는 협업이 핵심이었습니다.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0FCBD5-7251-4C87-9187-2CB1C41623D3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1905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86E584-D18F-4CE8-B373-007C3A034FA4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CSR   CASE SHARE ROOM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18502F-FC5A-4AC4-B288-A26461F5E172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CCFBF87-506B-4919-9AD1-FAA69FE419E5}"/>
              </a:ext>
            </a:extLst>
          </p:cNvPr>
          <p:cNvSpPr>
            <a:spLocks noGrp="1"/>
          </p:cNvSpPr>
          <p:nvPr/>
        </p:nvSpPr>
        <p:spPr>
          <a:xfrm>
            <a:off x="676275" y="1905000"/>
            <a:ext cx="3362325" cy="2619375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D7E3EE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ABD3E1-5694-46C9-9EC2-C9DBF0FDCAF4}"/>
              </a:ext>
            </a:extLst>
          </p:cNvPr>
          <p:cNvSpPr>
            <a:spLocks noGrp="1"/>
          </p:cNvSpPr>
          <p:nvPr/>
        </p:nvSpPr>
        <p:spPr>
          <a:xfrm>
            <a:off x="676275" y="1905000"/>
            <a:ext cx="47625" cy="2619375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2BB270-8662-4B3E-BA39-22957067B541}"/>
              </a:ext>
            </a:extLst>
          </p:cNvPr>
          <p:cNvSpPr>
            <a:spLocks noGrp="1"/>
          </p:cNvSpPr>
          <p:nvPr/>
        </p:nvSpPr>
        <p:spPr>
          <a:xfrm>
            <a:off x="885825" y="2057400"/>
            <a:ext cx="294322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함형준 · 방향과 통합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D314E3-6822-4138-9F9E-15475C9D8229}"/>
              </a:ext>
            </a:extLst>
          </p:cNvPr>
          <p:cNvSpPr>
            <a:spLocks noGrp="1"/>
          </p:cNvSpPr>
          <p:nvPr/>
        </p:nvSpPr>
        <p:spPr>
          <a:xfrm>
            <a:off x="885825" y="2457450"/>
            <a:ext cx="2943225" cy="1933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담당자 중심 서비스 구조</a:t>
            </a:r>
          </a:p>
          <a:p>
            <a:pPr algn="l">
              <a:defRPr sz="150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통화 분석과 맥락 구조화</a:t>
            </a:r>
          </a:p>
          <a:p>
            <a:pPr algn="l">
              <a:defRPr sz="150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ROOM UI·실행 환경 통합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5AE2A63-3282-4E2F-B938-C0064D8F6739}"/>
              </a:ext>
            </a:extLst>
          </p:cNvPr>
          <p:cNvSpPr>
            <a:spLocks noGrp="1"/>
          </p:cNvSpPr>
          <p:nvPr/>
        </p:nvSpPr>
        <p:spPr>
          <a:xfrm>
            <a:off x="4410075" y="1905000"/>
            <a:ext cx="3362325" cy="2619375"/>
          </a:xfrm>
          <a:prstGeom prst="roundRect">
            <a:avLst>
              <a:gd name="adj" fmla="val 2909"/>
            </a:avLst>
          </a:prstGeom>
          <a:solidFill>
            <a:srgbClr val="F3F7FB"/>
          </a:solidFill>
          <a:ln w="9525">
            <a:solidFill>
              <a:srgbClr val="D7E3EE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342CBB-40C1-4F0C-B656-2E8E1CC86B08}"/>
              </a:ext>
            </a:extLst>
          </p:cNvPr>
          <p:cNvSpPr>
            <a:spLocks noGrp="1"/>
          </p:cNvSpPr>
          <p:nvPr/>
        </p:nvSpPr>
        <p:spPr>
          <a:xfrm>
            <a:off x="4410075" y="1905000"/>
            <a:ext cx="47625" cy="2619375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516800-C94B-4F0B-9B6B-1B0EE9877972}"/>
              </a:ext>
            </a:extLst>
          </p:cNvPr>
          <p:cNvSpPr>
            <a:spLocks noGrp="1"/>
          </p:cNvSpPr>
          <p:nvPr/>
        </p:nvSpPr>
        <p:spPr>
          <a:xfrm>
            <a:off x="4619625" y="2057400"/>
            <a:ext cx="294322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이종열 · B Part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1A6EB2-9692-4254-B00D-0DB82EE264A0}"/>
              </a:ext>
            </a:extLst>
          </p:cNvPr>
          <p:cNvSpPr>
            <a:spLocks noGrp="1"/>
          </p:cNvSpPr>
          <p:nvPr/>
        </p:nvSpPr>
        <p:spPr>
          <a:xfrm>
            <a:off x="4619625" y="2457450"/>
            <a:ext cx="2943225" cy="1933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AI API와 대화 Workflow</a:t>
            </a:r>
          </a:p>
          <a:p>
            <a:pPr algn="l">
              <a:defRPr sz="150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질문 추천·검토·응답 흐름</a:t>
            </a:r>
          </a:p>
          <a:p>
            <a:pPr algn="l">
              <a:defRPr sz="150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Fact UI·AWS 배포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2CC2526-D94D-4EE2-8395-BE9F9CD07E8F}"/>
              </a:ext>
            </a:extLst>
          </p:cNvPr>
          <p:cNvSpPr>
            <a:spLocks noGrp="1"/>
          </p:cNvSpPr>
          <p:nvPr/>
        </p:nvSpPr>
        <p:spPr>
          <a:xfrm>
            <a:off x="8143875" y="1905000"/>
            <a:ext cx="3362325" cy="2619375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D7E3EE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BBCB55-3BC7-4A5F-9FD1-36082D785303}"/>
              </a:ext>
            </a:extLst>
          </p:cNvPr>
          <p:cNvSpPr>
            <a:spLocks noGrp="1"/>
          </p:cNvSpPr>
          <p:nvPr/>
        </p:nvSpPr>
        <p:spPr>
          <a:xfrm>
            <a:off x="8143875" y="1905000"/>
            <a:ext cx="47625" cy="2619375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7D01E7-18A2-4D81-B8CB-3AA55339F6DF}"/>
              </a:ext>
            </a:extLst>
          </p:cNvPr>
          <p:cNvSpPr>
            <a:spLocks noGrp="1"/>
          </p:cNvSpPr>
          <p:nvPr/>
        </p:nvSpPr>
        <p:spPr>
          <a:xfrm>
            <a:off x="8353425" y="2057400"/>
            <a:ext cx="294322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엄정희 · Case 기반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DA85DD5-FA42-4C55-AFBC-2475525FBB20}"/>
              </a:ext>
            </a:extLst>
          </p:cNvPr>
          <p:cNvSpPr>
            <a:spLocks noGrp="1"/>
          </p:cNvSpPr>
          <p:nvPr/>
        </p:nvSpPr>
        <p:spPr>
          <a:xfrm>
            <a:off x="8353425" y="2457450"/>
            <a:ext cx="2943225" cy="1933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General API·MySQL</a:t>
            </a:r>
          </a:p>
          <a:p>
            <a:pPr algn="l">
              <a:defRPr sz="150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사건 업무·보고 자료</a:t>
            </a:r>
          </a:p>
          <a:p>
            <a:pPr algn="l">
              <a:defRPr sz="150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고객 화면과 사용 흐름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153630C-8AB0-47EA-9A66-F90E314860C7}"/>
              </a:ext>
            </a:extLst>
          </p:cNvPr>
          <p:cNvSpPr>
            <a:spLocks noGrp="1"/>
          </p:cNvSpPr>
          <p:nvPr/>
        </p:nvSpPr>
        <p:spPr>
          <a:xfrm>
            <a:off x="685800" y="4800600"/>
            <a:ext cx="10820400" cy="714375"/>
          </a:xfrm>
          <a:prstGeom prst="roundRect">
            <a:avLst>
              <a:gd name="adj" fmla="val 10667"/>
            </a:avLst>
          </a:prstGeom>
          <a:solidFill>
            <a:srgbClr val="E9F3FB"/>
          </a:solidFill>
          <a:ln w="0">
            <a:noFill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4B9F74-3CB7-4C77-8C02-2543FD4B2948}"/>
              </a:ext>
            </a:extLst>
          </p:cNvPr>
          <p:cNvSpPr>
            <a:spLocks noGrp="1"/>
          </p:cNvSpPr>
          <p:nvPr/>
        </p:nvSpPr>
        <p:spPr>
          <a:xfrm>
            <a:off x="819150" y="4829175"/>
            <a:ext cx="10553700" cy="657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공동 수행  API·화면 계약 조정, 통합 검증, 발표 증거 정리 [담당 범위 확인 필요]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953384A-CD9B-4A14-A41B-799DE2294340}"/>
              </a:ext>
            </a:extLst>
          </p:cNvPr>
          <p:cNvSpPr>
            <a:spLocks noGrp="1"/>
          </p:cNvSpPr>
          <p:nvPr/>
        </p:nvSpPr>
        <p:spPr>
          <a:xfrm>
            <a:off x="666750" y="5838825"/>
            <a:ext cx="10839450" cy="457200"/>
          </a:xfrm>
          <a:prstGeom prst="roundRect">
            <a:avLst>
              <a:gd name="adj" fmla="val 16667"/>
            </a:avLst>
          </a:prstGeom>
          <a:solidFill>
            <a:srgbClr val="FFF6DE"/>
          </a:solidFill>
          <a:ln w="0">
            <a:noFill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8D19202-35E0-49B7-84F2-2CA1CF973E81}"/>
              </a:ext>
            </a:extLst>
          </p:cNvPr>
          <p:cNvSpPr>
            <a:spLocks noGrp="1"/>
          </p:cNvSpPr>
          <p:nvPr/>
        </p:nvSpPr>
        <p:spPr>
          <a:xfrm>
            <a:off x="828675" y="5905500"/>
            <a:ext cx="10525125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멘토 강주희  서비스 구조와 개발 우선순위에 관한 피드백을 제공했습니다.</a:t>
            </a:r>
          </a:p>
        </p:txBody>
      </p:sp>
    </p:spTree>
    <p:extLst>
      <p:ext uri="{BB962C8B-B14F-4D97-AF65-F5344CB8AC3E}">
        <p14:creationId xmlns:p14="http://schemas.microsoft.com/office/powerpoint/2010/main" val="2137190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F8AD7993-614B-4442-8805-DAE17DFEFA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DAE09B-E6ED-4B11-9C48-ABE56D4AE4C4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03 프로젝트 수행 절차 및 방법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89EC6F-0B10-4CA4-B715-E979BB822BE5}"/>
              </a:ext>
            </a:extLst>
          </p:cNvPr>
          <p:cNvSpPr>
            <a:spLocks noGrp="1"/>
          </p:cNvSpPr>
          <p:nvPr/>
        </p:nvSpPr>
        <p:spPr>
          <a:xfrm>
            <a:off x="609600" y="542925"/>
            <a:ext cx="109537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프로젝트 일정: 8월 20일 이후를 공식 기간으로 정리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8149CC-ED92-413A-84C0-8EB50CF98273}"/>
              </a:ext>
            </a:extLst>
          </p:cNvPr>
          <p:cNvSpPr>
            <a:spLocks noGrp="1"/>
          </p:cNvSpPr>
          <p:nvPr/>
        </p:nvSpPr>
        <p:spPr>
          <a:xfrm>
            <a:off x="619125" y="1114425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그 이전 작업은 선행 아이디어·문제 탐색으로 구분합니다.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ADD05D-92AE-4EF8-A05A-2059CED77F98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1905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37ABAE-67A8-45A3-B045-217C48545AF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CSR   CASE SHARE ROOM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6EA2F-599A-4873-B695-26E704617C3C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C52A2F8-4995-4252-8F0C-D5F515A0C43B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685800"/>
          </a:xfrm>
          <a:prstGeom prst="roundRect">
            <a:avLst>
              <a:gd name="adj" fmla="val 11111"/>
            </a:avLst>
          </a:prstGeom>
          <a:solidFill>
            <a:srgbClr val="F3F7FB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2B5E8B-B40B-45E3-BD04-BBAD5DE3ED2C}"/>
              </a:ext>
            </a:extLst>
          </p:cNvPr>
          <p:cNvSpPr>
            <a:spLocks noGrp="1"/>
          </p:cNvSpPr>
          <p:nvPr/>
        </p:nvSpPr>
        <p:spPr>
          <a:xfrm>
            <a:off x="876300" y="1828800"/>
            <a:ext cx="20002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선행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9CF3DB-4E33-4591-90F0-83F36B81186C}"/>
              </a:ext>
            </a:extLst>
          </p:cNvPr>
          <p:cNvSpPr>
            <a:spLocks noGrp="1"/>
          </p:cNvSpPr>
          <p:nvPr/>
        </p:nvSpPr>
        <p:spPr>
          <a:xfrm>
            <a:off x="2952750" y="1828800"/>
            <a:ext cx="2857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8/20 이전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ADA848-A387-4BA1-84AD-B3D4134307EE}"/>
              </a:ext>
            </a:extLst>
          </p:cNvPr>
          <p:cNvSpPr>
            <a:spLocks noGrp="1"/>
          </p:cNvSpPr>
          <p:nvPr/>
        </p:nvSpPr>
        <p:spPr>
          <a:xfrm>
            <a:off x="5838825" y="1828800"/>
            <a:ext cx="54102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1차 경험, 8월 초 아이디어·문제 탐색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DBAF11D-4386-4BB9-B205-6DE2F8A10AAD}"/>
              </a:ext>
            </a:extLst>
          </p:cNvPr>
          <p:cNvSpPr>
            <a:spLocks noGrp="1"/>
          </p:cNvSpPr>
          <p:nvPr/>
        </p:nvSpPr>
        <p:spPr>
          <a:xfrm>
            <a:off x="685800" y="2581275"/>
            <a:ext cx="10820400" cy="685800"/>
          </a:xfrm>
          <a:prstGeom prst="roundRect">
            <a:avLst>
              <a:gd name="adj" fmla="val 11111"/>
            </a:avLst>
          </a:prstGeom>
          <a:solidFill>
            <a:srgbClr val="F3F7FB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925ABF-0BE5-42DA-A5D8-E7E1897E0B4D}"/>
              </a:ext>
            </a:extLst>
          </p:cNvPr>
          <p:cNvSpPr>
            <a:spLocks noGrp="1"/>
          </p:cNvSpPr>
          <p:nvPr/>
        </p:nvSpPr>
        <p:spPr>
          <a:xfrm>
            <a:off x="876300" y="2667000"/>
            <a:ext cx="20002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기획·초기 MVP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4EE75E-C790-4DB3-94A8-1D246D65A1C3}"/>
              </a:ext>
            </a:extLst>
          </p:cNvPr>
          <p:cNvSpPr>
            <a:spLocks noGrp="1"/>
          </p:cNvSpPr>
          <p:nvPr/>
        </p:nvSpPr>
        <p:spPr>
          <a:xfrm>
            <a:off x="2952750" y="2667000"/>
            <a:ext cx="2857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8/20 ~ 8/27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9C0A8A-FEAF-4CAE-A563-5CECE8383F29}"/>
              </a:ext>
            </a:extLst>
          </p:cNvPr>
          <p:cNvSpPr>
            <a:spLocks noGrp="1"/>
          </p:cNvSpPr>
          <p:nvPr/>
        </p:nvSpPr>
        <p:spPr>
          <a:xfrm>
            <a:off x="5838825" y="2667000"/>
            <a:ext cx="54102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송금 방지턱·신뢰인 구조 검토, 기존 대응 조사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90EAD96-9245-4EA8-98FE-C13064B5051E}"/>
              </a:ext>
            </a:extLst>
          </p:cNvPr>
          <p:cNvSpPr>
            <a:spLocks noGrp="1"/>
          </p:cNvSpPr>
          <p:nvPr/>
        </p:nvSpPr>
        <p:spPr>
          <a:xfrm>
            <a:off x="685800" y="3419475"/>
            <a:ext cx="10820400" cy="685800"/>
          </a:xfrm>
          <a:prstGeom prst="roundRect">
            <a:avLst>
              <a:gd name="adj" fmla="val 11111"/>
            </a:avLst>
          </a:prstGeom>
          <a:solidFill>
            <a:srgbClr val="F3F7FB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BD7353-2A1A-4F6C-A911-49A89E3D091A}"/>
              </a:ext>
            </a:extLst>
          </p:cNvPr>
          <p:cNvSpPr>
            <a:spLocks noGrp="1"/>
          </p:cNvSpPr>
          <p:nvPr/>
        </p:nvSpPr>
        <p:spPr>
          <a:xfrm>
            <a:off x="876300" y="3505200"/>
            <a:ext cx="20002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방향 재정의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212877-7E72-4141-A434-9731A8EA08CE}"/>
              </a:ext>
            </a:extLst>
          </p:cNvPr>
          <p:cNvSpPr>
            <a:spLocks noGrp="1"/>
          </p:cNvSpPr>
          <p:nvPr/>
        </p:nvSpPr>
        <p:spPr>
          <a:xfrm>
            <a:off x="2952750" y="3505200"/>
            <a:ext cx="2857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8/28 전후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B63EFD-A44D-4590-B651-D94981D30490}"/>
              </a:ext>
            </a:extLst>
          </p:cNvPr>
          <p:cNvSpPr>
            <a:spLocks noGrp="1"/>
          </p:cNvSpPr>
          <p:nvPr/>
        </p:nvSpPr>
        <p:spPr>
          <a:xfrm>
            <a:off x="5838825" y="3505200"/>
            <a:ext cx="54102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AI/담당자 책임 재설정, 담당자·고객 ROOM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BD80235-2946-4A85-B575-204689EF7747}"/>
              </a:ext>
            </a:extLst>
          </p:cNvPr>
          <p:cNvSpPr>
            <a:spLocks noGrp="1"/>
          </p:cNvSpPr>
          <p:nvPr/>
        </p:nvSpPr>
        <p:spPr>
          <a:xfrm>
            <a:off x="685800" y="4257675"/>
            <a:ext cx="10820400" cy="685800"/>
          </a:xfrm>
          <a:prstGeom prst="roundRect">
            <a:avLst>
              <a:gd name="adj" fmla="val 11111"/>
            </a:avLst>
          </a:prstGeom>
          <a:solidFill>
            <a:srgbClr val="E9F3FB"/>
          </a:solidFill>
          <a:ln w="0">
            <a:noFill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3F6EE7-3E90-4310-83E0-D4526BEE183B}"/>
              </a:ext>
            </a:extLst>
          </p:cNvPr>
          <p:cNvSpPr>
            <a:spLocks noGrp="1"/>
          </p:cNvSpPr>
          <p:nvPr/>
        </p:nvSpPr>
        <p:spPr>
          <a:xfrm>
            <a:off x="876300" y="4343400"/>
            <a:ext cx="20002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구현·제출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67B4E8-1815-4370-99D8-DC5AB853D3C1}"/>
              </a:ext>
            </a:extLst>
          </p:cNvPr>
          <p:cNvSpPr>
            <a:spLocks noGrp="1"/>
          </p:cNvSpPr>
          <p:nvPr/>
        </p:nvSpPr>
        <p:spPr>
          <a:xfrm>
            <a:off x="2952750" y="4343400"/>
            <a:ext cx="2857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8/31 ~ 9/7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3FF214-29E7-4A24-AB45-C5DCA391B2E1}"/>
              </a:ext>
            </a:extLst>
          </p:cNvPr>
          <p:cNvSpPr>
            <a:spLocks noGrp="1"/>
          </p:cNvSpPr>
          <p:nvPr/>
        </p:nvSpPr>
        <p:spPr>
          <a:xfrm>
            <a:off x="5838825" y="4343400"/>
            <a:ext cx="54102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CSR MVP 구현, AWS 배포, 공모전 제출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51A3214-C2B5-47AE-875D-9EABAD216D13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10820400" cy="685800"/>
          </a:xfrm>
          <a:prstGeom prst="roundRect">
            <a:avLst>
              <a:gd name="adj" fmla="val 11111"/>
            </a:avLst>
          </a:prstGeom>
          <a:solidFill>
            <a:srgbClr val="F3F7FB"/>
          </a:solidFill>
          <a:ln w="0">
            <a:noFill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82127F-156D-4C7F-8EDA-2B4041E4F27A}"/>
              </a:ext>
            </a:extLst>
          </p:cNvPr>
          <p:cNvSpPr>
            <a:spLocks noGrp="1"/>
          </p:cNvSpPr>
          <p:nvPr/>
        </p:nvSpPr>
        <p:spPr>
          <a:xfrm>
            <a:off x="876300" y="5181600"/>
            <a:ext cx="20002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고도화·검증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1FD7A3A-1DBF-4882-B07C-31452A252E60}"/>
              </a:ext>
            </a:extLst>
          </p:cNvPr>
          <p:cNvSpPr>
            <a:spLocks noGrp="1"/>
          </p:cNvSpPr>
          <p:nvPr/>
        </p:nvSpPr>
        <p:spPr>
          <a:xfrm>
            <a:off x="2952750" y="5181600"/>
            <a:ext cx="2857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9/8 ~ [종료일 확인 필요]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1B4DE9-12F2-4754-A7A2-55D1E5B97E31}"/>
              </a:ext>
            </a:extLst>
          </p:cNvPr>
          <p:cNvSpPr>
            <a:spLocks noGrp="1"/>
          </p:cNvSpPr>
          <p:nvPr/>
        </p:nvSpPr>
        <p:spPr>
          <a:xfrm>
            <a:off x="5838825" y="5181600"/>
            <a:ext cx="54102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UI/UX, 질문·Fact·Context, Runtime 검증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12E4E74-B4E7-48FE-A6B6-CD4756A5D676}"/>
              </a:ext>
            </a:extLst>
          </p:cNvPr>
          <p:cNvSpPr>
            <a:spLocks noGrp="1"/>
          </p:cNvSpPr>
          <p:nvPr/>
        </p:nvSpPr>
        <p:spPr>
          <a:xfrm>
            <a:off x="666750" y="5838825"/>
            <a:ext cx="10839450" cy="457200"/>
          </a:xfrm>
          <a:prstGeom prst="roundRect">
            <a:avLst>
              <a:gd name="adj" fmla="val 16667"/>
            </a:avLst>
          </a:prstGeom>
          <a:solidFill>
            <a:srgbClr val="FFF6DE"/>
          </a:solidFill>
          <a:ln w="0">
            <a:noFill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392BF9-EB48-4B65-80AD-51183314C160}"/>
              </a:ext>
            </a:extLst>
          </p:cNvPr>
          <p:cNvSpPr>
            <a:spLocks noGrp="1"/>
          </p:cNvSpPr>
          <p:nvPr/>
        </p:nvSpPr>
        <p:spPr>
          <a:xfrm>
            <a:off x="828675" y="5905500"/>
            <a:ext cx="10525125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총 개발기간  2026.08.20 ~ [최종 종료일 확인 필요]   세부 기간은 팀 기록으로 확정</a:t>
            </a:r>
          </a:p>
        </p:txBody>
      </p:sp>
    </p:spTree>
    <p:extLst>
      <p:ext uri="{BB962C8B-B14F-4D97-AF65-F5344CB8AC3E}">
        <p14:creationId xmlns:p14="http://schemas.microsoft.com/office/powerpoint/2010/main" val="14030439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45B3D34-D07E-4B3D-A51D-8B8CB9E368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C48A27-58DA-48FB-A59A-A69C5CDC5099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03 프로젝트 수행 절차 및 방법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14E87B-B116-461A-AAC9-F20AFC2DC984}"/>
              </a:ext>
            </a:extLst>
          </p:cNvPr>
          <p:cNvSpPr>
            <a:spLocks noGrp="1"/>
          </p:cNvSpPr>
          <p:nvPr/>
        </p:nvSpPr>
        <p:spPr>
          <a:xfrm>
            <a:off x="609600" y="542925"/>
            <a:ext cx="109537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서비스 방향을 담당자 중심으로 재정의했습니다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0918AB-79AC-436D-A6DE-CD9F1293B522}"/>
              </a:ext>
            </a:extLst>
          </p:cNvPr>
          <p:cNvSpPr>
            <a:spLocks noGrp="1"/>
          </p:cNvSpPr>
          <p:nvPr/>
        </p:nvSpPr>
        <p:spPr>
          <a:xfrm>
            <a:off x="619125" y="1114425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중복·현실성 검토 이후 송금 차단 중심에서 Case 기반 조사·고객 확인으로 이동했습니다.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1B55FA-3770-4CA6-A7D0-13D891763445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1905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94FE71-3A27-4A36-AA05-156B358BAB0C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CSR   CASE SHARE ROOM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AA71A8-6A2B-4EA3-8C91-7FD30239F8D3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75A8D14-D742-478C-BA08-69D73A140101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10810875" cy="723900"/>
          </a:xfrm>
          <a:prstGeom prst="roundRect">
            <a:avLst>
              <a:gd name="adj" fmla="val 10526"/>
            </a:avLst>
          </a:prstGeom>
          <a:solidFill>
            <a:srgbClr val="F3F7FB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6A713D-15D6-4A72-9A78-9E8D01DAA801}"/>
              </a:ext>
            </a:extLst>
          </p:cNvPr>
          <p:cNvSpPr>
            <a:spLocks noGrp="1"/>
          </p:cNvSpPr>
          <p:nvPr/>
        </p:nvSpPr>
        <p:spPr>
          <a:xfrm>
            <a:off x="838200" y="1924050"/>
            <a:ext cx="590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2790BC-88A1-4462-B8DA-A0CF7F79FF70}"/>
              </a:ext>
            </a:extLst>
          </p:cNvPr>
          <p:cNvSpPr>
            <a:spLocks noGrp="1"/>
          </p:cNvSpPr>
          <p:nvPr/>
        </p:nvSpPr>
        <p:spPr>
          <a:xfrm>
            <a:off x="1504950" y="1857375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초기 아이디어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EE0A8D-3958-4B90-ACD9-7CD733B8876E}"/>
              </a:ext>
            </a:extLst>
          </p:cNvPr>
          <p:cNvSpPr>
            <a:spLocks noGrp="1"/>
          </p:cNvSpPr>
          <p:nvPr/>
        </p:nvSpPr>
        <p:spPr>
          <a:xfrm>
            <a:off x="3857625" y="1857375"/>
            <a:ext cx="7429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송금 방지턱·신뢰인 검증을 검토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386C241-7B50-4ADE-9DCB-00859E225F30}"/>
              </a:ext>
            </a:extLst>
          </p:cNvPr>
          <p:cNvSpPr>
            <a:spLocks noGrp="1"/>
          </p:cNvSpPr>
          <p:nvPr/>
        </p:nvSpPr>
        <p:spPr>
          <a:xfrm>
            <a:off x="666750" y="2695575"/>
            <a:ext cx="10810875" cy="723900"/>
          </a:xfrm>
          <a:prstGeom prst="roundRect">
            <a:avLst>
              <a:gd name="adj" fmla="val 10526"/>
            </a:avLst>
          </a:prstGeom>
          <a:solidFill>
            <a:srgbClr val="F3F7FB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CC87F3-CA67-4951-A760-079B4EBCBCF8}"/>
              </a:ext>
            </a:extLst>
          </p:cNvPr>
          <p:cNvSpPr>
            <a:spLocks noGrp="1"/>
          </p:cNvSpPr>
          <p:nvPr/>
        </p:nvSpPr>
        <p:spPr>
          <a:xfrm>
            <a:off x="838200" y="2857500"/>
            <a:ext cx="590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088A60-1B65-400E-A617-6307D4DE4B21}"/>
              </a:ext>
            </a:extLst>
          </p:cNvPr>
          <p:cNvSpPr>
            <a:spLocks noGrp="1"/>
          </p:cNvSpPr>
          <p:nvPr/>
        </p:nvSpPr>
        <p:spPr>
          <a:xfrm>
            <a:off x="1504950" y="2790825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검토한 제약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01453F-7585-49C0-9C3A-1AEAB87AD33F}"/>
              </a:ext>
            </a:extLst>
          </p:cNvPr>
          <p:cNvSpPr>
            <a:spLocks noGrp="1"/>
          </p:cNvSpPr>
          <p:nvPr/>
        </p:nvSpPr>
        <p:spPr>
          <a:xfrm>
            <a:off x="3857625" y="2790825"/>
            <a:ext cx="7429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기존 대응과의 중복, 금융조치 권한 및 실현성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0F64094-9CBB-4C7C-B538-E6E4F418C13A}"/>
              </a:ext>
            </a:extLst>
          </p:cNvPr>
          <p:cNvSpPr>
            <a:spLocks noGrp="1"/>
          </p:cNvSpPr>
          <p:nvPr/>
        </p:nvSpPr>
        <p:spPr>
          <a:xfrm>
            <a:off x="666750" y="3629025"/>
            <a:ext cx="10810875" cy="723900"/>
          </a:xfrm>
          <a:prstGeom prst="roundRect">
            <a:avLst>
              <a:gd name="adj" fmla="val 10526"/>
            </a:avLst>
          </a:prstGeom>
          <a:solidFill>
            <a:srgbClr val="E9F3FB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55EF24-738A-43B0-9047-C23ED5E83B43}"/>
              </a:ext>
            </a:extLst>
          </p:cNvPr>
          <p:cNvSpPr>
            <a:spLocks noGrp="1"/>
          </p:cNvSpPr>
          <p:nvPr/>
        </p:nvSpPr>
        <p:spPr>
          <a:xfrm>
            <a:off x="838200" y="3790950"/>
            <a:ext cx="590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94C143-7B10-4F25-ABE2-97802853C5C9}"/>
              </a:ext>
            </a:extLst>
          </p:cNvPr>
          <p:cNvSpPr>
            <a:spLocks noGrp="1"/>
          </p:cNvSpPr>
          <p:nvPr/>
        </p:nvSpPr>
        <p:spPr>
          <a:xfrm>
            <a:off x="1504950" y="3724275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설계 결정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3313CC-6C7C-4D73-9E7F-F3D216D3B698}"/>
              </a:ext>
            </a:extLst>
          </p:cNvPr>
          <p:cNvSpPr>
            <a:spLocks noGrp="1"/>
          </p:cNvSpPr>
          <p:nvPr/>
        </p:nvSpPr>
        <p:spPr>
          <a:xfrm>
            <a:off x="3857625" y="3724275"/>
            <a:ext cx="7429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AI는 정리·추천, 담당자는 질문·Fact·판단 검토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AC727D6-A133-450D-9437-0CAEB34D7151}"/>
              </a:ext>
            </a:extLst>
          </p:cNvPr>
          <p:cNvSpPr>
            <a:spLocks noGrp="1"/>
          </p:cNvSpPr>
          <p:nvPr/>
        </p:nvSpPr>
        <p:spPr>
          <a:xfrm>
            <a:off x="666750" y="4562475"/>
            <a:ext cx="10810875" cy="723900"/>
          </a:xfrm>
          <a:prstGeom prst="roundRect">
            <a:avLst>
              <a:gd name="adj" fmla="val 10526"/>
            </a:avLst>
          </a:prstGeom>
          <a:solidFill>
            <a:srgbClr val="F3F7FB"/>
          </a:solidFill>
          <a:ln w="0">
            <a:noFill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61020A-84D0-428F-9528-B24F16C6D2CA}"/>
              </a:ext>
            </a:extLst>
          </p:cNvPr>
          <p:cNvSpPr>
            <a:spLocks noGrp="1"/>
          </p:cNvSpPr>
          <p:nvPr/>
        </p:nvSpPr>
        <p:spPr>
          <a:xfrm>
            <a:off x="838200" y="4724400"/>
            <a:ext cx="590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E0A639-6023-4C8D-B438-9579646B46B1}"/>
              </a:ext>
            </a:extLst>
          </p:cNvPr>
          <p:cNvSpPr>
            <a:spLocks noGrp="1"/>
          </p:cNvSpPr>
          <p:nvPr/>
        </p:nvSpPr>
        <p:spPr>
          <a:xfrm>
            <a:off x="1504950" y="4657725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현재 구조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55396F-A51A-4273-874D-12D39F474F05}"/>
              </a:ext>
            </a:extLst>
          </p:cNvPr>
          <p:cNvSpPr>
            <a:spLocks noGrp="1"/>
          </p:cNvSpPr>
          <p:nvPr/>
        </p:nvSpPr>
        <p:spPr>
          <a:xfrm>
            <a:off x="3857625" y="4657725"/>
            <a:ext cx="7429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담당자 ROOM과 고객 ROOM이 Shared Case 사용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B402E78-9497-41A8-A52F-89F23BA9349F}"/>
              </a:ext>
            </a:extLst>
          </p:cNvPr>
          <p:cNvSpPr>
            <a:spLocks noGrp="1"/>
          </p:cNvSpPr>
          <p:nvPr/>
        </p:nvSpPr>
        <p:spPr>
          <a:xfrm>
            <a:off x="666750" y="5838825"/>
            <a:ext cx="10839450" cy="457200"/>
          </a:xfrm>
          <a:prstGeom prst="roundRect">
            <a:avLst>
              <a:gd name="adj" fmla="val 16667"/>
            </a:avLst>
          </a:prstGeom>
          <a:solidFill>
            <a:srgbClr val="FFF6DE"/>
          </a:solidFill>
          <a:ln w="0">
            <a:noFill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237C0E3-E986-498D-BF3A-1A1B6929A9CC}"/>
              </a:ext>
            </a:extLst>
          </p:cNvPr>
          <p:cNvSpPr>
            <a:spLocks noGrp="1"/>
          </p:cNvSpPr>
          <p:nvPr/>
        </p:nvSpPr>
        <p:spPr>
          <a:xfrm>
            <a:off x="828675" y="5905500"/>
            <a:ext cx="10525125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서비스 발전축과 실제 수행 날짜는 분리하여 설명합니다.</a:t>
            </a:r>
          </a:p>
        </p:txBody>
      </p:sp>
    </p:spTree>
    <p:extLst>
      <p:ext uri="{BB962C8B-B14F-4D97-AF65-F5344CB8AC3E}">
        <p14:creationId xmlns:p14="http://schemas.microsoft.com/office/powerpoint/2010/main" val="3658008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E40E92D9-2696-4C33-9F70-85FC7B7173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88B687-0F09-4888-AF75-F6883979EECA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03 프로젝트 수행 절차 및 방법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C7B781-21DB-4E77-805B-F45E7233A166}"/>
              </a:ext>
            </a:extLst>
          </p:cNvPr>
          <p:cNvSpPr>
            <a:spLocks noGrp="1"/>
          </p:cNvSpPr>
          <p:nvPr/>
        </p:nvSpPr>
        <p:spPr>
          <a:xfrm>
            <a:off x="609600" y="542925"/>
            <a:ext cx="109537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수행 방법: 구조 확인부터 Runtime 검증까지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C9823E-E05F-476A-B671-082DDBC3DA98}"/>
              </a:ext>
            </a:extLst>
          </p:cNvPr>
          <p:cNvSpPr>
            <a:spLocks noGrp="1"/>
          </p:cNvSpPr>
          <p:nvPr/>
        </p:nvSpPr>
        <p:spPr>
          <a:xfrm>
            <a:off x="619125" y="1114425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같은 Case ID로 화면·API·DB·AI 결과가 이어지는지 확인합니다.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96EEF5-2F3D-4D81-9D4F-119E00D7E6F0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1905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C3F476-C711-4AC0-A10C-31411C024B4D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CSR   CASE SHARE ROOM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A8AED6-7734-4CAA-B692-64BAE940FD8C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0B66A8F-1957-4D45-BF38-A356D6218204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33909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E3EE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2A34D9-DA71-496C-BDD9-48751CF68FA6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47625" cy="1143000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5827FF-0D2C-4CAB-8C63-3363A5A4B693}"/>
              </a:ext>
            </a:extLst>
          </p:cNvPr>
          <p:cNvSpPr>
            <a:spLocks noGrp="1"/>
          </p:cNvSpPr>
          <p:nvPr/>
        </p:nvSpPr>
        <p:spPr>
          <a:xfrm>
            <a:off x="895350" y="1981200"/>
            <a:ext cx="29718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01  구조 분석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929EB4-A467-4036-AC89-8D1075623DC2}"/>
              </a:ext>
            </a:extLst>
          </p:cNvPr>
          <p:cNvSpPr>
            <a:spLocks noGrp="1"/>
          </p:cNvSpPr>
          <p:nvPr/>
        </p:nvSpPr>
        <p:spPr>
          <a:xfrm>
            <a:off x="895350" y="238125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기존 파일·호출 경로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77F7A4E-B049-4AB9-A407-58ADC23B755C}"/>
              </a:ext>
            </a:extLst>
          </p:cNvPr>
          <p:cNvSpPr>
            <a:spLocks noGrp="1"/>
          </p:cNvSpPr>
          <p:nvPr/>
        </p:nvSpPr>
        <p:spPr>
          <a:xfrm>
            <a:off x="4333875" y="1828800"/>
            <a:ext cx="33909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E3EE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0D6471-1034-4325-9D67-A49A48F7BA5E}"/>
              </a:ext>
            </a:extLst>
          </p:cNvPr>
          <p:cNvSpPr>
            <a:spLocks noGrp="1"/>
          </p:cNvSpPr>
          <p:nvPr/>
        </p:nvSpPr>
        <p:spPr>
          <a:xfrm>
            <a:off x="4333875" y="1828800"/>
            <a:ext cx="47625" cy="1143000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243ED3-EACB-4617-BD51-9FAE559E0A6F}"/>
              </a:ext>
            </a:extLst>
          </p:cNvPr>
          <p:cNvSpPr>
            <a:spLocks noGrp="1"/>
          </p:cNvSpPr>
          <p:nvPr/>
        </p:nvSpPr>
        <p:spPr>
          <a:xfrm>
            <a:off x="4543425" y="1981200"/>
            <a:ext cx="29718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02  영향 범위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5E02C4-4A38-4574-B20C-93E84BB8205C}"/>
              </a:ext>
            </a:extLst>
          </p:cNvPr>
          <p:cNvSpPr>
            <a:spLocks noGrp="1"/>
          </p:cNvSpPr>
          <p:nvPr/>
        </p:nvSpPr>
        <p:spPr>
          <a:xfrm>
            <a:off x="4543425" y="238125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계약·상태 변화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91E4EEF-75D6-4520-960C-149B49537FD8}"/>
              </a:ext>
            </a:extLst>
          </p:cNvPr>
          <p:cNvSpPr>
            <a:spLocks noGrp="1"/>
          </p:cNvSpPr>
          <p:nvPr/>
        </p:nvSpPr>
        <p:spPr>
          <a:xfrm>
            <a:off x="7981950" y="1828800"/>
            <a:ext cx="33909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E3EE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61038B-83D1-4B62-B03B-F99A5317DD09}"/>
              </a:ext>
            </a:extLst>
          </p:cNvPr>
          <p:cNvSpPr>
            <a:spLocks noGrp="1"/>
          </p:cNvSpPr>
          <p:nvPr/>
        </p:nvSpPr>
        <p:spPr>
          <a:xfrm>
            <a:off x="7981950" y="1828800"/>
            <a:ext cx="47625" cy="1143000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2DBF74-9D23-4090-BCCD-522CC316370C}"/>
              </a:ext>
            </a:extLst>
          </p:cNvPr>
          <p:cNvSpPr>
            <a:spLocks noGrp="1"/>
          </p:cNvSpPr>
          <p:nvPr/>
        </p:nvSpPr>
        <p:spPr>
          <a:xfrm>
            <a:off x="8191500" y="1981200"/>
            <a:ext cx="29718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03  변경 결정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4DF13A-E6D3-4984-BAA6-02ED0D12F64A}"/>
              </a:ext>
            </a:extLst>
          </p:cNvPr>
          <p:cNvSpPr>
            <a:spLocks noGrp="1"/>
          </p:cNvSpPr>
          <p:nvPr/>
        </p:nvSpPr>
        <p:spPr>
          <a:xfrm>
            <a:off x="8191500" y="238125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필요한 부분 확정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8A84550-8EE6-4657-B93A-2CAE172051AF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33909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E3EE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D0ABEF-DECE-47F6-B755-C9C1AE3619C1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47625" cy="1143000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0DD148-C61D-4107-B46F-94F82896A2BE}"/>
              </a:ext>
            </a:extLst>
          </p:cNvPr>
          <p:cNvSpPr>
            <a:spLocks noGrp="1"/>
          </p:cNvSpPr>
          <p:nvPr/>
        </p:nvSpPr>
        <p:spPr>
          <a:xfrm>
            <a:off x="895350" y="3371850"/>
            <a:ext cx="29718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04  최소 구현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FB89CD-8B39-4F69-91D8-6C1CD6DA36B1}"/>
              </a:ext>
            </a:extLst>
          </p:cNvPr>
          <p:cNvSpPr>
            <a:spLocks noGrp="1"/>
          </p:cNvSpPr>
          <p:nvPr/>
        </p:nvSpPr>
        <p:spPr>
          <a:xfrm>
            <a:off x="895350" y="377190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범위 제한 수정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DD4B4E7-C855-4061-A1D9-75F40F91590D}"/>
              </a:ext>
            </a:extLst>
          </p:cNvPr>
          <p:cNvSpPr>
            <a:spLocks noGrp="1"/>
          </p:cNvSpPr>
          <p:nvPr/>
        </p:nvSpPr>
        <p:spPr>
          <a:xfrm>
            <a:off x="4333875" y="3219450"/>
            <a:ext cx="33909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E3EE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28B07D-06BF-4AC3-ADEB-96B4A2F4DE29}"/>
              </a:ext>
            </a:extLst>
          </p:cNvPr>
          <p:cNvSpPr>
            <a:spLocks noGrp="1"/>
          </p:cNvSpPr>
          <p:nvPr/>
        </p:nvSpPr>
        <p:spPr>
          <a:xfrm>
            <a:off x="4333875" y="3219450"/>
            <a:ext cx="47625" cy="1143000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CB8F693-4D09-45A6-80E8-B85152BB0135}"/>
              </a:ext>
            </a:extLst>
          </p:cNvPr>
          <p:cNvSpPr>
            <a:spLocks noGrp="1"/>
          </p:cNvSpPr>
          <p:nvPr/>
        </p:nvSpPr>
        <p:spPr>
          <a:xfrm>
            <a:off x="4543425" y="3371850"/>
            <a:ext cx="29718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05  테스트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250E79-68E0-4216-BE9C-7D9C465588AD}"/>
              </a:ext>
            </a:extLst>
          </p:cNvPr>
          <p:cNvSpPr>
            <a:spLocks noGrp="1"/>
          </p:cNvSpPr>
          <p:nvPr/>
        </p:nvSpPr>
        <p:spPr>
          <a:xfrm>
            <a:off x="4543425" y="377190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기능 단위 확인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1F0E65A-6578-4276-B4D0-D979E400E96E}"/>
              </a:ext>
            </a:extLst>
          </p:cNvPr>
          <p:cNvSpPr>
            <a:spLocks noGrp="1"/>
          </p:cNvSpPr>
          <p:nvPr/>
        </p:nvSpPr>
        <p:spPr>
          <a:xfrm>
            <a:off x="7981950" y="3219450"/>
            <a:ext cx="3390900" cy="1143000"/>
          </a:xfrm>
          <a:prstGeom prst="roundRect">
            <a:avLst>
              <a:gd name="adj" fmla="val 6667"/>
            </a:avLst>
          </a:prstGeom>
          <a:solidFill>
            <a:srgbClr val="E9F3FB"/>
          </a:solidFill>
          <a:ln w="9525">
            <a:solidFill>
              <a:srgbClr val="D7E3EE"/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170E9FD-44B4-4A8F-844C-9E09C4AA3C4E}"/>
              </a:ext>
            </a:extLst>
          </p:cNvPr>
          <p:cNvSpPr>
            <a:spLocks noGrp="1"/>
          </p:cNvSpPr>
          <p:nvPr/>
        </p:nvSpPr>
        <p:spPr>
          <a:xfrm>
            <a:off x="7981950" y="3219450"/>
            <a:ext cx="47625" cy="1143000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1EE2D53-1504-4685-AF64-AFB8D1CB485C}"/>
              </a:ext>
            </a:extLst>
          </p:cNvPr>
          <p:cNvSpPr>
            <a:spLocks noGrp="1"/>
          </p:cNvSpPr>
          <p:nvPr/>
        </p:nvSpPr>
        <p:spPr>
          <a:xfrm>
            <a:off x="8191500" y="3371850"/>
            <a:ext cx="29718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06  Runtime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A842A75-8EA5-4B45-8564-0F0A0045C06E}"/>
              </a:ext>
            </a:extLst>
          </p:cNvPr>
          <p:cNvSpPr>
            <a:spLocks noGrp="1"/>
          </p:cNvSpPr>
          <p:nvPr/>
        </p:nvSpPr>
        <p:spPr>
          <a:xfrm>
            <a:off x="8191500" y="377190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화면·API·DB 검증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4DDBC75-D23C-420D-B6B6-C63B36AB43DC}"/>
              </a:ext>
            </a:extLst>
          </p:cNvPr>
          <p:cNvSpPr>
            <a:spLocks noGrp="1"/>
          </p:cNvSpPr>
          <p:nvPr/>
        </p:nvSpPr>
        <p:spPr>
          <a:xfrm>
            <a:off x="685800" y="4991100"/>
            <a:ext cx="10820400" cy="676275"/>
          </a:xfrm>
          <a:prstGeom prst="roundRect">
            <a:avLst>
              <a:gd name="adj" fmla="val 11268"/>
            </a:avLst>
          </a:prstGeom>
          <a:solidFill>
            <a:srgbClr val="F3F7FB"/>
          </a:solidFill>
          <a:ln w="0">
            <a:noFill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528754-7839-4FBF-B4CA-7DC87A8D7431}"/>
              </a:ext>
            </a:extLst>
          </p:cNvPr>
          <p:cNvSpPr>
            <a:spLocks noGrp="1"/>
          </p:cNvSpPr>
          <p:nvPr/>
        </p:nvSpPr>
        <p:spPr>
          <a:xfrm>
            <a:off x="857250" y="5124450"/>
            <a:ext cx="104584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사전 기획  문제 조사·역할 정의     수행  Frontend·API·AI·DB 연결     완료  제출 후 개선·검증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928AB74-F60B-482F-AB37-031C48EF1C28}"/>
              </a:ext>
            </a:extLst>
          </p:cNvPr>
          <p:cNvSpPr>
            <a:spLocks noGrp="1"/>
          </p:cNvSpPr>
          <p:nvPr/>
        </p:nvSpPr>
        <p:spPr>
          <a:xfrm>
            <a:off x="666750" y="5838825"/>
            <a:ext cx="10839450" cy="457200"/>
          </a:xfrm>
          <a:prstGeom prst="roundRect">
            <a:avLst>
              <a:gd name="adj" fmla="val 16667"/>
            </a:avLst>
          </a:prstGeom>
          <a:solidFill>
            <a:srgbClr val="FFF6DE"/>
          </a:solidFill>
          <a:ln w="0">
            <a:noFill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F486414-D2AB-4B3A-AFBD-D14DD224F188}"/>
              </a:ext>
            </a:extLst>
          </p:cNvPr>
          <p:cNvSpPr>
            <a:spLocks noGrp="1"/>
          </p:cNvSpPr>
          <p:nvPr/>
        </p:nvSpPr>
        <p:spPr>
          <a:xfrm>
            <a:off x="828675" y="5905500"/>
            <a:ext cx="10525125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검증 자료  대표 Case의 동일 ID 화면, 요청·응답, 저장 행, 상태 전이 [확인 필요]</a:t>
            </a:r>
          </a:p>
        </p:txBody>
      </p:sp>
    </p:spTree>
    <p:extLst>
      <p:ext uri="{BB962C8B-B14F-4D97-AF65-F5344CB8AC3E}">
        <p14:creationId xmlns:p14="http://schemas.microsoft.com/office/powerpoint/2010/main" val="6462212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181F3BAB-6A3A-478D-A83E-E12D1E93B6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36D2C7-D793-463A-9C62-0BD0082D190D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04 프로젝트 수행 경과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2233AA-2CFC-4C90-8C2E-A6A082F1172E}"/>
              </a:ext>
            </a:extLst>
          </p:cNvPr>
          <p:cNvSpPr>
            <a:spLocks noGrp="1"/>
          </p:cNvSpPr>
          <p:nvPr/>
        </p:nvSpPr>
        <p:spPr>
          <a:xfrm>
            <a:off x="609600" y="542925"/>
            <a:ext cx="109537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대표 Case로 전체 결과물을 검증합니다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590D9D-051E-4493-AD83-F0C5AD1E6DBA}"/>
              </a:ext>
            </a:extLst>
          </p:cNvPr>
          <p:cNvSpPr>
            <a:spLocks noGrp="1"/>
          </p:cNvSpPr>
          <p:nvPr/>
        </p:nvSpPr>
        <p:spPr>
          <a:xfrm>
            <a:off x="619125" y="1114425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동일한 의심 통화 입력과 Case ID를 기준으로 담당자·고객·DB 상태를 연결합니다.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259E44-E3DB-4853-8171-F351E4634BF8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1905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074742-3F6B-4C28-8634-66E51B08DF41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CSR   CASE SHARE ROOM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B50C28-93D7-4E72-81B8-12BE17F916AB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7A18D87-4E84-4019-8743-7817647B0D45}"/>
              </a:ext>
            </a:extLst>
          </p:cNvPr>
          <p:cNvSpPr>
            <a:spLocks noGrp="1"/>
          </p:cNvSpPr>
          <p:nvPr/>
        </p:nvSpPr>
        <p:spPr>
          <a:xfrm>
            <a:off x="695325" y="1838325"/>
            <a:ext cx="10801350" cy="885825"/>
          </a:xfrm>
          <a:prstGeom prst="roundRect">
            <a:avLst>
              <a:gd name="adj" fmla="val 8602"/>
            </a:avLst>
          </a:prstGeom>
          <a:solidFill>
            <a:srgbClr val="112B5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503F9A-E5E9-432A-A5ED-62B38D91DA14}"/>
              </a:ext>
            </a:extLst>
          </p:cNvPr>
          <p:cNvSpPr>
            <a:spLocks noGrp="1"/>
          </p:cNvSpPr>
          <p:nvPr/>
        </p:nvSpPr>
        <p:spPr>
          <a:xfrm>
            <a:off x="962025" y="2009775"/>
            <a:ext cx="102679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“검찰 수사관입니다. 안전계좌로 자금을 옮기세요.”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1DFEB87-E2E4-4FF5-BCA7-28BB536FB23B}"/>
              </a:ext>
            </a:extLst>
          </p:cNvPr>
          <p:cNvSpPr>
            <a:spLocks noGrp="1"/>
          </p:cNvSpPr>
          <p:nvPr/>
        </p:nvSpPr>
        <p:spPr>
          <a:xfrm>
            <a:off x="695325" y="3048000"/>
            <a:ext cx="3390900" cy="1504950"/>
          </a:xfrm>
          <a:prstGeom prst="roundRect">
            <a:avLst>
              <a:gd name="adj" fmla="val 5063"/>
            </a:avLst>
          </a:prstGeom>
          <a:solidFill>
            <a:srgbClr val="F3F7FB"/>
          </a:solidFill>
          <a:ln w="9525">
            <a:solidFill>
              <a:srgbClr val="D7E3EE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509A63-F261-4D34-916F-26239B81C44E}"/>
              </a:ext>
            </a:extLst>
          </p:cNvPr>
          <p:cNvSpPr>
            <a:spLocks noGrp="1"/>
          </p:cNvSpPr>
          <p:nvPr/>
        </p:nvSpPr>
        <p:spPr>
          <a:xfrm>
            <a:off x="695325" y="3048000"/>
            <a:ext cx="47625" cy="1504950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60CD19-B235-435F-9C8B-3DE256BCA2C3}"/>
              </a:ext>
            </a:extLst>
          </p:cNvPr>
          <p:cNvSpPr>
            <a:spLocks noGrp="1"/>
          </p:cNvSpPr>
          <p:nvPr/>
        </p:nvSpPr>
        <p:spPr>
          <a:xfrm>
            <a:off x="904875" y="3200400"/>
            <a:ext cx="29718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5C105E-3DCE-494F-909B-F93A22B0A2C9}"/>
              </a:ext>
            </a:extLst>
          </p:cNvPr>
          <p:cNvSpPr>
            <a:spLocks noGrp="1"/>
          </p:cNvSpPr>
          <p:nvPr/>
        </p:nvSpPr>
        <p:spPr>
          <a:xfrm>
            <a:off x="904875" y="3600450"/>
            <a:ext cx="2971800" cy="819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Demo 통화 텍스트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EE7D206-B416-4E74-9C26-BA2E4A6D13CF}"/>
              </a:ext>
            </a:extLst>
          </p:cNvPr>
          <p:cNvSpPr>
            <a:spLocks noGrp="1"/>
          </p:cNvSpPr>
          <p:nvPr/>
        </p:nvSpPr>
        <p:spPr>
          <a:xfrm>
            <a:off x="4371975" y="3048000"/>
            <a:ext cx="3390900" cy="1504950"/>
          </a:xfrm>
          <a:prstGeom prst="roundRect">
            <a:avLst>
              <a:gd name="adj" fmla="val 5063"/>
            </a:avLst>
          </a:prstGeom>
          <a:solidFill>
            <a:srgbClr val="F3F7FB"/>
          </a:solidFill>
          <a:ln w="9525">
            <a:solidFill>
              <a:srgbClr val="D7E3EE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BFD593-61B3-4B1B-876B-3E89AE023124}"/>
              </a:ext>
            </a:extLst>
          </p:cNvPr>
          <p:cNvSpPr>
            <a:spLocks noGrp="1"/>
          </p:cNvSpPr>
          <p:nvPr/>
        </p:nvSpPr>
        <p:spPr>
          <a:xfrm>
            <a:off x="4371975" y="3048000"/>
            <a:ext cx="47625" cy="1504950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53A595-5E4B-4EB1-997C-631EF3A386C0}"/>
              </a:ext>
            </a:extLst>
          </p:cNvPr>
          <p:cNvSpPr>
            <a:spLocks noGrp="1"/>
          </p:cNvSpPr>
          <p:nvPr/>
        </p:nvSpPr>
        <p:spPr>
          <a:xfrm>
            <a:off x="4581525" y="3200400"/>
            <a:ext cx="29718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초기 상태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178407-0A52-4AE5-8B0F-7E5472ED34A3}"/>
              </a:ext>
            </a:extLst>
          </p:cNvPr>
          <p:cNvSpPr>
            <a:spLocks noGrp="1"/>
          </p:cNvSpPr>
          <p:nvPr/>
        </p:nvSpPr>
        <p:spPr>
          <a:xfrm>
            <a:off x="4581525" y="3600450"/>
            <a:ext cx="2971800" cy="819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위험 신호·미확인 정보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7034FFF-2560-41A7-9C1C-5EA6E5AD61A1}"/>
              </a:ext>
            </a:extLst>
          </p:cNvPr>
          <p:cNvSpPr>
            <a:spLocks noGrp="1"/>
          </p:cNvSpPr>
          <p:nvPr/>
        </p:nvSpPr>
        <p:spPr>
          <a:xfrm>
            <a:off x="8048625" y="3048000"/>
            <a:ext cx="3390900" cy="1504950"/>
          </a:xfrm>
          <a:prstGeom prst="roundRect">
            <a:avLst>
              <a:gd name="adj" fmla="val 5063"/>
            </a:avLst>
          </a:prstGeom>
          <a:solidFill>
            <a:srgbClr val="FFF6DE"/>
          </a:solidFill>
          <a:ln w="9525">
            <a:solidFill>
              <a:srgbClr val="D7E3EE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3374EA-E9D6-4146-8B19-BE607B630139}"/>
              </a:ext>
            </a:extLst>
          </p:cNvPr>
          <p:cNvSpPr>
            <a:spLocks noGrp="1"/>
          </p:cNvSpPr>
          <p:nvPr/>
        </p:nvSpPr>
        <p:spPr>
          <a:xfrm>
            <a:off x="8048625" y="3048000"/>
            <a:ext cx="47625" cy="1504950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C881F3-6D78-4CD5-8610-7402DA06B2C9}"/>
              </a:ext>
            </a:extLst>
          </p:cNvPr>
          <p:cNvSpPr>
            <a:spLocks noGrp="1"/>
          </p:cNvSpPr>
          <p:nvPr/>
        </p:nvSpPr>
        <p:spPr>
          <a:xfrm>
            <a:off x="8258175" y="3200400"/>
            <a:ext cx="29718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기준 ID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71BEBB-9228-4990-A78F-F9A9E1BC6258}"/>
              </a:ext>
            </a:extLst>
          </p:cNvPr>
          <p:cNvSpPr>
            <a:spLocks noGrp="1"/>
          </p:cNvSpPr>
          <p:nvPr/>
        </p:nvSpPr>
        <p:spPr>
          <a:xfrm>
            <a:off x="8258175" y="3600450"/>
            <a:ext cx="2971800" cy="819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[대표 Case ID 확인 필요]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6D09602-A68A-4EC5-8125-A101541EFDD8}"/>
              </a:ext>
            </a:extLst>
          </p:cNvPr>
          <p:cNvSpPr>
            <a:spLocks noGrp="1"/>
          </p:cNvSpPr>
          <p:nvPr/>
        </p:nvSpPr>
        <p:spPr>
          <a:xfrm>
            <a:off x="695325" y="4772025"/>
            <a:ext cx="10801350" cy="866775"/>
          </a:xfrm>
          <a:prstGeom prst="roundRect">
            <a:avLst>
              <a:gd name="adj" fmla="val 8791"/>
            </a:avLst>
          </a:prstGeom>
          <a:solidFill>
            <a:srgbClr val="F3F7FB"/>
          </a:solidFill>
          <a:ln w="9525">
            <a:solidFill>
              <a:srgbClr val="D7E3EE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B79B4E-E168-436C-946E-89EB91577FE8}"/>
              </a:ext>
            </a:extLst>
          </p:cNvPr>
          <p:cNvSpPr>
            <a:spLocks noGrp="1"/>
          </p:cNvSpPr>
          <p:nvPr/>
        </p:nvSpPr>
        <p:spPr>
          <a:xfrm>
            <a:off x="885825" y="4895850"/>
            <a:ext cx="10420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[실제 화면 추가 예정]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A479B2-F1B7-493D-8B2D-C4A8DABC29DC}"/>
              </a:ext>
            </a:extLst>
          </p:cNvPr>
          <p:cNvSpPr>
            <a:spLocks noGrp="1"/>
          </p:cNvSpPr>
          <p:nvPr/>
        </p:nvSpPr>
        <p:spPr>
          <a:xfrm>
            <a:off x="885825" y="5257800"/>
            <a:ext cx="104203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같은 입력 전후 화면과 Case ID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D3FCEAC-2328-4745-AEC5-633B631335F0}"/>
              </a:ext>
            </a:extLst>
          </p:cNvPr>
          <p:cNvSpPr>
            <a:spLocks noGrp="1"/>
          </p:cNvSpPr>
          <p:nvPr/>
        </p:nvSpPr>
        <p:spPr>
          <a:xfrm>
            <a:off x="666750" y="5838825"/>
            <a:ext cx="10839450" cy="457200"/>
          </a:xfrm>
          <a:prstGeom prst="roundRect">
            <a:avLst>
              <a:gd name="adj" fmla="val 16667"/>
            </a:avLst>
          </a:prstGeom>
          <a:solidFill>
            <a:srgbClr val="FFF6DE"/>
          </a:solidFill>
          <a:ln w="0">
            <a:noFill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E67D6C3-042B-4D5A-8496-89B974BC566F}"/>
              </a:ext>
            </a:extLst>
          </p:cNvPr>
          <p:cNvSpPr>
            <a:spLocks noGrp="1"/>
          </p:cNvSpPr>
          <p:nvPr/>
        </p:nvSpPr>
        <p:spPr>
          <a:xfrm>
            <a:off x="828675" y="5905500"/>
            <a:ext cx="10525125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현재 HomePage 텍스트 입력은 Demo Adapter 경로로 설명합니다.</a:t>
            </a:r>
          </a:p>
        </p:txBody>
      </p:sp>
    </p:spTree>
    <p:extLst>
      <p:ext uri="{BB962C8B-B14F-4D97-AF65-F5344CB8AC3E}">
        <p14:creationId xmlns:p14="http://schemas.microsoft.com/office/powerpoint/2010/main" val="777296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781EFB2-55C5-44A8-8C58-16355BCC34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D9C956-2233-4906-ADC1-E8AE856DC02C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04 프로젝트 수행 경과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3DA33F-07B4-4A85-922D-C3AEE7B218B4}"/>
              </a:ext>
            </a:extLst>
          </p:cNvPr>
          <p:cNvSpPr>
            <a:spLocks noGrp="1"/>
          </p:cNvSpPr>
          <p:nvPr/>
        </p:nvSpPr>
        <p:spPr>
          <a:xfrm>
            <a:off x="609600" y="542925"/>
            <a:ext cx="109537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1. 위험 입력과 Case 생성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F203E9-D5C4-4D7D-B803-6AE40E6E2C2C}"/>
              </a:ext>
            </a:extLst>
          </p:cNvPr>
          <p:cNvSpPr>
            <a:spLocks noGrp="1"/>
          </p:cNvSpPr>
          <p:nvPr/>
        </p:nvSpPr>
        <p:spPr>
          <a:xfrm>
            <a:off x="619125" y="1114425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의심 건은 조사 대상 Case로 전환하고, 정상 건은 NO_CASE 흐름으로 구분합니다.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04AC24-B3F6-4C9E-BE0A-604F352ACE65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1905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2A65D6-FFC7-4C46-B93C-B76044481735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CSR   CASE SHARE ROOM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1ECA0E-92EF-4D3E-9F9D-BF856D9ACBB3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42D618D-5385-4CD9-A224-9D388134ED75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10810875" cy="723900"/>
          </a:xfrm>
          <a:prstGeom prst="roundRect">
            <a:avLst>
              <a:gd name="adj" fmla="val 10526"/>
            </a:avLst>
          </a:prstGeom>
          <a:solidFill>
            <a:srgbClr val="F3F7FB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43F556-7CB6-4E42-8027-1E631F9D665B}"/>
              </a:ext>
            </a:extLst>
          </p:cNvPr>
          <p:cNvSpPr>
            <a:spLocks noGrp="1"/>
          </p:cNvSpPr>
          <p:nvPr/>
        </p:nvSpPr>
        <p:spPr>
          <a:xfrm>
            <a:off x="838200" y="1971675"/>
            <a:ext cx="590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378E4B-834B-4F0F-B8D6-06B7E40CEE77}"/>
              </a:ext>
            </a:extLst>
          </p:cNvPr>
          <p:cNvSpPr>
            <a:spLocks noGrp="1"/>
          </p:cNvSpPr>
          <p:nvPr/>
        </p:nvSpPr>
        <p:spPr>
          <a:xfrm>
            <a:off x="1504950" y="190500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8F47FE-552A-4179-8335-7D53B98FF910}"/>
              </a:ext>
            </a:extLst>
          </p:cNvPr>
          <p:cNvSpPr>
            <a:spLocks noGrp="1"/>
          </p:cNvSpPr>
          <p:nvPr/>
        </p:nvSpPr>
        <p:spPr>
          <a:xfrm>
            <a:off x="3857625" y="1905000"/>
            <a:ext cx="7429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Demo 통화 텍스트 및 위험 표현 확인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F58725F-A1BF-4F69-8750-59FE493AA4CE}"/>
              </a:ext>
            </a:extLst>
          </p:cNvPr>
          <p:cNvSpPr>
            <a:spLocks noGrp="1"/>
          </p:cNvSpPr>
          <p:nvPr/>
        </p:nvSpPr>
        <p:spPr>
          <a:xfrm>
            <a:off x="666750" y="2695575"/>
            <a:ext cx="10810875" cy="723900"/>
          </a:xfrm>
          <a:prstGeom prst="roundRect">
            <a:avLst>
              <a:gd name="adj" fmla="val 10526"/>
            </a:avLst>
          </a:prstGeom>
          <a:solidFill>
            <a:srgbClr val="E9F3FB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0C331E-46CE-46F2-9F48-3BFAC9B0F867}"/>
              </a:ext>
            </a:extLst>
          </p:cNvPr>
          <p:cNvSpPr>
            <a:spLocks noGrp="1"/>
          </p:cNvSpPr>
          <p:nvPr/>
        </p:nvSpPr>
        <p:spPr>
          <a:xfrm>
            <a:off x="838200" y="2857500"/>
            <a:ext cx="590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13F33C-A5A4-4BAE-BDE4-102FC3F44F34}"/>
              </a:ext>
            </a:extLst>
          </p:cNvPr>
          <p:cNvSpPr>
            <a:spLocks noGrp="1"/>
          </p:cNvSpPr>
          <p:nvPr/>
        </p:nvSpPr>
        <p:spPr>
          <a:xfrm>
            <a:off x="1504950" y="2790825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분석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B5E61C-0CD8-446F-89AE-01402CF1FDBE}"/>
              </a:ext>
            </a:extLst>
          </p:cNvPr>
          <p:cNvSpPr>
            <a:spLocks noGrp="1"/>
          </p:cNvSpPr>
          <p:nvPr/>
        </p:nvSpPr>
        <p:spPr>
          <a:xfrm>
            <a:off x="3857625" y="2790825"/>
            <a:ext cx="7429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AI 위험 분석과 초기 사건 정보 구조화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F9BB5D6-98A9-4C49-A581-A02EED14716E}"/>
              </a:ext>
            </a:extLst>
          </p:cNvPr>
          <p:cNvSpPr>
            <a:spLocks noGrp="1"/>
          </p:cNvSpPr>
          <p:nvPr/>
        </p:nvSpPr>
        <p:spPr>
          <a:xfrm>
            <a:off x="666750" y="3581400"/>
            <a:ext cx="10810875" cy="723900"/>
          </a:xfrm>
          <a:prstGeom prst="roundRect">
            <a:avLst>
              <a:gd name="adj" fmla="val 10526"/>
            </a:avLst>
          </a:prstGeom>
          <a:solidFill>
            <a:srgbClr val="F3F7FB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9D4FE7-5368-4B6E-9ACB-2EFACE244B3E}"/>
              </a:ext>
            </a:extLst>
          </p:cNvPr>
          <p:cNvSpPr>
            <a:spLocks noGrp="1"/>
          </p:cNvSpPr>
          <p:nvPr/>
        </p:nvSpPr>
        <p:spPr>
          <a:xfrm>
            <a:off x="838200" y="3743325"/>
            <a:ext cx="590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E40C4C-6973-409B-A630-39A066C97209}"/>
              </a:ext>
            </a:extLst>
          </p:cNvPr>
          <p:cNvSpPr>
            <a:spLocks noGrp="1"/>
          </p:cNvSpPr>
          <p:nvPr/>
        </p:nvSpPr>
        <p:spPr>
          <a:xfrm>
            <a:off x="1504950" y="367665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생성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5F78F2-0653-493C-AAE7-3E7AE800A0D2}"/>
              </a:ext>
            </a:extLst>
          </p:cNvPr>
          <p:cNvSpPr>
            <a:spLocks noGrp="1"/>
          </p:cNvSpPr>
          <p:nvPr/>
        </p:nvSpPr>
        <p:spPr>
          <a:xfrm>
            <a:off x="3857625" y="3676650"/>
            <a:ext cx="7429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Case ID, 초기 Brief, 이벤트 기록 [저장 범위 확인 필요]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2BC1129-B90E-4FF9-B7B6-07457C28BDAA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10820400" cy="1057275"/>
          </a:xfrm>
          <a:prstGeom prst="roundRect">
            <a:avLst>
              <a:gd name="adj" fmla="val 7207"/>
            </a:avLst>
          </a:prstGeom>
          <a:solidFill>
            <a:srgbClr val="F3F7FB"/>
          </a:solidFill>
          <a:ln w="9525">
            <a:solidFill>
              <a:srgbClr val="D7E3EE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95B0F3-AFDB-4591-849B-C349387E4B90}"/>
              </a:ext>
            </a:extLst>
          </p:cNvPr>
          <p:cNvSpPr>
            <a:spLocks noGrp="1"/>
          </p:cNvSpPr>
          <p:nvPr/>
        </p:nvSpPr>
        <p:spPr>
          <a:xfrm>
            <a:off x="876300" y="4738688"/>
            <a:ext cx="104394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[실제 화면 추가 예정]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155052F-04E9-4A72-B860-F35517C5B7CA}"/>
              </a:ext>
            </a:extLst>
          </p:cNvPr>
          <p:cNvSpPr>
            <a:spLocks noGrp="1"/>
          </p:cNvSpPr>
          <p:nvPr/>
        </p:nvSpPr>
        <p:spPr>
          <a:xfrm>
            <a:off x="876300" y="5119688"/>
            <a:ext cx="10439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Case 생성 전후 실제 화면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354F7EE-0CFE-404C-AC19-E53A9CD6CC39}"/>
              </a:ext>
            </a:extLst>
          </p:cNvPr>
          <p:cNvSpPr>
            <a:spLocks noGrp="1"/>
          </p:cNvSpPr>
          <p:nvPr/>
        </p:nvSpPr>
        <p:spPr>
          <a:xfrm>
            <a:off x="666750" y="5838825"/>
            <a:ext cx="10839450" cy="457200"/>
          </a:xfrm>
          <a:prstGeom prst="roundRect">
            <a:avLst>
              <a:gd name="adj" fmla="val 16667"/>
            </a:avLst>
          </a:prstGeom>
          <a:solidFill>
            <a:srgbClr val="FFF6DE"/>
          </a:solidFill>
          <a:ln w="0">
            <a:noFill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5B4494F-53A7-4346-A1AD-2B720D280BD6}"/>
              </a:ext>
            </a:extLst>
          </p:cNvPr>
          <p:cNvSpPr>
            <a:spLocks noGrp="1"/>
          </p:cNvSpPr>
          <p:nvPr/>
        </p:nvSpPr>
        <p:spPr>
          <a:xfrm>
            <a:off x="828675" y="5905500"/>
            <a:ext cx="10525125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테이블명·상태값은 최종 migration과 실제 요청·응답으로 확정합니다.</a:t>
            </a:r>
          </a:p>
        </p:txBody>
      </p:sp>
    </p:spTree>
    <p:extLst>
      <p:ext uri="{BB962C8B-B14F-4D97-AF65-F5344CB8AC3E}">
        <p14:creationId xmlns:p14="http://schemas.microsoft.com/office/powerpoint/2010/main" val="10578514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DC55CD1C-32C5-4FDF-ABAB-F3A8566704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8E4AEB-5E50-49A7-A759-56E46D453978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04 프로젝트 수행 경과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DB2738-A3AF-415D-B0B7-0B900BDE0F6B}"/>
              </a:ext>
            </a:extLst>
          </p:cNvPr>
          <p:cNvSpPr>
            <a:spLocks noGrp="1"/>
          </p:cNvSpPr>
          <p:nvPr/>
        </p:nvSpPr>
        <p:spPr>
          <a:xfrm>
            <a:off x="609600" y="542925"/>
            <a:ext cx="109537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2. 담당자 ROOM에서 근거와 미확인 사항 확인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37F536-A54E-4278-900F-E0843DAD8AF8}"/>
              </a:ext>
            </a:extLst>
          </p:cNvPr>
          <p:cNvSpPr>
            <a:spLocks noGrp="1"/>
          </p:cNvSpPr>
          <p:nvPr/>
        </p:nvSpPr>
        <p:spPr>
          <a:xfrm>
            <a:off x="619125" y="1114425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AI Brief와 원본 Evidence를 함께 열고 고객에게 확인할 사실을 찾습니다.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413970-C1F2-47AE-AE5B-C1ECCB4677AA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1905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326103-6F0E-44A5-820D-9213B2149F31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CSR   CASE SHARE ROOM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BFC152-4CDC-4D3C-989A-9DC3D49972D0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AB92559-5020-4B9E-A77D-6B79B698E90E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6829425" cy="3400425"/>
          </a:xfrm>
          <a:prstGeom prst="roundRect">
            <a:avLst>
              <a:gd name="adj" fmla="val 2241"/>
            </a:avLst>
          </a:prstGeom>
          <a:solidFill>
            <a:srgbClr val="F3F7FB"/>
          </a:solidFill>
          <a:ln w="9525">
            <a:solidFill>
              <a:srgbClr val="D7E3EE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B00040-513E-40CC-AE6D-851408850975}"/>
              </a:ext>
            </a:extLst>
          </p:cNvPr>
          <p:cNvSpPr>
            <a:spLocks noGrp="1"/>
          </p:cNvSpPr>
          <p:nvPr/>
        </p:nvSpPr>
        <p:spPr>
          <a:xfrm>
            <a:off x="876300" y="3128963"/>
            <a:ext cx="64484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[실제 화면 추가 예정]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BF1BE3-0166-4330-BD9F-7C58B7B9978F}"/>
              </a:ext>
            </a:extLst>
          </p:cNvPr>
          <p:cNvSpPr>
            <a:spLocks noGrp="1"/>
          </p:cNvSpPr>
          <p:nvPr/>
        </p:nvSpPr>
        <p:spPr>
          <a:xfrm>
            <a:off x="876300" y="3509963"/>
            <a:ext cx="64484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담당자 ROOM 실제 화면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CD4C4-140A-4DD6-A5BF-5D54B13300CB}"/>
              </a:ext>
            </a:extLst>
          </p:cNvPr>
          <p:cNvSpPr>
            <a:spLocks noGrp="1"/>
          </p:cNvSpPr>
          <p:nvPr/>
        </p:nvSpPr>
        <p:spPr>
          <a:xfrm>
            <a:off x="876300" y="4772025"/>
            <a:ext cx="64484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제목·AI Brief·Evidence·질문 상태·공개 범위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F40A4EB-DBD7-4A97-BCCA-6F37E46C6C39}"/>
              </a:ext>
            </a:extLst>
          </p:cNvPr>
          <p:cNvSpPr>
            <a:spLocks noGrp="1"/>
          </p:cNvSpPr>
          <p:nvPr/>
        </p:nvSpPr>
        <p:spPr>
          <a:xfrm>
            <a:off x="7781925" y="1828800"/>
            <a:ext cx="3724275" cy="962025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9525">
            <a:solidFill>
              <a:srgbClr val="D7E3EE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462523-CEC9-4D2C-8E49-535A630FFCCE}"/>
              </a:ext>
            </a:extLst>
          </p:cNvPr>
          <p:cNvSpPr>
            <a:spLocks noGrp="1"/>
          </p:cNvSpPr>
          <p:nvPr/>
        </p:nvSpPr>
        <p:spPr>
          <a:xfrm>
            <a:off x="7781925" y="1828800"/>
            <a:ext cx="47625" cy="962025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2A630A-81EB-4FD7-B6EA-4E9E1D642920}"/>
              </a:ext>
            </a:extLst>
          </p:cNvPr>
          <p:cNvSpPr>
            <a:spLocks noGrp="1"/>
          </p:cNvSpPr>
          <p:nvPr/>
        </p:nvSpPr>
        <p:spPr>
          <a:xfrm>
            <a:off x="7991475" y="1981200"/>
            <a:ext cx="33051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AI Brief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F334EE-A32B-4B51-82D2-9A83F95407F1}"/>
              </a:ext>
            </a:extLst>
          </p:cNvPr>
          <p:cNvSpPr>
            <a:spLocks noGrp="1"/>
          </p:cNvSpPr>
          <p:nvPr/>
        </p:nvSpPr>
        <p:spPr>
          <a:xfrm>
            <a:off x="7991475" y="2381250"/>
            <a:ext cx="3305175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사건 요약과 미확인 사항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9FDBE2C-64D5-40EE-9E8A-32E6C8EE3E9D}"/>
              </a:ext>
            </a:extLst>
          </p:cNvPr>
          <p:cNvSpPr>
            <a:spLocks noGrp="1"/>
          </p:cNvSpPr>
          <p:nvPr/>
        </p:nvSpPr>
        <p:spPr>
          <a:xfrm>
            <a:off x="7781925" y="2952750"/>
            <a:ext cx="3724275" cy="962025"/>
          </a:xfrm>
          <a:prstGeom prst="roundRect">
            <a:avLst>
              <a:gd name="adj" fmla="val 7921"/>
            </a:avLst>
          </a:prstGeom>
          <a:solidFill>
            <a:srgbClr val="F3F7FB"/>
          </a:solidFill>
          <a:ln w="9525">
            <a:solidFill>
              <a:srgbClr val="D7E3EE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F3ADE9-4E72-44E7-A30A-E28819809714}"/>
              </a:ext>
            </a:extLst>
          </p:cNvPr>
          <p:cNvSpPr>
            <a:spLocks noGrp="1"/>
          </p:cNvSpPr>
          <p:nvPr/>
        </p:nvSpPr>
        <p:spPr>
          <a:xfrm>
            <a:off x="7781925" y="2952750"/>
            <a:ext cx="47625" cy="962025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3BF736-EE9E-4B0D-B5D7-9CA3DBC0D47C}"/>
              </a:ext>
            </a:extLst>
          </p:cNvPr>
          <p:cNvSpPr>
            <a:spLocks noGrp="1"/>
          </p:cNvSpPr>
          <p:nvPr/>
        </p:nvSpPr>
        <p:spPr>
          <a:xfrm>
            <a:off x="7991475" y="3105150"/>
            <a:ext cx="33051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원본 Evidence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DEB99A-8E41-46C9-BE34-C9AA71CB212E}"/>
              </a:ext>
            </a:extLst>
          </p:cNvPr>
          <p:cNvSpPr>
            <a:spLocks noGrp="1"/>
          </p:cNvSpPr>
          <p:nvPr/>
        </p:nvSpPr>
        <p:spPr>
          <a:xfrm>
            <a:off x="7991475" y="3505200"/>
            <a:ext cx="3305175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통화/STT·참고 거래 정보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9C92E69-040F-41B8-9A97-44E0446B30FB}"/>
              </a:ext>
            </a:extLst>
          </p:cNvPr>
          <p:cNvSpPr>
            <a:spLocks noGrp="1"/>
          </p:cNvSpPr>
          <p:nvPr/>
        </p:nvSpPr>
        <p:spPr>
          <a:xfrm>
            <a:off x="7781925" y="4076700"/>
            <a:ext cx="3724275" cy="1152525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9525">
            <a:solidFill>
              <a:srgbClr val="D7E3EE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A22D3AF-9E8A-424A-B9DC-002D794EF063}"/>
              </a:ext>
            </a:extLst>
          </p:cNvPr>
          <p:cNvSpPr>
            <a:spLocks noGrp="1"/>
          </p:cNvSpPr>
          <p:nvPr/>
        </p:nvSpPr>
        <p:spPr>
          <a:xfrm>
            <a:off x="7781925" y="4076700"/>
            <a:ext cx="47625" cy="1152525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542B54-DAF4-4BDB-AD4F-7FD525D8E371}"/>
              </a:ext>
            </a:extLst>
          </p:cNvPr>
          <p:cNvSpPr>
            <a:spLocks noGrp="1"/>
          </p:cNvSpPr>
          <p:nvPr/>
        </p:nvSpPr>
        <p:spPr>
          <a:xfrm>
            <a:off x="7991475" y="4229100"/>
            <a:ext cx="33051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공개 범위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D30FAC-02CA-46A3-87BD-EED2A0F9D6EE}"/>
              </a:ext>
            </a:extLst>
          </p:cNvPr>
          <p:cNvSpPr>
            <a:spLocks noGrp="1"/>
          </p:cNvSpPr>
          <p:nvPr/>
        </p:nvSpPr>
        <p:spPr>
          <a:xfrm>
            <a:off x="7991475" y="4629150"/>
            <a:ext cx="3305175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TEAM 내부와 CUSTOMER 공개 구분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46F1885-B13D-4A2A-8091-494C94BAEE8C}"/>
              </a:ext>
            </a:extLst>
          </p:cNvPr>
          <p:cNvSpPr>
            <a:spLocks noGrp="1"/>
          </p:cNvSpPr>
          <p:nvPr/>
        </p:nvSpPr>
        <p:spPr>
          <a:xfrm>
            <a:off x="666750" y="5838825"/>
            <a:ext cx="10839450" cy="457200"/>
          </a:xfrm>
          <a:prstGeom prst="roundRect">
            <a:avLst>
              <a:gd name="adj" fmla="val 16667"/>
            </a:avLst>
          </a:prstGeom>
          <a:solidFill>
            <a:srgbClr val="FFF6DE"/>
          </a:solidFill>
          <a:ln w="0">
            <a:noFill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F3F568B-DC56-45B9-BA46-DB0EC34D0E3B}"/>
              </a:ext>
            </a:extLst>
          </p:cNvPr>
          <p:cNvSpPr>
            <a:spLocks noGrp="1"/>
          </p:cNvSpPr>
          <p:nvPr/>
        </p:nvSpPr>
        <p:spPr>
          <a:xfrm>
            <a:off x="828675" y="5905500"/>
            <a:ext cx="10525125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일부 FDS·계좌·거래 카드는 Mock/Demo일 수 있어 실제 연결 여부를 캡션에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1968854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59C571E5-E8A8-4F38-A0AB-CAB1C75A2F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889A80-809F-42FE-BF44-B9903FC75A08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04 프로젝트 수행 경과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907FE4-741C-4D45-ABAA-BE61E69BB885}"/>
              </a:ext>
            </a:extLst>
          </p:cNvPr>
          <p:cNvSpPr>
            <a:spLocks noGrp="1"/>
          </p:cNvSpPr>
          <p:nvPr/>
        </p:nvSpPr>
        <p:spPr>
          <a:xfrm>
            <a:off x="609600" y="542925"/>
            <a:ext cx="109537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3. 질문 추천은 담당자 검토 후 고객에게 전달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D8AD77-8707-4F31-927D-EEF63949E8F8}"/>
              </a:ext>
            </a:extLst>
          </p:cNvPr>
          <p:cNvSpPr>
            <a:spLocks noGrp="1"/>
          </p:cNvSpPr>
          <p:nvPr/>
        </p:nvSpPr>
        <p:spPr>
          <a:xfrm>
            <a:off x="619125" y="1114425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AI는 Case Context의 미확인 사항을 바탕으로 초안을 만들고 담당자가 선택·수정합니다.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67258F-C687-4565-A244-1BBE36DA9AF2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1905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65080A-7F1B-4171-BA39-0C04FCFF5C2D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CSR   CASE SHARE ROOM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47EA8E-5B94-4147-8F5F-C74A314DE8B3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D72D8EE-FB1D-4EA4-9713-8C61BDB891D2}"/>
              </a:ext>
            </a:extLst>
          </p:cNvPr>
          <p:cNvSpPr>
            <a:spLocks noGrp="1"/>
          </p:cNvSpPr>
          <p:nvPr/>
        </p:nvSpPr>
        <p:spPr>
          <a:xfrm>
            <a:off x="666750" y="1704975"/>
            <a:ext cx="10810875" cy="723900"/>
          </a:xfrm>
          <a:prstGeom prst="roundRect">
            <a:avLst>
              <a:gd name="adj" fmla="val 10526"/>
            </a:avLst>
          </a:prstGeom>
          <a:solidFill>
            <a:srgbClr val="F3F7FB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4DDCC0-DD1C-43C2-BDA7-F154ECDC7C22}"/>
              </a:ext>
            </a:extLst>
          </p:cNvPr>
          <p:cNvSpPr>
            <a:spLocks noGrp="1"/>
          </p:cNvSpPr>
          <p:nvPr/>
        </p:nvSpPr>
        <p:spPr>
          <a:xfrm>
            <a:off x="838200" y="1866900"/>
            <a:ext cx="590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C54397-BE0A-4CE4-84F8-51F68AA24060}"/>
              </a:ext>
            </a:extLst>
          </p:cNvPr>
          <p:cNvSpPr>
            <a:spLocks noGrp="1"/>
          </p:cNvSpPr>
          <p:nvPr/>
        </p:nvSpPr>
        <p:spPr>
          <a:xfrm>
            <a:off x="1504950" y="1800225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Case Context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CE939C-164B-48DD-9A4B-0FF5350D65FC}"/>
              </a:ext>
            </a:extLst>
          </p:cNvPr>
          <p:cNvSpPr>
            <a:spLocks noGrp="1"/>
          </p:cNvSpPr>
          <p:nvPr/>
        </p:nvSpPr>
        <p:spPr>
          <a:xfrm>
            <a:off x="3857625" y="1800225"/>
            <a:ext cx="7429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이미 확인된 정보·미확인 사항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388D93E-C31E-4FA2-8692-0D7260F80EB2}"/>
              </a:ext>
            </a:extLst>
          </p:cNvPr>
          <p:cNvSpPr>
            <a:spLocks noGrp="1"/>
          </p:cNvSpPr>
          <p:nvPr/>
        </p:nvSpPr>
        <p:spPr>
          <a:xfrm>
            <a:off x="666750" y="2533650"/>
            <a:ext cx="10810875" cy="723900"/>
          </a:xfrm>
          <a:prstGeom prst="roundRect">
            <a:avLst>
              <a:gd name="adj" fmla="val 10526"/>
            </a:avLst>
          </a:prstGeom>
          <a:solidFill>
            <a:srgbClr val="F3F7FB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8D792E-D9ED-4025-9CE6-1D96E0AC0125}"/>
              </a:ext>
            </a:extLst>
          </p:cNvPr>
          <p:cNvSpPr>
            <a:spLocks noGrp="1"/>
          </p:cNvSpPr>
          <p:nvPr/>
        </p:nvSpPr>
        <p:spPr>
          <a:xfrm>
            <a:off x="838200" y="2695575"/>
            <a:ext cx="590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C9F348-07CA-4119-A79D-0673A5DEE238}"/>
              </a:ext>
            </a:extLst>
          </p:cNvPr>
          <p:cNvSpPr>
            <a:spLocks noGrp="1"/>
          </p:cNvSpPr>
          <p:nvPr/>
        </p:nvSpPr>
        <p:spPr>
          <a:xfrm>
            <a:off x="1504950" y="262890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AI/규칙 후보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AECA47-702E-4FE8-877B-1D41D1017210}"/>
              </a:ext>
            </a:extLst>
          </p:cNvPr>
          <p:cNvSpPr>
            <a:spLocks noGrp="1"/>
          </p:cNvSpPr>
          <p:nvPr/>
        </p:nvSpPr>
        <p:spPr>
          <a:xfrm>
            <a:off x="3857625" y="2628900"/>
            <a:ext cx="7429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고객 확인 질문 초안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27F79DC-7E07-4709-822F-B55323229C78}"/>
              </a:ext>
            </a:extLst>
          </p:cNvPr>
          <p:cNvSpPr>
            <a:spLocks noGrp="1"/>
          </p:cNvSpPr>
          <p:nvPr/>
        </p:nvSpPr>
        <p:spPr>
          <a:xfrm>
            <a:off x="666750" y="3362325"/>
            <a:ext cx="10810875" cy="723900"/>
          </a:xfrm>
          <a:prstGeom prst="roundRect">
            <a:avLst>
              <a:gd name="adj" fmla="val 10526"/>
            </a:avLst>
          </a:prstGeom>
          <a:solidFill>
            <a:srgbClr val="E9F3FB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A657BD-DE18-4C1E-9917-5FF3C6837A47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590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0A3F4D-BE37-40D9-BE8B-CA33B538218E}"/>
              </a:ext>
            </a:extLst>
          </p:cNvPr>
          <p:cNvSpPr>
            <a:spLocks noGrp="1"/>
          </p:cNvSpPr>
          <p:nvPr/>
        </p:nvSpPr>
        <p:spPr>
          <a:xfrm>
            <a:off x="1504950" y="3457575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담당자 검토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145F4B-BF1C-48FA-AE66-AA23D21BE4E9}"/>
              </a:ext>
            </a:extLst>
          </p:cNvPr>
          <p:cNvSpPr>
            <a:spLocks noGrp="1"/>
          </p:cNvSpPr>
          <p:nvPr/>
        </p:nvSpPr>
        <p:spPr>
          <a:xfrm>
            <a:off x="3857625" y="3457575"/>
            <a:ext cx="7429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선택·수정·공개 범위 확인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F8B0C31-E733-452A-B44F-EE966E982AF1}"/>
              </a:ext>
            </a:extLst>
          </p:cNvPr>
          <p:cNvSpPr>
            <a:spLocks noGrp="1"/>
          </p:cNvSpPr>
          <p:nvPr/>
        </p:nvSpPr>
        <p:spPr>
          <a:xfrm>
            <a:off x="666750" y="4191000"/>
            <a:ext cx="10810875" cy="723900"/>
          </a:xfrm>
          <a:prstGeom prst="roundRect">
            <a:avLst>
              <a:gd name="adj" fmla="val 10526"/>
            </a:avLst>
          </a:prstGeom>
          <a:solidFill>
            <a:srgbClr val="F3F7FB"/>
          </a:solidFill>
          <a:ln w="0">
            <a:noFill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8CBBD4-0535-4409-94AA-681E35DFD482}"/>
              </a:ext>
            </a:extLst>
          </p:cNvPr>
          <p:cNvSpPr>
            <a:spLocks noGrp="1"/>
          </p:cNvSpPr>
          <p:nvPr/>
        </p:nvSpPr>
        <p:spPr>
          <a:xfrm>
            <a:off x="838200" y="4352925"/>
            <a:ext cx="590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DE361F-A1AA-4378-ADFD-94C47A048CCE}"/>
              </a:ext>
            </a:extLst>
          </p:cNvPr>
          <p:cNvSpPr>
            <a:spLocks noGrp="1"/>
          </p:cNvSpPr>
          <p:nvPr/>
        </p:nvSpPr>
        <p:spPr>
          <a:xfrm>
            <a:off x="1504950" y="428625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고객 전달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A16C14-4830-44F3-8236-7942C886F505}"/>
              </a:ext>
            </a:extLst>
          </p:cNvPr>
          <p:cNvSpPr>
            <a:spLocks noGrp="1"/>
          </p:cNvSpPr>
          <p:nvPr/>
        </p:nvSpPr>
        <p:spPr>
          <a:xfrm>
            <a:off x="3857625" y="4286250"/>
            <a:ext cx="7429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PENDING → ASKED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14048B0-8888-4458-B247-7FBC50D4AEAB}"/>
              </a:ext>
            </a:extLst>
          </p:cNvPr>
          <p:cNvSpPr>
            <a:spLocks noGrp="1"/>
          </p:cNvSpPr>
          <p:nvPr/>
        </p:nvSpPr>
        <p:spPr>
          <a:xfrm>
            <a:off x="685800" y="5181600"/>
            <a:ext cx="10820400" cy="657225"/>
          </a:xfrm>
          <a:prstGeom prst="roundRect">
            <a:avLst>
              <a:gd name="adj" fmla="val 11594"/>
            </a:avLst>
          </a:prstGeom>
          <a:solidFill>
            <a:srgbClr val="F3F7FB"/>
          </a:solidFill>
          <a:ln w="9525">
            <a:solidFill>
              <a:srgbClr val="D7E3EE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B8BF6C-AF9B-4298-95E2-AC90C2A8EF85}"/>
              </a:ext>
            </a:extLst>
          </p:cNvPr>
          <p:cNvSpPr>
            <a:spLocks noGrp="1"/>
          </p:cNvSpPr>
          <p:nvPr/>
        </p:nvSpPr>
        <p:spPr>
          <a:xfrm>
            <a:off x="876300" y="5305425"/>
            <a:ext cx="104394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[실제 화면 추가 예정]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0E6A6A5-3B3D-4C4A-B1FB-401454ACE55A}"/>
              </a:ext>
            </a:extLst>
          </p:cNvPr>
          <p:cNvSpPr>
            <a:spLocks noGrp="1"/>
          </p:cNvSpPr>
          <p:nvPr/>
        </p:nvSpPr>
        <p:spPr>
          <a:xfrm>
            <a:off x="876300" y="5667375"/>
            <a:ext cx="10439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AI 추천 원문과 담당자 수정본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79B6118-8567-4A1D-94C0-53ED601E65BE}"/>
              </a:ext>
            </a:extLst>
          </p:cNvPr>
          <p:cNvSpPr>
            <a:spLocks noGrp="1"/>
          </p:cNvSpPr>
          <p:nvPr/>
        </p:nvSpPr>
        <p:spPr>
          <a:xfrm>
            <a:off x="666750" y="5838825"/>
            <a:ext cx="10839450" cy="457200"/>
          </a:xfrm>
          <a:prstGeom prst="roundRect">
            <a:avLst>
              <a:gd name="adj" fmla="val 16667"/>
            </a:avLst>
          </a:prstGeom>
          <a:solidFill>
            <a:srgbClr val="FFF6DE"/>
          </a:solidFill>
          <a:ln w="0"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D3A079B-6A0B-4F64-A0C6-C487BEBC4A6B}"/>
              </a:ext>
            </a:extLst>
          </p:cNvPr>
          <p:cNvSpPr>
            <a:spLocks noGrp="1"/>
          </p:cNvSpPr>
          <p:nvPr/>
        </p:nvSpPr>
        <p:spPr>
          <a:xfrm>
            <a:off x="828675" y="5905500"/>
            <a:ext cx="10525125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AI 추천이 자동으로 고객에게 전송되는 것으로 표현하지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1440400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E10FFD9-6562-4EA0-B238-2E4D4D5166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99B880-E61C-4653-A129-9C7CEE8AB95A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04 프로젝트 수행 경과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2573AE-7336-4EFF-816F-FD30C06617B9}"/>
              </a:ext>
            </a:extLst>
          </p:cNvPr>
          <p:cNvSpPr>
            <a:spLocks noGrp="1"/>
          </p:cNvSpPr>
          <p:nvPr/>
        </p:nvSpPr>
        <p:spPr>
          <a:xfrm>
            <a:off x="609600" y="542925"/>
            <a:ext cx="109537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4. 고객 ROOM에서 한 질문씩 확인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E9061A-E8A6-469F-B5DF-1F3A51A98066}"/>
              </a:ext>
            </a:extLst>
          </p:cNvPr>
          <p:cNvSpPr>
            <a:spLocks noGrp="1"/>
          </p:cNvSpPr>
          <p:nvPr/>
        </p:nvSpPr>
        <p:spPr>
          <a:xfrm>
            <a:off x="619125" y="1114425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담당자가 전달한 고객 공개 질문에 응답하고 원문과 상태가 Case에 남습니다.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49DE34-CD80-421C-BDE9-B7A820389A0E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1905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10010C-B0CD-42B5-8C76-57A114A6BFDE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CSR   CASE SHARE ROOM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01852F-E69D-4646-8DB4-72E8E992ACF3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023A55-4153-470B-A0F9-B9F3726435F1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6762750" cy="3305175"/>
          </a:xfrm>
          <a:prstGeom prst="roundRect">
            <a:avLst>
              <a:gd name="adj" fmla="val 2305"/>
            </a:avLst>
          </a:prstGeom>
          <a:solidFill>
            <a:srgbClr val="F3F7FB"/>
          </a:solidFill>
          <a:ln w="9525">
            <a:solidFill>
              <a:srgbClr val="D7E3EE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A1CA2-7307-4E09-9C17-DECC4579F902}"/>
              </a:ext>
            </a:extLst>
          </p:cNvPr>
          <p:cNvSpPr>
            <a:spLocks noGrp="1"/>
          </p:cNvSpPr>
          <p:nvPr/>
        </p:nvSpPr>
        <p:spPr>
          <a:xfrm>
            <a:off x="876300" y="3100388"/>
            <a:ext cx="6381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[실제 화면 추가 예정]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DF7534-60EB-4272-B82D-4B58625F2A02}"/>
              </a:ext>
            </a:extLst>
          </p:cNvPr>
          <p:cNvSpPr>
            <a:spLocks noGrp="1"/>
          </p:cNvSpPr>
          <p:nvPr/>
        </p:nvSpPr>
        <p:spPr>
          <a:xfrm>
            <a:off x="876300" y="3481388"/>
            <a:ext cx="6381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고객 ROOM 실제 화면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45D8C1-3EFF-47E7-96F6-87BD36A221C0}"/>
              </a:ext>
            </a:extLst>
          </p:cNvPr>
          <p:cNvSpPr>
            <a:spLocks noGrp="1"/>
          </p:cNvSpPr>
          <p:nvPr/>
        </p:nvSpPr>
        <p:spPr>
          <a:xfrm>
            <a:off x="876300" y="4695825"/>
            <a:ext cx="6381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질문 수신·답변·다음 질문 표시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7328FFC-527E-410E-BDF4-07E7876055B3}"/>
              </a:ext>
            </a:extLst>
          </p:cNvPr>
          <p:cNvSpPr>
            <a:spLocks noGrp="1"/>
          </p:cNvSpPr>
          <p:nvPr/>
        </p:nvSpPr>
        <p:spPr>
          <a:xfrm>
            <a:off x="7724775" y="1857375"/>
            <a:ext cx="3781425" cy="1409700"/>
          </a:xfrm>
          <a:prstGeom prst="roundRect">
            <a:avLst>
              <a:gd name="adj" fmla="val 5405"/>
            </a:avLst>
          </a:prstGeom>
          <a:solidFill>
            <a:srgbClr val="E9F3FB"/>
          </a:solidFill>
          <a:ln w="9525">
            <a:solidFill>
              <a:srgbClr val="D7E3EE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59573B-7505-4075-B8B0-7767E8A04E86}"/>
              </a:ext>
            </a:extLst>
          </p:cNvPr>
          <p:cNvSpPr>
            <a:spLocks noGrp="1"/>
          </p:cNvSpPr>
          <p:nvPr/>
        </p:nvSpPr>
        <p:spPr>
          <a:xfrm>
            <a:off x="7724775" y="1857375"/>
            <a:ext cx="47625" cy="1409700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2F4AA3-9DCF-4F09-A8F6-05B014B51769}"/>
              </a:ext>
            </a:extLst>
          </p:cNvPr>
          <p:cNvSpPr>
            <a:spLocks noGrp="1"/>
          </p:cNvSpPr>
          <p:nvPr/>
        </p:nvSpPr>
        <p:spPr>
          <a:xfrm>
            <a:off x="7934325" y="2009775"/>
            <a:ext cx="336232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현재 MVP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3766DE-0489-4697-82E8-F484F7204998}"/>
              </a:ext>
            </a:extLst>
          </p:cNvPr>
          <p:cNvSpPr>
            <a:spLocks noGrp="1"/>
          </p:cNvSpPr>
          <p:nvPr/>
        </p:nvSpPr>
        <p:spPr>
          <a:xfrm>
            <a:off x="7934325" y="2409825"/>
            <a:ext cx="3362325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담당자와 고객 모두 독립 Web에서 시연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4811624-331B-4A09-ABA8-876025722BE5}"/>
              </a:ext>
            </a:extLst>
          </p:cNvPr>
          <p:cNvSpPr>
            <a:spLocks noGrp="1"/>
          </p:cNvSpPr>
          <p:nvPr/>
        </p:nvSpPr>
        <p:spPr>
          <a:xfrm>
            <a:off x="7724775" y="3476625"/>
            <a:ext cx="3781425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7E3EE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281117-2183-44EA-9955-EE03C7931E96}"/>
              </a:ext>
            </a:extLst>
          </p:cNvPr>
          <p:cNvSpPr>
            <a:spLocks noGrp="1"/>
          </p:cNvSpPr>
          <p:nvPr/>
        </p:nvSpPr>
        <p:spPr>
          <a:xfrm>
            <a:off x="7724775" y="3476625"/>
            <a:ext cx="47625" cy="1676400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40F932-19FA-4895-A951-D02B31E75F50}"/>
              </a:ext>
            </a:extLst>
          </p:cNvPr>
          <p:cNvSpPr>
            <a:spLocks noGrp="1"/>
          </p:cNvSpPr>
          <p:nvPr/>
        </p:nvSpPr>
        <p:spPr>
          <a:xfrm>
            <a:off x="7934325" y="3629025"/>
            <a:ext cx="336232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목표 적용 형태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8838F2-A02F-40AF-ABFB-A90BE194867B}"/>
              </a:ext>
            </a:extLst>
          </p:cNvPr>
          <p:cNvSpPr>
            <a:spLocks noGrp="1"/>
          </p:cNvSpPr>
          <p:nvPr/>
        </p:nvSpPr>
        <p:spPr>
          <a:xfrm>
            <a:off x="7934325" y="4029075"/>
            <a:ext cx="3362325" cy="990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은행 내부 업무 Web과 기존 은행 App 고객 확인 영역 연계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B228DEC-0937-4AE8-B755-EEFE299EB1F7}"/>
              </a:ext>
            </a:extLst>
          </p:cNvPr>
          <p:cNvSpPr>
            <a:spLocks noGrp="1"/>
          </p:cNvSpPr>
          <p:nvPr/>
        </p:nvSpPr>
        <p:spPr>
          <a:xfrm>
            <a:off x="666750" y="5838825"/>
            <a:ext cx="10839450" cy="457200"/>
          </a:xfrm>
          <a:prstGeom prst="roundRect">
            <a:avLst>
              <a:gd name="adj" fmla="val 16667"/>
            </a:avLst>
          </a:prstGeom>
          <a:solidFill>
            <a:srgbClr val="FFF6DE"/>
          </a:solidFill>
          <a:ln w="0">
            <a:noFill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92EFA9-7A2E-4C87-9BB6-7D22A5840648}"/>
              </a:ext>
            </a:extLst>
          </p:cNvPr>
          <p:cNvSpPr>
            <a:spLocks noGrp="1"/>
          </p:cNvSpPr>
          <p:nvPr/>
        </p:nvSpPr>
        <p:spPr>
          <a:xfrm>
            <a:off x="828675" y="5905500"/>
            <a:ext cx="10525125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같은 Case를 공유하되 담당자 내부 정보는 고객 화면에 노출하지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79092457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AF2D694E-CC85-446E-AD5C-EA8590B3CF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CF802C-3659-44E3-BF37-483C5EB78651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04 프로젝트 수행 경과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B8C212-04D9-4A0E-AB49-468F4E0CB9D1}"/>
              </a:ext>
            </a:extLst>
          </p:cNvPr>
          <p:cNvSpPr>
            <a:spLocks noGrp="1"/>
          </p:cNvSpPr>
          <p:nvPr/>
        </p:nvSpPr>
        <p:spPr>
          <a:xfrm>
            <a:off x="609600" y="542925"/>
            <a:ext cx="109537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5. 고객 답변을 Fact 후보로 구조화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92B64-8872-428B-910D-CB6E0C33E853}"/>
              </a:ext>
            </a:extLst>
          </p:cNvPr>
          <p:cNvSpPr>
            <a:spLocks noGrp="1"/>
          </p:cNvSpPr>
          <p:nvPr/>
        </p:nvSpPr>
        <p:spPr>
          <a:xfrm>
            <a:off x="619125" y="1114425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고객 진술이나 AI 추출 결과는 담당자 확인 전까지 확정 사실로 다루지 않습니다.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54AE4-2630-4E80-98EA-91DCEE9FE76C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1905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23B38A-7D2B-4248-BB71-7410D4A8A0B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CSR   CASE SHARE ROOM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B31195-6CAB-4938-AAB9-CC682E94A719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AE912A-4E01-475D-B4EB-39C6F0EC05CF}"/>
              </a:ext>
            </a:extLst>
          </p:cNvPr>
          <p:cNvSpPr>
            <a:spLocks noGrp="1"/>
          </p:cNvSpPr>
          <p:nvPr/>
        </p:nvSpPr>
        <p:spPr>
          <a:xfrm>
            <a:off x="695325" y="1752600"/>
            <a:ext cx="10810875" cy="666750"/>
          </a:xfrm>
          <a:prstGeom prst="roundRect">
            <a:avLst>
              <a:gd name="adj" fmla="val 11429"/>
            </a:avLst>
          </a:prstGeom>
          <a:solidFill>
            <a:srgbClr val="F3F7FB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A97750-AD90-417D-8402-DF16C215DE4B}"/>
              </a:ext>
            </a:extLst>
          </p:cNvPr>
          <p:cNvSpPr>
            <a:spLocks noGrp="1"/>
          </p:cNvSpPr>
          <p:nvPr/>
        </p:nvSpPr>
        <p:spPr>
          <a:xfrm>
            <a:off x="876300" y="1866900"/>
            <a:ext cx="6286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1A096B-32DD-4D81-A5BB-793797B3C2AC}"/>
              </a:ext>
            </a:extLst>
          </p:cNvPr>
          <p:cNvSpPr>
            <a:spLocks noGrp="1"/>
          </p:cNvSpPr>
          <p:nvPr/>
        </p:nvSpPr>
        <p:spPr>
          <a:xfrm>
            <a:off x="1524000" y="1857375"/>
            <a:ext cx="23431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고객 응답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F09F5D-7CEB-4667-A234-BC9E95FC5159}"/>
              </a:ext>
            </a:extLst>
          </p:cNvPr>
          <p:cNvSpPr>
            <a:spLocks noGrp="1"/>
          </p:cNvSpPr>
          <p:nvPr/>
        </p:nvSpPr>
        <p:spPr>
          <a:xfrm>
            <a:off x="3943350" y="1847850"/>
            <a:ext cx="72771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“OTP 번호를 알려줬어요.”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303B7BB-5E59-4920-975F-4EBFE8E91A3D}"/>
              </a:ext>
            </a:extLst>
          </p:cNvPr>
          <p:cNvSpPr>
            <a:spLocks noGrp="1"/>
          </p:cNvSpPr>
          <p:nvPr/>
        </p:nvSpPr>
        <p:spPr>
          <a:xfrm>
            <a:off x="695325" y="2543175"/>
            <a:ext cx="10810875" cy="666750"/>
          </a:xfrm>
          <a:prstGeom prst="roundRect">
            <a:avLst>
              <a:gd name="adj" fmla="val 11429"/>
            </a:avLst>
          </a:prstGeom>
          <a:solidFill>
            <a:srgbClr val="F3F7FB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A778E4-477D-4B60-9FCA-2662C91710B2}"/>
              </a:ext>
            </a:extLst>
          </p:cNvPr>
          <p:cNvSpPr>
            <a:spLocks noGrp="1"/>
          </p:cNvSpPr>
          <p:nvPr/>
        </p:nvSpPr>
        <p:spPr>
          <a:xfrm>
            <a:off x="876300" y="2657475"/>
            <a:ext cx="6286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173ABD-A4E6-4FDF-A827-817A581DAD0E}"/>
              </a:ext>
            </a:extLst>
          </p:cNvPr>
          <p:cNvSpPr>
            <a:spLocks noGrp="1"/>
          </p:cNvSpPr>
          <p:nvPr/>
        </p:nvSpPr>
        <p:spPr>
          <a:xfrm>
            <a:off x="1524000" y="2647950"/>
            <a:ext cx="23431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구조화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3DBEC5-D5DE-4B4A-AA22-BEA270E6E753}"/>
              </a:ext>
            </a:extLst>
          </p:cNvPr>
          <p:cNvSpPr>
            <a:spLocks noGrp="1"/>
          </p:cNvSpPr>
          <p:nvPr/>
        </p:nvSpPr>
        <p:spPr>
          <a:xfrm>
            <a:off x="3943350" y="2638425"/>
            <a:ext cx="72771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OTP 전달 여부 = 전달함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4833325-0811-4E90-861A-2F8D7A76D0F2}"/>
              </a:ext>
            </a:extLst>
          </p:cNvPr>
          <p:cNvSpPr>
            <a:spLocks noGrp="1"/>
          </p:cNvSpPr>
          <p:nvPr/>
        </p:nvSpPr>
        <p:spPr>
          <a:xfrm>
            <a:off x="695325" y="3333750"/>
            <a:ext cx="10810875" cy="666750"/>
          </a:xfrm>
          <a:prstGeom prst="roundRect">
            <a:avLst>
              <a:gd name="adj" fmla="val 11429"/>
            </a:avLst>
          </a:prstGeom>
          <a:solidFill>
            <a:srgbClr val="FFF6DE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919A0B-6B42-4DD7-88B7-FF5335EE0ADB}"/>
              </a:ext>
            </a:extLst>
          </p:cNvPr>
          <p:cNvSpPr>
            <a:spLocks noGrp="1"/>
          </p:cNvSpPr>
          <p:nvPr/>
        </p:nvSpPr>
        <p:spPr>
          <a:xfrm>
            <a:off x="876300" y="3448050"/>
            <a:ext cx="6286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351771-B104-4A60-A90A-4DBABDB79360}"/>
              </a:ext>
            </a:extLst>
          </p:cNvPr>
          <p:cNvSpPr>
            <a:spLocks noGrp="1"/>
          </p:cNvSpPr>
          <p:nvPr/>
        </p:nvSpPr>
        <p:spPr>
          <a:xfrm>
            <a:off x="1524000" y="3438525"/>
            <a:ext cx="23431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PROPOSED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3DB5DE-B7AF-43C8-969A-8542F846C96A}"/>
              </a:ext>
            </a:extLst>
          </p:cNvPr>
          <p:cNvSpPr>
            <a:spLocks noGrp="1"/>
          </p:cNvSpPr>
          <p:nvPr/>
        </p:nvSpPr>
        <p:spPr>
          <a:xfrm>
            <a:off x="3943350" y="3429000"/>
            <a:ext cx="72771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원문 근거가 연결된 미확정 Fact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04E043E-9372-4DE4-9C2F-EF019B61D75C}"/>
              </a:ext>
            </a:extLst>
          </p:cNvPr>
          <p:cNvSpPr>
            <a:spLocks noGrp="1"/>
          </p:cNvSpPr>
          <p:nvPr/>
        </p:nvSpPr>
        <p:spPr>
          <a:xfrm>
            <a:off x="695325" y="4124325"/>
            <a:ext cx="10810875" cy="666750"/>
          </a:xfrm>
          <a:prstGeom prst="roundRect">
            <a:avLst>
              <a:gd name="adj" fmla="val 11429"/>
            </a:avLst>
          </a:prstGeom>
          <a:solidFill>
            <a:srgbClr val="F3F7FB"/>
          </a:solidFill>
          <a:ln w="0">
            <a:noFill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B761E0-C843-475B-864E-0A0B06FB5B93}"/>
              </a:ext>
            </a:extLst>
          </p:cNvPr>
          <p:cNvSpPr>
            <a:spLocks noGrp="1"/>
          </p:cNvSpPr>
          <p:nvPr/>
        </p:nvSpPr>
        <p:spPr>
          <a:xfrm>
            <a:off x="876300" y="4238625"/>
            <a:ext cx="6286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0BA84D-091F-44BE-9364-15135F2672D0}"/>
              </a:ext>
            </a:extLst>
          </p:cNvPr>
          <p:cNvSpPr>
            <a:spLocks noGrp="1"/>
          </p:cNvSpPr>
          <p:nvPr/>
        </p:nvSpPr>
        <p:spPr>
          <a:xfrm>
            <a:off x="1524000" y="4229100"/>
            <a:ext cx="23431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담당자 확인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E8B3D8-AFB1-4E56-BBDD-699FB1C5C682}"/>
              </a:ext>
            </a:extLst>
          </p:cNvPr>
          <p:cNvSpPr>
            <a:spLocks noGrp="1"/>
          </p:cNvSpPr>
          <p:nvPr/>
        </p:nvSpPr>
        <p:spPr>
          <a:xfrm>
            <a:off x="3943350" y="4219575"/>
            <a:ext cx="72771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원문·근거 검토 후 승인/거절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560E2A6-7B2E-41F5-A899-AFA7BB519BC4}"/>
              </a:ext>
            </a:extLst>
          </p:cNvPr>
          <p:cNvSpPr>
            <a:spLocks noGrp="1"/>
          </p:cNvSpPr>
          <p:nvPr/>
        </p:nvSpPr>
        <p:spPr>
          <a:xfrm>
            <a:off x="695325" y="4914900"/>
            <a:ext cx="10810875" cy="666750"/>
          </a:xfrm>
          <a:prstGeom prst="roundRect">
            <a:avLst>
              <a:gd name="adj" fmla="val 11429"/>
            </a:avLst>
          </a:prstGeom>
          <a:solidFill>
            <a:srgbClr val="E8F5F1"/>
          </a:solidFill>
          <a:ln w="0">
            <a:noFill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EAC5D7-9C44-4BA9-989B-D27135D18AD9}"/>
              </a:ext>
            </a:extLst>
          </p:cNvPr>
          <p:cNvSpPr>
            <a:spLocks noGrp="1"/>
          </p:cNvSpPr>
          <p:nvPr/>
        </p:nvSpPr>
        <p:spPr>
          <a:xfrm>
            <a:off x="876300" y="5029200"/>
            <a:ext cx="6286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879E304-DF00-4F04-AA66-C3C9078B33CB}"/>
              </a:ext>
            </a:extLst>
          </p:cNvPr>
          <p:cNvSpPr>
            <a:spLocks noGrp="1"/>
          </p:cNvSpPr>
          <p:nvPr/>
        </p:nvSpPr>
        <p:spPr>
          <a:xfrm>
            <a:off x="1524000" y="5019675"/>
            <a:ext cx="23431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CONFIRMED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733052-D0F0-4480-9233-D588D1868491}"/>
              </a:ext>
            </a:extLst>
          </p:cNvPr>
          <p:cNvSpPr>
            <a:spLocks noGrp="1"/>
          </p:cNvSpPr>
          <p:nvPr/>
        </p:nvSpPr>
        <p:spPr>
          <a:xfrm>
            <a:off x="3943350" y="5010150"/>
            <a:ext cx="72771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확인된 Fact를 후속 업무에 사용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C9B2D7F-B69B-4A16-B70A-A59064D5DEC7}"/>
              </a:ext>
            </a:extLst>
          </p:cNvPr>
          <p:cNvSpPr>
            <a:spLocks noGrp="1"/>
          </p:cNvSpPr>
          <p:nvPr/>
        </p:nvSpPr>
        <p:spPr>
          <a:xfrm>
            <a:off x="666750" y="5838825"/>
            <a:ext cx="10839450" cy="457200"/>
          </a:xfrm>
          <a:prstGeom prst="roundRect">
            <a:avLst>
              <a:gd name="adj" fmla="val 16667"/>
            </a:avLst>
          </a:prstGeom>
          <a:solidFill>
            <a:srgbClr val="FFF6DE"/>
          </a:solidFill>
          <a:ln w="0">
            <a:noFill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FFDEE10-F851-4B8B-94D1-CD4155BC39E4}"/>
              </a:ext>
            </a:extLst>
          </p:cNvPr>
          <p:cNvSpPr>
            <a:spLocks noGrp="1"/>
          </p:cNvSpPr>
          <p:nvPr/>
        </p:nvSpPr>
        <p:spPr>
          <a:xfrm>
            <a:off x="828675" y="5905500"/>
            <a:ext cx="10525125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원본 Evidence, 고객 진술, AI 제안, PROPOSED, CONFIRMED의 신뢰 단계를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16954659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A93B6DA9-B677-4371-AC76-CAB9F9C039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61522F-62BD-4528-B74D-C8958A87A080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04 프로젝트 수행 경과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784982-C657-4ED4-881B-B72550950F50}"/>
              </a:ext>
            </a:extLst>
          </p:cNvPr>
          <p:cNvSpPr>
            <a:spLocks noGrp="1"/>
          </p:cNvSpPr>
          <p:nvPr/>
        </p:nvSpPr>
        <p:spPr>
          <a:xfrm>
            <a:off x="609600" y="542925"/>
            <a:ext cx="109537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6. Context 갱신과 후속 확인·종결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B8227F-C45D-497F-ABA0-0B78E2970EAE}"/>
              </a:ext>
            </a:extLst>
          </p:cNvPr>
          <p:cNvSpPr>
            <a:spLocks noGrp="1"/>
          </p:cNvSpPr>
          <p:nvPr/>
        </p:nvSpPr>
        <p:spPr>
          <a:xfrm>
            <a:off x="619125" y="1114425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담당자 확인 Fact를 바탕으로 추가 질문이나 Verification 기록을 이어갑니다.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0ED64E-EEBD-441A-A566-024C208BD801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1905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3EA4B7-21D4-48C5-94F8-0D7E5A8D2299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CSR   CASE SHARE ROOM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41F536-9818-405F-8C78-2610124DA446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F6C2D1A-0962-42C9-B275-201306168BE7}"/>
              </a:ext>
            </a:extLst>
          </p:cNvPr>
          <p:cNvSpPr>
            <a:spLocks noGrp="1"/>
          </p:cNvSpPr>
          <p:nvPr/>
        </p:nvSpPr>
        <p:spPr>
          <a:xfrm>
            <a:off x="685800" y="1838325"/>
            <a:ext cx="5162550" cy="1190625"/>
          </a:xfrm>
          <a:prstGeom prst="roundRect">
            <a:avLst>
              <a:gd name="adj" fmla="val 6400"/>
            </a:avLst>
          </a:prstGeom>
          <a:solidFill>
            <a:srgbClr val="E8F5F1"/>
          </a:solidFill>
          <a:ln w="9525">
            <a:solidFill>
              <a:srgbClr val="D7E3EE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745D75-A3F5-4759-8A94-0A20FD7C9427}"/>
              </a:ext>
            </a:extLst>
          </p:cNvPr>
          <p:cNvSpPr>
            <a:spLocks noGrp="1"/>
          </p:cNvSpPr>
          <p:nvPr/>
        </p:nvSpPr>
        <p:spPr>
          <a:xfrm>
            <a:off x="685800" y="1838325"/>
            <a:ext cx="47625" cy="1190625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D24559-EF9A-44CC-9731-2CCBE68DCF94}"/>
              </a:ext>
            </a:extLst>
          </p:cNvPr>
          <p:cNvSpPr>
            <a:spLocks noGrp="1"/>
          </p:cNvSpPr>
          <p:nvPr/>
        </p:nvSpPr>
        <p:spPr>
          <a:xfrm>
            <a:off x="895350" y="1990725"/>
            <a:ext cx="47434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Context 갱신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5C3F66-0703-49B4-8E51-291513BA2904}"/>
              </a:ext>
            </a:extLst>
          </p:cNvPr>
          <p:cNvSpPr>
            <a:spLocks noGrp="1"/>
          </p:cNvSpPr>
          <p:nvPr/>
        </p:nvSpPr>
        <p:spPr>
          <a:xfrm>
            <a:off x="895350" y="2390775"/>
            <a:ext cx="47434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CONFIRMED Fact를 Case 맥락에 반영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F78853E-83B9-4C05-97A8-9B9F27CD8F36}"/>
              </a:ext>
            </a:extLst>
          </p:cNvPr>
          <p:cNvSpPr>
            <a:spLocks noGrp="1"/>
          </p:cNvSpPr>
          <p:nvPr/>
        </p:nvSpPr>
        <p:spPr>
          <a:xfrm>
            <a:off x="6343650" y="1838325"/>
            <a:ext cx="5162550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7E3EE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9798D1-CEF3-4087-A9EA-36F2F8C58E64}"/>
              </a:ext>
            </a:extLst>
          </p:cNvPr>
          <p:cNvSpPr>
            <a:spLocks noGrp="1"/>
          </p:cNvSpPr>
          <p:nvPr/>
        </p:nvSpPr>
        <p:spPr>
          <a:xfrm>
            <a:off x="6343650" y="1838325"/>
            <a:ext cx="47625" cy="1190625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4F5643-446E-442C-8BA9-480C17DC4472}"/>
              </a:ext>
            </a:extLst>
          </p:cNvPr>
          <p:cNvSpPr>
            <a:spLocks noGrp="1"/>
          </p:cNvSpPr>
          <p:nvPr/>
        </p:nvSpPr>
        <p:spPr>
          <a:xfrm>
            <a:off x="6553200" y="1990725"/>
            <a:ext cx="47434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후속 질문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B6B0D1-6B6B-4D8D-9A7B-B6033B29C8F4}"/>
              </a:ext>
            </a:extLst>
          </p:cNvPr>
          <p:cNvSpPr>
            <a:spLocks noGrp="1"/>
          </p:cNvSpPr>
          <p:nvPr/>
        </p:nvSpPr>
        <p:spPr>
          <a:xfrm>
            <a:off x="6553200" y="2390775"/>
            <a:ext cx="47434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남은 미확인 사항을 기준으로 추천 갱신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F97A1C3-0454-4219-A150-F4B6074326B8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5162550" cy="1371600"/>
          </a:xfrm>
          <a:prstGeom prst="roundRect">
            <a:avLst>
              <a:gd name="adj" fmla="val 5556"/>
            </a:avLst>
          </a:prstGeom>
          <a:solidFill>
            <a:srgbClr val="F3F7FB"/>
          </a:solidFill>
          <a:ln w="9525">
            <a:solidFill>
              <a:srgbClr val="D7E3EE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2CCA20-3BD4-4936-8429-C9AA0F18945B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47625" cy="1371600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C0A960-B216-4B61-9D9D-D9F029BF46D8}"/>
              </a:ext>
            </a:extLst>
          </p:cNvPr>
          <p:cNvSpPr>
            <a:spLocks noGrp="1"/>
          </p:cNvSpPr>
          <p:nvPr/>
        </p:nvSpPr>
        <p:spPr>
          <a:xfrm>
            <a:off x="895350" y="3390900"/>
            <a:ext cx="47434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Verification 기록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B0E542-AF50-4775-A72F-FA3ADCE7EFE7}"/>
              </a:ext>
            </a:extLst>
          </p:cNvPr>
          <p:cNvSpPr>
            <a:spLocks noGrp="1"/>
          </p:cNvSpPr>
          <p:nvPr/>
        </p:nvSpPr>
        <p:spPr>
          <a:xfrm>
            <a:off x="895350" y="3790950"/>
            <a:ext cx="47434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담당자가 확인 결과를 입력</a:t>
            </a:r>
          </a:p>
          <a:p>
            <a:pPr algn="l">
              <a:def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외부 기관 자동 조회는 미구현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657D3B8-C47E-4EF2-B01A-ADB4B0FEF41E}"/>
              </a:ext>
            </a:extLst>
          </p:cNvPr>
          <p:cNvSpPr>
            <a:spLocks noGrp="1"/>
          </p:cNvSpPr>
          <p:nvPr/>
        </p:nvSpPr>
        <p:spPr>
          <a:xfrm>
            <a:off x="6343650" y="3238500"/>
            <a:ext cx="5162550" cy="1371600"/>
          </a:xfrm>
          <a:prstGeom prst="roundRect">
            <a:avLst>
              <a:gd name="adj" fmla="val 5556"/>
            </a:avLst>
          </a:prstGeom>
          <a:solidFill>
            <a:srgbClr val="F3F7FB"/>
          </a:solidFill>
          <a:ln w="9525">
            <a:solidFill>
              <a:srgbClr val="D7E3EE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C308EF-6BEB-48EE-83CB-C6EEB0EA27C1}"/>
              </a:ext>
            </a:extLst>
          </p:cNvPr>
          <p:cNvSpPr>
            <a:spLocks noGrp="1"/>
          </p:cNvSpPr>
          <p:nvPr/>
        </p:nvSpPr>
        <p:spPr>
          <a:xfrm>
            <a:off x="6343650" y="3238500"/>
            <a:ext cx="47625" cy="1371600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7A7664-ABA3-4D3C-91B2-C7B279851870}"/>
              </a:ext>
            </a:extLst>
          </p:cNvPr>
          <p:cNvSpPr>
            <a:spLocks noGrp="1"/>
          </p:cNvSpPr>
          <p:nvPr/>
        </p:nvSpPr>
        <p:spPr>
          <a:xfrm>
            <a:off x="6553200" y="3390900"/>
            <a:ext cx="47434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사건 정리·종결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1D7F69-0798-4C5D-9314-A067DC901C18}"/>
              </a:ext>
            </a:extLst>
          </p:cNvPr>
          <p:cNvSpPr>
            <a:spLocks noGrp="1"/>
          </p:cNvSpPr>
          <p:nvPr/>
        </p:nvSpPr>
        <p:spPr>
          <a:xfrm>
            <a:off x="6553200" y="3790950"/>
            <a:ext cx="47434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AI 보고서 초안 지원, 담당자 최종 판단</a:t>
            </a:r>
          </a:p>
          <a:p>
            <a:pPr algn="l">
              <a:def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[종결 상태 Runtime 확인 필요]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3A4F36B-0499-4677-AC7B-DF5853D7D9FE}"/>
              </a:ext>
            </a:extLst>
          </p:cNvPr>
          <p:cNvSpPr>
            <a:spLocks noGrp="1"/>
          </p:cNvSpPr>
          <p:nvPr/>
        </p:nvSpPr>
        <p:spPr>
          <a:xfrm>
            <a:off x="685800" y="4838700"/>
            <a:ext cx="10820400" cy="876300"/>
          </a:xfrm>
          <a:prstGeom prst="roundRect">
            <a:avLst>
              <a:gd name="adj" fmla="val 8696"/>
            </a:avLst>
          </a:prstGeom>
          <a:solidFill>
            <a:srgbClr val="F3F7FB"/>
          </a:solidFill>
          <a:ln w="9525">
            <a:solidFill>
              <a:srgbClr val="D7E3EE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7BAA42-5E9C-4969-B60E-29671E90F031}"/>
              </a:ext>
            </a:extLst>
          </p:cNvPr>
          <p:cNvSpPr>
            <a:spLocks noGrp="1"/>
          </p:cNvSpPr>
          <p:nvPr/>
        </p:nvSpPr>
        <p:spPr>
          <a:xfrm>
            <a:off x="876300" y="4962525"/>
            <a:ext cx="104394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[실제 화면 추가 예정]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74B85C6-3712-4985-9F91-B50A3E7A172F}"/>
              </a:ext>
            </a:extLst>
          </p:cNvPr>
          <p:cNvSpPr>
            <a:spLocks noGrp="1"/>
          </p:cNvSpPr>
          <p:nvPr/>
        </p:nvSpPr>
        <p:spPr>
          <a:xfrm>
            <a:off x="876300" y="5324475"/>
            <a:ext cx="10439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Context·Verification·종결 전후 화면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9DE6F95-FC09-43DC-861E-89750961C13C}"/>
              </a:ext>
            </a:extLst>
          </p:cNvPr>
          <p:cNvSpPr>
            <a:spLocks noGrp="1"/>
          </p:cNvSpPr>
          <p:nvPr/>
        </p:nvSpPr>
        <p:spPr>
          <a:xfrm>
            <a:off x="666750" y="5838825"/>
            <a:ext cx="10839450" cy="457200"/>
          </a:xfrm>
          <a:prstGeom prst="roundRect">
            <a:avLst>
              <a:gd name="adj" fmla="val 16667"/>
            </a:avLst>
          </a:prstGeom>
          <a:solidFill>
            <a:srgbClr val="FFF6DE"/>
          </a:solidFill>
          <a:ln w="0"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2D32059-C0AD-44B2-9862-031102FB0B1B}"/>
              </a:ext>
            </a:extLst>
          </p:cNvPr>
          <p:cNvSpPr>
            <a:spLocks noGrp="1"/>
          </p:cNvSpPr>
          <p:nvPr/>
        </p:nvSpPr>
        <p:spPr>
          <a:xfrm>
            <a:off x="828675" y="5905500"/>
            <a:ext cx="10525125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AI가 기관 확인·금융조치·사건 최종 판단을 자동으로 수행하지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6362333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A8DE176-5E56-4E50-A4A9-5F6AFA8B39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C2B6B3-08DB-425B-8F37-9E3187DCD499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04 프로젝트 수행 경과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784945-2F99-4ABB-BE07-5879E0CFBBDA}"/>
              </a:ext>
            </a:extLst>
          </p:cNvPr>
          <p:cNvSpPr>
            <a:spLocks noGrp="1"/>
          </p:cNvSpPr>
          <p:nvPr/>
        </p:nvSpPr>
        <p:spPr>
          <a:xfrm>
            <a:off x="609600" y="542925"/>
            <a:ext cx="109537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기술·구현 방법: 같은 Case ID의 데이터 이동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2A16B4-28D1-492F-B850-9758E19BA6C5}"/>
              </a:ext>
            </a:extLst>
          </p:cNvPr>
          <p:cNvSpPr>
            <a:spLocks noGrp="1"/>
          </p:cNvSpPr>
          <p:nvPr/>
        </p:nvSpPr>
        <p:spPr>
          <a:xfrm>
            <a:off x="619125" y="1114425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화면과 두 API, 저장소가 질문·응답·Fact 상태를 공유하도록 구성했습니다.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5561DC-D6BB-4BC5-A132-1A828771C315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1905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B36668-026B-4A9F-8B26-7F38F9D022A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CSR   CASE SHARE ROOM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256B02-7C4A-4D22-A15B-DD13315FCEA7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7C7CCCC-79B1-4198-8AC3-D0F7009B7E38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10810875" cy="723900"/>
          </a:xfrm>
          <a:prstGeom prst="roundRect">
            <a:avLst>
              <a:gd name="adj" fmla="val 10526"/>
            </a:avLst>
          </a:prstGeom>
          <a:solidFill>
            <a:srgbClr val="F3F7FB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F20791-29D9-4BE1-89A6-AC50E1806512}"/>
              </a:ext>
            </a:extLst>
          </p:cNvPr>
          <p:cNvSpPr>
            <a:spLocks noGrp="1"/>
          </p:cNvSpPr>
          <p:nvPr/>
        </p:nvSpPr>
        <p:spPr>
          <a:xfrm>
            <a:off x="838200" y="1914525"/>
            <a:ext cx="590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9D2CD8-8ECE-4EF5-9351-0026D2914B3E}"/>
              </a:ext>
            </a:extLst>
          </p:cNvPr>
          <p:cNvSpPr>
            <a:spLocks noGrp="1"/>
          </p:cNvSpPr>
          <p:nvPr/>
        </p:nvSpPr>
        <p:spPr>
          <a:xfrm>
            <a:off x="1504950" y="184785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React Frontend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CC6194-4462-4B24-940E-85FDFCF35481}"/>
              </a:ext>
            </a:extLst>
          </p:cNvPr>
          <p:cNvSpPr>
            <a:spLocks noGrp="1"/>
          </p:cNvSpPr>
          <p:nvPr/>
        </p:nvSpPr>
        <p:spPr>
          <a:xfrm>
            <a:off x="3857625" y="1847850"/>
            <a:ext cx="7429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담당자/고객 ROOM, 질문·Fact UI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3D37CB5-F71B-4ED8-B793-723AA6F136AB}"/>
              </a:ext>
            </a:extLst>
          </p:cNvPr>
          <p:cNvSpPr>
            <a:spLocks noGrp="1"/>
          </p:cNvSpPr>
          <p:nvPr/>
        </p:nvSpPr>
        <p:spPr>
          <a:xfrm>
            <a:off x="666750" y="2609850"/>
            <a:ext cx="10810875" cy="723900"/>
          </a:xfrm>
          <a:prstGeom prst="roundRect">
            <a:avLst>
              <a:gd name="adj" fmla="val 10526"/>
            </a:avLst>
          </a:prstGeom>
          <a:solidFill>
            <a:srgbClr val="E9F3FB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C7E20D-4D40-4CA2-828A-1F4E213287AC}"/>
              </a:ext>
            </a:extLst>
          </p:cNvPr>
          <p:cNvSpPr>
            <a:spLocks noGrp="1"/>
          </p:cNvSpPr>
          <p:nvPr/>
        </p:nvSpPr>
        <p:spPr>
          <a:xfrm>
            <a:off x="838200" y="2771775"/>
            <a:ext cx="590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264BC8-98A7-47C7-81FE-5625D7FC8DC1}"/>
              </a:ext>
            </a:extLst>
          </p:cNvPr>
          <p:cNvSpPr>
            <a:spLocks noGrp="1"/>
          </p:cNvSpPr>
          <p:nvPr/>
        </p:nvSpPr>
        <p:spPr>
          <a:xfrm>
            <a:off x="1504950" y="270510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General API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28C4F0-77E7-4187-8D04-EF2EA91DF08A}"/>
              </a:ext>
            </a:extLst>
          </p:cNvPr>
          <p:cNvSpPr>
            <a:spLocks noGrp="1"/>
          </p:cNvSpPr>
          <p:nvPr/>
        </p:nvSpPr>
        <p:spPr>
          <a:xfrm>
            <a:off x="3857625" y="2705100"/>
            <a:ext cx="7429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Case·질문·응답·상태 처리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2CC06F7-B337-4DE8-AD24-178440351FAF}"/>
              </a:ext>
            </a:extLst>
          </p:cNvPr>
          <p:cNvSpPr>
            <a:spLocks noGrp="1"/>
          </p:cNvSpPr>
          <p:nvPr/>
        </p:nvSpPr>
        <p:spPr>
          <a:xfrm>
            <a:off x="666750" y="3467100"/>
            <a:ext cx="10810875" cy="723900"/>
          </a:xfrm>
          <a:prstGeom prst="roundRect">
            <a:avLst>
              <a:gd name="adj" fmla="val 10526"/>
            </a:avLst>
          </a:prstGeom>
          <a:solidFill>
            <a:srgbClr val="F3F7FB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314E8B-B2E8-40C6-BD98-76A12814C1F7}"/>
              </a:ext>
            </a:extLst>
          </p:cNvPr>
          <p:cNvSpPr>
            <a:spLocks noGrp="1"/>
          </p:cNvSpPr>
          <p:nvPr/>
        </p:nvSpPr>
        <p:spPr>
          <a:xfrm>
            <a:off x="838200" y="3629025"/>
            <a:ext cx="590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884F52-0DEE-4667-8A01-008CDBA4D012}"/>
              </a:ext>
            </a:extLst>
          </p:cNvPr>
          <p:cNvSpPr>
            <a:spLocks noGrp="1"/>
          </p:cNvSpPr>
          <p:nvPr/>
        </p:nvSpPr>
        <p:spPr>
          <a:xfrm>
            <a:off x="1504950" y="356235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AI API / LLM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A2B465-7497-4651-A7F4-347D9920C486}"/>
              </a:ext>
            </a:extLst>
          </p:cNvPr>
          <p:cNvSpPr>
            <a:spLocks noGrp="1"/>
          </p:cNvSpPr>
          <p:nvPr/>
        </p:nvSpPr>
        <p:spPr>
          <a:xfrm>
            <a:off x="3857625" y="3562350"/>
            <a:ext cx="7429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Brief·추천·Fact·보고서 초안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DA3B7BA-0A06-4A61-9DA8-7C3237E6BF20}"/>
              </a:ext>
            </a:extLst>
          </p:cNvPr>
          <p:cNvSpPr>
            <a:spLocks noGrp="1"/>
          </p:cNvSpPr>
          <p:nvPr/>
        </p:nvSpPr>
        <p:spPr>
          <a:xfrm>
            <a:off x="666750" y="4324350"/>
            <a:ext cx="10810875" cy="723900"/>
          </a:xfrm>
          <a:prstGeom prst="roundRect">
            <a:avLst>
              <a:gd name="adj" fmla="val 10526"/>
            </a:avLst>
          </a:prstGeom>
          <a:solidFill>
            <a:srgbClr val="E9F3FB"/>
          </a:solidFill>
          <a:ln w="0">
            <a:noFill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F9A7CF-8C05-45D9-A8F1-EEC91C58249A}"/>
              </a:ext>
            </a:extLst>
          </p:cNvPr>
          <p:cNvSpPr>
            <a:spLocks noGrp="1"/>
          </p:cNvSpPr>
          <p:nvPr/>
        </p:nvSpPr>
        <p:spPr>
          <a:xfrm>
            <a:off x="838200" y="4486275"/>
            <a:ext cx="590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D2800B-9F14-40C7-8D55-D8CEDBA11AC3}"/>
              </a:ext>
            </a:extLst>
          </p:cNvPr>
          <p:cNvSpPr>
            <a:spLocks noGrp="1"/>
          </p:cNvSpPr>
          <p:nvPr/>
        </p:nvSpPr>
        <p:spPr>
          <a:xfrm>
            <a:off x="1504950" y="441960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MySQL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7CFED0-CF20-402E-8B3E-2FBC6136CDF8}"/>
              </a:ext>
            </a:extLst>
          </p:cNvPr>
          <p:cNvSpPr>
            <a:spLocks noGrp="1"/>
          </p:cNvSpPr>
          <p:nvPr/>
        </p:nvSpPr>
        <p:spPr>
          <a:xfrm>
            <a:off x="3857625" y="4419600"/>
            <a:ext cx="7429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Case·Message·Question·Fact·Event 기록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BFF0124-027A-4AC6-9D35-CBF44DBA620C}"/>
              </a:ext>
            </a:extLst>
          </p:cNvPr>
          <p:cNvSpPr>
            <a:spLocks noGrp="1"/>
          </p:cNvSpPr>
          <p:nvPr/>
        </p:nvSpPr>
        <p:spPr>
          <a:xfrm>
            <a:off x="666750" y="5838825"/>
            <a:ext cx="10839450" cy="457200"/>
          </a:xfrm>
          <a:prstGeom prst="roundRect">
            <a:avLst>
              <a:gd name="adj" fmla="val 16667"/>
            </a:avLst>
          </a:prstGeom>
          <a:solidFill>
            <a:srgbClr val="FFF6DE"/>
          </a:solidFill>
          <a:ln w="0">
            <a:noFill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F90FFA-028A-41C5-98E3-F868DC532424}"/>
              </a:ext>
            </a:extLst>
          </p:cNvPr>
          <p:cNvSpPr>
            <a:spLocks noGrp="1"/>
          </p:cNvSpPr>
          <p:nvPr/>
        </p:nvSpPr>
        <p:spPr>
          <a:xfrm>
            <a:off x="828675" y="5905500"/>
            <a:ext cx="10525125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ML 위험 신호의 실제 서비스 호출 경로·Feature·평가 결과는 확인 후 최종 반영합니다.</a:t>
            </a:r>
          </a:p>
        </p:txBody>
      </p:sp>
    </p:spTree>
    <p:extLst>
      <p:ext uri="{BB962C8B-B14F-4D97-AF65-F5344CB8AC3E}">
        <p14:creationId xmlns:p14="http://schemas.microsoft.com/office/powerpoint/2010/main" val="120581107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E4B0B95-6094-4DBA-8954-9A1FCF92E9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608A91-2ECD-4F7D-BF5B-376072AA8B49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04 프로젝트 수행 경과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934191-8652-4C8E-BB25-76AFEA8EF7F0}"/>
              </a:ext>
            </a:extLst>
          </p:cNvPr>
          <p:cNvSpPr>
            <a:spLocks noGrp="1"/>
          </p:cNvSpPr>
          <p:nvPr/>
        </p:nvSpPr>
        <p:spPr>
          <a:xfrm>
            <a:off x="609600" y="542925"/>
            <a:ext cx="109537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UI/UX 개선: 사건·미확인 정보·다음 행동이 보이도록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2C87BC-2026-479B-8F0B-E0D81931585F}"/>
              </a:ext>
            </a:extLst>
          </p:cNvPr>
          <p:cNvSpPr>
            <a:spLocks noGrp="1"/>
          </p:cNvSpPr>
          <p:nvPr/>
        </p:nvSpPr>
        <p:spPr>
          <a:xfrm>
            <a:off x="619125" y="1114425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담당자가 화면을 읽는 순서에 맞게 정보 구조와 기능 위치를 조정했습니다.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C41F45-4C64-4B87-B110-1FB34230534B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1905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C067E3-565A-4185-B911-7D222AC2429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CSR   CASE SHARE ROOM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26D5ED-CA13-43D3-AF18-5CDE6713CF2E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B711B0-398E-4F8B-A59D-BA4BAFB836E5}"/>
              </a:ext>
            </a:extLst>
          </p:cNvPr>
          <p:cNvSpPr>
            <a:spLocks noGrp="1"/>
          </p:cNvSpPr>
          <p:nvPr/>
        </p:nvSpPr>
        <p:spPr>
          <a:xfrm>
            <a:off x="685800" y="1819275"/>
            <a:ext cx="5181600" cy="3305175"/>
          </a:xfrm>
          <a:prstGeom prst="roundRect">
            <a:avLst>
              <a:gd name="adj" fmla="val 2305"/>
            </a:avLst>
          </a:prstGeom>
          <a:solidFill>
            <a:srgbClr val="F3F7FB"/>
          </a:solidFill>
          <a:ln w="9525">
            <a:solidFill>
              <a:srgbClr val="D7E3EE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559261-1B70-4CA5-9935-28DAE5CD9EDC}"/>
              </a:ext>
            </a:extLst>
          </p:cNvPr>
          <p:cNvSpPr>
            <a:spLocks noGrp="1"/>
          </p:cNvSpPr>
          <p:nvPr/>
        </p:nvSpPr>
        <p:spPr>
          <a:xfrm>
            <a:off x="876300" y="3071813"/>
            <a:ext cx="48006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[실제 화면 추가 예정]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1402B1-5D9A-47EC-A685-C03E2C7793D3}"/>
              </a:ext>
            </a:extLst>
          </p:cNvPr>
          <p:cNvSpPr>
            <a:spLocks noGrp="1"/>
          </p:cNvSpPr>
          <p:nvPr/>
        </p:nvSpPr>
        <p:spPr>
          <a:xfrm>
            <a:off x="876300" y="3452813"/>
            <a:ext cx="48006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Before · 제출 당시 화면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A59F3E-F0D0-4C8C-9447-03DECD2611B8}"/>
              </a:ext>
            </a:extLst>
          </p:cNvPr>
          <p:cNvSpPr>
            <a:spLocks noGrp="1"/>
          </p:cNvSpPr>
          <p:nvPr/>
        </p:nvSpPr>
        <p:spPr>
          <a:xfrm>
            <a:off x="876300" y="4667250"/>
            <a:ext cx="48006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[실제 화면 추가 예정]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DD8A1E3-11B1-4E3C-9A51-62B2A927DC83}"/>
              </a:ext>
            </a:extLst>
          </p:cNvPr>
          <p:cNvSpPr>
            <a:spLocks noGrp="1"/>
          </p:cNvSpPr>
          <p:nvPr/>
        </p:nvSpPr>
        <p:spPr>
          <a:xfrm>
            <a:off x="6334125" y="1819275"/>
            <a:ext cx="5172075" cy="3305175"/>
          </a:xfrm>
          <a:prstGeom prst="roundRect">
            <a:avLst>
              <a:gd name="adj" fmla="val 2305"/>
            </a:avLst>
          </a:prstGeom>
          <a:solidFill>
            <a:srgbClr val="F3F7FB"/>
          </a:solidFill>
          <a:ln w="9525">
            <a:solidFill>
              <a:srgbClr val="D7E3EE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D3F978-B741-4103-93A8-1A096834F291}"/>
              </a:ext>
            </a:extLst>
          </p:cNvPr>
          <p:cNvSpPr>
            <a:spLocks noGrp="1"/>
          </p:cNvSpPr>
          <p:nvPr/>
        </p:nvSpPr>
        <p:spPr>
          <a:xfrm>
            <a:off x="6524625" y="3071813"/>
            <a:ext cx="479107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[실제 화면 추가 예정]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DD2DCC-3662-4C7D-B35A-F39C908C4684}"/>
              </a:ext>
            </a:extLst>
          </p:cNvPr>
          <p:cNvSpPr>
            <a:spLocks noGrp="1"/>
          </p:cNvSpPr>
          <p:nvPr/>
        </p:nvSpPr>
        <p:spPr>
          <a:xfrm>
            <a:off x="6524625" y="3452813"/>
            <a:ext cx="47910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After · 고도화 화면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FDD162-D79B-471F-BFB1-A92717E182D5}"/>
              </a:ext>
            </a:extLst>
          </p:cNvPr>
          <p:cNvSpPr>
            <a:spLocks noGrp="1"/>
          </p:cNvSpPr>
          <p:nvPr/>
        </p:nvSpPr>
        <p:spPr>
          <a:xfrm>
            <a:off x="6524625" y="4667250"/>
            <a:ext cx="479107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[실제 화면 추가 예정]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9F5CE0D-38A6-404B-B154-5EBC8A51D67D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10820400" cy="466725"/>
          </a:xfrm>
          <a:prstGeom prst="roundRect">
            <a:avLst>
              <a:gd name="adj" fmla="val 16327"/>
            </a:avLst>
          </a:prstGeom>
          <a:solidFill>
            <a:srgbClr val="E9F3FB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61A94A-F233-4F66-8301-3B679FDFEF6F}"/>
              </a:ext>
            </a:extLst>
          </p:cNvPr>
          <p:cNvSpPr>
            <a:spLocks noGrp="1"/>
          </p:cNvSpPr>
          <p:nvPr/>
        </p:nvSpPr>
        <p:spPr>
          <a:xfrm>
            <a:off x="866775" y="5400675"/>
            <a:ext cx="104584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읽는 순서  무슨 사건인가   →   무엇이 중요하고 미확인인가   →   지금 무엇을 해야 하나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CA7D84E-D23F-4D59-9C03-49E994E677AC}"/>
              </a:ext>
            </a:extLst>
          </p:cNvPr>
          <p:cNvSpPr>
            <a:spLocks noGrp="1"/>
          </p:cNvSpPr>
          <p:nvPr/>
        </p:nvSpPr>
        <p:spPr>
          <a:xfrm>
            <a:off x="666750" y="5838825"/>
            <a:ext cx="10839450" cy="457200"/>
          </a:xfrm>
          <a:prstGeom prst="roundRect">
            <a:avLst>
              <a:gd name="adj" fmla="val 16667"/>
            </a:avLst>
          </a:prstGeom>
          <a:solidFill>
            <a:srgbClr val="FFF6DE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3683DC-BA9B-4567-ABC3-1E7C62218F0D}"/>
              </a:ext>
            </a:extLst>
          </p:cNvPr>
          <p:cNvSpPr>
            <a:spLocks noGrp="1"/>
          </p:cNvSpPr>
          <p:nvPr/>
        </p:nvSpPr>
        <p:spPr>
          <a:xfrm>
            <a:off x="828675" y="5905500"/>
            <a:ext cx="10525125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대표 Case의 동일 입력·동일 화면 상태로 Before/After를 촬영해야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3239062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DB8D57FF-27AB-450C-A3EE-82EEDA3A2B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47EDFE-E703-45E7-831D-F1034EC6C9F0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04 프로젝트 수행 경과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97E7E4-CEE1-475F-B4F0-7CFBA6A407A6}"/>
              </a:ext>
            </a:extLst>
          </p:cNvPr>
          <p:cNvSpPr>
            <a:spLocks noGrp="1"/>
          </p:cNvSpPr>
          <p:nvPr/>
        </p:nvSpPr>
        <p:spPr>
          <a:xfrm>
            <a:off x="609600" y="542925"/>
            <a:ext cx="109537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피드백·보완: 질문과 Fact를 연결했습니다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EC821C-1730-47B5-9D7A-BC54B644727C}"/>
              </a:ext>
            </a:extLst>
          </p:cNvPr>
          <p:cNvSpPr>
            <a:spLocks noGrp="1"/>
          </p:cNvSpPr>
          <p:nvPr/>
        </p:nvSpPr>
        <p:spPr>
          <a:xfrm>
            <a:off x="619125" y="1114425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제출 후 발견한 사용 흐름의 끊김을 상태·공개 범위·사실 확인 단계로 정리했습니다.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CD527-AD94-4FF5-8C92-2705D275AB73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1905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E0A957-95CA-4C1A-B1EE-285FFE8BF522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CSR   CASE SHARE ROOM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1889F6-91CD-457C-808F-EDDF7D7EC2E3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21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3A5B5E-228C-4AD3-9255-878386B62896}"/>
              </a:ext>
            </a:extLst>
          </p:cNvPr>
          <p:cNvSpPr>
            <a:spLocks noGrp="1"/>
          </p:cNvSpPr>
          <p:nvPr/>
        </p:nvSpPr>
        <p:spPr>
          <a:xfrm>
            <a:off x="781050" y="1781175"/>
            <a:ext cx="33242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문제·피드백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0CC3F6-A6E6-4E0A-80C3-F9A3D04A6986}"/>
              </a:ext>
            </a:extLst>
          </p:cNvPr>
          <p:cNvSpPr>
            <a:spLocks noGrp="1"/>
          </p:cNvSpPr>
          <p:nvPr/>
        </p:nvSpPr>
        <p:spPr>
          <a:xfrm>
            <a:off x="4448175" y="1781175"/>
            <a:ext cx="33242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개선 방향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94C4FC-FFDA-4145-9C29-04A7A3DF0E2E}"/>
              </a:ext>
            </a:extLst>
          </p:cNvPr>
          <p:cNvSpPr>
            <a:spLocks noGrp="1"/>
          </p:cNvSpPr>
          <p:nvPr/>
        </p:nvSpPr>
        <p:spPr>
          <a:xfrm>
            <a:off x="8115300" y="1781175"/>
            <a:ext cx="33242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필요한 결과 증거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0DF273-193A-433E-A94B-CEA24D54B0F3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10820400" cy="6381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FF494A-4D3A-4DB6-8372-A04FF8DD1125}"/>
              </a:ext>
            </a:extLst>
          </p:cNvPr>
          <p:cNvSpPr>
            <a:spLocks noGrp="1"/>
          </p:cNvSpPr>
          <p:nvPr/>
        </p:nvSpPr>
        <p:spPr>
          <a:xfrm>
            <a:off x="781050" y="2362200"/>
            <a:ext cx="33432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중복 질문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AAB3B9-CBC7-4591-91CE-3AF4EF4C4401}"/>
              </a:ext>
            </a:extLst>
          </p:cNvPr>
          <p:cNvSpPr>
            <a:spLocks noGrp="1"/>
          </p:cNvSpPr>
          <p:nvPr/>
        </p:nvSpPr>
        <p:spPr>
          <a:xfrm>
            <a:off x="4448175" y="2362200"/>
            <a:ext cx="33432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질문 상태·Context 반영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46A8F4-CB41-435F-9DDB-A00BE1A49D4A}"/>
              </a:ext>
            </a:extLst>
          </p:cNvPr>
          <p:cNvSpPr>
            <a:spLocks noGrp="1"/>
          </p:cNvSpPr>
          <p:nvPr/>
        </p:nvSpPr>
        <p:spPr>
          <a:xfrm>
            <a:off x="8115300" y="2362200"/>
            <a:ext cx="33432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추천 전/후와 질문 상태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D3EE37-706E-4EBA-AF91-B9C4A725CEA8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10820400" cy="638175"/>
          </a:xfrm>
          <a:prstGeom prst="rect">
            <a:avLst/>
          </a:prstGeom>
          <a:solidFill>
            <a:srgbClr val="F3F7FB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4ED0C1-7853-4436-966C-E2610DACB262}"/>
              </a:ext>
            </a:extLst>
          </p:cNvPr>
          <p:cNvSpPr>
            <a:spLocks noGrp="1"/>
          </p:cNvSpPr>
          <p:nvPr/>
        </p:nvSpPr>
        <p:spPr>
          <a:xfrm>
            <a:off x="781050" y="3124200"/>
            <a:ext cx="33432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대화 범위 혼재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1ECCE8-BA1E-469D-9E85-9823DBAC66E3}"/>
              </a:ext>
            </a:extLst>
          </p:cNvPr>
          <p:cNvSpPr>
            <a:spLocks noGrp="1"/>
          </p:cNvSpPr>
          <p:nvPr/>
        </p:nvSpPr>
        <p:spPr>
          <a:xfrm>
            <a:off x="4448175" y="3124200"/>
            <a:ext cx="33432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TEAM/CUSTOMER 분리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65D9DA-4327-4963-8B6F-871D35FF2F0B}"/>
              </a:ext>
            </a:extLst>
          </p:cNvPr>
          <p:cNvSpPr>
            <a:spLocks noGrp="1"/>
          </p:cNvSpPr>
          <p:nvPr/>
        </p:nvSpPr>
        <p:spPr>
          <a:xfrm>
            <a:off x="8115300" y="3124200"/>
            <a:ext cx="33432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역할별 화면 비교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B42EBA-1CCD-48CD-AE29-6E6C016AFA00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10820400" cy="6381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9D7A9A-0AE8-483D-895B-29B0287B91DC}"/>
              </a:ext>
            </a:extLst>
          </p:cNvPr>
          <p:cNvSpPr>
            <a:spLocks noGrp="1"/>
          </p:cNvSpPr>
          <p:nvPr/>
        </p:nvSpPr>
        <p:spPr>
          <a:xfrm>
            <a:off x="781050" y="3886200"/>
            <a:ext cx="33432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답변의 활용 단절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DDF91B-0963-4DBC-A157-DFA66D02D5B3}"/>
              </a:ext>
            </a:extLst>
          </p:cNvPr>
          <p:cNvSpPr>
            <a:spLocks noGrp="1"/>
          </p:cNvSpPr>
          <p:nvPr/>
        </p:nvSpPr>
        <p:spPr>
          <a:xfrm>
            <a:off x="4448175" y="3886200"/>
            <a:ext cx="33432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PROPOSED → 담당자 확인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E6E6C2-FC2B-43E6-BF5E-D90904274074}"/>
              </a:ext>
            </a:extLst>
          </p:cNvPr>
          <p:cNvSpPr>
            <a:spLocks noGrp="1"/>
          </p:cNvSpPr>
          <p:nvPr/>
        </p:nvSpPr>
        <p:spPr>
          <a:xfrm>
            <a:off x="8115300" y="3886200"/>
            <a:ext cx="33432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원문·Fact·Context 전후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959CDA-5E20-413A-B3C8-0A4706B8C0BD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10820400" cy="638175"/>
          </a:xfrm>
          <a:prstGeom prst="rect">
            <a:avLst/>
          </a:prstGeom>
          <a:solidFill>
            <a:srgbClr val="F3F7FB"/>
          </a:solidFill>
          <a:ln w="0">
            <a:noFill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F55AA90-8742-46CE-8C53-D9B1CEF62802}"/>
              </a:ext>
            </a:extLst>
          </p:cNvPr>
          <p:cNvSpPr>
            <a:spLocks noGrp="1"/>
          </p:cNvSpPr>
          <p:nvPr/>
        </p:nvSpPr>
        <p:spPr>
          <a:xfrm>
            <a:off x="781050" y="4648200"/>
            <a:ext cx="33432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전체 흐름 미연결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602E22-9B1D-4AF5-B34B-2D3F130D8C47}"/>
              </a:ext>
            </a:extLst>
          </p:cNvPr>
          <p:cNvSpPr>
            <a:spLocks noGrp="1"/>
          </p:cNvSpPr>
          <p:nvPr/>
        </p:nvSpPr>
        <p:spPr>
          <a:xfrm>
            <a:off x="4448175" y="4648200"/>
            <a:ext cx="33432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질문→응답→후속 확인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531DD16-2310-4FE0-A54A-68CADD87196B}"/>
              </a:ext>
            </a:extLst>
          </p:cNvPr>
          <p:cNvSpPr>
            <a:spLocks noGrp="1"/>
          </p:cNvSpPr>
          <p:nvPr/>
        </p:nvSpPr>
        <p:spPr>
          <a:xfrm>
            <a:off x="8115300" y="4648200"/>
            <a:ext cx="33432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대표 Case E2E 기록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71E8F99-18FF-4FF3-B8E2-72E7C5197BE0}"/>
              </a:ext>
            </a:extLst>
          </p:cNvPr>
          <p:cNvSpPr>
            <a:spLocks noGrp="1"/>
          </p:cNvSpPr>
          <p:nvPr/>
        </p:nvSpPr>
        <p:spPr>
          <a:xfrm>
            <a:off x="666750" y="5838825"/>
            <a:ext cx="10839450" cy="457200"/>
          </a:xfrm>
          <a:prstGeom prst="roundRect">
            <a:avLst>
              <a:gd name="adj" fmla="val 16667"/>
            </a:avLst>
          </a:prstGeom>
          <a:solidFill>
            <a:srgbClr val="FFF6DE"/>
          </a:solidFill>
          <a:ln w="0"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9376CBE-BBB0-498C-B31D-688C2568BA98}"/>
              </a:ext>
            </a:extLst>
          </p:cNvPr>
          <p:cNvSpPr>
            <a:spLocks noGrp="1"/>
          </p:cNvSpPr>
          <p:nvPr/>
        </p:nvSpPr>
        <p:spPr>
          <a:xfrm>
            <a:off x="828675" y="5905500"/>
            <a:ext cx="10525125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개선 효과는 실제 같은 Case의 상태·화면·저장값으로 보여줘야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9989183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0A97988-7E59-41CB-9C15-428AA24BDC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DB01AA-AC8C-4832-BBA3-1B7B1A0A7C1F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04 프로젝트 수행 경과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1AF47A-E6DE-4661-ABE4-2FC361BEA78B}"/>
              </a:ext>
            </a:extLst>
          </p:cNvPr>
          <p:cNvSpPr>
            <a:spLocks noGrp="1"/>
          </p:cNvSpPr>
          <p:nvPr/>
        </p:nvSpPr>
        <p:spPr>
          <a:xfrm>
            <a:off x="609600" y="542925"/>
            <a:ext cx="109537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구동 화면과 결과물 증거 수집 위치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88D30B-A8F6-47B4-BED9-3A567F384E74}"/>
              </a:ext>
            </a:extLst>
          </p:cNvPr>
          <p:cNvSpPr>
            <a:spLocks noGrp="1"/>
          </p:cNvSpPr>
          <p:nvPr/>
        </p:nvSpPr>
        <p:spPr>
          <a:xfrm>
            <a:off x="619125" y="1114425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최종 발표 전 대표 Case 하나로 화면·API·DB·시연 영상을 묶어야 합니다.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433EFC-4706-4457-A4EA-DE32EA03C0DB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1905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FA469F-70EB-40E4-B710-CDA424AFB5AA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CSR   CASE SHARE ROOM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052DB4-0459-4CB8-AAE5-0FB64149CC1E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DA6785F-AADE-4C58-B1E0-7F2CF26D7E3E}"/>
              </a:ext>
            </a:extLst>
          </p:cNvPr>
          <p:cNvSpPr>
            <a:spLocks noGrp="1"/>
          </p:cNvSpPr>
          <p:nvPr/>
        </p:nvSpPr>
        <p:spPr>
          <a:xfrm>
            <a:off x="666750" y="1781175"/>
            <a:ext cx="10810875" cy="723900"/>
          </a:xfrm>
          <a:prstGeom prst="roundRect">
            <a:avLst>
              <a:gd name="adj" fmla="val 10526"/>
            </a:avLst>
          </a:prstGeom>
          <a:solidFill>
            <a:srgbClr val="F3F7FB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43768A-8C43-4746-A1B6-C556D216BE78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590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88FB8D-9BEC-42A6-8718-4F210EE0680D}"/>
              </a:ext>
            </a:extLst>
          </p:cNvPr>
          <p:cNvSpPr>
            <a:spLocks noGrp="1"/>
          </p:cNvSpPr>
          <p:nvPr/>
        </p:nvSpPr>
        <p:spPr>
          <a:xfrm>
            <a:off x="1504950" y="1876425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실제 화면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A3959A-3DB5-4F28-94CE-A6BCC43A91D7}"/>
              </a:ext>
            </a:extLst>
          </p:cNvPr>
          <p:cNvSpPr>
            <a:spLocks noGrp="1"/>
          </p:cNvSpPr>
          <p:nvPr/>
        </p:nvSpPr>
        <p:spPr>
          <a:xfrm>
            <a:off x="3857625" y="1876425"/>
            <a:ext cx="7429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Case 생성, 담당자 ROOM, 고객 ROOM, Fact 검토, 종결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79A0DF8-00F9-4FE6-84A0-62479875D2BD}"/>
              </a:ext>
            </a:extLst>
          </p:cNvPr>
          <p:cNvSpPr>
            <a:spLocks noGrp="1"/>
          </p:cNvSpPr>
          <p:nvPr/>
        </p:nvSpPr>
        <p:spPr>
          <a:xfrm>
            <a:off x="666750" y="2695575"/>
            <a:ext cx="10810875" cy="723900"/>
          </a:xfrm>
          <a:prstGeom prst="roundRect">
            <a:avLst>
              <a:gd name="adj" fmla="val 10526"/>
            </a:avLst>
          </a:prstGeom>
          <a:solidFill>
            <a:srgbClr val="F3F7FB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4B2B69-CC26-4BD0-A898-661C03870BE2}"/>
              </a:ext>
            </a:extLst>
          </p:cNvPr>
          <p:cNvSpPr>
            <a:spLocks noGrp="1"/>
          </p:cNvSpPr>
          <p:nvPr/>
        </p:nvSpPr>
        <p:spPr>
          <a:xfrm>
            <a:off x="838200" y="2857500"/>
            <a:ext cx="590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CE3547-4EE3-42C1-ABA7-899B7A68E5E4}"/>
              </a:ext>
            </a:extLst>
          </p:cNvPr>
          <p:cNvSpPr>
            <a:spLocks noGrp="1"/>
          </p:cNvSpPr>
          <p:nvPr/>
        </p:nvSpPr>
        <p:spPr>
          <a:xfrm>
            <a:off x="1504950" y="2790825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API·DB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CF7170-4772-4F87-9E37-381E0F1ACEDC}"/>
              </a:ext>
            </a:extLst>
          </p:cNvPr>
          <p:cNvSpPr>
            <a:spLocks noGrp="1"/>
          </p:cNvSpPr>
          <p:nvPr/>
        </p:nvSpPr>
        <p:spPr>
          <a:xfrm>
            <a:off x="3857625" y="2790825"/>
            <a:ext cx="7429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대표 Endpoint 요청/응답, 저장 행, 상태 전이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FAA9D9E-C349-449C-A74B-E69E5857BE5C}"/>
              </a:ext>
            </a:extLst>
          </p:cNvPr>
          <p:cNvSpPr>
            <a:spLocks noGrp="1"/>
          </p:cNvSpPr>
          <p:nvPr/>
        </p:nvSpPr>
        <p:spPr>
          <a:xfrm>
            <a:off x="666750" y="3609975"/>
            <a:ext cx="10810875" cy="723900"/>
          </a:xfrm>
          <a:prstGeom prst="roundRect">
            <a:avLst>
              <a:gd name="adj" fmla="val 10526"/>
            </a:avLst>
          </a:prstGeom>
          <a:solidFill>
            <a:srgbClr val="E9F3FB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E4BE98-861D-4AE3-87FA-F39D321401F2}"/>
              </a:ext>
            </a:extLst>
          </p:cNvPr>
          <p:cNvSpPr>
            <a:spLocks noGrp="1"/>
          </p:cNvSpPr>
          <p:nvPr/>
        </p:nvSpPr>
        <p:spPr>
          <a:xfrm>
            <a:off x="838200" y="3771900"/>
            <a:ext cx="590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D57A3E-6000-4B55-9059-6E0708746919}"/>
              </a:ext>
            </a:extLst>
          </p:cNvPr>
          <p:cNvSpPr>
            <a:spLocks noGrp="1"/>
          </p:cNvSpPr>
          <p:nvPr/>
        </p:nvSpPr>
        <p:spPr>
          <a:xfrm>
            <a:off x="1504950" y="3705225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시연 영상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0F3E2DB-7066-41D9-9EBC-BEF343088808}"/>
              </a:ext>
            </a:extLst>
          </p:cNvPr>
          <p:cNvSpPr>
            <a:spLocks noGrp="1"/>
          </p:cNvSpPr>
          <p:nvPr/>
        </p:nvSpPr>
        <p:spPr>
          <a:xfrm>
            <a:off x="3857625" y="3705225"/>
            <a:ext cx="7429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기능 동작 중심 5~10분, 소개 음성 포함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EA2C13D-96FE-42FC-8870-E307547D13E8}"/>
              </a:ext>
            </a:extLst>
          </p:cNvPr>
          <p:cNvSpPr>
            <a:spLocks noGrp="1"/>
          </p:cNvSpPr>
          <p:nvPr/>
        </p:nvSpPr>
        <p:spPr>
          <a:xfrm>
            <a:off x="666750" y="4524375"/>
            <a:ext cx="10810875" cy="723900"/>
          </a:xfrm>
          <a:prstGeom prst="roundRect">
            <a:avLst>
              <a:gd name="adj" fmla="val 10526"/>
            </a:avLst>
          </a:prstGeom>
          <a:solidFill>
            <a:srgbClr val="F3F7FB"/>
          </a:solidFill>
          <a:ln w="0">
            <a:noFill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329719-3304-4D75-99C1-30303EA0C3E1}"/>
              </a:ext>
            </a:extLst>
          </p:cNvPr>
          <p:cNvSpPr>
            <a:spLocks noGrp="1"/>
          </p:cNvSpPr>
          <p:nvPr/>
        </p:nvSpPr>
        <p:spPr>
          <a:xfrm>
            <a:off x="838200" y="4686300"/>
            <a:ext cx="590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179048-036A-4C4F-ACB9-05148CBEAB2E}"/>
              </a:ext>
            </a:extLst>
          </p:cNvPr>
          <p:cNvSpPr>
            <a:spLocks noGrp="1"/>
          </p:cNvSpPr>
          <p:nvPr/>
        </p:nvSpPr>
        <p:spPr>
          <a:xfrm>
            <a:off x="1504950" y="4619625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표기 규칙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3A6A2E-1AFC-41F3-9043-DC9A6556AAD9}"/>
              </a:ext>
            </a:extLst>
          </p:cNvPr>
          <p:cNvSpPr>
            <a:spLocks noGrp="1"/>
          </p:cNvSpPr>
          <p:nvPr/>
        </p:nvSpPr>
        <p:spPr>
          <a:xfrm>
            <a:off x="3857625" y="4619625"/>
            <a:ext cx="7429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Demo/Mock/현재 구현/향후 적용 방향 구분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185346C-D5B8-4BC7-B325-A8552B99A06C}"/>
              </a:ext>
            </a:extLst>
          </p:cNvPr>
          <p:cNvSpPr>
            <a:spLocks noGrp="1"/>
          </p:cNvSpPr>
          <p:nvPr/>
        </p:nvSpPr>
        <p:spPr>
          <a:xfrm>
            <a:off x="666750" y="5838825"/>
            <a:ext cx="10839450" cy="457200"/>
          </a:xfrm>
          <a:prstGeom prst="roundRect">
            <a:avLst>
              <a:gd name="adj" fmla="val 16667"/>
            </a:avLst>
          </a:prstGeom>
          <a:solidFill>
            <a:srgbClr val="FFF6DE"/>
          </a:solidFill>
          <a:ln w="0">
            <a:noFill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31A951-F8AA-4D6A-A5FB-F9B6CA22A4D4}"/>
              </a:ext>
            </a:extLst>
          </p:cNvPr>
          <p:cNvSpPr>
            <a:spLocks noGrp="1"/>
          </p:cNvSpPr>
          <p:nvPr/>
        </p:nvSpPr>
        <p:spPr>
          <a:xfrm>
            <a:off x="828675" y="5905500"/>
            <a:ext cx="10525125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[실제 화면·API·DB·시연 증거 추가 예정]   현재 초안에는 Runtime 성공 증명이 포함되지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5422838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07866DF-952A-4A67-859F-4CD3A91A3E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2809E9-07BF-4E56-882F-9A0230EA15E7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05 자체 평가 의견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017DD2-0B49-4250-9E23-29C0BB7BA7ED}"/>
              </a:ext>
            </a:extLst>
          </p:cNvPr>
          <p:cNvSpPr>
            <a:spLocks noGrp="1"/>
          </p:cNvSpPr>
          <p:nvPr/>
        </p:nvSpPr>
        <p:spPr>
          <a:xfrm>
            <a:off x="609600" y="542925"/>
            <a:ext cx="109537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기획 의도와 결과물의 부합 정도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917F47-7970-45AC-B06C-CC6914CA8073}"/>
              </a:ext>
            </a:extLst>
          </p:cNvPr>
          <p:cNvSpPr>
            <a:spLocks noGrp="1"/>
          </p:cNvSpPr>
          <p:nvPr/>
        </p:nvSpPr>
        <p:spPr>
          <a:xfrm>
            <a:off x="619125" y="1114425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탐지 이후 담당자 조사·고객 확인을 연결하는 핵심 설계를 MVP로 표현했습니다.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492687-25FC-4FA9-BB76-7F5CC172680A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1905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FAACAF-81A4-4273-8896-28F53443D84E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CSR   CASE SHARE ROOM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A20E73-FE37-4F61-89A9-D701B4F125A3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23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6AB84D6-1B62-4A27-9609-2E6C3E0F5757}"/>
              </a:ext>
            </a:extLst>
          </p:cNvPr>
          <p:cNvSpPr>
            <a:spLocks noGrp="1"/>
          </p:cNvSpPr>
          <p:nvPr/>
        </p:nvSpPr>
        <p:spPr>
          <a:xfrm>
            <a:off x="685800" y="1895475"/>
            <a:ext cx="5162550" cy="2619375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D7E3EE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7258EB-03FE-49B2-A8B7-9001E1F5C64B}"/>
              </a:ext>
            </a:extLst>
          </p:cNvPr>
          <p:cNvSpPr>
            <a:spLocks noGrp="1"/>
          </p:cNvSpPr>
          <p:nvPr/>
        </p:nvSpPr>
        <p:spPr>
          <a:xfrm>
            <a:off x="685800" y="1895475"/>
            <a:ext cx="47625" cy="2619375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B65883-0EB0-481E-8674-D9F65B0515D4}"/>
              </a:ext>
            </a:extLst>
          </p:cNvPr>
          <p:cNvSpPr>
            <a:spLocks noGrp="1"/>
          </p:cNvSpPr>
          <p:nvPr/>
        </p:nvSpPr>
        <p:spPr>
          <a:xfrm>
            <a:off x="895350" y="2047875"/>
            <a:ext cx="47434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C16ED9-7BEA-43BC-9EF2-D4664308D12C}"/>
              </a:ext>
            </a:extLst>
          </p:cNvPr>
          <p:cNvSpPr>
            <a:spLocks noGrp="1"/>
          </p:cNvSpPr>
          <p:nvPr/>
        </p:nvSpPr>
        <p:spPr>
          <a:xfrm>
            <a:off x="895350" y="2447925"/>
            <a:ext cx="4743450" cy="1933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흩어진 Evidence·고객 응답을 Case로 관리</a:t>
            </a:r>
          </a:p>
          <a:p>
            <a:pPr algn="l">
              <a:defRPr sz="157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AI는 정리·추천하고 담당자가 확인·판단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CC1216D-C636-48A5-8E45-C52F5D472EEC}"/>
              </a:ext>
            </a:extLst>
          </p:cNvPr>
          <p:cNvSpPr>
            <a:spLocks noGrp="1"/>
          </p:cNvSpPr>
          <p:nvPr/>
        </p:nvSpPr>
        <p:spPr>
          <a:xfrm>
            <a:off x="6343650" y="1895475"/>
            <a:ext cx="5162550" cy="2619375"/>
          </a:xfrm>
          <a:prstGeom prst="roundRect">
            <a:avLst>
              <a:gd name="adj" fmla="val 2909"/>
            </a:avLst>
          </a:prstGeom>
          <a:solidFill>
            <a:srgbClr val="F3F7FB"/>
          </a:solidFill>
          <a:ln w="9525">
            <a:solidFill>
              <a:srgbClr val="D7E3EE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BC075E-BEDF-41AE-9C87-C13E2B491D69}"/>
              </a:ext>
            </a:extLst>
          </p:cNvPr>
          <p:cNvSpPr>
            <a:spLocks noGrp="1"/>
          </p:cNvSpPr>
          <p:nvPr/>
        </p:nvSpPr>
        <p:spPr>
          <a:xfrm>
            <a:off x="6343650" y="1895475"/>
            <a:ext cx="47625" cy="2619375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A37548-28B6-46EE-AD31-0AC4661AFD0F}"/>
              </a:ext>
            </a:extLst>
          </p:cNvPr>
          <p:cNvSpPr>
            <a:spLocks noGrp="1"/>
          </p:cNvSpPr>
          <p:nvPr/>
        </p:nvSpPr>
        <p:spPr>
          <a:xfrm>
            <a:off x="6553200" y="2047875"/>
            <a:ext cx="47434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현재 결과·달성도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602CA7-2C08-4468-88C2-C41A902F7F88}"/>
              </a:ext>
            </a:extLst>
          </p:cNvPr>
          <p:cNvSpPr>
            <a:spLocks noGrp="1"/>
          </p:cNvSpPr>
          <p:nvPr/>
        </p:nvSpPr>
        <p:spPr>
          <a:xfrm>
            <a:off x="6553200" y="2447925"/>
            <a:ext cx="4743450" cy="1933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Case·ROOM·질문·Fact 경로를 구현 자료에 정리</a:t>
            </a:r>
          </a:p>
          <a:p>
            <a:pPr algn="l">
              <a:defRPr sz="157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전체 E2E와 Context 갱신은 Runtime 확인 필요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A1BB76B-F29B-4C72-8F8A-4C862471895F}"/>
              </a:ext>
            </a:extLst>
          </p:cNvPr>
          <p:cNvSpPr>
            <a:spLocks noGrp="1"/>
          </p:cNvSpPr>
          <p:nvPr/>
        </p:nvSpPr>
        <p:spPr>
          <a:xfrm>
            <a:off x="685800" y="4743450"/>
            <a:ext cx="10820400" cy="828675"/>
          </a:xfrm>
          <a:prstGeom prst="roundRect">
            <a:avLst>
              <a:gd name="adj" fmla="val 9195"/>
            </a:avLst>
          </a:prstGeom>
          <a:solidFill>
            <a:srgbClr val="FFF6DE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242414-ACB5-45C7-96F1-78505CC45978}"/>
              </a:ext>
            </a:extLst>
          </p:cNvPr>
          <p:cNvSpPr>
            <a:spLocks noGrp="1"/>
          </p:cNvSpPr>
          <p:nvPr/>
        </p:nvSpPr>
        <p:spPr>
          <a:xfrm>
            <a:off x="819150" y="4772025"/>
            <a:ext cx="10553700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자체 완성도  [팀 합의 후 입력] / 10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25AF41E-F945-4A65-B5D3-7E52E3447015}"/>
              </a:ext>
            </a:extLst>
          </p:cNvPr>
          <p:cNvSpPr>
            <a:spLocks noGrp="1"/>
          </p:cNvSpPr>
          <p:nvPr/>
        </p:nvSpPr>
        <p:spPr>
          <a:xfrm>
            <a:off x="666750" y="5838825"/>
            <a:ext cx="10839450" cy="457200"/>
          </a:xfrm>
          <a:prstGeom prst="roundRect">
            <a:avLst>
              <a:gd name="adj" fmla="val 16667"/>
            </a:avLst>
          </a:prstGeom>
          <a:solidFill>
            <a:srgbClr val="FFF6DE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D44203-CC53-4837-A1D0-63AFC7109093}"/>
              </a:ext>
            </a:extLst>
          </p:cNvPr>
          <p:cNvSpPr>
            <a:spLocks noGrp="1"/>
          </p:cNvSpPr>
          <p:nvPr/>
        </p:nvSpPr>
        <p:spPr>
          <a:xfrm>
            <a:off x="828675" y="5905500"/>
            <a:ext cx="10525125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점수 근거  E2E 정상 동작, 배포 상태, Mock 범위, 실사용·정량 검증 수준</a:t>
            </a:r>
          </a:p>
        </p:txBody>
      </p:sp>
    </p:spTree>
    <p:extLst>
      <p:ext uri="{BB962C8B-B14F-4D97-AF65-F5344CB8AC3E}">
        <p14:creationId xmlns:p14="http://schemas.microsoft.com/office/powerpoint/2010/main" val="3142027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505BB62-6DD3-4ED4-A785-CE6E5CDBAD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7FC290-C50A-4830-AA3F-5C0840B91602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05 자체 평가 의견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4B2BDA-A77E-40FD-892C-E206735D9DB4}"/>
              </a:ext>
            </a:extLst>
          </p:cNvPr>
          <p:cNvSpPr>
            <a:spLocks noGrp="1"/>
          </p:cNvSpPr>
          <p:nvPr/>
        </p:nvSpPr>
        <p:spPr>
          <a:xfrm>
            <a:off x="609600" y="542925"/>
            <a:ext cx="109537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잘한 점과 현재 한계를 함께 평가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E82904-E372-4456-A20F-6712E29091C7}"/>
              </a:ext>
            </a:extLst>
          </p:cNvPr>
          <p:cNvSpPr>
            <a:spLocks noGrp="1"/>
          </p:cNvSpPr>
          <p:nvPr/>
        </p:nvSpPr>
        <p:spPr>
          <a:xfrm>
            <a:off x="619125" y="1114425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실무 적용 가능성은 있으나 금융기관 연동·보안·정량 검증은 남아 있습니다.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22F664-19FD-4E36-A4D4-86D90AE8FAFD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1905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01CD38-A364-4340-9624-EB432273CAC3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CSR   CASE SHARE ROOM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4F9773-B81A-4A95-AD6B-4B02A5D48595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24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EBBB713-087D-4743-A18C-16586610EC7A}"/>
              </a:ext>
            </a:extLst>
          </p:cNvPr>
          <p:cNvSpPr>
            <a:spLocks noGrp="1"/>
          </p:cNvSpPr>
          <p:nvPr/>
        </p:nvSpPr>
        <p:spPr>
          <a:xfrm>
            <a:off x="695325" y="1809750"/>
            <a:ext cx="5162550" cy="3162300"/>
          </a:xfrm>
          <a:prstGeom prst="roundRect">
            <a:avLst>
              <a:gd name="adj" fmla="val 2410"/>
            </a:avLst>
          </a:prstGeom>
          <a:solidFill>
            <a:srgbClr val="E8F5F1"/>
          </a:solidFill>
          <a:ln w="9525">
            <a:solidFill>
              <a:srgbClr val="D7E3EE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7672B1-A07F-4FE3-AC2D-1766EEEF1566}"/>
              </a:ext>
            </a:extLst>
          </p:cNvPr>
          <p:cNvSpPr>
            <a:spLocks noGrp="1"/>
          </p:cNvSpPr>
          <p:nvPr/>
        </p:nvSpPr>
        <p:spPr>
          <a:xfrm>
            <a:off x="695325" y="1809750"/>
            <a:ext cx="47625" cy="3162300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4B9BA9-2759-4D8F-A6CC-56642E2AFBCF}"/>
              </a:ext>
            </a:extLst>
          </p:cNvPr>
          <p:cNvSpPr>
            <a:spLocks noGrp="1"/>
          </p:cNvSpPr>
          <p:nvPr/>
        </p:nvSpPr>
        <p:spPr>
          <a:xfrm>
            <a:off x="904875" y="1962150"/>
            <a:ext cx="47434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잘한 점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933FD1-087B-4504-A104-AC1C02839793}"/>
              </a:ext>
            </a:extLst>
          </p:cNvPr>
          <p:cNvSpPr>
            <a:spLocks noGrp="1"/>
          </p:cNvSpPr>
          <p:nvPr/>
        </p:nvSpPr>
        <p:spPr>
          <a:xfrm>
            <a:off x="904875" y="2362200"/>
            <a:ext cx="4743450" cy="2476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AI 추천에 사람 검토를 배치</a:t>
            </a:r>
          </a:p>
          <a:p>
            <a:pPr algn="l">
              <a:defRPr sz="157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Evidence와 고객 진술을 구분</a:t>
            </a:r>
          </a:p>
          <a:p>
            <a:pPr algn="l">
              <a:defRPr sz="157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역할별 공개 범위를 설계</a:t>
            </a:r>
          </a:p>
          <a:p>
            <a:pPr algn="l">
              <a:defRPr sz="157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제출 후 사용 흐름을 다시 점검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78F9B78-5663-4F73-8B35-988C3B218698}"/>
              </a:ext>
            </a:extLst>
          </p:cNvPr>
          <p:cNvSpPr>
            <a:spLocks noGrp="1"/>
          </p:cNvSpPr>
          <p:nvPr/>
        </p:nvSpPr>
        <p:spPr>
          <a:xfrm>
            <a:off x="6343650" y="1809750"/>
            <a:ext cx="5162550" cy="3162300"/>
          </a:xfrm>
          <a:prstGeom prst="roundRect">
            <a:avLst>
              <a:gd name="adj" fmla="val 2410"/>
            </a:avLst>
          </a:prstGeom>
          <a:solidFill>
            <a:srgbClr val="F3F7FB"/>
          </a:solidFill>
          <a:ln w="9525">
            <a:solidFill>
              <a:srgbClr val="D7E3EE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CF653A-6912-4C4A-993A-0A9236586D42}"/>
              </a:ext>
            </a:extLst>
          </p:cNvPr>
          <p:cNvSpPr>
            <a:spLocks noGrp="1"/>
          </p:cNvSpPr>
          <p:nvPr/>
        </p:nvSpPr>
        <p:spPr>
          <a:xfrm>
            <a:off x="6343650" y="1809750"/>
            <a:ext cx="47625" cy="3162300"/>
          </a:xfrm>
          <a:prstGeom prst="rect">
            <a:avLst/>
          </a:prstGeom>
          <a:solidFill>
            <a:srgbClr val="1868B7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EFC5E3-5312-4EFE-A7C4-8C939B1FD4B9}"/>
              </a:ext>
            </a:extLst>
          </p:cNvPr>
          <p:cNvSpPr>
            <a:spLocks noGrp="1"/>
          </p:cNvSpPr>
          <p:nvPr/>
        </p:nvSpPr>
        <p:spPr>
          <a:xfrm>
            <a:off x="6553200" y="1962150"/>
            <a:ext cx="47434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아쉬운 점·현재 한계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177B1C-91EA-485D-B3D1-2994A1F6BD66}"/>
              </a:ext>
            </a:extLst>
          </p:cNvPr>
          <p:cNvSpPr>
            <a:spLocks noGrp="1"/>
          </p:cNvSpPr>
          <p:nvPr/>
        </p:nvSpPr>
        <p:spPr>
          <a:xfrm>
            <a:off x="6553200" y="2362200"/>
            <a:ext cx="4743450" cy="2476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실제 FDS·거래 시스템 직접 연동 없음</a:t>
            </a:r>
          </a:p>
          <a:p>
            <a:pPr algn="l">
              <a:defRPr sz="157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운영 수준 인증·권한·감사 로그 부족</a:t>
            </a:r>
          </a:p>
          <a:p>
            <a:pPr algn="l">
              <a:defRPr sz="157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외부 기관 자동 Verification 없음</a:t>
            </a:r>
          </a:p>
          <a:p>
            <a:pPr algn="l">
              <a:defRPr sz="157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실사용·정량 효과 검증 부족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4CD691A-3A17-4F2B-B89D-06A5263A07CA}"/>
              </a:ext>
            </a:extLst>
          </p:cNvPr>
          <p:cNvSpPr>
            <a:spLocks noGrp="1"/>
          </p:cNvSpPr>
          <p:nvPr/>
        </p:nvSpPr>
        <p:spPr>
          <a:xfrm>
            <a:off x="666750" y="5838825"/>
            <a:ext cx="10839450" cy="457200"/>
          </a:xfrm>
          <a:prstGeom prst="roundRect">
            <a:avLst>
              <a:gd name="adj" fmla="val 16667"/>
            </a:avLst>
          </a:prstGeom>
          <a:solidFill>
            <a:srgbClr val="FFF6DE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ADB1A4-8A0F-4F8C-B571-72B464650D19}"/>
              </a:ext>
            </a:extLst>
          </p:cNvPr>
          <p:cNvSpPr>
            <a:spLocks noGrp="1"/>
          </p:cNvSpPr>
          <p:nvPr/>
        </p:nvSpPr>
        <p:spPr>
          <a:xfrm>
            <a:off x="828675" y="5905500"/>
            <a:ext cx="10525125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은행 Web·기존 App 연계는 활용 목표이며 실제 운영 적용을 완료한 상태는 아닙니다.</a:t>
            </a:r>
          </a:p>
        </p:txBody>
      </p:sp>
    </p:spTree>
    <p:extLst>
      <p:ext uri="{BB962C8B-B14F-4D97-AF65-F5344CB8AC3E}">
        <p14:creationId xmlns:p14="http://schemas.microsoft.com/office/powerpoint/2010/main" val="207504065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9DDE3E8-8F22-4873-A054-3BE0F3341E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84E9C9-3157-4A94-A136-53E30444927E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05 자체 평가 의견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3B3B4F-5F67-4F28-BB54-EE51090B872A}"/>
              </a:ext>
            </a:extLst>
          </p:cNvPr>
          <p:cNvSpPr>
            <a:spLocks noGrp="1"/>
          </p:cNvSpPr>
          <p:nvPr/>
        </p:nvSpPr>
        <p:spPr>
          <a:xfrm>
            <a:off x="609600" y="542925"/>
            <a:ext cx="109537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향후 개선과 프로젝트에서 배운 점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586BE6-9E87-4B5E-A424-09FAFC9D667C}"/>
              </a:ext>
            </a:extLst>
          </p:cNvPr>
          <p:cNvSpPr>
            <a:spLocks noGrp="1"/>
          </p:cNvSpPr>
          <p:nvPr/>
        </p:nvSpPr>
        <p:spPr>
          <a:xfrm>
            <a:off x="619125" y="1114425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1647B"/>
                </a:solidFill>
                <a:latin typeface="Noto Sans KR"/>
                <a:ea typeface="Noto Sans KR"/>
                <a:cs typeface="Noto Sans KR"/>
              </a:rPr>
              <a:t>남은 과제는 현재 MVP의 미구현 범위와 직접 연결됩니다.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DBFA50-61C7-4DFD-832B-516BB879B25B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1905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FF4796-A9DC-493A-BAA9-7C66328FAF51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CSR   CASE SHARE ROOM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1AC7DA-BF01-46FC-81D8-2881B06ED27D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98099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9910B1A-8E23-497D-B986-2848A5D599B6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10810875" cy="723900"/>
          </a:xfrm>
          <a:prstGeom prst="roundRect">
            <a:avLst>
              <a:gd name="adj" fmla="val 10526"/>
            </a:avLst>
          </a:prstGeom>
          <a:solidFill>
            <a:srgbClr val="F3F7FB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D40F08-6571-46A1-B353-6F277B114BE2}"/>
              </a:ext>
            </a:extLst>
          </p:cNvPr>
          <p:cNvSpPr>
            <a:spLocks noGrp="1"/>
          </p:cNvSpPr>
          <p:nvPr/>
        </p:nvSpPr>
        <p:spPr>
          <a:xfrm>
            <a:off x="838200" y="1924050"/>
            <a:ext cx="590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F2ABB5-956F-41CD-9199-22F883A056AB}"/>
              </a:ext>
            </a:extLst>
          </p:cNvPr>
          <p:cNvSpPr>
            <a:spLocks noGrp="1"/>
          </p:cNvSpPr>
          <p:nvPr/>
        </p:nvSpPr>
        <p:spPr>
          <a:xfrm>
            <a:off x="1504950" y="1857375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입력 품질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FAB598-F277-419F-AA2D-82AD81CEBFAF}"/>
              </a:ext>
            </a:extLst>
          </p:cNvPr>
          <p:cNvSpPr>
            <a:spLocks noGrp="1"/>
          </p:cNvSpPr>
          <p:nvPr/>
        </p:nvSpPr>
        <p:spPr>
          <a:xfrm>
            <a:off x="3857625" y="1857375"/>
            <a:ext cx="7429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STT·FDS·거래 입력 계약과 실제 데이터 품질 검증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7A1DB50-CE6D-47B8-9F14-00FE31A23675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10810875" cy="723900"/>
          </a:xfrm>
          <a:prstGeom prst="roundRect">
            <a:avLst>
              <a:gd name="adj" fmla="val 10526"/>
            </a:avLst>
          </a:prstGeom>
          <a:solidFill>
            <a:srgbClr val="E9F3FB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45B37F-AE78-471F-A3C1-98025AF4B9BD}"/>
              </a:ext>
            </a:extLst>
          </p:cNvPr>
          <p:cNvSpPr>
            <a:spLocks noGrp="1"/>
          </p:cNvSpPr>
          <p:nvPr/>
        </p:nvSpPr>
        <p:spPr>
          <a:xfrm>
            <a:off x="838200" y="2809875"/>
            <a:ext cx="590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9916FE-0DCE-4BE5-9D6E-19F108014BCC}"/>
              </a:ext>
            </a:extLst>
          </p:cNvPr>
          <p:cNvSpPr>
            <a:spLocks noGrp="1"/>
          </p:cNvSpPr>
          <p:nvPr/>
        </p:nvSpPr>
        <p:spPr>
          <a:xfrm>
            <a:off x="1504950" y="274320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운영 보안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082F0D-DA77-4EEE-ABB3-BE51C1CE8FD8}"/>
              </a:ext>
            </a:extLst>
          </p:cNvPr>
          <p:cNvSpPr>
            <a:spLocks noGrp="1"/>
          </p:cNvSpPr>
          <p:nvPr/>
        </p:nvSpPr>
        <p:spPr>
          <a:xfrm>
            <a:off x="3857625" y="2743200"/>
            <a:ext cx="7429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조직/역할 인증, 권한, 감사 로그 설계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D2D2CA1-AE65-408F-9ED2-95D6B0DA23FB}"/>
              </a:ext>
            </a:extLst>
          </p:cNvPr>
          <p:cNvSpPr>
            <a:spLocks noGrp="1"/>
          </p:cNvSpPr>
          <p:nvPr/>
        </p:nvSpPr>
        <p:spPr>
          <a:xfrm>
            <a:off x="666750" y="3533775"/>
            <a:ext cx="10810875" cy="723900"/>
          </a:xfrm>
          <a:prstGeom prst="roundRect">
            <a:avLst>
              <a:gd name="adj" fmla="val 10526"/>
            </a:avLst>
          </a:prstGeom>
          <a:solidFill>
            <a:srgbClr val="F3F7FB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548908-0166-445E-8757-60902378180D}"/>
              </a:ext>
            </a:extLst>
          </p:cNvPr>
          <p:cNvSpPr>
            <a:spLocks noGrp="1"/>
          </p:cNvSpPr>
          <p:nvPr/>
        </p:nvSpPr>
        <p:spPr>
          <a:xfrm>
            <a:off x="838200" y="3695700"/>
            <a:ext cx="590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68B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1B46D2-6577-4F68-9909-9040D2CFD4E9}"/>
              </a:ext>
            </a:extLst>
          </p:cNvPr>
          <p:cNvSpPr>
            <a:spLocks noGrp="1"/>
          </p:cNvSpPr>
          <p:nvPr/>
        </p:nvSpPr>
        <p:spPr>
          <a:xfrm>
            <a:off x="1504950" y="3629025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업무 검증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CB9C5F-C93E-4B49-947F-C6C4B04B42BD}"/>
              </a:ext>
            </a:extLst>
          </p:cNvPr>
          <p:cNvSpPr>
            <a:spLocks noGrp="1"/>
          </p:cNvSpPr>
          <p:nvPr/>
        </p:nvSpPr>
        <p:spPr>
          <a:xfrm>
            <a:off x="3857625" y="3629025"/>
            <a:ext cx="7429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B43"/>
                </a:solidFill>
                <a:latin typeface="Noto Sans KR"/>
                <a:ea typeface="Noto Sans KR"/>
                <a:cs typeface="Noto Sans KR"/>
              </a:rPr>
              <a:t>담당자 사용성 테스트와 정량 지표 수집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6A02EC1-3F36-487D-8BD0-BC642133384B}"/>
              </a:ext>
            </a:extLst>
          </p:cNvPr>
          <p:cNvSpPr>
            <a:spLocks noGrp="1"/>
          </p:cNvSpPr>
          <p:nvPr/>
        </p:nvSpPr>
        <p:spPr>
          <a:xfrm>
            <a:off x="685800" y="4600575"/>
            <a:ext cx="10820400" cy="1028700"/>
          </a:xfrm>
          <a:prstGeom prst="roundRect">
            <a:avLst>
              <a:gd name="adj" fmla="val 7407"/>
            </a:avLst>
          </a:prstGeom>
          <a:solidFill>
            <a:srgbClr val="112B50"/>
          </a:solidFill>
          <a:ln w="0">
            <a:noFill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384F87-6CCB-4504-90E9-AF8F1FD6FE73}"/>
              </a:ext>
            </a:extLst>
          </p:cNvPr>
          <p:cNvSpPr>
            <a:spLocks noGrp="1"/>
          </p:cNvSpPr>
          <p:nvPr/>
        </p:nvSpPr>
        <p:spPr>
          <a:xfrm>
            <a:off x="876300" y="4762500"/>
            <a:ext cx="1952625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F1B940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1B940"/>
                </a:solidFill>
                <a:latin typeface="Noto Sans KR"/>
                <a:ea typeface="Noto Sans KR"/>
                <a:cs typeface="Noto Sans KR"/>
              </a:rPr>
              <a:t>배운 점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2A4D0A-9D8D-435C-8CB2-3C1F42CC7E1F}"/>
              </a:ext>
            </a:extLst>
          </p:cNvPr>
          <p:cNvSpPr>
            <a:spLocks noGrp="1"/>
          </p:cNvSpPr>
          <p:nvPr/>
        </p:nvSpPr>
        <p:spPr>
          <a:xfrm>
            <a:off x="2667000" y="4705350"/>
            <a:ext cx="8410575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AI가 맡을 범위를 먼저 정하고, 화면·API·DB·AI가 같은 Case를 다루도록 계약과 Runtime을 검증하는 경험을 얻었습니다.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E471348-00D5-4A93-80E1-EEFE2E43294E}"/>
              </a:ext>
            </a:extLst>
          </p:cNvPr>
          <p:cNvSpPr>
            <a:spLocks noGrp="1"/>
          </p:cNvSpPr>
          <p:nvPr/>
        </p:nvSpPr>
        <p:spPr>
          <a:xfrm>
            <a:off x="666750" y="5838825"/>
            <a:ext cx="10839450" cy="457200"/>
          </a:xfrm>
          <a:prstGeom prst="roundRect">
            <a:avLst>
              <a:gd name="adj" fmla="val 16667"/>
            </a:avLst>
          </a:prstGeom>
          <a:solidFill>
            <a:srgbClr val="FFF6DE"/>
          </a:solidFill>
          <a:ln w="0">
            <a:noFill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8993E7-DC8D-4AC6-8961-5BCA1C11955D}"/>
              </a:ext>
            </a:extLst>
          </p:cNvPr>
          <p:cNvSpPr>
            <a:spLocks noGrp="1"/>
          </p:cNvSpPr>
          <p:nvPr/>
        </p:nvSpPr>
        <p:spPr>
          <a:xfrm>
            <a:off x="828675" y="5905500"/>
            <a:ext cx="10525125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2B50"/>
                </a:solidFill>
                <a:latin typeface="Noto Sans KR"/>
                <a:ea typeface="Noto Sans KR"/>
                <a:cs typeface="Noto Sans KR"/>
              </a:rPr>
              <a:t>최종 판단과 조치는 담당자에게 남기고, AI는 근거를 읽기 좋게 정리하는 역할을 맡습니다.</a:t>
            </a:r>
          </a:p>
        </p:txBody>
      </p:sp>
    </p:spTree>
    <p:extLst>
      <p:ext uri="{BB962C8B-B14F-4D97-AF65-F5344CB8AC3E}">
        <p14:creationId xmlns:p14="http://schemas.microsoft.com/office/powerpoint/2010/main" val="189446507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841</TotalTime>
  <Words>8032</Words>
  <Application>Microsoft Office PowerPoint</Application>
  <DocSecurity>0</DocSecurity>
  <PresentationFormat>Widescreen</PresentationFormat>
  <Paragraphs>1307</Paragraphs>
  <Slides>63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7" baseType="lpstr">
      <vt:lpstr>Aptos</vt:lpstr>
      <vt:lpstr>Arial</vt:lpstr>
      <vt:lpstr>NanumSquare</vt:lpstr>
      <vt:lpstr>NanumSquare Bold</vt:lpstr>
      <vt:lpstr>Noto Sans KR</vt:lpstr>
      <vt:lpstr>Symbol</vt:lpstr>
      <vt:lpstr>Times New Roman</vt:lpstr>
      <vt:lpstr>Wingdings</vt:lpstr>
      <vt:lpstr>맑은 고딕</vt:lpstr>
      <vt:lpstr>페이퍼로지 4 Regular</vt:lpstr>
      <vt:lpstr>페이퍼로지 5 Medium</vt:lpstr>
      <vt:lpstr>페이퍼로지 7 Bold</vt:lpstr>
      <vt:lpstr>페이퍼로지 9 Black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mbc</cp:lastModifiedBy>
  <cp:revision>133</cp:revision>
  <dcterms:created xsi:type="dcterms:W3CDTF">2026-09-29T03:32:22Z</dcterms:created>
  <dcterms:modified xsi:type="dcterms:W3CDTF">2026-09-30T09:35:12Z</dcterms:modified>
</cp:coreProperties>
</file>