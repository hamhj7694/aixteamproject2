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SR_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개요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9966960" y="237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Case Share Room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이후를 연결하는 보이스피싱 공동대응 플랫폼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신호를 하나의 Case로 모으고, 담당자가 근거 있게 조사·고객 확인을 진행하도록 돕습니다.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11247120" cy="2971800"/>
          </a:xfrm>
          <a:prstGeom prst="arc">
            <a:avLst/>
          </a:prstGeom>
          <a:solidFill>
            <a:srgbClr val="F6F8FB">
              <a:alpha val="0"/>
            </a:srgbClr>
          </a:solidFill>
          <a:ln w="25400">
            <a:solidFill>
              <a:srgbClr val="1E78D7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84832"/>
            <a:ext cx="2971800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2286000"/>
            <a:ext cx="713232" cy="237744"/>
          </a:xfrm>
          <a:prstGeom prst="roundRect">
            <a:avLst>
              <a:gd name="adj" fmla="val 46154"/>
            </a:avLst>
          </a:prstGeom>
          <a:solidFill>
            <a:srgbClr val="1E78D7"/>
          </a:solidFill>
          <a:ln w="12700">
            <a:solidFill>
              <a:srgbClr val="1E78D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304288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886968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3054096"/>
            <a:ext cx="25146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통화·거래·신고 등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단서 발생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160520" y="2084832"/>
            <a:ext cx="2971800" cy="1627632"/>
          </a:xfrm>
          <a:prstGeom prst="roundRect">
            <a:avLst>
              <a:gd name="adj" fmla="val 6180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1688" y="2286000"/>
            <a:ext cx="713232" cy="237744"/>
          </a:xfrm>
          <a:prstGeom prst="roundRect">
            <a:avLst>
              <a:gd name="adj" fmla="val 46154"/>
            </a:avLst>
          </a:prstGeom>
          <a:solidFill>
            <a:srgbClr val="FFC83D"/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2304288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4361688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Shared Case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3054096"/>
            <a:ext cx="25146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CE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정보를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DCE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사건으로 정리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635240" y="2084832"/>
            <a:ext cx="2971800" cy="1627632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36408" y="2286000"/>
            <a:ext cx="713232" cy="237744"/>
          </a:xfrm>
          <a:prstGeom prst="roundRect">
            <a:avLst>
              <a:gd name="adj" fmla="val 46154"/>
            </a:avLst>
          </a:prstGeom>
          <a:solidFill>
            <a:srgbClr val="1E78D7"/>
          </a:solidFill>
          <a:ln w="12700">
            <a:solidFill>
              <a:srgbClr val="1E78D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6408" y="2304288"/>
            <a:ext cx="7132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836408" y="26700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조사·고객 확인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36408" y="3054096"/>
            <a:ext cx="25146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확인과 질문을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흐름으로 연결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3749040" y="272491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6B82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272491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D6B8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0120" y="4690872"/>
            <a:ext cx="10241280" cy="685800"/>
          </a:xfrm>
          <a:prstGeom prst="roundRect">
            <a:avLst>
              <a:gd name="adj" fmla="val 14667"/>
            </a:avLst>
          </a:prstGeom>
          <a:solidFill>
            <a:srgbClr val="E7F1FF"/>
          </a:solidFill>
          <a:ln w="12700">
            <a:solidFill>
              <a:srgbClr val="BED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488289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최종 판단자가 아니라, 사건 맥락·근거·확인 질문을 정리하는 업무지원자입니다.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58368" y="6053328"/>
            <a:ext cx="10881360" cy="411480"/>
          </a:xfrm>
          <a:prstGeom prst="roundRect">
            <a:avLst>
              <a:gd name="adj" fmla="val 17778"/>
            </a:avLst>
          </a:prstGeom>
          <a:solidFill>
            <a:srgbClr val="FFF4CC"/>
          </a:solidFill>
          <a:ln w="12700">
            <a:solidFill>
              <a:srgbClr val="FFF4C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6163056"/>
            <a:ext cx="10497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  |  CSR은 탐지·경고를 대체하지 않고, 그 이후 담당자의 조사와 고객 확인 과정을 연결합니다.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B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현재 MVP는 독립 Web 환경이며, 은행 내부 Web + 기존 은행 App 연계는 목표 적용 형태입니다.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개요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9966960" y="237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Case Share Room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신호가 감지되면 사건은 끝날까요?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탐지는 시작점입니다. 담당자가 판단하려면 아직 확인되지 않은 정보가 남아 있습니다.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4434840" cy="3246120"/>
          </a:xfrm>
          <a:prstGeom prst="roundRect">
            <a:avLst>
              <a:gd name="adj" fmla="val 3099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2304288"/>
            <a:ext cx="3730752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“검찰 수사관입니다.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고객님의 계좌가 범죄에 연루됐습니다.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안전계좌로 자금을 이동하셔야 합니다.”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2416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C7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통화 예시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23560" y="1874520"/>
            <a:ext cx="2487168" cy="132588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24728" y="2075688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4728" y="2093976"/>
            <a:ext cx="685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1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5824728" y="2404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내용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824728" y="27523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사칭 기관·인물은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누구인가?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8549640" y="1874520"/>
            <a:ext cx="2487168" cy="132588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50808" y="2075688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0808" y="2093976"/>
            <a:ext cx="685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2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8750808" y="2404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750808" y="275234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긴급성·송금 요구가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있었는가?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623560" y="3657600"/>
            <a:ext cx="2487168" cy="132588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24728" y="3858768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3877056"/>
            <a:ext cx="685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3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5824728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정보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824728" y="453542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송금이나 이체가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발생했는가?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549640" y="3657600"/>
            <a:ext cx="2487168" cy="132588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50808" y="3858768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0808" y="3877056"/>
            <a:ext cx="6858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4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8750808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750808" y="453542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OTP·개인정보를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전달했는가?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85800" y="5577840"/>
            <a:ext cx="10808208" cy="530352"/>
          </a:xfrm>
          <a:prstGeom prst="roundRect">
            <a:avLst>
              <a:gd name="adj" fmla="val 1896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733288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신호를 발견하는 것과 사건 전체를 이해하고 판단하는 것은 다른 문제입니다.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개요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9966960" y="237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Case Share Room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하나의 Case로 연결했습니다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CSR은 위험 신호부터 고객 확인, 담당자 판단까지 끊기지 않는 Case Workflow를 지향합니다.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21762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" y="2029968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048256"/>
            <a:ext cx="411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40664" y="23774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740664" y="271576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통화·거래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단서 발생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2916936" y="1874520"/>
            <a:ext cx="21762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2029968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048256"/>
            <a:ext cx="411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3063240" y="23774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생성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3063240" y="271576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단위로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수집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5239512" y="1874520"/>
            <a:ext cx="2176272" cy="1417320"/>
          </a:xfrm>
          <a:prstGeom prst="roundRect">
            <a:avLst>
              <a:gd name="adj" fmla="val 7097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85816" y="2029968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2048256"/>
            <a:ext cx="411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385816" y="23774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맥락 구조화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5385816" y="271576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DCE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근거·반대 근거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DCE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 정보 정리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7562088" y="1874520"/>
            <a:ext cx="21762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08392" y="2029968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2048256"/>
            <a:ext cx="411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7708392" y="23774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담당자·고객 확인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7708392" y="271576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질문 검토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응답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9884664" y="1874520"/>
            <a:ext cx="21762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30968" y="2029968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30968" y="2048256"/>
            <a:ext cx="411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10030968" y="23774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갱신·판단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10030968" y="271576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응답·Fact 반영</a:t>
            </a:r>
            <a:endParaRPr lang="en-US" sz="790" dirty="0"/>
          </a:p>
          <a:p>
            <a:pPr indent="0" marL="0">
              <a:buNone/>
            </a:pPr>
            <a:r>
              <a:rPr lang="en-US" sz="79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최종 판단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5230368" cy="1143000"/>
          </a:xfrm>
          <a:prstGeom prst="roundRect">
            <a:avLst>
              <a:gd name="adj" fmla="val 8800"/>
            </a:avLst>
          </a:prstGeom>
          <a:solidFill>
            <a:srgbClr val="E7F1FF"/>
          </a:solidFill>
          <a:ln w="12700">
            <a:solidFill>
              <a:srgbClr val="BED7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370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역할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4736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정보 구조화 · 근거 요약 · 미확인 사항 정리 · 확인 질문 추천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217920" y="4160520"/>
            <a:ext cx="5230368" cy="1143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370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담당자의 역할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47365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Evidence 확인 · 질문 검토/전달 · 사실 확인 · 최종 판단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58368" y="6053328"/>
            <a:ext cx="10881360" cy="411480"/>
          </a:xfrm>
          <a:prstGeom prst="roundRect">
            <a:avLst>
              <a:gd name="adj" fmla="val 17778"/>
            </a:avLst>
          </a:prstGeom>
          <a:solidFill>
            <a:srgbClr val="FFF4CC"/>
          </a:solidFill>
          <a:ln w="12700">
            <a:solidFill>
              <a:srgbClr val="FFF4C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" y="6163056"/>
            <a:ext cx="104973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|  AI 추천은 자동 전송·자동 확정이 아니라, 담당자 검토를 거쳐 Case에 반영됩니다.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개요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9966960" y="237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Case Share Room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대응체계를 대체하지 않고, 그 이후를 보완합니다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FDS·ASAP·1394가 각각 탐지·정보 공유·신고/상담 역할을 한다면, CSR은 개별 Case 조사 Workflow에 집중합니다.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8101584" y="1719072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1E78D7"/>
          </a:solidFill>
          <a:ln w="12700">
            <a:solidFill>
              <a:srgbClr val="1E78D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01584" y="1737360"/>
            <a:ext cx="51206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8732520" y="1719072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F0F5FB"/>
          </a:solidFill>
          <a:ln w="12700">
            <a:solidFill>
              <a:srgbClr val="F0F5F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0" y="1737360"/>
            <a:ext cx="74980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일부·간접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9646920" y="173736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범위 외/해당 없음은 회색으로 표시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94360" y="2011680"/>
            <a:ext cx="2240280" cy="475488"/>
          </a:xfrm>
          <a:prstGeom prst="rect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167128"/>
            <a:ext cx="2167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834640" y="2011680"/>
            <a:ext cx="1572768" cy="475488"/>
          </a:xfrm>
          <a:prstGeom prst="rect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71216" y="2167128"/>
            <a:ext cx="1499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407408" y="2011680"/>
            <a:ext cx="1627632" cy="475488"/>
          </a:xfrm>
          <a:prstGeom prst="rect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216712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ASAP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1645920" cy="475488"/>
          </a:xfrm>
          <a:prstGeom prst="rect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2167128"/>
            <a:ext cx="15727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1394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680960" y="2011680"/>
            <a:ext cx="3840480" cy="475488"/>
          </a:xfrm>
          <a:prstGeom prst="rect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17536" y="2167128"/>
            <a:ext cx="37673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94360" y="2487168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2660904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탐지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2834640" y="2487168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9504" y="2660904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407408" y="2487168"/>
            <a:ext cx="16276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2660904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위험정보 활용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035040" y="2487168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26609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8A9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없음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680960" y="2487168"/>
            <a:ext cx="3840480" cy="530352"/>
          </a:xfrm>
          <a:prstGeom prst="rect">
            <a:avLst/>
          </a:prstGeom>
          <a:solidFill>
            <a:srgbClr val="E7F1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35824" y="2660904"/>
            <a:ext cx="3730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기반 조사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" y="3017520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3191256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공유·신고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2834640" y="3017520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9504" y="31912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활용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4407408" y="3017520"/>
            <a:ext cx="16276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191256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035040" y="3017520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319125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신고·상담 핵심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7680960" y="3017520"/>
            <a:ext cx="3840480" cy="530352"/>
          </a:xfrm>
          <a:prstGeom prst="rect">
            <a:avLst/>
          </a:prstGeom>
          <a:solidFill>
            <a:srgbClr val="E7F1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35824" y="3191256"/>
            <a:ext cx="3730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8A9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없음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94360" y="3547872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" y="3721608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Case 관리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2834640" y="3547872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9504" y="3721608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8A9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범위 외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4407408" y="3547872"/>
            <a:ext cx="16276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372160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8A9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범위 외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6035040" y="3547872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9904" y="3721608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중심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7680960" y="3547872"/>
            <a:ext cx="3840480" cy="530352"/>
          </a:xfrm>
          <a:prstGeom prst="rect">
            <a:avLst/>
          </a:prstGeom>
          <a:solidFill>
            <a:srgbClr val="E7F1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35824" y="3721608"/>
            <a:ext cx="3730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94360" y="4078224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" y="4251960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Evidence 종합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2834640" y="4078224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89504" y="4251960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거래정보 중심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4407408" y="4078224"/>
            <a:ext cx="16276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2272" y="4251960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위험분석 중심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6035040" y="4078224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89904" y="4251960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신고·상담 중심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7680960" y="4078224"/>
            <a:ext cx="3840480" cy="530352"/>
          </a:xfrm>
          <a:prstGeom prst="rect">
            <a:avLst/>
          </a:prstGeom>
          <a:solidFill>
            <a:srgbClr val="E7F1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35824" y="4251960"/>
            <a:ext cx="3730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4360" y="4608576"/>
            <a:ext cx="2240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" y="4782312"/>
            <a:ext cx="2130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확인→Case 갱신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2834640" y="4608576"/>
            <a:ext cx="15727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89504" y="478231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업무 가능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4407408" y="4608576"/>
            <a:ext cx="162763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62272" y="4782312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8A97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범위 외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6035040" y="4608576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89904" y="4782312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과정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7680960" y="4608576"/>
            <a:ext cx="3840480" cy="530352"/>
          </a:xfrm>
          <a:prstGeom prst="rect">
            <a:avLst/>
          </a:prstGeom>
          <a:solidFill>
            <a:srgbClr val="E7F1FF"/>
          </a:solidFill>
          <a:ln w="6350">
            <a:solidFill>
              <a:srgbClr val="D6DF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35824" y="4782312"/>
            <a:ext cx="3730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Workflow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1520" y="5504688"/>
            <a:ext cx="10744200" cy="530352"/>
          </a:xfrm>
          <a:prstGeom prst="roundRect">
            <a:avLst>
              <a:gd name="adj" fmla="val 18966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4400" y="566928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CSR의 위치  |  탐지·공유·신고 이후, 담당자가 한 사건의 근거를 종합하고 고객에게 필요한 사실을 확인하며 Case를 갱신하는 업무 공간</a:t>
            </a:r>
            <a:endParaRPr lang="en-US" sz="890" dirty="0"/>
          </a:p>
        </p:txBody>
      </p:sp>
      <p:sp>
        <p:nvSpPr>
          <p:cNvPr id="73" name="Text 71"/>
          <p:cNvSpPr/>
          <p:nvPr/>
        </p:nvSpPr>
        <p:spPr>
          <a:xfrm>
            <a:off x="54864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B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비교는 공개된 공식 자료 기준이며, 기관 내부 세부 업무 기능의 부재를 의미하지 않습니다. 출처: 금융위원회 ASAP·보이스피싱 대응 자료, 경찰청 1394 대표번호 보도자료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프로젝트 개요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9966960" y="237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| Case Share Room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화면·API·AI·DB로 구현했습니다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Case가 Frontend, General API, AI API, MySQL을 거쳐 담당자와 고객 화면에 연결되도록 구성했습니다.</a:t>
            </a:r>
            <a:endParaRPr lang="en-US" sz="1030" dirty="0"/>
          </a:p>
        </p:txBody>
      </p:sp>
      <p:sp>
        <p:nvSpPr>
          <p:cNvPr id="6" name="Shape 4"/>
          <p:cNvSpPr/>
          <p:nvPr/>
        </p:nvSpPr>
        <p:spPr>
          <a:xfrm>
            <a:off x="749808" y="1856232"/>
            <a:ext cx="5166360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  <a:effectLst>
            <a:outerShdw sx="100000" sy="100000" kx="0" ky="0" algn="bl" rotWithShape="0" blurRad="12700" dist="50800" dir="2700000">
              <a:srgbClr val="D9E2EF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020824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39112"/>
            <a:ext cx="3291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1417320" y="19751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/ 고객 화면</a:t>
            </a:r>
            <a:endParaRPr lang="en-US" sz="970" dirty="0"/>
          </a:p>
        </p:txBody>
      </p:sp>
      <p:sp>
        <p:nvSpPr>
          <p:cNvPr id="10" name="Text 8"/>
          <p:cNvSpPr/>
          <p:nvPr/>
        </p:nvSpPr>
        <p:spPr>
          <a:xfrm>
            <a:off x="3337560" y="19751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Vite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17320" y="2212848"/>
            <a:ext cx="4251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Room · 고객 확인 화면 · 질문/응답 UI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749808" y="2615184"/>
            <a:ext cx="5166360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79776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98064"/>
            <a:ext cx="3291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1417320" y="27340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API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3337560" y="27340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General API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4251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· 메시지 · 질문 · 업무 상태 관리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49808" y="3374136"/>
            <a:ext cx="5166360" cy="576072"/>
          </a:xfrm>
          <a:prstGeom prst="roundRect">
            <a:avLst>
              <a:gd name="adj" fmla="val 17460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538728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FFC83D"/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557016"/>
            <a:ext cx="3291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1417320" y="3493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지원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3337560" y="34930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CE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API · LLM · ML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17320" y="3730752"/>
            <a:ext cx="4251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DCE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Brief · 질문 추천 · Fact 후보 · 통화 위험 분석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749808" y="4133088"/>
            <a:ext cx="5166360" cy="576072"/>
          </a:xfrm>
          <a:prstGeom prst="roundRect">
            <a:avLst>
              <a:gd name="adj" fmla="val 1746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297680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7F1FF"/>
          </a:solidFill>
          <a:ln w="12700">
            <a:solidFill>
              <a:srgbClr val="E7F1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315968"/>
            <a:ext cx="32918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1417320" y="42519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데이터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3337560" y="42519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8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17320" y="4489704"/>
            <a:ext cx="4251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· Message · Question · Fact 저장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400800" y="1856232"/>
            <a:ext cx="5074920" cy="1444752"/>
          </a:xfrm>
          <a:prstGeom prst="roundRect">
            <a:avLst>
              <a:gd name="adj" fmla="val 6962"/>
            </a:avLst>
          </a:prstGeom>
          <a:solidFill>
            <a:srgbClr val="E7F1FF"/>
          </a:solidFill>
          <a:ln w="12700">
            <a:solidFill>
              <a:srgbClr val="BED7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2057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2514600"/>
            <a:ext cx="1965960" cy="246888"/>
          </a:xfrm>
          <a:prstGeom prst="roundRect">
            <a:avLst>
              <a:gd name="adj" fmla="val 44444"/>
            </a:avLst>
          </a:prstGeom>
          <a:solidFill>
            <a:srgbClr val="1E78D7"/>
          </a:solidFill>
          <a:ln w="12700">
            <a:solidFill>
              <a:srgbClr val="1E78D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532888"/>
            <a:ext cx="1965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통합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8961120" y="2514600"/>
            <a:ext cx="1965960" cy="246888"/>
          </a:xfrm>
          <a:prstGeom prst="roundRect">
            <a:avLst>
              <a:gd name="adj" fmla="val 44444"/>
            </a:avLst>
          </a:prstGeom>
          <a:solidFill>
            <a:srgbClr val="1E78D7"/>
          </a:solidFill>
          <a:ln w="12700">
            <a:solidFill>
              <a:srgbClr val="1E78D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2532888"/>
            <a:ext cx="1965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확인 감소 가능성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6629400" y="2898648"/>
            <a:ext cx="1965960" cy="246888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2916936"/>
            <a:ext cx="1965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추적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8961120" y="2898648"/>
            <a:ext cx="1965960" cy="246888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2916936"/>
            <a:ext cx="19659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AI/담당자 역할 분리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6400800" y="3675888"/>
            <a:ext cx="5074920" cy="1143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38587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방향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29400" y="4251960"/>
            <a:ext cx="4526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D6B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MVP는 독립 Web입니다. 향후에는 은행 내부 업무 Web과 기존 은행 App의 고객 확인 영역을 Shared Case로 연결하는 B2B 모듈을 지향합니다.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49808" y="5550408"/>
            <a:ext cx="10725912" cy="576072"/>
          </a:xfrm>
          <a:prstGeom prst="roundRect">
            <a:avLst>
              <a:gd name="adj" fmla="val 1746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57150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흐름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1920240" y="569671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기획·설계  →  MVP 구현·공모전 제출  →  제출 이후 고도화·검증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B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정확한 기간과 세부 일정은 프로젝트 수행 절차 및 방법 파트에서 별도 확정합니다.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CSR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 프로젝트 개요 스토리텔링 v3</dc:title>
  <dc:subject>CSR 프로젝트 개요 스토리텔링 초안</dc:subject>
  <dc:creator>OpenAI</dc:creator>
  <cp:lastModifiedBy>OpenAI</cp:lastModifiedBy>
  <cp:revision>1</cp:revision>
  <dcterms:created xsi:type="dcterms:W3CDTF">2026-09-28T09:03:18Z</dcterms:created>
  <dcterms:modified xsi:type="dcterms:W3CDTF">2026-09-28T09:03:18Z</dcterms:modified>
</cp:coreProperties>
</file>