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프로젝트 수행 절차 및 방법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195560" y="21945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CSR | Case Share Room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아이디어에서 MVP, 그리고 실제 Workflow 고도화까지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0352" y="1216152"/>
            <a:ext cx="10789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 정의 → 구현 → 사용 흐름 검증으로 CSR을 단계적으로 발전시켰습니다.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85800" y="1810512"/>
            <a:ext cx="3246120" cy="33375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057400"/>
            <a:ext cx="502920" cy="256032"/>
          </a:xfrm>
          <a:prstGeom prst="roundRect">
            <a:avLst>
              <a:gd name="adj" fmla="val 42857"/>
            </a:avLst>
          </a:prstGeom>
          <a:solidFill>
            <a:srgbClr val="DCEBFF"/>
          </a:solidFill>
          <a:ln w="12700">
            <a:solidFill>
              <a:srgbClr val="DCEB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093976"/>
            <a:ext cx="356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914400" y="249631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기획·설계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914400" y="286207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AI와 사람의 역할 결정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941832" y="33284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보이스피싱 문제 조사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941832" y="366674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초기 ‘송금 방지턱’ 아이디어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941832" y="40050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담당자·고객 ROOM 설계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941832" y="43434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Shared Case 구조 정의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4343400" y="1810512"/>
            <a:ext cx="3246120" cy="33375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2057400"/>
            <a:ext cx="502920" cy="256032"/>
          </a:xfrm>
          <a:prstGeom prst="roundRect">
            <a:avLst>
              <a:gd name="adj" fmla="val 42857"/>
            </a:avLst>
          </a:prstGeom>
          <a:solidFill>
            <a:srgbClr val="0B2345"/>
          </a:solidFill>
          <a:ln w="12700">
            <a:solidFill>
              <a:srgbClr val="DCEB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2093976"/>
            <a:ext cx="356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4572000" y="249631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MVP 구현·공모전 제출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4572000" y="286207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동작하는 서비스 구현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4599432" y="33284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React / FastAPI / MySQL 연결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4599432" y="366674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General API · AI API 구성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4599432" y="40050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질문·응답 Workflow 구현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4599432" y="43434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AWS 배포 및 제출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8001000" y="1810512"/>
            <a:ext cx="3246120" cy="33375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2057400"/>
            <a:ext cx="502920" cy="256032"/>
          </a:xfrm>
          <a:prstGeom prst="roundRect">
            <a:avLst>
              <a:gd name="adj" fmla="val 42857"/>
            </a:avLst>
          </a:prstGeom>
          <a:solidFill>
            <a:srgbClr val="DCEBFF"/>
          </a:solidFill>
          <a:ln w="12700">
            <a:solidFill>
              <a:srgbClr val="DCEB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02752" y="2093976"/>
            <a:ext cx="356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730" dirty="0"/>
          </a:p>
        </p:txBody>
      </p:sp>
      <p:sp>
        <p:nvSpPr>
          <p:cNvPr id="27" name="Text 25"/>
          <p:cNvSpPr/>
          <p:nvPr/>
        </p:nvSpPr>
        <p:spPr>
          <a:xfrm>
            <a:off x="8229600" y="249631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제출 이후 고도화·검증</a:t>
            </a:r>
            <a:endParaRPr lang="en-US" sz="1440" dirty="0"/>
          </a:p>
        </p:txBody>
      </p:sp>
      <p:sp>
        <p:nvSpPr>
          <p:cNvPr id="28" name="Text 26"/>
          <p:cNvSpPr/>
          <p:nvPr/>
        </p:nvSpPr>
        <p:spPr>
          <a:xfrm>
            <a:off x="8229600" y="286207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사용 흐름과 UI 개선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8257032" y="33284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담당자·고객 ROOM UI 재정리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8257032" y="366674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질문·응답 Workflow 개선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8257032" y="40050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Fact·Context 연결 개선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8257032" y="43434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Runtime / Before·After 검증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3995928" y="3429000"/>
            <a:ext cx="265176" cy="0"/>
          </a:xfrm>
          <a:prstGeom prst="line">
            <a:avLst/>
          </a:prstGeom>
          <a:noFill/>
          <a:ln w="20320">
            <a:solidFill>
              <a:srgbClr val="1F7AE0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653528" y="3429000"/>
            <a:ext cx="265176" cy="0"/>
          </a:xfrm>
          <a:prstGeom prst="line">
            <a:avLst/>
          </a:prstGeom>
          <a:noFill/>
          <a:ln w="20320">
            <a:solidFill>
              <a:srgbClr val="1F7AE0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94360" y="5897880"/>
            <a:ext cx="10972800" cy="429768"/>
          </a:xfrm>
          <a:prstGeom prst="roundRect">
            <a:avLst>
              <a:gd name="adj" fmla="val 12766"/>
            </a:avLst>
          </a:prstGeom>
          <a:solidFill>
            <a:srgbClr val="FFF3C4"/>
          </a:solidFill>
          <a:ln w="12700">
            <a:solidFill>
              <a:srgbClr val="FFF3C4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6025896"/>
            <a:ext cx="10607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│ MVP 구현 후, 기능 동작뿐 아니라 담당자·고객이 실제로 쓰는 화면 흐름까지 다시 검증했습니다.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502920" y="6565392"/>
            <a:ext cx="7863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8A98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공식 일정과 실제 날짜는 Notion·Git·회의록 기준으로 최종 확정 예정</a:t>
            </a:r>
            <a:endParaRPr lang="en-US" sz="5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프로젝트 수행 절차 및 방법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195560" y="21945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CSR | Case Share Room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“AI가 막는다”에서, 담당자가 판단하도록 돕는다로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0352" y="1216152"/>
            <a:ext cx="10789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 방향은 기술 중심 아이디어에서 Case 기반 업무·UI 흐름으로 바뀌었습니다.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21792" y="1883664"/>
            <a:ext cx="10881360" cy="3108960"/>
          </a:xfrm>
          <a:prstGeom prst="arc">
            <a:avLst/>
          </a:prstGeom>
          <a:solidFill>
            <a:srgbClr val="F5F7FA">
              <a:alpha val="0"/>
            </a:srgbClr>
          </a:solidFill>
          <a:ln w="26670">
            <a:solidFill>
              <a:srgbClr val="C4D8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945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E8D2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31343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235915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송금 방지턱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60704" y="2761488"/>
            <a:ext cx="148132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5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AI가 위험을 판단하고</a:t>
            </a:r>
            <a:endParaRPr lang="en-US" sz="645" dirty="0"/>
          </a:p>
          <a:p>
            <a:pPr indent="0" marL="0">
              <a:buNone/>
            </a:pPr>
            <a:r>
              <a:rPr lang="en-US" sz="645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차단하는 초기 아이디어</a:t>
            </a:r>
            <a:endParaRPr lang="en-US" sz="645" dirty="0"/>
          </a:p>
        </p:txBody>
      </p:sp>
      <p:sp>
        <p:nvSpPr>
          <p:cNvPr id="11" name="Shape 9"/>
          <p:cNvSpPr/>
          <p:nvPr/>
        </p:nvSpPr>
        <p:spPr>
          <a:xfrm>
            <a:off x="2971800" y="1700784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DCEBFF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81965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0" y="186537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AI·사람 역할 재정의</a:t>
            </a:r>
            <a:endParaRPr lang="en-US" sz="810" dirty="0"/>
          </a:p>
        </p:txBody>
      </p:sp>
      <p:sp>
        <p:nvSpPr>
          <p:cNvPr id="14" name="Text 12"/>
          <p:cNvSpPr/>
          <p:nvPr/>
        </p:nvSpPr>
        <p:spPr>
          <a:xfrm>
            <a:off x="3209544" y="2267712"/>
            <a:ext cx="148132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5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단독 판단보다</a:t>
            </a:r>
            <a:endParaRPr lang="en-US" sz="645" dirty="0"/>
          </a:p>
          <a:p>
            <a:pPr indent="0" marL="0">
              <a:buNone/>
            </a:pPr>
            <a:r>
              <a:rPr lang="en-US" sz="645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담당자 지원으로 변경</a:t>
            </a:r>
            <a:endParaRPr lang="en-US" sz="645" dirty="0"/>
          </a:p>
        </p:txBody>
      </p:sp>
      <p:sp>
        <p:nvSpPr>
          <p:cNvPr id="15" name="Shape 13"/>
          <p:cNvSpPr/>
          <p:nvPr/>
        </p:nvSpPr>
        <p:spPr>
          <a:xfrm>
            <a:off x="5303520" y="21945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E6F4EA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0680" y="231343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15000" y="235915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담당자 ROOM / 고객 ROOM</a:t>
            </a:r>
            <a:endParaRPr lang="en-US" sz="810" dirty="0"/>
          </a:p>
        </p:txBody>
      </p:sp>
      <p:sp>
        <p:nvSpPr>
          <p:cNvPr id="18" name="Text 16"/>
          <p:cNvSpPr/>
          <p:nvPr/>
        </p:nvSpPr>
        <p:spPr>
          <a:xfrm>
            <a:off x="5541264" y="2761488"/>
            <a:ext cx="148132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5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담당자 조사와 고객 확인을</a:t>
            </a:r>
            <a:endParaRPr lang="en-US" sz="645" dirty="0"/>
          </a:p>
          <a:p>
            <a:pPr indent="0" marL="0">
              <a:buNone/>
            </a:pPr>
            <a:r>
              <a:rPr lang="en-US" sz="645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양방향으로 연결</a:t>
            </a:r>
            <a:endParaRPr lang="en-US" sz="645" dirty="0"/>
          </a:p>
        </p:txBody>
      </p:sp>
      <p:sp>
        <p:nvSpPr>
          <p:cNvPr id="19" name="Shape 17"/>
          <p:cNvSpPr/>
          <p:nvPr/>
        </p:nvSpPr>
        <p:spPr>
          <a:xfrm>
            <a:off x="7543800" y="1700784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0B2345"/>
          </a:solidFill>
          <a:ln w="10160">
            <a:solidFill>
              <a:srgbClr val="0B23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0" y="181965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955280" y="186537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Shared Case</a:t>
            </a:r>
            <a:endParaRPr lang="en-US" sz="810" dirty="0"/>
          </a:p>
        </p:txBody>
      </p:sp>
      <p:sp>
        <p:nvSpPr>
          <p:cNvPr id="22" name="Text 20"/>
          <p:cNvSpPr/>
          <p:nvPr/>
        </p:nvSpPr>
        <p:spPr>
          <a:xfrm>
            <a:off x="7781544" y="2267712"/>
            <a:ext cx="148132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5" dirty="0">
                <a:solidFill>
                  <a:srgbClr val="D8E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Evidence·질문·응답·Fact를</a:t>
            </a:r>
            <a:endParaRPr lang="en-US" sz="645" dirty="0"/>
          </a:p>
          <a:p>
            <a:pPr indent="0" marL="0">
              <a:buNone/>
            </a:pPr>
            <a:r>
              <a:rPr lang="en-US" sz="645" dirty="0">
                <a:solidFill>
                  <a:srgbClr val="D8E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하나의 사건으로 관리</a:t>
            </a:r>
            <a:endParaRPr lang="en-US" sz="645" dirty="0"/>
          </a:p>
        </p:txBody>
      </p:sp>
      <p:sp>
        <p:nvSpPr>
          <p:cNvPr id="23" name="Shape 21"/>
          <p:cNvSpPr/>
          <p:nvPr/>
        </p:nvSpPr>
        <p:spPr>
          <a:xfrm>
            <a:off x="9646920" y="21945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3C4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84080" y="231343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058400" y="235915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Workflow·UI 고도화</a:t>
            </a:r>
            <a:endParaRPr lang="en-US" sz="810" dirty="0"/>
          </a:p>
        </p:txBody>
      </p:sp>
      <p:sp>
        <p:nvSpPr>
          <p:cNvPr id="26" name="Text 24"/>
          <p:cNvSpPr/>
          <p:nvPr/>
        </p:nvSpPr>
        <p:spPr>
          <a:xfrm>
            <a:off x="9884664" y="2761488"/>
            <a:ext cx="1481328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45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사건 확인 → 고객 질문 →</a:t>
            </a:r>
            <a:endParaRPr lang="en-US" sz="645" dirty="0"/>
          </a:p>
          <a:p>
            <a:pPr indent="0" marL="0">
              <a:buNone/>
            </a:pPr>
            <a:r>
              <a:rPr lang="en-US" sz="645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Fact 검토 흐름에 맞게 개선</a:t>
            </a:r>
            <a:endParaRPr lang="en-US" sz="645" dirty="0"/>
          </a:p>
        </p:txBody>
      </p:sp>
      <p:sp>
        <p:nvSpPr>
          <p:cNvPr id="27" name="Shape 25"/>
          <p:cNvSpPr/>
          <p:nvPr/>
        </p:nvSpPr>
        <p:spPr>
          <a:xfrm>
            <a:off x="1188720" y="4315968"/>
            <a:ext cx="9829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8890">
            <a:solidFill>
              <a:srgbClr val="D8E1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17320" y="4489704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제출 이후 고도화 방향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3154680" y="4517136"/>
            <a:ext cx="1463040" cy="237744"/>
          </a:xfrm>
          <a:prstGeom prst="roundRect">
            <a:avLst>
              <a:gd name="adj" fmla="val 46154"/>
            </a:avLst>
          </a:prstGeom>
          <a:solidFill>
            <a:srgbClr val="DCEBFF"/>
          </a:solidFill>
          <a:ln w="12700">
            <a:solidFill>
              <a:srgbClr val="DCEB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27832" y="4553712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 사건 맥락 구조화</a:t>
            </a:r>
            <a:endParaRPr 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5440680" y="4517136"/>
            <a:ext cx="1417320" cy="237744"/>
          </a:xfrm>
          <a:prstGeom prst="roundRect">
            <a:avLst>
              <a:gd name="adj" fmla="val 46154"/>
            </a:avLst>
          </a:prstGeom>
          <a:solidFill>
            <a:srgbClr val="E6F4EA"/>
          </a:solidFill>
          <a:ln w="12700">
            <a:solidFill>
              <a:srgbClr val="DCEB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13832" y="4553712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A6D3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 대화·질문·검증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7680960" y="4517136"/>
            <a:ext cx="1417320" cy="237744"/>
          </a:xfrm>
          <a:prstGeom prst="roundRect">
            <a:avLst>
              <a:gd name="adj" fmla="val 46154"/>
            </a:avLst>
          </a:prstGeom>
          <a:solidFill>
            <a:srgbClr val="FFF3C4"/>
          </a:solidFill>
          <a:ln w="12700">
            <a:solidFill>
              <a:srgbClr val="DCEB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54112" y="4553712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8A640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 업무·요약·보고</a:t>
            </a:r>
            <a:endParaRPr lang="en-US" sz="660" dirty="0"/>
          </a:p>
        </p:txBody>
      </p:sp>
      <p:sp>
        <p:nvSpPr>
          <p:cNvPr id="35" name="Text 33"/>
          <p:cNvSpPr/>
          <p:nvPr/>
        </p:nvSpPr>
        <p:spPr>
          <a:xfrm>
            <a:off x="1938528" y="4882896"/>
            <a:ext cx="8138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 담당자·고객 화면의 정보 구조와 기능 배치를 업무 흐름에 맞게 재정리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594360" y="5897880"/>
            <a:ext cx="10972800" cy="429768"/>
          </a:xfrm>
          <a:prstGeom prst="roundRect">
            <a:avLst>
              <a:gd name="adj" fmla="val 12766"/>
            </a:avLst>
          </a:prstGeom>
          <a:solidFill>
            <a:srgbClr val="FFF3C4"/>
          </a:solidFill>
          <a:ln w="12700">
            <a:solidFill>
              <a:srgbClr val="FFF3C4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6025896"/>
            <a:ext cx="10607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│ 기능을 늘리기보다, 한 사건이 처음부터 끝까지 끊기지 않고 처리되는 구조와 화면으로 발전시켰습니다.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502920" y="6565392"/>
            <a:ext cx="7863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8A98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 발전축: 송금 방지턱 → AI/사람 역할 재정의 → ROOM → Shared Case → Workflow·UI 고도화</a:t>
            </a:r>
            <a:endParaRPr lang="en-US" sz="5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프로젝트 수행 절차 및 방법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195560" y="21945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CSR | Case Share Room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먼저 구조를 확인하고, 필요한 부분만 개선했습니다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0352" y="1216152"/>
            <a:ext cx="10789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대규모 재작성보다 현재 구조를 분석하고 영향 범위를 확인한 뒤 최소 수정했습니다.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664208" cy="1325880"/>
          </a:xfrm>
          <a:prstGeom prst="roundRect">
            <a:avLst>
              <a:gd name="adj" fmla="val 5517"/>
            </a:avLst>
          </a:prstGeom>
          <a:solidFill>
            <a:srgbClr val="0B2345"/>
          </a:solidFill>
          <a:ln w="10160">
            <a:solidFill>
              <a:srgbClr val="0B23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92024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22960" y="213055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READ-ONLY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 분석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4672" y="2624328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D8E7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구조·의존 관계 확인</a:t>
            </a:r>
            <a:endParaRPr lang="en-US" sz="660" dirty="0"/>
          </a:p>
        </p:txBody>
      </p:sp>
      <p:sp>
        <p:nvSpPr>
          <p:cNvPr id="10" name="Shape 8"/>
          <p:cNvSpPr/>
          <p:nvPr/>
        </p:nvSpPr>
        <p:spPr>
          <a:xfrm>
            <a:off x="2331720" y="2450592"/>
            <a:ext cx="155448" cy="0"/>
          </a:xfrm>
          <a:prstGeom prst="line">
            <a:avLst/>
          </a:prstGeom>
          <a:noFill/>
          <a:ln w="20320">
            <a:solidFill>
              <a:srgbClr val="1F7AE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14600" y="1783080"/>
            <a:ext cx="166420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42616" y="192024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697480" y="213055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문제·영향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범위 확인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79192" y="2624328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어디까지 바뀌는지 정리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4206240" y="2450592"/>
            <a:ext cx="155448" cy="0"/>
          </a:xfrm>
          <a:prstGeom prst="line">
            <a:avLst/>
          </a:prstGeom>
          <a:noFill/>
          <a:ln w="20320">
            <a:solidFill>
              <a:srgbClr val="1F7AE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89120" y="1783080"/>
            <a:ext cx="166420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17136" y="192024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572000" y="213055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변경 방향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결정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53712" y="2624328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수정할 부분과 보존할 부분 구분</a:t>
            </a:r>
            <a:endParaRPr lang="en-US" sz="660" dirty="0"/>
          </a:p>
        </p:txBody>
      </p:sp>
      <p:sp>
        <p:nvSpPr>
          <p:cNvPr id="20" name="Shape 18"/>
          <p:cNvSpPr/>
          <p:nvPr/>
        </p:nvSpPr>
        <p:spPr>
          <a:xfrm>
            <a:off x="6080760" y="2450592"/>
            <a:ext cx="155448" cy="0"/>
          </a:xfrm>
          <a:prstGeom prst="line">
            <a:avLst/>
          </a:prstGeom>
          <a:noFill/>
          <a:ln w="20320">
            <a:solidFill>
              <a:srgbClr val="1F7AE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63640" y="1783080"/>
            <a:ext cx="166420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91656" y="192024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446520" y="213055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최소 구현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28232" y="2624328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필요한 파일만 수정</a:t>
            </a:r>
            <a:endParaRPr lang="en-US" sz="660" dirty="0"/>
          </a:p>
        </p:txBody>
      </p:sp>
      <p:sp>
        <p:nvSpPr>
          <p:cNvPr id="25" name="Shape 23"/>
          <p:cNvSpPr/>
          <p:nvPr/>
        </p:nvSpPr>
        <p:spPr>
          <a:xfrm>
            <a:off x="7955280" y="2450592"/>
            <a:ext cx="155448" cy="0"/>
          </a:xfrm>
          <a:prstGeom prst="line">
            <a:avLst/>
          </a:prstGeom>
          <a:noFill/>
          <a:ln w="20320">
            <a:solidFill>
              <a:srgbClr val="1F7AE0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138160" y="1783080"/>
            <a:ext cx="166420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66176" y="192024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321040" y="213055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테스트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302752" y="2624328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기능 단위 확인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9829800" y="2450592"/>
            <a:ext cx="155448" cy="0"/>
          </a:xfrm>
          <a:prstGeom prst="line">
            <a:avLst/>
          </a:prstGeom>
          <a:noFill/>
          <a:ln w="20320">
            <a:solidFill>
              <a:srgbClr val="1F7AE0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012680" y="1783080"/>
            <a:ext cx="1664208" cy="1325880"/>
          </a:xfrm>
          <a:prstGeom prst="roundRect">
            <a:avLst>
              <a:gd name="adj" fmla="val 5517"/>
            </a:avLst>
          </a:prstGeom>
          <a:solidFill>
            <a:srgbClr val="DCEBFF"/>
          </a:solidFill>
          <a:ln w="10160">
            <a:solidFill>
              <a:srgbClr val="D8E1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40696" y="192024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7AE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0195560" y="213055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177272" y="2624328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5C6B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화면·API 흐름 확인</a:t>
            </a:r>
            <a:endParaRPr lang="en-US" sz="660" dirty="0"/>
          </a:p>
        </p:txBody>
      </p:sp>
      <p:sp>
        <p:nvSpPr>
          <p:cNvPr id="35" name="Text 33"/>
          <p:cNvSpPr/>
          <p:nvPr/>
        </p:nvSpPr>
        <p:spPr>
          <a:xfrm>
            <a:off x="640080" y="36027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개발·개선 원칙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" y="4069080"/>
            <a:ext cx="2542032" cy="1097280"/>
          </a:xfrm>
          <a:prstGeom prst="roundRect">
            <a:avLst>
              <a:gd name="adj" fmla="val 6667"/>
            </a:avLst>
          </a:prstGeom>
          <a:solidFill>
            <a:srgbClr val="DCEBFF"/>
          </a:solidFill>
          <a:ln w="10160">
            <a:solidFill>
              <a:srgbClr val="DCEB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" y="4261104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Workflow 우선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841248" y="4553712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기능 개수보다 같은 Case로 화면·API·DB·AI가 연결되는지 확인</a:t>
            </a:r>
            <a:endParaRPr lang="en-US" sz="675" dirty="0"/>
          </a:p>
        </p:txBody>
      </p:sp>
      <p:sp>
        <p:nvSpPr>
          <p:cNvPr id="39" name="Shape 37"/>
          <p:cNvSpPr/>
          <p:nvPr/>
        </p:nvSpPr>
        <p:spPr>
          <a:xfrm>
            <a:off x="3429000" y="4069080"/>
            <a:ext cx="2542032" cy="1097280"/>
          </a:xfrm>
          <a:prstGeom prst="roundRect">
            <a:avLst>
              <a:gd name="adj" fmla="val 6667"/>
            </a:avLst>
          </a:prstGeom>
          <a:solidFill>
            <a:srgbClr val="FFF3C4"/>
          </a:solidFill>
          <a:ln w="10160">
            <a:solidFill>
              <a:srgbClr val="FFF3C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30168" y="4261104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Evidence 우선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3630168" y="4553712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결과만 사용하지 않고 원본 Evidence와 Fact 상태를 함께 확인</a:t>
            </a:r>
            <a:endParaRPr lang="en-US" sz="675" dirty="0"/>
          </a:p>
        </p:txBody>
      </p:sp>
      <p:sp>
        <p:nvSpPr>
          <p:cNvPr id="42" name="Shape 40"/>
          <p:cNvSpPr/>
          <p:nvPr/>
        </p:nvSpPr>
        <p:spPr>
          <a:xfrm>
            <a:off x="6217920" y="4069080"/>
            <a:ext cx="2542032" cy="1097280"/>
          </a:xfrm>
          <a:prstGeom prst="roundRect">
            <a:avLst>
              <a:gd name="adj" fmla="val 6667"/>
            </a:avLst>
          </a:prstGeom>
          <a:solidFill>
            <a:srgbClr val="E6F4EA"/>
          </a:solidFill>
          <a:ln w="10160">
            <a:solidFill>
              <a:srgbClr val="E6F4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19088" y="4261104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Human-in-the-loop</a:t>
            </a:r>
            <a:endParaRPr lang="en-US" sz="920" dirty="0"/>
          </a:p>
        </p:txBody>
      </p:sp>
      <p:sp>
        <p:nvSpPr>
          <p:cNvPr id="44" name="Text 42"/>
          <p:cNvSpPr/>
          <p:nvPr/>
        </p:nvSpPr>
        <p:spPr>
          <a:xfrm>
            <a:off x="6419088" y="4553712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AI는 구조화·추천·초안, 담당자는 검토·확인·최종 판단</a:t>
            </a:r>
            <a:endParaRPr lang="en-US" sz="675" dirty="0"/>
          </a:p>
        </p:txBody>
      </p:sp>
      <p:sp>
        <p:nvSpPr>
          <p:cNvPr id="45" name="Shape 43"/>
          <p:cNvSpPr/>
          <p:nvPr/>
        </p:nvSpPr>
        <p:spPr>
          <a:xfrm>
            <a:off x="9006840" y="4069080"/>
            <a:ext cx="2542032" cy="1097280"/>
          </a:xfrm>
          <a:prstGeom prst="roundRect">
            <a:avLst>
              <a:gd name="adj" fmla="val 6667"/>
            </a:avLst>
          </a:prstGeom>
          <a:solidFill>
            <a:srgbClr val="EEE7FF"/>
          </a:solidFill>
          <a:ln w="10160">
            <a:solidFill>
              <a:srgbClr val="EEE7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08008" y="4261104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UX·Runtime 검증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9208008" y="4553712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1D273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기능 동작뿐 아니라 정보 배치와 화면 흐름이 자연스러운지 확인</a:t>
            </a:r>
            <a:endParaRPr lang="en-US" sz="675" dirty="0"/>
          </a:p>
        </p:txBody>
      </p:sp>
      <p:sp>
        <p:nvSpPr>
          <p:cNvPr id="48" name="Shape 46"/>
          <p:cNvSpPr/>
          <p:nvPr/>
        </p:nvSpPr>
        <p:spPr>
          <a:xfrm>
            <a:off x="594360" y="5897880"/>
            <a:ext cx="10972800" cy="429768"/>
          </a:xfrm>
          <a:prstGeom prst="roundRect">
            <a:avLst>
              <a:gd name="adj" fmla="val 12766"/>
            </a:avLst>
          </a:prstGeom>
          <a:solidFill>
            <a:srgbClr val="FFF3C4"/>
          </a:solidFill>
          <a:ln w="12700">
            <a:solidFill>
              <a:srgbClr val="FFF3C4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7240" y="6025896"/>
            <a:ext cx="10607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B23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│ 같은 Case ID를 기준으로 기능 연결과 실제 화면 사용 흐름을 함께 확인했습니다.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502920" y="6565392"/>
            <a:ext cx="7863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8A98A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진행 원칙: 구조 분석 → 영향 범위 확인 → 최소 구현 → 테스트 → Runtime 검증</a:t>
            </a:r>
            <a:endParaRPr lang="en-US" sz="5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CSR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CSR_프로젝트_수행절차_방법_v2</dc:title>
  <dc:subject>CSR 프로젝트 수행 절차 및 방법</dc:subject>
  <dc:creator>OpenAI</dc:creator>
  <cp:lastModifiedBy>OpenAI</cp:lastModifiedBy>
  <cp:revision>1</cp:revision>
  <dcterms:created xsi:type="dcterms:W3CDTF">2026-09-29T00:57:48Z</dcterms:created>
  <dcterms:modified xsi:type="dcterms:W3CDTF">2026-09-29T00:57:48Z</dcterms:modified>
</cp:coreProperties>
</file>