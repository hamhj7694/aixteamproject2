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수행 경과는 하나의 대표 Case 흐름으로 보여줍니다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양식의 “과정·피드백·기술·핵심기능·구동 화면” 요구를 한 사건의 진행 흐름으로 연결합니다.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FE8D2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68680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통화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문구·송금 요구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148840" y="2587752"/>
            <a:ext cx="109728" cy="0"/>
          </a:xfrm>
          <a:prstGeom prst="line">
            <a:avLst/>
          </a:prstGeom>
          <a:noFill/>
          <a:ln w="1397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95144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DCEB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2478024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생성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78024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분석·저장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3758184" y="2587752"/>
            <a:ext cx="109728" cy="0"/>
          </a:xfrm>
          <a:prstGeom prst="line">
            <a:avLst/>
          </a:prstGeom>
          <a:noFill/>
          <a:ln w="1397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04488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50792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4087368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ROOM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87368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Brief·Evidence 확인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367528" y="2587752"/>
            <a:ext cx="109728" cy="0"/>
          </a:xfrm>
          <a:prstGeom prst="line">
            <a:avLst/>
          </a:prstGeom>
          <a:noFill/>
          <a:ln w="1397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3832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FF3C4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0136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5696712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추천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96712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초안→담당자 검토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6976872" y="2587752"/>
            <a:ext cx="109728" cy="0"/>
          </a:xfrm>
          <a:prstGeom prst="line">
            <a:avLst/>
          </a:prstGeom>
          <a:noFill/>
          <a:ln w="1397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23176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E6F4EA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640" dirty="0"/>
          </a:p>
        </p:txBody>
      </p:sp>
      <p:sp>
        <p:nvSpPr>
          <p:cNvPr id="33" name="Text 31"/>
          <p:cNvSpPr/>
          <p:nvPr/>
        </p:nvSpPr>
        <p:spPr>
          <a:xfrm>
            <a:off x="7306056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응답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06056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ROOM/App 응답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8586216" y="2587752"/>
            <a:ext cx="109728" cy="0"/>
          </a:xfrm>
          <a:prstGeom prst="line">
            <a:avLst/>
          </a:prstGeom>
          <a:noFill/>
          <a:ln w="1397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732520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EEE7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78824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1976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8915400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Fact 검토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15400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PROPOSED→CONFIRMED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10195560" y="2587752"/>
            <a:ext cx="109728" cy="0"/>
          </a:xfrm>
          <a:prstGeom prst="line">
            <a:avLst/>
          </a:prstGeom>
          <a:noFill/>
          <a:ln w="1397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341864" y="187452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DDF5F3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88168" y="20391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20711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10524744" y="23865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확인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24744" y="2734056"/>
            <a:ext cx="107899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질문·Verification·보고서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85800" y="37490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04에서 반드시 보여줄 내용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7240" y="42062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3525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프로세스</a:t>
            </a:r>
            <a:endParaRPr lang="en-US" sz="670" dirty="0"/>
          </a:p>
        </p:txBody>
      </p:sp>
      <p:sp>
        <p:nvSpPr>
          <p:cNvPr id="50" name="Text 48"/>
          <p:cNvSpPr/>
          <p:nvPr/>
        </p:nvSpPr>
        <p:spPr>
          <a:xfrm>
            <a:off x="1828800" y="4325112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가공 과정부터 활용까지 단계별 흐름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480560" y="42062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43525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피드백과 보완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5532120" y="4325112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이후 발견한 문제와 개선 결과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8183880" y="42062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43525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기술·구현방법</a:t>
            </a:r>
            <a:endParaRPr lang="en-US" sz="670" dirty="0"/>
          </a:p>
        </p:txBody>
      </p:sp>
      <p:sp>
        <p:nvSpPr>
          <p:cNvPr id="56" name="Text 54"/>
          <p:cNvSpPr/>
          <p:nvPr/>
        </p:nvSpPr>
        <p:spPr>
          <a:xfrm>
            <a:off x="9235440" y="4325112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React·FastAPI·AI API·MySQL 연결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777240" y="493776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50840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핵심기능·결과</a:t>
            </a:r>
            <a:endParaRPr lang="en-US" sz="670" dirty="0"/>
          </a:p>
        </p:txBody>
      </p:sp>
      <p:sp>
        <p:nvSpPr>
          <p:cNvPr id="59" name="Text 57"/>
          <p:cNvSpPr/>
          <p:nvPr/>
        </p:nvSpPr>
        <p:spPr>
          <a:xfrm>
            <a:off x="1828800" y="5056632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질문·응답·Fact·Context·종결 흐름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4480560" y="493776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FF3C4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17720" y="50840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구동 화면 자료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5532120" y="5056632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화면·시연 영상·캡처 증거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기능 목록이 아니라, 같은 Case가 화면·API·AI·DB를 통과하며 갱신되는 흐름으로 수행 경과를 설명합니다.</a:t>
            </a:r>
            <a:endParaRPr lang="en-US" sz="810" dirty="0"/>
          </a:p>
        </p:txBody>
      </p:sp>
      <p:sp>
        <p:nvSpPr>
          <p:cNvPr id="65" name="Text 63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요구 반영: 전체 프로세스·피드백·기술·핵심기능·구동 화면 자료를 04에 포함</a:t>
            </a:r>
            <a:endParaRPr lang="en-US" sz="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통화가 들어오면 Case가 만들어집니다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통화 내용과 위험 신호를 입력으로 받아, 정상 건은 종료하고 의심 건은 조사 대상 Case로 전환합니다.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1005840" cy="228600"/>
          </a:xfrm>
          <a:prstGeom prst="roundRect">
            <a:avLst>
              <a:gd name="adj" fmla="val 48000"/>
            </a:avLst>
          </a:prstGeom>
          <a:solidFill>
            <a:srgbClr val="FFE8D2"/>
          </a:solidFill>
          <a:ln w="7620">
            <a:solidFill>
              <a:srgbClr val="FFE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52244"/>
            <a:ext cx="859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Case 문구 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“검찰 수사관입니다. 고객님의 계좌가 범죄에 연루됐습니다. 안전계좌로 자금을 옮겨야 합니다.”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확인 정보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3977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기관 사칭 정황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32688" y="4270248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긴급성·압박 표현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32688" y="456285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자금 이동 요구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03320" y="3310128"/>
            <a:ext cx="576072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700784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DCEBFF"/>
          </a:solidFill>
          <a:ln w="10160">
            <a:solidFill>
              <a:srgbClr val="1F7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920240"/>
            <a:ext cx="1325880" cy="228600"/>
          </a:xfrm>
          <a:prstGeom prst="roundRect">
            <a:avLst>
              <a:gd name="adj" fmla="val 48000"/>
            </a:avLst>
          </a:prstGeom>
          <a:solidFill>
            <a:srgbClr val="0B2345"/>
          </a:solidFill>
          <a:ln w="7620">
            <a:solidFill>
              <a:srgbClr val="0B23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952244"/>
            <a:ext cx="1179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분석·투영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617720" y="23317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위험 분석 → Case 데이터 변환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761488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통화/STT·위험 신호를 사건 맥락으로 구조화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63440" y="3090672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위험 근거·반대 근거·미확인 사항 분리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63440" y="3419856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초기 보고서와 이벤트 기록 생성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663440" y="3749040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원문 저장 범위는 최소화 원칙 적용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790688" y="3310128"/>
            <a:ext cx="576072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85632" y="1700784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4232" y="192024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E6F4EA"/>
          </a:solidFill>
          <a:ln w="7620">
            <a:solidFill>
              <a:srgbClr val="E6F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87384" y="1952244"/>
            <a:ext cx="1088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결과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714232" y="2331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생성 후 담당자 ROOM으로 이동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32520" y="277977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7620">
            <a:solidFill>
              <a:srgbClr val="EAF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5672" y="281178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cases</a:t>
            </a:r>
            <a:endParaRPr lang="en-US" sz="590" dirty="0"/>
          </a:p>
        </p:txBody>
      </p:sp>
      <p:sp>
        <p:nvSpPr>
          <p:cNvPr id="31" name="Shape 29"/>
          <p:cNvSpPr/>
          <p:nvPr/>
        </p:nvSpPr>
        <p:spPr>
          <a:xfrm>
            <a:off x="9966960" y="277977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7620">
            <a:solidFill>
              <a:srgbClr val="EAF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40112" y="281178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case_inputs</a:t>
            </a:r>
            <a:endParaRPr lang="en-US" sz="590" dirty="0"/>
          </a:p>
        </p:txBody>
      </p:sp>
      <p:sp>
        <p:nvSpPr>
          <p:cNvPr id="33" name="Shape 31"/>
          <p:cNvSpPr/>
          <p:nvPr/>
        </p:nvSpPr>
        <p:spPr>
          <a:xfrm>
            <a:off x="8732520" y="316382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7620">
            <a:solidFill>
              <a:srgbClr val="EAF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05672" y="319582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analysis_segments</a:t>
            </a:r>
            <a:endParaRPr lang="en-US" sz="590" dirty="0"/>
          </a:p>
        </p:txBody>
      </p:sp>
      <p:sp>
        <p:nvSpPr>
          <p:cNvPr id="35" name="Shape 33"/>
          <p:cNvSpPr/>
          <p:nvPr/>
        </p:nvSpPr>
        <p:spPr>
          <a:xfrm>
            <a:off x="9966960" y="316382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7620">
            <a:solidFill>
              <a:srgbClr val="EAF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0112" y="319582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context_features</a:t>
            </a:r>
            <a:endParaRPr lang="en-US" sz="590" dirty="0"/>
          </a:p>
        </p:txBody>
      </p:sp>
      <p:sp>
        <p:nvSpPr>
          <p:cNvPr id="37" name="Shape 35"/>
          <p:cNvSpPr/>
          <p:nvPr/>
        </p:nvSpPr>
        <p:spPr>
          <a:xfrm>
            <a:off x="8732520" y="3547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7620">
            <a:solidFill>
              <a:srgbClr val="EAF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05672" y="357987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case_reports</a:t>
            </a:r>
            <a:endParaRPr lang="en-US" sz="590" dirty="0"/>
          </a:p>
        </p:txBody>
      </p:sp>
      <p:sp>
        <p:nvSpPr>
          <p:cNvPr id="39" name="Shape 37"/>
          <p:cNvSpPr/>
          <p:nvPr/>
        </p:nvSpPr>
        <p:spPr>
          <a:xfrm>
            <a:off x="9966960" y="3547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7620">
            <a:solidFill>
              <a:srgbClr val="EAF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0112" y="357987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case_events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8705088" y="443484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DB 테이블명은 최종 migration 기준으로 재확인 후 확정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CSR의 시작점은 “탐지 결과”가 아니라, 탐지 이후 담당자가 조사할 수 있는 Case를 만드는 것입니다.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화면·DB·API 캡처는 대표 Case 확정 후 교체/삽입 예정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담당자는 사건 전체를 한 화면에서 확인합니다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요약만 보는 것이 아니라 Brief·미확인 사항·원본 Evidence·진행 상태를 함께 확인하도록 구성했습니다.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47548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B8C6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801368"/>
            <a:ext cx="4535424" cy="3118104"/>
          </a:xfrm>
          <a:prstGeom prst="roundRect">
            <a:avLst>
              <a:gd name="adj" fmla="val 1173"/>
            </a:avLst>
          </a:prstGeom>
          <a:solidFill>
            <a:srgbClr val="EEF2F6"/>
          </a:solidFill>
          <a:ln w="11430">
            <a:solidFill>
              <a:srgbClr val="C9D4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39112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ROOM 캡처 삽입 예정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41832" y="240487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제목·AI Brief·Evidence·Context Panel이 보이는 실제 화면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715000" y="170078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DCEBFF"/>
          </a:solidFill>
          <a:ln w="10160">
            <a:solidFill>
              <a:srgbClr val="DCE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18653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사건 Brief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23760" y="1837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맥락·위험 근거·반대 근거·미확인 사항 정리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5715000" y="252374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FFF3C4"/>
          </a:solidFill>
          <a:ln w="10160">
            <a:solidFill>
              <a:srgbClr val="FFF3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26883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Evidence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223760" y="2660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통화/STT·위험 분석·거래/FDS 참고 정보를 함께 확인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5715000" y="334670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E6F4EA"/>
          </a:solidFill>
          <a:ln w="10160">
            <a:solidFill>
              <a:srgbClr val="E6F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351129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진행 정보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223760" y="3483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상태·담당자 메모·팀 내부 기록·이벤트 누적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5715000" y="416966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EEE7FF"/>
          </a:solidFill>
          <a:ln w="10160">
            <a:solidFill>
              <a:srgbClr val="EEE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3342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범위 구분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0" y="43068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은행 내부 대화와 고객 공개 질문을 분리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5715000" y="516636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532180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포인트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6903720" y="5294376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담당자는 AI 결과를 최종 판단으로 쓰지 않고, 원본 Evidence와 함께 검토합니다.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담당자 ROOM의 목적은 “빠른 판단”이 아니라, 빠르고 근거 있게 조사할 수 있는 업무 공간을 제공하는 것입니다.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화면·DB·API 캡처는 대표 Case 확정 후 교체/삽입 예정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질문은 AI가 추천하고, 담당자가 결정합니다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질문을 자동 전송하지 않고, 담당자가 검토·수정한 뒤 고객에게 전달하는 Human-in-the-loop 구조입니다.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856232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960120" y="2368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715768"/>
            <a:ext cx="192024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미확인 정보·Fact 상태 확인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3099816" y="2560320"/>
            <a:ext cx="301752" cy="0"/>
          </a:xfrm>
          <a:prstGeom prst="line">
            <a:avLst/>
          </a:prstGeom>
          <a:noFill/>
          <a:ln w="1778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1856232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DCEB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3630168" y="2368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질문 추천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30168" y="2715768"/>
            <a:ext cx="192024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고객에게 확인할 질문 초안 생성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769864" y="2560320"/>
            <a:ext cx="301752" cy="0"/>
          </a:xfrm>
          <a:prstGeom prst="line">
            <a:avLst/>
          </a:prstGeom>
          <a:noFill/>
          <a:ln w="1778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17336" y="1856232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6300216" y="2368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검토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2715768"/>
            <a:ext cx="192024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선택·수정·공개 범위 확인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439912" y="2560320"/>
            <a:ext cx="301752" cy="0"/>
          </a:xfrm>
          <a:prstGeom prst="line">
            <a:avLst/>
          </a:prstGeom>
          <a:noFill/>
          <a:ln w="1778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87384" y="1856232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6F4EA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33688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8970264" y="2368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전달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70264" y="2715768"/>
            <a:ext cx="192024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PENDING → ASKED 상태로 전환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822960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이후 개선 포인트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8680" y="427939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E6E8"/>
          </a:solidFill>
          <a:ln w="10160">
            <a:solidFill>
              <a:srgbClr val="FFE6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450799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74520" y="444398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확인한 내용과 비슷한 질문이 다시 추천될 수 있음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400800" y="427939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E6F4EA"/>
          </a:solidFill>
          <a:ln w="10160">
            <a:solidFill>
              <a:srgbClr val="E6F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450799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06640" y="444398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상태·Case Context를 반영해 처리된 질문을 제외하고 후속 질문 갱신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“질문 생성”이 아니라 “질문 → 검토 → 고객 전달 → 응답 반영”까지 이어지는 흐름을 구현했습니다.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화면·DB·API 캡처는 대표 Case 확정 후 교체/삽입 예정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고객은 필요한 질문에 순서대로 답합니다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방향은 은행 담당자 화면은 Web, 고객 화면은 기존 은행 App의 확인 영역으로 연결하는 구조입니다.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적용 방향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487168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DCEBFF"/>
          </a:solidFill>
          <a:ln w="10160">
            <a:solidFill>
              <a:srgbClr val="DCE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2432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은행 담당자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965960" y="260604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업무 화면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971800" y="258775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조사·AI 업무지원·고객 확인 질문 관리</a:t>
            </a:r>
            <a:endParaRPr lang="en-US" sz="570" dirty="0"/>
          </a:p>
        </p:txBody>
      </p:sp>
      <p:sp>
        <p:nvSpPr>
          <p:cNvPr id="12" name="Shape 10"/>
          <p:cNvSpPr/>
          <p:nvPr/>
        </p:nvSpPr>
        <p:spPr>
          <a:xfrm>
            <a:off x="960120" y="3145536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E6F4EA"/>
          </a:solidFill>
          <a:ln w="10160">
            <a:solidFill>
              <a:srgbClr val="E6F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28269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965960" y="326440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은행 App 내 확인 화면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971800" y="3246120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보낸 질문 확인·응답·안내 확인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960120" y="3803904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FFF3C4"/>
          </a:solidFill>
          <a:ln w="10160">
            <a:solidFill>
              <a:srgbClr val="FFF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94106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구현 범위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965960" y="39227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현재는 Web 기반 시연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971800" y="3904488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서비스 방향과 MVP 구현 범위를 구분해 설명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5715000" y="1737360"/>
            <a:ext cx="2377440" cy="3337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8C6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24728" y="1847088"/>
            <a:ext cx="2157984" cy="3118104"/>
          </a:xfrm>
          <a:prstGeom prst="roundRect">
            <a:avLst>
              <a:gd name="adj" fmla="val 1695"/>
            </a:avLst>
          </a:prstGeom>
          <a:solidFill>
            <a:srgbClr val="EEF2F6"/>
          </a:solidFill>
          <a:ln w="11430">
            <a:solidFill>
              <a:srgbClr val="C9D4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20848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화면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71032" y="245059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수신·응답 입력·안내 UI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8302752" y="1737360"/>
            <a:ext cx="2880360" cy="33375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B8C6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1847088"/>
            <a:ext cx="2660904" cy="3118104"/>
          </a:xfrm>
          <a:prstGeom prst="roundRect">
            <a:avLst>
              <a:gd name="adj" fmla="val 1375"/>
            </a:avLst>
          </a:prstGeom>
          <a:solidFill>
            <a:srgbClr val="EEF2F6"/>
          </a:solidFill>
          <a:ln w="11430">
            <a:solidFill>
              <a:srgbClr val="C9D4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2084832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담당자/고객 비교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558784" y="245059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정보가 고객에게 노출되지 않는 화면 비교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같은 Case를 공유하지만, 담당자와 고객에게 보이는 정보는 역할에 따라 다르게 제한됩니다.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고객 App은 서비스 적용 방향, 현재 MVP 시연은 Web 화면 기준으로 표현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답변은 바로 사실로 확정하지 않습니다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응답과 AI 구조화 결과는 Fact 후보가 되고, 담당자가 근거를 확인한 뒤 Case Context에 반영합니다.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20299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665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41248" y="241401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응답 원문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1664208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“OTP 번호를 알려줬어요.”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724912" y="2651760"/>
            <a:ext cx="182880" cy="0"/>
          </a:xfrm>
          <a:prstGeom prst="line">
            <a:avLst/>
          </a:prstGeom>
          <a:noFill/>
          <a:ln w="15875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44368" y="1901952"/>
            <a:ext cx="2029968" cy="1508760"/>
          </a:xfrm>
          <a:prstGeom prst="roundRect">
            <a:avLst>
              <a:gd name="adj" fmla="val 4848"/>
            </a:avLst>
          </a:prstGeom>
          <a:solidFill>
            <a:srgbClr val="DCEB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20665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3127248" y="241401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AI/서비스 구조화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7248" y="2761488"/>
            <a:ext cx="1664208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OTP 전달 여부 = 전달함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010912" y="2651760"/>
            <a:ext cx="182880" cy="0"/>
          </a:xfrm>
          <a:prstGeom prst="line">
            <a:avLst/>
          </a:prstGeom>
          <a:noFill/>
          <a:ln w="15875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30368" y="1901952"/>
            <a:ext cx="2029968" cy="1508760"/>
          </a:xfrm>
          <a:prstGeom prst="roundRect">
            <a:avLst>
              <a:gd name="adj" fmla="val 4848"/>
            </a:avLst>
          </a:prstGeom>
          <a:solidFill>
            <a:srgbClr val="FFF3C4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0665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5413248" y="241401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PROPOSED Fact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13248" y="2761488"/>
            <a:ext cx="1664208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검토 전 미확정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7296912" y="2651760"/>
            <a:ext cx="182880" cy="0"/>
          </a:xfrm>
          <a:prstGeom prst="line">
            <a:avLst/>
          </a:prstGeom>
          <a:noFill/>
          <a:ln w="15875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16368" y="1901952"/>
            <a:ext cx="2029968" cy="1508760"/>
          </a:xfrm>
          <a:prstGeom prst="roundRect">
            <a:avLst>
              <a:gd name="adj" fmla="val 4848"/>
            </a:avLst>
          </a:prstGeom>
          <a:solidFill>
            <a:srgbClr val="EEE7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20665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7699248" y="241401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검토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99248" y="2761488"/>
            <a:ext cx="1664208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원문·근거 확인 후 승인/거절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9582912" y="2651760"/>
            <a:ext cx="182880" cy="0"/>
          </a:xfrm>
          <a:prstGeom prst="line">
            <a:avLst/>
          </a:prstGeom>
          <a:noFill/>
          <a:ln w="15875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02368" y="1901952"/>
            <a:ext cx="2029968" cy="1508760"/>
          </a:xfrm>
          <a:prstGeom prst="roundRect">
            <a:avLst>
              <a:gd name="adj" fmla="val 4848"/>
            </a:avLst>
          </a:prstGeom>
          <a:solidFill>
            <a:srgbClr val="E6F4EA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0665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7620">
            <a:solidFill>
              <a:srgbClr val="DCE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2182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640" dirty="0"/>
          </a:p>
        </p:txBody>
      </p:sp>
      <p:sp>
        <p:nvSpPr>
          <p:cNvPr id="33" name="Text 31"/>
          <p:cNvSpPr/>
          <p:nvPr/>
        </p:nvSpPr>
        <p:spPr>
          <a:xfrm>
            <a:off x="9985248" y="241401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CONFIRMED Fact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85248" y="2761488"/>
            <a:ext cx="1664208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질문·판단의 입력으로 사용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960120" y="4206240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44439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 단계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67712" y="440740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Evidence → 고객 진술 → AI 결과 → PROPOSED Fact → 담당자 확인 → CONFIRMED Fact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6236208" y="4206240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FFE6E8"/>
          </a:solidFill>
          <a:ln w="10160">
            <a:solidFill>
              <a:srgbClr val="FFE6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44439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 주의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43800" y="440740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추출 결과나 고객 진술을 “확정 사실”처럼 말하지 않고, 상태와 근거를 함께 설명합니다.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CSR은 AI가 사실을 확정하는 서비스가 아니라, 담당자가 근거를 확인하도록 Fact 상태를 관리하는 서비스입니다.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화면·DB·API 캡처는 대표 Case 확정 후 교체/삽입 예정</a:t>
            </a:r>
            <a:endParaRPr lang="en-US" sz="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Case가 화면·API·AI·DB를 통과합니다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기술은 개별 기능 목록이 아니라, 대표 Case 데이터가 실제로 이동하고 갱신되는 흐름 안에서 설명합니다.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4617720" cy="603504"/>
          </a:xfrm>
          <a:prstGeom prst="roundRect">
            <a:avLst>
              <a:gd name="adj" fmla="val 12121"/>
            </a:avLst>
          </a:prstGeom>
          <a:solidFill>
            <a:srgbClr val="DCEBFF"/>
          </a:solidFill>
          <a:ln w="10160">
            <a:solidFill>
              <a:srgbClr val="DCE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5681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 Frontend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2194560" y="19293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ROOM · 고객 ROOM · 질문/Fact/Verification UI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108960" y="2404872"/>
            <a:ext cx="0" cy="201168"/>
          </a:xfrm>
          <a:prstGeom prst="line">
            <a:avLst/>
          </a:prstGeom>
          <a:noFill/>
          <a:ln w="1270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2624328"/>
            <a:ext cx="4617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9806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General API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2194560" y="277063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· 질문 · 응답 · 상태 · Repository 연결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108960" y="3246120"/>
            <a:ext cx="0" cy="201168"/>
          </a:xfrm>
          <a:prstGeom prst="line">
            <a:avLst/>
          </a:prstGeom>
          <a:noFill/>
          <a:ln w="1270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3465576"/>
            <a:ext cx="4617720" cy="603504"/>
          </a:xfrm>
          <a:prstGeom prst="roundRect">
            <a:avLst>
              <a:gd name="adj" fmla="val 12121"/>
            </a:avLst>
          </a:prstGeom>
          <a:solidFill>
            <a:srgbClr val="FFF3C4"/>
          </a:solidFill>
          <a:ln w="10160">
            <a:solidFill>
              <a:srgbClr val="FFF3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63931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API / LLM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2194560" y="36118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Brief · 질문 후보 · Fact 후보 · Verification 초안 · 보고서 초안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08960" y="4087368"/>
            <a:ext cx="0" cy="201168"/>
          </a:xfrm>
          <a:prstGeom prst="line">
            <a:avLst/>
          </a:prstGeom>
          <a:noFill/>
          <a:ln w="1270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4306824"/>
            <a:ext cx="4617720" cy="603504"/>
          </a:xfrm>
          <a:prstGeom prst="roundRect">
            <a:avLst>
              <a:gd name="adj" fmla="val 12121"/>
            </a:avLst>
          </a:prstGeom>
          <a:solidFill>
            <a:srgbClr val="E6F4EA"/>
          </a:solidFill>
          <a:ln w="10160">
            <a:solidFill>
              <a:srgbClr val="E6F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4805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2194560" y="44531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· Message · Question · Fact · Event · Report 원장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897880" y="1783080"/>
            <a:ext cx="5394960" cy="1152144"/>
          </a:xfrm>
          <a:prstGeom prst="roundRect">
            <a:avLst>
              <a:gd name="adj" fmla="val 6349"/>
            </a:avLst>
          </a:prstGeom>
          <a:solidFill>
            <a:srgbClr val="0B2345"/>
          </a:solidFill>
          <a:ln w="10160">
            <a:solidFill>
              <a:srgbClr val="0B23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9933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ML 위험 신호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34086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D8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통화의 정형 Feature 기반 위험 패턴 분석은 Case 생성과 담당자 판단 지원의 입력 신호로 활용됩니다.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897880" y="32461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보여줄 증거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82219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동일 Case ID의 화면 캡처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199632" y="41148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대표 Endpoint 요청/응답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8613648" y="382219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MySQL 저장 행 또는 로그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8613648" y="411480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AI 출력과 화면 반영 비교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Frontend·General API·AI API·DB·ML을 “같은 사건이 어떻게 처리되는가”라는 하나의 흐름으로 설명합니다.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화면·DB·API 캡처는 대표 Case 확정 후 교체/삽입 예정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이후에는 “기능이 있는가”보다 “실제로 연결되는가”를 봤습니다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피드백과 사용 흐름 점검을 바탕으로 질문·대화 범위·Fact·UI를 반복 개선했습니다.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0B2345"/>
          </a:solidFill>
          <a:ln w="10160">
            <a:solidFill>
              <a:srgbClr val="0B23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문제/피드백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4526280" y="1847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방향</a:t>
            </a:r>
            <a:endParaRPr lang="en-US" sz="710" dirty="0"/>
          </a:p>
        </p:txBody>
      </p:sp>
      <p:sp>
        <p:nvSpPr>
          <p:cNvPr id="9" name="Text 7"/>
          <p:cNvSpPr/>
          <p:nvPr/>
        </p:nvSpPr>
        <p:spPr>
          <a:xfrm>
            <a:off x="8046720" y="1847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보여줄 결과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685800" y="2249424"/>
            <a:ext cx="108356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95728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비슷한 질문 반복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526280" y="2395728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상태·Context 반영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8046720" y="2395728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질문 Before/After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10835640" cy="475488"/>
          </a:xfrm>
          <a:prstGeom prst="roundRect">
            <a:avLst>
              <a:gd name="adj" fmla="val 15385"/>
            </a:avLst>
          </a:prstGeom>
          <a:solidFill>
            <a:srgbClr val="EAF3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99232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내부·고객 대화 목적 혼재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526280" y="2999232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CUSTOMER / TEAM 채널 분리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8046720" y="2999232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담당자·고객 화면 비교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685800" y="3456432"/>
            <a:ext cx="108356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02736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답변이 채팅으로만 남음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526280" y="3602736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Fact 후보 → 담당자 확인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8046720" y="3602736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PROPOSED → CONFIRMED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85800" y="4059936"/>
            <a:ext cx="10835640" cy="475488"/>
          </a:xfrm>
          <a:prstGeom prst="roundRect">
            <a:avLst>
              <a:gd name="adj" fmla="val 15385"/>
            </a:avLst>
          </a:prstGeom>
          <a:solidFill>
            <a:srgbClr val="EAF3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06240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UI가 업무 흐름을 바로 보여주지 못함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26280" y="4206240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지원·고객 확인·사건 정리 위치 재배치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8046720" y="4206240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초기/개선 화면 비교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685800" y="4663440"/>
            <a:ext cx="108356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09744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단위 연결 부족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4526280" y="4809744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질문→응답→Fact→후속확인 연결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8046720" y="4809744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Case E2E 시퀀스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개선 성과는 “좋아졌다”가 아니라, 화면·상태·저장값으로 Before/After를 보여줘야 합니다.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실제 화면·DB·API 캡처는 대표 Case 확정 후 교체/삽입 예정</a:t>
            </a:r>
            <a:endParaRPr lang="en-US" sz="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프로젝트 수행 경과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수행 경과의 마지막은 실제 결과물 증거로 마무리합니다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양식이 요구하는 구동 화면·결과물 사진·시연 영상은 대표 Case 기준으로 정리합니다.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DCEBFF"/>
          </a:solidFill>
          <a:ln w="10160">
            <a:solidFill>
              <a:srgbClr val="DCE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캡처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26060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생성 전후 / 담당자 ROOM / 고객 ROOM / Fact 검토 / 종결 전후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3822192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8890">
            <a:solidFill>
              <a:srgbClr val="D8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3977640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자료 삽입 예정</a:t>
            </a:r>
            <a:endParaRPr lang="en-US" sz="610" dirty="0"/>
          </a:p>
        </p:txBody>
      </p:sp>
      <p:sp>
        <p:nvSpPr>
          <p:cNvPr id="11" name="Shape 9"/>
          <p:cNvSpPr/>
          <p:nvPr/>
        </p:nvSpPr>
        <p:spPr>
          <a:xfrm>
            <a:off x="4453128" y="178308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E6F4EA"/>
          </a:solidFill>
          <a:ln w="10160">
            <a:solidFill>
              <a:srgbClr val="E6F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API·DB 증거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633472"/>
            <a:ext cx="26060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Endpoint 요청·응답 / MySQL 저장 행 / 상태 전이 기록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83480" y="3822192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889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3977640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자료 삽입 예정</a:t>
            </a:r>
            <a:endParaRPr lang="en-US" sz="610" dirty="0"/>
          </a:p>
        </p:txBody>
      </p:sp>
      <p:sp>
        <p:nvSpPr>
          <p:cNvPr id="16" name="Shape 14"/>
          <p:cNvSpPr/>
          <p:nvPr/>
        </p:nvSpPr>
        <p:spPr>
          <a:xfrm>
            <a:off x="8156448" y="178308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3C4"/>
          </a:solidFill>
          <a:ln w="10160">
            <a:solidFill>
              <a:srgbClr val="FFF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영상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633472"/>
            <a:ext cx="26060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5~10분 이내 기능별 소개 음성 포함 / 발표 영상이 아닌 기능 동작 중심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86800" y="3822192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8890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3977640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자료 삽입 예정</a:t>
            </a:r>
            <a:endParaRPr lang="en-US" sz="610" dirty="0"/>
          </a:p>
        </p:txBody>
      </p:sp>
      <p:sp>
        <p:nvSpPr>
          <p:cNvPr id="21" name="Shape 19"/>
          <p:cNvSpPr/>
          <p:nvPr/>
        </p:nvSpPr>
        <p:spPr>
          <a:xfrm>
            <a:off x="1097280" y="5230368"/>
            <a:ext cx="10012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535838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원칙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450592" y="5321808"/>
            <a:ext cx="7818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Mock/Demo 데이터와 실제 저장 데이터를 구분하고, 외부 기관 자동 조회·AI 자동 판단처럼 구현되지 않은 기능은 완료로 표현하지 않습니다.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04는 “결과물이 만들어진 과정”과 “실제로 동작하는 증거”를 함께 보여주는 파트입니다.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영상은 최종 대표 Case와 실제 실행 환경 확정 후 별도 제작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CSR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CSR_프로젝트_수행경과_04_초안</dc:title>
  <dc:subject>CSR 프로젝트 수행 경과</dc:subject>
  <dc:creator>OpenAI</dc:creator>
  <cp:lastModifiedBy>OpenAI</cp:lastModifiedBy>
  <cp:revision>1</cp:revision>
  <dcterms:created xsi:type="dcterms:W3CDTF">2026-09-29T02:27:37Z</dcterms:created>
  <dcterms:modified xsi:type="dcterms:W3CDTF">2026-09-29T02:27:37Z</dcterms:modified>
</cp:coreProperties>
</file>