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자체 평가 의견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378440" y="2560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546A"/>
                </a:solidFill>
              </a:rPr>
              <a:t>CSR | Case Share Room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D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기획 의도와 핵심 목표는 대부분 구현했습니다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13385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57A"/>
                </a:solidFill>
              </a:rPr>
              <a:t>다만 실제 금융기관 운영환경 적용을 위해서는 연동·권한·정량 검증이 추가로 필요합니다.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6072" y="1627632"/>
            <a:ext cx="2743200" cy="3383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847088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E5F0FF"/>
          </a:solidFill>
          <a:ln w="12700">
            <a:solidFill>
              <a:srgbClr val="E5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897380"/>
            <a:ext cx="5394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0ED"/>
                </a:solidFill>
              </a:rPr>
              <a:t>기획 의도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804672" y="2240280"/>
            <a:ext cx="21031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B4F"/>
                </a:solidFill>
              </a:rPr>
              <a:t>탐지 이후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D2B4F"/>
                </a:solidFill>
              </a:rPr>
              <a:t>조사·고객 확인 Workflow 보완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3072384"/>
            <a:ext cx="214884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82233"/>
                </a:solidFill>
              </a:rPr>
              <a:t>• AI가 최종 판단하지 않음
</a:t>
            </a:r>
            <a:pPr indent="0" marL="0">
              <a:buNone/>
            </a:pPr>
            <a:r>
              <a:rPr lang="en-US" sz="850" dirty="0">
                <a:solidFill>
                  <a:srgbClr val="182233"/>
                </a:solidFill>
              </a:rPr>
              <a:t>• Evidence와 고객 응답을 Case로 통합
</a:t>
            </a:r>
            <a:pPr indent="0" marL="0">
              <a:buNone/>
            </a:pPr>
            <a:r>
              <a:rPr lang="en-US" sz="850" dirty="0">
                <a:solidFill>
                  <a:srgbClr val="182233"/>
                </a:solidFill>
              </a:rPr>
              <a:t>• 담당자가 질문·사실·조치를 검토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0" y="1627632"/>
            <a:ext cx="2926080" cy="3383280"/>
          </a:xfrm>
          <a:prstGeom prst="roundRect">
            <a:avLst>
              <a:gd name="adj" fmla="val 1875"/>
            </a:avLst>
          </a:prstGeom>
          <a:solidFill>
            <a:srgbClr val="E5F0FF"/>
          </a:solidFill>
          <a:ln w="8890">
            <a:solidFill>
              <a:srgbClr val="B7D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1847088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D8E9FF"/>
          </a:solidFill>
          <a:ln w="12700">
            <a:solidFill>
              <a:srgbClr val="D8E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9352" y="1897380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0ED"/>
                </a:solidFill>
              </a:rPr>
              <a:t>구현 결과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3886200" y="2240280"/>
            <a:ext cx="23317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B4F"/>
                </a:solidFill>
              </a:rPr>
              <a:t>Case 생성부터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D2B4F"/>
                </a:solidFill>
              </a:rPr>
              <a:t>질문·응답·Fact까지 연결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86200" y="3054096"/>
            <a:ext cx="228600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82233"/>
                </a:solidFill>
              </a:rPr>
              <a:t>• 담당자 ROOM / 고객 ROOM 구현
</a:t>
            </a:r>
            <a:pPr indent="0" marL="0">
              <a:buNone/>
            </a:pPr>
            <a:r>
              <a:rPr lang="en-US" sz="850" dirty="0">
                <a:solidFill>
                  <a:srgbClr val="182233"/>
                </a:solidFill>
              </a:rPr>
              <a:t>• AI 질문 추천 → 담당자 검토
</a:t>
            </a:r>
            <a:pPr indent="0" marL="0">
              <a:buNone/>
            </a:pPr>
            <a:r>
              <a:rPr lang="en-US" sz="850" dirty="0">
                <a:solidFill>
                  <a:srgbClr val="182233"/>
                </a:solidFill>
              </a:rPr>
              <a:t>• 고객 응답 → PROPOSED Fact
</a:t>
            </a:r>
            <a:pPr indent="0" marL="0">
              <a:buNone/>
            </a:pPr>
            <a:r>
              <a:rPr lang="en-US" sz="850" dirty="0">
                <a:solidFill>
                  <a:srgbClr val="182233"/>
                </a:solidFill>
              </a:rPr>
              <a:t>• Frontend·API·DB·AI 연결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059168" y="1627632"/>
            <a:ext cx="3685032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87768" y="1847088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FFF2BF"/>
          </a:solidFill>
          <a:ln w="12700">
            <a:solidFill>
              <a:srgbClr val="FFF2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1897380"/>
            <a:ext cx="7680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A15C00"/>
                </a:solidFill>
              </a:rPr>
              <a:t>자체 완성도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7287768" y="2231136"/>
            <a:ext cx="24688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2B4F"/>
                </a:solidFill>
              </a:rPr>
              <a:t>초안 기준: 8 / 10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87768" y="2670048"/>
            <a:ext cx="2651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※ 점수는 팀 합의 후 최종 확정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87768" y="3136392"/>
            <a:ext cx="3017520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82233"/>
                </a:solidFill>
              </a:rPr>
              <a:t>• 핵심 Workflow와 시연 가능 화면은 구현
</a:t>
            </a:r>
            <a:pPr indent="0" marL="0">
              <a:buNone/>
            </a:pPr>
            <a:r>
              <a:rPr lang="en-US" sz="850" dirty="0">
                <a:solidFill>
                  <a:srgbClr val="182233"/>
                </a:solidFill>
              </a:rPr>
              <a:t>• AWS 배포와 제출 경험 확보
</a:t>
            </a:r>
            <a:pPr indent="0" marL="0">
              <a:buNone/>
            </a:pPr>
            <a:r>
              <a:rPr lang="en-US" sz="850" dirty="0">
                <a:solidFill>
                  <a:srgbClr val="182233"/>
                </a:solidFill>
              </a:rPr>
              <a:t>• 실제 금융기관 연동·운영 인증은 미구현
</a:t>
            </a:r>
            <a:pPr indent="0" marL="0">
              <a:buNone/>
            </a:pPr>
            <a:r>
              <a:rPr lang="en-US" sz="850" dirty="0">
                <a:solidFill>
                  <a:srgbClr val="182233"/>
                </a:solidFill>
              </a:rPr>
              <a:t>• 정량 업무효과·실사용 검증은 향후 과제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01568" y="3246120"/>
            <a:ext cx="201168" cy="0"/>
          </a:xfrm>
          <a:prstGeom prst="line">
            <a:avLst/>
          </a:prstGeom>
          <a:noFill/>
          <a:ln w="1524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702552" y="3246120"/>
            <a:ext cx="228600" cy="0"/>
          </a:xfrm>
          <a:prstGeom prst="line">
            <a:avLst/>
          </a:prstGeom>
          <a:noFill/>
          <a:ln w="1524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02920" y="5989320"/>
            <a:ext cx="10561320" cy="475488"/>
          </a:xfrm>
          <a:prstGeom prst="rect">
            <a:avLst/>
          </a:prstGeom>
          <a:solidFill>
            <a:srgbClr val="FFF2BF"/>
          </a:solidFill>
          <a:ln w="12700">
            <a:solidFill>
              <a:srgbClr val="FFF2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612648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B4F"/>
                </a:solidFill>
              </a:rPr>
              <a:t>핵심 | CSR은 “AI 판단 서비스”가 아니라, 탐지 이후 담당자의 근거 기반 판단을 돕는 Workflow MVP입니다.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6556248"/>
            <a:ext cx="6675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98A2B3"/>
                </a:solidFill>
              </a:rPr>
              <a:t>※ 05 자체 평가는 팀 합의 후 점수와 표현을 최종 확정합니다.</a:t>
            </a:r>
            <a:endParaRPr lang="en-US" sz="5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자체 평가 의견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378440" y="2560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546A"/>
                </a:solidFill>
              </a:rPr>
              <a:t>CSR | Case Share Room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D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잘한 점은 “사람이 확인하는 AI Workflow”를 만든 것입니다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13385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57A"/>
                </a:solidFill>
              </a:rPr>
              <a:t>기능을 나열하기보다 Evidence·질문·응답·Fact 상태가 하나의 Case 안에서 이어지도록 설계했습니다.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6072" y="1783080"/>
            <a:ext cx="2377440" cy="3063240"/>
          </a:xfrm>
          <a:prstGeom prst="roundRect">
            <a:avLst>
              <a:gd name="adj" fmla="val 2308"/>
            </a:avLst>
          </a:prstGeom>
          <a:solidFill>
            <a:srgbClr val="E5F0FF"/>
          </a:solidFill>
          <a:ln w="8890">
            <a:solidFill>
              <a:srgbClr val="E5F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93392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043684"/>
            <a:ext cx="4480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0ED"/>
                </a:solidFill>
              </a:rPr>
              <a:t>성과 1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777240" y="2395728"/>
            <a:ext cx="192024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D2B4F"/>
                </a:solidFill>
              </a:rPr>
              <a:t>Human-in-the-loop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999232"/>
            <a:ext cx="192024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82233"/>
                </a:solidFill>
              </a:rPr>
              <a:t>• AI는 질문·요약·초안을 제안
</a:t>
            </a:r>
            <a:pPr indent="0" marL="0">
              <a:buNone/>
            </a:pPr>
            <a:r>
              <a:rPr lang="en-US" sz="830" dirty="0">
                <a:solidFill>
                  <a:srgbClr val="182233"/>
                </a:solidFill>
              </a:rPr>
              <a:t>• 담당자가 검토·수정·전달
</a:t>
            </a:r>
            <a:pPr indent="0" marL="0">
              <a:buNone/>
            </a:pPr>
            <a:r>
              <a:rPr lang="en-US" sz="830" dirty="0">
                <a:solidFill>
                  <a:srgbClr val="182233"/>
                </a:solidFill>
              </a:rPr>
              <a:t>• 최종 판단은 사람이 수행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3337560" y="1783080"/>
            <a:ext cx="2377440" cy="3063240"/>
          </a:xfrm>
          <a:prstGeom prst="roundRect">
            <a:avLst>
              <a:gd name="adj" fmla="val 2308"/>
            </a:avLst>
          </a:prstGeom>
          <a:solidFill>
            <a:srgbClr val="E9F8F2"/>
          </a:solidFill>
          <a:ln w="8890">
            <a:solidFill>
              <a:srgbClr val="E9F8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38728" y="1993392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2043684"/>
            <a:ext cx="4480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0ED"/>
                </a:solidFill>
              </a:rPr>
              <a:t>성과 2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3538728" y="2395728"/>
            <a:ext cx="192024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D2B4F"/>
                </a:solidFill>
              </a:rPr>
              <a:t>Evidence 중심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38728" y="2999232"/>
            <a:ext cx="192024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82233"/>
                </a:solidFill>
              </a:rPr>
              <a:t>• AI 결과와 원본 근거를 분리
</a:t>
            </a:r>
            <a:pPr indent="0" marL="0">
              <a:buNone/>
            </a:pPr>
            <a:r>
              <a:rPr lang="en-US" sz="830" dirty="0">
                <a:solidFill>
                  <a:srgbClr val="182233"/>
                </a:solidFill>
              </a:rPr>
              <a:t>• 고객 진술을 바로 확정하지 않음
</a:t>
            </a:r>
            <a:pPr indent="0" marL="0">
              <a:buNone/>
            </a:pPr>
            <a:r>
              <a:rPr lang="en-US" sz="830" dirty="0">
                <a:solidFill>
                  <a:srgbClr val="182233"/>
                </a:solidFill>
              </a:rPr>
              <a:t>• PROPOSED / CONFIRMED 구분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6099048" y="1783080"/>
            <a:ext cx="2377440" cy="3063240"/>
          </a:xfrm>
          <a:prstGeom prst="roundRect">
            <a:avLst>
              <a:gd name="adj" fmla="val 2308"/>
            </a:avLst>
          </a:prstGeom>
          <a:solidFill>
            <a:srgbClr val="F0E8FF"/>
          </a:solidFill>
          <a:ln w="8890">
            <a:solidFill>
              <a:srgbClr val="F0E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0216" y="1993392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2043684"/>
            <a:ext cx="4480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0ED"/>
                </a:solidFill>
              </a:rPr>
              <a:t>성과 3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6300216" y="2395728"/>
            <a:ext cx="192024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D2B4F"/>
                </a:solidFill>
              </a:rPr>
              <a:t>양방향 확인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00216" y="2999232"/>
            <a:ext cx="192024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82233"/>
                </a:solidFill>
              </a:rPr>
              <a:t>• 담당자 ROOM과 고객 ROOM 연결
</a:t>
            </a:r>
            <a:pPr indent="0" marL="0">
              <a:buNone/>
            </a:pPr>
            <a:r>
              <a:rPr lang="en-US" sz="830" dirty="0">
                <a:solidFill>
                  <a:srgbClr val="182233"/>
                </a:solidFill>
              </a:rPr>
              <a:t>• 고객에게 필요한 질문만 전달
</a:t>
            </a:r>
            <a:pPr indent="0" marL="0">
              <a:buNone/>
            </a:pPr>
            <a:r>
              <a:rPr lang="en-US" sz="830" dirty="0">
                <a:solidFill>
                  <a:srgbClr val="182233"/>
                </a:solidFill>
              </a:rPr>
              <a:t>• 내부 대화와 고객 공개 범위 분리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8860536" y="1783080"/>
            <a:ext cx="2377440" cy="3063240"/>
          </a:xfrm>
          <a:prstGeom prst="roundRect">
            <a:avLst>
              <a:gd name="adj" fmla="val 2308"/>
            </a:avLst>
          </a:prstGeom>
          <a:solidFill>
            <a:srgbClr val="FFF2BF"/>
          </a:solidFill>
          <a:ln w="8890">
            <a:solidFill>
              <a:srgbClr val="FFF2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61704" y="1993392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34856" y="2043684"/>
            <a:ext cx="4480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0ED"/>
                </a:solidFill>
              </a:rPr>
              <a:t>성과 4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9061704" y="2395728"/>
            <a:ext cx="192024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D2B4F"/>
                </a:solidFill>
              </a:rPr>
              <a:t>고도화 과정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061704" y="2999232"/>
            <a:ext cx="192024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82233"/>
                </a:solidFill>
              </a:rPr>
              <a:t>• 제출 후 실제 Workflow 재점검
</a:t>
            </a:r>
            <a:pPr indent="0" marL="0">
              <a:buNone/>
            </a:pPr>
            <a:r>
              <a:rPr lang="en-US" sz="830" dirty="0">
                <a:solidFill>
                  <a:srgbClr val="182233"/>
                </a:solidFill>
              </a:rPr>
              <a:t>• UI 정보 구조와 기능 배치 개선
</a:t>
            </a:r>
            <a:pPr indent="0" marL="0">
              <a:buNone/>
            </a:pPr>
            <a:r>
              <a:rPr lang="en-US" sz="830" dirty="0">
                <a:solidFill>
                  <a:srgbClr val="182233"/>
                </a:solidFill>
              </a:rPr>
              <a:t>• 중복 질문·Fact 연결 개선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685800" y="5166360"/>
            <a:ext cx="9966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5303520"/>
            <a:ext cx="95097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2B4F"/>
                </a:solidFill>
              </a:rPr>
              <a:t>발표에서 보여줄 증거: 동일 Case의 담당자 화면 · 고객 화면 · 질문 상태 · Fact 상태 · Before/After UI 개선 화면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5989320"/>
            <a:ext cx="10561320" cy="475488"/>
          </a:xfrm>
          <a:prstGeom prst="rect">
            <a:avLst/>
          </a:prstGeom>
          <a:solidFill>
            <a:srgbClr val="FFF2BF"/>
          </a:solidFill>
          <a:ln w="12700">
            <a:solidFill>
              <a:srgbClr val="FFF2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612648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B4F"/>
                </a:solidFill>
              </a:rPr>
              <a:t>핵심 | 우리의 강점은 “AI 기능이 있다”가 아니라, AI 추천을 사람 검토와 Case 기록으로 연결한 점입니다.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6556248"/>
            <a:ext cx="6675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98A2B3"/>
                </a:solidFill>
              </a:rPr>
              <a:t>※ 05 자체 평가는 팀 합의 후 점수와 표현을 최종 확정합니다.</a:t>
            </a:r>
            <a:endParaRPr lang="en-US" sz="5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자체 평가 의견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378440" y="2560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546A"/>
                </a:solidFill>
              </a:rPr>
              <a:t>CSR | Case Share Room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D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현재 한계도 명확합니다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13385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57A"/>
                </a:solidFill>
              </a:rPr>
              <a:t>MVP는 핵심 흐름을 보여주는 수준이며, 실제 금융기관 운영을 위해서는 추가 검증과 연동이 필요합니다.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1792" y="1691640"/>
            <a:ext cx="466344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929384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FDE3E6"/>
          </a:solidFill>
          <a:ln w="12700">
            <a:solidFill>
              <a:srgbClr val="FDE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979676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2D20"/>
                </a:solidFill>
              </a:rPr>
              <a:t>현재 한계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868680" y="2331720"/>
            <a:ext cx="292608" cy="292608"/>
          </a:xfrm>
          <a:prstGeom prst="roundRect">
            <a:avLst>
              <a:gd name="adj" fmla="val 9375"/>
            </a:avLst>
          </a:prstGeom>
          <a:solidFill>
            <a:srgbClr val="FDE3E6"/>
          </a:solidFill>
          <a:ln w="12700">
            <a:solidFill>
              <a:srgbClr val="FDE3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404872"/>
            <a:ext cx="118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B42318"/>
                </a:solidFill>
              </a:rPr>
              <a:t>1</a:t>
            </a:r>
            <a:endParaRPr lang="en-US" sz="630" dirty="0"/>
          </a:p>
        </p:txBody>
      </p:sp>
      <p:sp>
        <p:nvSpPr>
          <p:cNvPr id="11" name="Text 9"/>
          <p:cNvSpPr/>
          <p:nvPr/>
        </p:nvSpPr>
        <p:spPr>
          <a:xfrm>
            <a:off x="1298448" y="2327148"/>
            <a:ext cx="34290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D2B4F"/>
                </a:solidFill>
              </a:rPr>
              <a:t>실제 금융기관 FDS·거래 시스템 직접 연동 미구현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1298448" y="2514600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67085"/>
                </a:solidFill>
              </a:rPr>
              <a:t>시연용 Mock/Demo 데이터를 일부 사용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868680" y="2990088"/>
            <a:ext cx="292608" cy="292608"/>
          </a:xfrm>
          <a:prstGeom prst="roundRect">
            <a:avLst>
              <a:gd name="adj" fmla="val 9375"/>
            </a:avLst>
          </a:prstGeom>
          <a:solidFill>
            <a:srgbClr val="FDE3E6"/>
          </a:solidFill>
          <a:ln w="12700">
            <a:solidFill>
              <a:srgbClr val="FDE3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063240"/>
            <a:ext cx="118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B42318"/>
                </a:solidFill>
              </a:rPr>
              <a:t>2</a:t>
            </a:r>
            <a:endParaRPr lang="en-US" sz="630" dirty="0"/>
          </a:p>
        </p:txBody>
      </p:sp>
      <p:sp>
        <p:nvSpPr>
          <p:cNvPr id="15" name="Text 13"/>
          <p:cNvSpPr/>
          <p:nvPr/>
        </p:nvSpPr>
        <p:spPr>
          <a:xfrm>
            <a:off x="1298448" y="2985516"/>
            <a:ext cx="34290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D2B4F"/>
                </a:solidFill>
              </a:rPr>
              <a:t>운영 수준 인증·권한·감사 로그 미구현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1298448" y="3172968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67085"/>
                </a:solidFill>
              </a:rPr>
              <a:t>역할별 접근 제어는 향후 고도화 필요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868680" y="3648456"/>
            <a:ext cx="292608" cy="292608"/>
          </a:xfrm>
          <a:prstGeom prst="roundRect">
            <a:avLst>
              <a:gd name="adj" fmla="val 9375"/>
            </a:avLst>
          </a:prstGeom>
          <a:solidFill>
            <a:srgbClr val="FDE3E6"/>
          </a:solidFill>
          <a:ln w="12700">
            <a:solidFill>
              <a:srgbClr val="FDE3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3721608"/>
            <a:ext cx="118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B42318"/>
                </a:solidFill>
              </a:rPr>
              <a:t>3</a:t>
            </a:r>
            <a:endParaRPr lang="en-US" sz="630" dirty="0"/>
          </a:p>
        </p:txBody>
      </p:sp>
      <p:sp>
        <p:nvSpPr>
          <p:cNvPr id="19" name="Text 17"/>
          <p:cNvSpPr/>
          <p:nvPr/>
        </p:nvSpPr>
        <p:spPr>
          <a:xfrm>
            <a:off x="1298448" y="3643884"/>
            <a:ext cx="34290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D2B4F"/>
                </a:solidFill>
              </a:rPr>
              <a:t>외부 기관 자동 Verification 미구현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1298448" y="383133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67085"/>
                </a:solidFill>
              </a:rPr>
              <a:t>담당자가 확인 결과를 기록하는 구조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868680" y="4306824"/>
            <a:ext cx="292608" cy="292608"/>
          </a:xfrm>
          <a:prstGeom prst="roundRect">
            <a:avLst>
              <a:gd name="adj" fmla="val 9375"/>
            </a:avLst>
          </a:prstGeom>
          <a:solidFill>
            <a:srgbClr val="FDE3E6"/>
          </a:solidFill>
          <a:ln w="12700">
            <a:solidFill>
              <a:srgbClr val="FDE3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4379976"/>
            <a:ext cx="118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B42318"/>
                </a:solidFill>
              </a:rPr>
              <a:t>4</a:t>
            </a:r>
            <a:endParaRPr lang="en-US" sz="630" dirty="0"/>
          </a:p>
        </p:txBody>
      </p:sp>
      <p:sp>
        <p:nvSpPr>
          <p:cNvPr id="23" name="Text 21"/>
          <p:cNvSpPr/>
          <p:nvPr/>
        </p:nvSpPr>
        <p:spPr>
          <a:xfrm>
            <a:off x="1298448" y="4302252"/>
            <a:ext cx="34290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D2B4F"/>
                </a:solidFill>
              </a:rPr>
              <a:t>정량 효과 검증 부족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1298448" y="4489704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67085"/>
                </a:solidFill>
              </a:rPr>
              <a:t>업무시간 감소·피해 감소율 등은 측정 필요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5806440" y="1691640"/>
            <a:ext cx="4800600" cy="3611880"/>
          </a:xfrm>
          <a:prstGeom prst="roundRect">
            <a:avLst>
              <a:gd name="adj" fmla="val 1519"/>
            </a:avLst>
          </a:prstGeom>
          <a:solidFill>
            <a:srgbClr val="E5F0FF"/>
          </a:solidFill>
          <a:ln w="8890">
            <a:solidFill>
              <a:srgbClr val="B7D4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53328" y="1929384"/>
            <a:ext cx="786384" cy="201168"/>
          </a:xfrm>
          <a:prstGeom prst="roundRect">
            <a:avLst>
              <a:gd name="adj" fmla="val 18182"/>
            </a:avLst>
          </a:prstGeom>
          <a:solidFill>
            <a:srgbClr val="D8E9FF"/>
          </a:solidFill>
          <a:ln w="12700">
            <a:solidFill>
              <a:srgbClr val="D8E9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97967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0ED"/>
                </a:solidFill>
              </a:rPr>
              <a:t>보완 방향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6144768" y="2395728"/>
            <a:ext cx="3931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D2B4F"/>
                </a:solidFill>
              </a:rPr>
              <a:t>1. 실제 STT·FDS·거래 입력 계약 정의 및 Sandbox 연동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6144768" y="2980944"/>
            <a:ext cx="3931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D2B4F"/>
                </a:solidFill>
              </a:rPr>
              <a:t>2. 조직·역할 기반 로그인, 접근권한, 감사 로그 설계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6144768" y="3566160"/>
            <a:ext cx="3931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D2B4F"/>
                </a:solidFill>
              </a:rPr>
              <a:t>3. Verification은 기관별 법적 권한 검토 후 단계적 연동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6144768" y="4151376"/>
            <a:ext cx="3931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D2B4F"/>
                </a:solidFill>
              </a:rPr>
              <a:t>4. 실제 담당자 시나리오 테스트와 정량 지표 설계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502920" y="5989320"/>
            <a:ext cx="10561320" cy="475488"/>
          </a:xfrm>
          <a:prstGeom prst="rect">
            <a:avLst/>
          </a:prstGeom>
          <a:solidFill>
            <a:srgbClr val="FFF2BF"/>
          </a:solidFill>
          <a:ln w="12700">
            <a:solidFill>
              <a:srgbClr val="FFF2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612648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B4F"/>
                </a:solidFill>
              </a:rPr>
              <a:t>핵심 | 완성도를 과장하지 않고, MVP 범위와 실제 서비스화를 위한 남은 조건을 분리해 설명합니다.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920" y="6556248"/>
            <a:ext cx="6675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98A2B3"/>
                </a:solidFill>
              </a:rPr>
              <a:t>※ 05 자체 평가는 팀 합의 후 점수와 표현을 최종 확정합니다.</a:t>
            </a:r>
            <a:endParaRPr lang="en-US" sz="5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자체 평가 의견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378440" y="2560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546A"/>
                </a:solidFill>
              </a:rPr>
              <a:t>CSR | Case Share Room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D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다음 단계는 실제 금융기관 Workflow로 확장하는 것입니다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13385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57A"/>
                </a:solidFill>
              </a:rPr>
              <a:t>프로젝트 경험은 AI 모델 자체보다, 서비스 흐름·역할 경계·근거 관리의 중요성을 확인한 과정이었습니다.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58952" y="1783080"/>
            <a:ext cx="2240280" cy="1508760"/>
          </a:xfrm>
          <a:prstGeom prst="roundRect">
            <a:avLst>
              <a:gd name="adj" fmla="val 3636"/>
            </a:avLst>
          </a:prstGeom>
          <a:solidFill>
            <a:srgbClr val="E5F0FF"/>
          </a:solidFill>
          <a:ln w="8890">
            <a:solidFill>
              <a:srgbClr val="D8E2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1975104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2025396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0ED"/>
                </a:solidFill>
              </a:rPr>
              <a:t>Step 1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941832" y="2331720"/>
            <a:ext cx="1691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B4F"/>
                </a:solidFill>
              </a:rPr>
              <a:t>현재 MVP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" y="2688336"/>
            <a:ext cx="173736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82233"/>
                </a:solidFill>
              </a:rPr>
              <a:t>독립 Web 기반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82233"/>
                </a:solidFill>
              </a:rPr>
              <a:t>Case Workflow 시연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3063240" y="2532888"/>
            <a:ext cx="274320" cy="0"/>
          </a:xfrm>
          <a:prstGeom prst="line">
            <a:avLst/>
          </a:prstGeom>
          <a:noFill/>
          <a:ln w="1524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56432" y="1783080"/>
            <a:ext cx="2240280" cy="1508760"/>
          </a:xfrm>
          <a:prstGeom prst="roundRect">
            <a:avLst>
              <a:gd name="adj" fmla="val 3636"/>
            </a:avLst>
          </a:prstGeom>
          <a:solidFill>
            <a:srgbClr val="E9F8F2"/>
          </a:solidFill>
          <a:ln w="8890">
            <a:solidFill>
              <a:srgbClr val="D8E2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21024" y="1975104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94176" y="2025396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0ED"/>
                </a:solidFill>
              </a:rPr>
              <a:t>Step 2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3639312" y="2331720"/>
            <a:ext cx="1691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B4F"/>
                </a:solidFill>
              </a:rPr>
              <a:t>입력 품질 검증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39312" y="2688336"/>
            <a:ext cx="173736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82233"/>
                </a:solidFill>
              </a:rPr>
              <a:t>STT·통화 분석·FDS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82233"/>
                </a:solidFill>
              </a:rPr>
              <a:t>입력 계약 정리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760720" y="2532888"/>
            <a:ext cx="274320" cy="0"/>
          </a:xfrm>
          <a:prstGeom prst="line">
            <a:avLst/>
          </a:prstGeom>
          <a:noFill/>
          <a:ln w="1524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53912" y="1783080"/>
            <a:ext cx="2240280" cy="1508760"/>
          </a:xfrm>
          <a:prstGeom prst="roundRect">
            <a:avLst>
              <a:gd name="adj" fmla="val 3636"/>
            </a:avLst>
          </a:prstGeom>
          <a:solidFill>
            <a:srgbClr val="FFF2BF"/>
          </a:solidFill>
          <a:ln w="8890">
            <a:solidFill>
              <a:srgbClr val="D8E2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18504" y="1975104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91656" y="2025396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0ED"/>
                </a:solidFill>
              </a:rPr>
              <a:t>Step 3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6336792" y="2331720"/>
            <a:ext cx="1691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B4F"/>
                </a:solidFill>
              </a:rPr>
              <a:t>운영 보안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36792" y="2688336"/>
            <a:ext cx="173736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82233"/>
                </a:solidFill>
              </a:rPr>
              <a:t>인증·권한·감사 로그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82233"/>
                </a:solidFill>
              </a:rPr>
              <a:t>조직 기준 설계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8458200" y="2532888"/>
            <a:ext cx="274320" cy="0"/>
          </a:xfrm>
          <a:prstGeom prst="line">
            <a:avLst/>
          </a:prstGeom>
          <a:noFill/>
          <a:ln w="1524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51392" y="1783080"/>
            <a:ext cx="2240280" cy="1508760"/>
          </a:xfrm>
          <a:prstGeom prst="roundRect">
            <a:avLst>
              <a:gd name="adj" fmla="val 3636"/>
            </a:avLst>
          </a:prstGeom>
          <a:solidFill>
            <a:srgbClr val="F0E8FF"/>
          </a:solidFill>
          <a:ln w="8890">
            <a:solidFill>
              <a:srgbClr val="D8E2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15984" y="1975104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89136" y="2025396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0ED"/>
                </a:solidFill>
              </a:rPr>
              <a:t>Step 4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9034272" y="2331720"/>
            <a:ext cx="1691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B4F"/>
                </a:solidFill>
              </a:rPr>
              <a:t>실무 검증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34272" y="2688336"/>
            <a:ext cx="173736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82233"/>
                </a:solidFill>
              </a:rPr>
              <a:t>담당자 테스트와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82233"/>
                </a:solidFill>
              </a:rPr>
              <a:t>업무 지표 측정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758952" y="379476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0120" y="4005072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E5F0FF"/>
          </a:solidFill>
          <a:ln w="12700">
            <a:solidFill>
              <a:srgbClr val="E5F0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" y="4055364"/>
            <a:ext cx="4480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0ED"/>
                </a:solidFill>
              </a:rPr>
              <a:t>느낀 점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960120" y="4416552"/>
            <a:ext cx="4297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3"/>
                </a:solidFill>
              </a:rPr>
              <a:t>• AI를 많이 쓰는 것보다 어디까지 맡길지 정하는 것이 중요했습니다.
</a:t>
            </a:r>
            <a:pPr indent="0" marL="0">
              <a:buNone/>
            </a:pPr>
            <a:r>
              <a:rPr lang="en-US" sz="820" dirty="0">
                <a:solidFill>
                  <a:srgbClr val="182233"/>
                </a:solidFill>
              </a:rPr>
              <a:t>• 화면·API·DB·AI가 같은 Case로 연결되어야 서비스가 된다는 점을 확인했습니다.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5897880" y="3794760"/>
            <a:ext cx="47091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99048" y="4005072"/>
            <a:ext cx="786384" cy="201168"/>
          </a:xfrm>
          <a:prstGeom prst="roundRect">
            <a:avLst>
              <a:gd name="adj" fmla="val 18182"/>
            </a:avLst>
          </a:prstGeom>
          <a:solidFill>
            <a:srgbClr val="FFF2BF"/>
          </a:solidFill>
          <a:ln w="12700">
            <a:solidFill>
              <a:srgbClr val="FFF2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4055364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A15C00"/>
                </a:solidFill>
              </a:rPr>
              <a:t>마무리 문장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6099048" y="4389120"/>
            <a:ext cx="41605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D2B4F"/>
                </a:solidFill>
              </a:rPr>
              <a:t>CSR의 목표는 AI가 사건을 대신 판단하는 것이 아니라, 흩어진 근거와 고객 확인 과정을 하나의 Case로 연결해 담당자가 더 빠르고 근거 있게 판단하도록 돕는 것입니다.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502920" y="5989320"/>
            <a:ext cx="10561320" cy="475488"/>
          </a:xfrm>
          <a:prstGeom prst="rect">
            <a:avLst/>
          </a:prstGeom>
          <a:solidFill>
            <a:srgbClr val="FFF2BF"/>
          </a:solidFill>
          <a:ln w="12700">
            <a:solidFill>
              <a:srgbClr val="FFF2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612648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B4F"/>
                </a:solidFill>
              </a:rPr>
              <a:t>핵심 | 최종 발표에서는 “핵심 Workflow는 구현했고, 실제 운영 적용 조건은 남아 있다”는 균형이 중요합니다.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2920" y="6556248"/>
            <a:ext cx="6675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98A2B3"/>
                </a:solidFill>
              </a:rPr>
              <a:t>※ 05 자체 평가는 팀 합의 후 점수와 표현을 최종 확정합니다.</a:t>
            </a:r>
            <a:endParaRPr lang="en-US" sz="5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CSR | Case Share Room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CSR 프로젝트 자체 평가 의견 05 초안</dc:title>
  <dc:subject>CSR Final Report 05 Self Evaluation Draft</dc:subject>
  <dc:creator>OpenAI</dc:creator>
  <cp:lastModifiedBy>OpenAI</cp:lastModifiedBy>
  <cp:revision>1</cp:revision>
  <dcterms:created xsi:type="dcterms:W3CDTF">2026-09-29T02:40:49Z</dcterms:created>
  <dcterms:modified xsi:type="dcterms:W3CDTF">2026-09-29T02:40:49Z</dcterms:modified>
</cp:coreProperties>
</file>