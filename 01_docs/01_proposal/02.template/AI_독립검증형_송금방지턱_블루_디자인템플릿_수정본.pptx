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64808"/>
            <a:ext cx="11109960" cy="0"/>
          </a:xfrm>
          <a:prstGeom prst="line">
            <a:avLst/>
          </a:prstGeom>
          <a:noFill/>
          <a:ln w="10160">
            <a:solidFill>
              <a:srgbClr val="DCE8FA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49A8FF"/>
          </a:solidFill>
          <a:ln w="12700">
            <a:solidFill>
              <a:srgbClr val="49A8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464808"/>
            <a:ext cx="11109960" cy="0"/>
          </a:xfrm>
          <a:prstGeom prst="line">
            <a:avLst/>
          </a:prstGeom>
          <a:noFill/>
          <a:ln w="10160">
            <a:solidFill>
              <a:srgbClr val="244465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38160" y="0"/>
            <a:ext cx="4050792" cy="6858000"/>
          </a:xfrm>
          <a:prstGeom prst="rect">
            <a:avLst/>
          </a:prstGeom>
          <a:solidFill>
            <a:srgbClr val="0E2746"/>
          </a:solidFill>
          <a:ln w="12700">
            <a:solidFill>
              <a:srgbClr val="0E27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39328" y="566928"/>
            <a:ext cx="3383280" cy="3383280"/>
          </a:xfrm>
          <a:prstGeom prst="ellipse">
            <a:avLst/>
          </a:prstGeom>
          <a:solidFill>
            <a:srgbClr val="12385F"/>
          </a:solidFill>
          <a:ln w="10160">
            <a:solidFill>
              <a:srgbClr val="1238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64040" y="1170432"/>
            <a:ext cx="1737360" cy="1737360"/>
          </a:xfrm>
          <a:prstGeom prst="ellipse">
            <a:avLst/>
          </a:prstGeom>
          <a:solidFill>
            <a:srgbClr val="1B4E80"/>
          </a:solidFill>
          <a:ln w="10160">
            <a:solidFill>
              <a:srgbClr val="1B4E8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28432" y="5230368"/>
            <a:ext cx="3749040" cy="-1645920"/>
          </a:xfrm>
          <a:prstGeom prst="line">
            <a:avLst/>
          </a:prstGeom>
          <a:noFill/>
          <a:ln w="13970">
            <a:solidFill>
              <a:srgbClr val="2D5B88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321040" y="5486400"/>
            <a:ext cx="3383280" cy="-1463040"/>
          </a:xfrm>
          <a:prstGeom prst="line">
            <a:avLst/>
          </a:prstGeom>
          <a:noFill/>
          <a:ln w="13970">
            <a:solidFill>
              <a:srgbClr val="234E7B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658368" y="585216"/>
            <a:ext cx="2240280" cy="310896"/>
          </a:xfrm>
          <a:prstGeom prst="roundRect">
            <a:avLst>
              <a:gd name="adj" fmla="val 50000"/>
            </a:avLst>
          </a:prstGeom>
          <a:solidFill>
            <a:srgbClr val="18395D"/>
          </a:solidFill>
          <a:ln w="10160">
            <a:solidFill>
              <a:srgbClr val="244F7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612648"/>
            <a:ext cx="2093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FINANCIAL SAFETY · AI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417320"/>
            <a:ext cx="6812280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단 1원이라도,</a:t>
            </a:r>
            <a:endParaRPr lang="en-US" sz="3300" dirty="0"/>
          </a:p>
          <a:p>
            <a:pPr algn="l"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그 누구도 피해를 봐서는 안 된다</a:t>
            </a:r>
            <a:endParaRPr lang="en-US" sz="330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3127248"/>
            <a:ext cx="623620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C8D9E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보이스피싱으로부터 금융소비자의 판단과 송금을 함께 보호하는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C8D9E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 독립검증형 금융안전 서비스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694944" y="4261104"/>
            <a:ext cx="5120640" cy="0"/>
          </a:xfrm>
          <a:prstGeom prst="line">
            <a:avLst/>
          </a:prstGeom>
          <a:noFill/>
          <a:ln w="15240">
            <a:solidFill>
              <a:srgbClr val="2A537D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694944" y="450799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AI 독립검증형 송금방지턱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" y="498348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E8BAA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제안서 디자인 템플릿 · BLUE EDITION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13648" y="3977640"/>
            <a:ext cx="2788920" cy="1517904"/>
          </a:xfrm>
          <a:prstGeom prst="roundRect">
            <a:avLst>
              <a:gd name="adj" fmla="val 13253"/>
            </a:avLst>
          </a:prstGeom>
          <a:solidFill>
            <a:srgbClr val="112F51"/>
          </a:solidFill>
          <a:ln w="10160">
            <a:solidFill>
              <a:srgbClr val="29557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887968" y="4270248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EBFA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9582912" y="4251960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9957816" y="4270248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CEBFA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송금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796528" y="4773168"/>
            <a:ext cx="24505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10" dirty="0">
                <a:solidFill>
                  <a:srgbClr val="91AAC3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그 사이에 한 번 더 멈추는 보호구간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현황분석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 문제의 심각성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 규모를 하나의 숫자가 아니라 여러 관점의 데이터로 입체적으로 보여주는 페이지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594360" y="1874520"/>
            <a:ext cx="2743200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" y="2002536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연도별 피해금액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58952" y="3959352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추이 그래프 또는 공식 통계 삽입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868680" y="3538728"/>
            <a:ext cx="216823" cy="438912"/>
          </a:xfrm>
          <a:prstGeom prst="roundRect">
            <a:avLst/>
          </a:prstGeom>
          <a:solidFill>
            <a:srgbClr val="D7E7FF"/>
          </a:solidFill>
          <a:ln w="12700">
            <a:solidFill>
              <a:srgbClr val="D7E7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5646" y="3300984"/>
            <a:ext cx="216823" cy="676656"/>
          </a:xfrm>
          <a:prstGeom prst="roundRect">
            <a:avLst/>
          </a:prstGeom>
          <a:solidFill>
            <a:srgbClr val="D7E7FF"/>
          </a:solidFill>
          <a:ln w="12700">
            <a:solidFill>
              <a:srgbClr val="D7E7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702613" y="3136392"/>
            <a:ext cx="216823" cy="841248"/>
          </a:xfrm>
          <a:prstGeom prst="roundRect">
            <a:avLst/>
          </a:prstGeom>
          <a:solidFill>
            <a:srgbClr val="D7E7FF"/>
          </a:solidFill>
          <a:ln w="12700">
            <a:solidFill>
              <a:srgbClr val="D7E7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19579" y="2898648"/>
            <a:ext cx="216823" cy="1078992"/>
          </a:xfrm>
          <a:prstGeom prst="roundRect">
            <a:avLst/>
          </a:prstGeom>
          <a:solidFill>
            <a:srgbClr val="D7E7FF"/>
          </a:solidFill>
          <a:ln w="12700">
            <a:solidFill>
              <a:srgbClr val="D7E7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36546" y="2679192"/>
            <a:ext cx="216823" cy="1298448"/>
          </a:xfrm>
          <a:prstGeom prst="roundRect">
            <a:avLst/>
          </a:prstGeom>
          <a:solidFill>
            <a:srgbClr val="1F5EFF"/>
          </a:solidFill>
          <a:ln w="12700">
            <a:solidFill>
              <a:srgbClr val="1F5E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3977640"/>
            <a:ext cx="2240280" cy="0"/>
          </a:xfrm>
          <a:prstGeom prst="line">
            <a:avLst/>
          </a:prstGeom>
          <a:noFill/>
          <a:ln w="10160">
            <a:solidFill>
              <a:srgbClr val="D9E5F6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3529584" y="1874520"/>
            <a:ext cx="2743200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694176" y="2002536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연도별 피해건수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694176" y="3959352"/>
            <a:ext cx="24140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건수 변화와 피해금액을 함께 비교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3803904" y="3538728"/>
            <a:ext cx="216823" cy="438912"/>
          </a:xfrm>
          <a:prstGeom prst="roundRect">
            <a:avLst/>
          </a:prstGeom>
          <a:solidFill>
            <a:srgbClr val="D7E7FF"/>
          </a:solidFill>
          <a:ln w="12700">
            <a:solidFill>
              <a:srgbClr val="D7E7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20870" y="3300984"/>
            <a:ext cx="216823" cy="676656"/>
          </a:xfrm>
          <a:prstGeom prst="roundRect">
            <a:avLst/>
          </a:prstGeom>
          <a:solidFill>
            <a:srgbClr val="D7E7FF"/>
          </a:solidFill>
          <a:ln w="12700">
            <a:solidFill>
              <a:srgbClr val="D7E7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37837" y="3136392"/>
            <a:ext cx="216823" cy="841248"/>
          </a:xfrm>
          <a:prstGeom prst="roundRect">
            <a:avLst/>
          </a:prstGeom>
          <a:solidFill>
            <a:srgbClr val="D7E7FF"/>
          </a:solidFill>
          <a:ln w="12700">
            <a:solidFill>
              <a:srgbClr val="D7E7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54803" y="2898648"/>
            <a:ext cx="216823" cy="1078992"/>
          </a:xfrm>
          <a:prstGeom prst="roundRect">
            <a:avLst/>
          </a:prstGeom>
          <a:solidFill>
            <a:srgbClr val="D7E7FF"/>
          </a:solidFill>
          <a:ln w="12700">
            <a:solidFill>
              <a:srgbClr val="D7E7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71770" y="2679192"/>
            <a:ext cx="216823" cy="1298448"/>
          </a:xfrm>
          <a:prstGeom prst="roundRect">
            <a:avLst/>
          </a:prstGeom>
          <a:solidFill>
            <a:srgbClr val="2F7CF6"/>
          </a:solidFill>
          <a:ln w="12700">
            <a:solidFill>
              <a:srgbClr val="2F7CF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776472" y="3977640"/>
            <a:ext cx="2240280" cy="0"/>
          </a:xfrm>
          <a:prstGeom prst="line">
            <a:avLst/>
          </a:prstGeom>
          <a:noFill/>
          <a:ln w="10160">
            <a:solidFill>
              <a:srgbClr val="D9E5F6"/>
            </a:solidFill>
            <a:prstDash val="solid"/>
            <a:headEnd type="none"/>
            <a:tailEnd type="none"/>
          </a:ln>
        </p:spPr>
      </p:sp>
      <p:sp>
        <p:nvSpPr>
          <p:cNvPr id="28" name="Shape 26"/>
          <p:cNvSpPr/>
          <p:nvPr/>
        </p:nvSpPr>
        <p:spPr>
          <a:xfrm>
            <a:off x="6464808" y="1874520"/>
            <a:ext cx="2304288" cy="2514600"/>
          </a:xfrm>
          <a:prstGeom prst="roundRect">
            <a:avLst>
              <a:gd name="adj" fmla="val 6349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29400" y="2002536"/>
            <a:ext cx="1975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1인당 피해금액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629400" y="3959352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평균 피해 수준 / 중앙값 등</a:t>
            </a:r>
            <a:endParaRPr lang="en-US" sz="960" dirty="0"/>
          </a:p>
        </p:txBody>
      </p:sp>
      <p:sp>
        <p:nvSpPr>
          <p:cNvPr id="31" name="Shape 29"/>
          <p:cNvSpPr/>
          <p:nvPr/>
        </p:nvSpPr>
        <p:spPr>
          <a:xfrm>
            <a:off x="6739128" y="3538728"/>
            <a:ext cx="171176" cy="438912"/>
          </a:xfrm>
          <a:prstGeom prst="roundRect">
            <a:avLst/>
          </a:prstGeom>
          <a:solidFill>
            <a:srgbClr val="D7E7FF"/>
          </a:solidFill>
          <a:ln w="12700">
            <a:solidFill>
              <a:srgbClr val="D7E7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68312" y="3300984"/>
            <a:ext cx="171176" cy="676656"/>
          </a:xfrm>
          <a:prstGeom prst="roundRect">
            <a:avLst/>
          </a:prstGeom>
          <a:solidFill>
            <a:srgbClr val="D7E7FF"/>
          </a:solidFill>
          <a:ln w="12700">
            <a:solidFill>
              <a:srgbClr val="D7E7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397496" y="3136392"/>
            <a:ext cx="171176" cy="841248"/>
          </a:xfrm>
          <a:prstGeom prst="roundRect">
            <a:avLst/>
          </a:prstGeom>
          <a:solidFill>
            <a:srgbClr val="D7E7FF"/>
          </a:solidFill>
          <a:ln w="12700">
            <a:solidFill>
              <a:srgbClr val="D7E7F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26680" y="2898648"/>
            <a:ext cx="171176" cy="1078992"/>
          </a:xfrm>
          <a:prstGeom prst="roundRect">
            <a:avLst/>
          </a:prstGeom>
          <a:solidFill>
            <a:srgbClr val="D7E7FF"/>
          </a:solidFill>
          <a:ln w="12700">
            <a:solidFill>
              <a:srgbClr val="D7E7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55864" y="2679192"/>
            <a:ext cx="171176" cy="1298448"/>
          </a:xfrm>
          <a:prstGeom prst="roundRect">
            <a:avLst/>
          </a:prstGeom>
          <a:solidFill>
            <a:srgbClr val="49A8FF"/>
          </a:solidFill>
          <a:ln w="12700">
            <a:solidFill>
              <a:srgbClr val="49A8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11696" y="3977640"/>
            <a:ext cx="1801368" cy="0"/>
          </a:xfrm>
          <a:prstGeom prst="line">
            <a:avLst/>
          </a:prstGeom>
          <a:noFill/>
          <a:ln w="10160">
            <a:solidFill>
              <a:srgbClr val="D9E5F6"/>
            </a:solidFill>
            <a:prstDash val="solid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8961120" y="1874520"/>
            <a:ext cx="2624328" cy="2514600"/>
          </a:xfrm>
          <a:prstGeom prst="roundRect">
            <a:avLst>
              <a:gd name="adj" fmla="val 5818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25712" y="2002536"/>
            <a:ext cx="22951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주요 피해유형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9125712" y="3959352"/>
            <a:ext cx="2295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기관사칭 · 대출빙자 · 기타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9235440" y="3538728"/>
            <a:ext cx="204460" cy="438912"/>
          </a:xfrm>
          <a:prstGeom prst="roundRect">
            <a:avLst/>
          </a:prstGeom>
          <a:solidFill>
            <a:srgbClr val="D7E7FF"/>
          </a:solidFill>
          <a:ln w="12700">
            <a:solidFill>
              <a:srgbClr val="D7E7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628632" y="3300984"/>
            <a:ext cx="204460" cy="676656"/>
          </a:xfrm>
          <a:prstGeom prst="roundRect">
            <a:avLst/>
          </a:prstGeom>
          <a:solidFill>
            <a:srgbClr val="D7E7FF"/>
          </a:solidFill>
          <a:ln w="12700">
            <a:solidFill>
              <a:srgbClr val="D7E7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021824" y="3136392"/>
            <a:ext cx="204460" cy="841248"/>
          </a:xfrm>
          <a:prstGeom prst="roundRect">
            <a:avLst/>
          </a:prstGeom>
          <a:solidFill>
            <a:srgbClr val="D7E7FF"/>
          </a:solidFill>
          <a:ln w="12700">
            <a:solidFill>
              <a:srgbClr val="D7E7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0415016" y="2898648"/>
            <a:ext cx="204460" cy="1078992"/>
          </a:xfrm>
          <a:prstGeom prst="roundRect">
            <a:avLst/>
          </a:prstGeom>
          <a:solidFill>
            <a:srgbClr val="D7E7FF"/>
          </a:solidFill>
          <a:ln w="12700">
            <a:solidFill>
              <a:srgbClr val="D7E7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0808208" y="2679192"/>
            <a:ext cx="204460" cy="1298448"/>
          </a:xfrm>
          <a:prstGeom prst="roundRect">
            <a:avLst/>
          </a:prstGeom>
          <a:solidFill>
            <a:srgbClr val="102B4E"/>
          </a:solidFill>
          <a:ln w="12700">
            <a:solidFill>
              <a:srgbClr val="102B4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208008" y="3977640"/>
            <a:ext cx="2121408" cy="0"/>
          </a:xfrm>
          <a:prstGeom prst="line">
            <a:avLst/>
          </a:prstGeom>
          <a:noFill/>
          <a:ln w="10160">
            <a:solidFill>
              <a:srgbClr val="D9E5F6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594360" y="4681728"/>
            <a:ext cx="10991088" cy="1115568"/>
          </a:xfrm>
          <a:prstGeom prst="roundRect">
            <a:avLst>
              <a:gd name="adj" fmla="val 14754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04672" y="4882896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DATA STORY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1901952" y="4828032"/>
            <a:ext cx="9125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2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“규모” → “누가” → “어떤 방식으로” → “얼마나 크게” 피해를 입는지 순서로 데이터 스토리를 구성</a:t>
            </a:r>
            <a:endParaRPr lang="en-US" sz="1420" dirty="0"/>
          </a:p>
        </p:txBody>
      </p:sp>
      <p:sp>
        <p:nvSpPr>
          <p:cNvPr id="49" name="Text 47"/>
          <p:cNvSpPr txBox="1"/>
          <p:nvPr/>
        </p:nvSpPr>
        <p:spPr>
          <a:xfrm>
            <a:off x="1901952" y="5266944"/>
            <a:ext cx="8869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※ 실제 수치는 경찰청·금융감독원 등 검증된 공식 통계로 교체</a:t>
            </a:r>
            <a:endParaRPr lang="en-US" sz="103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현황분석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이미 사회가 이 문제를 방치하고 있지 않다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기존 보호체계를 세 주체로 나누어 정리하고, “기존 대응은 효과가 있다”는 전제를 명확히 만드는 페이지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40080" y="1920240"/>
            <a:ext cx="3090672" cy="304495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2157984"/>
            <a:ext cx="475488" cy="475488"/>
          </a:xfrm>
          <a:prstGeom prst="ellipse">
            <a:avLst/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" y="2167128"/>
            <a:ext cx="4754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72184" y="21579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금융기관</a:t>
            </a:r>
            <a:endParaRPr lang="en-US" sz="1620" dirty="0"/>
          </a:p>
        </p:txBody>
      </p:sp>
      <p:sp>
        <p:nvSpPr>
          <p:cNvPr id="14" name="Shape 12"/>
          <p:cNvSpPr/>
          <p:nvPr/>
        </p:nvSpPr>
        <p:spPr>
          <a:xfrm>
            <a:off x="932688" y="2926080"/>
            <a:ext cx="109728" cy="109728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133856" y="28163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FDS 이상거래 탐지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32688" y="3374136"/>
            <a:ext cx="109728" cy="109728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133856" y="32644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ASAP 등 외부 위험정보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32688" y="3822192"/>
            <a:ext cx="109728" cy="109728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133856" y="37124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지연이체 · 지급정지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932688" y="4270248"/>
            <a:ext cx="109728" cy="109728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133856" y="4160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고액이체 추가확인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133088" y="1920240"/>
            <a:ext cx="3090672" cy="304495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352544" y="2157984"/>
            <a:ext cx="475488" cy="475488"/>
          </a:xfrm>
          <a:prstGeom prst="ellipse">
            <a:avLst/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352544" y="2167128"/>
            <a:ext cx="4754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F7CF6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02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965192" y="21579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정부 · 공공기관</a:t>
            </a:r>
            <a:endParaRPr lang="en-US" sz="1620" dirty="0"/>
          </a:p>
        </p:txBody>
      </p:sp>
      <p:sp>
        <p:nvSpPr>
          <p:cNvPr id="26" name="Shape 24"/>
          <p:cNvSpPr/>
          <p:nvPr/>
        </p:nvSpPr>
        <p:spPr>
          <a:xfrm>
            <a:off x="4425696" y="2926080"/>
            <a:ext cx="109728" cy="109728"/>
          </a:xfrm>
          <a:prstGeom prst="ellipse">
            <a:avLst/>
          </a:prstGeom>
          <a:solidFill>
            <a:srgbClr val="2F7CF6"/>
          </a:solidFill>
          <a:ln w="10160">
            <a:solidFill>
              <a:srgbClr val="2F7CF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26864" y="28163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신고 · 피해구제 체계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425696" y="3374136"/>
            <a:ext cx="109728" cy="109728"/>
          </a:xfrm>
          <a:prstGeom prst="ellipse">
            <a:avLst/>
          </a:prstGeom>
          <a:solidFill>
            <a:srgbClr val="2F7CF6"/>
          </a:solidFill>
          <a:ln w="10160">
            <a:solidFill>
              <a:srgbClr val="2F7CF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626864" y="32644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예방교육 · 홍보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425696" y="3822192"/>
            <a:ext cx="109728" cy="109728"/>
          </a:xfrm>
          <a:prstGeom prst="ellipse">
            <a:avLst/>
          </a:prstGeom>
          <a:solidFill>
            <a:srgbClr val="2F7CF6"/>
          </a:solidFill>
          <a:ln w="10160">
            <a:solidFill>
              <a:srgbClr val="2F7CF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626864" y="37124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계좌 지급정지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425696" y="4270248"/>
            <a:ext cx="109728" cy="109728"/>
          </a:xfrm>
          <a:prstGeom prst="ellipse">
            <a:avLst/>
          </a:prstGeom>
          <a:solidFill>
            <a:srgbClr val="2F7CF6"/>
          </a:solidFill>
          <a:ln w="10160">
            <a:solidFill>
              <a:srgbClr val="2F7CF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626864" y="4160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공식기관 확인 채널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626096" y="1920240"/>
            <a:ext cx="3090672" cy="3044952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845552" y="2157984"/>
            <a:ext cx="475488" cy="475488"/>
          </a:xfrm>
          <a:prstGeom prst="ellipse">
            <a:avLst/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845552" y="2167128"/>
            <a:ext cx="4754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03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8458200" y="2157984"/>
            <a:ext cx="1901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통신사 · 보안업체</a:t>
            </a:r>
            <a:endParaRPr lang="en-US" sz="1620" dirty="0"/>
          </a:p>
        </p:txBody>
      </p:sp>
      <p:sp>
        <p:nvSpPr>
          <p:cNvPr id="38" name="Shape 36"/>
          <p:cNvSpPr/>
          <p:nvPr/>
        </p:nvSpPr>
        <p:spPr>
          <a:xfrm>
            <a:off x="7918704" y="2926080"/>
            <a:ext cx="109728" cy="109728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119872" y="2816352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스팸번호 탐지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7918704" y="3374136"/>
            <a:ext cx="109728" cy="109728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8119872" y="326440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악성 앱 차단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7918704" y="3822192"/>
            <a:ext cx="109728" cy="109728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119872" y="3712464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의심 문자 · 전화 탐지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7918704" y="4270248"/>
            <a:ext cx="109728" cy="109728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119872" y="416052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통신 기반 위험신호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40080" y="5230368"/>
            <a:ext cx="10076688" cy="713232"/>
          </a:xfrm>
          <a:prstGeom prst="roundRect">
            <a:avLst>
              <a:gd name="adj" fmla="val 20513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77824" y="5385816"/>
            <a:ext cx="71140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기존 안전장치는 실제 예방·차단 효과를 만들어내고 있다</a:t>
            </a:r>
            <a:endParaRPr lang="en-US" sz="1520" dirty="0"/>
          </a:p>
        </p:txBody>
      </p:sp>
      <p:sp>
        <p:nvSpPr>
          <p:cNvPr id="48" name="Shape 46"/>
          <p:cNvSpPr/>
          <p:nvPr/>
        </p:nvSpPr>
        <p:spPr>
          <a:xfrm>
            <a:off x="8641080" y="5422392"/>
            <a:ext cx="1755648" cy="310896"/>
          </a:xfrm>
          <a:prstGeom prst="roundRect">
            <a:avLst>
              <a:gd name="adj" fmla="val 50000"/>
            </a:avLst>
          </a:prstGeom>
          <a:solidFill>
            <a:srgbClr val="18395D"/>
          </a:solidFill>
          <a:ln w="10160">
            <a:solidFill>
              <a:srgbClr val="244F7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8714232" y="5449824"/>
            <a:ext cx="1609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대표 성과 1~3건</a:t>
            </a:r>
            <a:endParaRPr lang="en-US" sz="105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10345A"/>
          </a:solidFill>
          <a:ln w="10160">
            <a:solidFill>
              <a:srgbClr val="1034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2B5D8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2B5D8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58368" y="585216"/>
            <a:ext cx="1170432" cy="310896"/>
          </a:xfrm>
          <a:prstGeom prst="roundRect">
            <a:avLst>
              <a:gd name="adj" fmla="val 50000"/>
            </a:avLst>
          </a:prstGeom>
          <a:solidFill>
            <a:srgbClr val="18395D"/>
          </a:solidFill>
          <a:ln w="10160">
            <a:solidFill>
              <a:srgbClr val="244F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612648"/>
            <a:ext cx="10241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문제도출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1481328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그런데,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2011680"/>
            <a:ext cx="1051560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“이렇게 많은 안전장치가 이미 존재하고 실제 효과도 있는데,</a:t>
            </a:r>
            <a:endParaRPr lang="en-US" sz="2800" dirty="0"/>
          </a:p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그 사이에 아직 충분히 보호하지 못하고 있는 순간이 있는 것은 아닐까?”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94944" y="4270248"/>
            <a:ext cx="4572000" cy="658368"/>
          </a:xfrm>
          <a:prstGeom prst="roundRect">
            <a:avLst>
              <a:gd name="adj" fmla="val 22222"/>
            </a:avLst>
          </a:prstGeom>
          <a:solidFill>
            <a:srgbClr val="123153"/>
          </a:solidFill>
          <a:ln w="10160">
            <a:solidFill>
              <a:srgbClr val="274F7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4443984"/>
            <a:ext cx="4096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C5D6E8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기존 대응의 부재가 아니라, 보호구간의 공백을 찾는다</a:t>
            </a:r>
            <a:endParaRPr lang="en-US" sz="1340" dirty="0"/>
          </a:p>
        </p:txBody>
      </p:sp>
      <p:sp>
        <p:nvSpPr>
          <p:cNvPr id="12" name="Shape 10"/>
          <p:cNvSpPr/>
          <p:nvPr/>
        </p:nvSpPr>
        <p:spPr>
          <a:xfrm>
            <a:off x="713232" y="5760720"/>
            <a:ext cx="10332720" cy="0"/>
          </a:xfrm>
          <a:prstGeom prst="line">
            <a:avLst/>
          </a:prstGeom>
          <a:noFill/>
          <a:ln w="12700">
            <a:solidFill>
              <a:srgbClr val="2A527B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10863072" y="5650992"/>
            <a:ext cx="228600" cy="228600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문제도출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기존 보호체계가 개입하는 구간과, 통화 중 판단 공백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보이스피싱 진행 흐름을 시간축으로 놓고 기존 기능의 트리거·개입 시점을 구조적으로 보여주는 페이지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804672" y="2761488"/>
            <a:ext cx="10479024" cy="0"/>
          </a:xfrm>
          <a:prstGeom prst="line">
            <a:avLst/>
          </a:prstGeom>
          <a:noFill/>
          <a:ln w="40640">
            <a:solidFill>
              <a:srgbClr val="AFC7E7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1005840" y="2587752"/>
            <a:ext cx="347472" cy="347472"/>
          </a:xfrm>
          <a:prstGeom prst="ellipse">
            <a:avLst/>
          </a:prstGeom>
          <a:solidFill>
            <a:srgbClr val="2F7CF6"/>
          </a:solidFill>
          <a:ln w="10160">
            <a:solidFill>
              <a:srgbClr val="2F7CF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" y="309067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통화 전</a:t>
            </a:r>
            <a:endParaRPr lang="en-US" sz="1240" dirty="0"/>
          </a:p>
        </p:txBody>
      </p:sp>
      <p:sp>
        <p:nvSpPr>
          <p:cNvPr id="13" name="Text 11"/>
          <p:cNvSpPr txBox="1"/>
          <p:nvPr/>
        </p:nvSpPr>
        <p:spPr>
          <a:xfrm>
            <a:off x="429768" y="3474720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예방교육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스팸 차단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182112" y="2587752"/>
            <a:ext cx="347472" cy="347472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798064" y="309067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접촉 단계</a:t>
            </a:r>
            <a:endParaRPr lang="en-US" sz="1240" dirty="0"/>
          </a:p>
        </p:txBody>
      </p:sp>
      <p:sp>
        <p:nvSpPr>
          <p:cNvPr id="16" name="Text 14"/>
          <p:cNvSpPr txBox="1"/>
          <p:nvPr/>
        </p:nvSpPr>
        <p:spPr>
          <a:xfrm>
            <a:off x="2606040" y="3474720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위험번호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악성앱 탐지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04688" y="2587752"/>
            <a:ext cx="347472" cy="347472"/>
          </a:xfrm>
          <a:prstGeom prst="ellipse">
            <a:avLst/>
          </a:prstGeom>
          <a:solidFill>
            <a:srgbClr val="FF6478"/>
          </a:solidFill>
          <a:ln w="10160">
            <a:solidFill>
              <a:srgbClr val="FF647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20640" y="309067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통화 중</a:t>
            </a:r>
            <a:endParaRPr lang="en-US" sz="1240" dirty="0"/>
          </a:p>
        </p:txBody>
      </p:sp>
      <p:sp>
        <p:nvSpPr>
          <p:cNvPr id="19" name="Text 17"/>
          <p:cNvSpPr txBox="1"/>
          <p:nvPr/>
        </p:nvSpPr>
        <p:spPr>
          <a:xfrm>
            <a:off x="4928616" y="3474720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판단 형성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심리적 압박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45552" y="2587752"/>
            <a:ext cx="347472" cy="347472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461504" y="309067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송금 시도</a:t>
            </a:r>
            <a:endParaRPr lang="en-US" sz="1240" dirty="0"/>
          </a:p>
        </p:txBody>
      </p:sp>
      <p:sp>
        <p:nvSpPr>
          <p:cNvPr id="22" name="Text 20"/>
          <p:cNvSpPr txBox="1"/>
          <p:nvPr/>
        </p:nvSpPr>
        <p:spPr>
          <a:xfrm>
            <a:off x="7269480" y="3474720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FDS · ASAP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추가확인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10104120" y="2587752"/>
            <a:ext cx="347472" cy="347472"/>
          </a:xfrm>
          <a:prstGeom prst="ellipse">
            <a:avLst/>
          </a:prstGeom>
          <a:solidFill>
            <a:srgbClr val="102B4E"/>
          </a:solidFill>
          <a:ln w="10160">
            <a:solidFill>
              <a:srgbClr val="102B4E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720072" y="309067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거래 후</a:t>
            </a:r>
            <a:endParaRPr lang="en-US" sz="1240" dirty="0"/>
          </a:p>
        </p:txBody>
      </p:sp>
      <p:sp>
        <p:nvSpPr>
          <p:cNvPr id="25" name="Text 23"/>
          <p:cNvSpPr txBox="1"/>
          <p:nvPr/>
        </p:nvSpPr>
        <p:spPr>
          <a:xfrm>
            <a:off x="9528048" y="3474720"/>
            <a:ext cx="149961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지급정지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피해구제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34840" y="1901952"/>
            <a:ext cx="2505456" cy="2670048"/>
          </a:xfrm>
          <a:prstGeom prst="roundRect">
            <a:avLst>
              <a:gd name="adj" fmla="val 7299"/>
            </a:avLst>
          </a:prstGeom>
          <a:solidFill>
            <a:srgbClr val="FFF6F7"/>
          </a:solidFill>
          <a:ln w="10160">
            <a:solidFill>
              <a:srgbClr val="FFD3D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10912" y="2112264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84064" y="2139696"/>
            <a:ext cx="1207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 공백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4736592" y="2660904"/>
            <a:ext cx="1901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33E4E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통화 내용이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A33E4E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피해자의 판단을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A33E4E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바꾸는 순간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4562856" y="3739896"/>
            <a:ext cx="2240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7E536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기존 장치가 존재해도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7E536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“상황의 진위”를 즉시 검증하기 어렵다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4672" y="5285232"/>
            <a:ext cx="10625328" cy="566928"/>
          </a:xfrm>
          <a:prstGeom prst="roundRect">
            <a:avLst>
              <a:gd name="adj" fmla="val 22581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2416" y="5431536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핵심: 보호장치 사이의 빈 구간은 ‘통화 속 판단이 형성되는 시간’에 존재할 수 있다.</a:t>
            </a:r>
            <a:endParaRPr lang="en-US" sz="132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10345A"/>
          </a:solidFill>
          <a:ln w="10160">
            <a:solidFill>
              <a:srgbClr val="1034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2B5D8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2B5D8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18395D"/>
          </a:solidFill>
          <a:ln w="10160">
            <a:solidFill>
              <a:srgbClr val="244F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 전략 분석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보이스피싱은 ‘거짓 정보’뿐 아니라 ‘거짓 판단’을 유도한다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9DB6D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세 가지 전략이 결합해 피해자의 판단 환경 자체를 장악하는 구조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758952" y="2039112"/>
            <a:ext cx="2944368" cy="2331720"/>
          </a:xfrm>
          <a:prstGeom prst="roundRect">
            <a:avLst>
              <a:gd name="adj" fmla="val 7843"/>
            </a:avLst>
          </a:prstGeom>
          <a:solidFill>
            <a:srgbClr val="12375D"/>
          </a:solidFill>
          <a:ln w="10160">
            <a:solidFill>
              <a:srgbClr val="2A588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96696" y="2267712"/>
            <a:ext cx="475488" cy="475488"/>
          </a:xfrm>
          <a:prstGeom prst="ellipse">
            <a:avLst/>
          </a:prstGeom>
          <a:solidFill>
            <a:srgbClr val="173A62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96696" y="2276856"/>
            <a:ext cx="4754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609344" y="22677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정보 우위</a:t>
            </a:r>
            <a:endParaRPr lang="en-US" sz="1620" dirty="0"/>
          </a:p>
        </p:txBody>
      </p:sp>
      <p:sp>
        <p:nvSpPr>
          <p:cNvPr id="14" name="Text 12"/>
          <p:cNvSpPr txBox="1"/>
          <p:nvPr/>
        </p:nvSpPr>
        <p:spPr>
          <a:xfrm>
            <a:off x="1005840" y="2971800"/>
            <a:ext cx="2432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BFD2E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정교한 개인정보·절차 설명으로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BFD2E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“상대가 더 많이 알고 있다”는 인상 형성</a:t>
            </a:r>
            <a:endParaRPr lang="en-US" sz="1130" dirty="0"/>
          </a:p>
        </p:txBody>
      </p:sp>
      <p:sp>
        <p:nvSpPr>
          <p:cNvPr id="15" name="Shape 13"/>
          <p:cNvSpPr/>
          <p:nvPr/>
        </p:nvSpPr>
        <p:spPr>
          <a:xfrm>
            <a:off x="4215384" y="2039112"/>
            <a:ext cx="2944368" cy="2331720"/>
          </a:xfrm>
          <a:prstGeom prst="roundRect">
            <a:avLst>
              <a:gd name="adj" fmla="val 7843"/>
            </a:avLst>
          </a:prstGeom>
          <a:solidFill>
            <a:srgbClr val="12375D"/>
          </a:solidFill>
          <a:ln w="10160">
            <a:solidFill>
              <a:srgbClr val="2A588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53128" y="2267712"/>
            <a:ext cx="475488" cy="475488"/>
          </a:xfrm>
          <a:prstGeom prst="ellipse">
            <a:avLst/>
          </a:prstGeom>
          <a:solidFill>
            <a:srgbClr val="173A62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53128" y="2276856"/>
            <a:ext cx="4754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FB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5065776" y="22677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심리적 압박</a:t>
            </a:r>
            <a:endParaRPr lang="en-US" sz="1620" dirty="0"/>
          </a:p>
        </p:txBody>
      </p:sp>
      <p:sp>
        <p:nvSpPr>
          <p:cNvPr id="19" name="Text 17"/>
          <p:cNvSpPr txBox="1"/>
          <p:nvPr/>
        </p:nvSpPr>
        <p:spPr>
          <a:xfrm>
            <a:off x="4462272" y="2971800"/>
            <a:ext cx="2432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BFD2E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권위 · 공포 · 긴급성으로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BFD2E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차분하게 비교·검토할 시간을 축소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7671816" y="2039112"/>
            <a:ext cx="2944368" cy="2331720"/>
          </a:xfrm>
          <a:prstGeom prst="roundRect">
            <a:avLst>
              <a:gd name="adj" fmla="val 7843"/>
            </a:avLst>
          </a:prstGeom>
          <a:solidFill>
            <a:srgbClr val="12375D"/>
          </a:solidFill>
          <a:ln w="10160">
            <a:solidFill>
              <a:srgbClr val="2A588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909560" y="2267712"/>
            <a:ext cx="475488" cy="475488"/>
          </a:xfrm>
          <a:prstGeom prst="ellipse">
            <a:avLst/>
          </a:prstGeom>
          <a:solidFill>
            <a:srgbClr val="173A62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909560" y="2276856"/>
            <a:ext cx="4754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CD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03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522208" y="226771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2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외부 검증 차단</a:t>
            </a:r>
            <a:endParaRPr lang="en-US" sz="1620" dirty="0"/>
          </a:p>
        </p:txBody>
      </p:sp>
      <p:sp>
        <p:nvSpPr>
          <p:cNvPr id="24" name="Text 22"/>
          <p:cNvSpPr txBox="1"/>
          <p:nvPr/>
        </p:nvSpPr>
        <p:spPr>
          <a:xfrm>
            <a:off x="7918704" y="2971800"/>
            <a:ext cx="24323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BFD2E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비밀유지 · 연락 제한 ·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BFD2E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확인 절차 방해로 독립적 판단을 차단</a:t>
            </a:r>
            <a:endParaRPr lang="en-US" sz="1130" dirty="0"/>
          </a:p>
        </p:txBody>
      </p:sp>
      <p:sp>
        <p:nvSpPr>
          <p:cNvPr id="25" name="Shape 23"/>
          <p:cNvSpPr/>
          <p:nvPr/>
        </p:nvSpPr>
        <p:spPr>
          <a:xfrm>
            <a:off x="3639312" y="3218688"/>
            <a:ext cx="402336" cy="0"/>
          </a:xfrm>
          <a:prstGeom prst="line">
            <a:avLst/>
          </a:prstGeom>
          <a:noFill/>
          <a:ln w="2540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095744" y="3218688"/>
            <a:ext cx="402336" cy="0"/>
          </a:xfrm>
          <a:prstGeom prst="line">
            <a:avLst/>
          </a:prstGeom>
          <a:noFill/>
          <a:ln w="2540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172968" y="4782312"/>
            <a:ext cx="5833872" cy="850392"/>
          </a:xfrm>
          <a:prstGeom prst="roundRect">
            <a:avLst>
              <a:gd name="adj" fmla="val 19355"/>
            </a:avLst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438144" y="5001768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3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세 요소가 결합하면 범죄자는 피해자의 “판단 환경”을 장악한다</a:t>
            </a:r>
            <a:endParaRPr lang="en-US" sz="163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 취약점 분석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연령·유형별로 서로 다른 판단 공백이 나타난다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20대와 고령층의 취약성을 단순 “주의 부족”이 아니라 정보·경험·검증 구조의 차이로 설명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76656" y="1883664"/>
            <a:ext cx="5175504" cy="333756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2130552"/>
            <a:ext cx="93268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9264" y="215798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20대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96112" y="26151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 기준의 공백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3136392"/>
            <a:ext cx="4407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금융·행정·수사 절차에 대한 경험이 적을 경우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“정상적인 절차가 무엇인지” 비교할 기준점이 부족할 수 있다.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896112" y="4242816"/>
            <a:ext cx="4425696" cy="621792"/>
          </a:xfrm>
          <a:prstGeom prst="roundRect">
            <a:avLst>
              <a:gd name="adj" fmla="val 17647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51560" y="440740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주요 공격: 권위·기관사칭 → 정상 절차로 오인</a:t>
            </a:r>
            <a:endParaRPr lang="en-US" sz="1160" dirty="0"/>
          </a:p>
        </p:txBody>
      </p:sp>
      <p:sp>
        <p:nvSpPr>
          <p:cNvPr id="17" name="Shape 15"/>
          <p:cNvSpPr/>
          <p:nvPr/>
        </p:nvSpPr>
        <p:spPr>
          <a:xfrm>
            <a:off x="6108192" y="1883664"/>
            <a:ext cx="5175504" cy="3337560"/>
          </a:xfrm>
          <a:prstGeom prst="roundRect">
            <a:avLst>
              <a:gd name="adj" fmla="val 5479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27648" y="2130552"/>
            <a:ext cx="93268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0" y="2157984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고령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327648" y="2615184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B4E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정보·검증의 공백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3136392"/>
            <a:ext cx="44074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디지털·금융환경이 빠르게 변하면서</a:t>
            </a:r>
            <a:endParaRPr lang="en-US" sz="1220" dirty="0"/>
          </a:p>
          <a:p>
            <a:pPr algn="l" indent="0" marL="0">
              <a:buNone/>
            </a:pPr>
            <a:r>
              <a:rPr lang="en-US" sz="122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공식 정보를 검색·비교·확인하는 과정 자체가 부담이 될 수 있다.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6327648" y="4242816"/>
            <a:ext cx="4425696" cy="621792"/>
          </a:xfrm>
          <a:prstGeom prst="roundRect">
            <a:avLst>
              <a:gd name="adj" fmla="val 17647"/>
            </a:avLst>
          </a:prstGeom>
          <a:solidFill>
            <a:srgbClr val="EDF2F8"/>
          </a:solidFill>
          <a:ln w="10160">
            <a:solidFill>
              <a:srgbClr val="DCE5E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3952" y="4407408"/>
            <a:ext cx="4133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5" b="1" dirty="0">
                <a:solidFill>
                  <a:srgbClr val="102B4E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주요 공격: 반복 설명·다중 사칭 → 혼돈과 신뢰 강화</a:t>
            </a:r>
            <a:endParaRPr lang="en-US" sz="1135" dirty="0"/>
          </a:p>
        </p:txBody>
      </p:sp>
      <p:sp>
        <p:nvSpPr>
          <p:cNvPr id="24" name="Shape 22"/>
          <p:cNvSpPr/>
          <p:nvPr/>
        </p:nvSpPr>
        <p:spPr>
          <a:xfrm>
            <a:off x="676656" y="5458968"/>
            <a:ext cx="10607040" cy="402336"/>
          </a:xfrm>
          <a:prstGeom prst="roundRect">
            <a:avLst>
              <a:gd name="adj" fmla="val 31818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96112" y="5541264"/>
            <a:ext cx="10177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하단에는 “연령별 피해 현황 그래프” 또는 관련 설문·논문 근거를 삽입</a:t>
            </a:r>
            <a:endParaRPr lang="en-US" sz="10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 취약점 분석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핵심은 연령이 아니라, 취약성과 공격방식의 결합이다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20대·고령층을 넘어 일반 금융소비자도 특정 상황에서는 판단이 흔들릴 수 있다는 확장 메시지</a:t>
            </a:r>
            <a:endParaRPr lang="en-US" sz="1230" dirty="0"/>
          </a:p>
        </p:txBody>
      </p:sp>
      <p:sp>
        <p:nvSpPr>
          <p:cNvPr id="10" name="Text 8"/>
          <p:cNvSpPr txBox="1"/>
          <p:nvPr/>
        </p:nvSpPr>
        <p:spPr>
          <a:xfrm>
            <a:off x="694944" y="19842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누구나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2203704" y="198424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취약해질 수 있는 순간이 있다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13232" y="2807208"/>
            <a:ext cx="2990088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29992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336499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정교한 개인정보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803904"/>
            <a:ext cx="2505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이름·직장·거래정보를 알고 접근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 “진짜 기관 같다”는 신뢰 강화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4059936" y="2807208"/>
            <a:ext cx="2990088" cy="1874520"/>
          </a:xfrm>
          <a:prstGeom prst="roundRect">
            <a:avLst>
              <a:gd name="adj" fmla="val 8780"/>
            </a:avLst>
          </a:prstGeom>
          <a:solidFill>
            <a:srgbClr val="F1F6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61104" y="29992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261104" y="336499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갑작스러운 공포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4261104" y="3803904"/>
            <a:ext cx="2505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수사·체포·자산동결 등 위협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 차분한 판단보다 즉시 대응 선택</a:t>
            </a:r>
            <a:endParaRPr lang="en-US" sz="1060" dirty="0"/>
          </a:p>
        </p:txBody>
      </p:sp>
      <p:sp>
        <p:nvSpPr>
          <p:cNvPr id="20" name="Shape 18"/>
          <p:cNvSpPr/>
          <p:nvPr/>
        </p:nvSpPr>
        <p:spPr>
          <a:xfrm>
            <a:off x="7406640" y="2807208"/>
            <a:ext cx="2990088" cy="1874520"/>
          </a:xfrm>
          <a:prstGeom prst="roundRect">
            <a:avLst>
              <a:gd name="adj" fmla="val 8780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607808" y="299923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607808" y="3364992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충분하지 않은 시간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607808" y="3803904"/>
            <a:ext cx="250545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지금 당장 처리해야 한다는 압박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→ 가족·기관에 확인할 시간을 제거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1353312" y="5102352"/>
            <a:ext cx="9491472" cy="749808"/>
          </a:xfrm>
          <a:prstGeom prst="roundRect">
            <a:avLst>
              <a:gd name="adj" fmla="val 21951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664208" y="5321808"/>
            <a:ext cx="8869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사람마다 취약성은 다르고, 범죄자는 그 취약성과 맞는 공격방식을 선택한다</a:t>
            </a:r>
            <a:endParaRPr lang="en-US" sz="142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문제정리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 피해가 발생하는 구조를 종합하면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범죄자의 전략 × 피해자의 취약성 × 외부 검증 제한이 결합해 잘못된 판단과 송금으로 이어지는 구조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749808" y="2212848"/>
            <a:ext cx="2514600" cy="142646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32688" y="241401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01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7432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범죄자의 전략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932688" y="3127248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정보비대칭 · 권위 · 공포 · 긴급성</a:t>
            </a:r>
            <a:endParaRPr lang="en-US" sz="1020" dirty="0"/>
          </a:p>
        </p:txBody>
      </p:sp>
      <p:sp>
        <p:nvSpPr>
          <p:cNvPr id="14" name="Text 12"/>
          <p:cNvSpPr txBox="1"/>
          <p:nvPr/>
        </p:nvSpPr>
        <p:spPr>
          <a:xfrm>
            <a:off x="3374136" y="263347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×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3730752" y="2212848"/>
            <a:ext cx="2514600" cy="142646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13632" y="241401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02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3913632" y="27432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피해자의 취약성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3913632" y="3127248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경험 부족 · 정보격차 · 순간 부담</a:t>
            </a:r>
            <a:endParaRPr lang="en-US" sz="102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2633472"/>
            <a:ext cx="256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×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6711696" y="2212848"/>
            <a:ext cx="2514600" cy="1426464"/>
          </a:xfrm>
          <a:prstGeom prst="roundRect">
            <a:avLst>
              <a:gd name="adj" fmla="val 11538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94576" y="2414016"/>
            <a:ext cx="4023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03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894576" y="2743200"/>
            <a:ext cx="2057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외부 검증 제한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894576" y="3127248"/>
            <a:ext cx="2093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시간압박 · 비밀유지 · 확인 방해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9381744" y="2926080"/>
            <a:ext cx="694944" cy="0"/>
          </a:xfrm>
          <a:prstGeom prst="line">
            <a:avLst/>
          </a:prstGeom>
          <a:noFill/>
          <a:ln w="27940">
            <a:solidFill>
              <a:srgbClr val="1F5EF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149840" y="2331720"/>
            <a:ext cx="1426464" cy="1143000"/>
          </a:xfrm>
          <a:prstGeom prst="roundRect">
            <a:avLst>
              <a:gd name="adj" fmla="val 14400"/>
            </a:avLst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268712" y="2532888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환경 붕괴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10853928" y="3694176"/>
            <a:ext cx="0" cy="658368"/>
          </a:xfrm>
          <a:prstGeom prst="line">
            <a:avLst/>
          </a:prstGeom>
          <a:noFill/>
          <a:ln w="27940">
            <a:solidFill>
              <a:srgbClr val="1F5EF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613648" y="4526280"/>
            <a:ext cx="2907792" cy="996696"/>
          </a:xfrm>
          <a:prstGeom prst="roundRect">
            <a:avLst>
              <a:gd name="adj" fmla="val 16514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778240" y="4837176"/>
            <a:ext cx="2578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잘못된 판단 → 송금 → 실제 피해</a:t>
            </a:r>
            <a:endParaRPr lang="en-US" sz="1340" dirty="0"/>
          </a:p>
        </p:txBody>
      </p:sp>
      <p:sp>
        <p:nvSpPr>
          <p:cNvPr id="30" name="Shape 28"/>
          <p:cNvSpPr/>
          <p:nvPr/>
        </p:nvSpPr>
        <p:spPr>
          <a:xfrm>
            <a:off x="749808" y="4315968"/>
            <a:ext cx="7223760" cy="1197864"/>
          </a:xfrm>
          <a:prstGeom prst="roundRect">
            <a:avLst>
              <a:gd name="adj" fmla="val 1374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87552" y="45262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핵심 문제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2011680" y="4480560"/>
            <a:ext cx="5650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3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현재 상황이 정상인지 보이스피싱인지</a:t>
            </a:r>
            <a:endParaRPr lang="en-US" sz="1630" dirty="0"/>
          </a:p>
          <a:p>
            <a:pPr algn="l" indent="0" marL="0">
              <a:buNone/>
            </a:pPr>
            <a:r>
              <a:rPr lang="en-US" sz="163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스스로 검증하기 어려워지는 순간이 존재한다</a:t>
            </a:r>
            <a:endParaRPr lang="en-US" sz="163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문제정의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조작된 상황에서도 피해자는 혼자 판단한다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문제의 본질을 “정보 부족”이 아니라 “판단과 금융행동의 개인 의존성”으로 정의</a:t>
            </a:r>
            <a:endParaRPr lang="en-US" sz="123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192938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보이스피싱의 핵심 문제</a:t>
            </a:r>
            <a:endParaRPr lang="en-US" sz="112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304288"/>
            <a:ext cx="521208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최종 판단과 금융행동이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 개인에게 크게 의존한다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758952" y="3886200"/>
            <a:ext cx="1444752" cy="1005840"/>
          </a:xfrm>
          <a:prstGeom prst="roundRect">
            <a:avLst>
              <a:gd name="adj" fmla="val 16364"/>
            </a:avLst>
          </a:prstGeom>
          <a:solidFill>
            <a:srgbClr val="102B4E"/>
          </a:solidFill>
          <a:ln w="10160">
            <a:solidFill>
              <a:srgbClr val="102B4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86968" y="405993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범죄자의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조작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2286000" y="4389120"/>
            <a:ext cx="475488" cy="0"/>
          </a:xfrm>
          <a:prstGeom prst="line">
            <a:avLst/>
          </a:prstGeom>
          <a:noFill/>
          <a:ln w="25400">
            <a:solidFill>
              <a:srgbClr val="DDE7F3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944368" y="3886200"/>
            <a:ext cx="1444752" cy="1005840"/>
          </a:xfrm>
          <a:prstGeom prst="roundRect">
            <a:avLst>
              <a:gd name="adj" fmla="val 16364"/>
            </a:avLst>
          </a:prstGeom>
          <a:solidFill>
            <a:srgbClr val="2F7CF6"/>
          </a:solidFill>
          <a:ln w="10160">
            <a:solidFill>
              <a:srgbClr val="2F7CF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072384" y="405993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흔들림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471416" y="4389120"/>
            <a:ext cx="475488" cy="0"/>
          </a:xfrm>
          <a:prstGeom prst="line">
            <a:avLst/>
          </a:prstGeom>
          <a:noFill/>
          <a:ln w="25400">
            <a:solidFill>
              <a:srgbClr val="DDE7F3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29784" y="3886200"/>
            <a:ext cx="1444752" cy="1005840"/>
          </a:xfrm>
          <a:prstGeom prst="roundRect">
            <a:avLst>
              <a:gd name="adj" fmla="val 16364"/>
            </a:avLst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57800" y="405993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혼자</a:t>
            </a:r>
            <a:endParaRPr lang="en-US" sz="1550" dirty="0"/>
          </a:p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6656832" y="4389120"/>
            <a:ext cx="475488" cy="0"/>
          </a:xfrm>
          <a:prstGeom prst="line">
            <a:avLst/>
          </a:prstGeom>
          <a:noFill/>
          <a:ln w="25400">
            <a:solidFill>
              <a:srgbClr val="DDE7F3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15200" y="3886200"/>
            <a:ext cx="1444752" cy="1005840"/>
          </a:xfrm>
          <a:prstGeom prst="roundRect">
            <a:avLst>
              <a:gd name="adj" fmla="val 16364"/>
            </a:avLst>
          </a:prstGeom>
          <a:solidFill>
            <a:srgbClr val="2C6FE7"/>
          </a:solidFill>
          <a:ln w="10160">
            <a:solidFill>
              <a:srgbClr val="2C6FE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43216" y="405993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송금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8842248" y="4389120"/>
            <a:ext cx="475488" cy="0"/>
          </a:xfrm>
          <a:prstGeom prst="line">
            <a:avLst/>
          </a:prstGeom>
          <a:noFill/>
          <a:ln w="25400">
            <a:solidFill>
              <a:srgbClr val="DDE7F3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500616" y="3886200"/>
            <a:ext cx="1444752" cy="1005840"/>
          </a:xfrm>
          <a:prstGeom prst="roundRect">
            <a:avLst>
              <a:gd name="adj" fmla="val 16364"/>
            </a:avLst>
          </a:prstGeom>
          <a:solidFill>
            <a:srgbClr val="FF6478"/>
          </a:solidFill>
          <a:ln w="10160">
            <a:solidFill>
              <a:srgbClr val="FF647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28632" y="4059936"/>
            <a:ext cx="1188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528816" y="3456432"/>
            <a:ext cx="0" cy="1920240"/>
          </a:xfrm>
          <a:prstGeom prst="line">
            <a:avLst/>
          </a:prstGeom>
          <a:noFill/>
          <a:ln w="20320">
            <a:solidFill>
              <a:srgbClr val="1F5EFF"/>
            </a:solidFill>
            <a:prstDash val="dash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5742432" y="3063240"/>
            <a:ext cx="1572768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16168" y="3163824"/>
            <a:ext cx="1243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외부 검증?</a:t>
            </a:r>
            <a:endParaRPr lang="en-US" sz="1160" dirty="0"/>
          </a:p>
        </p:txBody>
      </p:sp>
      <p:sp>
        <p:nvSpPr>
          <p:cNvPr id="29" name="Shape 27"/>
          <p:cNvSpPr/>
          <p:nvPr/>
        </p:nvSpPr>
        <p:spPr>
          <a:xfrm>
            <a:off x="2560320" y="5422392"/>
            <a:ext cx="7040880" cy="521208"/>
          </a:xfrm>
          <a:prstGeom prst="roundRect">
            <a:avLst>
              <a:gd name="adj" fmla="val 24561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70632" y="5550408"/>
            <a:ext cx="6629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이 과정에 객관적인 제3자의 판단을 개입시킬 수 있다면?</a:t>
            </a:r>
            <a:endParaRPr lang="en-US" sz="140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인사이트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세 가지 인사이트가 하나의 방향을 가리킨다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예방정보를 더 주는 것보다, 판단이 흔들리는 순간에 독립 검증과 금융행동 지연을 결합해야 한다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713232" y="1901952"/>
            <a:ext cx="10716768" cy="859536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32688" y="2093976"/>
            <a:ext cx="438912" cy="438912"/>
          </a:xfrm>
          <a:prstGeom prst="ellipse">
            <a:avLst/>
          </a:prstGeom>
          <a:solidFill>
            <a:srgbClr val="102B4E"/>
          </a:solidFill>
          <a:ln w="10160">
            <a:solidFill>
              <a:srgbClr val="102B4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32688" y="213055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01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572768" y="2057400"/>
            <a:ext cx="4315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정보 부족만의 문제가 아니다</a:t>
            </a:r>
            <a:endParaRPr lang="en-US" sz="1530" dirty="0"/>
          </a:p>
        </p:txBody>
      </p:sp>
      <p:sp>
        <p:nvSpPr>
          <p:cNvPr id="14" name="Text 12"/>
          <p:cNvSpPr txBox="1"/>
          <p:nvPr/>
        </p:nvSpPr>
        <p:spPr>
          <a:xfrm>
            <a:off x="5641848" y="2066544"/>
            <a:ext cx="5367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보이스피싱은 피해자의 판단 환경 자체를 조작한다.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3232" y="2999232"/>
            <a:ext cx="10716768" cy="859536"/>
          </a:xfrm>
          <a:prstGeom prst="roundRect">
            <a:avLst>
              <a:gd name="adj" fmla="val 17021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2688" y="3191256"/>
            <a:ext cx="438912" cy="438912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32688" y="322783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02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572768" y="3154680"/>
            <a:ext cx="4315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피해자를 혼자 판단하게 두어서는 안 된다</a:t>
            </a:r>
            <a:endParaRPr lang="en-US" sz="1530" dirty="0"/>
          </a:p>
        </p:txBody>
      </p:sp>
      <p:sp>
        <p:nvSpPr>
          <p:cNvPr id="19" name="Text 17"/>
          <p:cNvSpPr txBox="1"/>
          <p:nvPr/>
        </p:nvSpPr>
        <p:spPr>
          <a:xfrm>
            <a:off x="5641848" y="3163824"/>
            <a:ext cx="5367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상황 밖에서 보는 독립적인 제3자의 검토가 필요하다.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13232" y="4096512"/>
            <a:ext cx="10716768" cy="859536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" y="4288536"/>
            <a:ext cx="438912" cy="438912"/>
          </a:xfrm>
          <a:prstGeom prst="ellipse">
            <a:avLst/>
          </a:prstGeom>
          <a:solidFill>
            <a:srgbClr val="102B4E"/>
          </a:solidFill>
          <a:ln w="10160">
            <a:solidFill>
              <a:srgbClr val="102B4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32688" y="4325112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03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572768" y="4251960"/>
            <a:ext cx="4315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3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검증하는 동안 송금이 가능하면 늦을 수 있다</a:t>
            </a:r>
            <a:endParaRPr lang="en-US" sz="1530" dirty="0"/>
          </a:p>
        </p:txBody>
      </p:sp>
      <p:sp>
        <p:nvSpPr>
          <p:cNvPr id="24" name="Text 22"/>
          <p:cNvSpPr txBox="1"/>
          <p:nvPr/>
        </p:nvSpPr>
        <p:spPr>
          <a:xfrm>
            <a:off x="5641848" y="4261104"/>
            <a:ext cx="536752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5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외부 검증이 끝날 때까지 금융행동을 잠시 멈출 수 있어야 한다.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874520" y="5358384"/>
            <a:ext cx="8412480" cy="603504"/>
          </a:xfrm>
          <a:prstGeom prst="roundRect">
            <a:avLst>
              <a:gd name="adj" fmla="val 24242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157984" y="5522976"/>
            <a:ext cx="7818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새로운 정보 하나가 아니라, “상황 밖에서 바라보는 독립적 외부 검증”이 필요하다</a:t>
            </a:r>
            <a:endParaRPr lang="en-US" sz="134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해결방안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판단과 송금 사이에 ‘금융 방지턱’을 만든다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잘못된 판단이 즉시 금융피해로 이어지지 않도록 한 번 더 멈춰 세우는 보호구간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749808" y="1911096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1938528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기존 구조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68096" y="2743200"/>
            <a:ext cx="111556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1248" y="29260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조작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1947672" y="3072384"/>
            <a:ext cx="228600" cy="0"/>
          </a:xfrm>
          <a:prstGeom prst="line">
            <a:avLst/>
          </a:prstGeom>
          <a:noFill/>
          <a:ln w="20320">
            <a:solidFill>
              <a:srgbClr val="AFC7E7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194560" y="2743200"/>
            <a:ext cx="111556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67712" y="29260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 흔들림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3374136" y="3072384"/>
            <a:ext cx="228600" cy="0"/>
          </a:xfrm>
          <a:prstGeom prst="line">
            <a:avLst/>
          </a:prstGeom>
          <a:noFill/>
          <a:ln w="20320">
            <a:solidFill>
              <a:srgbClr val="AFC7E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3986784" y="2743200"/>
            <a:ext cx="1115568" cy="658368"/>
          </a:xfrm>
          <a:prstGeom prst="roundRect">
            <a:avLst>
              <a:gd name="adj" fmla="val 1944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059936" y="29260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송금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5166360" y="3072384"/>
            <a:ext cx="228600" cy="0"/>
          </a:xfrm>
          <a:prstGeom prst="line">
            <a:avLst/>
          </a:prstGeom>
          <a:noFill/>
          <a:ln w="20320">
            <a:solidFill>
              <a:srgbClr val="AFC7E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413248" y="2743200"/>
            <a:ext cx="1115568" cy="658368"/>
          </a:xfrm>
          <a:prstGeom prst="roundRect">
            <a:avLst>
              <a:gd name="adj" fmla="val 19444"/>
            </a:avLst>
          </a:prstGeom>
          <a:solidFill>
            <a:srgbClr val="FFF1F3"/>
          </a:solidFill>
          <a:ln w="10160">
            <a:solidFill>
              <a:srgbClr val="FFD1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0" y="2926080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A53F4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749808" y="3913632"/>
            <a:ext cx="1078992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3941064"/>
            <a:ext cx="932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제안 구조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68096" y="4608576"/>
            <a:ext cx="1463040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41248" y="482803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조작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2304288" y="5001768"/>
            <a:ext cx="219456" cy="0"/>
          </a:xfrm>
          <a:prstGeom prst="line">
            <a:avLst/>
          </a:prstGeom>
          <a:noFill/>
          <a:ln w="21590">
            <a:solidFill>
              <a:srgbClr val="1F5EFF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2194560" y="4608576"/>
            <a:ext cx="1463040" cy="786384"/>
          </a:xfrm>
          <a:prstGeom prst="roundRect">
            <a:avLst>
              <a:gd name="adj" fmla="val 16279"/>
            </a:avLst>
          </a:prstGeom>
          <a:solidFill>
            <a:srgbClr val="EAF3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267712" y="482803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AI 위험탐지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730752" y="5001768"/>
            <a:ext cx="219456" cy="0"/>
          </a:xfrm>
          <a:prstGeom prst="line">
            <a:avLst/>
          </a:prstGeom>
          <a:noFill/>
          <a:ln w="21590">
            <a:solidFill>
              <a:srgbClr val="1F5EF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3913632" y="4608576"/>
            <a:ext cx="1463040" cy="786384"/>
          </a:xfrm>
          <a:prstGeom prst="roundRect">
            <a:avLst>
              <a:gd name="adj" fmla="val 16279"/>
            </a:avLst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986784" y="482803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금융 방지턱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49824" y="5001768"/>
            <a:ext cx="219456" cy="0"/>
          </a:xfrm>
          <a:prstGeom prst="line">
            <a:avLst/>
          </a:prstGeom>
          <a:noFill/>
          <a:ln w="21590">
            <a:solidFill>
              <a:srgbClr val="1F5EFF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5742432" y="4608576"/>
            <a:ext cx="1463040" cy="786384"/>
          </a:xfrm>
          <a:prstGeom prst="roundRect">
            <a:avLst>
              <a:gd name="adj" fmla="val 16279"/>
            </a:avLst>
          </a:prstGeom>
          <a:solidFill>
            <a:srgbClr val="EAF3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815584" y="482803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외부 독립검증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7278624" y="5001768"/>
            <a:ext cx="219456" cy="0"/>
          </a:xfrm>
          <a:prstGeom prst="line">
            <a:avLst/>
          </a:prstGeom>
          <a:noFill/>
          <a:ln w="21590">
            <a:solidFill>
              <a:srgbClr val="1F5EFF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790688" y="4608576"/>
            <a:ext cx="1463040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863840" y="4828032"/>
            <a:ext cx="1316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안전한 재판단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9710928" y="1911096"/>
            <a:ext cx="1828800" cy="3483864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976104" y="2185416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핵심 역할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9948672" y="2743200"/>
            <a:ext cx="13533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대신하지 않고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0040112" y="3657600"/>
            <a:ext cx="1188720" cy="0"/>
          </a:xfrm>
          <a:prstGeom prst="line">
            <a:avLst/>
          </a:prstGeom>
          <a:noFill/>
          <a:ln w="12700">
            <a:solidFill>
              <a:srgbClr val="315B84"/>
            </a:solidFill>
            <a:prstDash val="solid"/>
            <a:headEnd type="none"/>
            <a:tailEnd type="none"/>
          </a:ln>
        </p:spPr>
      </p:sp>
      <p:sp>
        <p:nvSpPr>
          <p:cNvPr id="43" name="Text 41"/>
          <p:cNvSpPr txBox="1"/>
          <p:nvPr/>
        </p:nvSpPr>
        <p:spPr>
          <a:xfrm>
            <a:off x="9902952" y="3913632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30" b="1" dirty="0">
                <a:solidFill>
                  <a:srgbClr val="D8E8F7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피해로 연결되기 전에</a:t>
            </a:r>
            <a:endParaRPr lang="en-US" sz="1330" dirty="0"/>
          </a:p>
          <a:p>
            <a:pPr algn="ctr" indent="0" marL="0">
              <a:buNone/>
            </a:pPr>
            <a:r>
              <a:rPr lang="en-US" sz="1330" b="1" dirty="0">
                <a:solidFill>
                  <a:srgbClr val="D8E8F7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한 번 더 멈춘다</a:t>
            </a:r>
            <a:endParaRPr lang="en-US" sz="133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10345A"/>
          </a:solidFill>
          <a:ln w="10160">
            <a:solidFill>
              <a:srgbClr val="1034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2B5D8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2B5D8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18395D"/>
          </a:solidFill>
          <a:ln w="10160">
            <a:solidFill>
              <a:srgbClr val="244F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서비스 제안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AI 독립검증형 송금방지턱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9DB6D6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통화 위험 탐지부터 다중검증까지 연결되는 5단계 금융안전 구조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685800" y="2176272"/>
            <a:ext cx="1764792" cy="2962656"/>
          </a:xfrm>
          <a:prstGeom prst="roundRect">
            <a:avLst>
              <a:gd name="adj" fmla="val 10363"/>
            </a:avLst>
          </a:prstGeom>
          <a:solidFill>
            <a:srgbClr val="12375D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59536" y="2386584"/>
            <a:ext cx="420624" cy="420624"/>
          </a:xfrm>
          <a:prstGeom prst="ellipse">
            <a:avLst/>
          </a:prstGeom>
          <a:solidFill>
            <a:srgbClr val="173F68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59536" y="24505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01</a:t>
            </a:r>
            <a:endParaRPr lang="en-US" sz="1020" dirty="0"/>
          </a:p>
        </p:txBody>
      </p:sp>
      <p:sp>
        <p:nvSpPr>
          <p:cNvPr id="13" name="Text 11"/>
          <p:cNvSpPr txBox="1"/>
          <p:nvPr/>
        </p:nvSpPr>
        <p:spPr>
          <a:xfrm>
            <a:off x="859536" y="299923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AI 통화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위험 탐지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50976" y="3959352"/>
            <a:ext cx="1234440" cy="0"/>
          </a:xfrm>
          <a:prstGeom prst="line">
            <a:avLst/>
          </a:prstGeom>
          <a:noFill/>
          <a:ln w="11430">
            <a:solidFill>
              <a:srgbClr val="315A81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 txBox="1"/>
          <p:nvPr/>
        </p:nvSpPr>
        <p:spPr>
          <a:xfrm>
            <a:off x="832104" y="4169664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사칭·권위·긴급성·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금융행동 요구 신호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2487168" y="3639312"/>
            <a:ext cx="347472" cy="0"/>
          </a:xfrm>
          <a:prstGeom prst="line">
            <a:avLst/>
          </a:prstGeom>
          <a:noFill/>
          <a:ln w="2159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953512" y="2176272"/>
            <a:ext cx="1764792" cy="2962656"/>
          </a:xfrm>
          <a:prstGeom prst="roundRect">
            <a:avLst>
              <a:gd name="adj" fmla="val 10363"/>
            </a:avLst>
          </a:prstGeom>
          <a:solidFill>
            <a:srgbClr val="12375D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27248" y="2386584"/>
            <a:ext cx="420624" cy="420624"/>
          </a:xfrm>
          <a:prstGeom prst="ellipse">
            <a:avLst/>
          </a:prstGeom>
          <a:solidFill>
            <a:srgbClr val="173F68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27248" y="24505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65B9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02</a:t>
            </a:r>
            <a:endParaRPr lang="en-US" sz="1020" dirty="0"/>
          </a:p>
        </p:txBody>
      </p:sp>
      <p:sp>
        <p:nvSpPr>
          <p:cNvPr id="20" name="Text 18"/>
          <p:cNvSpPr txBox="1"/>
          <p:nvPr/>
        </p:nvSpPr>
        <p:spPr>
          <a:xfrm>
            <a:off x="3127248" y="299923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위험도·근거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산출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218688" y="3959352"/>
            <a:ext cx="1234440" cy="0"/>
          </a:xfrm>
          <a:prstGeom prst="line">
            <a:avLst/>
          </a:prstGeom>
          <a:noFill/>
          <a:ln w="11430">
            <a:solidFill>
              <a:srgbClr val="315A81"/>
            </a:solidFill>
            <a:prstDash val="solid"/>
            <a:headEnd type="none"/>
            <a:tailEnd type="none"/>
          </a:ln>
        </p:spPr>
      </p:sp>
      <p:sp>
        <p:nvSpPr>
          <p:cNvPr id="22" name="Text 20"/>
          <p:cNvSpPr txBox="1"/>
          <p:nvPr/>
        </p:nvSpPr>
        <p:spPr>
          <a:xfrm>
            <a:off x="3099816" y="4169664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왜 위험한지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근거와 함께 제시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4754880" y="3639312"/>
            <a:ext cx="347472" cy="0"/>
          </a:xfrm>
          <a:prstGeom prst="line">
            <a:avLst/>
          </a:prstGeom>
          <a:noFill/>
          <a:ln w="2159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221224" y="2176272"/>
            <a:ext cx="1764792" cy="2962656"/>
          </a:xfrm>
          <a:prstGeom prst="roundRect">
            <a:avLst>
              <a:gd name="adj" fmla="val 10363"/>
            </a:avLst>
          </a:prstGeom>
          <a:solidFill>
            <a:srgbClr val="12375D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394960" y="2386584"/>
            <a:ext cx="420624" cy="420624"/>
          </a:xfrm>
          <a:prstGeom prst="ellipse">
            <a:avLst/>
          </a:prstGeom>
          <a:solidFill>
            <a:srgbClr val="173F68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94960" y="24505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7CC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03</a:t>
            </a:r>
            <a:endParaRPr lang="en-US" sz="102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299923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역할별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맞춤 브리프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486400" y="3959352"/>
            <a:ext cx="1234440" cy="0"/>
          </a:xfrm>
          <a:prstGeom prst="line">
            <a:avLst/>
          </a:prstGeom>
          <a:noFill/>
          <a:ln w="11430">
            <a:solidFill>
              <a:srgbClr val="315A81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 txBox="1"/>
          <p:nvPr/>
        </p:nvSpPr>
        <p:spPr>
          <a:xfrm>
            <a:off x="5367528" y="4169664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피해자·신뢰인·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금융기관별 정보 분리</a:t>
            </a:r>
            <a:endParaRPr lang="en-US" sz="1030" dirty="0"/>
          </a:p>
        </p:txBody>
      </p:sp>
      <p:sp>
        <p:nvSpPr>
          <p:cNvPr id="30" name="Shape 28"/>
          <p:cNvSpPr/>
          <p:nvPr/>
        </p:nvSpPr>
        <p:spPr>
          <a:xfrm>
            <a:off x="7022592" y="3639312"/>
            <a:ext cx="347472" cy="0"/>
          </a:xfrm>
          <a:prstGeom prst="line">
            <a:avLst/>
          </a:prstGeom>
          <a:noFill/>
          <a:ln w="2159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488936" y="2176272"/>
            <a:ext cx="1764792" cy="2962656"/>
          </a:xfrm>
          <a:prstGeom prst="roundRect">
            <a:avLst>
              <a:gd name="adj" fmla="val 10363"/>
            </a:avLst>
          </a:prstGeom>
          <a:solidFill>
            <a:srgbClr val="12375D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62672" y="2386584"/>
            <a:ext cx="420624" cy="420624"/>
          </a:xfrm>
          <a:prstGeom prst="ellipse">
            <a:avLst/>
          </a:prstGeom>
          <a:solidFill>
            <a:srgbClr val="173F68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662672" y="24505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95D2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04</a:t>
            </a:r>
            <a:endParaRPr lang="en-US" sz="1020" dirty="0"/>
          </a:p>
        </p:txBody>
      </p:sp>
      <p:sp>
        <p:nvSpPr>
          <p:cNvPr id="34" name="Text 32"/>
          <p:cNvSpPr txBox="1"/>
          <p:nvPr/>
        </p:nvSpPr>
        <p:spPr>
          <a:xfrm>
            <a:off x="7662672" y="299923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송금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방지턱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754112" y="3959352"/>
            <a:ext cx="1234440" cy="0"/>
          </a:xfrm>
          <a:prstGeom prst="line">
            <a:avLst/>
          </a:prstGeom>
          <a:noFill/>
          <a:ln w="11430">
            <a:solidFill>
              <a:srgbClr val="315A81"/>
            </a:solidFill>
            <a:prstDash val="solid"/>
            <a:headEnd type="none"/>
            <a:tailEnd type="none"/>
          </a:ln>
        </p:spPr>
      </p:sp>
      <p:sp>
        <p:nvSpPr>
          <p:cNvPr id="36" name="Text 34"/>
          <p:cNvSpPr txBox="1"/>
          <p:nvPr/>
        </p:nvSpPr>
        <p:spPr>
          <a:xfrm>
            <a:off x="7635240" y="4169664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신뢰인 공동검토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및 일시 보류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9290304" y="3639312"/>
            <a:ext cx="347472" cy="0"/>
          </a:xfrm>
          <a:prstGeom prst="line">
            <a:avLst/>
          </a:prstGeom>
          <a:noFill/>
          <a:ln w="2159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756648" y="2176272"/>
            <a:ext cx="1764792" cy="2962656"/>
          </a:xfrm>
          <a:prstGeom prst="roundRect">
            <a:avLst>
              <a:gd name="adj" fmla="val 10363"/>
            </a:avLst>
          </a:prstGeom>
          <a:solidFill>
            <a:srgbClr val="12375D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930384" y="2386584"/>
            <a:ext cx="420624" cy="420624"/>
          </a:xfrm>
          <a:prstGeom prst="ellipse">
            <a:avLst/>
          </a:prstGeom>
          <a:solidFill>
            <a:srgbClr val="173F68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930384" y="2450592"/>
            <a:ext cx="420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AEDC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05</a:t>
            </a:r>
            <a:endParaRPr lang="en-US" sz="1020" dirty="0"/>
          </a:p>
        </p:txBody>
      </p:sp>
      <p:sp>
        <p:nvSpPr>
          <p:cNvPr id="41" name="Text 39"/>
          <p:cNvSpPr txBox="1"/>
          <p:nvPr/>
        </p:nvSpPr>
        <p:spPr>
          <a:xfrm>
            <a:off x="9930384" y="2999232"/>
            <a:ext cx="141732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독립검증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연결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10021824" y="3959352"/>
            <a:ext cx="1234440" cy="0"/>
          </a:xfrm>
          <a:prstGeom prst="line">
            <a:avLst/>
          </a:prstGeom>
          <a:noFill/>
          <a:ln w="11430">
            <a:solidFill>
              <a:srgbClr val="315A81"/>
            </a:solidFill>
            <a:prstDash val="solid"/>
            <a:headEnd type="none"/>
            <a:tailEnd type="none"/>
          </a:ln>
        </p:spPr>
      </p:sp>
      <p:sp>
        <p:nvSpPr>
          <p:cNvPr id="43" name="Text 41"/>
          <p:cNvSpPr txBox="1"/>
          <p:nvPr/>
        </p:nvSpPr>
        <p:spPr>
          <a:xfrm>
            <a:off x="9902952" y="4169664"/>
            <a:ext cx="14813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금융기관·공식기관</a:t>
            </a:r>
            <a:endParaRPr lang="en-US" sz="1030" dirty="0"/>
          </a:p>
          <a:p>
            <a:pPr algn="ctr" indent="0" marL="0">
              <a:buNone/>
            </a:pPr>
            <a:r>
              <a:rPr lang="en-US" sz="1030" dirty="0">
                <a:solidFill>
                  <a:srgbClr val="B9CDE0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진위확인</a:t>
            </a:r>
            <a:endParaRPr lang="en-US" sz="1030" dirty="0"/>
          </a:p>
        </p:txBody>
      </p:sp>
      <p:sp>
        <p:nvSpPr>
          <p:cNvPr id="44" name="Shape 42"/>
          <p:cNvSpPr/>
          <p:nvPr/>
        </p:nvSpPr>
        <p:spPr>
          <a:xfrm>
            <a:off x="1920240" y="5486400"/>
            <a:ext cx="8357616" cy="466344"/>
          </a:xfrm>
          <a:prstGeom prst="roundRect">
            <a:avLst>
              <a:gd name="adj" fmla="val 31373"/>
            </a:avLst>
          </a:prstGeom>
          <a:solidFill>
            <a:srgbClr val="102F50"/>
          </a:solidFill>
          <a:ln w="10160">
            <a:solidFill>
              <a:srgbClr val="2B5D8C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157984" y="5596128"/>
            <a:ext cx="79004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b="1" dirty="0">
                <a:solidFill>
                  <a:srgbClr val="D4E4F3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탐지 → 근거 → 공유 → 보류 → 검증 : “판단”과 “금융행동”을 동시에 보호</a:t>
            </a:r>
            <a:endParaRPr lang="en-US" sz="124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EAF3FF"/>
          </a:solidFill>
          <a:ln w="10160">
            <a:solidFill>
              <a:srgbClr val="EAF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49A8FF"/>
          </a:solidFill>
          <a:ln w="10160">
            <a:solidFill>
              <a:srgbClr val="49A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D6E8FF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66928" y="347472"/>
            <a:ext cx="1115568" cy="31089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6656" y="374904"/>
            <a:ext cx="896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서비스 구조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850392"/>
            <a:ext cx="10698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0213D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관계자마다 서로 다른 역할로 개입한다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135331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66768F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동일한 정보를 모두에게 보내지 않고, 각 주체에게 필요한 정보와 권한만 제공</a:t>
            </a:r>
            <a:endParaRPr lang="en-US" sz="1230" dirty="0"/>
          </a:p>
        </p:txBody>
      </p:sp>
      <p:sp>
        <p:nvSpPr>
          <p:cNvPr id="10" name="Shape 8"/>
          <p:cNvSpPr/>
          <p:nvPr/>
        </p:nvSpPr>
        <p:spPr>
          <a:xfrm>
            <a:off x="713232" y="1847088"/>
            <a:ext cx="1444752" cy="493776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86384" y="1947672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주체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2240280" y="1847088"/>
            <a:ext cx="4023360" cy="493776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313432" y="1947672"/>
            <a:ext cx="3877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제공 정보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82512" y="1847088"/>
            <a:ext cx="2697480" cy="493776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55664" y="1947672"/>
            <a:ext cx="2551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핵심 역할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89720" y="1847088"/>
            <a:ext cx="2267712" cy="493776"/>
          </a:xfrm>
          <a:prstGeom prst="roundRect">
            <a:avLst>
              <a:gd name="adj" fmla="val 11111"/>
            </a:avLst>
          </a:prstGeom>
          <a:solidFill>
            <a:srgbClr val="0B1F3A"/>
          </a:solidFill>
          <a:ln w="10160">
            <a:solidFill>
              <a:srgbClr val="0B1F3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262872" y="1947672"/>
            <a:ext cx="21214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접근 원칙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13232" y="2414016"/>
            <a:ext cx="144475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04672" y="2523744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피해자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240280" y="2414016"/>
            <a:ext cx="402336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331720" y="252374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위험도 · 근거 · 행동 안내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6382512" y="2414016"/>
            <a:ext cx="269748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73952" y="2523744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통화 종료 · 재확인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9189720" y="2414016"/>
            <a:ext cx="226771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81160" y="2523744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본인 의사결정 지원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713232" y="3127248"/>
            <a:ext cx="1444752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04672" y="3236976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신뢰인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240280" y="3127248"/>
            <a:ext cx="4023360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31720" y="32369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상황요약 · AI 분석 · 요구금액</a:t>
            </a:r>
            <a:endParaRPr lang="en-US" sz="1070" dirty="0"/>
          </a:p>
        </p:txBody>
      </p:sp>
      <p:sp>
        <p:nvSpPr>
          <p:cNvPr id="30" name="Shape 28"/>
          <p:cNvSpPr/>
          <p:nvPr/>
        </p:nvSpPr>
        <p:spPr>
          <a:xfrm>
            <a:off x="6382512" y="3127248"/>
            <a:ext cx="2697480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73952" y="3236976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거래별 공동검토</a:t>
            </a:r>
            <a:endParaRPr lang="en-US" sz="1070" dirty="0"/>
          </a:p>
        </p:txBody>
      </p:sp>
      <p:sp>
        <p:nvSpPr>
          <p:cNvPr id="32" name="Shape 30"/>
          <p:cNvSpPr/>
          <p:nvPr/>
        </p:nvSpPr>
        <p:spPr>
          <a:xfrm>
            <a:off x="9189720" y="3127248"/>
            <a:ext cx="2267712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281160" y="3236976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최소 필요 정보</a:t>
            </a:r>
            <a:endParaRPr lang="en-US" sz="1070" dirty="0"/>
          </a:p>
        </p:txBody>
      </p:sp>
      <p:sp>
        <p:nvSpPr>
          <p:cNvPr id="34" name="Shape 32"/>
          <p:cNvSpPr/>
          <p:nvPr/>
        </p:nvSpPr>
        <p:spPr>
          <a:xfrm>
            <a:off x="713232" y="3840480"/>
            <a:ext cx="144475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04672" y="3950208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금융기관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240280" y="3840480"/>
            <a:ext cx="402336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331720" y="395020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거래위험 · 요구금액</a:t>
            </a:r>
            <a:endParaRPr lang="en-US" sz="1070" dirty="0"/>
          </a:p>
        </p:txBody>
      </p:sp>
      <p:sp>
        <p:nvSpPr>
          <p:cNvPr id="38" name="Shape 36"/>
          <p:cNvSpPr/>
          <p:nvPr/>
        </p:nvSpPr>
        <p:spPr>
          <a:xfrm>
            <a:off x="6382512" y="3840480"/>
            <a:ext cx="269748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73952" y="3950208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추가확인 · 보류 · 차단</a:t>
            </a:r>
            <a:endParaRPr lang="en-US" sz="1070" dirty="0"/>
          </a:p>
        </p:txBody>
      </p:sp>
      <p:sp>
        <p:nvSpPr>
          <p:cNvPr id="40" name="Shape 38"/>
          <p:cNvSpPr/>
          <p:nvPr/>
        </p:nvSpPr>
        <p:spPr>
          <a:xfrm>
            <a:off x="9189720" y="3840480"/>
            <a:ext cx="2267712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9281160" y="3950208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금융행동 보호</a:t>
            </a:r>
            <a:endParaRPr lang="en-US" sz="1070" dirty="0"/>
          </a:p>
        </p:txBody>
      </p:sp>
      <p:sp>
        <p:nvSpPr>
          <p:cNvPr id="42" name="Shape 40"/>
          <p:cNvSpPr/>
          <p:nvPr/>
        </p:nvSpPr>
        <p:spPr>
          <a:xfrm>
            <a:off x="713232" y="4553712"/>
            <a:ext cx="1444752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04672" y="4663440"/>
            <a:ext cx="1261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기관 담당자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2240280" y="4553712"/>
            <a:ext cx="4023360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2331720" y="466344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사칭정보 · 확인요청</a:t>
            </a:r>
            <a:endParaRPr lang="en-US" sz="1070" dirty="0"/>
          </a:p>
        </p:txBody>
      </p:sp>
      <p:sp>
        <p:nvSpPr>
          <p:cNvPr id="46" name="Shape 44"/>
          <p:cNvSpPr/>
          <p:nvPr/>
        </p:nvSpPr>
        <p:spPr>
          <a:xfrm>
            <a:off x="6382512" y="4553712"/>
            <a:ext cx="2697480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73952" y="466344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공식 진위검증</a:t>
            </a:r>
            <a:endParaRPr lang="en-US" sz="1070" dirty="0"/>
          </a:p>
        </p:txBody>
      </p:sp>
      <p:sp>
        <p:nvSpPr>
          <p:cNvPr id="48" name="Shape 46"/>
          <p:cNvSpPr/>
          <p:nvPr/>
        </p:nvSpPr>
        <p:spPr>
          <a:xfrm>
            <a:off x="9189720" y="4553712"/>
            <a:ext cx="2267712" cy="640080"/>
          </a:xfrm>
          <a:prstGeom prst="roundRect">
            <a:avLst>
              <a:gd name="adj" fmla="val 5714"/>
            </a:avLst>
          </a:prstGeom>
          <a:solidFill>
            <a:srgbClr val="F1F6FF"/>
          </a:solidFill>
          <a:ln w="10160">
            <a:solidFill>
              <a:srgbClr val="DCE8F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9281160" y="4663440"/>
            <a:ext cx="20848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10213D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진위확인만 제공</a:t>
            </a:r>
            <a:endParaRPr lang="en-US" sz="1070" dirty="0"/>
          </a:p>
        </p:txBody>
      </p:sp>
      <p:sp>
        <p:nvSpPr>
          <p:cNvPr id="50" name="Shape 48"/>
          <p:cNvSpPr/>
          <p:nvPr/>
        </p:nvSpPr>
        <p:spPr>
          <a:xfrm>
            <a:off x="713232" y="5468112"/>
            <a:ext cx="10744200" cy="457200"/>
          </a:xfrm>
          <a:prstGeom prst="roundRect">
            <a:avLst>
              <a:gd name="adj" fmla="val 28000"/>
            </a:avLst>
          </a:prstGeom>
          <a:solidFill>
            <a:srgbClr val="EAF3FF"/>
          </a:solidFill>
          <a:ln w="10160">
            <a:solidFill>
              <a:srgbClr val="D7E7FF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41832" y="5568696"/>
            <a:ext cx="10259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F5E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PRIVACY BY ROLE  |  필요한 정보만 · 필요한 주체에게 · 필요한 순간에</a:t>
            </a:r>
            <a:endParaRPr lang="en-US" sz="118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B8CA8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44784" y="128016"/>
            <a:ext cx="1188720" cy="1188720"/>
          </a:xfrm>
          <a:prstGeom prst="ellipse">
            <a:avLst/>
          </a:prstGeom>
          <a:solidFill>
            <a:srgbClr val="10345A"/>
          </a:solidFill>
          <a:ln w="10160">
            <a:solidFill>
              <a:srgbClr val="10345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48288" y="292608"/>
            <a:ext cx="310896" cy="310896"/>
          </a:xfrm>
          <a:prstGeom prst="ellipse">
            <a:avLst/>
          </a:prstGeom>
          <a:solidFill>
            <a:srgbClr val="1F5EFF"/>
          </a:solidFill>
          <a:ln w="10160">
            <a:solidFill>
              <a:srgbClr val="1F5E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844784" y="1024128"/>
            <a:ext cx="868680" cy="0"/>
          </a:xfrm>
          <a:prstGeom prst="line">
            <a:avLst/>
          </a:prstGeom>
          <a:noFill/>
          <a:ln w="13970">
            <a:solidFill>
              <a:srgbClr val="2B5D8C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1045952" y="1225296"/>
            <a:ext cx="667512" cy="0"/>
          </a:xfrm>
          <a:prstGeom prst="line">
            <a:avLst/>
          </a:prstGeom>
          <a:noFill/>
          <a:ln w="13970">
            <a:solidFill>
              <a:srgbClr val="2B5D8C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658368" y="585216"/>
            <a:ext cx="1133856" cy="310896"/>
          </a:xfrm>
          <a:prstGeom prst="roundRect">
            <a:avLst>
              <a:gd name="adj" fmla="val 50000"/>
            </a:avLst>
          </a:prstGeom>
          <a:solidFill>
            <a:srgbClr val="18395D"/>
          </a:solidFill>
          <a:ln w="10160">
            <a:solidFill>
              <a:srgbClr val="244F7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612648"/>
            <a:ext cx="987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CLOSING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76656" y="1572768"/>
            <a:ext cx="7498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판단을 대신하지 않는다.</a:t>
            </a:r>
            <a:endParaRPr lang="en-US" sz="3100" dirty="0"/>
          </a:p>
        </p:txBody>
      </p:sp>
      <p:sp>
        <p:nvSpPr>
          <p:cNvPr id="9" name="Text 7"/>
          <p:cNvSpPr txBox="1"/>
          <p:nvPr/>
        </p:nvSpPr>
        <p:spPr>
          <a:xfrm>
            <a:off x="676656" y="2258568"/>
            <a:ext cx="7498080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피해로 연결되기 전에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한 번 더 멈춘다.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13232" y="3776472"/>
            <a:ext cx="7086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BDD0E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AI가 위험을 탐지하고, 외부의 독립적인 주체가 상황을 검증하며,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BDD0E4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검증이 끝날 때까지 위험한 금융거래를 잠시 보류하는 구조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339328" y="1353312"/>
            <a:ext cx="2962656" cy="4005072"/>
          </a:xfrm>
          <a:prstGeom prst="roundRect">
            <a:avLst>
              <a:gd name="adj" fmla="val 7407"/>
            </a:avLst>
          </a:prstGeom>
          <a:solidFill>
            <a:srgbClr val="103256"/>
          </a:solidFill>
          <a:ln w="10160">
            <a:solidFill>
              <a:srgbClr val="2A5A8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68512" y="1847088"/>
            <a:ext cx="621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9A8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AI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308592" y="2020824"/>
            <a:ext cx="502920" cy="0"/>
          </a:xfrm>
          <a:prstGeom prst="line">
            <a:avLst/>
          </a:prstGeom>
          <a:noFill/>
          <a:ln w="2159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9893808" y="1847088"/>
            <a:ext cx="841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검증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040112" y="2386584"/>
            <a:ext cx="0" cy="548640"/>
          </a:xfrm>
          <a:prstGeom prst="line">
            <a:avLst/>
          </a:prstGeom>
          <a:noFill/>
          <a:ln w="21590">
            <a:solidFill>
              <a:srgbClr val="49A8FF"/>
            </a:solidFill>
            <a:prstDash val="solid"/>
            <a:headEnd type="none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9217152" y="3081528"/>
            <a:ext cx="131673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송금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방지턱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732520" y="4325112"/>
            <a:ext cx="2139696" cy="0"/>
          </a:xfrm>
          <a:prstGeom prst="line">
            <a:avLst/>
          </a:prstGeom>
          <a:noFill/>
          <a:ln w="12700">
            <a:solidFill>
              <a:srgbClr val="315C85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8814816" y="4590288"/>
            <a:ext cx="19751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C8DAEB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AI 독립검증형</a:t>
            </a:r>
            <a:endParaRPr lang="en-US" sz="1450" dirty="0"/>
          </a:p>
          <a:p>
            <a:pPr algn="ctr" indent="0" marL="0">
              <a:buNone/>
            </a:pPr>
            <a:r>
              <a:rPr lang="en-US" sz="1450" b="1" dirty="0">
                <a:solidFill>
                  <a:srgbClr val="C8DAEB"/>
                </a:solidFill>
                <a:latin typeface="NanumSquare Bold" pitchFamily="34" charset="0"/>
                <a:ea typeface="NanumSquare Bold" pitchFamily="34" charset="-122"/>
                <a:cs typeface="NanumSquare Bold" pitchFamily="34" charset="-120"/>
              </a:rPr>
              <a:t>송금방지턱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713232" y="59070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6484A5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BLUE PROPOSAL TEMPLATE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10528"/>
            <a:ext cx="27432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D86A6"/>
                </a:solidFill>
                <a:latin typeface="NanumSquare"/>
                <a:ea typeface="NanumSquare"/>
                <a:cs typeface="NanumSquare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독립검증형 송금방지턱 - Blue Proposal Template</dc:title>
  <dc:subject>보이스피싱 AI 독립검증형 송금방지턱 제안서 - Blue Template</dc:subject>
  <dc:creator>OpenAI</dc:creator>
  <cp:lastModifiedBy>OpenAI</cp:lastModifiedBy>
  <cp:revision>1</cp:revision>
  <dcterms:created xsi:type="dcterms:W3CDTF">2026-08-25T02:59:30Z</dcterms:created>
  <dcterms:modified xsi:type="dcterms:W3CDTF">2026-08-25T02:59:30Z</dcterms:modified>
</cp:coreProperties>
</file>