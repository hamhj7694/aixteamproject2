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3928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독립검증형 송금방지턱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82396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30" kern="0" dirty="0">
                <a:solidFill>
                  <a:srgbClr val="9CA9A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FINANCIAL SAFETY PROPOSAL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8183880" y="-914400"/>
            <a:ext cx="5029200" cy="5029200"/>
          </a:xfrm>
          <a:prstGeom prst="arc">
            <a:avLst/>
          </a:prstGeom>
          <a:solidFill>
            <a:srgbClr val="145D4C">
              <a:alpha val="0"/>
            </a:srgbClr>
          </a:solidFill>
          <a:ln w="19050">
            <a:solidFill>
              <a:srgbClr val="2E8E7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502920"/>
            <a:ext cx="2880360" cy="2880360"/>
          </a:xfrm>
          <a:prstGeom prst="ellipse">
            <a:avLst/>
          </a:prstGeom>
          <a:solidFill>
            <a:srgbClr val="12604B">
              <a:alpha val="85000"/>
            </a:srgbClr>
          </a:solidFill>
          <a:ln w="15240">
            <a:solidFill>
              <a:srgbClr val="3AAA83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078992"/>
            <a:ext cx="1737360" cy="1737360"/>
          </a:xfrm>
          <a:prstGeom prst="ellipse">
            <a:avLst/>
          </a:prstGeom>
          <a:solidFill>
            <a:srgbClr val="0A3D31"/>
          </a:solidFill>
          <a:ln w="15240">
            <a:solidFill>
              <a:srgbClr val="7BD3B0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363456" y="1435608"/>
            <a:ext cx="822960" cy="960120"/>
          </a:xfrm>
          <a:prstGeom prst="hexagon">
            <a:avLst/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92056" y="1901952"/>
            <a:ext cx="164592" cy="164592"/>
          </a:xfrm>
          <a:prstGeom prst="line">
            <a:avLst/>
          </a:prstGeom>
          <a:noFill/>
          <a:ln w="35560">
            <a:solidFill>
              <a:srgbClr val="0F7B5A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747504" y="2057400"/>
            <a:ext cx="301752" cy="-411480"/>
          </a:xfrm>
          <a:prstGeom prst="line">
            <a:avLst/>
          </a:prstGeom>
          <a:noFill/>
          <a:ln w="35560">
            <a:solidFill>
              <a:srgbClr val="0F7B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26680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91272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55864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0456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5048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14232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78824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43416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08008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72600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01784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66376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30968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95560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60152" y="397764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6680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91272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55864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0456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85048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49640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14232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78824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43416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08008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72600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37192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01784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66376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30968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95560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60152" y="414223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6680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91272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5864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0456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85048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49640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14232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78824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43416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08008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72600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537192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701784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66376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30968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95560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360152" y="430682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26680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91272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55864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20456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85048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49640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14232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78824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043416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08008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72600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37192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701784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66376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030968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195560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360152" y="447141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26680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91272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55864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20456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385048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549640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14232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878824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043416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208008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72600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537192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01784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66376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30968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95560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360152" y="463600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726680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891272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055864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220456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385048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49640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14232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878824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43416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208008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372600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537192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701784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866376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030968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95560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360152" y="480060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726680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891272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055864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220456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385048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549640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714232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878824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043416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208008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372600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537192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701784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866376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030968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195560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360152" y="4965192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726680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891272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55864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20456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385048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549640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714232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878824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043416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208008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372600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537192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701784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866376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030968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195560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360152" y="5129784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726680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891272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055864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220456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385048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549640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714232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878824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043416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208008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372600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537192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701784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866376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030968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195560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360152" y="5294376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726680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891272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055864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220456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385048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549640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714232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878824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043416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208008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372600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537192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701784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866376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030968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195560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360152" y="5458968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726680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891272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055864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220456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385048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549640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714232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878824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043416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208008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372600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537192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701784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866376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030968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195560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360152" y="5623560"/>
            <a:ext cx="22860" cy="22860"/>
          </a:xfrm>
          <a:prstGeom prst="ellipse">
            <a:avLst/>
          </a:prstGeom>
          <a:solidFill>
            <a:srgbClr val="3D7B69">
              <a:alpha val="90000"/>
            </a:srgbClr>
          </a:solidFill>
          <a:ln w="12700">
            <a:solidFill>
              <a:srgbClr val="3D7B69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58368" y="65836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E8E70"/>
          </a:solidFill>
          <a:ln w="12700">
            <a:solidFill>
              <a:srgbClr val="2E8E7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58368" y="72237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제안서 TEMPLATE</a:t>
            </a:r>
            <a:endParaRPr lang="en-US" sz="930" dirty="0"/>
          </a:p>
        </p:txBody>
      </p:sp>
      <p:sp>
        <p:nvSpPr>
          <p:cNvPr id="198" name="Text 196"/>
          <p:cNvSpPr/>
          <p:nvPr/>
        </p:nvSpPr>
        <p:spPr>
          <a:xfrm>
            <a:off x="658368" y="141732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독립검증형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송금방지턱</a:t>
            </a:r>
            <a:endParaRPr lang="en-US" sz="3500" dirty="0"/>
          </a:p>
        </p:txBody>
      </p:sp>
      <p:sp>
        <p:nvSpPr>
          <p:cNvPr id="199" name="Text 197"/>
          <p:cNvSpPr/>
          <p:nvPr/>
        </p:nvSpPr>
        <p:spPr>
          <a:xfrm>
            <a:off x="694944" y="292608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E8D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보이스피싱으로부터 금융소비자의 ‘판단’과 ‘송금’을 함께 보호하는 금융안전 서비스</a:t>
            </a:r>
            <a:endParaRPr lang="en-US" sz="1400" dirty="0"/>
          </a:p>
        </p:txBody>
      </p:sp>
      <p:sp>
        <p:nvSpPr>
          <p:cNvPr id="200" name="Shape 198"/>
          <p:cNvSpPr/>
          <p:nvPr/>
        </p:nvSpPr>
        <p:spPr>
          <a:xfrm>
            <a:off x="694944" y="3703320"/>
            <a:ext cx="1234440" cy="0"/>
          </a:xfrm>
          <a:prstGeom prst="line">
            <a:avLst/>
          </a:prstGeom>
          <a:noFill/>
          <a:ln w="40640">
            <a:solidFill>
              <a:srgbClr val="69C6A2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694944" y="39136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spc="140" kern="0" dirty="0">
                <a:solidFill>
                  <a:srgbClr val="8FCFB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FINANCIAL SAFETY × AI × INDEPENDENT VERIFICATION</a:t>
            </a:r>
            <a:endParaRPr lang="en-US" sz="920" dirty="0"/>
          </a:p>
        </p:txBody>
      </p:sp>
      <p:sp>
        <p:nvSpPr>
          <p:cNvPr id="202" name="Text 200"/>
          <p:cNvSpPr/>
          <p:nvPr/>
        </p:nvSpPr>
        <p:spPr>
          <a:xfrm>
            <a:off x="694944" y="523951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DF8F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 1원이라도, 그 누구도 피해를 봐서는 안 된다</a:t>
            </a:r>
            <a:endParaRPr lang="en-US" sz="1650" dirty="0"/>
          </a:p>
        </p:txBody>
      </p:sp>
      <p:sp>
        <p:nvSpPr>
          <p:cNvPr id="203" name="Text 201"/>
          <p:cNvSpPr/>
          <p:nvPr/>
        </p:nvSpPr>
        <p:spPr>
          <a:xfrm>
            <a:off x="694944" y="576986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B7A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2026 · 금융 AI 서비스 제안</a:t>
            </a:r>
            <a:endParaRPr lang="en-US" sz="950" dirty="0"/>
          </a:p>
        </p:txBody>
      </p:sp>
      <p:sp>
        <p:nvSpPr>
          <p:cNvPr id="20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현황분석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 문제의 심각성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 규모를 객관적 데이터로 한눈에 보여주는 레이아웃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EDF8F3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48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연도별 피해금액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73352" y="244144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수치 입력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880360" y="18745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2048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피해건수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44952" y="2359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05072" y="244144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수치 입력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212080" y="18745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048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1인당 피해금액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76672" y="2359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36792" y="244144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수치 입력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543800" y="1874520"/>
            <a:ext cx="4096512" cy="3364992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44968" y="203911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연도별 피해 추이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27848" y="4818888"/>
            <a:ext cx="3346704" cy="0"/>
          </a:xfrm>
          <a:prstGeom prst="line">
            <a:avLst/>
          </a:prstGeom>
          <a:noFill/>
          <a:ln w="13970">
            <a:solidFill>
              <a:srgbClr val="CBD5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27848" y="2423160"/>
            <a:ext cx="0" cy="2395728"/>
          </a:xfrm>
          <a:prstGeom prst="line">
            <a:avLst/>
          </a:prstGeom>
          <a:noFill/>
          <a:ln w="13970">
            <a:solidFill>
              <a:srgbClr val="CBD5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888395"/>
            <a:ext cx="494508" cy="-299009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1228" y="3589386"/>
            <a:ext cx="525414" cy="99670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66642" y="3689055"/>
            <a:ext cx="525414" cy="-438546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92056" y="3250509"/>
            <a:ext cx="494508" cy="119604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86564" y="3370113"/>
            <a:ext cx="525414" cy="-398678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11978" y="2971434"/>
            <a:ext cx="525414" cy="119604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4928616"/>
            <a:ext cx="3090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데이터·그래프로 교체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48640" y="3154680"/>
            <a:ext cx="6583680" cy="2075688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34015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추가로 보여줄 수 있는 데이터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86384" y="3730752"/>
            <a:ext cx="1325880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79933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피해유형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2258568" y="3730752"/>
            <a:ext cx="1325880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95144" y="379933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기관사칭 유형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3730752" y="3730752"/>
            <a:ext cx="1417320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67328" y="3799332"/>
            <a:ext cx="1344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연령별 피해현황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5294376" y="3730752"/>
            <a:ext cx="1261872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0952" y="3799332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 집중 구간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786384" y="4160520"/>
            <a:ext cx="1371600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229100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증가율 / 전년비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2313432" y="4160520"/>
            <a:ext cx="1572768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50008" y="4229100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유형별 평균 피해액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4050792" y="4160520"/>
            <a:ext cx="1170432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87368" y="422910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피해자 특성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5376672" y="4160520"/>
            <a:ext cx="1280160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13248" y="4229100"/>
            <a:ext cx="12070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최신 수법 변화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804672" y="472744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TIP  숫자를 많이 넣기보다 “규모 · 증가 · 집중” 3가지 메시지로 정리</a:t>
            </a:r>
            <a:endParaRPr lang="en-US" sz="97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현황분석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 사회는 많은 안전장치를 운영하고 있다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대응의 존재와 효과를 먼저 인정한 뒤, 그 사이의 공백을 발견하는 구조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127248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21408"/>
            <a:ext cx="530352" cy="530352"/>
          </a:xfrm>
          <a:prstGeom prst="ellipse">
            <a:avLst/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8541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44752" y="2148840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금융기관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2788920"/>
            <a:ext cx="73152" cy="73152"/>
          </a:xfrm>
          <a:prstGeom prst="ellipse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71576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FDS 이상거래 탐지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41248" y="3273552"/>
            <a:ext cx="73152" cy="73152"/>
          </a:xfrm>
          <a:prstGeom prst="ellipse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20040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ASAP 등 위험정보 활용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41248" y="3758184"/>
            <a:ext cx="73152" cy="73152"/>
          </a:xfrm>
          <a:prstGeom prst="ellipse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68503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지연이체 · 지급정지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41248" y="4242816"/>
            <a:ext cx="73152" cy="73152"/>
          </a:xfrm>
          <a:prstGeom prst="ellipse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169664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고액이체 추가확인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142232" y="1874520"/>
            <a:ext cx="3127248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2121408"/>
            <a:ext cx="530352" cy="530352"/>
          </a:xfrm>
          <a:prstGeom prst="ellipse">
            <a:avLst/>
          </a:prstGeom>
          <a:solidFill>
            <a:srgbClr val="E7F1F6"/>
          </a:solidFill>
          <a:ln w="12700">
            <a:solidFill>
              <a:srgbClr val="E7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0832" y="218541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789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38344" y="2148840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정부 · 공공기관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34840" y="2788920"/>
            <a:ext cx="73152" cy="73152"/>
          </a:xfrm>
          <a:prstGeom prst="ellipse">
            <a:avLst/>
          </a:prstGeom>
          <a:solidFill>
            <a:srgbClr val="3B7897"/>
          </a:solidFill>
          <a:ln w="12700">
            <a:solidFill>
              <a:srgbClr val="3B78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271576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신고체계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434840" y="3273552"/>
            <a:ext cx="73152" cy="73152"/>
          </a:xfrm>
          <a:prstGeom prst="ellipse">
            <a:avLst/>
          </a:prstGeom>
          <a:solidFill>
            <a:srgbClr val="3B7897"/>
          </a:solidFill>
          <a:ln w="12700">
            <a:solidFill>
              <a:srgbClr val="3B78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320040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예방교육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434840" y="3758184"/>
            <a:ext cx="73152" cy="73152"/>
          </a:xfrm>
          <a:prstGeom prst="ellipse">
            <a:avLst/>
          </a:prstGeom>
          <a:solidFill>
            <a:srgbClr val="3B7897"/>
          </a:solidFill>
          <a:ln w="12700">
            <a:solidFill>
              <a:srgbClr val="3B78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68503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피해구제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434840" y="4242816"/>
            <a:ext cx="73152" cy="73152"/>
          </a:xfrm>
          <a:prstGeom prst="ellipse">
            <a:avLst/>
          </a:prstGeom>
          <a:solidFill>
            <a:srgbClr val="3B7897"/>
          </a:solidFill>
          <a:ln w="12700">
            <a:solidFill>
              <a:srgbClr val="3B789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4169664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계좌 지급정지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735824" y="1874520"/>
            <a:ext cx="3127248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64424" y="2121408"/>
            <a:ext cx="530352" cy="530352"/>
          </a:xfrm>
          <a:prstGeom prst="ellipse">
            <a:avLst/>
          </a:prstGeom>
          <a:solidFill>
            <a:srgbClr val="FBF2DC"/>
          </a:solidFill>
          <a:ln w="12700">
            <a:solidFill>
              <a:srgbClr val="FBF2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64424" y="218541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A9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31936" y="2148840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통신 · 보안업체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028432" y="2788920"/>
            <a:ext cx="73152" cy="73152"/>
          </a:xfrm>
          <a:prstGeom prst="ellipse">
            <a:avLst/>
          </a:prstGeom>
          <a:solidFill>
            <a:srgbClr val="E7A92D"/>
          </a:solidFill>
          <a:ln w="12700">
            <a:solidFill>
              <a:srgbClr val="E7A9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271576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스팸번호 탐지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028432" y="3273552"/>
            <a:ext cx="73152" cy="73152"/>
          </a:xfrm>
          <a:prstGeom prst="ellipse">
            <a:avLst/>
          </a:prstGeom>
          <a:solidFill>
            <a:srgbClr val="E7A92D"/>
          </a:solidFill>
          <a:ln w="12700">
            <a:solidFill>
              <a:srgbClr val="E7A9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38744" y="320040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악성 앱 차단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8028432" y="3758184"/>
            <a:ext cx="73152" cy="73152"/>
          </a:xfrm>
          <a:prstGeom prst="ellipse">
            <a:avLst/>
          </a:prstGeom>
          <a:solidFill>
            <a:srgbClr val="E7A92D"/>
          </a:solidFill>
          <a:ln w="12700">
            <a:solidFill>
              <a:srgbClr val="E7A9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38744" y="368503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의심 문자 탐지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8028432" y="4242816"/>
            <a:ext cx="73152" cy="73152"/>
          </a:xfrm>
          <a:prstGeom prst="ellipse">
            <a:avLst/>
          </a:prstGeom>
          <a:solidFill>
            <a:srgbClr val="E7A92D"/>
          </a:solidFill>
          <a:ln w="12700">
            <a:solidFill>
              <a:srgbClr val="E7A9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38744" y="4169664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 전화 탐지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548640" y="5413248"/>
            <a:ext cx="10314432" cy="621792"/>
          </a:xfrm>
          <a:prstGeom prst="roundRect">
            <a:avLst>
              <a:gd name="adj" fmla="val 17647"/>
            </a:avLst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596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B8E7D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대표 성과 / 효과 데이터 영역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2788920" y="5568696"/>
            <a:ext cx="7653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FDS · ASAP 등 기존 안전장치가 실제 효과를 내고 있다는 근거 1~3건 배치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30"/>
          </a:solidFill>
          <a:ln w="12700">
            <a:solidFill>
              <a:srgbClr val="0B3B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6400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3736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024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5176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1752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8229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5448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024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0312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6888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3464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10058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584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8872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7160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5448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3736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0312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6888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5176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3464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1752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0" y="118872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584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8872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7160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5448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73736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2024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0312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8600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46888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5176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1752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00400" y="137160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008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296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0584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8872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37160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55448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2024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10312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28600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6888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65176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83464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1752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00400" y="155448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008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0584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8872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37160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55448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73736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92024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10312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28600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46888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65176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83464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01752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200400" y="173736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4008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2296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0584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8872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7160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5448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73736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92024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10312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28600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46888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65176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83464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01752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200400" y="1920240"/>
            <a:ext cx="22860" cy="22860"/>
          </a:xfrm>
          <a:prstGeom prst="ellipse">
            <a:avLst/>
          </a:prstGeom>
          <a:solidFill>
            <a:srgbClr val="346B5A">
              <a:alpha val="90000"/>
            </a:srgbClr>
          </a:solidFill>
          <a:ln w="12700">
            <a:solidFill>
              <a:srgbClr val="346B5A">
                <a:alpha val="0"/>
              </a:srgbClr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14400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B9DC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200" dirty="0"/>
          </a:p>
        </p:txBody>
      </p:sp>
      <p:sp>
        <p:nvSpPr>
          <p:cNvPr id="124" name="Text 122"/>
          <p:cNvSpPr/>
          <p:nvPr/>
        </p:nvSpPr>
        <p:spPr>
          <a:xfrm>
            <a:off x="1097280" y="18288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이렇게 많은 안전장치가 이미 존재하고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효과도 있는데,</a:t>
            </a:r>
            <a:endParaRPr lang="en-US" sz="2600" dirty="0"/>
          </a:p>
        </p:txBody>
      </p:sp>
      <p:sp>
        <p:nvSpPr>
          <p:cNvPr id="125" name="Text 123"/>
          <p:cNvSpPr/>
          <p:nvPr/>
        </p:nvSpPr>
        <p:spPr>
          <a:xfrm>
            <a:off x="1097280" y="2944368"/>
            <a:ext cx="9738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9BE0C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그 사이에 아직 충분히 보호하지 못하고 있는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9BE0C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순간이 있는 것은 아닐까?</a:t>
            </a:r>
            <a:endParaRPr lang="en-US" sz="3000" dirty="0"/>
          </a:p>
        </p:txBody>
      </p:sp>
      <p:sp>
        <p:nvSpPr>
          <p:cNvPr id="126" name="Shape 124"/>
          <p:cNvSpPr/>
          <p:nvPr/>
        </p:nvSpPr>
        <p:spPr>
          <a:xfrm>
            <a:off x="1097280" y="4645152"/>
            <a:ext cx="1051560" cy="0"/>
          </a:xfrm>
          <a:prstGeom prst="line">
            <a:avLst/>
          </a:prstGeom>
          <a:noFill/>
          <a:ln w="50800">
            <a:solidFill>
              <a:srgbClr val="5CC79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97280" y="4882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8BBEA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문제도출</a:t>
            </a:r>
            <a:endParaRPr lang="en-US" sz="1100" dirty="0"/>
          </a:p>
        </p:txBody>
      </p:sp>
      <p:sp>
        <p:nvSpPr>
          <p:cNvPr id="1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F06A5C"/>
          </a:solidFill>
          <a:ln w="12700">
            <a:solidFill>
              <a:srgbClr val="F06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문제도출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보호체계 사이의 “판단 공백”을 찾는다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전·중·후에 어떤 보호장치가 작동하고, 어디에서 개입이 약한지 시각화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0058400" cy="0"/>
          </a:xfrm>
          <a:prstGeom prst="line">
            <a:avLst/>
          </a:prstGeom>
          <a:noFill/>
          <a:ln w="50800">
            <a:solidFill>
              <a:srgbClr val="CBD5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843784"/>
            <a:ext cx="402336" cy="402336"/>
          </a:xfrm>
          <a:prstGeom prst="ellipse">
            <a:avLst/>
          </a:prstGeom>
          <a:solidFill>
            <a:srgbClr val="3B78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591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33924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예방교육 · 스팸차단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703320" y="2843784"/>
            <a:ext cx="402336" cy="402336"/>
          </a:xfrm>
          <a:prstGeom prst="ellipse">
            <a:avLst/>
          </a:prstGeom>
          <a:solidFill>
            <a:srgbClr val="0F7B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3591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접촉 / 통화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26080" y="33924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위험번호 · 악성앱 탐지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419088" y="2843784"/>
            <a:ext cx="402336" cy="402336"/>
          </a:xfrm>
          <a:prstGeom prst="ellipse">
            <a:avLst/>
          </a:prstGeom>
          <a:solidFill>
            <a:srgbClr val="F06A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2660904"/>
            <a:ext cx="768096" cy="768096"/>
          </a:xfrm>
          <a:prstGeom prst="ellipse">
            <a:avLst/>
          </a:prstGeom>
          <a:solidFill>
            <a:srgbClr val="F06A5C">
              <a:alpha val="22000"/>
            </a:srgbClr>
          </a:solidFill>
          <a:ln w="12700">
            <a:solidFill>
              <a:srgbClr val="F06A5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1888" y="23591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6A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 순간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41848" y="33924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맥락에서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혼자 판단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9345168" y="2843784"/>
            <a:ext cx="402336" cy="402336"/>
          </a:xfrm>
          <a:prstGeom prst="ellipse">
            <a:avLst/>
          </a:prstGeom>
          <a:solidFill>
            <a:srgbClr val="E7A9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87968" y="23591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금융거래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67928" y="33924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FDS · 추가확인 · 지연이체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349240" y="4315968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FBE8E5"/>
          </a:solidFill>
          <a:ln w="12700">
            <a:solidFill>
              <a:srgbClr val="F4C9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45537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6A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보호 공백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23560" y="48554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범죄자가 장악한 통화 맥락 속에서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피해자의 판단을 독립적으로 검증하기 어렵다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629400" y="4005072"/>
            <a:ext cx="0" cy="274320"/>
          </a:xfrm>
          <a:prstGeom prst="line">
            <a:avLst/>
          </a:prstGeom>
          <a:noFill/>
          <a:ln w="30480">
            <a:solidFill>
              <a:srgbClr val="F06A5C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F06A5C"/>
          </a:solidFill>
          <a:ln w="12700">
            <a:solidFill>
              <a:srgbClr val="F06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전략분석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보이스피싱은 ‘거짓 정보’뿐 아니라 ‘거짓 판단’을 유도한다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범죄자의 전략을 세 가지 힘으로 단순화해 보여주는 레이아웃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920240" y="2057400"/>
            <a:ext cx="3063240" cy="3063240"/>
          </a:xfrm>
          <a:prstGeom prst="ellipse">
            <a:avLst/>
          </a:prstGeom>
          <a:solidFill>
            <a:srgbClr val="E2F5EC">
              <a:alpha val="96000"/>
            </a:srgbClr>
          </a:solidFill>
          <a:ln w="16510">
            <a:solidFill>
              <a:srgbClr val="0F7B5A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정보 우위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423160" y="3246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정교한 개인정보 ·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기관 사칭 · 절차 설명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572000" y="2057400"/>
            <a:ext cx="3063240" cy="3063240"/>
          </a:xfrm>
          <a:prstGeom prst="ellipse">
            <a:avLst/>
          </a:prstGeom>
          <a:solidFill>
            <a:srgbClr val="FBE8E5">
              <a:alpha val="96000"/>
            </a:srgbClr>
          </a:solidFill>
          <a:ln w="16510">
            <a:solidFill>
              <a:srgbClr val="F06A5C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6A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심리 압박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74920" y="3246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권위 · 공포 · 긴급성 ·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혼란 유도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223760" y="2057400"/>
            <a:ext cx="3063240" cy="3063240"/>
          </a:xfrm>
          <a:prstGeom prst="ellipse">
            <a:avLst/>
          </a:prstGeom>
          <a:solidFill>
            <a:srgbClr val="FBF2DC">
              <a:alpha val="96000"/>
            </a:srgbClr>
          </a:solidFill>
          <a:ln w="16510">
            <a:solidFill>
              <a:srgbClr val="E7A92D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A9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차단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3246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비밀유지 요구 ·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 확인 제한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087368" y="4315968"/>
            <a:ext cx="3977640" cy="987552"/>
          </a:xfrm>
          <a:prstGeom prst="roundRect">
            <a:avLst>
              <a:gd name="adj" fmla="val 11111"/>
            </a:avLst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45537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 환경 장악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44568" y="49011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BDE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거짓말을 검증하기 어려운 상황까지 함께 설계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3B7897"/>
          </a:solidFill>
          <a:ln w="12700">
            <a:solidFill>
              <a:srgbClr val="3B78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취약점분석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연령 · 경험에 따라 “판단의 빈틈”은 다르게 나타난다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20대와 고령층을 예시로 취약성이 생기는 원인을 비교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422392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822960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171700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20대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82296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 기준의 공백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86968" y="3255264"/>
            <a:ext cx="73152" cy="73152"/>
          </a:xfrm>
          <a:prstGeom prst="ellipse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546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금융·행정 절차 경험이 적을 수 있음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886968" y="3767328"/>
            <a:ext cx="73152" cy="73152"/>
          </a:xfrm>
          <a:prstGeom prst="ellipse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667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정상적인 절차에 대한 기준점 부족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886968" y="4279392"/>
            <a:ext cx="73152" cy="73152"/>
          </a:xfrm>
          <a:prstGeom prst="ellipse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7880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기관 사칭 시 진위 비교가 어려움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822960" y="4956048"/>
            <a:ext cx="4892040" cy="182880"/>
          </a:xfrm>
          <a:prstGeom prst="rect">
            <a:avLst/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919472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그래프 / 실제 사례 배치 영역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172200" y="1828800"/>
            <a:ext cx="5422392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8232" y="2103120"/>
            <a:ext cx="822960" cy="283464"/>
          </a:xfrm>
          <a:prstGeom prst="roundRect">
            <a:avLst>
              <a:gd name="adj" fmla="val 38710"/>
            </a:avLst>
          </a:prstGeom>
          <a:solidFill>
            <a:srgbClr val="E7F1F6"/>
          </a:solidFill>
          <a:ln w="12700">
            <a:solidFill>
              <a:srgbClr val="E7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2171700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B789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고령층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6428232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정보 · 검증의 공백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92240" y="3255264"/>
            <a:ext cx="73152" cy="73152"/>
          </a:xfrm>
          <a:prstGeom prst="ellipse">
            <a:avLst/>
          </a:prstGeom>
          <a:solidFill>
            <a:srgbClr val="3B7897"/>
          </a:solidFill>
          <a:ln w="12700">
            <a:solidFill>
              <a:srgbClr val="3B78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31546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정보 탐색 과정이 어려울 수 있음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6492240" y="3767328"/>
            <a:ext cx="73152" cy="73152"/>
          </a:xfrm>
          <a:prstGeom prst="ellipse">
            <a:avLst/>
          </a:prstGeom>
          <a:solidFill>
            <a:srgbClr val="3B7897"/>
          </a:solidFill>
          <a:ln w="12700">
            <a:solidFill>
              <a:srgbClr val="3B78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36667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복잡한 디지털·금융환경에서 즉시 비교 부담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6492240" y="4279392"/>
            <a:ext cx="73152" cy="73152"/>
          </a:xfrm>
          <a:prstGeom prst="ellipse">
            <a:avLst/>
          </a:prstGeom>
          <a:solidFill>
            <a:srgbClr val="3B7897"/>
          </a:solidFill>
          <a:ln w="12700">
            <a:solidFill>
              <a:srgbClr val="3B78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417880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여러 정보를 동시에 검증하기 어려움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6428232" y="4956048"/>
            <a:ext cx="4892040" cy="182880"/>
          </a:xfrm>
          <a:prstGeom prst="rect">
            <a:avLst/>
          </a:prstGeom>
          <a:solidFill>
            <a:srgbClr val="E7F1F6"/>
          </a:solidFill>
          <a:ln w="12700">
            <a:solidFill>
              <a:srgbClr val="E7F1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74536" y="4919472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3B789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그래프 / 실제 사례 배치 영역</a:t>
            </a:r>
            <a:endParaRPr lang="en-US" sz="88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3B7897"/>
          </a:solidFill>
          <a:ln w="12700">
            <a:solidFill>
              <a:srgbClr val="3B78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취약점분석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핵심은 연령이 아니라 “상황 × 취약성”의 결합이다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누구나 충분한 확인시간이 없고, 정보가 정교한 상황에서는 판단이 흔들릴 수 있음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767328" cy="3611880"/>
          </a:xfrm>
          <a:prstGeom prst="roundRect">
            <a:avLst>
              <a:gd name="adj" fmla="val 3038"/>
            </a:avLst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5915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3040 등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일반 금융소비자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E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“나는 안 당한다”가 아니라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DE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어떤 상황에 놓이느냐가 중요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4315968"/>
            <a:ext cx="1097280" cy="283464"/>
          </a:xfrm>
          <a:prstGeom prst="roundRect">
            <a:avLst>
              <a:gd name="adj" fmla="val 38710"/>
            </a:avLst>
          </a:prstGeom>
          <a:solidFill>
            <a:srgbClr val="164E40"/>
          </a:solidFill>
          <a:ln w="12700">
            <a:solidFill>
              <a:srgbClr val="164E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4384548"/>
            <a:ext cx="1024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D9F3E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정교한 개인정보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084832" y="4315968"/>
            <a:ext cx="1005840" cy="283464"/>
          </a:xfrm>
          <a:prstGeom prst="roundRect">
            <a:avLst>
              <a:gd name="adj" fmla="val 38710"/>
            </a:avLst>
          </a:prstGeom>
          <a:solidFill>
            <a:srgbClr val="164E40"/>
          </a:solidFill>
          <a:ln w="12700">
            <a:solidFill>
              <a:srgbClr val="164E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4384548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D9F3E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긴급성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209544" y="4315968"/>
            <a:ext cx="777240" cy="283464"/>
          </a:xfrm>
          <a:prstGeom prst="roundRect">
            <a:avLst>
              <a:gd name="adj" fmla="val 38710"/>
            </a:avLst>
          </a:prstGeom>
          <a:solidFill>
            <a:srgbClr val="164E40"/>
          </a:solidFill>
          <a:ln w="12700">
            <a:solidFill>
              <a:srgbClr val="164E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4384548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D9F3E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공포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709160" y="1938528"/>
            <a:ext cx="69037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2157984"/>
            <a:ext cx="438912" cy="438912"/>
          </a:xfrm>
          <a:prstGeom prst="ellipse">
            <a:avLst/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22199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532120" y="213969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기관과 유사한 설명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7754112" y="214884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정상 절차처럼 보이는 시나리오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709160" y="3081528"/>
            <a:ext cx="6903720" cy="932688"/>
          </a:xfrm>
          <a:prstGeom prst="roundRect">
            <a:avLst>
              <a:gd name="adj" fmla="val 11765"/>
            </a:avLst>
          </a:prstGeom>
          <a:solidFill>
            <a:srgbClr val="FBE8E5"/>
          </a:solidFill>
          <a:ln w="12700">
            <a:solidFill>
              <a:srgbClr val="F3C9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300984"/>
            <a:ext cx="438912" cy="438912"/>
          </a:xfrm>
          <a:prstGeom prst="ellipse">
            <a:avLst/>
          </a:prstGeom>
          <a:solidFill>
            <a:srgbClr val="FBE8E5"/>
          </a:solidFill>
          <a:ln w="12700">
            <a:solidFill>
              <a:srgbClr val="FBE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36499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06A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5532120" y="328269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갑작스러운 시간 압박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754112" y="329184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충분한 확인시간을 주지 않음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709160" y="4224528"/>
            <a:ext cx="69037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4443984"/>
            <a:ext cx="438912" cy="438912"/>
          </a:xfrm>
          <a:prstGeom prst="ellipse">
            <a:avLst/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50799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5532120" y="442569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개인화된 정보 활용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7754112" y="443484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나만 아는 정보처럼 신뢰를 강화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4754880" y="546811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연령별 취약성은 “예시”이며, 서비스는 특정 연령만을 대상으로 설계하지 않는다.</a:t>
            </a:r>
            <a:endParaRPr lang="en-US" sz="93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F06A5C"/>
          </a:solidFill>
          <a:ln w="12700">
            <a:solidFill>
              <a:srgbClr val="F06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문제정리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피해는 세 가지 요인이 결합할 때 발생한다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복잡한 원인을 하나의 구조식으로 단순화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30175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2148840"/>
            <a:ext cx="457200" cy="457200"/>
          </a:xfrm>
          <a:prstGeom prst="ellipse">
            <a:avLst/>
          </a:prstGeom>
          <a:solidFill>
            <a:srgbClr val="FBE8E5"/>
          </a:solidFill>
          <a:ln w="12700">
            <a:solidFill>
              <a:srgbClr val="FBE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6A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813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범죄자의 전략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26517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정보비대칭 · 권위 · 공포 · 긴급성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160520" y="1847088"/>
            <a:ext cx="30175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148840"/>
            <a:ext cx="457200" cy="457200"/>
          </a:xfrm>
          <a:prstGeom prst="ellipse">
            <a:avLst/>
          </a:prstGeom>
          <a:solidFill>
            <a:srgbClr val="E7F1F6"/>
          </a:solidFill>
          <a:ln w="12700">
            <a:solidFill>
              <a:srgbClr val="E7F1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789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피해자의 취약성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26517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경험 부족 · 정보격차 · 상황 부담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662672" y="1847088"/>
            <a:ext cx="30175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91272" y="2148840"/>
            <a:ext cx="457200" cy="457200"/>
          </a:xfrm>
          <a:prstGeom prst="ellipse">
            <a:avLst/>
          </a:prstGeom>
          <a:solidFill>
            <a:srgbClr val="FBF2DC"/>
          </a:solidFill>
          <a:ln w="12700">
            <a:solidFill>
              <a:srgbClr val="FBF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1272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A9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85632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 검증의 제한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91272" y="26517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시간압박 · 비밀유지 · 확인 방해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3785616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D5D1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×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87768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D5D1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×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080760" y="3538728"/>
            <a:ext cx="0" cy="438912"/>
          </a:xfrm>
          <a:prstGeom prst="line">
            <a:avLst/>
          </a:prstGeom>
          <a:noFill/>
          <a:ln w="33020">
            <a:solidFill>
              <a:srgbClr val="F06A5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18688" y="4041648"/>
            <a:ext cx="5715000" cy="1234440"/>
          </a:xfrm>
          <a:prstGeom prst="roundRect">
            <a:avLst>
              <a:gd name="adj" fmla="val 8889"/>
            </a:avLst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888" y="4315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상황을 스스로 검증하기 어려워짐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22192" y="4736592"/>
            <a:ext cx="4434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BDE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잘못된 판단  →  송금  →  실제 피해</a:t>
            </a:r>
            <a:endParaRPr lang="en-US" sz="11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F06A5C"/>
          </a:solidFill>
          <a:ln w="12700">
            <a:solidFill>
              <a:srgbClr val="F06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문제정의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조작된 상황에서도 피해자는 혼자 판단한다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우리의 문제정의는 “정보 부족”이 아니라 “독립 검증 부재”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55648" cy="1005840"/>
          </a:xfrm>
          <a:prstGeom prst="roundRect">
            <a:avLst>
              <a:gd name="adj" fmla="val 10909"/>
            </a:avLst>
          </a:prstGeom>
          <a:solidFill>
            <a:srgbClr val="FBE8E5"/>
          </a:solidFill>
          <a:ln w="12700">
            <a:solidFill>
              <a:srgbClr val="FBE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660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06A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범죄자의 조작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377440" y="2834640"/>
            <a:ext cx="393192" cy="0"/>
          </a:xfrm>
          <a:prstGeom prst="line">
            <a:avLst/>
          </a:prstGeom>
          <a:noFill/>
          <a:ln w="22860">
            <a:solidFill>
              <a:srgbClr val="CBD5D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2331720"/>
            <a:ext cx="1755648" cy="1005840"/>
          </a:xfrm>
          <a:prstGeom prst="roundRect">
            <a:avLst>
              <a:gd name="adj" fmla="val 10909"/>
            </a:avLst>
          </a:prstGeom>
          <a:solidFill>
            <a:srgbClr val="FBE8E5"/>
          </a:solidFill>
          <a:ln w="12700">
            <a:solidFill>
              <a:srgbClr val="FBE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2660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06A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 흔들림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617720" y="2834640"/>
            <a:ext cx="393192" cy="0"/>
          </a:xfrm>
          <a:prstGeom prst="line">
            <a:avLst/>
          </a:prstGeom>
          <a:noFill/>
          <a:ln w="22860">
            <a:solidFill>
              <a:srgbClr val="CBD5D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2331720"/>
            <a:ext cx="1755648" cy="1005840"/>
          </a:xfrm>
          <a:prstGeom prst="roundRect">
            <a:avLst>
              <a:gd name="adj" fmla="val 10909"/>
            </a:avLst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4648" y="2660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혼자 판단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858000" y="2834640"/>
            <a:ext cx="393192" cy="0"/>
          </a:xfrm>
          <a:prstGeom prst="line">
            <a:avLst/>
          </a:prstGeom>
          <a:noFill/>
          <a:ln w="22860">
            <a:solidFill>
              <a:srgbClr val="CBD5D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0" y="2331720"/>
            <a:ext cx="1755648" cy="1005840"/>
          </a:xfrm>
          <a:prstGeom prst="roundRect">
            <a:avLst>
              <a:gd name="adj" fmla="val 10909"/>
            </a:avLst>
          </a:prstGeom>
          <a:solidFill>
            <a:srgbClr val="FBF2DC"/>
          </a:solidFill>
          <a:ln w="12700">
            <a:solidFill>
              <a:srgbClr val="FBF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2660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E7A9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송금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098280" y="2834640"/>
            <a:ext cx="393192" cy="0"/>
          </a:xfrm>
          <a:prstGeom prst="line">
            <a:avLst/>
          </a:prstGeom>
          <a:noFill/>
          <a:ln w="22860">
            <a:solidFill>
              <a:srgbClr val="CBD5D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55480" y="2331720"/>
            <a:ext cx="1755648" cy="1005840"/>
          </a:xfrm>
          <a:prstGeom prst="roundRect">
            <a:avLst>
              <a:gd name="adj" fmla="val 10909"/>
            </a:avLst>
          </a:prstGeom>
          <a:solidFill>
            <a:srgbClr val="F7DAD6"/>
          </a:solidFill>
          <a:ln w="12700">
            <a:solidFill>
              <a:srgbClr val="F7DA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65208" y="2660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06A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809744" y="2057400"/>
            <a:ext cx="2029968" cy="1554480"/>
          </a:xfrm>
          <a:prstGeom prst="roundRect">
            <a:avLst>
              <a:gd name="adj" fmla="val 7059"/>
            </a:avLst>
          </a:prstGeom>
          <a:solidFill>
            <a:srgbClr val="0A3D31">
              <a:alpha val="15000"/>
            </a:srgbClr>
          </a:solidFill>
          <a:ln w="27940">
            <a:solidFill>
              <a:srgbClr val="0A3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011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D31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공백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4096512"/>
            <a:ext cx="1071676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407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 피해의 핵심은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88920" y="4343400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 환경이 조작된 순간에도 최종 판단과 금융행동이 피해자 개인에게 크게 의존한다는 것</a:t>
            </a:r>
            <a:endParaRPr lang="en-US" sz="1680" dirty="0"/>
          </a:p>
        </p:txBody>
      </p:sp>
      <p:sp>
        <p:nvSpPr>
          <p:cNvPr id="25" name="Text 23"/>
          <p:cNvSpPr/>
          <p:nvPr/>
        </p:nvSpPr>
        <p:spPr>
          <a:xfrm>
            <a:off x="2788920" y="482803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 이 과정에 객관적인 제3자의 판단을 개입시킬 수 있다면?</a:t>
            </a:r>
            <a:endParaRPr lang="en-US" sz="114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인사이트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경고를 더하는 것이 아니라, “독립 검증”과 “행동 보류”가 필요하다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문제정의에서 솔루션으로 자연스럽게 넘어가는 브리지 슬라이드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340156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157984"/>
            <a:ext cx="502920" cy="502920"/>
          </a:xfrm>
          <a:prstGeom prst="ellipse">
            <a:avLst/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21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2788920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정보 부족의 문제가 아니다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04672" y="33832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범죄자는 정보와 심리를 함께 조작한다.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25112" y="1901952"/>
            <a:ext cx="340156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1144" y="2157984"/>
            <a:ext cx="502920" cy="502920"/>
          </a:xfrm>
          <a:prstGeom prst="ellipse">
            <a:avLst/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221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81144" y="2788920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흔들리는 순간 혼자 두면 안 된다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4581144" y="33832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외부의 독립적인 관점이 필요하다.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01584" y="1901952"/>
            <a:ext cx="340156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2157984"/>
            <a:ext cx="502920" cy="502920"/>
          </a:xfrm>
          <a:prstGeom prst="ellipse">
            <a:avLst/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221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57616" y="2788920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중에도 송금되면 늦다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8357616" y="33832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완료 전 금융행동을 잠시 멈출 수 있어야 한다.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407408"/>
            <a:ext cx="10954512" cy="1005840"/>
          </a:xfrm>
          <a:prstGeom prst="roundRect">
            <a:avLst>
              <a:gd name="adj" fmla="val 10909"/>
            </a:avLst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7091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AI가 위험 탐지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3493008" y="4828032"/>
            <a:ext cx="576072" cy="0"/>
          </a:xfrm>
          <a:prstGeom prst="line">
            <a:avLst/>
          </a:prstGeom>
          <a:noFill/>
          <a:ln w="27940">
            <a:solidFill>
              <a:srgbClr val="6EBB9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370832" y="47091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독립 주체가 상황 검증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6949440" y="4828032"/>
            <a:ext cx="576072" cy="0"/>
          </a:xfrm>
          <a:prstGeom prst="line">
            <a:avLst/>
          </a:prstGeom>
          <a:noFill/>
          <a:ln w="27940">
            <a:solidFill>
              <a:srgbClr val="6EBB9F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827264" y="47091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DFA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완료까지 거래 보류</a:t>
            </a:r>
            <a:endParaRPr lang="en-US" sz="13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해결방안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판단과 송금 사이에 ‘금융 방지턱’을 만든다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잘못된 판단이 즉시 금융피해로 연결되지 않도록 보호구간을 삽입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10533888" cy="0"/>
          </a:xfrm>
          <a:prstGeom prst="line">
            <a:avLst/>
          </a:prstGeom>
          <a:noFill/>
          <a:ln w="63500">
            <a:solidFill>
              <a:srgbClr val="CBD5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843784"/>
            <a:ext cx="438912" cy="438912"/>
          </a:xfrm>
          <a:prstGeom prst="ellipse">
            <a:avLst/>
          </a:prstGeom>
          <a:solidFill>
            <a:srgbClr val="F06A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408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범죄자의 조작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2843784"/>
            <a:ext cx="438912" cy="438912"/>
          </a:xfrm>
          <a:prstGeom prst="ellipse">
            <a:avLst/>
          </a:prstGeom>
          <a:solidFill>
            <a:srgbClr val="F06A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3408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 흔들림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96912" y="2843784"/>
            <a:ext cx="438912" cy="438912"/>
          </a:xfrm>
          <a:prstGeom prst="ellipse">
            <a:avLst/>
          </a:prstGeom>
          <a:solidFill>
            <a:srgbClr val="E7A9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3408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송금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738360" y="2843784"/>
            <a:ext cx="438912" cy="438912"/>
          </a:xfrm>
          <a:prstGeom prst="ellipse">
            <a:avLst/>
          </a:prstGeom>
          <a:solidFill>
            <a:srgbClr val="F06A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3408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112264"/>
            <a:ext cx="2331720" cy="2139696"/>
          </a:xfrm>
          <a:prstGeom prst="roundRect">
            <a:avLst>
              <a:gd name="adj" fmla="val 5128"/>
            </a:avLst>
          </a:prstGeom>
          <a:solidFill>
            <a:srgbClr val="EDF8F3"/>
          </a:solidFill>
          <a:ln w="27940">
            <a:solidFill>
              <a:srgbClr val="0F7B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23774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 방지턱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83480" y="281635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위험 탐지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+ 외부 독립 검증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+ 거래 일시 보류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4087368" y="3063240"/>
            <a:ext cx="539496" cy="0"/>
          </a:xfrm>
          <a:prstGeom prst="line">
            <a:avLst/>
          </a:prstGeom>
          <a:noFill/>
          <a:ln w="30480">
            <a:solidFill>
              <a:srgbClr val="0F7B5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22592" y="3063240"/>
            <a:ext cx="237744" cy="0"/>
          </a:xfrm>
          <a:prstGeom prst="line">
            <a:avLst/>
          </a:prstGeom>
          <a:noFill/>
          <a:ln w="30480">
            <a:solidFill>
              <a:srgbClr val="0F7B5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1248" y="4663440"/>
            <a:ext cx="105613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8737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64208" y="4818888"/>
            <a:ext cx="9235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피해자의 판단을 완전히 대신하는 것이 아니라, 잘못된 판단이 즉시 송금으로 이어지는 것을 한 번 더 멈춰 세우는 것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구조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독립검증형 송금방지턱 — 5가지 핵심 기능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위험 탐지부터 독립검증까지 하나의 보호 흐름으로 연결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30352" y="1965960"/>
            <a:ext cx="2011680" cy="295351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2267712"/>
            <a:ext cx="621792" cy="621792"/>
          </a:xfrm>
          <a:prstGeom prst="ellipse">
            <a:avLst/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233172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315468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통화 위험 탐지</a:t>
            </a:r>
            <a:endParaRPr lang="en-US" sz="1310" dirty="0"/>
          </a:p>
        </p:txBody>
      </p:sp>
      <p:sp>
        <p:nvSpPr>
          <p:cNvPr id="10" name="Text 8"/>
          <p:cNvSpPr/>
          <p:nvPr/>
        </p:nvSpPr>
        <p:spPr>
          <a:xfrm>
            <a:off x="749808" y="39776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위험 신호 인식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487168" y="3456432"/>
            <a:ext cx="256032" cy="0"/>
          </a:xfrm>
          <a:prstGeom prst="line">
            <a:avLst/>
          </a:prstGeom>
          <a:noFill/>
          <a:ln w="21590">
            <a:solidFill>
              <a:srgbClr val="CBD5D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98064" y="1965960"/>
            <a:ext cx="2011680" cy="295351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3008" y="2267712"/>
            <a:ext cx="621792" cy="621792"/>
          </a:xfrm>
          <a:prstGeom prst="ellipse">
            <a:avLst/>
          </a:prstGeom>
          <a:solidFill>
            <a:srgbClr val="E7F1F6"/>
          </a:solidFill>
          <a:ln w="12700">
            <a:solidFill>
              <a:srgbClr val="E7F1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33172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89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80944" y="315468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위험도 · 판단근거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3017520" y="39776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점수와 근거를 함께 제시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754880" y="3456432"/>
            <a:ext cx="256032" cy="0"/>
          </a:xfrm>
          <a:prstGeom prst="line">
            <a:avLst/>
          </a:prstGeom>
          <a:noFill/>
          <a:ln w="21590">
            <a:solidFill>
              <a:srgbClr val="CBD5D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65776" y="1965960"/>
            <a:ext cx="2011680" cy="295351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2267712"/>
            <a:ext cx="621792" cy="621792"/>
          </a:xfrm>
          <a:prstGeom prst="ellipse">
            <a:avLst/>
          </a:prstGeom>
          <a:solidFill>
            <a:srgbClr val="FBF2DC"/>
          </a:solidFill>
          <a:ln w="12700">
            <a:solidFill>
              <a:srgbClr val="FBF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33172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A92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48656" y="315468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역할별 맞춤 알림</a:t>
            </a:r>
            <a:endParaRPr lang="en-US" sz="1310" dirty="0"/>
          </a:p>
        </p:txBody>
      </p:sp>
      <p:sp>
        <p:nvSpPr>
          <p:cNvPr id="22" name="Text 20"/>
          <p:cNvSpPr/>
          <p:nvPr/>
        </p:nvSpPr>
        <p:spPr>
          <a:xfrm>
            <a:off x="5285232" y="39776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피해자·신뢰인·금융기관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022592" y="3456432"/>
            <a:ext cx="256032" cy="0"/>
          </a:xfrm>
          <a:prstGeom prst="line">
            <a:avLst/>
          </a:prstGeom>
          <a:noFill/>
          <a:ln w="21590">
            <a:solidFill>
              <a:srgbClr val="CBD5D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33488" y="1965960"/>
            <a:ext cx="2011680" cy="295351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28432" y="2267712"/>
            <a:ext cx="621792" cy="621792"/>
          </a:xfrm>
          <a:prstGeom prst="ellipse">
            <a:avLst/>
          </a:prstGeom>
          <a:solidFill>
            <a:srgbClr val="FBE8E5"/>
          </a:solidFill>
          <a:ln w="12700">
            <a:solidFill>
              <a:srgbClr val="FBE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233172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6A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16368" y="315468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송금 방지턱</a:t>
            </a:r>
            <a:endParaRPr lang="en-US" sz="1310" dirty="0"/>
          </a:p>
        </p:txBody>
      </p:sp>
      <p:sp>
        <p:nvSpPr>
          <p:cNvPr id="28" name="Text 26"/>
          <p:cNvSpPr/>
          <p:nvPr/>
        </p:nvSpPr>
        <p:spPr>
          <a:xfrm>
            <a:off x="7552944" y="39776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신뢰인의 공동검토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290304" y="3456432"/>
            <a:ext cx="256032" cy="0"/>
          </a:xfrm>
          <a:prstGeom prst="line">
            <a:avLst/>
          </a:prstGeom>
          <a:noFill/>
          <a:ln w="21590">
            <a:solidFill>
              <a:srgbClr val="CBD5D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1965960"/>
            <a:ext cx="2011680" cy="295351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96144" y="2267712"/>
            <a:ext cx="621792" cy="621792"/>
          </a:xfrm>
          <a:prstGeom prst="ellipse">
            <a:avLst/>
          </a:prstGeom>
          <a:solidFill>
            <a:srgbClr val="E5EFEB"/>
          </a:solidFill>
          <a:ln w="12700">
            <a:solidFill>
              <a:srgbClr val="E5EF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96144" y="233172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1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84080" y="315468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독립검증 연결</a:t>
            </a:r>
            <a:endParaRPr lang="en-US" sz="1310" dirty="0"/>
          </a:p>
        </p:txBody>
      </p:sp>
      <p:sp>
        <p:nvSpPr>
          <p:cNvPr id="34" name="Text 32"/>
          <p:cNvSpPr/>
          <p:nvPr/>
        </p:nvSpPr>
        <p:spPr>
          <a:xfrm>
            <a:off x="9820656" y="39776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금융기관·공식기관 확인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530352" y="5266944"/>
            <a:ext cx="10972800" cy="530352"/>
          </a:xfrm>
          <a:prstGeom prst="roundRect">
            <a:avLst>
              <a:gd name="adj" fmla="val 20690"/>
            </a:avLst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440680"/>
            <a:ext cx="10378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맥락의 위험 탐지  →  판단 근거 공유  →  다중 검토  →  위험 거래 보류  →  공식 진위 확인</a:t>
            </a:r>
            <a:endParaRPr lang="en-US" sz="108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개입 구조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관계자마다 서로 다른 역할로 개입한다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동일한 정보를 모두에게 보내지 않고, 필요한 정보와 권한만 제공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1965960" cy="548640"/>
          </a:xfrm>
          <a:prstGeom prst="rect">
            <a:avLst/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05740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주체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807208" y="1874520"/>
            <a:ext cx="3310128" cy="548640"/>
          </a:xfrm>
          <a:prstGeom prst="rect">
            <a:avLst/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2057400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제공 정보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3017520" cy="548640"/>
          </a:xfrm>
          <a:prstGeom prst="rect">
            <a:avLst/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057400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역할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9646920" y="1874520"/>
            <a:ext cx="1965960" cy="548640"/>
          </a:xfrm>
          <a:prstGeom prst="rect">
            <a:avLst/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0072" y="205740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행동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94360" y="2423160"/>
            <a:ext cx="196596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51760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피해자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2807208" y="2423160"/>
            <a:ext cx="331012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16936" y="265176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위험도 · 근거 · 행동안내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400800" y="2423160"/>
            <a:ext cx="30175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651760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종료 · 재확인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9646920" y="2423160"/>
            <a:ext cx="196596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6648" y="2651760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멈추고 확인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94360" y="3209544"/>
            <a:ext cx="1965960" cy="786384"/>
          </a:xfrm>
          <a:prstGeom prst="rect">
            <a:avLst/>
          </a:prstGeom>
          <a:solidFill>
            <a:srgbClr val="F2F6F4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438144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신뢰인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2807208" y="3209544"/>
            <a:ext cx="3310128" cy="786384"/>
          </a:xfrm>
          <a:prstGeom prst="rect">
            <a:avLst/>
          </a:prstGeom>
          <a:solidFill>
            <a:srgbClr val="F2F6F4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16936" y="343814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상황요약 · AI분석 · 요구금액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400800" y="3209544"/>
            <a:ext cx="3017520" cy="786384"/>
          </a:xfrm>
          <a:prstGeom prst="rect">
            <a:avLst/>
          </a:prstGeom>
          <a:solidFill>
            <a:srgbClr val="F2F6F4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343814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거래별 공동검토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646920" y="3209544"/>
            <a:ext cx="1965960" cy="786384"/>
          </a:xfrm>
          <a:prstGeom prst="rect">
            <a:avLst/>
          </a:prstGeom>
          <a:solidFill>
            <a:srgbClr val="F2F6F4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56648" y="3438144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제3자 검토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594360" y="3995928"/>
            <a:ext cx="196596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42245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금융기관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2807208" y="3995928"/>
            <a:ext cx="331012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6936" y="422452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거래위험 · 요구금액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400800" y="3995928"/>
            <a:ext cx="30175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4224528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추가확인 · 보류 · 차단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9646920" y="3995928"/>
            <a:ext cx="196596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56648" y="42245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 보호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594360" y="4782312"/>
            <a:ext cx="1965960" cy="786384"/>
          </a:xfrm>
          <a:prstGeom prst="rect">
            <a:avLst/>
          </a:prstGeom>
          <a:solidFill>
            <a:srgbClr val="F2F6F4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" y="501091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기관담당자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2807208" y="4782312"/>
            <a:ext cx="3310128" cy="786384"/>
          </a:xfrm>
          <a:prstGeom prst="rect">
            <a:avLst/>
          </a:prstGeom>
          <a:solidFill>
            <a:srgbClr val="F2F6F4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16936" y="501091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사칭정보 · 확인요청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6400800" y="4782312"/>
            <a:ext cx="3017520" cy="786384"/>
          </a:xfrm>
          <a:prstGeom prst="rect">
            <a:avLst/>
          </a:prstGeom>
          <a:solidFill>
            <a:srgbClr val="F2F6F4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0528" y="5010912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진위검증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9646920" y="4782312"/>
            <a:ext cx="1965960" cy="786384"/>
          </a:xfrm>
          <a:prstGeom prst="rect">
            <a:avLst/>
          </a:prstGeom>
          <a:solidFill>
            <a:srgbClr val="F2F6F4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56648" y="501091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사실 확인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594360" y="5742432"/>
            <a:ext cx="11018520" cy="502920"/>
          </a:xfrm>
          <a:prstGeom prst="roundRect">
            <a:avLst>
              <a:gd name="adj" fmla="val 21818"/>
            </a:avLst>
          </a:prstGeom>
          <a:solidFill>
            <a:srgbClr val="EDF8F3"/>
          </a:solidFill>
          <a:ln w="12700">
            <a:solidFill>
              <a:srgbClr val="CBE6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" y="5907024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원칙  ·  “누가 무엇을 보고, 어떤 행동을 할 것인지”를 명확히 분리하면 서비스 구조가 훨씬 설득력 있게 보인다.</a:t>
            </a:r>
            <a:endParaRPr lang="en-US" sz="94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31"/>
          </a:solidFill>
          <a:ln w="12700">
            <a:solidFill>
              <a:srgbClr val="0A3D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33688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89136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44584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0032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0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10928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66376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21824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77272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0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88168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43616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99064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54512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09960" y="73152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33688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89136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44584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00032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55480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10928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66376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21824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77272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32720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88168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43616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99064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54512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109960" y="88696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0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33688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89136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44584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00032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55480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10928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66376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021824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77272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32720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488168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43616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99064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954512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109960" y="104241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78240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33688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89136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44584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00032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55480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10928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866376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21824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177272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332720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488168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43616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99064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954512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109960" y="119786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778240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933688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89136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44584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00032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555480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10928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66376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21824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77272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332720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88168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643616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799064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954512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109960" y="135331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78240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33688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089136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244584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00032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555480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10928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66376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21824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77272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332720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488168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643616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799064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954512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109960" y="150876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0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933688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89136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244584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00032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555480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10928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866376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21824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177272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332720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488168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643616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799064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954512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1109960" y="166420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778240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933688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089136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244584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400032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555480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710928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866376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021824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177272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332720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488168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643616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799064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954512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109960" y="181965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778240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933688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089136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244584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400032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555480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710928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866376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021824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177272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332720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488168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643616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799064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954512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109960" y="197510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778240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933688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089136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244584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400032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555480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710928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866376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021824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177272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332720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488168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643616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799064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54512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109960" y="213055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78240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933688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089136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244584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400032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555480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710928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866376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021824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177272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332720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488168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643616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799064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954512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109960" y="2286000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778240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933688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089136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244584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400032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555480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710928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866376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021824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177272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332720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0488168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0643616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799064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954512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1109960" y="2441448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778240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933688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089136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244584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400032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555480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710928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866376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021824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177272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332720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488168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643616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799064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954512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1109960" y="2596896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778240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933688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089136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244584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400032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9555480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9710928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866376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021824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177272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332720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488168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643616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799064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954512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109960" y="2752344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778240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933688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089136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244584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400032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555480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710928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866376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021824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177272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332720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488168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643616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0799064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954512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109960" y="2907792"/>
            <a:ext cx="22860" cy="22860"/>
          </a:xfrm>
          <a:prstGeom prst="ellipse">
            <a:avLst/>
          </a:prstGeom>
          <a:solidFill>
            <a:srgbClr val="3C705F">
              <a:alpha val="90000"/>
            </a:srgbClr>
          </a:solidFill>
          <a:ln w="12700">
            <a:solidFill>
              <a:srgbClr val="3C705F">
                <a:alpha val="0"/>
              </a:srgbClr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658368" y="713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3C7A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DESIGN SYSTEM</a:t>
            </a:r>
            <a:endParaRPr lang="en-US" sz="950" dirty="0"/>
          </a:p>
        </p:txBody>
      </p:sp>
      <p:sp>
        <p:nvSpPr>
          <p:cNvPr id="244" name="Text 242"/>
          <p:cNvSpPr/>
          <p:nvPr/>
        </p:nvSpPr>
        <p:spPr>
          <a:xfrm>
            <a:off x="658368" y="1280160"/>
            <a:ext cx="5440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신뢰는 차분하게,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위험은 명확하게.</a:t>
            </a:r>
            <a:endParaRPr lang="en-US" sz="3100" dirty="0"/>
          </a:p>
        </p:txBody>
      </p:sp>
      <p:sp>
        <p:nvSpPr>
          <p:cNvPr id="245" name="Text 243"/>
          <p:cNvSpPr/>
          <p:nvPr/>
        </p:nvSpPr>
        <p:spPr>
          <a:xfrm>
            <a:off x="676656" y="2624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DC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 · 보안 · AI 제안서에 맞는 에메랄드 기반 컬러 시스템</a:t>
            </a:r>
            <a:endParaRPr lang="en-US" sz="1250" dirty="0"/>
          </a:p>
        </p:txBody>
      </p:sp>
      <p:sp>
        <p:nvSpPr>
          <p:cNvPr id="246" name="Shape 244"/>
          <p:cNvSpPr/>
          <p:nvPr/>
        </p:nvSpPr>
        <p:spPr>
          <a:xfrm>
            <a:off x="694944" y="3246120"/>
            <a:ext cx="1051560" cy="749808"/>
          </a:xfrm>
          <a:prstGeom prst="roundRect">
            <a:avLst>
              <a:gd name="adj" fmla="val 9756"/>
            </a:avLst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694944" y="41605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7E2D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EMERALD</a:t>
            </a:r>
            <a:endParaRPr lang="en-US" sz="880" dirty="0"/>
          </a:p>
        </p:txBody>
      </p:sp>
      <p:sp>
        <p:nvSpPr>
          <p:cNvPr id="248" name="Text 246"/>
          <p:cNvSpPr/>
          <p:nvPr/>
        </p:nvSpPr>
        <p:spPr>
          <a:xfrm>
            <a:off x="694944" y="438912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B49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#0F7B5A</a:t>
            </a:r>
            <a:endParaRPr lang="en-US" sz="800" dirty="0"/>
          </a:p>
        </p:txBody>
      </p:sp>
      <p:sp>
        <p:nvSpPr>
          <p:cNvPr id="249" name="Shape 247"/>
          <p:cNvSpPr/>
          <p:nvPr/>
        </p:nvSpPr>
        <p:spPr>
          <a:xfrm>
            <a:off x="2002536" y="3246120"/>
            <a:ext cx="1051560" cy="749808"/>
          </a:xfrm>
          <a:prstGeom prst="roundRect">
            <a:avLst>
              <a:gd name="adj" fmla="val 9756"/>
            </a:avLst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2002536" y="41605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7E2D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MINT</a:t>
            </a:r>
            <a:endParaRPr lang="en-US" sz="880" dirty="0"/>
          </a:p>
        </p:txBody>
      </p:sp>
      <p:sp>
        <p:nvSpPr>
          <p:cNvPr id="251" name="Text 249"/>
          <p:cNvSpPr/>
          <p:nvPr/>
        </p:nvSpPr>
        <p:spPr>
          <a:xfrm>
            <a:off x="2002536" y="438912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B49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#DDF3EA</a:t>
            </a:r>
            <a:endParaRPr lang="en-US" sz="800" dirty="0"/>
          </a:p>
        </p:txBody>
      </p:sp>
      <p:sp>
        <p:nvSpPr>
          <p:cNvPr id="252" name="Shape 250"/>
          <p:cNvSpPr/>
          <p:nvPr/>
        </p:nvSpPr>
        <p:spPr>
          <a:xfrm>
            <a:off x="3310128" y="3246120"/>
            <a:ext cx="1051560" cy="749808"/>
          </a:xfrm>
          <a:prstGeom prst="roundRect">
            <a:avLst>
              <a:gd name="adj" fmla="val 9756"/>
            </a:avLst>
          </a:prstGeom>
          <a:solidFill>
            <a:srgbClr val="F06A5C"/>
          </a:solidFill>
          <a:ln w="12700">
            <a:solidFill>
              <a:srgbClr val="F06A5C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3310128" y="41605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7E2D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RISK</a:t>
            </a:r>
            <a:endParaRPr lang="en-US" sz="880" dirty="0"/>
          </a:p>
        </p:txBody>
      </p:sp>
      <p:sp>
        <p:nvSpPr>
          <p:cNvPr id="254" name="Text 252"/>
          <p:cNvSpPr/>
          <p:nvPr/>
        </p:nvSpPr>
        <p:spPr>
          <a:xfrm>
            <a:off x="3310128" y="438912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B49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#F06A5C</a:t>
            </a:r>
            <a:endParaRPr lang="en-US" sz="800" dirty="0"/>
          </a:p>
        </p:txBody>
      </p:sp>
      <p:sp>
        <p:nvSpPr>
          <p:cNvPr id="255" name="Shape 253"/>
          <p:cNvSpPr/>
          <p:nvPr/>
        </p:nvSpPr>
        <p:spPr>
          <a:xfrm>
            <a:off x="4617720" y="3246120"/>
            <a:ext cx="1051560" cy="749808"/>
          </a:xfrm>
          <a:prstGeom prst="roundRect">
            <a:avLst>
              <a:gd name="adj" fmla="val 9756"/>
            </a:avLst>
          </a:prstGeom>
          <a:solidFill>
            <a:srgbClr val="E7A92D"/>
          </a:solidFill>
          <a:ln w="12700">
            <a:solidFill>
              <a:srgbClr val="E7A92D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617720" y="41605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7E2D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CAUTION</a:t>
            </a:r>
            <a:endParaRPr lang="en-US" sz="880" dirty="0"/>
          </a:p>
        </p:txBody>
      </p:sp>
      <p:sp>
        <p:nvSpPr>
          <p:cNvPr id="257" name="Text 255"/>
          <p:cNvSpPr/>
          <p:nvPr/>
        </p:nvSpPr>
        <p:spPr>
          <a:xfrm>
            <a:off x="4617720" y="438912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B49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#E7A92D</a:t>
            </a:r>
            <a:endParaRPr lang="en-US" sz="800" dirty="0"/>
          </a:p>
        </p:txBody>
      </p:sp>
      <p:sp>
        <p:nvSpPr>
          <p:cNvPr id="258" name="Shape 256"/>
          <p:cNvSpPr/>
          <p:nvPr/>
        </p:nvSpPr>
        <p:spPr>
          <a:xfrm>
            <a:off x="6702552" y="1097280"/>
            <a:ext cx="4526280" cy="4069080"/>
          </a:xfrm>
          <a:prstGeom prst="roundRect">
            <a:avLst>
              <a:gd name="adj" fmla="val 2697"/>
            </a:avLst>
          </a:prstGeom>
          <a:solidFill>
            <a:srgbClr val="113F34"/>
          </a:solidFill>
          <a:ln w="12700">
            <a:solidFill>
              <a:srgbClr val="2B6957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7059168" y="14813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레이아웃 원칙</a:t>
            </a:r>
            <a:endParaRPr lang="en-US" sz="1600" dirty="0"/>
          </a:p>
        </p:txBody>
      </p:sp>
      <p:sp>
        <p:nvSpPr>
          <p:cNvPr id="260" name="Shape 258"/>
          <p:cNvSpPr/>
          <p:nvPr/>
        </p:nvSpPr>
        <p:spPr>
          <a:xfrm>
            <a:off x="7086600" y="1993392"/>
            <a:ext cx="384048" cy="384048"/>
          </a:xfrm>
          <a:prstGeom prst="ellipse">
            <a:avLst/>
          </a:prstGeom>
          <a:solidFill>
            <a:srgbClr val="1A5848"/>
          </a:solidFill>
          <a:ln w="12700">
            <a:solidFill>
              <a:srgbClr val="1A5848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7086600" y="2057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EE0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800" dirty="0"/>
          </a:p>
        </p:txBody>
      </p:sp>
      <p:sp>
        <p:nvSpPr>
          <p:cNvPr id="262" name="Text 260"/>
          <p:cNvSpPr/>
          <p:nvPr/>
        </p:nvSpPr>
        <p:spPr>
          <a:xfrm>
            <a:off x="7635240" y="2048256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5F3E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슬라이드 = 한 메시지</a:t>
            </a:r>
            <a:endParaRPr lang="en-US" sz="1080" dirty="0"/>
          </a:p>
        </p:txBody>
      </p:sp>
      <p:sp>
        <p:nvSpPr>
          <p:cNvPr id="263" name="Shape 261"/>
          <p:cNvSpPr/>
          <p:nvPr/>
        </p:nvSpPr>
        <p:spPr>
          <a:xfrm>
            <a:off x="7086600" y="2651760"/>
            <a:ext cx="384048" cy="384048"/>
          </a:xfrm>
          <a:prstGeom prst="ellipse">
            <a:avLst/>
          </a:prstGeom>
          <a:solidFill>
            <a:srgbClr val="1A5848"/>
          </a:solidFill>
          <a:ln w="12700">
            <a:solidFill>
              <a:srgbClr val="1A5848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086600" y="27157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EE0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800" dirty="0"/>
          </a:p>
        </p:txBody>
      </p:sp>
      <p:sp>
        <p:nvSpPr>
          <p:cNvPr id="265" name="Text 263"/>
          <p:cNvSpPr/>
          <p:nvPr/>
        </p:nvSpPr>
        <p:spPr>
          <a:xfrm>
            <a:off x="7635240" y="2706624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5F3E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위험은 Coral, 보호는 Emerald</a:t>
            </a:r>
            <a:endParaRPr lang="en-US" sz="1080" dirty="0"/>
          </a:p>
        </p:txBody>
      </p:sp>
      <p:sp>
        <p:nvSpPr>
          <p:cNvPr id="266" name="Shape 264"/>
          <p:cNvSpPr/>
          <p:nvPr/>
        </p:nvSpPr>
        <p:spPr>
          <a:xfrm>
            <a:off x="7086600" y="3310128"/>
            <a:ext cx="384048" cy="384048"/>
          </a:xfrm>
          <a:prstGeom prst="ellipse">
            <a:avLst/>
          </a:prstGeom>
          <a:solidFill>
            <a:srgbClr val="1A5848"/>
          </a:solidFill>
          <a:ln w="12700">
            <a:solidFill>
              <a:srgbClr val="1A5848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7086600" y="33741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EE0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800" dirty="0"/>
          </a:p>
        </p:txBody>
      </p:sp>
      <p:sp>
        <p:nvSpPr>
          <p:cNvPr id="268" name="Text 266"/>
          <p:cNvSpPr/>
          <p:nvPr/>
        </p:nvSpPr>
        <p:spPr>
          <a:xfrm>
            <a:off x="7635240" y="336499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5F3E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숫자·도식 중심, 문장은 최소화</a:t>
            </a:r>
            <a:endParaRPr lang="en-US" sz="1080" dirty="0"/>
          </a:p>
        </p:txBody>
      </p:sp>
      <p:sp>
        <p:nvSpPr>
          <p:cNvPr id="269" name="Shape 267"/>
          <p:cNvSpPr/>
          <p:nvPr/>
        </p:nvSpPr>
        <p:spPr>
          <a:xfrm>
            <a:off x="7086600" y="3968496"/>
            <a:ext cx="384048" cy="384048"/>
          </a:xfrm>
          <a:prstGeom prst="ellipse">
            <a:avLst/>
          </a:prstGeom>
          <a:solidFill>
            <a:srgbClr val="1A5848"/>
          </a:solidFill>
          <a:ln w="12700">
            <a:solidFill>
              <a:srgbClr val="1A5848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7086600" y="40325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EE0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800" dirty="0"/>
          </a:p>
        </p:txBody>
      </p:sp>
      <p:sp>
        <p:nvSpPr>
          <p:cNvPr id="271" name="Text 269"/>
          <p:cNvSpPr/>
          <p:nvPr/>
        </p:nvSpPr>
        <p:spPr>
          <a:xfrm>
            <a:off x="7635240" y="4023360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5F3E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 → 공백 → 해결의 리듬 유지</a:t>
            </a:r>
            <a:endParaRPr lang="en-US" sz="1080" dirty="0"/>
          </a:p>
        </p:txBody>
      </p:sp>
      <p:sp>
        <p:nvSpPr>
          <p:cNvPr id="272" name="Text 270"/>
          <p:cNvSpPr/>
          <p:nvPr/>
        </p:nvSpPr>
        <p:spPr>
          <a:xfrm>
            <a:off x="694944" y="5806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독립검증형 송금방지턱</a:t>
            </a:r>
            <a:endParaRPr lang="en-US" sz="1400" dirty="0"/>
          </a:p>
        </p:txBody>
      </p:sp>
      <p:sp>
        <p:nvSpPr>
          <p:cNvPr id="273" name="Text 271"/>
          <p:cNvSpPr/>
          <p:nvPr/>
        </p:nvSpPr>
        <p:spPr>
          <a:xfrm>
            <a:off x="694944" y="61722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spc="70" kern="0" dirty="0">
                <a:solidFill>
                  <a:srgbClr val="78AA9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제안서 디자인 템플릿 · EDITABLE PPTX</a:t>
            </a:r>
            <a:endParaRPr lang="en-US" sz="880" dirty="0"/>
          </a:p>
        </p:txBody>
      </p:sp>
      <p:sp>
        <p:nvSpPr>
          <p:cNvPr id="27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독립검증형 송금방지턱 - 디자인 템플릿</dc:title>
  <dc:subject>AI 독립검증형 송금방지턱 제안서 디자인 템플릿</dc:subject>
  <dc:creator>OpenAI</dc:creator>
  <cp:lastModifiedBy>OpenAI</cp:lastModifiedBy>
  <cp:revision>1</cp:revision>
  <dcterms:created xsi:type="dcterms:W3CDTF">2026-08-25T03:00:04Z</dcterms:created>
  <dcterms:modified xsi:type="dcterms:W3CDTF">2026-08-25T03:00:04Z</dcterms:modified>
</cp:coreProperties>
</file>