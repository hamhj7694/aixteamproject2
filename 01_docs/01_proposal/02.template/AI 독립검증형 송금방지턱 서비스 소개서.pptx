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Relationship Id="rId23" Type="http://schemas.openxmlformats.org/officeDocument/2006/relationships/image" Target="../media/image41.png"/><Relationship Id="rId24" Type="http://schemas.openxmlformats.org/officeDocument/2006/relationships/image" Target="../media/image4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3" Type="http://schemas.openxmlformats.org/officeDocument/2006/relationships/image" Target="../media/image7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103.png"/><Relationship Id="rId15" Type="http://schemas.openxmlformats.org/officeDocument/2006/relationships/image" Target="../media/image104.png"/><Relationship Id="rId16" Type="http://schemas.openxmlformats.org/officeDocument/2006/relationships/image" Target="../media/image105.png"/><Relationship Id="rId17" Type="http://schemas.openxmlformats.org/officeDocument/2006/relationships/image" Target="../media/image10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Relationship Id="rId3" Type="http://schemas.openxmlformats.org/officeDocument/2006/relationships/image" Target="../media/image2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45466" y="2600325"/>
            <a:ext cx="6100918" cy="61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b="0" sz="4050" i="0" u="none">
                <a:solidFill>
                  <a:srgbClr val="FFFFFF"/>
                </a:solidFill>
                <a:latin typeface="Noto Sans KR Black"/>
              </a:rPr>
              <a:t>AI 독립검증형 </a:t>
            </a:r>
            <a:r>
              <a:rPr b="0" sz="4050" i="0" u="none">
                <a:solidFill>
                  <a:srgbClr val="38BDF8"/>
                </a:solidFill>
                <a:latin typeface="Noto Sans KR Black"/>
              </a:rPr>
              <a:t>송금방지턱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3408015"/>
            <a:ext cx="781050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575" i="0" u="none">
                <a:solidFill>
                  <a:srgbClr val="94A3B8"/>
                </a:solidFill>
                <a:latin typeface="Noto Sans KR Light"/>
              </a:rPr>
              <a:t>통화 중 실시간 피싱 탐지부터 사전 등록 신뢰인 검토, 금융기관 차단의 다중 안전 네트워크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477000"/>
            <a:ext cx="159007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Noto Sans KR"/>
              </a:rPr>
              <a:t>GuardRing AI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928" y="6477000"/>
            <a:ext cx="61957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Noto Sans KR"/>
              </a:rPr>
              <a:t>Slide 1 / 10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677" y="2085975"/>
            <a:ext cx="148232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15210" y="2100262"/>
            <a:ext cx="242396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38BDF8"/>
                </a:solidFill>
                <a:latin typeface="Noto Sans KR SemiBold"/>
              </a:rPr>
              <a:t>GuardRing AI Security Platform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3637" y="4567088"/>
            <a:ext cx="118616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47503" y="4552801"/>
            <a:ext cx="176941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FFFFF"/>
                </a:solidFill>
                <a:latin typeface="Noto Sans KR Medium"/>
              </a:rPr>
              <a:t>ML + LLM 이중 분석 Engine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8921" y="4567088"/>
            <a:ext cx="118616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92787" y="4552801"/>
            <a:ext cx="1833711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FFFFF"/>
                </a:solidFill>
                <a:latin typeface="Noto Sans KR Medium"/>
              </a:rPr>
              <a:t>신뢰인 최종검토형 송금 제어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8498" y="4567088"/>
            <a:ext cx="118616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02364" y="4552801"/>
            <a:ext cx="1555849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FFFFF"/>
                </a:solidFill>
                <a:latin typeface="Noto Sans KR Medium"/>
              </a:rPr>
              <a:t>금융·공식기관 다중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24600"/>
            <a:ext cx="11049000" cy="295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775620"/>
            <a:ext cx="5334000" cy="19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98316"/>
            <a:ext cx="53340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46016"/>
            <a:ext cx="53340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93716"/>
            <a:ext cx="53340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141416"/>
            <a:ext cx="53340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789116"/>
            <a:ext cx="5334000" cy="53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049000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Noto Sans KR"/>
              </a:rPr>
              <a:t>서비스 핵심 개념: AI 독립검증형 송금방지턱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0261" y="533400"/>
            <a:ext cx="1430238" cy="274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6448425"/>
            <a:ext cx="1424136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AI 독립검증형 송금방지턱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0928" y="6462712"/>
            <a:ext cx="61957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Slide 2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419225"/>
            <a:ext cx="56007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Noto Sans KR"/>
              </a:rPr>
              <a:t>보이스피싱 피해 예방의 </a:t>
            </a:r>
            <a:r>
              <a:t>
</a:t>
            </a:r>
            <a:r>
              <a:rPr b="1" sz="1950" i="0" u="none">
                <a:solidFill>
                  <a:srgbClr val="0284C7"/>
                </a:solidFill>
                <a:latin typeface="Noto Sans KR"/>
              </a:rPr>
              <a:t>새로운 패러다임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238375"/>
            <a:ext cx="5334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Noto Sans KR"/>
              </a:rPr>
              <a:t>통화 중 AI가 보이스피싱 위험을 탐지하고, 의심 거래 발생 시 즉시 실행하지 않으며 사전 등록된 신뢰인의 검토와 금융기관의 독립 보호조치를 거치는 다중 금융 안전 서비스입니다.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6025" y="3785145"/>
            <a:ext cx="23462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050" y="3331666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050" y="3979366"/>
            <a:ext cx="26670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1050" y="4627066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" y="5274766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1050" y="5922466"/>
            <a:ext cx="266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24600"/>
            <a:ext cx="11049000" cy="295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08845"/>
            <a:ext cx="11049000" cy="809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213895"/>
            <a:ext cx="11049000" cy="838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89645"/>
            <a:ext cx="2479625" cy="990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958" y="1689645"/>
            <a:ext cx="2479625" cy="990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416" y="1689645"/>
            <a:ext cx="2479625" cy="990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0874" y="1689645"/>
            <a:ext cx="2479625" cy="990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4292" y="2813595"/>
            <a:ext cx="256341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947070"/>
            <a:ext cx="2479625" cy="990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958" y="3947070"/>
            <a:ext cx="2479625" cy="990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416" y="3947070"/>
            <a:ext cx="2479625" cy="990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0874" y="3947070"/>
            <a:ext cx="2479625" cy="990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049000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Noto Sans KR"/>
              </a:rPr>
              <a:t>서비스 전체 작동 흐름 및 핵심 차별점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94590" y="533400"/>
            <a:ext cx="1325909" cy="2742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6448425"/>
            <a:ext cx="1424136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AI 독립검증형 송금방지턱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928" y="6462712"/>
            <a:ext cx="61957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Slide 3 / 10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65425" y="2089695"/>
            <a:ext cx="148232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21883" y="2089695"/>
            <a:ext cx="148232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78341" y="2089695"/>
            <a:ext cx="148232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1050" y="3166020"/>
            <a:ext cx="106299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C2410C"/>
                </a:solidFill>
                <a:latin typeface="Noto Sans KR"/>
              </a:rPr>
              <a:t>피해자 송금 시도 발생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65425" y="4347120"/>
            <a:ext cx="148232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21883" y="4347120"/>
            <a:ext cx="148232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78341" y="4347120"/>
            <a:ext cx="148232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8200" y="5404395"/>
            <a:ext cx="10553700" cy="457200"/>
          </a:xfrm>
          <a:prstGeom prst="rect">
            <a:avLst/>
          </a:prstGeom>
          <a:noFill/>
        </p:spPr>
        <p:txBody>
          <a:bodyPr wrap="square" lIns="194816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369A1"/>
                </a:solidFill>
                <a:latin typeface="Noto Sans KR SemiBold"/>
              </a:rPr>
              <a:t>핵심 차별점: 단순히 위험을 경고만 하는 서비스가 아닙니다. 위험 상황 발생 시 실제 송금 단계에 물리적으로 개입하여 다중 검토를 완료해야만 이체가 이루어지는 구조입니다.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52004" y="1899195"/>
            <a:ext cx="118616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9530" y="2127795"/>
            <a:ext cx="226356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Noto Sans KR"/>
              </a:rPr>
              <a:t>1. 통화 수신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" y="2308770"/>
            <a:ext cx="2155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Noto Sans KR"/>
              </a:rPr>
              <a:t>STT 음성 변환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08462" y="1899195"/>
            <a:ext cx="118616" cy="152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35988" y="2127795"/>
            <a:ext cx="226356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Noto Sans KR"/>
              </a:rPr>
              <a:t>2. AI 위험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9883" y="2308770"/>
            <a:ext cx="2155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Noto Sans KR"/>
              </a:rPr>
              <a:t>ML + LLM 독립분석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64921" y="1899195"/>
            <a:ext cx="118616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92447" y="2127795"/>
            <a:ext cx="226356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Noto Sans KR"/>
              </a:rPr>
              <a:t>3. 판단근거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341" y="2308770"/>
            <a:ext cx="2155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Noto Sans KR"/>
              </a:rPr>
              <a:t>위험도 등급 결정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21379" y="1899195"/>
            <a:ext cx="118616" cy="1524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48905" y="2127795"/>
            <a:ext cx="226356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Noto Sans KR"/>
              </a:rPr>
              <a:t>4. 맞춤 알림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2799" y="2308770"/>
            <a:ext cx="2155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Noto Sans KR"/>
              </a:rPr>
              <a:t>피해자·신뢰인 전달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0237" y="3166020"/>
            <a:ext cx="2838450" cy="3429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52004" y="4156620"/>
            <a:ext cx="118616" cy="152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9530" y="4385220"/>
            <a:ext cx="226356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B45309"/>
                </a:solidFill>
                <a:latin typeface="Noto Sans KR"/>
              </a:rPr>
              <a:t>5. 신뢰인 검토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425" y="4566195"/>
            <a:ext cx="2155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78350F"/>
                </a:solidFill>
                <a:latin typeface="Noto Sans KR"/>
              </a:rPr>
              <a:t>해당 거래 최종 승인/거절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08462" y="4156620"/>
            <a:ext cx="118616" cy="1524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535988" y="4385220"/>
            <a:ext cx="226356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Noto Sans KR"/>
              </a:rPr>
              <a:t>6. 금융기관 검증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9883" y="4566195"/>
            <a:ext cx="2155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Noto Sans KR"/>
              </a:rPr>
              <a:t>보안·FDS 독립 판단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64921" y="4156620"/>
            <a:ext cx="118616" cy="1524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392447" y="4385220"/>
            <a:ext cx="226356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Noto Sans KR"/>
              </a:rPr>
              <a:t>7. 공식기관 진위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341" y="4566195"/>
            <a:ext cx="2155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Noto Sans KR"/>
              </a:rPr>
              <a:t>사칭 여부 RAG 확인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21379" y="4156620"/>
            <a:ext cx="118616" cy="1524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248905" y="4385220"/>
            <a:ext cx="226356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Noto Sans KR"/>
              </a:rPr>
              <a:t>8. 최종 거래 처리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02799" y="4566195"/>
            <a:ext cx="2155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CBD5E1"/>
                </a:solidFill>
                <a:latin typeface="Noto Sans KR"/>
              </a:rPr>
              <a:t>실행 / 차단 / 보류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8200" y="5442495"/>
            <a:ext cx="118616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24600"/>
            <a:ext cx="11049000" cy="295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27808"/>
            <a:ext cx="3530649" cy="3286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227808"/>
            <a:ext cx="3530649" cy="3286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227808"/>
            <a:ext cx="3530649" cy="3286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874" y="3923258"/>
            <a:ext cx="3054399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4609058"/>
            <a:ext cx="3054399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3923258"/>
            <a:ext cx="3054399" cy="11694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049000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Noto Sans KR"/>
              </a:rPr>
              <a:t>AI 통화 위험 분석: ML + LLM 하이브리드 엔진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4526" y="533400"/>
            <a:ext cx="1355973" cy="274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6448425"/>
            <a:ext cx="1424136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AI 독립검증형 송금방지턱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0928" y="6462712"/>
            <a:ext cx="61957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Slide 4 / 10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2523083"/>
            <a:ext cx="514350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625" y="3227933"/>
            <a:ext cx="18525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KR"/>
              </a:rPr>
              <a:t>STEP 1. 데이터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580358"/>
            <a:ext cx="244509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Noto Sans KR"/>
              </a:rPr>
              <a:t>통화 음성 데이터 정제 및 Feature 추출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68874" y="2523083"/>
            <a:ext cx="514350" cy="514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68874" y="3227933"/>
            <a:ext cx="2576728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KR"/>
              </a:rPr>
              <a:t>STEP 2. ML + LLM 독립분석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874" y="3580358"/>
            <a:ext cx="234166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0369A1"/>
                </a:solidFill>
                <a:latin typeface="Noto Sans KR SemiBold"/>
              </a:rPr>
              <a:t>수치적 확률과 맥락적 요인 동시 분석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8124" y="2523083"/>
            <a:ext cx="514350" cy="514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8124" y="3227933"/>
            <a:ext cx="16525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KR"/>
              </a:rPr>
              <a:t>STEP 3. 결과 종합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8124" y="3580358"/>
            <a:ext cx="18819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Noto Sans KR"/>
              </a:rPr>
              <a:t>Risk Fusion Engine 종합 진단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800" y="2665958"/>
            <a:ext cx="177849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3450" y="3922305"/>
            <a:ext cx="47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Noto Sans K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075" y="3923258"/>
            <a:ext cx="1939974" cy="19809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Noto Sans KR"/>
              </a:rPr>
              <a:t>STT API 기반 실시간 텍스트 변환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" y="4120395"/>
            <a:ext cx="47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Noto Sans K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075" y="4121348"/>
            <a:ext cx="1939974" cy="19809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Noto Sans KR"/>
              </a:rPr>
              <a:t>기관사칭 / 긴급성 / 압박 요소 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450" y="4318486"/>
            <a:ext cx="47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Noto Sans K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075" y="4319438"/>
            <a:ext cx="1939974" cy="19809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Noto Sans KR"/>
              </a:rPr>
              <a:t>개인정보 요구 / 비밀유지 강요 추출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450" y="4516576"/>
            <a:ext cx="47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Noto Sans K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075" y="4517528"/>
            <a:ext cx="1939974" cy="19809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Noto Sans KR"/>
              </a:rPr>
              <a:t>외부 확인 차단 시도 키워드 분류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7050" y="2665958"/>
            <a:ext cx="177849" cy="228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92699" y="4066133"/>
            <a:ext cx="49991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Noto Sans KR"/>
              </a:rPr>
              <a:t>ML 모델: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2699" y="4066133"/>
            <a:ext cx="275093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Noto Sans KR"/>
              </a:rPr>
              <a:t>정형 Feature 기반 보이스피싱 위험 확률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2699" y="4751933"/>
            <a:ext cx="577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Noto Sans KR"/>
              </a:rPr>
              <a:t>LLM 모델: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2699" y="4751933"/>
            <a:ext cx="271849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Noto Sans KR"/>
              </a:rPr>
              <a:t>대화 전체 맥락 파악 및 구체적 위험 근거 추론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96300" y="2665958"/>
            <a:ext cx="177849" cy="228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470999" y="4094708"/>
            <a:ext cx="423416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Noto Sans KR"/>
              </a:rPr>
              <a:t>ML 역할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0999" y="4247108"/>
            <a:ext cx="2768649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0F172A"/>
                </a:solidFill>
                <a:latin typeface="Noto Sans KR"/>
              </a:rPr>
              <a:t>"얼마나 위험한가?" (Score)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0999" y="4584203"/>
            <a:ext cx="4953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97706"/>
                </a:solidFill>
                <a:latin typeface="Noto Sans KR"/>
              </a:rPr>
              <a:t>LLM 역할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0999" y="4736603"/>
            <a:ext cx="2768649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0F172A"/>
                </a:solidFill>
                <a:latin typeface="Noto Sans KR"/>
              </a:rPr>
              <a:t>"왜 위험한가?" (Reasoning)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24600"/>
            <a:ext cx="11049000" cy="295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54389"/>
            <a:ext cx="11049000" cy="504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049000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Noto Sans KR"/>
              </a:rPr>
              <a:t>위험도 기반 자동 개입 시스템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8469" y="533400"/>
            <a:ext cx="1482030" cy="2742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882526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Noto Sans KR"/>
              </a:rPr>
              <a:t>AI 단순 분석에 그치지 않고, 진단된 위험 수준에 따라 자동으로 시스템 조치 행위(Intervention)가 결정됩니다.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2273051"/>
            <a:ext cx="11049000" cy="284321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" y="2273051"/>
          <a:ext cx="11039473" cy="2843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55861"/>
                <a:gridCol w="4967733"/>
                <a:gridCol w="4415879"/>
              </a:tblGrid>
              <a:tr h="568642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위험 수준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시스템 개입 및 동작 방식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수행되는 핵심 조치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6864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Noto Sans KR"/>
                        </a:rPr>
                        <a:t>LOW (낮음)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oto Sans KR"/>
                        </a:rPr>
                        <a:t>사용자에게 실시간 분석 결과 및 안전 안내 제공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oto Sans KR"/>
                        </a:rPr>
                        <a:t>통화 화면 내 기본 안심 리포트 출력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864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854D0E"/>
                          </a:solidFill>
                          <a:latin typeface="Noto Sans KR"/>
                        </a:rPr>
                        <a:t>MEDIUM (의심)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oto Sans KR"/>
                        </a:rPr>
                        <a:t>사용자 대상 강한 경고팝업 및 재확인 절차 유도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oto Sans KR"/>
                        </a:rPr>
                        <a:t>통화 종료 권고, 이체 진입 시 경고 문구 강조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864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9A3412"/>
                          </a:solidFill>
                          <a:latin typeface="Noto Sans KR"/>
                        </a:rPr>
                        <a:t>HIGH (높음)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oto Sans KR"/>
                        </a:rPr>
                        <a:t>본인 경고 + 사전 등록 신뢰인에게 비상 알림 발송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oto Sans KR"/>
                        </a:rPr>
                        <a:t>신뢰인에게 AI 위험 분석 브리핑 전달 및 검토 준비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8644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991B1B"/>
                          </a:solidFill>
                          <a:latin typeface="Noto Sans KR"/>
                        </a:rPr>
                        <a:t>CRITICAL (매우 높음)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oto Sans KR"/>
                        </a:rPr>
                        <a:t>신뢰인 + 금융관계자 즉시 개입, 필요 시 공식기관 검증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Noto Sans KR"/>
                        </a:rPr>
                        <a:t>거래 일시 보류 (송금방지턱)</a:t>
                      </a:r>
                      <a:r>
                        <a:rPr b="0" sz="1125" i="0" u="none">
                          <a:solidFill>
                            <a:srgbClr val="334155"/>
                          </a:solidFill>
                          <a:latin typeface="Noto Sans KR"/>
                        </a:rPr>
                        <a:t> + FDS 긴급 공유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1500" y="6448425"/>
            <a:ext cx="1424136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AI 독립검증형 송금방지턱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928" y="6462712"/>
            <a:ext cx="61957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Slide 5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5516314"/>
            <a:ext cx="199251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Noto Sans KR"/>
              </a:rPr>
              <a:t>Intervention Engine 매커니즘: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9351" y="5521076"/>
            <a:ext cx="442302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Noto Sans KR SemiBold"/>
              </a:rPr>
              <a:t>AI 분석 → 위험등급 결정 → 알림 대상 결정 → 정보 전달 → 개입 조치 실행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262" y="3301751"/>
            <a:ext cx="16558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32124" y="3301751"/>
            <a:ext cx="49677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99858" y="3301751"/>
            <a:ext cx="44158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262" y="3830389"/>
            <a:ext cx="16558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32124" y="3830389"/>
            <a:ext cx="49677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99858" y="3830389"/>
            <a:ext cx="44158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262" y="4359026"/>
            <a:ext cx="16558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2124" y="4359026"/>
            <a:ext cx="49677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99858" y="4359026"/>
            <a:ext cx="44158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39801"/>
            <a:ext cx="843855" cy="2190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468439"/>
            <a:ext cx="10572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3997076"/>
            <a:ext cx="864691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4525714"/>
            <a:ext cx="1152376" cy="4333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24600"/>
            <a:ext cx="11049000" cy="295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021014"/>
            <a:ext cx="11049000" cy="5953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25414"/>
            <a:ext cx="5429250" cy="1162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125414"/>
            <a:ext cx="5429250" cy="1162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77964"/>
            <a:ext cx="5429250" cy="1162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3477964"/>
            <a:ext cx="5429250" cy="1162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049000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Noto Sans KR"/>
              </a:rPr>
              <a:t>역할별 맞춤 알림 및 검증 권한 체계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0921" y="533400"/>
            <a:ext cx="1869578" cy="2742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6448425"/>
            <a:ext cx="1424136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AI 독립검증형 송금방지턱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928" y="6462712"/>
            <a:ext cx="61957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Slide 6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5211514"/>
            <a:ext cx="10553700" cy="214312"/>
          </a:xfrm>
          <a:prstGeom prst="rect">
            <a:avLst/>
          </a:prstGeom>
          <a:noFill/>
        </p:spPr>
        <p:txBody>
          <a:bodyPr wrap="square" lIns="187374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Noto Sans KR Black"/>
              </a:rPr>
              <a:t>개인정보 최소 전달 원칙:</a:t>
            </a:r>
            <a:r>
              <a:rPr b="0" sz="1125" i="0" u="none">
                <a:solidFill>
                  <a:srgbClr val="334155"/>
                </a:solidFill>
                <a:latin typeface="Noto Sans KR SemiBold"/>
              </a:rPr>
              <a:t> 똑같은 분석 결과를 전파하지 않고, 각 주체에게 필요한 정보만 최소화하여 차등 전달함으로써 프라이버시를 완벽히 보호합니다.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2668339"/>
            <a:ext cx="502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Noto Sans KR"/>
              </a:rPr>
              <a:t>전달 정보: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위험도, 핵심 위험 근거, 즉시 행동 지침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2915989"/>
            <a:ext cx="502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Noto Sans KR Black"/>
              </a:rPr>
              <a:t>역할·권한:</a:t>
            </a:r>
            <a:r>
              <a:rPr b="0" sz="1050" i="0" u="none">
                <a:solidFill>
                  <a:srgbClr val="0284C7"/>
                </a:solidFill>
                <a:latin typeface="Noto Sans KR SemiBold"/>
              </a:rPr>
              <a:t> 통화 종료, 송금 취소, 사실 재확인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2668339"/>
            <a:ext cx="502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13F12"/>
                </a:solidFill>
                <a:latin typeface="Noto Sans KR"/>
              </a:rPr>
              <a:t>전달 정보:</a:t>
            </a:r>
            <a:r>
              <a:rPr b="0" sz="1050" i="0" u="none">
                <a:solidFill>
                  <a:srgbClr val="713F12"/>
                </a:solidFill>
                <a:latin typeface="Noto Sans KR"/>
              </a:rPr>
              <a:t> 위험상황 요약, AI 판단근거, 해당 거래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2915989"/>
            <a:ext cx="502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D97706"/>
                </a:solidFill>
                <a:latin typeface="Noto Sans KR Black"/>
              </a:rPr>
              <a:t>역할·권한:</a:t>
            </a:r>
            <a:r>
              <a:rPr b="1" sz="1050" i="0" u="none">
                <a:solidFill>
                  <a:srgbClr val="D97706"/>
                </a:solidFill>
                <a:latin typeface="Noto Sans KR"/>
              </a:rPr>
              <a:t> 해당 송금 건 최종 검토 및 승인 / 거절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4020889"/>
            <a:ext cx="502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Noto Sans KR"/>
              </a:rPr>
              <a:t>전달 정보:</a:t>
            </a:r>
            <a:r>
              <a:rPr b="0" sz="1050" i="0" u="none">
                <a:solidFill>
                  <a:srgbClr val="166534"/>
                </a:solidFill>
                <a:latin typeface="Noto Sans KR"/>
              </a:rPr>
              <a:t> 거래위험 스코어, 의심 패턴, 핵심 금융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4268539"/>
            <a:ext cx="502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5803D"/>
                </a:solidFill>
                <a:latin typeface="Noto Sans KR Black"/>
              </a:rPr>
              <a:t>역할·권한:</a:t>
            </a:r>
            <a:r>
              <a:rPr b="0" sz="1050" i="0" u="none">
                <a:solidFill>
                  <a:srgbClr val="15803D"/>
                </a:solidFill>
                <a:latin typeface="Noto Sans KR SemiBold"/>
              </a:rPr>
              <a:t> 거래 보류, 추가본인확인, 지급정지 보호조치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4020889"/>
            <a:ext cx="502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Noto Sans KR"/>
              </a:rPr>
              <a:t>전달 정보: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사칭 내용, 상대방 주장, 공식 확인 사항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4268539"/>
            <a:ext cx="502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Noto Sans KR Black"/>
              </a:rPr>
              <a:t>역할·권한:</a:t>
            </a:r>
            <a:r>
              <a:rPr b="0" sz="1050" i="0" u="none">
                <a:solidFill>
                  <a:srgbClr val="334155"/>
                </a:solidFill>
                <a:latin typeface="Noto Sans KR SemiBold"/>
              </a:rPr>
              <a:t> 실제 기관 공식 연락 여부 진위 검증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5249614"/>
            <a:ext cx="111174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2344489"/>
            <a:ext cx="148232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15007" y="2325439"/>
            <a:ext cx="9502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피해자 본인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2344489"/>
            <a:ext cx="148232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34757" y="2325439"/>
            <a:ext cx="136032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8350F"/>
                </a:solidFill>
                <a:latin typeface="Noto Sans KR"/>
              </a:rPr>
              <a:t>사전 등록 신뢰인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3697039"/>
            <a:ext cx="148232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15007" y="3677989"/>
            <a:ext cx="18902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Noto Sans KR"/>
              </a:rPr>
              <a:t>금융 관계자 (은행/FDS)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275" y="3697039"/>
            <a:ext cx="148232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34757" y="3677989"/>
            <a:ext cx="136032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공식 기관 담당자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84970"/>
            <a:ext cx="5048250" cy="676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645"/>
            <a:ext cx="5048250" cy="676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804320"/>
            <a:ext cx="504825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42320"/>
            <a:ext cx="24765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50" y="4042320"/>
            <a:ext cx="24765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482030"/>
            <a:ext cx="5048250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Noto Sans KR"/>
              </a:rPr>
              <a:t>신뢰인 최종검토형 송금방지턱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023020"/>
            <a:ext cx="124241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Noto Sans KR"/>
              </a:rPr>
              <a:t>Core Differentiator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375" y="2527845"/>
            <a:ext cx="809773" cy="161925"/>
          </a:xfrm>
          <a:prstGeom prst="rect">
            <a:avLst/>
          </a:prstGeom>
          <a:noFill/>
        </p:spPr>
        <p:txBody>
          <a:bodyPr wrap="square" lIns="111174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Noto Sans KR"/>
              </a:rPr>
              <a:t>사전 설정: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274692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Noto Sans KR"/>
              </a:rPr>
              <a:t>평상시 보호자/가족 등록 + 특정 위험 거래 시 '최종 검토 권한' 사전 동의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3356520"/>
            <a:ext cx="1317724" cy="161925"/>
          </a:xfrm>
          <a:prstGeom prst="rect">
            <a:avLst/>
          </a:prstGeom>
          <a:noFill/>
        </p:spPr>
        <p:txBody>
          <a:bodyPr wrap="square" lIns="111174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Noto Sans KR"/>
              </a:rPr>
              <a:t>위험 송금 발생 시: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3575595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8350F"/>
                </a:solidFill>
                <a:latin typeface="Noto Sans KR"/>
              </a:rPr>
              <a:t>즉시 송금 금지 → </a:t>
            </a:r>
            <a:r>
              <a:rPr b="1" sz="975" i="0" u="none">
                <a:solidFill>
                  <a:srgbClr val="78350F"/>
                </a:solidFill>
                <a:latin typeface="Noto Sans KR"/>
              </a:rPr>
              <a:t>[거래 일시 보류]</a:t>
            </a:r>
            <a:r>
              <a:rPr b="0" sz="975" i="0" u="none">
                <a:solidFill>
                  <a:srgbClr val="78350F"/>
                </a:solidFill>
                <a:latin typeface="Noto Sans KR"/>
              </a:rPr>
              <a:t> → 신뢰인에게 AI분석 결과 및 승인 요청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4918620"/>
            <a:ext cx="47148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1E40AF"/>
                </a:solidFill>
                <a:latin typeface="Noto Sans KR"/>
              </a:rPr>
              <a:t>* </a:t>
            </a:r>
            <a:r>
              <a:rPr b="1" sz="900" i="0" u="none">
                <a:solidFill>
                  <a:srgbClr val="1E40AF"/>
                </a:solidFill>
                <a:latin typeface="Noto Sans KR"/>
              </a:rPr>
              <a:t>주의:</a:t>
            </a:r>
            <a:r>
              <a:rPr b="0" sz="900" i="0" u="none">
                <a:solidFill>
                  <a:srgbClr val="1E40AF"/>
                </a:solidFill>
                <a:latin typeface="Noto Sans KR"/>
              </a:rPr>
              <a:t> 계좌 전체 관리 권한 상속이 아닌, 위험이 감지된 </a:t>
            </a:r>
            <a:r>
              <a:rPr b="1" sz="900" i="0" u="none">
                <a:solidFill>
                  <a:srgbClr val="1E40AF"/>
                </a:solidFill>
                <a:latin typeface="Noto Sans KR"/>
              </a:rPr>
              <a:t>'해당 거래 건별 최종 검토 권한'</a:t>
            </a:r>
            <a:r>
              <a:rPr b="0" sz="900" i="0" u="none">
                <a:solidFill>
                  <a:srgbClr val="1E40AF"/>
                </a:solidFill>
                <a:latin typeface="Noto Sans KR"/>
              </a:rPr>
              <a:t>만 한정 수여하여 오남용 방지.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2546895"/>
            <a:ext cx="111174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3375570"/>
            <a:ext cx="111174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94817" y="4175670"/>
            <a:ext cx="82971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66534"/>
                </a:solidFill>
                <a:latin typeface="Noto Sans KR"/>
              </a:rPr>
              <a:t>[승인] 선택 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4366170"/>
            <a:ext cx="2228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15803D"/>
                </a:solidFill>
                <a:latin typeface="Noto Sans KR"/>
              </a:rPr>
              <a:t>다음 금융기관 검증 단계 이동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6567" y="4175670"/>
            <a:ext cx="82971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991B1B"/>
                </a:solidFill>
                <a:latin typeface="Noto Sans KR"/>
              </a:rPr>
              <a:t>[거절] 선택 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7075" y="4366170"/>
            <a:ext cx="2228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B91C1C"/>
                </a:solidFill>
                <a:latin typeface="Noto Sans KR"/>
              </a:rPr>
              <a:t>송금 즉시 중단 및 원금 보호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24600"/>
            <a:ext cx="11049000" cy="295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39379"/>
            <a:ext cx="5334000" cy="18362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66120"/>
            <a:ext cx="5334000" cy="18362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775620"/>
            <a:ext cx="53340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213645"/>
            <a:ext cx="485775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5240387"/>
            <a:ext cx="4857750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049000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Noto Sans KR"/>
              </a:rPr>
              <a:t>금융기관 및 공식기관 다중 안전장치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6034" y="533400"/>
            <a:ext cx="1674465" cy="2742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6448425"/>
            <a:ext cx="1424136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AI 독립검증형 송금방지턱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928" y="6462712"/>
            <a:ext cx="61957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Slide 8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672804"/>
            <a:ext cx="48577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KR"/>
              </a:rPr>
              <a:t>신뢰인이 승인하더라도 금융기관의 보안 판단(FDS)은 독립적으로 작용합니다. </a:t>
            </a:r>
            <a:r>
              <a:t>
</a:t>
            </a:r>
            <a:r>
              <a:rPr b="1" sz="1050" i="0" u="none">
                <a:solidFill>
                  <a:srgbClr val="475569"/>
                </a:solidFill>
                <a:latin typeface="Noto Sans KR"/>
              </a:rPr>
              <a:t>신뢰인 승인 ≠ 금융보안 무조건 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699545"/>
            <a:ext cx="48577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KR"/>
              </a:rPr>
              <a:t>기관 사칭 탐지 시 공식 DB / RAG 시스템 조회를 통해 실제 기관 연락이 맞는지 진위를 자동으로 판별합니다.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6025" y="3785145"/>
            <a:ext cx="2227808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2177504"/>
            <a:ext cx="38100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04925" y="2239416"/>
            <a:ext cx="193383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KR"/>
              </a:rPr>
              <a:t>1. 금융기관 독립 검증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" y="4204245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04925" y="4266158"/>
            <a:ext cx="233388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KR"/>
              </a:rPr>
              <a:t>2. 공식기관 자동 진위확인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301" y="2282279"/>
            <a:ext cx="133498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3301" y="4309020"/>
            <a:ext cx="133498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24600"/>
            <a:ext cx="11049000" cy="295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0208"/>
            <a:ext cx="5410200" cy="2352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801689"/>
            <a:ext cx="5410200" cy="15097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942183"/>
            <a:ext cx="2447925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4225" y="2942183"/>
            <a:ext cx="2447925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3361283"/>
            <a:ext cx="2447925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225" y="3361283"/>
            <a:ext cx="2447925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3780383"/>
            <a:ext cx="2447925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4225" y="3780383"/>
            <a:ext cx="2447925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050" y="4199483"/>
            <a:ext cx="2447925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4225" y="4199483"/>
            <a:ext cx="2447925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049000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Noto Sans KR"/>
              </a:rPr>
              <a:t>기능·기술 파이프라인 및 작동 트리거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45737" y="533400"/>
            <a:ext cx="1674762" cy="27429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6448425"/>
            <a:ext cx="1424136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AI 독립검증형 송금방지턱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0928" y="6462712"/>
            <a:ext cx="61957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Slide 9 / 10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525" y="6086475"/>
            <a:ext cx="103733" cy="133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8516" y="6067425"/>
            <a:ext cx="131876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Noto Sans KR"/>
              </a:rPr>
              <a:t>프라이버시 보장 구조: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2589758"/>
            <a:ext cx="5240655" cy="219075"/>
          </a:xfrm>
          <a:prstGeom prst="rect">
            <a:avLst/>
          </a:prstGeom>
          <a:noFill/>
        </p:spPr>
        <p:txBody>
          <a:bodyPr wrap="square" lIns="126057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8BDF8"/>
                </a:solidFill>
                <a:latin typeface="Noto Sans KR"/>
              </a:rPr>
              <a:t>8대 핵심 기술 모듈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020764"/>
            <a:ext cx="5220652" cy="190500"/>
          </a:xfrm>
          <a:prstGeom prst="rect">
            <a:avLst/>
          </a:prstGeom>
          <a:noFill/>
        </p:spPr>
        <p:txBody>
          <a:bodyPr wrap="square" lIns="126057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Noto Sans KR"/>
              </a:rPr>
              <a:t>Earliest Available Risk Trigger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1050" y="2618333"/>
            <a:ext cx="126057" cy="1619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29375" y="3030289"/>
            <a:ext cx="126057" cy="1619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81341" y="3344614"/>
            <a:ext cx="4720083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334155"/>
                </a:solidFill>
                <a:latin typeface="Noto Sans KR"/>
              </a:rPr>
              <a:t>전화 수신 직후:</a:t>
            </a:r>
            <a:r>
              <a:rPr b="0" sz="975" i="0" u="none">
                <a:solidFill>
                  <a:srgbClr val="334155"/>
                </a:solidFill>
                <a:latin typeface="Noto Sans KR"/>
              </a:rPr>
              <a:t> 통신사/ASAP DB 위험번호 감지 시 분석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1341" y="3625601"/>
            <a:ext cx="4720083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334155"/>
                </a:solidFill>
                <a:latin typeface="Noto Sans KR"/>
              </a:rPr>
              <a:t>통화 중 앱 진입:</a:t>
            </a:r>
            <a:r>
              <a:rPr b="0" sz="975" i="0" u="none">
                <a:solidFill>
                  <a:srgbClr val="334155"/>
                </a:solidFill>
                <a:latin typeface="Noto Sans KR"/>
              </a:rPr>
              <a:t> 통화 중 은행 앱 실행 및 이체 메뉴 접속 시 트리거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1341" y="3906589"/>
            <a:ext cx="4720083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334155"/>
                </a:solidFill>
                <a:latin typeface="Noto Sans KR"/>
              </a:rPr>
              <a:t>Window ML 적용:</a:t>
            </a:r>
            <a:r>
              <a:rPr b="0" sz="975" i="0" u="none">
                <a:solidFill>
                  <a:srgbClr val="334155"/>
                </a:solidFill>
                <a:latin typeface="Noto Sans KR"/>
              </a:rPr>
              <a:t> 통화 전체가 없어도 최근 몇 Turn만으로 위험 파악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9375" y="3363664"/>
            <a:ext cx="118616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9375" y="3644651"/>
            <a:ext cx="118616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9375" y="3925639"/>
            <a:ext cx="118616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95762"/>
            <a:ext cx="11049000" cy="923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477000"/>
            <a:ext cx="151908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Noto Sans KR"/>
              </a:rPr>
              <a:t>GuardRing AI — 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2021" y="6477000"/>
            <a:ext cx="68847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Noto Sans KR"/>
              </a:rPr>
              <a:t>Slide 10 / 10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8916" y="1738312"/>
            <a:ext cx="474166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5275" y="2538412"/>
            <a:ext cx="11601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600" i="0" u="none">
                <a:solidFill>
                  <a:srgbClr val="FFFFFF"/>
                </a:solidFill>
                <a:latin typeface="Noto Sans KR ExtraBold"/>
              </a:rPr>
              <a:t>보이스피싱 제로를 향한 다중 안전망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2250" y="3300412"/>
            <a:ext cx="6667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Noto Sans KR Light"/>
              </a:rPr>
              <a:t>AI의 정교한 탐지와 신뢰인의 따뜻한 보호, 금융기관의 강력한 보안이 함께 만듭니다.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326" y="4395787"/>
            <a:ext cx="1078134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Noto Sans KR"/>
              </a:rPr>
              <a:t>GuardRing AI / SafeGate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738687"/>
            <a:ext cx="102679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Noto Sans KR"/>
              </a:rPr>
              <a:t>AI 독립검증형 송금방지턱 솔루션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Noto Sans KR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258499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35652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3469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3469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1185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1185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2787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785020"/>
            <a:ext cx="9953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Noto Sans KR"/>
              </a:rPr>
              <a:t>https://securitybrief.com.au/uploads/story/2025/06/05/compatible_sleek-office-workspace-digital-screens-ai-protection-cybersecurity-hybrid-work.jpg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975520"/>
            <a:ext cx="99536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securitybrief.com.au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99395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556545"/>
            <a:ext cx="9953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Noto Sans KR"/>
              </a:rPr>
              <a:t>https://qarea.com/wp-content/uploads/2024/05/1-How-to-Create-a-Mobile-Banking-App.png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747045"/>
            <a:ext cx="99536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qarea.com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7092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328070"/>
            <a:ext cx="9953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Noto Sans KR"/>
              </a:rPr>
              <a:t>https://thebirmgroup.com/wp-content/uploads/2025/09/46e0daf9-65d6-42f3-92f5-89feb5aeee76.png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518570"/>
            <a:ext cx="99536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thebirmgroup.com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