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2" r:id="rId3"/>
    <p:sldId id="274" r:id="rId4"/>
    <p:sldId id="275" r:id="rId5"/>
    <p:sldId id="276" r:id="rId6"/>
    <p:sldId id="277" r:id="rId7"/>
    <p:sldId id="279" r:id="rId8"/>
    <p:sldId id="291" r:id="rId9"/>
    <p:sldId id="293" r:id="rId10"/>
    <p:sldId id="292" r:id="rId11"/>
    <p:sldId id="290" r:id="rId12"/>
    <p:sldId id="295" r:id="rId13"/>
    <p:sldId id="296" r:id="rId14"/>
    <p:sldId id="297" r:id="rId15"/>
    <p:sldId id="299" r:id="rId16"/>
    <p:sldId id="300" r:id="rId17"/>
    <p:sldId id="301" r:id="rId18"/>
    <p:sldId id="302" r:id="rId19"/>
    <p:sldId id="303" r:id="rId20"/>
    <p:sldId id="304" r:id="rId21"/>
    <p:sldId id="305" r:id="rId22"/>
    <p:sldId id="306" r:id="rId23"/>
    <p:sldId id="278" r:id="rId24"/>
    <p:sldId id="307" r:id="rId25"/>
    <p:sldId id="308" r:id="rId26"/>
    <p:sldId id="273" r:id="rId27"/>
    <p:sldId id="288" r:id="rId28"/>
    <p:sldId id="257" r:id="rId29"/>
    <p:sldId id="258" r:id="rId30"/>
    <p:sldId id="259" r:id="rId31"/>
    <p:sldId id="261" r:id="rId32"/>
    <p:sldId id="262" r:id="rId33"/>
    <p:sldId id="263" r:id="rId34"/>
    <p:sldId id="264" r:id="rId35"/>
    <p:sldId id="265" r:id="rId36"/>
    <p:sldId id="268" r:id="rId37"/>
    <p:sldId id="266" r:id="rId38"/>
    <p:sldId id="267" r:id="rId39"/>
    <p:sldId id="269" r:id="rId40"/>
    <p:sldId id="270" r:id="rId41"/>
    <p:sldId id="298" r:id="rId42"/>
    <p:sldId id="289" r:id="rId43"/>
    <p:sldId id="282" r:id="rId44"/>
    <p:sldId id="283" r:id="rId45"/>
    <p:sldId id="284" r:id="rId46"/>
    <p:sldId id="285" r:id="rId47"/>
    <p:sldId id="286" r:id="rId4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7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94C2C-DE73-45C1-BA1F-AB56F673D5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708468-4724-4881-963F-53BABAD698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8C4E91-E115-44FA-960E-C9C81AF11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6B842-BB4D-41B1-8242-250494DDD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46D85B-F868-409B-9DD5-14E5A0909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839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B9FE1-4611-411B-ABED-98CEB1C52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F91F50-F463-4F4F-8845-9A18F3F53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B9B37F-E058-43E7-AC96-DA2EA368F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E94B4-CC0F-44D3-85C0-CC49B2B57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CDE7F-20D7-439D-9488-62E8446D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0039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93136-F6CC-4452-BD48-D7D35E80B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03432D-274C-4725-906B-5EA860C780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66247-6889-4324-8204-E2C3F67E5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3E7B3-58C8-4EFF-A908-D6EDF4748B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53580E-867F-4FA9-BBAB-9B96E4892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9643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EEB0C-AAA5-4E52-AFA7-EA310AACA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715AF-24B1-4A20-B1FF-4D236B2DBF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3975BE-7D3D-4713-B550-684C8B6AE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E23BD3-E980-4423-BA32-C324E23F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E9AB9-8B50-4678-9924-9C659099A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4E85D9-E958-4009-BCEF-BBBE46AB7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0843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864A8-E4C5-4D2D-9A44-A2D4EFEAB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B0BBA-DB14-4248-A306-99867DC91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57C38-C322-4F8E-B891-24B8BCBDB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5F487-D580-4D68-8088-926F80310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859B7D-68E7-46A7-90A8-5D060B32A6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6A483F-6E72-4DBE-9F67-EE3EEE847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D4B517-D8A5-47DF-8CBD-0458039274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966D0E-665D-418F-8636-D2BFCCD09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87105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2B211-7CCC-46BC-9C3A-54C0DAE6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C59E32-7108-462E-94CE-E33124B07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876035-3DF9-4EAA-B7DC-7F07E9992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29BACE-589A-43E0-8F1D-10A8A0AB0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634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CDDB30-B534-4049-91C5-04E119CA7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794935C-A3B1-458E-A26D-3A14C3453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23806-4D6E-4DFD-802C-10AF290A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6750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93228-6301-4F50-BBE5-9D55CA819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DD139-449C-4D8A-8BBD-1BD37877F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8ACA29-8A9C-41EC-B1CB-B7331CE37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6BE12E-6A97-4D8F-B89C-0802CB434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777114-2EC1-435B-89F9-EED92E45C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FE424-8BCE-41C3-9736-0A33C4A2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3074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1A759-E34B-4468-B314-891B8C7E91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448589-48B0-4339-B95F-88D1BB0EC9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A2F595-AFA2-4FB1-AF0B-C50965919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50344-3C06-4209-84EA-1C831E7B2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F256EF-E710-47DF-8E93-0F36BE869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D8A444-F704-4C4C-8832-A4751A84B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255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55866-FDD3-4BEE-8139-F2E9B6BD6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F118A1-2B05-49A2-8561-9CB6A58A9C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0F6FD7-4D6A-4263-8680-9E6F8951B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8803-F7B6-4C4A-ADB8-146B86833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2A4C8-8677-4833-B438-1C6F756F2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05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C12FE1F-1AD3-40F8-946E-CFB629F5DD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F0E02B-0402-4819-B91E-78568FBAA7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4E24-81E1-4666-8BD4-D111290C7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3E0BE1-0D48-4494-9505-388DE7654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1143E-618B-4419-8DB2-6A9CA17AF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624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958376-8D70-49DE-8D90-F879D34810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CF8E94-FA2A-418C-B721-1B9A9959A5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E92B-6FB7-4BF3-80B8-1D38031193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CAAF83-EAB9-43B3-B51E-EE2A745154B4}" type="datetimeFigureOut">
              <a:rPr lang="ko-KR" altLang="en-US" smtClean="0"/>
              <a:t>2026-08-24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3372E8-1F48-4D80-B206-7AA77FFCCC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92A54-E67B-423A-923A-80F39DFAA4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A218BA-0230-45FD-8748-AEFFE8EAB1D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60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EFB7FD-65A7-42B5-8A14-5DD661F9E0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제안서</a:t>
            </a:r>
            <a:r>
              <a:rPr lang="en-US" altLang="ko-KR" dirty="0"/>
              <a:t>&amp;</a:t>
            </a:r>
            <a:r>
              <a:rPr lang="ko-KR" altLang="en-US" dirty="0"/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1305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778" y="4106778"/>
            <a:ext cx="3509210" cy="2252163"/>
          </a:xfrm>
        </p:spPr>
        <p:txBody>
          <a:bodyPr>
            <a:normAutofit/>
          </a:bodyPr>
          <a:lstStyle/>
          <a:p>
            <a:r>
              <a:rPr lang="ko-KR" altLang="en-US" sz="2800" dirty="0"/>
              <a:t>현황분석</a:t>
            </a:r>
            <a:br>
              <a:rPr lang="en-US" altLang="ko-KR" sz="2800" dirty="0"/>
            </a:br>
            <a:r>
              <a:rPr lang="ko-KR" altLang="en-US" sz="2800" dirty="0"/>
              <a:t>문제인식</a:t>
            </a:r>
            <a:br>
              <a:rPr lang="en-US" altLang="ko-KR" sz="2800" dirty="0"/>
            </a:br>
            <a:r>
              <a:rPr lang="ko-KR" altLang="en-US" sz="2800" dirty="0"/>
              <a:t>타겟분석</a:t>
            </a:r>
            <a:br>
              <a:rPr lang="en-US" altLang="ko-KR" sz="2800" dirty="0"/>
            </a:br>
            <a:r>
              <a:rPr lang="ko-KR" altLang="en-US" sz="2800" dirty="0"/>
              <a:t>인사이트</a:t>
            </a:r>
            <a:br>
              <a:rPr lang="en-US" altLang="ko-KR" sz="2800" dirty="0"/>
            </a:br>
            <a:r>
              <a:rPr lang="ko-KR" altLang="en-US" sz="2800" dirty="0"/>
              <a:t>해결방안</a:t>
            </a:r>
          </a:p>
        </p:txBody>
      </p:sp>
    </p:spTree>
    <p:extLst>
      <p:ext uri="{BB962C8B-B14F-4D97-AF65-F5344CB8AC3E}">
        <p14:creationId xmlns:p14="http://schemas.microsoft.com/office/powerpoint/2010/main" val="4409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8A89638-E8C0-4346-A9F8-551EE78C4A79}"/>
              </a:ext>
            </a:extLst>
          </p:cNvPr>
          <p:cNvSpPr txBox="1"/>
          <p:nvPr/>
        </p:nvSpPr>
        <p:spPr>
          <a:xfrm>
            <a:off x="529389" y="479446"/>
            <a:ext cx="77002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전체 제안서 흐름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dirty="0"/>
              <a:t>심각하다 → 이미 많이 막고 있다 → 그런데 왜 아직도 피해가 생기지</a:t>
            </a:r>
            <a:r>
              <a:rPr lang="en-US" altLang="ko-KR" dirty="0"/>
              <a:t>? → </a:t>
            </a:r>
            <a:r>
              <a:rPr lang="ko-KR" altLang="en-US" dirty="0"/>
              <a:t>기존 대응이 놓치는 지점이 있다 → 그 지점을 분석해보니 ‘판단이 무너지는 순간’이었다 → 스스로 판단이 어려우니 →</a:t>
            </a:r>
            <a:r>
              <a:rPr lang="en-US" altLang="ko-KR" dirty="0"/>
              <a:t> </a:t>
            </a:r>
            <a:r>
              <a:rPr lang="ko-KR" altLang="en-US" dirty="0"/>
              <a:t>그 순간에 방지턱을 넣자</a:t>
            </a:r>
          </a:p>
        </p:txBody>
      </p:sp>
    </p:spTree>
    <p:extLst>
      <p:ext uri="{BB962C8B-B14F-4D97-AF65-F5344CB8AC3E}">
        <p14:creationId xmlns:p14="http://schemas.microsoft.com/office/powerpoint/2010/main" val="139571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C72C21D-1B0D-4DD3-8C85-4693EDDCDE5A}"/>
              </a:ext>
            </a:extLst>
          </p:cNvPr>
          <p:cNvSpPr txBox="1"/>
          <p:nvPr/>
        </p:nvSpPr>
        <p:spPr>
          <a:xfrm>
            <a:off x="641684" y="381815"/>
            <a:ext cx="60960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1P. Cover / 문제의식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 1원이라도, 그 누구도 피해를 봐서는 안 된다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보이스피싱으로부터 금융소비자의</a:t>
            </a:r>
            <a:b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‘판단’과 ‘송금’을 함께 보호하는 AI 금융안전 서비스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서비스명:</a:t>
            </a:r>
            <a:r>
              <a:rPr lang="en-US" altLang="ko-KR" sz="1600" b="1" dirty="0">
                <a:latin typeface="Arial" panose="020B0604020202020204" pitchFamily="34" charset="0"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독립검증형 송금방지턱</a:t>
            </a:r>
            <a:r>
              <a:rPr lang="en-US" altLang="ko-KR" sz="1600" b="1" dirty="0">
                <a:latin typeface="Arial" panose="020B0604020202020204" pitchFamily="34" charset="0"/>
              </a:rPr>
              <a:t>(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가칭</a:t>
            </a:r>
            <a:r>
              <a:rPr lang="en-US" altLang="ko-KR" sz="1600" b="1" dirty="0">
                <a:latin typeface="Arial" panose="020B0604020202020204" pitchFamily="34" charset="0"/>
              </a:rPr>
              <a:t>)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2800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513348" y="546438"/>
            <a:ext cx="6096000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Ⅰ. 현황분석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2P. 보이스피싱은 여전히 심각한 금융범죄다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질문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“얼마나 심각한가?”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여기는 순수하게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통계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넣을 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연도별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피해건수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1인당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주요 피해유형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등 주요 유형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 현황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메시지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보이스피싱은 지금도 개인의 금융자산과 금융 신뢰를 위협하는 중대한 문제다.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단,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계속 증가하고 있다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는 표현은 실제 최신 통계가 증가 추세를 보여줄 때만 사용해야 해.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55239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487948" y="228600"/>
            <a:ext cx="8440152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Ⅰ. 현황분석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3P. 그래서 금융권과 사회는 이미 많은 노력을 하고 있다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“아무도 해결하지 않고 있다”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식으로 가면 안 돼.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ko-KR" sz="1400" dirty="0">
                <a:latin typeface="Arial" panose="020B0604020202020204" pitchFamily="34" charset="0"/>
              </a:rPr>
              <a:t>ASAP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지연이체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지급정지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고액이체 추가확인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여신거래 안심차단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예방 기능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정부·공공기관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신고체계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예방교육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피해구제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계좌 지급정지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통신사·보안기업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스팸번호 탐지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악성앱 차단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의심 문자/전화 탐지 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이러한 대응은 일정한 예방 성과를 내고 있다.”</a:t>
            </a:r>
            <a:r>
              <a:rPr lang="en-US" altLang="ko-KR" sz="1400" dirty="0"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데이터로 제시.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메시지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 다양한 주체가 보이스피싱을 막기 위한 강력한 안전장치를 구축하고 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0900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4B65677-FD71-4FBA-B4EF-4518D22075E6}"/>
              </a:ext>
            </a:extLst>
          </p:cNvPr>
          <p:cNvSpPr txBox="1"/>
          <p:nvPr/>
        </p:nvSpPr>
        <p:spPr>
          <a:xfrm>
            <a:off x="487948" y="228600"/>
            <a:ext cx="844015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4P. 그런데도 피해는 사라지지 않는다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“그런데, 왜 아직도 피해가 발생할까?”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이미 다양한 예방·탐지·차단 장치가 있음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성과도 있음 </a:t>
            </a:r>
          </a:p>
          <a:p>
            <a:pPr lvl="1" eaLnBrk="0" fontAlgn="base" latinLnBrk="0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그럼에도 피해는 계속 발생 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안전장치가 충분히 보호하지 못하는 순간이 있는 것은 아닐까?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5178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A05525-DB5C-4589-A775-39ED7975E76A}"/>
              </a:ext>
            </a:extLst>
          </p:cNvPr>
          <p:cNvSpPr txBox="1"/>
          <p:nvPr/>
        </p:nvSpPr>
        <p:spPr>
          <a:xfrm>
            <a:off x="306162" y="151179"/>
            <a:ext cx="609872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400" dirty="0"/>
              <a:t>기존 대응이 놓치는 것은 </a:t>
            </a:r>
            <a:r>
              <a:rPr lang="ko-KR" altLang="en-US" sz="1400" b="1" dirty="0"/>
              <a:t>‘통화 내용의 진위판단’</a:t>
            </a:r>
            <a:endParaRPr lang="en-US" altLang="ko-KR" sz="1400" b="1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예방교육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스팸차단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접촉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의심번호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악성앱 탐지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·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설득 과정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"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사람이 하는 말이 진짜인가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?"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맥락의 판단 공백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━━━━━━━━━━━━━━━━━━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  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금융거래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 / ASAP /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지연이체 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 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추가확인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127739-0D7E-4212-B39E-A69016A711D8}"/>
              </a:ext>
            </a:extLst>
          </p:cNvPr>
          <p:cNvSpPr txBox="1"/>
          <p:nvPr/>
        </p:nvSpPr>
        <p:spPr>
          <a:xfrm>
            <a:off x="308882" y="4355869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금융거래 단계에서는 다양한 보호장치가 작동하지만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통화 속 상대방의 주장과 상황 자체가 진짜인지 판단하는 과정은 여전히 사용자에게 크게 의존한다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18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CD04377-682D-4782-B065-899DE80AD087}"/>
              </a:ext>
            </a:extLst>
          </p:cNvPr>
          <p:cNvSpPr txBox="1"/>
          <p:nvPr/>
        </p:nvSpPr>
        <p:spPr>
          <a:xfrm>
            <a:off x="453118" y="455083"/>
            <a:ext cx="61109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b="1" dirty="0"/>
              <a:t>같은 공격에도 사람마다 취약해지는 이유는 다르다</a:t>
            </a:r>
          </a:p>
          <a:p>
            <a:r>
              <a:rPr lang="ko-KR" altLang="en-US" sz="1400" dirty="0"/>
              <a:t>타겟 분석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b="1" dirty="0"/>
              <a:t>20</a:t>
            </a:r>
            <a:r>
              <a:rPr lang="ko-KR" altLang="en-US" sz="1400" b="1" dirty="0"/>
              <a:t>대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사회초년생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대학생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자립준비청년</a:t>
            </a:r>
          </a:p>
          <a:p>
            <a:r>
              <a:rPr lang="ko-KR" altLang="en-US" sz="1400" b="1" dirty="0"/>
              <a:t>‘판단 기준’의 공백</a:t>
            </a:r>
          </a:p>
          <a:p>
            <a:r>
              <a:rPr lang="ko-KR" altLang="en-US" sz="1400" dirty="0"/>
              <a:t>금융</a:t>
            </a:r>
            <a:r>
              <a:rPr lang="en-US" altLang="ko-KR" sz="1400" dirty="0"/>
              <a:t>·</a:t>
            </a:r>
            <a:r>
              <a:rPr lang="ko-KR" altLang="en-US" sz="1400" dirty="0"/>
              <a:t>행정</a:t>
            </a:r>
            <a:r>
              <a:rPr lang="en-US" altLang="ko-KR" sz="1400" dirty="0"/>
              <a:t>·</a:t>
            </a:r>
            <a:r>
              <a:rPr lang="ko-KR" altLang="en-US" sz="1400" dirty="0"/>
              <a:t>수사 경험 부족</a:t>
            </a:r>
            <a:br>
              <a:rPr lang="ko-KR" altLang="en-US" sz="1400" dirty="0"/>
            </a:br>
            <a:r>
              <a:rPr lang="ko-KR" altLang="en-US" sz="1400" dirty="0"/>
              <a:t>↓</a:t>
            </a:r>
            <a:br>
              <a:rPr lang="ko-KR" altLang="en-US" sz="1400" dirty="0"/>
            </a:br>
            <a:r>
              <a:rPr lang="ko-KR" altLang="en-US" sz="1400" dirty="0"/>
              <a:t>정상적인 기관 절차에 대한 기준 부족</a:t>
            </a:r>
            <a:br>
              <a:rPr lang="ko-KR" altLang="en-US" sz="1400" dirty="0"/>
            </a:br>
            <a:r>
              <a:rPr lang="ko-KR" altLang="en-US" sz="1400" dirty="0"/>
              <a:t>↓</a:t>
            </a:r>
            <a:br>
              <a:rPr lang="ko-KR" altLang="en-US" sz="1400" dirty="0"/>
            </a:br>
            <a:r>
              <a:rPr lang="ko-KR" altLang="en-US" sz="1400" dirty="0"/>
              <a:t>상대방 주장의 진위를 비교할 기준 부족</a:t>
            </a:r>
            <a:br>
              <a:rPr lang="ko-KR" altLang="en-US" sz="1400" dirty="0"/>
            </a:br>
            <a:r>
              <a:rPr lang="ko-KR" altLang="en-US" sz="1400" dirty="0"/>
              <a:t>↓</a:t>
            </a:r>
            <a:br>
              <a:rPr lang="ko-KR" altLang="en-US" sz="1400" dirty="0"/>
            </a:br>
            <a:r>
              <a:rPr lang="ko-KR" altLang="en-US" sz="1400" dirty="0"/>
              <a:t>기관사칭</a:t>
            </a:r>
            <a:r>
              <a:rPr lang="en-US" altLang="ko-KR" sz="1400" dirty="0"/>
              <a:t>·</a:t>
            </a:r>
            <a:r>
              <a:rPr lang="ko-KR" altLang="en-US" sz="1400" dirty="0"/>
              <a:t>권위 전략에 취약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C75982-DE7B-409D-872B-693AFE7E24D4}"/>
              </a:ext>
            </a:extLst>
          </p:cNvPr>
          <p:cNvSpPr txBox="1"/>
          <p:nvPr/>
        </p:nvSpPr>
        <p:spPr>
          <a:xfrm>
            <a:off x="453118" y="3276600"/>
            <a:ext cx="49557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여기는 표현을 조금 조심해야 해.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노령 → 인지능력 저하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잡는 건 피하는 게 좋아.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더 넓게: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‘정보·검증’의 공백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디지털·금융환경의 빠른 변화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공식정보 검색·확인 과정의 어려움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복잡한 상황에서 여러 정보를 즉시 비교해야 하는 부담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일부 고령층에서는 인지처리 부담·사회적 고립 등이 추가 위험요인이 될 수 있음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빠른 진위검증이 어려워질 가능성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FB1E08-564F-4597-9B00-B95ACAA961A1}"/>
              </a:ext>
            </a:extLst>
          </p:cNvPr>
          <p:cNvSpPr txBox="1"/>
          <p:nvPr/>
        </p:nvSpPr>
        <p:spPr>
          <a:xfrm>
            <a:off x="5829300" y="3078930"/>
            <a:ext cx="609872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일반 금융소비자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정교한 개인정보 활용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기관과 유사한 시나리오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갑작스러운 공포·긴급상황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충분한 확인시간 부족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누구나 순간적으로 판단 취약 상태가 될 수 있음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b="1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페이지의 결론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 자체가 원인이 아니라, 사람마다 다른 취약성이 범죄자의 전략과 결합한다.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5E91EDB-9075-4E21-ADEC-88A1CFE5CF5F}"/>
              </a:ext>
            </a:extLst>
          </p:cNvPr>
          <p:cNvSpPr/>
          <p:nvPr/>
        </p:nvSpPr>
        <p:spPr>
          <a:xfrm>
            <a:off x="5829300" y="666339"/>
            <a:ext cx="5736167" cy="2040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여기에</a:t>
            </a:r>
            <a:endParaRPr lang="en-US" altLang="ko-KR" dirty="0"/>
          </a:p>
          <a:p>
            <a:pPr algn="ctr"/>
            <a:r>
              <a:rPr lang="ko-KR" altLang="en-US" dirty="0"/>
              <a:t>사례 추가</a:t>
            </a:r>
            <a:endParaRPr lang="en-US" altLang="ko-KR" dirty="0"/>
          </a:p>
          <a:p>
            <a:pPr algn="ctr"/>
            <a:r>
              <a:rPr lang="en-US" altLang="ko-KR" dirty="0"/>
              <a:t>20</a:t>
            </a:r>
            <a:r>
              <a:rPr lang="ko-KR" altLang="en-US" dirty="0"/>
              <a:t>대 대상 사례</a:t>
            </a:r>
            <a:r>
              <a:rPr lang="en-US" altLang="ko-KR" dirty="0"/>
              <a:t>, </a:t>
            </a:r>
            <a:r>
              <a:rPr lang="ko-KR" altLang="en-US" dirty="0"/>
              <a:t>고령 대상 사례 추가 필요</a:t>
            </a:r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r>
              <a:rPr lang="ko-KR" altLang="en-US" dirty="0"/>
              <a:t>고령 </a:t>
            </a:r>
            <a:r>
              <a:rPr lang="en-US" altLang="ko-KR" dirty="0"/>
              <a:t>: </a:t>
            </a:r>
            <a:r>
              <a:rPr lang="ko-KR" altLang="en-US" dirty="0"/>
              <a:t>검찰</a:t>
            </a:r>
            <a:r>
              <a:rPr lang="en-US" altLang="ko-KR" dirty="0"/>
              <a:t>/</a:t>
            </a:r>
            <a:r>
              <a:rPr lang="ko-KR" altLang="en-US" dirty="0"/>
              <a:t>은행</a:t>
            </a:r>
            <a:r>
              <a:rPr lang="en-US" altLang="ko-KR" dirty="0"/>
              <a:t>/</a:t>
            </a:r>
            <a:r>
              <a:rPr lang="ko-KR" altLang="en-US" dirty="0"/>
              <a:t>카드사 등 여러 사칭 기관 연결해서 진짜 상황인거처럼 느끼게 하는 사례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290FCE-54BA-4A22-916F-029BA001E4B0}"/>
              </a:ext>
            </a:extLst>
          </p:cNvPr>
          <p:cNvSpPr txBox="1"/>
          <p:nvPr/>
        </p:nvSpPr>
        <p:spPr>
          <a:xfrm>
            <a:off x="112607" y="66174"/>
            <a:ext cx="5593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실제 사례 </a:t>
            </a:r>
            <a:r>
              <a:rPr lang="en-US" altLang="ko-KR" dirty="0">
                <a:solidFill>
                  <a:srgbClr val="FF0000"/>
                </a:solidFill>
              </a:rPr>
              <a:t>: </a:t>
            </a:r>
            <a:r>
              <a:rPr lang="ko-KR" altLang="en-US" dirty="0">
                <a:solidFill>
                  <a:srgbClr val="FF0000"/>
                </a:solidFill>
              </a:rPr>
              <a:t>직접 판단의 사례</a:t>
            </a:r>
          </a:p>
        </p:txBody>
      </p:sp>
    </p:spTree>
    <p:extLst>
      <p:ext uri="{BB962C8B-B14F-4D97-AF65-F5344CB8AC3E}">
        <p14:creationId xmlns:p14="http://schemas.microsoft.com/office/powerpoint/2010/main" val="1701412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4CB25D3-05BE-4F92-A192-4DCA7B633016}"/>
              </a:ext>
            </a:extLst>
          </p:cNvPr>
          <p:cNvSpPr txBox="1"/>
          <p:nvPr/>
        </p:nvSpPr>
        <p:spPr>
          <a:xfrm>
            <a:off x="240847" y="213732"/>
            <a:ext cx="60987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피해 데이터에서는 어떤 패턴이 나타나는가?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 데이터</a:t>
            </a: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넣을 것: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연령별 피해건수 / 피해금액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가능하면 연령 × 사기유형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기관사칭형 피해 특성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 피해 변화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 등 특정 집단의 피해 특성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중요한 건 여기서 바로 원인을 단정하지 않는 것.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20대는 경험이 없어서 당한다.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고령층은 판단력이 떨어져서 당한다.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아니라</a:t>
            </a:r>
            <a:b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연령대별로 피해 양상에 차이가 나타난다.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그렇다면 각 집단은 왜 서로 다른 방식으로 취약해지는가?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085162-4FE2-4F51-9A9D-A7F0C2343140}"/>
              </a:ext>
            </a:extLst>
          </p:cNvPr>
          <p:cNvSpPr txBox="1"/>
          <p:nvPr/>
        </p:nvSpPr>
        <p:spPr>
          <a:xfrm>
            <a:off x="5452986" y="966787"/>
            <a:ext cx="609872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사용자의 판단·검증 행동을 검증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하는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용도 설문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의심전화를 받았을 때 누구에게 확인하는가?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 전화인지 확인하는 방법을 알고 있는가?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압박을 받을 때 전화를 끊을 수 있다고 생각하는가?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경고가 떠도 상대방 설명을 믿을 가능성이 있는가?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 전 가족·신뢰인 확인 절차를 사용할 의향이 있는가? 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BB726C-2D97-4FEE-8BAB-EEBF8DF9DCFB}"/>
              </a:ext>
            </a:extLst>
          </p:cNvPr>
          <p:cNvSpPr txBox="1"/>
          <p:nvPr/>
        </p:nvSpPr>
        <p:spPr>
          <a:xfrm>
            <a:off x="524932" y="5703669"/>
            <a:ext cx="40724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800" b="1" dirty="0"/>
              <a:t>“왜 피해자는 보이스피싱 상황에서 </a:t>
            </a:r>
            <a:r>
              <a:rPr lang="ko-KR" altLang="en-US" sz="1800" b="1" dirty="0">
                <a:solidFill>
                  <a:srgbClr val="FF0000"/>
                </a:solidFill>
              </a:rPr>
              <a:t>잘못된 판단</a:t>
            </a:r>
            <a:r>
              <a:rPr lang="ko-KR" altLang="en-US" sz="1800" b="1" dirty="0"/>
              <a:t>을 하게 되는가</a:t>
            </a:r>
            <a:r>
              <a:rPr lang="en-US" altLang="ko-KR" sz="1800" b="1" dirty="0"/>
              <a:t>?”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058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1D09EB3-3C38-4ED2-B2F8-C95C0D349344}"/>
              </a:ext>
            </a:extLst>
          </p:cNvPr>
          <p:cNvSpPr txBox="1"/>
          <p:nvPr/>
        </p:nvSpPr>
        <p:spPr>
          <a:xfrm>
            <a:off x="240846" y="120699"/>
            <a:ext cx="1053601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바로 그 ‘판단 능력’을 공격</a:t>
            </a:r>
            <a:r>
              <a:rPr kumimoji="0" lang="ko-KR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하기 때문</a:t>
            </a:r>
            <a:r>
              <a:rPr kumimoji="0" lang="en-US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이 페이지에서는 연령 얘기하지 말고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범죄자 수법 자체만 분석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" panose="020B0604020202020204" pitchFamily="34" charset="0"/>
              </a:rPr>
              <a:t>보이스피싱 범죄자의 전략</a:t>
            </a:r>
            <a:endParaRPr lang="en-US" altLang="ko-KR" sz="1400" b="1" dirty="0">
              <a:highlight>
                <a:srgbClr val="FFFF00"/>
              </a:highlight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정보비대칭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실제 기관 절차를 피해자가 잘 모르는 점 이용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권위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경찰·검찰·금감원·은행 등 신뢰기관 사칭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공포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범죄연루·체포·계좌동결 등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긴급성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“지금 즉시 처리해야 한다”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비밀유지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가족·지인에게 말하지 못하게 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 검증 차단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검색·상담·전화 확인을 어렵게 함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이를 한 줄로 묶으면: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정보 우위 + 심리적 압박 + 외부 검증 차단 ↓ 피해자의 판단 환경을 장악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핵심 메시지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보이스피싱은 단순히 거짓말을 하는 범죄가 아니라,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피해자가 그 거짓말을 검증하기 어려운 환경까지 함께 만든다.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6A6E81E-DB9B-4B84-9A48-EE7336DE1669}"/>
              </a:ext>
            </a:extLst>
          </p:cNvPr>
          <p:cNvGrpSpPr/>
          <p:nvPr/>
        </p:nvGrpSpPr>
        <p:grpSpPr>
          <a:xfrm>
            <a:off x="6455907" y="237427"/>
            <a:ext cx="5168676" cy="6383146"/>
            <a:chOff x="6782478" y="431506"/>
            <a:chExt cx="5168676" cy="6383146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05D07120-5D39-4080-BEEA-D563599F3DE6}"/>
                </a:ext>
              </a:extLst>
            </p:cNvPr>
            <p:cNvSpPr txBox="1"/>
            <p:nvPr/>
          </p:nvSpPr>
          <p:spPr>
            <a:xfrm>
              <a:off x="6782478" y="431506"/>
              <a:ext cx="3047321" cy="18158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/>
                <a:t>① 범죄자의 비대칭 전략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기관사칭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정보 우위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권위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공포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긴급성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비밀유지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7D7411BD-3C99-4AB2-BE99-5B901E2C5932}"/>
                </a:ext>
              </a:extLst>
            </p:cNvPr>
            <p:cNvSpPr txBox="1"/>
            <p:nvPr/>
          </p:nvSpPr>
          <p:spPr>
            <a:xfrm>
              <a:off x="6782478" y="2484514"/>
              <a:ext cx="4582208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/>
                <a:t>② 피해자의 취약요인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사회</a:t>
              </a:r>
              <a:r>
                <a:rPr lang="en-US" altLang="ko-KR" sz="1600" dirty="0"/>
                <a:t>·</a:t>
              </a:r>
              <a:r>
                <a:rPr lang="ko-KR" altLang="en-US" sz="1600" dirty="0"/>
                <a:t>금융</a:t>
              </a:r>
              <a:r>
                <a:rPr lang="en-US" altLang="ko-KR" sz="1600" dirty="0"/>
                <a:t>·</a:t>
              </a:r>
              <a:r>
                <a:rPr lang="ko-KR" altLang="en-US" sz="1600" dirty="0"/>
                <a:t>수사 경험 부족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디지털</a:t>
              </a:r>
              <a:r>
                <a:rPr lang="en-US" altLang="ko-KR" sz="1600" dirty="0"/>
                <a:t>·</a:t>
              </a:r>
              <a:r>
                <a:rPr lang="ko-KR" altLang="en-US" sz="1600" dirty="0"/>
                <a:t>금융 정보격차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정상적인 기관 절차에 대한 기준 부족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B1EF967-F9D6-4759-9CD6-E1A9151C6C88}"/>
                </a:ext>
              </a:extLst>
            </p:cNvPr>
            <p:cNvSpPr txBox="1"/>
            <p:nvPr/>
          </p:nvSpPr>
          <p:spPr>
            <a:xfrm>
              <a:off x="6797448" y="3859589"/>
              <a:ext cx="4249510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ko-KR" altLang="en-US" sz="1600" b="1" dirty="0"/>
                <a:t>③ 외부 검증의 제한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지금 당장 행동 요구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가족에게 알리지 못하게 함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검색</a:t>
              </a:r>
              <a:r>
                <a:rPr lang="en-US" altLang="ko-KR" sz="1600" dirty="0"/>
                <a:t>·</a:t>
              </a:r>
              <a:r>
                <a:rPr lang="ko-KR" altLang="en-US" sz="1600" dirty="0"/>
                <a:t>상담 시간 차단 </a:t>
              </a:r>
            </a:p>
            <a:p>
              <a:pPr>
                <a:buFont typeface="Arial" panose="020B0604020202020204" pitchFamily="34" charset="0"/>
                <a:buChar char="•"/>
              </a:pPr>
              <a:r>
                <a:rPr lang="ko-KR" altLang="en-US" sz="1600" dirty="0"/>
                <a:t>외부 연락을 어렵게 만듦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3AFC3D0-8D45-4FC7-A828-81E051344109}"/>
                </a:ext>
              </a:extLst>
            </p:cNvPr>
            <p:cNvSpPr txBox="1"/>
            <p:nvPr/>
          </p:nvSpPr>
          <p:spPr>
            <a:xfrm>
              <a:off x="6797448" y="5244992"/>
              <a:ext cx="5153706" cy="15696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↓</a:t>
              </a:r>
              <a:endPara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판단 환경이 무너짐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↓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“이게 진짜인지 사기인지 스스로 검증하기 어려움”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↓</a:t>
              </a:r>
              <a:endPara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ko-KR" altLang="ko-KR" sz="16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rPr>
                <a:t>송금 / 피해</a:t>
              </a:r>
              <a:endPara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947AE16-DE07-4B8F-BAC3-2E5C2B08E820}"/>
              </a:ext>
            </a:extLst>
          </p:cNvPr>
          <p:cNvSpPr txBox="1"/>
          <p:nvPr/>
        </p:nvSpPr>
        <p:spPr>
          <a:xfrm>
            <a:off x="11038115" y="268070"/>
            <a:ext cx="3841296" cy="440120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① 범죄자의 전략</a:t>
            </a:r>
          </a:p>
          <a:p>
            <a:r>
              <a:rPr lang="ko-KR" altLang="en-US" sz="1400" dirty="0"/>
              <a:t>정보비대칭 · 권위 · 공포 · 긴급성</a:t>
            </a:r>
          </a:p>
          <a:p>
            <a:r>
              <a:rPr lang="ko-KR" altLang="en-US" sz="1400" dirty="0"/>
              <a:t>            ×</a:t>
            </a:r>
          </a:p>
          <a:p>
            <a:endParaRPr lang="ko-KR" altLang="en-US" sz="1400" dirty="0"/>
          </a:p>
          <a:p>
            <a:r>
              <a:rPr lang="ko-KR" altLang="en-US" sz="1400" dirty="0"/>
              <a:t>② 피해자의 취약성</a:t>
            </a:r>
          </a:p>
          <a:p>
            <a:r>
              <a:rPr lang="ko-KR" altLang="en-US" sz="1400" dirty="0"/>
              <a:t>경험 부족 · 정보격차 · 검증 부담</a:t>
            </a:r>
          </a:p>
          <a:p>
            <a:r>
              <a:rPr lang="ko-KR" altLang="en-US" sz="1400" dirty="0"/>
              <a:t>            ×</a:t>
            </a:r>
          </a:p>
          <a:p>
            <a:endParaRPr lang="ko-KR" altLang="en-US" sz="1400" dirty="0"/>
          </a:p>
          <a:p>
            <a:r>
              <a:rPr lang="ko-KR" altLang="en-US" sz="1400" dirty="0"/>
              <a:t>③ 외부 검증의 제한</a:t>
            </a:r>
          </a:p>
          <a:p>
            <a:r>
              <a:rPr lang="ko-KR" altLang="en-US" sz="1400" dirty="0"/>
              <a:t>시간압박 · 비밀유지 · 상담/확인 차단</a:t>
            </a:r>
          </a:p>
          <a:p>
            <a:r>
              <a:rPr lang="ko-KR" altLang="en-US" sz="1400" dirty="0"/>
              <a:t>            ↓</a:t>
            </a:r>
          </a:p>
          <a:p>
            <a:endParaRPr lang="ko-KR" altLang="en-US" sz="1400" dirty="0"/>
          </a:p>
          <a:p>
            <a:r>
              <a:rPr lang="ko-KR" altLang="en-US" sz="1400" dirty="0"/>
              <a:t>━━━━━━━━━━━━━━━━━━</a:t>
            </a:r>
          </a:p>
          <a:p>
            <a:r>
              <a:rPr lang="ko-KR" altLang="en-US" sz="1400" dirty="0"/>
              <a:t>      판단 환경 붕괴</a:t>
            </a:r>
          </a:p>
          <a:p>
            <a:r>
              <a:rPr lang="ko-KR" altLang="en-US" sz="1400" dirty="0"/>
              <a:t>━━━━━━━━━━━━━━━━━━</a:t>
            </a:r>
          </a:p>
          <a:p>
            <a:r>
              <a:rPr lang="ko-KR" altLang="en-US" sz="1400" dirty="0"/>
              <a:t>            ↓</a:t>
            </a:r>
          </a:p>
          <a:p>
            <a:r>
              <a:rPr lang="ko-KR" altLang="en-US" sz="1400" dirty="0"/>
              <a:t>"이 상황이 정상인지 사기인지</a:t>
            </a:r>
          </a:p>
          <a:p>
            <a:r>
              <a:rPr lang="ko-KR" altLang="en-US" sz="1400" dirty="0"/>
              <a:t> 스스로 검증하기 어려움"</a:t>
            </a:r>
          </a:p>
          <a:p>
            <a:r>
              <a:rPr lang="ko-KR" altLang="en-US" sz="1400" dirty="0"/>
              <a:t>            ↓</a:t>
            </a:r>
          </a:p>
          <a:p>
            <a:r>
              <a:rPr lang="ko-KR" altLang="en-US" sz="1400" dirty="0"/>
              <a:t>        송금 / 피해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4B79A6-31DB-4AC6-AD97-421C0ECC3E9E}"/>
              </a:ext>
            </a:extLst>
          </p:cNvPr>
          <p:cNvSpPr txBox="1"/>
          <p:nvPr/>
        </p:nvSpPr>
        <p:spPr>
          <a:xfrm>
            <a:off x="11531361" y="4861132"/>
            <a:ext cx="45924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범죄자의 전략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× </a:t>
            </a:r>
            <a:r>
              <a:rPr lang="ko-KR" altLang="en-US" dirty="0">
                <a:solidFill>
                  <a:srgbClr val="FF0000"/>
                </a:solidFill>
              </a:rPr>
              <a:t>개인의 취약성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× </a:t>
            </a:r>
            <a:r>
              <a:rPr lang="ko-KR" altLang="en-US" dirty="0">
                <a:solidFill>
                  <a:srgbClr val="FF0000"/>
                </a:solidFill>
              </a:rPr>
              <a:t>외부 검증 제한이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결합해 판단 실패가 발생한다</a:t>
            </a:r>
            <a:r>
              <a:rPr lang="en-US" altLang="ko-KR" dirty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8604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61BC83-26E3-44BF-ABBC-61FCC9B234D5}"/>
              </a:ext>
            </a:extLst>
          </p:cNvPr>
          <p:cNvSpPr txBox="1"/>
          <p:nvPr/>
        </p:nvSpPr>
        <p:spPr>
          <a:xfrm>
            <a:off x="1051227" y="1136058"/>
            <a:ext cx="60987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4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Problem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피해의 핵심은 단순한 정보 부족이 아니라, 범죄자가 피해자의 취약성을 이용해 외부 검증을 차단하고 판단 환경을 장악하는 상황에서 최종 판단과 송금 결정이 여전히 피해자 개인에게 맡겨져 있다는 것이다.</a:t>
            </a:r>
            <a:endParaRPr kumimoji="0" lang="ko-KR" altLang="ko-KR" sz="4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07268B-0179-4E7E-9B39-627C5982C830}"/>
              </a:ext>
            </a:extLst>
          </p:cNvPr>
          <p:cNvSpPr txBox="1"/>
          <p:nvPr/>
        </p:nvSpPr>
        <p:spPr>
          <a:xfrm>
            <a:off x="240847" y="272534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10P. </a:t>
            </a:r>
            <a:r>
              <a:rPr lang="ko-KR" altLang="en-US" dirty="0"/>
              <a:t>최종 문제정의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FD943BD-BB2C-457B-9374-C328A9A295FA}"/>
              </a:ext>
            </a:extLst>
          </p:cNvPr>
          <p:cNvSpPr txBox="1"/>
          <p:nvPr/>
        </p:nvSpPr>
        <p:spPr>
          <a:xfrm>
            <a:off x="2276474" y="3429000"/>
            <a:ext cx="2714625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범죄자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정보·심리적 압박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[피해자 혼자 판단]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송금</a:t>
            </a:r>
          </a:p>
          <a:p>
            <a:pPr algn="ctr"/>
            <a:r>
              <a:rPr lang="ko-KR" altLang="en-US" dirty="0"/>
              <a:t>↓</a:t>
            </a:r>
          </a:p>
          <a:p>
            <a:pPr algn="ctr"/>
            <a:r>
              <a:rPr lang="ko-KR" altLang="en-US" dirty="0"/>
              <a:t>피해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70C9E00B-B6E5-4688-BD6D-1E8949351904}"/>
              </a:ext>
            </a:extLst>
          </p:cNvPr>
          <p:cNvSpPr/>
          <p:nvPr/>
        </p:nvSpPr>
        <p:spPr>
          <a:xfrm rot="10800000">
            <a:off x="5193166" y="4525718"/>
            <a:ext cx="902834" cy="391886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902C32-1517-4542-87C4-B0DBD3F6345E}"/>
              </a:ext>
            </a:extLst>
          </p:cNvPr>
          <p:cNvSpPr txBox="1"/>
          <p:nvPr/>
        </p:nvSpPr>
        <p:spPr>
          <a:xfrm>
            <a:off x="6472917" y="4398495"/>
            <a:ext cx="3977369" cy="6463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dirty="0"/>
              <a:t>객관적인 시선에서 판단을 도와 줄 제</a:t>
            </a:r>
            <a:r>
              <a:rPr lang="en-US" altLang="ko-KR" dirty="0"/>
              <a:t>3</a:t>
            </a:r>
            <a:r>
              <a:rPr lang="ko-KR" altLang="en-US" dirty="0"/>
              <a:t>자가 있다면 어떨까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98243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112DC27-3732-4F78-BF11-D448C5243C72}"/>
              </a:ext>
            </a:extLst>
          </p:cNvPr>
          <p:cNvSpPr txBox="1"/>
          <p:nvPr/>
        </p:nvSpPr>
        <p:spPr>
          <a:xfrm>
            <a:off x="355146" y="313650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Ⅲ. </a:t>
            </a:r>
            <a:r>
              <a:rPr lang="ko-KR" altLang="en-US" b="1" dirty="0"/>
              <a:t>인사이트</a:t>
            </a:r>
          </a:p>
          <a:p>
            <a:r>
              <a:rPr lang="en-US" altLang="ko-KR" b="1" dirty="0"/>
              <a:t>11P. </a:t>
            </a:r>
            <a:r>
              <a:rPr lang="ko-KR" altLang="en-US" b="1" dirty="0"/>
              <a:t>더 많은 ‘경고’만으로는 부족하다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304410-3BB9-4013-B393-D61CDA765B5A}"/>
              </a:ext>
            </a:extLst>
          </p:cNvPr>
          <p:cNvSpPr txBox="1"/>
          <p:nvPr/>
        </p:nvSpPr>
        <p:spPr>
          <a:xfrm>
            <a:off x="567417" y="1899925"/>
            <a:ext cx="865822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1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정보를 모르는 것만이 문제가 아니다.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정보를 알고 있더라도 이미 범죄자가 만든 상황 안에서는 판단이 흔들릴 수 있다.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판단이 흔들리는 순간, 혼자 판단하게 두면 안 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필요한 것은: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독립적인 외부 검증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 3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그리고 외부 검증이 이루어지는 동안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금융행동도 멈출 수 있어야 한다.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단순히: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AI가 알려준다.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아니라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AI가 위험을 발견한다 → 외부 사람이 검증한다 → 검증될 때까지 위험 송금을 멈춘다</a:t>
            </a:r>
            <a:r>
              <a:rPr lang="en-US" altLang="ko-KR" sz="1400" b="1" dirty="0">
                <a:latin typeface="Arial" panose="020B0604020202020204" pitchFamily="34" charset="0"/>
              </a:rPr>
              <a:t>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3536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E46478-E2EF-43C8-BA70-5B648D3EB4E1}"/>
              </a:ext>
            </a:extLst>
          </p:cNvPr>
          <p:cNvSpPr txBox="1"/>
          <p:nvPr/>
        </p:nvSpPr>
        <p:spPr>
          <a:xfrm>
            <a:off x="485775" y="37050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12P. </a:t>
            </a:r>
            <a:r>
              <a:rPr lang="ko-KR" altLang="en-US" dirty="0"/>
              <a:t>우리가 넣어야 할 것은 ‘판단과 송금 사이의 방지턱’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92A519-CCC0-44FE-8DC7-6C87AC397815}"/>
              </a:ext>
            </a:extLst>
          </p:cNvPr>
          <p:cNvSpPr txBox="1"/>
          <p:nvPr/>
        </p:nvSpPr>
        <p:spPr>
          <a:xfrm>
            <a:off x="663005" y="2366698"/>
            <a:ext cx="2723662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범죄자의 수법 </a:t>
            </a:r>
            <a:r>
              <a:rPr lang="en-US" altLang="ko-KR" dirty="0"/>
              <a:t>+ </a:t>
            </a:r>
            <a:r>
              <a:rPr lang="ko-KR" altLang="en-US" dirty="0"/>
              <a:t>조작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피해자 판단</a:t>
            </a:r>
            <a:r>
              <a:rPr lang="en-US" altLang="ko-KR" dirty="0"/>
              <a:t>(</a:t>
            </a:r>
            <a:r>
              <a:rPr lang="ko-KR" altLang="en-US" dirty="0"/>
              <a:t>판단력 결핍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송금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피해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D494E1-95C2-4CA0-8387-8BF8CDBB3B2F}"/>
              </a:ext>
            </a:extLst>
          </p:cNvPr>
          <p:cNvSpPr txBox="1"/>
          <p:nvPr/>
        </p:nvSpPr>
        <p:spPr>
          <a:xfrm>
            <a:off x="663005" y="1899395"/>
            <a:ext cx="1881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기존 구조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02B873-59FC-4A68-A34C-4DC30956003D}"/>
              </a:ext>
            </a:extLst>
          </p:cNvPr>
          <p:cNvSpPr txBox="1"/>
          <p:nvPr/>
        </p:nvSpPr>
        <p:spPr>
          <a:xfrm>
            <a:off x="4549888" y="1305341"/>
            <a:ext cx="4069214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범죄자의 조작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피해자 판단 흔들림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━━━━━━━━━━━━━━━━</a:t>
            </a:r>
          </a:p>
          <a:p>
            <a:r>
              <a:rPr lang="ko-KR" altLang="en-US" dirty="0"/>
              <a:t>     </a:t>
            </a:r>
            <a:r>
              <a:rPr lang="en-US" altLang="ko-KR" dirty="0"/>
              <a:t>AI </a:t>
            </a:r>
            <a:r>
              <a:rPr lang="ko-KR" altLang="en-US" dirty="0"/>
              <a:t>위험 탐지</a:t>
            </a:r>
          </a:p>
          <a:p>
            <a:r>
              <a:rPr lang="ko-KR" altLang="en-US" dirty="0"/>
              <a:t>          </a:t>
            </a:r>
            <a:r>
              <a:rPr lang="en-US" altLang="ko-KR" dirty="0"/>
              <a:t>+</a:t>
            </a:r>
          </a:p>
          <a:p>
            <a:r>
              <a:rPr lang="en-US" altLang="ko-KR" dirty="0"/>
              <a:t>      </a:t>
            </a:r>
            <a:r>
              <a:rPr lang="ko-KR" altLang="en-US" dirty="0"/>
              <a:t>외부 검증</a:t>
            </a:r>
          </a:p>
          <a:p>
            <a:r>
              <a:rPr lang="ko-KR" altLang="en-US" dirty="0"/>
              <a:t>          </a:t>
            </a:r>
            <a:r>
              <a:rPr lang="en-US" altLang="ko-KR" dirty="0"/>
              <a:t>+</a:t>
            </a:r>
          </a:p>
          <a:p>
            <a:r>
              <a:rPr lang="en-US" altLang="ko-KR" dirty="0"/>
              <a:t>     </a:t>
            </a:r>
            <a:r>
              <a:rPr lang="ko-KR" altLang="en-US" dirty="0"/>
              <a:t>거래 일시보류</a:t>
            </a:r>
          </a:p>
          <a:p>
            <a:r>
              <a:rPr lang="ko-KR" altLang="en-US" dirty="0"/>
              <a:t>━━━━━━━━━━━━━━━━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재검토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송금 </a:t>
            </a:r>
            <a:r>
              <a:rPr lang="en-US" altLang="ko-KR" dirty="0"/>
              <a:t>/ </a:t>
            </a:r>
            <a:r>
              <a:rPr lang="ko-KR" altLang="en-US" dirty="0"/>
              <a:t>중단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64106D-6811-4BFC-A02E-54019F0A4E01}"/>
              </a:ext>
            </a:extLst>
          </p:cNvPr>
          <p:cNvSpPr txBox="1"/>
          <p:nvPr/>
        </p:nvSpPr>
        <p:spPr>
          <a:xfrm>
            <a:off x="4549888" y="838038"/>
            <a:ext cx="188186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제안 구조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56FAE6-0CE2-42F6-A0DF-083BDAE795E9}"/>
              </a:ext>
            </a:extLst>
          </p:cNvPr>
          <p:cNvSpPr txBox="1"/>
          <p:nvPr/>
        </p:nvSpPr>
        <p:spPr>
          <a:xfrm>
            <a:off x="598374" y="5841163"/>
            <a:ext cx="97848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피해자의 판단을 대신하는 것이 아니라</a:t>
            </a:r>
            <a:r>
              <a:rPr lang="en-US" altLang="ko-KR" dirty="0"/>
              <a:t>, </a:t>
            </a:r>
            <a:r>
              <a:rPr lang="ko-KR" altLang="en-US" dirty="0"/>
              <a:t>잘못된 판단이 곧바로 금융피해로 이어지지 않도록 그 사이에 하나의 ‘방지턱’을 만든다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9121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9F86C49-8E5C-40DB-98CE-A5533760B106}"/>
              </a:ext>
            </a:extLst>
          </p:cNvPr>
          <p:cNvSpPr txBox="1"/>
          <p:nvPr/>
        </p:nvSpPr>
        <p:spPr>
          <a:xfrm>
            <a:off x="126547" y="17456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Ⅴ. </a:t>
            </a:r>
            <a:r>
              <a:rPr lang="ko-KR" altLang="en-US" dirty="0"/>
              <a:t>해결방안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849F83-FF7E-42F7-BA85-B6915BB03A96}"/>
              </a:ext>
            </a:extLst>
          </p:cNvPr>
          <p:cNvSpPr txBox="1"/>
          <p:nvPr/>
        </p:nvSpPr>
        <p:spPr>
          <a:xfrm>
            <a:off x="126547" y="55517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Solution — AI </a:t>
            </a:r>
            <a:r>
              <a:rPr lang="ko-KR" altLang="en-US" dirty="0"/>
              <a:t>독립검증형 송금방지턱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EBC873-6B8D-41F0-B9B4-7EF944704F10}"/>
              </a:ext>
            </a:extLst>
          </p:cNvPr>
          <p:cNvSpPr txBox="1"/>
          <p:nvPr/>
        </p:nvSpPr>
        <p:spPr>
          <a:xfrm>
            <a:off x="387803" y="1195979"/>
            <a:ext cx="107156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통화 중 </a:t>
            </a:r>
            <a:r>
              <a:rPr lang="en-US" altLang="ko-KR" dirty="0">
                <a:solidFill>
                  <a:srgbClr val="FF0000"/>
                </a:solidFill>
              </a:rPr>
              <a:t>AI</a:t>
            </a:r>
            <a:r>
              <a:rPr lang="ko-KR" altLang="en-US" dirty="0">
                <a:solidFill>
                  <a:srgbClr val="FF0000"/>
                </a:solidFill>
              </a:rPr>
              <a:t>가 보이스피싱 위험을 탐지하고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위험 송금 발생 시 거래를 즉시 실행하지 않고 사전 등록된 신뢰인의 최종 검토와 금융기관의 독립적인 보호조치를 거치도록 하는 다중 검증형 금융안전 서비스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DE3F47-30FB-4527-ACAB-242FF6C8163F}"/>
              </a:ext>
            </a:extLst>
          </p:cNvPr>
          <p:cNvSpPr txBox="1"/>
          <p:nvPr/>
        </p:nvSpPr>
        <p:spPr>
          <a:xfrm>
            <a:off x="502104" y="2241594"/>
            <a:ext cx="609872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5</a:t>
            </a:r>
            <a:r>
              <a:rPr lang="ko-KR" altLang="en-US" b="1" dirty="0"/>
              <a:t>대 기능</a:t>
            </a:r>
          </a:p>
          <a:p>
            <a:r>
              <a:rPr lang="ko-KR" altLang="en-US" dirty="0"/>
              <a:t>① </a:t>
            </a:r>
            <a:r>
              <a:rPr lang="en-US" altLang="ko-KR" dirty="0"/>
              <a:t>AI </a:t>
            </a:r>
            <a:r>
              <a:rPr lang="ko-KR" altLang="en-US" dirty="0"/>
              <a:t>실시간 통화 위험 탐지</a:t>
            </a:r>
            <a:br>
              <a:rPr lang="ko-KR" altLang="en-US" dirty="0"/>
            </a:br>
            <a:r>
              <a:rPr lang="ko-KR" altLang="en-US" dirty="0"/>
              <a:t>② 위험도</a:t>
            </a:r>
            <a:r>
              <a:rPr lang="en-US" altLang="ko-KR" dirty="0"/>
              <a:t>·</a:t>
            </a:r>
            <a:r>
              <a:rPr lang="ko-KR" altLang="en-US" dirty="0"/>
              <a:t>판단근거 산출</a:t>
            </a:r>
            <a:br>
              <a:rPr lang="ko-KR" altLang="en-US" dirty="0"/>
            </a:br>
            <a:r>
              <a:rPr lang="ko-KR" altLang="en-US" dirty="0"/>
              <a:t>③ 역할별 맞춤 알림</a:t>
            </a:r>
            <a:r>
              <a:rPr lang="en-US" altLang="ko-KR" dirty="0"/>
              <a:t>·</a:t>
            </a:r>
            <a:r>
              <a:rPr lang="ko-KR" altLang="en-US" dirty="0"/>
              <a:t>브리프</a:t>
            </a:r>
            <a:br>
              <a:rPr lang="ko-KR" altLang="en-US" dirty="0"/>
            </a:br>
            <a:r>
              <a:rPr lang="ko-KR" altLang="en-US" dirty="0"/>
              <a:t>④ </a:t>
            </a:r>
            <a:r>
              <a:rPr lang="ko-KR" altLang="en-US" b="1" dirty="0"/>
              <a:t>신뢰인 최종검토형 송금방지턱</a:t>
            </a:r>
            <a:br>
              <a:rPr lang="ko-KR" altLang="en-US" dirty="0"/>
            </a:br>
            <a:r>
              <a:rPr lang="ko-KR" altLang="en-US" dirty="0"/>
              <a:t>⑤ 금융기관</a:t>
            </a:r>
            <a:r>
              <a:rPr lang="en-US" altLang="ko-KR" dirty="0"/>
              <a:t>·</a:t>
            </a:r>
            <a:r>
              <a:rPr lang="ko-KR" altLang="en-US" dirty="0"/>
              <a:t>공식기관 독립검증</a:t>
            </a:r>
          </a:p>
        </p:txBody>
      </p:sp>
    </p:spTree>
    <p:extLst>
      <p:ext uri="{BB962C8B-B14F-4D97-AF65-F5344CB8AC3E}">
        <p14:creationId xmlns:p14="http://schemas.microsoft.com/office/powerpoint/2010/main" val="3014558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4245943-1302-412A-A549-A5203B84E51B}"/>
              </a:ext>
            </a:extLst>
          </p:cNvPr>
          <p:cNvSpPr txBox="1"/>
          <p:nvPr/>
        </p:nvSpPr>
        <p:spPr>
          <a:xfrm>
            <a:off x="175532" y="517803"/>
            <a:ext cx="6098720" cy="634019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보이스피싱 의심 통화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STT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ML + LLM 위험 분석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위험도 + 판단근거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역할별 맞춤 알림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피해자 송금 시도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Transaction Guard</a:t>
            </a:r>
          </a:p>
          <a:p>
            <a:r>
              <a:rPr lang="ko-KR" altLang="en-US" sz="1400" dirty="0"/>
              <a:t>   거래 일시보류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       ↓</a:t>
            </a:r>
          </a:p>
          <a:p>
            <a:r>
              <a:rPr lang="ko-KR" altLang="en-US" sz="1400" dirty="0"/>
              <a:t> ┌─────┬─────┐</a:t>
            </a:r>
          </a:p>
          <a:p>
            <a:r>
              <a:rPr lang="ko-KR" altLang="en-US" sz="1400" dirty="0"/>
              <a:t> ↓               ↓              ↓</a:t>
            </a:r>
          </a:p>
          <a:p>
            <a:r>
              <a:rPr lang="ko-KR" altLang="en-US" sz="1400" dirty="0"/>
              <a:t>신뢰인         금융기관       공식기관*</a:t>
            </a:r>
          </a:p>
          <a:p>
            <a:r>
              <a:rPr lang="ko-KR" altLang="en-US" sz="1400" dirty="0"/>
              <a:t>최종검토       독립검증       진위확인</a:t>
            </a:r>
          </a:p>
          <a:p>
            <a:r>
              <a:rPr lang="ko-KR" altLang="en-US" sz="1400" dirty="0"/>
              <a:t> ↓               ↓              ↓</a:t>
            </a:r>
          </a:p>
          <a:p>
            <a:r>
              <a:rPr lang="ko-KR" altLang="en-US" sz="1400" dirty="0"/>
              <a:t> └─────┴─────┘</a:t>
            </a:r>
          </a:p>
          <a:p>
            <a:r>
              <a:rPr lang="ko-KR" altLang="en-US" sz="1400" dirty="0"/>
              <a:t>                ↓</a:t>
            </a:r>
          </a:p>
          <a:p>
            <a:r>
              <a:rPr lang="ko-KR" altLang="en-US" sz="1400" dirty="0"/>
              <a:t>        최종 거래 판단</a:t>
            </a:r>
          </a:p>
          <a:p>
            <a:r>
              <a:rPr lang="ko-KR" altLang="en-US" sz="1400" dirty="0"/>
              <a:t>                ↓</a:t>
            </a:r>
          </a:p>
          <a:p>
            <a:r>
              <a:rPr lang="ko-KR" altLang="en-US" sz="1400" dirty="0"/>
              <a:t>송금 / 추가보류 / 취소·차단</a:t>
            </a:r>
          </a:p>
          <a:p>
            <a:r>
              <a:rPr lang="ko-KR" altLang="en-US" sz="1400" dirty="0"/>
              <a:t>* 필요 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F1DFEF-72E5-40A8-9200-7313EA10F8AC}"/>
              </a:ext>
            </a:extLst>
          </p:cNvPr>
          <p:cNvSpPr txBox="1"/>
          <p:nvPr/>
        </p:nvSpPr>
        <p:spPr>
          <a:xfrm>
            <a:off x="175532" y="124862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서비스 전체 작동 흐름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2036E8-A613-4425-9B3C-349303A7D493}"/>
              </a:ext>
            </a:extLst>
          </p:cNvPr>
          <p:cNvSpPr txBox="1"/>
          <p:nvPr/>
        </p:nvSpPr>
        <p:spPr>
          <a:xfrm>
            <a:off x="6576332" y="5901426"/>
            <a:ext cx="39882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가 단순히 경고하는 것이 아니라 실제 금융거래 실행 흐름에 개입한다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682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819A9E2-9A28-4F76-A7AB-9AAEE8445817}"/>
              </a:ext>
            </a:extLst>
          </p:cNvPr>
          <p:cNvSpPr txBox="1"/>
          <p:nvPr/>
        </p:nvSpPr>
        <p:spPr>
          <a:xfrm>
            <a:off x="355147" y="190891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AI</a:t>
            </a:r>
            <a:r>
              <a:rPr lang="ko-KR" altLang="en-US" dirty="0"/>
              <a:t>는 어떻게 판단하는가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DE1DF6-81CD-4BFA-A709-6ED9D882DF9E}"/>
              </a:ext>
            </a:extLst>
          </p:cNvPr>
          <p:cNvSpPr txBox="1"/>
          <p:nvPr/>
        </p:nvSpPr>
        <p:spPr>
          <a:xfrm>
            <a:off x="355147" y="56022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Detection Pipeline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EA9961-C9BB-4813-A1C5-F3FC6256976D}"/>
              </a:ext>
            </a:extLst>
          </p:cNvPr>
          <p:cNvSpPr txBox="1"/>
          <p:nvPr/>
        </p:nvSpPr>
        <p:spPr>
          <a:xfrm>
            <a:off x="355147" y="1028343"/>
            <a:ext cx="4053567" cy="480131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통화 음성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STT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전처리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Feature 추출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┌────────────┐</a:t>
            </a:r>
          </a:p>
          <a:p>
            <a:r>
              <a:rPr lang="ko-KR" altLang="en-US" dirty="0"/>
              <a:t>ML          LLM</a:t>
            </a:r>
          </a:p>
          <a:p>
            <a:r>
              <a:rPr lang="ko-KR" altLang="en-US" dirty="0"/>
              <a:t>↓            ↓</a:t>
            </a:r>
          </a:p>
          <a:p>
            <a:r>
              <a:rPr lang="ko-KR" altLang="en-US" dirty="0"/>
              <a:t>위험확률    맥락·수법분석</a:t>
            </a:r>
          </a:p>
          <a:p>
            <a:r>
              <a:rPr lang="ko-KR" altLang="en-US" dirty="0"/>
              <a:t>└─────┬──────┘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Risk Fusion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최종 위험도 + 판단근거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8D98EB-CD1D-43AF-A723-C0E73D60D3D3}"/>
              </a:ext>
            </a:extLst>
          </p:cNvPr>
          <p:cNvSpPr txBox="1"/>
          <p:nvPr/>
        </p:nvSpPr>
        <p:spPr>
          <a:xfrm>
            <a:off x="5368018" y="2690336"/>
            <a:ext cx="269829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아주 간단하게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얼마나 위험한가?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위험한가?</a:t>
            </a:r>
          </a:p>
        </p:txBody>
      </p:sp>
    </p:spTree>
    <p:extLst>
      <p:ext uri="{BB962C8B-B14F-4D97-AF65-F5344CB8AC3E}">
        <p14:creationId xmlns:p14="http://schemas.microsoft.com/office/powerpoint/2010/main" val="3581578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92FBD76-ACAB-44BD-B236-F84475B9A59F}"/>
              </a:ext>
            </a:extLst>
          </p:cNvPr>
          <p:cNvSpPr txBox="1"/>
          <p:nvPr/>
        </p:nvSpPr>
        <p:spPr>
          <a:xfrm>
            <a:off x="593422" y="300759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관계자마다 다른 역할로 개입한다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1DCDA1-D465-489F-AB8B-90C1EBD0DC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2609351"/>
              </p:ext>
            </p:extLst>
          </p:nvPr>
        </p:nvGraphicFramePr>
        <p:xfrm>
          <a:off x="625928" y="1013165"/>
          <a:ext cx="9040586" cy="1828800"/>
        </p:xfrm>
        <a:graphic>
          <a:graphicData uri="http://schemas.openxmlformats.org/drawingml/2006/table">
            <a:tbl>
              <a:tblPr/>
              <a:tblGrid>
                <a:gridCol w="2385050">
                  <a:extLst>
                    <a:ext uri="{9D8B030D-6E8A-4147-A177-3AD203B41FA5}">
                      <a16:colId xmlns:a16="http://schemas.microsoft.com/office/drawing/2014/main" val="586600057"/>
                    </a:ext>
                  </a:extLst>
                </a:gridCol>
                <a:gridCol w="2965279">
                  <a:extLst>
                    <a:ext uri="{9D8B030D-6E8A-4147-A177-3AD203B41FA5}">
                      <a16:colId xmlns:a16="http://schemas.microsoft.com/office/drawing/2014/main" val="2483947163"/>
                    </a:ext>
                  </a:extLst>
                </a:gridCol>
                <a:gridCol w="3690257">
                  <a:extLst>
                    <a:ext uri="{9D8B030D-6E8A-4147-A177-3AD203B41FA5}">
                      <a16:colId xmlns:a16="http://schemas.microsoft.com/office/drawing/2014/main" val="38574647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주체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제공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66471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피해자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위험도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근거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행동안내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통화 종료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3400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신뢰인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상황요약</a:t>
                      </a:r>
                      <a:r>
                        <a:rPr lang="en-US" altLang="ko-KR" dirty="0"/>
                        <a:t>·AI</a:t>
                      </a:r>
                      <a:r>
                        <a:rPr lang="ko-KR" altLang="en-US" dirty="0"/>
                        <a:t>분석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거래정보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해당 거래 최종 승인</a:t>
                      </a:r>
                      <a:r>
                        <a:rPr lang="en-US" altLang="ko-KR" b="1" dirty="0"/>
                        <a:t>/</a:t>
                      </a:r>
                      <a:r>
                        <a:rPr lang="ko-KR" altLang="en-US" b="1" dirty="0"/>
                        <a:t>거절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2125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금융기관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거래위험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금융정보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보류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추가확인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차단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52500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기관담당자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사칭정보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확인사항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공식 진위검증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015264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A5C009D-AFA0-4227-9930-339D02A6897F}"/>
              </a:ext>
            </a:extLst>
          </p:cNvPr>
          <p:cNvSpPr txBox="1"/>
          <p:nvPr/>
        </p:nvSpPr>
        <p:spPr>
          <a:xfrm>
            <a:off x="529318" y="3105834"/>
            <a:ext cx="60987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모두에게 같은 정보를 보내는 것이 아니라</a:t>
            </a:r>
            <a:r>
              <a:rPr lang="en-US" altLang="ko-KR" dirty="0"/>
              <a:t>, </a:t>
            </a:r>
            <a:r>
              <a:rPr lang="ko-KR" altLang="en-US" dirty="0"/>
              <a:t>각 주체가 판단</a:t>
            </a:r>
            <a:r>
              <a:rPr lang="en-US" altLang="ko-KR" dirty="0"/>
              <a:t>·</a:t>
            </a:r>
            <a:r>
              <a:rPr lang="ko-KR" altLang="en-US" dirty="0"/>
              <a:t>조치하는 데 필요한 정보만 제공</a:t>
            </a:r>
          </a:p>
        </p:txBody>
      </p:sp>
    </p:spTree>
    <p:extLst>
      <p:ext uri="{BB962C8B-B14F-4D97-AF65-F5344CB8AC3E}">
        <p14:creationId xmlns:p14="http://schemas.microsoft.com/office/powerpoint/2010/main" val="19595307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FC10CC-BF4A-46C1-B2CC-92EE3A1B8C6D}"/>
              </a:ext>
            </a:extLst>
          </p:cNvPr>
          <p:cNvSpPr txBox="1"/>
          <p:nvPr/>
        </p:nvSpPr>
        <p:spPr>
          <a:xfrm>
            <a:off x="371476" y="435820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핵심 차별점 </a:t>
            </a:r>
            <a:r>
              <a:rPr lang="en-US" altLang="ko-KR" dirty="0"/>
              <a:t>— </a:t>
            </a:r>
            <a:r>
              <a:rPr lang="ko-KR" altLang="en-US" dirty="0"/>
              <a:t>송금 버튼을 눌러도 바로 송금되지 않는다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97D306-ADBA-4E57-BE88-7F50B72A59D1}"/>
              </a:ext>
            </a:extLst>
          </p:cNvPr>
          <p:cNvSpPr txBox="1"/>
          <p:nvPr/>
        </p:nvSpPr>
        <p:spPr>
          <a:xfrm>
            <a:off x="579664" y="1451354"/>
            <a:ext cx="3633107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고위험 상태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피해자 송금 시도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     거래 보류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사전 등록 신뢰인에게</a:t>
            </a:r>
          </a:p>
          <a:p>
            <a:r>
              <a:rPr lang="ko-KR" altLang="en-US" dirty="0"/>
              <a:t>해당 거래 검토 요청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AI 분석 + 거래정보 확인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 ┌─────────┐</a:t>
            </a:r>
          </a:p>
          <a:p>
            <a:r>
              <a:rPr lang="ko-KR" altLang="en-US" dirty="0"/>
              <a:t> 승인                    거절</a:t>
            </a:r>
          </a:p>
          <a:p>
            <a:r>
              <a:rPr lang="ko-KR" altLang="en-US" dirty="0"/>
              <a:t> ↓                          ↓</a:t>
            </a:r>
          </a:p>
          <a:p>
            <a:r>
              <a:rPr lang="ko-KR" altLang="en-US" dirty="0"/>
              <a:t>추가검증              송금중단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17844D-E8C3-4FB9-AA6F-A6E5F7EBEC55}"/>
              </a:ext>
            </a:extLst>
          </p:cNvPr>
          <p:cNvSpPr txBox="1"/>
          <p:nvPr/>
        </p:nvSpPr>
        <p:spPr>
          <a:xfrm>
            <a:off x="579664" y="5845628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금융기관 자체 검증도 병렬적으로 유지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53F5C-C017-4F3D-8461-2E9A51BD6480}"/>
              </a:ext>
            </a:extLst>
          </p:cNvPr>
          <p:cNvSpPr txBox="1"/>
          <p:nvPr/>
        </p:nvSpPr>
        <p:spPr>
          <a:xfrm>
            <a:off x="5759902" y="3244334"/>
            <a:ext cx="49026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“혼자 판단하고</a:t>
            </a:r>
            <a:r>
              <a:rPr lang="en-US" altLang="ko-KR" dirty="0"/>
              <a:t>, </a:t>
            </a:r>
            <a:r>
              <a:rPr lang="ko-KR" altLang="en-US" dirty="0"/>
              <a:t>혼자 송금하지 않도록</a:t>
            </a:r>
            <a:r>
              <a:rPr lang="en-US" altLang="ko-KR" dirty="0"/>
              <a:t>.”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63304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967085-7A02-44C4-A33A-0314A96EFB46}"/>
              </a:ext>
            </a:extLst>
          </p:cNvPr>
          <p:cNvSpPr txBox="1"/>
          <p:nvPr/>
        </p:nvSpPr>
        <p:spPr>
          <a:xfrm>
            <a:off x="273504" y="337848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금융기관</a:t>
            </a:r>
            <a:r>
              <a:rPr lang="en-US" altLang="ko-KR" dirty="0"/>
              <a:t>·</a:t>
            </a:r>
            <a:r>
              <a:rPr lang="ko-KR" altLang="en-US" dirty="0"/>
              <a:t>공식기관까지 이어지는 다중 안전장치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E8E19F-BF6F-4F69-A873-59E60CE58020}"/>
              </a:ext>
            </a:extLst>
          </p:cNvPr>
          <p:cNvSpPr txBox="1"/>
          <p:nvPr/>
        </p:nvSpPr>
        <p:spPr>
          <a:xfrm>
            <a:off x="649061" y="1426335"/>
            <a:ext cx="609872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거래별 최종검토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 및 금융보안 정책에 따른 독립적인</a:t>
            </a:r>
            <a:b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추가확인·보류·차단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발생 시: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 DB/RAG → 공식 절차 확인 → 필요 시 담당자 진위검증</a:t>
            </a:r>
            <a:endParaRPr kumimoji="0" lang="en-US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반드시 명시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승인 ≠ 자동 송금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금융기관의 독립적인 보안조치는 그대로 유지.</a:t>
            </a:r>
          </a:p>
        </p:txBody>
      </p:sp>
    </p:spTree>
    <p:extLst>
      <p:ext uri="{BB962C8B-B14F-4D97-AF65-F5344CB8AC3E}">
        <p14:creationId xmlns:p14="http://schemas.microsoft.com/office/powerpoint/2010/main" val="297779263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BB9D19C-063B-421E-8908-BD606ABDBF62}"/>
              </a:ext>
            </a:extLst>
          </p:cNvPr>
          <p:cNvSpPr txBox="1"/>
          <p:nvPr/>
        </p:nvSpPr>
        <p:spPr>
          <a:xfrm>
            <a:off x="338818" y="174563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MVP </a:t>
            </a:r>
            <a:r>
              <a:rPr lang="ko-KR" altLang="en-US" dirty="0"/>
              <a:t>구현 및 실제 금융사 도입 방향</a:t>
            </a:r>
          </a:p>
        </p:txBody>
      </p:sp>
    </p:spTree>
    <p:extLst>
      <p:ext uri="{BB962C8B-B14F-4D97-AF65-F5344CB8AC3E}">
        <p14:creationId xmlns:p14="http://schemas.microsoft.com/office/powerpoint/2010/main" val="1154077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F1A043-4669-4E9F-8CDA-17A9BD192869}"/>
              </a:ext>
            </a:extLst>
          </p:cNvPr>
          <p:cNvSpPr txBox="1"/>
          <p:nvPr/>
        </p:nvSpPr>
        <p:spPr>
          <a:xfrm>
            <a:off x="306161" y="256206"/>
            <a:ext cx="6098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기대효과 </a:t>
            </a:r>
            <a:r>
              <a:rPr lang="en-US" altLang="ko-KR" dirty="0"/>
              <a:t>/ </a:t>
            </a:r>
            <a:r>
              <a:rPr lang="ko-KR" altLang="en-US" dirty="0"/>
              <a:t>금융사 가치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03C0F8-FD55-4559-ABAD-EE9CAF87F94F}"/>
              </a:ext>
            </a:extLst>
          </p:cNvPr>
          <p:cNvSpPr txBox="1"/>
          <p:nvPr/>
        </p:nvSpPr>
        <p:spPr>
          <a:xfrm>
            <a:off x="306161" y="1180294"/>
            <a:ext cx="828266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왜 금융회사가 이걸 도입해야 하는가?</a:t>
            </a:r>
            <a:endParaRPr kumimoji="0" lang="en-US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상황에서 판단부담 감소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외부 검증 확보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송금 전 마지막 보호기회 확보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금융회사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사후 대응 →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사전 개입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기존 FDS에 </a:t>
            </a: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맥락 정보 추가</a:t>
            </a: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금융소비자 보호 강화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고객·가족·금융기관을 연결하는 보호체계 구축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한 줄 마무리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보이스피싱을 더 잘 알려주는 것을 넘어,</a:t>
            </a:r>
            <a:b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피해가 발생하기 직전 금융행동 자체에 한 번 더 개입한다</a:t>
            </a:r>
            <a:endParaRPr kumimoji="0" lang="ko-KR" altLang="ko-K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293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0BCA0-5EAE-4761-88D0-ECF7BC484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187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0BCA0-5EAE-4761-88D0-ECF7BC484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3064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0BCA0-5EAE-4761-88D0-ECF7BC484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415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/>
              <a:t>기능</a:t>
            </a:r>
            <a:r>
              <a:rPr lang="en-US" altLang="ko-KR" dirty="0"/>
              <a:t>&amp;</a:t>
            </a:r>
            <a:r>
              <a:rPr lang="ko-KR" altLang="en-US" dirty="0"/>
              <a:t>기술</a:t>
            </a:r>
          </a:p>
        </p:txBody>
      </p:sp>
    </p:spTree>
    <p:extLst>
      <p:ext uri="{BB962C8B-B14F-4D97-AF65-F5344CB8AC3E}">
        <p14:creationId xmlns:p14="http://schemas.microsoft.com/office/powerpoint/2010/main" val="42714620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/>
              <a:t>작동 후 파이프라인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76256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0F6A9AB-A187-4DB2-B9B0-F6301AEE61FA}"/>
              </a:ext>
            </a:extLst>
          </p:cNvPr>
          <p:cNvSpPr txBox="1"/>
          <p:nvPr/>
        </p:nvSpPr>
        <p:spPr>
          <a:xfrm>
            <a:off x="433137" y="518281"/>
            <a:ext cx="609600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1P. 서비스 핵심 개념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독립검증형 송금방지턱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AI가 보이스피싱 위험을 탐지하고, 위험 송금 발생 시 거래를 즉시 실행하지 않고 사전 등록된 신뢰인의 최종 검토와 금융기관의 독립적인 보호조치를 거치도록 하는 다중 검증형 금융 안전 서비스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기능 5개: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① 실시간 AI 통화 위험 탐지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② 위험도·판단근거 산출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③ 역할별 맞춤 알림·리포트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④ 신뢰인 최종검토형 송금방지턱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⑤ 금융기관·공식기관 독립 검증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이 페이지는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“우리 서비스가 뭘 하는가”만 보여주는 페이지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2117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7E6DD1-8F84-4704-A58C-EE97F98F9665}"/>
              </a:ext>
            </a:extLst>
          </p:cNvPr>
          <p:cNvSpPr txBox="1"/>
          <p:nvPr/>
        </p:nvSpPr>
        <p:spPr>
          <a:xfrm>
            <a:off x="224589" y="18430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2P. </a:t>
            </a:r>
            <a:r>
              <a:rPr lang="ko-KR" altLang="en-US" dirty="0"/>
              <a:t>서비스 전체 작동 흐름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8B9A44-9136-4E72-AF92-7F59E50BB9B3}"/>
              </a:ext>
            </a:extLst>
          </p:cNvPr>
          <p:cNvSpPr txBox="1"/>
          <p:nvPr/>
        </p:nvSpPr>
        <p:spPr>
          <a:xfrm>
            <a:off x="320841" y="661601"/>
            <a:ext cx="2951748" cy="6124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통화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STT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AI 위험 분석</a:t>
            </a:r>
          </a:p>
          <a:p>
            <a:r>
              <a:rPr lang="ko-KR" altLang="en-US" sz="1400" dirty="0"/>
              <a:t>ML + LLM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최종 위험도 / 판단근거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역할별 맞춤 알림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피해자가 송금 시도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 송금방지턱 작동</a:t>
            </a:r>
          </a:p>
          <a:p>
            <a:r>
              <a:rPr lang="ko-KR" altLang="en-US" sz="1400" dirty="0"/>
              <a:t>   거래 일시 보류</a:t>
            </a:r>
          </a:p>
          <a:p>
            <a:r>
              <a:rPr lang="ko-KR" altLang="en-US" sz="1400" dirty="0"/>
              <a:t>━━━━━━━━━━━━━━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사전 등록 신뢰인에게</a:t>
            </a:r>
          </a:p>
          <a:p>
            <a:r>
              <a:rPr lang="ko-KR" altLang="en-US" sz="1400" dirty="0"/>
              <a:t>해당 거래 최종검토권 부여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 승인 / 거절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금융기관 독립 검증·보호조치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필요 시 공식기관 진위확인</a:t>
            </a:r>
          </a:p>
          <a:p>
            <a:r>
              <a:rPr lang="ko-KR" altLang="en-US" sz="1400" dirty="0"/>
              <a:t> ↓</a:t>
            </a:r>
          </a:p>
          <a:p>
            <a:r>
              <a:rPr lang="ko-KR" altLang="en-US" sz="1400" dirty="0"/>
              <a:t>송금 실행 / 추가보류 / 중단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33464B-2E20-40A9-A93A-A367400DD6B5}"/>
              </a:ext>
            </a:extLst>
          </p:cNvPr>
          <p:cNvSpPr txBox="1"/>
          <p:nvPr/>
        </p:nvSpPr>
        <p:spPr>
          <a:xfrm>
            <a:off x="3384884" y="368968"/>
            <a:ext cx="466825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강조할 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경고만 하는 서비스가 아니다.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 상황에서 실제 송금 단계에 한 번 더 개입하는 구조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라는 게 차별점</a:t>
            </a:r>
          </a:p>
        </p:txBody>
      </p:sp>
    </p:spTree>
    <p:extLst>
      <p:ext uri="{BB962C8B-B14F-4D97-AF65-F5344CB8AC3E}">
        <p14:creationId xmlns:p14="http://schemas.microsoft.com/office/powerpoint/2010/main" val="13347939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F4445FA-9682-440B-B47E-2610C4F870EB}"/>
              </a:ext>
            </a:extLst>
          </p:cNvPr>
          <p:cNvSpPr txBox="1"/>
          <p:nvPr/>
        </p:nvSpPr>
        <p:spPr>
          <a:xfrm>
            <a:off x="417094" y="369544"/>
            <a:ext cx="40586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/>
              <a:t>3P. A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통화 위험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기술만 설명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1. 음성 데이터 처리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통화 음성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STT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대화 텍스트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전처리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→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Feature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추출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추출 정보 예: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기관사칭 / 송금요구 / 긴급성 / 비밀유지 / 위협·압박 / 개인정보 요구 / 외부확인 차단</a:t>
            </a: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F6D35A-7C9F-4E1C-9B2A-3C5EE5F2E824}"/>
              </a:ext>
            </a:extLst>
          </p:cNvPr>
          <p:cNvSpPr txBox="1"/>
          <p:nvPr/>
        </p:nvSpPr>
        <p:spPr>
          <a:xfrm>
            <a:off x="4812632" y="1182231"/>
            <a:ext cx="609600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STEP 2. ML + LLM 독립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정형 Feature 기반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보이스피싱 위험확률 산출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대화 전체 맥락에서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위험요인과 판단근거 분석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4867D-E7E1-4DAF-A3D1-4146700E0C7A}"/>
              </a:ext>
            </a:extLst>
          </p:cNvPr>
          <p:cNvSpPr txBox="1"/>
          <p:nvPr/>
        </p:nvSpPr>
        <p:spPr>
          <a:xfrm>
            <a:off x="417094" y="407533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STEP 3. 결과 종합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ML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위험확률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LLM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맥락분석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최종 위험도 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+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판단근거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 = 얼마나 위험한가</a:t>
            </a:r>
            <a:b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LLM = 왜 위험한가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807288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1A61E97-AA07-42D0-A953-85EAD623A43F}"/>
              </a:ext>
            </a:extLst>
          </p:cNvPr>
          <p:cNvSpPr txBox="1"/>
          <p:nvPr/>
        </p:nvSpPr>
        <p:spPr>
          <a:xfrm>
            <a:off x="320842" y="27627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4P. </a:t>
            </a:r>
            <a:r>
              <a:rPr lang="ko-KR" altLang="en-US" b="1" dirty="0"/>
              <a:t>위험도 기반 자동 개입</a:t>
            </a:r>
          </a:p>
          <a:p>
            <a:r>
              <a:rPr lang="en-US" altLang="ko-KR" dirty="0"/>
              <a:t>AI</a:t>
            </a:r>
            <a:r>
              <a:rPr lang="ko-KR" altLang="en-US" dirty="0"/>
              <a:t>가 단순 분석으로 끝나는 게 아니라</a:t>
            </a:r>
            <a:endParaRPr lang="en-US" altLang="ko-KR" dirty="0"/>
          </a:p>
          <a:p>
            <a:r>
              <a:rPr lang="ko-KR" altLang="en-US" b="1" dirty="0"/>
              <a:t>위험 수준에 따라 시스템 행동이 달라짐</a:t>
            </a:r>
            <a:endParaRPr lang="ko-KR" altLang="en-US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6A909A9C-F039-4396-A7AE-196B7781FE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34934"/>
              </p:ext>
            </p:extLst>
          </p:nvPr>
        </p:nvGraphicFramePr>
        <p:xfrm>
          <a:off x="320842" y="1325880"/>
          <a:ext cx="6862012" cy="2103120"/>
        </p:xfrm>
        <a:graphic>
          <a:graphicData uri="http://schemas.openxmlformats.org/drawingml/2006/table">
            <a:tbl>
              <a:tblPr/>
              <a:tblGrid>
                <a:gridCol w="1905000">
                  <a:extLst>
                    <a:ext uri="{9D8B030D-6E8A-4147-A177-3AD203B41FA5}">
                      <a16:colId xmlns:a16="http://schemas.microsoft.com/office/drawing/2014/main" val="740759045"/>
                    </a:ext>
                  </a:extLst>
                </a:gridCol>
                <a:gridCol w="4957012">
                  <a:extLst>
                    <a:ext uri="{9D8B030D-6E8A-4147-A177-3AD203B41FA5}">
                      <a16:colId xmlns:a16="http://schemas.microsoft.com/office/drawing/2014/main" val="295614311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위험 수준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시스템 개입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5500532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낮음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사용자에게 분석결과 제공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53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의심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경고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52869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신뢰인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02325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매우 높음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신뢰인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금융관계자 즉시 개입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필요 시 기관검증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47474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E4F6B2-593A-4B02-BCA4-814FCD1FFCFF}"/>
              </a:ext>
            </a:extLst>
          </p:cNvPr>
          <p:cNvSpPr txBox="1"/>
          <p:nvPr/>
        </p:nvSpPr>
        <p:spPr>
          <a:xfrm>
            <a:off x="7924800" y="449178"/>
            <a:ext cx="394635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AI 분석</a:t>
            </a:r>
          </a:p>
          <a:p>
            <a:r>
              <a:rPr lang="ko-KR" altLang="en-US"/>
              <a:t>↓</a:t>
            </a:r>
          </a:p>
          <a:p>
            <a:r>
              <a:rPr lang="ko-KR" altLang="en-US"/>
              <a:t>Risk / Intervention Engine</a:t>
            </a:r>
          </a:p>
          <a:p>
            <a:r>
              <a:rPr lang="ko-KR" altLang="en-US"/>
              <a:t>↓</a:t>
            </a:r>
          </a:p>
          <a:p>
            <a:r>
              <a:rPr lang="ko-KR" altLang="en-US"/>
              <a:t>위험등급 결정</a:t>
            </a:r>
          </a:p>
          <a:p>
            <a:r>
              <a:rPr lang="ko-KR" altLang="en-US"/>
              <a:t>↓</a:t>
            </a:r>
          </a:p>
          <a:p>
            <a:r>
              <a:rPr lang="ko-KR" altLang="en-US"/>
              <a:t>누구에게 알릴지 결정</a:t>
            </a:r>
          </a:p>
          <a:p>
            <a:r>
              <a:rPr lang="ko-KR" altLang="en-US"/>
              <a:t>↓</a:t>
            </a:r>
          </a:p>
          <a:p>
            <a:r>
              <a:rPr lang="ko-KR" altLang="en-US"/>
              <a:t>어떤 정보를 전달할지 결정</a:t>
            </a:r>
          </a:p>
          <a:p>
            <a:r>
              <a:rPr lang="ko-KR" altLang="en-US"/>
              <a:t>↓</a:t>
            </a:r>
          </a:p>
          <a:p>
            <a:r>
              <a:rPr lang="ko-KR" altLang="en-US"/>
              <a:t>어떤 조치를 실행할지 결정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14BEB1-B346-4FA6-AB70-BFD9F7B7E152}"/>
              </a:ext>
            </a:extLst>
          </p:cNvPr>
          <p:cNvSpPr txBox="1"/>
          <p:nvPr/>
        </p:nvSpPr>
        <p:spPr>
          <a:xfrm>
            <a:off x="703848" y="58952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“</a:t>
            </a:r>
            <a:r>
              <a:rPr lang="en-US" altLang="ko-KR" b="1" dirty="0"/>
              <a:t>AI</a:t>
            </a:r>
            <a:r>
              <a:rPr lang="ko-KR" altLang="en-US" b="1" dirty="0"/>
              <a:t>가 판단한 다음 서비스가 어떻게 움직이는가”</a:t>
            </a:r>
            <a:r>
              <a:rPr lang="ko-KR" altLang="en-US" dirty="0"/>
              <a:t>를 설명</a:t>
            </a:r>
          </a:p>
        </p:txBody>
      </p:sp>
    </p:spTree>
    <p:extLst>
      <p:ext uri="{BB962C8B-B14F-4D97-AF65-F5344CB8AC3E}">
        <p14:creationId xmlns:p14="http://schemas.microsoft.com/office/powerpoint/2010/main" val="3010098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8614904-0F97-4C9F-9C41-61D93B3059F3}"/>
              </a:ext>
            </a:extLst>
          </p:cNvPr>
          <p:cNvSpPr txBox="1"/>
          <p:nvPr/>
        </p:nvSpPr>
        <p:spPr>
          <a:xfrm>
            <a:off x="240632" y="29659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5P. </a:t>
            </a:r>
            <a:r>
              <a:rPr lang="ko-KR" altLang="en-US" dirty="0"/>
              <a:t>역할별 맞춤 알림 및 검증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DDC27E-50EF-41DF-9A78-7FA06521C4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107843"/>
              </p:ext>
            </p:extLst>
          </p:nvPr>
        </p:nvGraphicFramePr>
        <p:xfrm>
          <a:off x="240632" y="1051560"/>
          <a:ext cx="10515600" cy="2377440"/>
        </p:xfrm>
        <a:graphic>
          <a:graphicData uri="http://schemas.openxmlformats.org/drawingml/2006/table">
            <a:tbl>
              <a:tblPr/>
              <a:tblGrid>
                <a:gridCol w="1909010">
                  <a:extLst>
                    <a:ext uri="{9D8B030D-6E8A-4147-A177-3AD203B41FA5}">
                      <a16:colId xmlns:a16="http://schemas.microsoft.com/office/drawing/2014/main" val="2630619720"/>
                    </a:ext>
                  </a:extLst>
                </a:gridCol>
                <a:gridCol w="5101390">
                  <a:extLst>
                    <a:ext uri="{9D8B030D-6E8A-4147-A177-3AD203B41FA5}">
                      <a16:colId xmlns:a16="http://schemas.microsoft.com/office/drawing/2014/main" val="142107960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63240470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대상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전달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645341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피해자 본인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위험도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핵심 위험근거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즉시 행동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종료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송금 취소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재확인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1882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신뢰인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위험상황 요약</a:t>
                      </a:r>
                      <a:r>
                        <a:rPr lang="en-US" altLang="ko-KR"/>
                        <a:t>, AI </a:t>
                      </a:r>
                      <a:r>
                        <a:rPr lang="ko-KR" altLang="en-US"/>
                        <a:t>판단근거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거래정보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해당 송금의 최종 검토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승인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거절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44323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금융관계자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거래위험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의심유형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금융 핵심정보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거래보류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추가확인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차단 등 보호조치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205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기관담당자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사칭내용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상대 주장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확인사항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실제 기관 연락인지 공식 검증</a:t>
                      </a:r>
                      <a:endParaRPr lang="ko-KR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0746166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12265AC-643E-4631-A558-BCD3D7372A7E}"/>
              </a:ext>
            </a:extLst>
          </p:cNvPr>
          <p:cNvSpPr txBox="1"/>
          <p:nvPr/>
        </p:nvSpPr>
        <p:spPr>
          <a:xfrm>
            <a:off x="401052" y="486351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핵심 문구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같은 분석 결과를 모두에게 전달하는 것이 아니라, 각 관계자에게 필요한 정보와 권한을 다르게 제공한다.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개인정보 관점에서도: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필요한 정보만 최소 전달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14282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76F9770-2664-4867-B41E-2D3AC8E5BBDB}"/>
              </a:ext>
            </a:extLst>
          </p:cNvPr>
          <p:cNvSpPr txBox="1"/>
          <p:nvPr/>
        </p:nvSpPr>
        <p:spPr>
          <a:xfrm>
            <a:off x="304800" y="248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6P. </a:t>
            </a:r>
            <a:r>
              <a:rPr lang="ko-KR" altLang="en-US"/>
              <a:t>핵심 차별 기능 </a:t>
            </a:r>
            <a:r>
              <a:rPr lang="en-US" altLang="ko-KR"/>
              <a:t>— </a:t>
            </a:r>
            <a:r>
              <a:rPr lang="ko-KR" altLang="en-US"/>
              <a:t>신뢰인 최종검토형 송금방지턱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2E1103-B2FE-4616-BA03-158360CCD99C}"/>
              </a:ext>
            </a:extLst>
          </p:cNvPr>
          <p:cNvSpPr txBox="1"/>
          <p:nvPr/>
        </p:nvSpPr>
        <p:spPr>
          <a:xfrm>
            <a:off x="304800" y="84790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/>
              <a:t>사전 설정</a:t>
            </a:r>
          </a:p>
          <a:p>
            <a:r>
              <a:rPr lang="ko-KR" altLang="en-US"/>
              <a:t>사용자가 평상시에</a:t>
            </a:r>
            <a:r>
              <a:rPr lang="en-US" altLang="ko-KR"/>
              <a:t>: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434890-B292-40A4-AD0F-8DCE2B09F958}"/>
              </a:ext>
            </a:extLst>
          </p:cNvPr>
          <p:cNvSpPr txBox="1"/>
          <p:nvPr/>
        </p:nvSpPr>
        <p:spPr>
          <a:xfrm>
            <a:off x="304800" y="1724345"/>
            <a:ext cx="3769895" cy="923330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/>
              <a:t>가족 / 보호자 / 신뢰인 등록</a:t>
            </a:r>
          </a:p>
          <a:p>
            <a:r>
              <a:rPr lang="ko-KR" altLang="en-US"/>
              <a:t>+</a:t>
            </a:r>
          </a:p>
          <a:p>
            <a:r>
              <a:rPr lang="ko-KR" altLang="en-US"/>
              <a:t>거래 최종검토 권한 사전 설정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4A192E-5702-40B8-90A7-289BE78EBEE1}"/>
              </a:ext>
            </a:extLst>
          </p:cNvPr>
          <p:cNvSpPr txBox="1"/>
          <p:nvPr/>
        </p:nvSpPr>
        <p:spPr>
          <a:xfrm>
            <a:off x="4892842" y="98640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위험 상황에서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41D3E5B-3999-4B0D-AFE5-5A86EC28F5E2}"/>
              </a:ext>
            </a:extLst>
          </p:cNvPr>
          <p:cNvSpPr txBox="1"/>
          <p:nvPr/>
        </p:nvSpPr>
        <p:spPr>
          <a:xfrm>
            <a:off x="4892842" y="1494238"/>
            <a:ext cx="3048000" cy="3970318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r>
              <a:rPr lang="ko-KR" altLang="en-US" dirty="0"/>
              <a:t>피해자가 송금 시도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즉시 송금하지 않음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[거래 일시 보류]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신뢰인에게 검토 요청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AI 분석 + 거래정보 확인</a:t>
            </a:r>
          </a:p>
          <a:p>
            <a:r>
              <a:rPr lang="ko-KR" altLang="en-US" dirty="0"/>
              <a:t>        ↓</a:t>
            </a:r>
          </a:p>
          <a:p>
            <a:r>
              <a:rPr lang="ko-KR" altLang="en-US" dirty="0"/>
              <a:t> ┌─────────┐</a:t>
            </a:r>
          </a:p>
          <a:p>
            <a:r>
              <a:rPr lang="ko-KR" altLang="en-US" dirty="0"/>
              <a:t> 승인       거절</a:t>
            </a:r>
          </a:p>
          <a:p>
            <a:r>
              <a:rPr lang="ko-KR" altLang="en-US" dirty="0"/>
              <a:t> ↓          ↓</a:t>
            </a:r>
          </a:p>
          <a:p>
            <a:r>
              <a:rPr lang="ko-KR" altLang="en-US" dirty="0"/>
              <a:t>추가진행    송금중단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4745B5-89F9-4F5F-B479-ABE3AC119177}"/>
              </a:ext>
            </a:extLst>
          </p:cNvPr>
          <p:cNvSpPr txBox="1"/>
          <p:nvPr/>
        </p:nvSpPr>
        <p:spPr>
          <a:xfrm>
            <a:off x="4716378" y="6010092"/>
            <a:ext cx="77162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주의 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“송금권한 인계”보다</a:t>
            </a: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Arial" panose="020B0604020202020204" pitchFamily="34" charset="0"/>
              </a:rPr>
              <a:t>사전 위임된 ‘해당 거래별 최종 검토권한’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7DABD-8279-4827-A6DA-6B3837A14E11}"/>
              </a:ext>
            </a:extLst>
          </p:cNvPr>
          <p:cNvSpPr txBox="1"/>
          <p:nvPr/>
        </p:nvSpPr>
        <p:spPr>
          <a:xfrm>
            <a:off x="8149389" y="4541226"/>
            <a:ext cx="349717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신뢰인이 계좌 전체를 관리하는 게 아니고</a:t>
            </a:r>
            <a:r>
              <a:rPr lang="en-US" altLang="ko-KR" dirty="0"/>
              <a:t>, </a:t>
            </a:r>
            <a:r>
              <a:rPr lang="ko-KR" altLang="en-US" b="1" dirty="0"/>
              <a:t>위험 상황의 특정 송금 건만 검토</a:t>
            </a:r>
            <a:r>
              <a:rPr lang="ko-KR" altLang="en-US" dirty="0"/>
              <a:t>하는 구조</a:t>
            </a:r>
          </a:p>
        </p:txBody>
      </p:sp>
    </p:spTree>
    <p:extLst>
      <p:ext uri="{BB962C8B-B14F-4D97-AF65-F5344CB8AC3E}">
        <p14:creationId xmlns:p14="http://schemas.microsoft.com/office/powerpoint/2010/main" val="10304302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365229B-314D-4236-AA5A-4FAC928CC8D5}"/>
              </a:ext>
            </a:extLst>
          </p:cNvPr>
          <p:cNvSpPr txBox="1"/>
          <p:nvPr/>
        </p:nvSpPr>
        <p:spPr>
          <a:xfrm>
            <a:off x="401053" y="370999"/>
            <a:ext cx="927233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7P. 금융기관·공식기관까지 이어지는 다중 안전장치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한 명에게 모든 책임을 넘기는 구조가 아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님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ko-KR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신뢰인이 승인해도: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금융기관의 보안 판단은 별도로 작동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신뢰인 승인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금융기관 독립 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정상 → 송금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의심 → 추가 인증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확인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고위험 → 보류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차단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보호조치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즉,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신뢰인 승인 ≠ 금융보안 우회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F3AA7-40C0-4539-A8AE-386136FF2AB2}"/>
              </a:ext>
            </a:extLst>
          </p:cNvPr>
          <p:cNvSpPr txBox="1"/>
          <p:nvPr/>
        </p:nvSpPr>
        <p:spPr>
          <a:xfrm>
            <a:off x="4572000" y="1433769"/>
            <a:ext cx="6096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공식기관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기관사칭 탐지 시: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기관명 추출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공식기관 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DB / RAG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정상 절차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·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공식 연락처 비교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자동 진위검증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↓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필요 시 실제 기관담당자 확인</a:t>
            </a:r>
            <a:endParaRPr lang="en-US" altLang="ko-KR" sz="1600" dirty="0"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기관은 송금을 승인하는 사람이 아니라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우리 기관이 연락한 것이 맞는가?”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확인하는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공식 진위검증 주체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83309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91510B7-C1BF-4930-B552-4B71CB33AC2A}"/>
              </a:ext>
            </a:extLst>
          </p:cNvPr>
          <p:cNvSpPr txBox="1"/>
          <p:nvPr/>
        </p:nvSpPr>
        <p:spPr>
          <a:xfrm>
            <a:off x="3048000" y="1584158"/>
            <a:ext cx="6096000" cy="33855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highlight>
                  <a:srgbClr val="FFFF00"/>
                </a:highlight>
              </a:rPr>
              <a:t>전체 흐름</a:t>
            </a:r>
            <a:endParaRPr lang="en-US" altLang="ko-KR" sz="2000" dirty="0">
              <a:highlight>
                <a:srgbClr val="FFFF00"/>
              </a:highlight>
            </a:endParaRPr>
          </a:p>
          <a:p>
            <a:pPr algn="ctr"/>
            <a:endParaRPr lang="en-US" altLang="ko-KR" sz="1400" dirty="0"/>
          </a:p>
          <a:p>
            <a:pPr algn="ctr"/>
            <a:r>
              <a:rPr lang="ko-KR" altLang="en-US" sz="1400" dirty="0"/>
              <a:t>AI 1차 독립분석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위험 상황 탐지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┌───────────┼───────────┐</a:t>
            </a:r>
          </a:p>
          <a:p>
            <a:pPr algn="ctr"/>
            <a:r>
              <a:rPr lang="ko-KR" altLang="en-US" sz="1400" dirty="0"/>
              <a:t>↓                                ↓                                ↓</a:t>
            </a:r>
          </a:p>
          <a:p>
            <a:pPr algn="ctr"/>
            <a:r>
              <a:rPr lang="ko-KR" altLang="en-US" sz="1400" dirty="0"/>
              <a:t>피해자                         신뢰인                        금융기관</a:t>
            </a:r>
          </a:p>
          <a:p>
            <a:pPr algn="ctr"/>
            <a:r>
              <a:rPr lang="ko-KR" altLang="en-US" sz="1400" dirty="0"/>
              <a:t>경고                          거래검토                      금융조치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필요 시 기관</a:t>
            </a:r>
          </a:p>
          <a:p>
            <a:pPr algn="ctr"/>
            <a:r>
              <a:rPr lang="ko-KR" altLang="en-US" sz="1400" dirty="0"/>
              <a:t>공식 진위검증</a:t>
            </a:r>
          </a:p>
          <a:p>
            <a:pPr algn="ctr"/>
            <a:r>
              <a:rPr lang="ko-KR" altLang="en-US" sz="1400" dirty="0"/>
              <a:t>↓</a:t>
            </a:r>
          </a:p>
          <a:p>
            <a:pPr algn="ctr"/>
            <a:r>
              <a:rPr lang="ko-KR" altLang="en-US" sz="1400" dirty="0"/>
              <a:t>최종 거래 보호</a:t>
            </a:r>
          </a:p>
        </p:txBody>
      </p:sp>
    </p:spTree>
    <p:extLst>
      <p:ext uri="{BB962C8B-B14F-4D97-AF65-F5344CB8AC3E}">
        <p14:creationId xmlns:p14="http://schemas.microsoft.com/office/powerpoint/2010/main" val="7701411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5899F-DFA1-4A8D-AD47-A26B3FC5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450" y="4727575"/>
            <a:ext cx="10515600" cy="1325563"/>
          </a:xfrm>
        </p:spPr>
        <p:txBody>
          <a:bodyPr/>
          <a:lstStyle/>
          <a:p>
            <a:r>
              <a:rPr lang="ko-KR" altLang="en-US" dirty="0"/>
              <a:t>구현 기술 </a:t>
            </a:r>
            <a:r>
              <a:rPr lang="ko-KR" altLang="en-US"/>
              <a:t>및 파이프라인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8873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408DFC-6F83-48DF-9A2F-96E6E6457AE4}"/>
              </a:ext>
            </a:extLst>
          </p:cNvPr>
          <p:cNvSpPr txBox="1"/>
          <p:nvPr/>
        </p:nvSpPr>
        <p:spPr>
          <a:xfrm>
            <a:off x="266700" y="308870"/>
            <a:ext cx="6096000" cy="385951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[0. 사전 설정]</a:t>
            </a:r>
          </a:p>
          <a:p>
            <a:r>
              <a:rPr lang="ko-KR" altLang="en-US" dirty="0"/>
              <a:t>사용자 가입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신뢰인 등록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거래별 최종검토 권한 사전 동의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알림 대상 / 금융기관 연계정보 설정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━━━━━━━━━━ 통화 위험 분석 ━━━━━━━━━━</a:t>
            </a:r>
          </a:p>
          <a:p>
            <a:endParaRPr lang="ko-KR" altLang="en-US" dirty="0"/>
          </a:p>
          <a:p>
            <a:r>
              <a:rPr lang="ko-KR" altLang="en-US" dirty="0"/>
              <a:t>[1. 통화 데이터 수집]</a:t>
            </a:r>
          </a:p>
          <a:p>
            <a:r>
              <a:rPr lang="ko-KR" altLang="en-US" dirty="0"/>
              <a:t>통화 음성 / 녹음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STT API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대화 텍스트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[2. 데이터 전처리·Feature 생성]</a:t>
            </a:r>
          </a:p>
          <a:p>
            <a:r>
              <a:rPr lang="ko-KR" altLang="en-US" dirty="0"/>
              <a:t>텍스트 정제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기관명 / 송금요구 / 긴급성 /</a:t>
            </a:r>
          </a:p>
          <a:p>
            <a:r>
              <a:rPr lang="ko-KR" altLang="en-US" dirty="0"/>
              <a:t>비밀유지 / 위협 / 개인정보요구 등 추출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ML 입력 Feature 생성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[3. AI 독립 분석]</a:t>
            </a:r>
          </a:p>
          <a:p>
            <a:r>
              <a:rPr lang="ko-KR" altLang="en-US" dirty="0"/>
              <a:t>       ┌──────────────┐</a:t>
            </a:r>
          </a:p>
          <a:p>
            <a:r>
              <a:rPr lang="ko-KR" altLang="en-US" dirty="0"/>
              <a:t>       ↓              ↓</a:t>
            </a:r>
          </a:p>
          <a:p>
            <a:r>
              <a:rPr lang="ko-KR" altLang="en-US" dirty="0"/>
              <a:t>      ML             LLM</a:t>
            </a:r>
          </a:p>
          <a:p>
            <a:r>
              <a:rPr lang="ko-KR" altLang="en-US" dirty="0"/>
              <a:t> 위험확률 산출     맥락·수법 분석</a:t>
            </a:r>
          </a:p>
          <a:p>
            <a:r>
              <a:rPr lang="ko-KR" altLang="en-US" dirty="0"/>
              <a:t>       ↓              ↓</a:t>
            </a:r>
          </a:p>
          <a:p>
            <a:r>
              <a:rPr lang="ko-KR" altLang="en-US" dirty="0"/>
              <a:t>       └──────┬───────┘</a:t>
            </a:r>
          </a:p>
          <a:p>
            <a:r>
              <a:rPr lang="ko-KR" altLang="en-US" dirty="0"/>
              <a:t>              ↓</a:t>
            </a:r>
          </a:p>
          <a:p>
            <a:r>
              <a:rPr lang="ko-KR" altLang="en-US" dirty="0"/>
              <a:t>       Risk Fusion Engine</a:t>
            </a:r>
          </a:p>
          <a:p>
            <a:r>
              <a:rPr lang="ko-KR" altLang="en-US" dirty="0"/>
              <a:t>              ↓</a:t>
            </a:r>
          </a:p>
          <a:p>
            <a:r>
              <a:rPr lang="ko-KR" altLang="en-US" dirty="0"/>
              <a:t>     최종 위험도 + 판단근거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[4. 위험 수준별 개입 결정]</a:t>
            </a:r>
          </a:p>
          <a:p>
            <a:r>
              <a:rPr lang="ko-KR" altLang="en-US" dirty="0"/>
              <a:t>Risk / Intervention Engine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LOW / MEDIUM / HIGH / CRITICAL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누구에게 알릴지</a:t>
            </a:r>
          </a:p>
          <a:p>
            <a:r>
              <a:rPr lang="ko-KR" altLang="en-US" dirty="0"/>
              <a:t>무엇을 전달할지</a:t>
            </a:r>
          </a:p>
          <a:p>
            <a:r>
              <a:rPr lang="ko-KR" altLang="en-US" dirty="0"/>
              <a:t>어떤 조치를 취할지 결정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[5. 역할별 맞춤 알림]</a:t>
            </a:r>
          </a:p>
          <a:p>
            <a:r>
              <a:rPr lang="ko-KR" altLang="en-US" dirty="0"/>
              <a:t>       ┌────────┬────────┬────────┐</a:t>
            </a:r>
          </a:p>
          <a:p>
            <a:r>
              <a:rPr lang="ko-KR" altLang="en-US" dirty="0"/>
              <a:t>       ↓        ↓        ↓        ↓</a:t>
            </a:r>
          </a:p>
          <a:p>
            <a:r>
              <a:rPr lang="ko-KR" altLang="en-US" dirty="0"/>
              <a:t>     피해자    신뢰인   금융관계자 기관담당자*</a:t>
            </a:r>
          </a:p>
          <a:p>
            <a:r>
              <a:rPr lang="ko-KR" altLang="en-US" dirty="0"/>
              <a:t>       ↓        ↓        ↓        ↓</a:t>
            </a:r>
          </a:p>
          <a:p>
            <a:r>
              <a:rPr lang="ko-KR" altLang="en-US" dirty="0"/>
              <a:t>      경고     상황요약   거래위험   사칭확인</a:t>
            </a:r>
          </a:p>
          <a:p>
            <a:r>
              <a:rPr lang="ko-KR" altLang="en-US" dirty="0"/>
              <a:t>      행동안내  검토준비   보호조치   진위검증</a:t>
            </a:r>
          </a:p>
          <a:p>
            <a:endParaRPr lang="ko-KR" altLang="en-US" dirty="0"/>
          </a:p>
          <a:p>
            <a:r>
              <a:rPr lang="ko-KR" altLang="en-US" dirty="0"/>
              <a:t>* 기관담당자는 필요한 경우에만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━━━━━━━━━━ 실제 송금 개입 ━━━━━━━━━━</a:t>
            </a:r>
          </a:p>
          <a:p>
            <a:endParaRPr lang="ko-KR" altLang="en-US" dirty="0"/>
          </a:p>
          <a:p>
            <a:r>
              <a:rPr lang="ko-KR" altLang="en-US" dirty="0"/>
              <a:t>[6. 사용자가 송금 시도]</a:t>
            </a:r>
          </a:p>
          <a:p>
            <a:r>
              <a:rPr lang="ko-KR" altLang="en-US" dirty="0"/>
              <a:t>송금 요청 발생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위험 상태 조회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고위험 조건 해당 여부 판단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[7. 송금방지턱 작동]</a:t>
            </a:r>
          </a:p>
          <a:p>
            <a:r>
              <a:rPr lang="ko-KR" altLang="en-US" dirty="0"/>
              <a:t>고위험이면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즉시 송금 X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 일시 보류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해당 송금 Transaction 생성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[8. 신뢰인 최종검토]</a:t>
            </a:r>
          </a:p>
          <a:p>
            <a:r>
              <a:rPr lang="ko-KR" altLang="en-US" dirty="0"/>
              <a:t>사전 등록 신뢰인에게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거래정보 + AI 위험분석 전달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[승인] / [거절]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거절 → 송금 중단</a:t>
            </a:r>
          </a:p>
          <a:p>
            <a:r>
              <a:rPr lang="ko-KR" altLang="en-US" dirty="0"/>
              <a:t>승인 → 다음 검증 단계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[9. 금융기관 독립 검증]</a:t>
            </a:r>
          </a:p>
          <a:p>
            <a:r>
              <a:rPr lang="ko-KR" altLang="en-US" dirty="0"/>
              <a:t>은행/FDS/보안담당자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AI 위험정보 + 거래정보 확인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정상 / 추가확인 / 보류 / 차단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금융기관 자체 보호조치</a:t>
            </a:r>
          </a:p>
          <a:p>
            <a:endParaRPr lang="ko-KR" altLang="en-US" dirty="0"/>
          </a:p>
          <a:p>
            <a:r>
              <a:rPr lang="ko-KR" altLang="en-US" dirty="0"/>
              <a:t>※ 신뢰인 승인 ≠ 자동 송금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[10. 필요 시 공식기관 검증]</a:t>
            </a:r>
          </a:p>
          <a:p>
            <a:r>
              <a:rPr lang="ko-KR" altLang="en-US" dirty="0"/>
              <a:t>기관사칭 탐지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기관 DB/RAG 조회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공식 절차·연락처 검증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필요 시 기관담당자 확인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검증 결과 관계자에게 전달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[11. 최종 거래 처리]</a:t>
            </a:r>
          </a:p>
          <a:p>
            <a:r>
              <a:rPr lang="ko-KR" altLang="en-US" dirty="0"/>
              <a:t>모든 필요한 검증 결과 종합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송금 실행</a:t>
            </a:r>
          </a:p>
          <a:p>
            <a:r>
              <a:rPr lang="ko-KR" altLang="en-US" dirty="0"/>
              <a:t>OR</a:t>
            </a:r>
          </a:p>
          <a:p>
            <a:r>
              <a:rPr lang="ko-KR" altLang="en-US" dirty="0"/>
              <a:t>추가 보류</a:t>
            </a:r>
          </a:p>
          <a:p>
            <a:r>
              <a:rPr lang="ko-KR" altLang="en-US" dirty="0"/>
              <a:t>OR</a:t>
            </a:r>
          </a:p>
          <a:p>
            <a:r>
              <a:rPr lang="ko-KR" altLang="en-US" dirty="0"/>
              <a:t>송금 취소·차단</a:t>
            </a:r>
          </a:p>
          <a:p>
            <a:endParaRPr lang="ko-KR" altLang="en-US" dirty="0"/>
          </a:p>
          <a:p>
            <a:endParaRPr lang="ko-KR" altLang="en-US" dirty="0"/>
          </a:p>
          <a:p>
            <a:r>
              <a:rPr lang="ko-KR" altLang="en-US" dirty="0"/>
              <a:t>[12. 사후 리포트]</a:t>
            </a:r>
          </a:p>
          <a:p>
            <a:r>
              <a:rPr lang="ko-KR" altLang="en-US" dirty="0"/>
              <a:t>LLM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피해자 / 신뢰인 / 금융관계자별</a:t>
            </a:r>
          </a:p>
          <a:p>
            <a:r>
              <a:rPr lang="ko-KR" altLang="en-US" dirty="0"/>
              <a:t>맞춤 분석 리포트 생성</a:t>
            </a:r>
          </a:p>
          <a:p>
            <a:r>
              <a:rPr lang="ko-KR" altLang="en-US" dirty="0"/>
              <a:t>↓</a:t>
            </a:r>
          </a:p>
          <a:p>
            <a:r>
              <a:rPr lang="ko-KR" altLang="en-US" dirty="0"/>
              <a:t>기록 저장</a:t>
            </a:r>
          </a:p>
        </p:txBody>
      </p:sp>
    </p:spTree>
    <p:extLst>
      <p:ext uri="{BB962C8B-B14F-4D97-AF65-F5344CB8AC3E}">
        <p14:creationId xmlns:p14="http://schemas.microsoft.com/office/powerpoint/2010/main" val="20535908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340983-5EDB-4C9A-8184-60F2592275E8}"/>
              </a:ext>
            </a:extLst>
          </p:cNvPr>
          <p:cNvSpPr txBox="1"/>
          <p:nvPr/>
        </p:nvSpPr>
        <p:spPr>
          <a:xfrm>
            <a:off x="209550" y="2534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기술 모듈로 나누면 </a:t>
            </a:r>
            <a:r>
              <a:rPr lang="en-US" altLang="ko-KR" dirty="0"/>
              <a:t>8</a:t>
            </a:r>
            <a:r>
              <a:rPr lang="ko-KR" altLang="en-US" dirty="0"/>
              <a:t>개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3F363E-7689-442D-954E-98442BDACE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690900"/>
              </p:ext>
            </p:extLst>
          </p:nvPr>
        </p:nvGraphicFramePr>
        <p:xfrm>
          <a:off x="209550" y="823754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45708607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5595293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292605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dirty="0"/>
                        <a:t>모듈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역할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주요 기술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47197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① 사용자</a:t>
                      </a:r>
                      <a:r>
                        <a:rPr lang="en-US" altLang="ko-KR" b="1"/>
                        <a:t>·</a:t>
                      </a:r>
                      <a:r>
                        <a:rPr lang="ko-KR" altLang="en-US" b="1"/>
                        <a:t>권한 관리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신뢰인 등록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/>
                        <a:t>검토권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DB, </a:t>
                      </a:r>
                      <a:r>
                        <a:rPr lang="ko-KR" altLang="en-US"/>
                        <a:t>인증</a:t>
                      </a:r>
                      <a:r>
                        <a:rPr lang="en-US" altLang="ko-KR"/>
                        <a:t>, </a:t>
                      </a:r>
                      <a:r>
                        <a:rPr lang="en-US"/>
                        <a:t>CRUD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9868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② 음성 처리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→ 텍스트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STT 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1008904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③ Feature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ML</a:t>
                      </a:r>
                      <a:r>
                        <a:rPr lang="ko-KR" altLang="en-US"/>
                        <a:t>용 위험 피처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Python/NLP/Rule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0151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④ AI Detection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위험확률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맥락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ML + LLM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064719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⑤ Risk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최종 위험도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개입수준 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ML </a:t>
                      </a:r>
                      <a:r>
                        <a:rPr lang="ko-KR" altLang="en-US"/>
                        <a:t>결과 </a:t>
                      </a:r>
                      <a:r>
                        <a:rPr lang="en-US" altLang="ko-KR"/>
                        <a:t>+ </a:t>
                      </a:r>
                      <a:r>
                        <a:rPr lang="en-US"/>
                        <a:t>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0310010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⑥ Notification Engine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대상별 맞춤 알림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Push/WebSocket/API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931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⑦ Transaction Guard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송금 보류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신뢰인 승인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거절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Backend + DB + </a:t>
                      </a:r>
                      <a:r>
                        <a:rPr lang="ko-KR" altLang="en-US"/>
                        <a:t>금융 </a:t>
                      </a:r>
                      <a:r>
                        <a:rPr lang="en-US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937460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⑧ Verification Engine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금융기관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공식기관 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금융사 연계 </a:t>
                      </a:r>
                      <a:r>
                        <a:rPr lang="en-US" altLang="ko-KR" dirty="0"/>
                        <a:t>+ RAG/</a:t>
                      </a:r>
                      <a:r>
                        <a:rPr lang="ko-KR" altLang="en-US" dirty="0"/>
                        <a:t>공식 </a:t>
                      </a:r>
                      <a:r>
                        <a:rPr lang="en-US" altLang="ko-KR" dirty="0"/>
                        <a:t>DB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9080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135253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DA2B7B1-8978-4C52-971F-0A0D8E33D693}"/>
              </a:ext>
            </a:extLst>
          </p:cNvPr>
          <p:cNvSpPr txBox="1"/>
          <p:nvPr/>
        </p:nvSpPr>
        <p:spPr>
          <a:xfrm>
            <a:off x="297180" y="355848"/>
            <a:ext cx="6096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특히 중요한 부분: AI와 송금방지턱은 별도 시스템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PPT에서 구분해주는 게 좋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음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A. AI Detection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→ STT → Feature → ML + LLM → 위험도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여기까지는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“위험을 발견하는 기술”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B. Intervention Pipeline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위험도 → 알림 → 송금 시도 감지 → 거래보류 → 신뢰인 검토 → 금융기관 독립검증 → 거래 처리</a:t>
            </a:r>
            <a:endParaRPr kumimoji="0" lang="en-US" altLang="ko-KR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400" b="1" dirty="0">
                <a:latin typeface="Arial" panose="020B0604020202020204" pitchFamily="34" charset="0"/>
              </a:rPr>
              <a:t>(</a:t>
            </a:r>
            <a:r>
              <a:rPr lang="ko-KR" altLang="en-US" sz="1400" b="1" dirty="0">
                <a:latin typeface="Arial" panose="020B0604020202020204" pitchFamily="34" charset="0"/>
              </a:rPr>
              <a:t>거래보류 </a:t>
            </a:r>
            <a:r>
              <a:rPr lang="en-US" altLang="ko-KR" sz="1400" b="1" dirty="0">
                <a:latin typeface="Arial" panose="020B0604020202020204" pitchFamily="34" charset="0"/>
              </a:rPr>
              <a:t>~ </a:t>
            </a:r>
            <a:r>
              <a:rPr lang="ko-KR" altLang="en-US" sz="1400" b="1" dirty="0">
                <a:latin typeface="Arial" panose="020B0604020202020204" pitchFamily="34" charset="0"/>
              </a:rPr>
              <a:t>독립검증 사이 단계는 동시에 병행되어야 함</a:t>
            </a:r>
            <a:r>
              <a:rPr lang="en-US" altLang="ko-KR" sz="1400" b="1" dirty="0">
                <a:latin typeface="Arial" panose="020B0604020202020204" pitchFamily="34" charset="0"/>
              </a:rPr>
              <a:t>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여기가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“실제로 피해를 막는 기술”</a:t>
            </a:r>
            <a:endParaRPr kumimoji="0" lang="en-US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sz="14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 이 서비스의 핵심은 단순히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AI가 보이스피싱을 잘 맞힌다</a:t>
            </a:r>
            <a:r>
              <a:rPr lang="en-US" altLang="ko-KR" sz="1400" dirty="0"/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가 아니라,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AI의 판단 결과가 실제 금융거래의 실행 흐름을 변경한다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는 </a:t>
            </a:r>
            <a:r>
              <a:rPr kumimoji="0" lang="ko-KR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것</a:t>
            </a:r>
            <a:r>
              <a:rPr kumimoji="0" lang="en-US" altLang="ko-KR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  <a:endParaRPr kumimoji="0" lang="ko-KR" altLang="ko-K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772822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007813D-B55B-46A3-968C-432722585B3D}"/>
              </a:ext>
            </a:extLst>
          </p:cNvPr>
          <p:cNvSpPr txBox="1"/>
          <p:nvPr/>
        </p:nvSpPr>
        <p:spPr>
          <a:xfrm>
            <a:off x="137160" y="127754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dirty="0"/>
              <a:t>기능 구현 </a:t>
            </a:r>
            <a:r>
              <a:rPr lang="en-US" altLang="ko-KR" dirty="0"/>
              <a:t>Pipeline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CBEF7E-CC74-47CD-BCCB-A6ED86191372}"/>
              </a:ext>
            </a:extLst>
          </p:cNvPr>
          <p:cNvSpPr txBox="1"/>
          <p:nvPr/>
        </p:nvSpPr>
        <p:spPr>
          <a:xfrm>
            <a:off x="266700" y="816551"/>
            <a:ext cx="6096000" cy="86792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① 사전 설정</a:t>
            </a:r>
          </a:p>
          <a:p>
            <a:r>
              <a:rPr lang="ko-KR" altLang="en-US" dirty="0"/>
              <a:t>사용자 · 신뢰인 · 검토권 등록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② 통화 분석</a:t>
            </a:r>
          </a:p>
          <a:p>
            <a:r>
              <a:rPr lang="ko-KR" altLang="en-US" dirty="0"/>
              <a:t>음성 → STT → Feature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③ AI 위험 탐지</a:t>
            </a:r>
          </a:p>
          <a:p>
            <a:r>
              <a:rPr lang="ko-KR" altLang="en-US" dirty="0"/>
              <a:t>ML 위험확률 + LLM 맥락분석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④ Risk Engine</a:t>
            </a:r>
          </a:p>
          <a:p>
            <a:r>
              <a:rPr lang="ko-KR" altLang="en-US" dirty="0"/>
              <a:t>최종 위험도 · 개입 수준 결정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⑤ 역할별 맞춤 알림</a:t>
            </a:r>
            <a:r>
              <a:rPr lang="en-US" altLang="ko-KR" dirty="0"/>
              <a:t>(</a:t>
            </a:r>
            <a:r>
              <a:rPr lang="ko-KR" altLang="en-US" dirty="0"/>
              <a:t>레포트</a:t>
            </a:r>
            <a:r>
              <a:rPr lang="en-US" altLang="ko-KR" dirty="0"/>
              <a:t>&amp;</a:t>
            </a:r>
            <a:r>
              <a:rPr lang="ko-KR" altLang="en-US" dirty="0"/>
              <a:t>브리프</a:t>
            </a:r>
            <a:r>
              <a:rPr lang="en-US" altLang="ko-KR" dirty="0"/>
              <a:t>)</a:t>
            </a:r>
            <a:endParaRPr lang="ko-KR" altLang="en-US" dirty="0"/>
          </a:p>
          <a:p>
            <a:r>
              <a:rPr lang="ko-KR" altLang="en-US" dirty="0"/>
              <a:t>피해자 · 신뢰인 · 금융관계자 · 기관*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⑥ 피해자의 송금 시도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⑦ Transaction Guard</a:t>
            </a:r>
          </a:p>
          <a:p>
            <a:r>
              <a:rPr lang="ko-KR" altLang="en-US" dirty="0"/>
              <a:t>고위험 거래 일시 보류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⑧ 다중 검증</a:t>
            </a:r>
          </a:p>
          <a:p>
            <a:r>
              <a:rPr lang="ko-KR" altLang="en-US" dirty="0"/>
              <a:t>신뢰인 최종검토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금융기관 독립검증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필요 시 공식기관 검증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⑨ 최종 처리</a:t>
            </a:r>
          </a:p>
          <a:p>
            <a:r>
              <a:rPr lang="ko-KR" altLang="en-US" dirty="0"/>
              <a:t>송금 / 추가보류 / 취소·차단</a:t>
            </a:r>
          </a:p>
          <a:p>
            <a:r>
              <a:rPr lang="ko-KR" altLang="en-US" dirty="0"/>
              <a:t>            ↓</a:t>
            </a:r>
          </a:p>
          <a:p>
            <a:r>
              <a:rPr lang="ko-KR" altLang="en-US" dirty="0"/>
              <a:t>⑩ 맞춤 리포트·기록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990909-B98C-4EBE-817F-7EA574A7ECAD}"/>
              </a:ext>
            </a:extLst>
          </p:cNvPr>
          <p:cNvSpPr txBox="1"/>
          <p:nvPr/>
        </p:nvSpPr>
        <p:spPr>
          <a:xfrm>
            <a:off x="5422900" y="497086"/>
            <a:ext cx="39243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실시간 통화 분석 → 실제 은행 송금 이벤트 연동 → 거래 일시보류 → 신뢰인 공동검토 → 금융기관 보안 시스템</a:t>
            </a:r>
            <a:r>
              <a:rPr lang="en-US" altLang="ko-KR" dirty="0">
                <a:highlight>
                  <a:srgbClr val="FFFF00"/>
                </a:highlight>
              </a:rPr>
              <a:t>/FDS → </a:t>
            </a:r>
            <a:r>
              <a:rPr lang="ko-KR" altLang="en-US" dirty="0">
                <a:highlight>
                  <a:srgbClr val="FFFF00"/>
                </a:highlight>
              </a:rPr>
              <a:t>실제 거래 처리</a:t>
            </a:r>
            <a:endParaRPr lang="en-US" altLang="ko-KR" dirty="0">
              <a:highlight>
                <a:srgbClr val="FFFF00"/>
              </a:highlight>
            </a:endParaRPr>
          </a:p>
          <a:p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/>
              <a:t>“전체 구조를 작동하는 가상 금융거래로 구현하고 실제 도입 시 은행 거래시스템에 연계한다”</a:t>
            </a:r>
            <a:endParaRPr lang="ko-KR" altLang="en-US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2159485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BF0BCA0-5EAE-4761-88D0-ECF7BC484B1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169531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AB4A-2487-4F5A-AA9D-9C09C2AB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37" y="5113589"/>
            <a:ext cx="10515600" cy="1325563"/>
          </a:xfrm>
        </p:spPr>
        <p:txBody>
          <a:bodyPr/>
          <a:lstStyle/>
          <a:p>
            <a:r>
              <a:rPr lang="ko-KR" altLang="en-US" dirty="0"/>
              <a:t>작동 트리거</a:t>
            </a:r>
          </a:p>
        </p:txBody>
      </p:sp>
    </p:spTree>
    <p:extLst>
      <p:ext uri="{BB962C8B-B14F-4D97-AF65-F5344CB8AC3E}">
        <p14:creationId xmlns:p14="http://schemas.microsoft.com/office/powerpoint/2010/main" val="406486298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82D0994-16C3-4AA6-9249-7CBFC41201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8531186"/>
              </p:ext>
            </p:extLst>
          </p:nvPr>
        </p:nvGraphicFramePr>
        <p:xfrm>
          <a:off x="334879" y="330660"/>
          <a:ext cx="10515600" cy="2743200"/>
        </p:xfrm>
        <a:graphic>
          <a:graphicData uri="http://schemas.openxmlformats.org/drawingml/2006/table">
            <a:tbl>
              <a:tblPr/>
              <a:tblGrid>
                <a:gridCol w="2578768">
                  <a:extLst>
                    <a:ext uri="{9D8B030D-6E8A-4147-A177-3AD203B41FA5}">
                      <a16:colId xmlns:a16="http://schemas.microsoft.com/office/drawing/2014/main" val="658096133"/>
                    </a:ext>
                  </a:extLst>
                </a:gridCol>
                <a:gridCol w="4431632">
                  <a:extLst>
                    <a:ext uri="{9D8B030D-6E8A-4147-A177-3AD203B41FA5}">
                      <a16:colId xmlns:a16="http://schemas.microsoft.com/office/drawing/2014/main" val="189253569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9116973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/>
                        <a:t>시점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감지하는 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서비스 동작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6066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전화 수신 전</a:t>
                      </a:r>
                      <a:r>
                        <a:rPr lang="en-US" altLang="ko-KR" b="1"/>
                        <a:t>/</a:t>
                      </a:r>
                      <a:r>
                        <a:rPr lang="ko-KR" altLang="en-US" b="1"/>
                        <a:t>직후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ASAP·</a:t>
                      </a:r>
                      <a:r>
                        <a:rPr lang="ko-KR" altLang="en-US"/>
                        <a:t>통신사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신고이력 등에서 위험번호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주의가 필요한 전화입니다 → 위험분석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67944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통화 중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사용자가 직접 의심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 위험분석 버튼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20161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통화 중 은행앱 실행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통화하면서 은행앱 진입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강한 경고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분석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1834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b="1"/>
                        <a:t>송금 화면 진입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신규 수취인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고액</a:t>
                      </a:r>
                      <a:r>
                        <a:rPr lang="en-US" altLang="ko-KR"/>
                        <a:t>·</a:t>
                      </a:r>
                      <a:r>
                        <a:rPr lang="ko-KR" altLang="en-US"/>
                        <a:t>이상거래 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/>
                        <a:t>FDS </a:t>
                      </a:r>
                      <a:r>
                        <a:rPr lang="ko-KR" altLang="en-US"/>
                        <a:t>판단 </a:t>
                      </a:r>
                      <a:r>
                        <a:rPr lang="en-US" altLang="ko-KR"/>
                        <a:t>+ </a:t>
                      </a:r>
                      <a:r>
                        <a:rPr lang="ko-KR" altLang="en-US"/>
                        <a:t>분석 시작 제안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4200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FDS/ASAP </a:t>
                      </a:r>
                      <a:r>
                        <a:rPr lang="ko-KR" altLang="en-US" b="1"/>
                        <a:t>위험 탐지</a:t>
                      </a:r>
                      <a:endParaRPr lang="ko-KR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의심계좌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의심번호</a:t>
                      </a:r>
                      <a:r>
                        <a:rPr lang="en-US" altLang="ko-KR"/>
                        <a:t>/</a:t>
                      </a:r>
                      <a:r>
                        <a:rPr lang="ko-KR" altLang="en-US"/>
                        <a:t>이상거래 결합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거래 보류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추가확인 </a:t>
                      </a:r>
                      <a:r>
                        <a:rPr lang="en-US" altLang="ko-KR" dirty="0"/>
                        <a:t>+ </a:t>
                      </a:r>
                      <a:r>
                        <a:rPr lang="ko-KR" altLang="en-US" dirty="0"/>
                        <a:t>필요하면 통화분석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828986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260EBBE-B749-4F78-ACD8-DFD47B0207AF}"/>
              </a:ext>
            </a:extLst>
          </p:cNvPr>
          <p:cNvSpPr txBox="1"/>
          <p:nvPr/>
        </p:nvSpPr>
        <p:spPr>
          <a:xfrm>
            <a:off x="334879" y="3517441"/>
            <a:ext cx="4920916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전화가 옴</a:t>
            </a:r>
          </a:p>
          <a:p>
            <a:r>
              <a:rPr lang="ko-KR" altLang="en-US" dirty="0"/>
              <a:t> ↓</a:t>
            </a:r>
          </a:p>
          <a:p>
            <a:r>
              <a:rPr lang="ko-KR" altLang="en-US" dirty="0"/>
              <a:t>[녹음 X]</a:t>
            </a:r>
          </a:p>
          <a:p>
            <a:endParaRPr lang="ko-KR" altLang="en-US" dirty="0"/>
          </a:p>
          <a:p>
            <a:r>
              <a:rPr lang="ko-KR" altLang="en-US" dirty="0"/>
              <a:t>번호 / ASAP / 통신사 정보 확인</a:t>
            </a:r>
          </a:p>
          <a:p>
            <a:r>
              <a:rPr lang="ko-KR" altLang="en-US" dirty="0"/>
              <a:t> ↓</a:t>
            </a:r>
          </a:p>
          <a:p>
            <a:r>
              <a:rPr lang="ko-KR" altLang="en-US" dirty="0"/>
              <a:t>위험 신호 있음?</a:t>
            </a:r>
          </a:p>
          <a:p>
            <a:r>
              <a:rPr lang="ko-KR" altLang="en-US" dirty="0"/>
              <a:t> ├─ NO → 아무것도 하지 않음</a:t>
            </a:r>
          </a:p>
          <a:p>
            <a:r>
              <a:rPr lang="ko-KR" altLang="en-US" dirty="0"/>
              <a:t> └─ YES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"보이스피싱 위험분석을 시작할까요?"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사용자 1회 선택</a:t>
            </a:r>
          </a:p>
          <a:p>
            <a:r>
              <a:rPr lang="ko-KR" altLang="en-US" dirty="0"/>
              <a:t>         ↓</a:t>
            </a:r>
          </a:p>
          <a:p>
            <a:r>
              <a:rPr lang="ko-KR" altLang="en-US" dirty="0"/>
              <a:t> 가능한 환경에서 통화 분석 시작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AACCDB-1096-4B75-A3F9-0DA85A48F34A}"/>
              </a:ext>
            </a:extLst>
          </p:cNvPr>
          <p:cNvSpPr txBox="1"/>
          <p:nvPr/>
        </p:nvSpPr>
        <p:spPr>
          <a:xfrm>
            <a:off x="5592679" y="3517441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/>
              <a:t>2026</a:t>
            </a:r>
            <a:r>
              <a:rPr lang="ko-KR" altLang="en-US"/>
              <a:t>년 </a:t>
            </a:r>
            <a:r>
              <a:rPr lang="en-US" altLang="ko-KR"/>
              <a:t>8</a:t>
            </a:r>
            <a:r>
              <a:rPr lang="ko-KR" altLang="en-US"/>
              <a:t>월 </a:t>
            </a:r>
            <a:r>
              <a:rPr lang="en-US" altLang="ko-KR"/>
              <a:t>4</a:t>
            </a:r>
            <a:r>
              <a:rPr lang="ko-KR" altLang="en-US"/>
              <a:t>일부터 </a:t>
            </a:r>
            <a:r>
              <a:rPr lang="en-US" altLang="ko-KR"/>
              <a:t>ASAP</a:t>
            </a:r>
            <a:r>
              <a:rPr lang="ko-KR" altLang="en-US"/>
              <a:t>은 금융회사뿐 아니라 </a:t>
            </a:r>
            <a:r>
              <a:rPr lang="ko-KR" altLang="en-US" b="1"/>
              <a:t>통신</a:t>
            </a:r>
            <a:r>
              <a:rPr lang="en-US" altLang="ko-KR" b="1"/>
              <a:t>·</a:t>
            </a:r>
            <a:r>
              <a:rPr lang="ko-KR" altLang="en-US" b="1"/>
              <a:t>수사기관의 보이스피싱 의심정보까지 공유하는 체계</a:t>
            </a:r>
            <a:r>
              <a:rPr lang="ko-KR" altLang="en-US"/>
              <a:t>로 확대됐고</a:t>
            </a:r>
            <a:r>
              <a:rPr lang="en-US" altLang="ko-KR"/>
              <a:t>, 8</a:t>
            </a:r>
            <a:r>
              <a:rPr lang="ko-KR" altLang="en-US"/>
              <a:t>월 </a:t>
            </a:r>
            <a:r>
              <a:rPr lang="en-US" altLang="ko-KR"/>
              <a:t>20</a:t>
            </a:r>
            <a:r>
              <a:rPr lang="ko-KR" altLang="en-US"/>
              <a:t>일 금융위 발표를 보면 은행들이 </a:t>
            </a:r>
            <a:r>
              <a:rPr lang="en-US" altLang="ko-KR"/>
              <a:t>ASAP </a:t>
            </a:r>
            <a:r>
              <a:rPr lang="ko-KR" altLang="en-US"/>
              <a:t>정보를 </a:t>
            </a:r>
            <a:r>
              <a:rPr lang="en-US" altLang="ko-KR" b="1"/>
              <a:t>FDS</a:t>
            </a:r>
            <a:r>
              <a:rPr lang="ko-KR" altLang="en-US" b="1"/>
              <a:t>와 연계하는 고도화</a:t>
            </a:r>
            <a:r>
              <a:rPr lang="ko-KR" altLang="en-US"/>
              <a:t>를 진행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6B4328-5E43-44A3-B19D-AE383134A704}"/>
              </a:ext>
            </a:extLst>
          </p:cNvPr>
          <p:cNvSpPr txBox="1"/>
          <p:nvPr/>
        </p:nvSpPr>
        <p:spPr>
          <a:xfrm>
            <a:off x="5753100" y="490243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전화번호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통신사 / ASAP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위험도 높음</a:t>
            </a:r>
          </a:p>
          <a:p>
            <a:r>
              <a:rPr lang="ko-KR" altLang="en-US" dirty="0"/>
              <a:t>   ↓</a:t>
            </a:r>
          </a:p>
          <a:p>
            <a:r>
              <a:rPr lang="ko-KR" altLang="en-US" dirty="0"/>
              <a:t>은행 앱 Push</a:t>
            </a:r>
          </a:p>
          <a:p>
            <a:endParaRPr lang="ko-KR" altLang="en-US" dirty="0"/>
          </a:p>
          <a:p>
            <a:r>
              <a:rPr lang="ko-KR" altLang="en-US" dirty="0"/>
              <a:t>⚠ 보이스피싱 관련 위험신호가 있는 전화입니다.</a:t>
            </a:r>
          </a:p>
          <a:p>
            <a:r>
              <a:rPr lang="ko-KR" altLang="en-US" dirty="0"/>
              <a:t>[실시간 위험분석]</a:t>
            </a:r>
          </a:p>
        </p:txBody>
      </p:sp>
    </p:spTree>
    <p:extLst>
      <p:ext uri="{BB962C8B-B14F-4D97-AF65-F5344CB8AC3E}">
        <p14:creationId xmlns:p14="http://schemas.microsoft.com/office/powerpoint/2010/main" val="378697336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9CD2CAC-BF1C-4C34-B307-7FF49499B872}"/>
              </a:ext>
            </a:extLst>
          </p:cNvPr>
          <p:cNvSpPr txBox="1"/>
          <p:nvPr/>
        </p:nvSpPr>
        <p:spPr>
          <a:xfrm>
            <a:off x="481263" y="910441"/>
            <a:ext cx="33528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사용자 통화 중</a:t>
            </a:r>
          </a:p>
          <a:p>
            <a:endParaRPr lang="ko-KR" altLang="en-US"/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은행앱 실행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이체 메뉴 진입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신규 계좌 입력</a:t>
            </a:r>
          </a:p>
          <a:p>
            <a:r>
              <a:rPr lang="ko-KR" altLang="en-US"/>
              <a:t>         ↓</a:t>
            </a:r>
          </a:p>
          <a:p>
            <a:endParaRPr lang="ko-KR" altLang="en-US"/>
          </a:p>
          <a:p>
            <a:r>
              <a:rPr lang="ko-KR" altLang="en-US"/>
              <a:t>2천만원 송금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CD557F-6741-4BF6-92A2-A01B18F90733}"/>
              </a:ext>
            </a:extLst>
          </p:cNvPr>
          <p:cNvSpPr txBox="1"/>
          <p:nvPr/>
        </p:nvSpPr>
        <p:spPr>
          <a:xfrm>
            <a:off x="481263" y="40588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“통화 중 </a:t>
            </a:r>
            <a:r>
              <a:rPr lang="en-US" altLang="ko-KR" b="1" dirty="0"/>
              <a:t>+ </a:t>
            </a:r>
            <a:r>
              <a:rPr lang="ko-KR" altLang="en-US" b="1" dirty="0"/>
              <a:t>금융행동”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E0D8BD9-0F81-4505-A8BB-5FF65FC30145}"/>
              </a:ext>
            </a:extLst>
          </p:cNvPr>
          <p:cNvSpPr txBox="1"/>
          <p:nvPr/>
        </p:nvSpPr>
        <p:spPr>
          <a:xfrm>
            <a:off x="3834063" y="28883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"</a:t>
            </a:r>
            <a:r>
              <a:rPr lang="ko-KR" altLang="en-US" dirty="0"/>
              <a:t>근데 이미 통화 후반이면 앞부분을 못 듣잖아</a:t>
            </a:r>
            <a:r>
              <a:rPr lang="en-US" altLang="ko-KR" dirty="0"/>
              <a:t>?"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C25CDB7-26DA-4244-BEEA-6F59F6076B27}"/>
              </a:ext>
            </a:extLst>
          </p:cNvPr>
          <p:cNvSpPr txBox="1"/>
          <p:nvPr/>
        </p:nvSpPr>
        <p:spPr>
          <a:xfrm>
            <a:off x="4019550" y="1215241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Window 모델은 원래 통화 전체가 없어도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“지금 최근 몇 Turn만 봐도 위험한가?”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를 판단하도록 만든 모델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우리 윈도우 모델의 장점으로 일부 진단 가능</a:t>
            </a:r>
            <a:r>
              <a:rPr kumimoji="0" lang="en-US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!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9797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126DC61-5E96-4D8B-B927-D6645C73E86F}"/>
              </a:ext>
            </a:extLst>
          </p:cNvPr>
          <p:cNvSpPr txBox="1"/>
          <p:nvPr/>
        </p:nvSpPr>
        <p:spPr>
          <a:xfrm>
            <a:off x="3048000" y="188148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dirty="0"/>
              <a:t>그래서 녹취 시작 시점 고정된 한 지점을 정하면 안됨</a:t>
            </a:r>
            <a:r>
              <a:rPr lang="en-US" altLang="ko-KR" dirty="0"/>
              <a:t>...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643FDC-A411-46A9-984E-8FDCB3CF1350}"/>
              </a:ext>
            </a:extLst>
          </p:cNvPr>
          <p:cNvSpPr txBox="1"/>
          <p:nvPr/>
        </p:nvSpPr>
        <p:spPr>
          <a:xfrm>
            <a:off x="3048000" y="286023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위험번호/ASAP 신호가 통화 전부터 있으면 → 통화 시작 시 사용자에게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FDS/ASAP 위험신호 발생 → 즉시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중 은행앱/송금 화면 진입 → 분석 제안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사용자가 먼저 이상하다고 느끼면 → 언제든 수동 분석 버튼</a:t>
            </a:r>
            <a:endParaRPr lang="en-US" altLang="ko-KR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즉,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Earliest available risk trigger부터 분석한다.</a:t>
            </a: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39609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1C1A880-B948-45EC-9F74-609A4D0CD407}"/>
              </a:ext>
            </a:extLst>
          </p:cNvPr>
          <p:cNvSpPr txBox="1"/>
          <p:nvPr/>
        </p:nvSpPr>
        <p:spPr>
          <a:xfrm>
            <a:off x="266700" y="324535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FDS</a:t>
            </a:r>
            <a:r>
              <a:rPr lang="ko-KR" altLang="en-US" dirty="0"/>
              <a:t>가 강하게 걸린 상황에서는 굳이 통화 </a:t>
            </a:r>
            <a:r>
              <a:rPr lang="en-US" altLang="ko-KR" dirty="0"/>
              <a:t>ML </a:t>
            </a:r>
            <a:r>
              <a:rPr lang="ko-KR" altLang="en-US" dirty="0"/>
              <a:t>결과를 기다리면 안 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1E53CB-60C0-43E2-A30B-B8472F66665F}"/>
              </a:ext>
            </a:extLst>
          </p:cNvPr>
          <p:cNvSpPr txBox="1"/>
          <p:nvPr/>
        </p:nvSpPr>
        <p:spPr>
          <a:xfrm>
            <a:off x="552450" y="1041738"/>
            <a:ext cx="6096000" cy="2031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dirty="0"/>
              <a:t>ASAP 의심계좌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신규 수취인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평소와 다른 고액 송금</a:t>
            </a:r>
          </a:p>
          <a:p>
            <a:r>
              <a:rPr lang="ko-KR" altLang="en-US" dirty="0"/>
              <a:t>+</a:t>
            </a:r>
          </a:p>
          <a:p>
            <a:r>
              <a:rPr lang="ko-KR" altLang="en-US" dirty="0"/>
              <a:t>의심 전화번호와 통화 중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A18602-B9DC-4B0E-A9B5-E75435686F27}"/>
              </a:ext>
            </a:extLst>
          </p:cNvPr>
          <p:cNvSpPr txBox="1"/>
          <p:nvPr/>
        </p:nvSpPr>
        <p:spPr>
          <a:xfrm>
            <a:off x="552450" y="3784938"/>
            <a:ext cx="6096000" cy="14773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en-US" altLang="ko-KR" dirty="0"/>
              <a:t>FDS / ASAP </a:t>
            </a:r>
            <a:r>
              <a:rPr lang="ko-KR" altLang="en-US" dirty="0"/>
              <a:t>위험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우선 거래 보류 또는 추가 인증</a:t>
            </a:r>
          </a:p>
          <a:p>
            <a:r>
              <a:rPr lang="ko-KR" altLang="en-US" dirty="0"/>
              <a:t>      ↓</a:t>
            </a:r>
          </a:p>
          <a:p>
            <a:r>
              <a:rPr lang="ko-KR" altLang="en-US" dirty="0"/>
              <a:t>통화 </a:t>
            </a:r>
            <a:r>
              <a:rPr lang="en-US" altLang="ko-KR" dirty="0"/>
              <a:t>ML = </a:t>
            </a:r>
            <a:r>
              <a:rPr lang="ko-KR" altLang="en-US" dirty="0"/>
              <a:t>추가 판단 근거</a:t>
            </a: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F5A01D02-651A-437C-8008-2FAB55599356}"/>
              </a:ext>
            </a:extLst>
          </p:cNvPr>
          <p:cNvSpPr/>
          <p:nvPr/>
        </p:nvSpPr>
        <p:spPr>
          <a:xfrm>
            <a:off x="2552700" y="3251031"/>
            <a:ext cx="685800" cy="35593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D46D545-BBAB-4D25-9AA7-DF247AF50D15}"/>
              </a:ext>
            </a:extLst>
          </p:cNvPr>
          <p:cNvSpPr txBox="1"/>
          <p:nvPr/>
        </p:nvSpPr>
        <p:spPr>
          <a:xfrm>
            <a:off x="552450" y="6050695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FDS가 볼 수 없었던 “통화 내용이라는 새로운 위험 신호”를 추가하는 모델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로 포지셔닝</a:t>
            </a:r>
          </a:p>
        </p:txBody>
      </p:sp>
    </p:spTree>
    <p:extLst>
      <p:ext uri="{BB962C8B-B14F-4D97-AF65-F5344CB8AC3E}">
        <p14:creationId xmlns:p14="http://schemas.microsoft.com/office/powerpoint/2010/main" val="39153291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6AD07F2-6B34-4E04-A26B-14F8D3C9BB70}"/>
              </a:ext>
            </a:extLst>
          </p:cNvPr>
          <p:cNvSpPr txBox="1"/>
          <p:nvPr/>
        </p:nvSpPr>
        <p:spPr>
          <a:xfrm>
            <a:off x="495300" y="693867"/>
            <a:ext cx="4057650" cy="3139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algn="r"/>
            <a:r>
              <a:rPr lang="ko-KR" altLang="en-US" dirty="0"/>
              <a:t> ASAP / 통신사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전화 ───────→ 위험 Trigger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       통화 AI 분석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은행앱 행동 → FDS ──┤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       종합 위험 판단</a:t>
            </a:r>
          </a:p>
          <a:p>
            <a:pPr algn="r"/>
            <a:r>
              <a:rPr lang="ko-KR" altLang="en-US" dirty="0"/>
              <a:t>                     ↓</a:t>
            </a:r>
          </a:p>
          <a:p>
            <a:pPr algn="r"/>
            <a:r>
              <a:rPr lang="ko-KR" altLang="en-US" dirty="0"/>
              <a:t>       경고 / 거래 추가확인 / 중단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A9F8BC-7026-41B2-91E3-D49F36BE9DDA}"/>
              </a:ext>
            </a:extLst>
          </p:cNvPr>
          <p:cNvSpPr txBox="1"/>
          <p:nvPr/>
        </p:nvSpPr>
        <p:spPr>
          <a:xfrm>
            <a:off x="495300" y="324535"/>
            <a:ext cx="8915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트리거 구조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55A3F5-F829-4FB8-917A-1819EE82C7D8}"/>
              </a:ext>
            </a:extLst>
          </p:cNvPr>
          <p:cNvSpPr txBox="1"/>
          <p:nvPr/>
        </p:nvSpPr>
        <p:spPr>
          <a:xfrm>
            <a:off x="5429250" y="804744"/>
            <a:ext cx="6096000" cy="59093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스마트폰</a:t>
            </a:r>
          </a:p>
          <a:p>
            <a:r>
              <a:rPr lang="ko-KR" altLang="en-US" sz="1400" dirty="0"/>
              <a:t>────────────────────────────</a:t>
            </a:r>
          </a:p>
          <a:p>
            <a:r>
              <a:rPr lang="ko-KR" altLang="en-US" sz="1400" dirty="0"/>
              <a:t>통화</a:t>
            </a:r>
          </a:p>
          <a:p>
            <a:r>
              <a:rPr lang="ko-KR" altLang="en-US" sz="1400" dirty="0"/>
              <a:t> ↓</a:t>
            </a:r>
          </a:p>
          <a:p>
            <a:r>
              <a:rPr lang="en-US" altLang="ko-KR" sz="1400" dirty="0"/>
              <a:t>STT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LLM Event </a:t>
            </a:r>
            <a:r>
              <a:rPr lang="ko-KR" altLang="en-US" sz="1400" dirty="0"/>
              <a:t>추출</a:t>
            </a:r>
          </a:p>
          <a:p>
            <a:r>
              <a:rPr lang="ko-KR" altLang="en-US" sz="1400" dirty="0"/>
              <a:t> ↓</a:t>
            </a:r>
          </a:p>
          <a:p>
            <a:r>
              <a:rPr lang="en-US" altLang="ko-KR" sz="1400" dirty="0"/>
              <a:t>Feature Builder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Window ML</a:t>
            </a:r>
          </a:p>
          <a:p>
            <a:r>
              <a:rPr lang="en-US" altLang="ko-KR" sz="1400" dirty="0"/>
              <a:t> +</a:t>
            </a:r>
          </a:p>
          <a:p>
            <a:r>
              <a:rPr lang="en-US" altLang="ko-KR" sz="1400" dirty="0"/>
              <a:t>Cumulative ML</a:t>
            </a:r>
          </a:p>
          <a:p>
            <a:r>
              <a:rPr lang="en-US" altLang="ko-KR" sz="1400" dirty="0"/>
              <a:t> ↓</a:t>
            </a:r>
          </a:p>
          <a:p>
            <a:r>
              <a:rPr lang="en-US" altLang="ko-KR" sz="1400" dirty="0"/>
              <a:t>Risk Result</a:t>
            </a:r>
          </a:p>
          <a:p>
            <a:r>
              <a:rPr lang="en-US" altLang="ko-KR" sz="1400" dirty="0"/>
              <a:t>────────────────────────────</a:t>
            </a:r>
          </a:p>
          <a:p>
            <a:r>
              <a:rPr lang="en-US" altLang="ko-KR" sz="1400" dirty="0"/>
              <a:t>         ↓ </a:t>
            </a:r>
            <a:r>
              <a:rPr lang="ko-KR" altLang="en-US" sz="1400" dirty="0"/>
              <a:t>최소 정보 전송</a:t>
            </a:r>
          </a:p>
          <a:p>
            <a:r>
              <a:rPr lang="ko-KR" altLang="en-US" sz="1400" dirty="0"/>
              <a:t>────────────────────────────</a:t>
            </a:r>
          </a:p>
          <a:p>
            <a:r>
              <a:rPr lang="ko-KR" altLang="en-US" sz="1400" dirty="0"/>
              <a:t>               은행</a:t>
            </a:r>
          </a:p>
          <a:p>
            <a:r>
              <a:rPr lang="en-US" altLang="ko-KR" sz="1400" dirty="0"/>
              <a:t>Event / Feature / Score</a:t>
            </a:r>
          </a:p>
          <a:p>
            <a:r>
              <a:rPr lang="en-US" altLang="ko-KR" sz="1400" dirty="0"/>
              <a:t>         ↓</a:t>
            </a:r>
          </a:p>
          <a:p>
            <a:r>
              <a:rPr lang="en-US" altLang="ko-KR" sz="1400" dirty="0"/>
              <a:t>ASAP + FDS + </a:t>
            </a:r>
            <a:r>
              <a:rPr lang="ko-KR" altLang="en-US" sz="1400" dirty="0"/>
              <a:t>거래정보</a:t>
            </a:r>
          </a:p>
          <a:p>
            <a:r>
              <a:rPr lang="ko-KR" altLang="en-US" sz="1400" dirty="0"/>
              <a:t>         ↓</a:t>
            </a:r>
          </a:p>
          <a:p>
            <a:r>
              <a:rPr lang="ko-KR" altLang="en-US" sz="1400" dirty="0"/>
              <a:t>통합 </a:t>
            </a:r>
            <a:r>
              <a:rPr lang="en-US" altLang="ko-KR" sz="1400" dirty="0"/>
              <a:t>Risk </a:t>
            </a:r>
            <a:r>
              <a:rPr lang="ko-KR" altLang="en-US" sz="1400" dirty="0"/>
              <a:t>판단</a:t>
            </a:r>
          </a:p>
          <a:p>
            <a:r>
              <a:rPr lang="ko-KR" altLang="en-US" sz="1400" dirty="0"/>
              <a:t>         ↓</a:t>
            </a:r>
          </a:p>
          <a:p>
            <a:r>
              <a:rPr lang="ko-KR" altLang="en-US" sz="1400" dirty="0"/>
              <a:t>┌────────┬─────────┬─────────┐</a:t>
            </a:r>
          </a:p>
          <a:p>
            <a:r>
              <a:rPr lang="ko-KR" altLang="en-US" sz="1400" dirty="0"/>
              <a:t>      고객경고                상담원 </a:t>
            </a:r>
            <a:r>
              <a:rPr lang="en-US" altLang="ko-KR" sz="1400" dirty="0"/>
              <a:t>Brief             </a:t>
            </a:r>
            <a:r>
              <a:rPr lang="ko-KR" altLang="en-US" sz="1400" dirty="0"/>
              <a:t>거래개입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CD1732-EA25-4135-8BD8-3156D83A99F7}"/>
              </a:ext>
            </a:extLst>
          </p:cNvPr>
          <p:cNvSpPr txBox="1"/>
          <p:nvPr/>
        </p:nvSpPr>
        <p:spPr>
          <a:xfrm>
            <a:off x="5429250" y="324535"/>
            <a:ext cx="39814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서버 전송</a:t>
            </a:r>
            <a:r>
              <a:rPr lang="en-US" altLang="ko-KR" dirty="0"/>
              <a:t>/</a:t>
            </a:r>
            <a:r>
              <a:rPr lang="ko-KR" altLang="en-US" dirty="0"/>
              <a:t>미전송 데이터 구분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501254C-3F62-453C-A4F8-F98E7F79F08E}"/>
              </a:ext>
            </a:extLst>
          </p:cNvPr>
          <p:cNvSpPr txBox="1"/>
          <p:nvPr/>
        </p:nvSpPr>
        <p:spPr>
          <a:xfrm>
            <a:off x="495300" y="4234786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은행 서버에 보내지 않는 것을 기본값</a:t>
            </a:r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원본 음성 전체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통화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 녹취문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위험판정과 관계없는 일상 대화 </a:t>
            </a:r>
          </a:p>
        </p:txBody>
      </p:sp>
    </p:spTree>
    <p:extLst>
      <p:ext uri="{BB962C8B-B14F-4D97-AF65-F5344CB8AC3E}">
        <p14:creationId xmlns:p14="http://schemas.microsoft.com/office/powerpoint/2010/main" val="3589617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</TotalTime>
  <Words>3588</Words>
  <Application>Microsoft Office PowerPoint</Application>
  <PresentationFormat>Widescreen</PresentationFormat>
  <Paragraphs>943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1" baseType="lpstr">
      <vt:lpstr>Arial Unicode MS</vt:lpstr>
      <vt:lpstr>맑은 고딕</vt:lpstr>
      <vt:lpstr>Arial</vt:lpstr>
      <vt:lpstr>Office Theme</vt:lpstr>
      <vt:lpstr>제안서&amp;기능</vt:lpstr>
      <vt:lpstr>현황분석 문제인식 타겟분석 인사이트 해결방안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기능&amp;기술</vt:lpstr>
      <vt:lpstr>작동 후 파이프라인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구현 기술 및 파이프라인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작동 트리거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제안서</dc:title>
  <dc:creator>mbc</dc:creator>
  <cp:lastModifiedBy>mbc</cp:lastModifiedBy>
  <cp:revision>55</cp:revision>
  <dcterms:created xsi:type="dcterms:W3CDTF">2026-08-24T02:16:18Z</dcterms:created>
  <dcterms:modified xsi:type="dcterms:W3CDTF">2026-08-24T10:12:42Z</dcterms:modified>
</cp:coreProperties>
</file>