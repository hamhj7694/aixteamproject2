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33" d="100"/>
          <a:sy n="33" d="100"/>
        </p:scale>
        <p:origin x="3588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4C2C-DE73-45C1-BA1F-AB56F673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8468-4724-4881-963F-53BABAD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C4E91-E115-44FA-960E-C9C81AF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842-BB4D-41B1-8242-250494DD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D85B-F868-409B-9DD5-14E5A090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9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FE1-4611-411B-ABED-98CEB1C5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F50-F463-4F4F-8845-9A18F3F5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B37F-E058-43E7-AC96-DA2EA368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94B4-CC0F-44D3-85C0-CC49B2B5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DE7F-20D7-439D-9488-62E8446D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3136-F6CC-4452-BD48-D7D35E8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432D-274C-4725-906B-5EA860C7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247-6889-4324-8204-E2C3F67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E7B3-58C8-4EFF-A908-D6EDF474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580E-867F-4FA9-BBAB-9B96E489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EB0C-AAA5-4E52-AFA7-EA310AA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15AF-24B1-4A20-B1FF-4D236B2D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75BE-7D3D-4713-B550-684C8B6A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3BD3-E980-4423-BA32-C324E23F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9AB9-8B50-4678-9924-9C659099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85D9-E958-4009-BCEF-BBBE46A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4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64A8-E4C5-4D2D-9A44-A2D4EFEA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0BBA-DB14-4248-A306-99867DC9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57C38-C322-4F8E-B891-24B8BCB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F487-D580-4D68-8088-926F80310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59B7D-68E7-46A7-90A8-5D060B32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A483F-6E72-4DBE-9F67-EE3EEE84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517-D8A5-47DF-8CBD-0458039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6D0E-665D-418F-8636-D2BFCCD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B211-7CCC-46BC-9C3A-54C0DA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9E32-7108-462E-94CE-E33124B0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76035-3DF9-4EAA-B7DC-7F07E999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BACE-589A-43E0-8F1D-10A8A0A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6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DDB30-B534-4049-91C5-04E119CA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935C-A3B1-458E-A26D-3A14C34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23806-4D6E-4DFD-802C-10AF290A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3228-6301-4F50-BBE5-9D55CA8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D139-449C-4D8A-8BBD-1BD37877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ACA29-8A9C-41EC-B1CB-B7331CE37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E12E-6A97-4D8F-B89C-0802CB4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77114-2EC1-435B-89F9-EED92E4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E424-8BCE-41C3-9736-0A33C4A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759-E34B-4468-B314-891B8C7E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8589-48B0-4339-B95F-88D1BB0E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F595-AFA2-4FB1-AF0B-C5096591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0344-3C06-4209-84EA-1C831E7B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56EF-E710-47DF-8E93-0F36BE86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A444-F704-4C4C-8832-A4751A8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866-FDD3-4BEE-8139-F2E9B6B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118A1-2B05-49A2-8561-9CB6A58A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6FD7-4D6A-4263-8680-9E6F895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8803-F7B6-4C4A-ADB8-146B868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A4C8-8677-4833-B438-1C6F756F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5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2FE1F-1AD3-40F8-946E-CFB629F5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0E02B-0402-4819-B91E-78568FBA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4E24-81E1-4666-8BD4-D111290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0BE1-0D48-4494-9505-388DE765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143E-618B-4419-8DB2-6A9CA17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4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8376-8D70-49DE-8D90-F879D348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8E94-FA2A-418C-B721-1B9A9959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E92B-6FB7-4BF3-80B8-1D3803119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72E8-1F48-4D80-B206-7AA77FFCC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2A54-E67B-423A-923A-80F39DFA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B7FD-65A7-42B5-8A14-5DD661F9E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기능 설명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2473C-9B04-407E-9D38-64E47D57E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흐름</a:t>
            </a:r>
          </a:p>
        </p:txBody>
      </p:sp>
    </p:spTree>
    <p:extLst>
      <p:ext uri="{BB962C8B-B14F-4D97-AF65-F5344CB8AC3E}">
        <p14:creationId xmlns:p14="http://schemas.microsoft.com/office/powerpoint/2010/main" val="1305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C16427-8430-47CB-9443-D7E6C3CEECA4}"/>
              </a:ext>
            </a:extLst>
          </p:cNvPr>
          <p:cNvSpPr txBox="1"/>
          <p:nvPr/>
        </p:nvSpPr>
        <p:spPr>
          <a:xfrm>
            <a:off x="440267" y="320457"/>
            <a:ext cx="7035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서비스 핵심 기능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가칭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AI 독립검증형 송금방지턱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단계에서 AI가 보이스피싱 위험을 탐지·분석하고, 피해자 본인과 신뢰인·금융관계자·관련 기관에 역할별 맞춤 정보를 전달하여 다중 검증과 즉각적인 개입을 지원하는 금융 안전 서비스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/>
              <a:t>①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가 통화 위험을 독립적으로 분석</a:t>
            </a:r>
            <a:br>
              <a:rPr lang="ko-KR" altLang="en-US" sz="1400" dirty="0"/>
            </a:br>
            <a:r>
              <a:rPr lang="ko-KR" altLang="en-US" sz="1400" b="1" dirty="0"/>
              <a:t>② 분석 결과를 필요한 관계자들에게 다르게 전달하여 함께 검증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개입</a:t>
            </a:r>
            <a:endParaRPr lang="ko-KR" alt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기능은 크게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정리할 수 있음.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내용 분석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lang="en-US" altLang="ko-KR" sz="1400" b="1" dirty="0">
                <a:latin typeface="Arial" panose="020B0604020202020204" pitchFamily="34" charset="0"/>
              </a:rPr>
              <a:t>ML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위험도 판단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2차 검증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사전 등록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 검증 및 행동 안내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ko-KR" sz="1400" b="1" dirty="0">
                <a:latin typeface="Arial" panose="020B0604020202020204" pitchFamily="34" charset="0"/>
              </a:rPr>
              <a:t>AI LLM</a:t>
            </a:r>
            <a:r>
              <a:rPr lang="ko-KR" altLang="en-US" sz="1400" b="1" dirty="0">
                <a:latin typeface="Arial" panose="020B0604020202020204" pitchFamily="34" charset="0"/>
              </a:rPr>
              <a:t>레포트 작성 및 배포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66113-B623-40E4-A011-76D369CF28E9}"/>
              </a:ext>
            </a:extLst>
          </p:cNvPr>
          <p:cNvSpPr txBox="1"/>
          <p:nvPr/>
        </p:nvSpPr>
        <p:spPr>
          <a:xfrm>
            <a:off x="8390466" y="380581"/>
            <a:ext cx="2980267" cy="332398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/>
              <a:t>[통화 데이터]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STT 음성 → 텍스트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 [Feature 추출 / 전처리]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 ┌───────────────┐</a:t>
            </a:r>
          </a:p>
          <a:p>
            <a:pPr algn="ctr"/>
            <a:r>
              <a:rPr lang="ko-KR" altLang="en-US" sz="1000" dirty="0"/>
              <a:t> │                                           │</a:t>
            </a:r>
          </a:p>
          <a:p>
            <a:pPr algn="ctr"/>
            <a:r>
              <a:rPr lang="ko-KR" altLang="en-US" sz="1000" dirty="0"/>
              <a:t> ML                                         LLM</a:t>
            </a:r>
          </a:p>
          <a:p>
            <a:pPr algn="ctr"/>
            <a:r>
              <a:rPr lang="ko-KR" altLang="en-US" sz="1000" dirty="0"/>
              <a:t> │                                           │</a:t>
            </a:r>
          </a:p>
          <a:p>
            <a:pPr algn="ctr"/>
            <a:r>
              <a:rPr lang="ko-KR" altLang="en-US" sz="1000" dirty="0"/>
              <a:t>위험확률                        맥락·위험요인 분석</a:t>
            </a:r>
          </a:p>
          <a:p>
            <a:pPr algn="ctr"/>
            <a:r>
              <a:rPr lang="ko-KR" altLang="en-US" sz="1000" dirty="0"/>
              <a:t> │                                           │</a:t>
            </a:r>
          </a:p>
          <a:p>
            <a:pPr algn="ctr"/>
            <a:r>
              <a:rPr lang="ko-KR" altLang="en-US" sz="1000" dirty="0"/>
              <a:t> └───────┬───────┘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[최종 위험도 / 근거]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[알림·개입 엔진]</a:t>
            </a:r>
          </a:p>
          <a:p>
            <a:pPr algn="ctr"/>
            <a:r>
              <a:rPr lang="ko-KR" altLang="en-US" sz="1000" dirty="0"/>
              <a:t>↓</a:t>
            </a:r>
          </a:p>
          <a:p>
            <a:pPr algn="ctr"/>
            <a:r>
              <a:rPr lang="ko-KR" altLang="en-US" sz="1000" dirty="0"/>
              <a:t> ┌───┬──────┬─────┐</a:t>
            </a:r>
          </a:p>
          <a:p>
            <a:pPr algn="ctr"/>
            <a:r>
              <a:rPr lang="ko-KR" altLang="en-US" sz="1000" dirty="0"/>
              <a:t> ↓        ↓                  ↓               ↓</a:t>
            </a:r>
          </a:p>
          <a:p>
            <a:pPr algn="ctr"/>
            <a:r>
              <a:rPr lang="ko-KR" altLang="en-US" sz="1000" dirty="0"/>
              <a:t>피해자    신뢰인     금융관계자   기관담당자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C09E53-0047-470D-BACD-53BF6DE07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945275"/>
              </p:ext>
            </p:extLst>
          </p:nvPr>
        </p:nvGraphicFramePr>
        <p:xfrm>
          <a:off x="440266" y="5002199"/>
          <a:ext cx="10879667" cy="1524000"/>
        </p:xfrm>
        <a:graphic>
          <a:graphicData uri="http://schemas.openxmlformats.org/drawingml/2006/table">
            <a:tbl>
              <a:tblPr/>
              <a:tblGrid>
                <a:gridCol w="1803401">
                  <a:extLst>
                    <a:ext uri="{9D8B030D-6E8A-4147-A177-3AD203B41FA5}">
                      <a16:colId xmlns:a16="http://schemas.microsoft.com/office/drawing/2014/main" val="2487932530"/>
                    </a:ext>
                  </a:extLst>
                </a:gridCol>
                <a:gridCol w="4809066">
                  <a:extLst>
                    <a:ext uri="{9D8B030D-6E8A-4147-A177-3AD203B41FA5}">
                      <a16:colId xmlns:a16="http://schemas.microsoft.com/office/drawing/2014/main" val="249228444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252780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전달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8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1" dirty="0"/>
                        <a:t>피해자 본인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위험도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핵심 경고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위험 근거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즉시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통화</a:t>
                      </a:r>
                      <a:r>
                        <a:rPr lang="en-US" altLang="ko-KR" sz="1400"/>
                        <a:t>·</a:t>
                      </a:r>
                      <a:r>
                        <a:rPr lang="ko-KR" altLang="en-US" sz="1400"/>
                        <a:t>송금 중단 및 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7859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1"/>
                        <a:t>신뢰인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위험상황 요약</a:t>
                      </a:r>
                      <a:r>
                        <a:rPr lang="en-US" altLang="ko-KR" sz="1400" dirty="0"/>
                        <a:t>, AI </a:t>
                      </a:r>
                      <a:r>
                        <a:rPr lang="ko-KR" altLang="en-US" sz="1400" dirty="0"/>
                        <a:t>판단 근거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피해자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자 관점에서 확인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도움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송금권한 인계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90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1"/>
                        <a:t>금융관계자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송금 관련 위험정보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의심 유형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거래 관련 핵심정보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금융거래 위험 확인 및 필요 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380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400" b="1" dirty="0"/>
                        <a:t>기관담당자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/>
                        <a:t>해당 기관 사칭 여부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상대 주장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확인 필요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실제 기관인지 공식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36811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A6DAF4B-C1C0-4A78-96D8-323983F122D6}"/>
              </a:ext>
            </a:extLst>
          </p:cNvPr>
          <p:cNvSpPr txBox="1"/>
          <p:nvPr/>
        </p:nvSpPr>
        <p:spPr>
          <a:xfrm>
            <a:off x="440266" y="43558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분석 결과를 똑같이 보내는 게 아니라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대상별 정보와 행동이 다르다는 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것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F96066-1345-4BBA-9709-00A7548F6AAF}"/>
              </a:ext>
            </a:extLst>
          </p:cNvPr>
          <p:cNvSpPr txBox="1"/>
          <p:nvPr/>
        </p:nvSpPr>
        <p:spPr>
          <a:xfrm>
            <a:off x="8390466" y="3721388"/>
            <a:ext cx="276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※ </a:t>
            </a:r>
            <a:r>
              <a:rPr lang="ko-KR" altLang="en-US" sz="800" dirty="0">
                <a:solidFill>
                  <a:srgbClr val="FF0000"/>
                </a:solidFill>
              </a:rPr>
              <a:t>기관담당자는 </a:t>
            </a:r>
            <a:r>
              <a:rPr lang="ko-KR" altLang="en-US" sz="800" b="1" dirty="0">
                <a:solidFill>
                  <a:srgbClr val="FF0000"/>
                </a:solidFill>
              </a:rPr>
              <a:t>항상 개입하는 것이 아니라 기관사칭 등 확인이 필요한 경우에만 선택적으로 연결</a:t>
            </a:r>
            <a:r>
              <a:rPr lang="ko-KR" altLang="en-US" sz="800" dirty="0">
                <a:solidFill>
                  <a:srgbClr val="FF0000"/>
                </a:solidFill>
              </a:rPr>
              <a:t>하는 구조</a:t>
            </a:r>
          </a:p>
        </p:txBody>
      </p:sp>
    </p:spTree>
    <p:extLst>
      <p:ext uri="{BB962C8B-B14F-4D97-AF65-F5344CB8AC3E}">
        <p14:creationId xmlns:p14="http://schemas.microsoft.com/office/powerpoint/2010/main" val="3287858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27B5FA-18AD-4710-A1E6-49D8DEFF1168}"/>
              </a:ext>
            </a:extLst>
          </p:cNvPr>
          <p:cNvSpPr txBox="1"/>
          <p:nvPr/>
        </p:nvSpPr>
        <p:spPr>
          <a:xfrm>
            <a:off x="609601" y="481759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① 통화 내용 수집·분석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음성을 AI가 분석할 수 있는 데이터로 변환.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통화/녹음 데이터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STT API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대화 텍스트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텍스트 전처리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Feature 추출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519B0-9AB7-4776-AC7E-0B81439ADB94}"/>
              </a:ext>
            </a:extLst>
          </p:cNvPr>
          <p:cNvSpPr txBox="1"/>
          <p:nvPr/>
        </p:nvSpPr>
        <p:spPr>
          <a:xfrm>
            <a:off x="6028267" y="975773"/>
            <a:ext cx="41571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추출 가능한 정보 예시: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기관명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개인정보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 연루 언급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긴급성 표현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비밀유지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위협·압박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계좌 관련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대출 관련 표현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 연락 차단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데이터가 이후 ML과 LLM에 전달됨.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35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99A8B8-663E-4F81-86E6-2620952B1B30}"/>
              </a:ext>
            </a:extLst>
          </p:cNvPr>
          <p:cNvSpPr txBox="1"/>
          <p:nvPr/>
        </p:nvSpPr>
        <p:spPr>
          <a:xfrm>
            <a:off x="169332" y="374093"/>
            <a:ext cx="773853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② AI 위험도 판단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여기서는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ML과 LLM의 역할을 명확하게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분리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정형화된 Feature를 바탕으로 보이스피싱 위험확률을 계산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기관사칭 = 1 송금요구 = 1 긴급성 = 1 비밀유지 = 1 ...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 ML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보이스피싱 확률 = 91%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전체의 의미와 맥락을 분석하고 왜 위험한지 해석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검찰 관계자라고 주장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 연루를 이유로 불안감을 조성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타인에게 알리지 말 것을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특정 계좌로 송금을 요구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정상적인 기관 업무절차와 다른 행동 발견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4B603-852C-43B8-AD35-C0B5ECC34F56}"/>
              </a:ext>
            </a:extLst>
          </p:cNvPr>
          <p:cNvSpPr txBox="1"/>
          <p:nvPr/>
        </p:nvSpPr>
        <p:spPr>
          <a:xfrm>
            <a:off x="7323668" y="515681"/>
            <a:ext cx="31834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최종 결과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ML 위험확률 + LLM 맥락 분석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최종 위험도 + 위험 판단 근거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즉,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= 얼마나 위험한가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= 왜 위험한가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설명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0700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B83393-E125-405A-B4D0-34CAEABEF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30706"/>
              </p:ext>
            </p:extLst>
          </p:nvPr>
        </p:nvGraphicFramePr>
        <p:xfrm>
          <a:off x="575734" y="4177401"/>
          <a:ext cx="10515600" cy="2103120"/>
        </p:xfrm>
        <a:graphic>
          <a:graphicData uri="http://schemas.openxmlformats.org/drawingml/2006/table">
            <a:tbl>
              <a:tblPr/>
              <a:tblGrid>
                <a:gridCol w="1447799">
                  <a:extLst>
                    <a:ext uri="{9D8B030D-6E8A-4147-A177-3AD203B41FA5}">
                      <a16:colId xmlns:a16="http://schemas.microsoft.com/office/drawing/2014/main" val="3539664389"/>
                    </a:ext>
                  </a:extLst>
                </a:gridCol>
                <a:gridCol w="3920067">
                  <a:extLst>
                    <a:ext uri="{9D8B030D-6E8A-4147-A177-3AD203B41FA5}">
                      <a16:colId xmlns:a16="http://schemas.microsoft.com/office/drawing/2014/main" val="2239856802"/>
                    </a:ext>
                  </a:extLst>
                </a:gridCol>
                <a:gridCol w="5147734">
                  <a:extLst>
                    <a:ext uri="{9D8B030D-6E8A-4147-A177-3AD203B41FA5}">
                      <a16:colId xmlns:a16="http://schemas.microsoft.com/office/drawing/2014/main" val="285998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위험수준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시스템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7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특이 위험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정보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0615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의심 요소 발견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경고 및 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4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다수 위험요소 발견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신뢰인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22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CRITICAL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고위험 사기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신뢰인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금융관계자 알림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필요 시 기관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2824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5BF741-0A6C-4FB1-88E1-9E7CE14210A3}"/>
              </a:ext>
            </a:extLst>
          </p:cNvPr>
          <p:cNvSpPr txBox="1"/>
          <p:nvPr/>
        </p:nvSpPr>
        <p:spPr>
          <a:xfrm>
            <a:off x="575734" y="402892"/>
            <a:ext cx="99906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③ 위험등급 및 개입 판단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분석 후 단순히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만 보여주는 게 아니라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 수준에 따라 서비스 행동을 결정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정상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의심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 별도의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/ Intervention Engine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필요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분석결과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위험등급 결정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누구에게 알릴 것인가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어떤 정보를 보여줄 것인가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어떤 행동을 요청할 것인가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?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21158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520E1D-86B7-4CBA-9C61-B41AC8FC0EE9}"/>
              </a:ext>
            </a:extLst>
          </p:cNvPr>
          <p:cNvSpPr txBox="1"/>
          <p:nvPr/>
        </p:nvSpPr>
        <p:spPr>
          <a:xfrm>
            <a:off x="152400" y="1140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핵심 기능 ④ 역할별 맞춤 알림</a:t>
            </a:r>
            <a:r>
              <a:rPr lang="en-US" altLang="ko-KR" b="1" dirty="0"/>
              <a:t>·</a:t>
            </a:r>
            <a:r>
              <a:rPr lang="ko-KR" altLang="en-US" b="1" dirty="0"/>
              <a:t>개입</a:t>
            </a:r>
          </a:p>
          <a:p>
            <a:r>
              <a:rPr lang="ko-KR" altLang="en-US" b="1" dirty="0"/>
              <a:t>같은 </a:t>
            </a:r>
            <a:r>
              <a:rPr lang="en-US" altLang="ko-KR" b="1" dirty="0"/>
              <a:t>AI </a:t>
            </a:r>
            <a:r>
              <a:rPr lang="ko-KR" altLang="en-US" b="1" dirty="0"/>
              <a:t>결과를 모든 사람에게 똑같이 보내지 않음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10C3B8-54FC-47D2-989A-62E8658E6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602397"/>
              </p:ext>
            </p:extLst>
          </p:nvPr>
        </p:nvGraphicFramePr>
        <p:xfrm>
          <a:off x="262466" y="1115854"/>
          <a:ext cx="10515600" cy="210312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316675012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107740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7121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전달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30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피해자 본인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핵심 경고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위험 근거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즉시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송금 중단 및 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9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신뢰인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위험상황 요약</a:t>
                      </a:r>
                      <a:r>
                        <a:rPr lang="en-US" altLang="ko-KR" dirty="0"/>
                        <a:t>, AI </a:t>
                      </a:r>
                      <a:r>
                        <a:rPr lang="ko-KR" altLang="en-US" dirty="0"/>
                        <a:t>판단 근거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피해자 현재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</a:t>
                      </a:r>
                      <a:r>
                        <a:rPr lang="en-US" altLang="ko-KR"/>
                        <a:t>3</a:t>
                      </a:r>
                      <a:r>
                        <a:rPr lang="ko-KR" altLang="en-US"/>
                        <a:t>자 관점 확인 및 피해자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82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금융관계자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송금 관련 위험정보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의심유형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거래 핵심정보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금융거래 위험 확인 및 필요한 보호조치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02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기관담당자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사칭기관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상대 주장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확인 요청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기관인지 공식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6214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C827AC57-B40A-43D3-B616-938A99A48E22}"/>
              </a:ext>
            </a:extLst>
          </p:cNvPr>
          <p:cNvGrpSpPr/>
          <p:nvPr/>
        </p:nvGrpSpPr>
        <p:grpSpPr>
          <a:xfrm>
            <a:off x="770039" y="3429000"/>
            <a:ext cx="8947964" cy="3057219"/>
            <a:chOff x="2319439" y="3394634"/>
            <a:chExt cx="8947964" cy="30572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36398DE-35E2-4EF6-AEF3-1C405E67B309}"/>
                </a:ext>
              </a:extLst>
            </p:cNvPr>
            <p:cNvGrpSpPr/>
            <p:nvPr/>
          </p:nvGrpSpPr>
          <p:grpSpPr>
            <a:xfrm>
              <a:off x="2319439" y="3394634"/>
              <a:ext cx="8947964" cy="1223412"/>
              <a:chOff x="2319439" y="3394634"/>
              <a:chExt cx="8947964" cy="1223412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74A82F6-188F-4B1F-9145-934424666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439" y="3523610"/>
                <a:ext cx="3576620" cy="10618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피해자 알림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예: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보이스피싱 위험도 93%</a:t>
                </a:r>
                <a:endParaRPr kumimoji="0" lang="ko-KR" altLang="ko-KR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검찰 사칭 의심</a:t>
                </a:r>
                <a:b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송금 요구 및 비밀유지 요구가 발견되었습니다.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현재 송금을 중단하고 공식 기관을 통해 다시 확인하세요.</a:t>
                </a:r>
              </a:p>
            </p:txBody>
          </p:sp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93D1F0C1-F5BD-4D89-9BDA-D532F8EA4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6089" y="3394634"/>
                <a:ext cx="4801314" cy="1223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ko-KR" sz="105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신뢰인 알림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예: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등록된 사용자가 고위험 통화 상황에 있습니다.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기관사칭 및 송금 요구가 감지되었습니다.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[위험 확인] [추가 확인 필요]</a:t>
                </a:r>
                <a:endParaRPr kumimoji="0" lang="ko-KR" altLang="ko-KR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통화 전체 내용을 무조건 공개할 필요는 없고 </a:t>
                </a: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판단에 필요한 핵심 정보만 전달</a:t>
                </a: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94EFBA-19B9-4283-9CC8-C945B5CE4D5E}"/>
                </a:ext>
              </a:extLst>
            </p:cNvPr>
            <p:cNvGrpSpPr/>
            <p:nvPr/>
          </p:nvGrpSpPr>
          <p:grpSpPr>
            <a:xfrm>
              <a:off x="2319439" y="4582110"/>
              <a:ext cx="7380228" cy="1869743"/>
              <a:chOff x="2319439" y="4582110"/>
              <a:chExt cx="7380228" cy="1869743"/>
            </a:xfrm>
          </p:grpSpPr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99B38373-B740-4FCA-B25E-2BCBDAE1F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439" y="4582110"/>
                <a:ext cx="3943708" cy="1869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ko-KR" sz="105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금융관계자 알림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예: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고객에게 고위험 기관사칭 패턴과 송금 요구가 탐지되었습니다.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관련 거래의 추가 확인이 필요합니다.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금융사 연계 수준에 따라: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고객 확인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추가 인증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거래 재확인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실제 금융사 시스템 연동 시 거래 보류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등으로 확장.</a:t>
                </a: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3BCEED99-2BC6-4C05-A71B-C9B5C0806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6089" y="4824483"/>
                <a:ext cx="3233578" cy="13849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ko-KR" sz="105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기관담당자 알림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예: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귀 기관 관계자를 주장하는 통화가 탐지되었습니다.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상대 주장: ○○수사 관련 자산 확인</a:t>
                </a:r>
                <a:b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송금 요구: 있음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해당 연락의 정상 여부 확인 요청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05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기관 검증 결과를 다시 피해자 및 관계자에게 전달.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994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0037A9-D809-413C-9BAE-3DF754217FB1}"/>
              </a:ext>
            </a:extLst>
          </p:cNvPr>
          <p:cNvSpPr txBox="1"/>
          <p:nvPr/>
        </p:nvSpPr>
        <p:spPr>
          <a:xfrm>
            <a:off x="321734" y="239792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⑤ 공식기관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기관사칭형이 감지됐을 때 작동.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 분석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lang="en-US" altLang="ko-KR" sz="1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"서울중앙지검" 추출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공식기관 DB / RAG 조회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정상 업무절차·공식 연락처 확인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사칭 의심사항 비교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필요 시 기관 담당자 검증 요청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1단계 — 자동 정보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 DB/RAG를 활용해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 전화번호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정상 업무절차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기관이 하지 않는 행동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알려진 사칭 패턴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등을 확인.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2단계 — 사람을 통한 공식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자동정보만으로 판단하기 어려울 경우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기관 담당자의 확인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까지 연결.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47D90-0727-4D87-BDFF-E70080BF4A7F}"/>
              </a:ext>
            </a:extLst>
          </p:cNvPr>
          <p:cNvSpPr txBox="1"/>
          <p:nvPr/>
        </p:nvSpPr>
        <p:spPr>
          <a:xfrm>
            <a:off x="4902201" y="239792"/>
            <a:ext cx="6096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⑥ AI 맞춤 리포트 생성·배포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 알림과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리포트는 구분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LLM이 동일한 분석 결과를 기반으로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수신자별 다른 형태로 요약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위험도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위험 이유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현재 해야 할 행동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주의사항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신뢰인용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현재 상황 요약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위험 근거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피해자에게 확인해야 할 사항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도움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요청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>
                <a:solidFill>
                  <a:srgbClr val="FF0000"/>
                </a:solidFill>
                <a:latin typeface="Arial Unicode MS"/>
              </a:rPr>
              <a:t>송금 권한 인계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금융관계자용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위험등급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의심유형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송금 관련 요구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사항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금융조치 필요정보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기관담당자용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사칭 대상 기관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상대방 주장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확인이 필요한 사실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기술적으로는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아래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들어감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Report Generator + Role-based Template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25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F75C04-729E-4CAC-9EBD-424059C52D98}"/>
              </a:ext>
            </a:extLst>
          </p:cNvPr>
          <p:cNvSpPr txBox="1"/>
          <p:nvPr/>
        </p:nvSpPr>
        <p:spPr>
          <a:xfrm>
            <a:off x="448733" y="345576"/>
            <a:ext cx="1058333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최종 기능 구성을 </a:t>
            </a:r>
            <a:r>
              <a:rPr lang="en-US" altLang="ko-KR" sz="1600" b="1" dirty="0"/>
              <a:t>5</a:t>
            </a:r>
            <a:r>
              <a:rPr lang="ko-KR" altLang="en-US" sz="1600" b="1" dirty="0"/>
              <a:t>개로 압축하면</a:t>
            </a:r>
          </a:p>
          <a:p>
            <a:r>
              <a:rPr lang="en-US" altLang="ko-KR" sz="1600" dirty="0"/>
              <a:t>PPT</a:t>
            </a:r>
            <a:r>
              <a:rPr lang="ko-KR" altLang="en-US" sz="1600" dirty="0"/>
              <a:t>에서는 너무 세세하게 적지 말고 다음 </a:t>
            </a:r>
            <a:r>
              <a:rPr lang="en-US" altLang="ko-KR" sz="1600" b="1" dirty="0"/>
              <a:t>5</a:t>
            </a:r>
            <a:r>
              <a:rPr lang="ko-KR" altLang="en-US" sz="1600" b="1" dirty="0"/>
              <a:t>대 기능</a:t>
            </a:r>
            <a:r>
              <a:rPr lang="ko-KR" altLang="en-US" sz="1600" dirty="0"/>
              <a:t>으로 정리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b="1" dirty="0"/>
              <a:t>① 실시간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통화 위험 탐지</a:t>
            </a:r>
          </a:p>
          <a:p>
            <a:r>
              <a:rPr lang="en-US" altLang="ko-KR" sz="1600" dirty="0"/>
              <a:t>STT → Feature Extraction → ML + LLM </a:t>
            </a:r>
            <a:r>
              <a:rPr lang="ko-KR" altLang="en-US" sz="1600" dirty="0"/>
              <a:t>분석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ko-KR" altLang="en-US" sz="1600" b="1" dirty="0"/>
              <a:t>②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독립 위험도 및 근거 산출</a:t>
            </a:r>
          </a:p>
          <a:p>
            <a:r>
              <a:rPr lang="en-US" altLang="ko-KR" sz="1600" dirty="0"/>
              <a:t>ML </a:t>
            </a:r>
            <a:r>
              <a:rPr lang="ko-KR" altLang="en-US" sz="1600" dirty="0"/>
              <a:t>위험확률 </a:t>
            </a:r>
            <a:r>
              <a:rPr lang="en-US" altLang="ko-KR" sz="1600" dirty="0"/>
              <a:t>+ LLM </a:t>
            </a:r>
            <a:r>
              <a:rPr lang="ko-KR" altLang="en-US" sz="1600" dirty="0"/>
              <a:t>맥락검증 → 최종 위험등급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ko-KR" altLang="en-US" sz="1600" b="1" dirty="0"/>
              <a:t>③ 역할 기반 맞춤 알림</a:t>
            </a:r>
          </a:p>
          <a:p>
            <a:r>
              <a:rPr lang="ko-KR" altLang="en-US" sz="1600" dirty="0"/>
              <a:t>피해자</a:t>
            </a:r>
            <a:r>
              <a:rPr lang="en-US" altLang="ko-KR" sz="1600" dirty="0"/>
              <a:t>·</a:t>
            </a:r>
            <a:r>
              <a:rPr lang="ko-KR" altLang="en-US" sz="1600" dirty="0"/>
              <a:t>신뢰인</a:t>
            </a:r>
            <a:r>
              <a:rPr lang="en-US" altLang="ko-KR" sz="1600" dirty="0"/>
              <a:t>·</a:t>
            </a:r>
            <a:r>
              <a:rPr lang="ko-KR" altLang="en-US" sz="1600" dirty="0"/>
              <a:t>금융관계자</a:t>
            </a:r>
            <a:r>
              <a:rPr lang="en-US" altLang="ko-KR" sz="1600" dirty="0"/>
              <a:t>·</a:t>
            </a:r>
            <a:r>
              <a:rPr lang="ko-KR" altLang="en-US" sz="1600" dirty="0"/>
              <a:t>기관담당자에게 필요한 정보만 전달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ko-KR" altLang="en-US" sz="1600" b="1" dirty="0"/>
              <a:t>④ 다중 검증 및 개입</a:t>
            </a:r>
          </a:p>
          <a:p>
            <a:r>
              <a:rPr lang="ko-KR" altLang="en-US" sz="1600" dirty="0"/>
              <a:t>신뢰인 확인 </a:t>
            </a:r>
            <a:r>
              <a:rPr lang="en-US" altLang="ko-KR" sz="1600" dirty="0"/>
              <a:t>+ </a:t>
            </a:r>
            <a:r>
              <a:rPr lang="ko-KR" altLang="en-US" sz="1600" dirty="0"/>
              <a:t>금융거래 확인 </a:t>
            </a:r>
            <a:r>
              <a:rPr lang="en-US" altLang="ko-KR" sz="1600" dirty="0"/>
              <a:t>+ </a:t>
            </a:r>
            <a:r>
              <a:rPr lang="ko-KR" altLang="en-US" sz="1600" dirty="0"/>
              <a:t>필요 시 공식기관 진위검증</a:t>
            </a:r>
            <a:endParaRPr lang="en-US" altLang="ko-KR" sz="1600" dirty="0"/>
          </a:p>
          <a:p>
            <a:endParaRPr lang="ko-KR" altLang="en-US" sz="1600" dirty="0"/>
          </a:p>
          <a:p>
            <a:r>
              <a:rPr lang="ko-KR" altLang="en-US" sz="1600" b="1" dirty="0"/>
              <a:t>⑤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맞춤 리포트 및 송금방지턱</a:t>
            </a:r>
          </a:p>
          <a:p>
            <a:r>
              <a:rPr lang="ko-KR" altLang="en-US" sz="1600" dirty="0"/>
              <a:t>대상별 분석 리포트 생성 → 검증 결과 종합 → 송금 전 재확인</a:t>
            </a:r>
            <a:r>
              <a:rPr lang="en-US" altLang="ko-KR" sz="1600" dirty="0"/>
              <a:t>/</a:t>
            </a:r>
            <a:r>
              <a:rPr lang="ko-KR" altLang="en-US" sz="1600" dirty="0"/>
              <a:t>신뢰인에게 송금 권한 인계</a:t>
            </a:r>
          </a:p>
        </p:txBody>
      </p:sp>
    </p:spTree>
    <p:extLst>
      <p:ext uri="{BB962C8B-B14F-4D97-AF65-F5344CB8AC3E}">
        <p14:creationId xmlns:p14="http://schemas.microsoft.com/office/powerpoint/2010/main" val="277916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4C189E-219F-4DC5-A2FF-A52C4FC45CCB}"/>
              </a:ext>
            </a:extLst>
          </p:cNvPr>
          <p:cNvSpPr txBox="1"/>
          <p:nvPr/>
        </p:nvSpPr>
        <p:spPr>
          <a:xfrm>
            <a:off x="634999" y="843677"/>
            <a:ext cx="4080934" cy="51706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/>
              <a:t> [통화 데이터]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STT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[전처리 / Feature 추출]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┌────────┴────────┐</a:t>
            </a:r>
          </a:p>
          <a:p>
            <a:pPr algn="ctr"/>
            <a:r>
              <a:rPr lang="ko-KR" altLang="en-US" sz="1000"/>
              <a:t>↓                                                 ↓</a:t>
            </a:r>
          </a:p>
          <a:p>
            <a:pPr algn="ctr"/>
            <a:r>
              <a:rPr lang="ko-KR" altLang="en-US" sz="1000"/>
              <a:t>ML                                              LLM</a:t>
            </a:r>
          </a:p>
          <a:p>
            <a:pPr algn="ctr"/>
            <a:r>
              <a:rPr lang="ko-KR" altLang="en-US" sz="1000"/>
              <a:t>위험확률 산출                       맥락·위험요인 분석</a:t>
            </a:r>
          </a:p>
          <a:p>
            <a:pPr algn="ctr"/>
            <a:r>
              <a:rPr lang="ko-KR" altLang="en-US" sz="1000"/>
              <a:t>└────────┬────────┘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[Risk Fusion Engine]</a:t>
            </a:r>
          </a:p>
          <a:p>
            <a:pPr algn="ctr"/>
            <a:r>
              <a:rPr lang="ko-KR" altLang="en-US" sz="1000"/>
              <a:t>최종 위험도 + 판단근거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[Intervention / Alert Engine]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┌───────┬───────┬───────┐</a:t>
            </a:r>
          </a:p>
          <a:p>
            <a:pPr algn="ctr"/>
            <a:r>
              <a:rPr lang="ko-KR" altLang="en-US" sz="1000"/>
              <a:t>↓                     ↓                    ↓                     ↓</a:t>
            </a:r>
          </a:p>
          <a:p>
            <a:pPr algn="ctr"/>
            <a:r>
              <a:rPr lang="ko-KR" altLang="en-US" sz="1000"/>
              <a:t>     피해자             신뢰인         금융관계자           기관담당자*</a:t>
            </a:r>
          </a:p>
          <a:p>
            <a:pPr algn="ctr"/>
            <a:r>
              <a:rPr lang="ko-KR" altLang="en-US" sz="1000"/>
              <a:t>↓                     ↓                    ↓                     ↓</a:t>
            </a:r>
          </a:p>
          <a:p>
            <a:pPr algn="ctr"/>
            <a:r>
              <a:rPr lang="ko-KR" altLang="en-US" sz="1000"/>
              <a:t>경고                 확인              금융조치           공식검증</a:t>
            </a:r>
          </a:p>
          <a:p>
            <a:pPr algn="ctr"/>
            <a:r>
              <a:rPr lang="ko-KR" altLang="en-US" sz="1000"/>
              <a:t>└───────┴───────┴───────┘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[검증 결과 통합]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[LLM 맞춤 리포트]</a:t>
            </a:r>
          </a:p>
          <a:p>
            <a:pPr algn="ctr"/>
            <a:r>
              <a:rPr lang="ko-KR" altLang="en-US" sz="1000"/>
              <a:t>↓</a:t>
            </a:r>
          </a:p>
          <a:p>
            <a:pPr algn="ctr"/>
            <a:r>
              <a:rPr lang="ko-KR" altLang="en-US" sz="1000"/>
              <a:t>[송금방지턱]</a:t>
            </a:r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endParaRPr lang="ko-KR" altLang="en-US" sz="1000"/>
          </a:p>
          <a:p>
            <a:pPr algn="ctr"/>
            <a:r>
              <a:rPr lang="ko-KR" altLang="en-US" sz="1000"/>
              <a:t>*기관담당자는 필요 상황에만 개입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3A8DC-6067-40E3-820D-57D5712552B0}"/>
              </a:ext>
            </a:extLst>
          </p:cNvPr>
          <p:cNvSpPr txBox="1"/>
          <p:nvPr/>
        </p:nvSpPr>
        <p:spPr>
          <a:xfrm>
            <a:off x="5046133" y="843677"/>
            <a:ext cx="57319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통화 단계에서 </a:t>
            </a:r>
            <a:r>
              <a:rPr lang="en-US" altLang="ko-KR" dirty="0"/>
              <a:t>AI</a:t>
            </a:r>
            <a:r>
              <a:rPr lang="ko-KR" altLang="en-US" dirty="0"/>
              <a:t>가 보이스피싱 위험을 독립적으로 탐지하고</a:t>
            </a:r>
            <a:r>
              <a:rPr lang="en-US" altLang="ko-KR" dirty="0"/>
              <a:t>, </a:t>
            </a:r>
            <a:r>
              <a:rPr lang="ko-KR" altLang="en-US" dirty="0"/>
              <a:t>피해자</a:t>
            </a:r>
            <a:r>
              <a:rPr lang="en-US" altLang="ko-KR" dirty="0"/>
              <a:t>·</a:t>
            </a:r>
            <a:r>
              <a:rPr lang="ko-KR" altLang="en-US" dirty="0"/>
              <a:t>신뢰인</a:t>
            </a:r>
            <a:r>
              <a:rPr lang="en-US" altLang="ko-KR" dirty="0"/>
              <a:t>·</a:t>
            </a:r>
            <a:r>
              <a:rPr lang="ko-KR" altLang="en-US" dirty="0"/>
              <a:t>금융관계자</a:t>
            </a:r>
            <a:r>
              <a:rPr lang="en-US" altLang="ko-KR" dirty="0"/>
              <a:t>·</a:t>
            </a:r>
            <a:r>
              <a:rPr lang="ko-KR" altLang="en-US" dirty="0"/>
              <a:t>관련 기관에 역할별 맞춤 정보를 제공하여 다중 검증과 즉각적인 개입을 지원하는 금융 안전 서비스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1DE61-6066-4A7D-9B64-BCC9F1F2CA06}"/>
              </a:ext>
            </a:extLst>
          </p:cNvPr>
          <p:cNvSpPr txBox="1"/>
          <p:nvPr/>
        </p:nvSpPr>
        <p:spPr>
          <a:xfrm>
            <a:off x="4864100" y="5644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분석 → 역할별 알림 → 다중 검증 → 송금방지턱</a:t>
            </a:r>
          </a:p>
        </p:txBody>
      </p:sp>
    </p:spTree>
    <p:extLst>
      <p:ext uri="{BB962C8B-B14F-4D97-AF65-F5344CB8AC3E}">
        <p14:creationId xmlns:p14="http://schemas.microsoft.com/office/powerpoint/2010/main" val="167568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1165</Words>
  <Application>Microsoft Office PowerPoint</Application>
  <PresentationFormat>Widescreen</PresentationFormat>
  <Paragraphs>289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Unicode MS</vt:lpstr>
      <vt:lpstr>맑은 고딕</vt:lpstr>
      <vt:lpstr>Arial</vt:lpstr>
      <vt:lpstr>Office Theme</vt:lpstr>
      <vt:lpstr>기능 설명…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mbc</dc:creator>
  <cp:lastModifiedBy>mbc</cp:lastModifiedBy>
  <cp:revision>22</cp:revision>
  <dcterms:created xsi:type="dcterms:W3CDTF">2026-08-24T02:16:18Z</dcterms:created>
  <dcterms:modified xsi:type="dcterms:W3CDTF">2026-08-24T06:17:43Z</dcterms:modified>
</cp:coreProperties>
</file>