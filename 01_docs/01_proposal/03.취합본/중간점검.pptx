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263" r:id="rId3"/>
    <p:sldId id="266" r:id="rId4"/>
    <p:sldId id="267" r:id="rId5"/>
    <p:sldId id="311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기관사칭형</c:v>
                </c:pt>
              </c:strCache>
            </c:strRef>
          </c:tx>
          <c:spPr>
            <a:ln w="25400">
              <a:solidFill>
                <a:srgbClr val="2D6BFF"/>
              </a:solidFill>
            </a:ln>
          </c:spPr>
          <c:marker>
            <c:symbol val="circle"/>
            <c:size val="5"/>
            <c:spPr>
              <a:solidFill>
                <a:srgbClr val="2D6BFF"/>
              </a:solidFill>
              <a:ln>
                <a:solidFill>
                  <a:srgbClr val="2D6BFF"/>
                </a:solidFill>
              </a:ln>
            </c:spPr>
          </c:marker>
          <c:dLbls>
            <c:dLbl>
              <c:idx val="6"/>
              <c:layout>
                <c:manualLayout>
                  <c:x val="-4.771505376344095E-2"/>
                  <c:y val="4.97034014901363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D9F-4779-92A3-5B050783F0B8}"/>
                </c:ext>
              </c:extLst>
            </c:dLbl>
            <c:dLbl>
              <c:idx val="8"/>
              <c:layout>
                <c:manualLayout>
                  <c:x val="-4.771505376344104E-2"/>
                  <c:y val="6.65044767589535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D9F-4779-92A3-5B050783F0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3384</c:v>
                </c:pt>
                <c:pt idx="1">
                  <c:v>5685</c:v>
                </c:pt>
                <c:pt idx="2">
                  <c:v>6221</c:v>
                </c:pt>
                <c:pt idx="3">
                  <c:v>7219</c:v>
                </c:pt>
                <c:pt idx="4">
                  <c:v>7844</c:v>
                </c:pt>
                <c:pt idx="5">
                  <c:v>7017</c:v>
                </c:pt>
                <c:pt idx="6">
                  <c:v>8930</c:v>
                </c:pt>
                <c:pt idx="7">
                  <c:v>11314</c:v>
                </c:pt>
                <c:pt idx="8">
                  <c:v>9519</c:v>
                </c:pt>
                <c:pt idx="9">
                  <c:v>13323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9F-4779-92A3-5B050783F0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대출사기형</c:v>
                </c:pt>
              </c:strCache>
            </c:strRef>
          </c:tx>
          <c:spPr>
            <a:ln w="25400">
              <a:solidFill>
                <a:srgbClr val="2DA477"/>
              </a:solidFill>
            </a:ln>
          </c:spPr>
          <c:marker>
            <c:symbol val="circle"/>
            <c:size val="5"/>
            <c:spPr>
              <a:solidFill>
                <a:srgbClr val="2DA477"/>
              </a:solidFill>
              <a:ln>
                <a:solidFill>
                  <a:srgbClr val="2DA477"/>
                </a:solidFill>
              </a:ln>
            </c:spPr>
          </c:marker>
          <c:dLbls>
            <c:dLbl>
              <c:idx val="7"/>
              <c:layout>
                <c:manualLayout>
                  <c:x val="-4.7715053763440859E-2"/>
                  <c:y val="6.09041183360144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9F-4779-92A3-5B050783F0B8}"/>
                </c:ext>
              </c:extLst>
            </c:dLbl>
            <c:dLbl>
              <c:idx val="9"/>
              <c:layout>
                <c:manualLayout>
                  <c:x val="-3.0030268393870119E-2"/>
                  <c:y val="5.53037599130752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9F-4779-92A3-5B050783F0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solidFill>
                      <a:schemeClr val="accent6">
                        <a:lumMod val="50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13656</c:v>
                </c:pt>
                <c:pt idx="1">
                  <c:v>18574</c:v>
                </c:pt>
                <c:pt idx="2">
                  <c:v>27911</c:v>
                </c:pt>
                <c:pt idx="3">
                  <c:v>30448</c:v>
                </c:pt>
                <c:pt idx="4">
                  <c:v>23837</c:v>
                </c:pt>
                <c:pt idx="5">
                  <c:v>23965</c:v>
                </c:pt>
                <c:pt idx="6">
                  <c:v>12902</c:v>
                </c:pt>
                <c:pt idx="7">
                  <c:v>7588</c:v>
                </c:pt>
                <c:pt idx="8">
                  <c:v>11320</c:v>
                </c:pt>
                <c:pt idx="9">
                  <c:v>10037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9F-4779-92A3-5B050783F0B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E4F0"/>
            </a:solidFill>
          </a:ln>
        </c:spPr>
        <c:txPr>
          <a:bodyPr/>
          <a:lstStyle/>
          <a:p>
            <a:pPr>
              <a:defRPr sz="800">
                <a:latin typeface="페이퍼로지 7 Bold" pitchFamily="2" charset="-127"/>
                <a:ea typeface="페이퍼로지 7 Bold" pitchFamily="2" charset="-127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4000"/>
          <c:min val="0"/>
        </c:scaling>
        <c:delete val="0"/>
        <c:axPos val="l"/>
        <c:majorGridlines>
          <c:spPr>
            <a:ln w="7620">
              <a:solidFill>
                <a:srgbClr val="D9E4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9E4F0"/>
            </a:solidFill>
          </a:ln>
        </c:spPr>
        <c:txPr>
          <a:bodyPr/>
          <a:lstStyle/>
          <a:p>
            <a:pPr>
              <a:defRPr sz="800">
                <a:latin typeface="페이퍼로지 7 Bold" pitchFamily="2" charset="-127"/>
                <a:ea typeface="페이퍼로지 7 Bold" pitchFamily="2" charset="-127"/>
              </a:defRPr>
            </a:pPr>
            <a:endParaRPr lang="ko-KR"/>
          </a:p>
        </c:txPr>
        <c:crossAx val="2118791784"/>
        <c:crosses val="autoZero"/>
        <c:crossBetween val="between"/>
        <c:majorUnit val="8500"/>
      </c:valAx>
    </c:plotArea>
    <c:legend>
      <c:legendPos val="t"/>
      <c:layout>
        <c:manualLayout>
          <c:xMode val="edge"/>
          <c:yMode val="edge"/>
          <c:x val="2.0908004778972607E-3"/>
          <c:y val="3.1411462957970475E-2"/>
          <c:w val="0.35364396654719238"/>
          <c:h val="7.9029558582415893E-2"/>
        </c:manualLayout>
      </c:layout>
      <c:overlay val="0"/>
      <c:txPr>
        <a:bodyPr/>
        <a:lstStyle/>
        <a:p>
          <a:pPr>
            <a:defRPr sz="800">
              <a:latin typeface="페이퍼로지 7 Bold" pitchFamily="2" charset="-127"/>
              <a:ea typeface="페이퍼로지 7 Bold" pitchFamily="2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기관사칭형 피해액</c:v>
                </c:pt>
              </c:strCache>
            </c:strRef>
          </c:tx>
          <c:spPr>
            <a:ln w="25400">
              <a:solidFill>
                <a:srgbClr val="2D6BFF"/>
              </a:solidFill>
            </a:ln>
          </c:spPr>
          <c:marker>
            <c:symbol val="circle"/>
            <c:size val="5"/>
            <c:spPr>
              <a:solidFill>
                <a:srgbClr val="2D6BFF"/>
              </a:solidFill>
              <a:ln>
                <a:solidFill>
                  <a:srgbClr val="2D6BFF"/>
                </a:solidFill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541</c:v>
                </c:pt>
                <c:pt idx="1">
                  <c:v>967</c:v>
                </c:pt>
                <c:pt idx="2">
                  <c:v>1430</c:v>
                </c:pt>
                <c:pt idx="3">
                  <c:v>2506</c:v>
                </c:pt>
                <c:pt idx="4">
                  <c:v>2144</c:v>
                </c:pt>
                <c:pt idx="5">
                  <c:v>1741</c:v>
                </c:pt>
                <c:pt idx="6">
                  <c:v>2077</c:v>
                </c:pt>
                <c:pt idx="7">
                  <c:v>2364</c:v>
                </c:pt>
                <c:pt idx="8">
                  <c:v>5349</c:v>
                </c:pt>
                <c:pt idx="9">
                  <c:v>9884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65-4694-818C-B8A1FD323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E4F0"/>
            </a:solidFill>
          </a:ln>
        </c:spPr>
        <c:txPr>
          <a:bodyPr/>
          <a:lstStyle/>
          <a:p>
            <a:pPr>
              <a:defRPr sz="800">
                <a:latin typeface="페이퍼로지 7 Bold" pitchFamily="2" charset="-127"/>
                <a:ea typeface="페이퍼로지 7 Bold" pitchFamily="2" charset="-127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2000"/>
          <c:min val="0"/>
        </c:scaling>
        <c:delete val="0"/>
        <c:axPos val="l"/>
        <c:majorGridlines>
          <c:spPr>
            <a:ln w="7620">
              <a:solidFill>
                <a:srgbClr val="D9E4F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9E4F0"/>
            </a:solidFill>
          </a:ln>
        </c:spPr>
        <c:txPr>
          <a:bodyPr/>
          <a:lstStyle/>
          <a:p>
            <a:pPr>
              <a:defRPr sz="800">
                <a:latin typeface="페이퍼로지 7 Bold" pitchFamily="2" charset="-127"/>
                <a:ea typeface="페이퍼로지 7 Bold" pitchFamily="2" charset="-127"/>
              </a:defRPr>
            </a:pPr>
            <a:endParaRPr lang="ko-KR"/>
          </a:p>
        </c:txPr>
        <c:crossAx val="2118791784"/>
        <c:crosses val="autoZero"/>
        <c:crossBetween val="between"/>
        <c:majorUnit val="300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디지털 금융이해력</c:v>
                </c:pt>
              </c:strCache>
            </c:strRef>
          </c:tx>
          <c:spPr>
            <a:solidFill>
              <a:srgbClr val="3773EB"/>
            </a:solidFill>
            <a:ln>
              <a:solidFill>
                <a:srgbClr val="3773EB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EE43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D5EE-4C37-B6A4-F6236B19AAB0}"/>
              </c:ext>
            </c:extLst>
          </c:dPt>
          <c:dPt>
            <c:idx val="4"/>
            <c:invertIfNegative val="1"/>
            <c:bubble3D val="0"/>
            <c:spPr>
              <a:solidFill>
                <a:srgbClr val="EE43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D5EE-4C37-B6A4-F6236B19AAB0}"/>
              </c:ext>
            </c:extLst>
          </c:dPt>
          <c:dPt>
            <c:idx val="5"/>
            <c:invertIfNegative val="1"/>
            <c:bubble3D val="0"/>
            <c:spPr>
              <a:solidFill>
                <a:srgbClr val="EE43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5EE-4C37-B6A4-F6236B19AAB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>
                      <a:solidFill>
                        <a:srgbClr val="EE4344"/>
                      </a:solidFill>
                      <a:latin typeface="페이퍼로지 7 Bold" pitchFamily="2" charset="-127"/>
                      <a:ea typeface="페이퍼로지 7 Bold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D5EE-4C37-B6A4-F6236B19AAB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>
                      <a:solidFill>
                        <a:srgbClr val="2D6BFF"/>
                      </a:solidFill>
                      <a:latin typeface="페이퍼로지 7 Bold" pitchFamily="2" charset="-127"/>
                      <a:ea typeface="페이퍼로지 7 Bold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D5EE-4C37-B6A4-F6236B19AAB0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>
                      <a:solidFill>
                        <a:srgbClr val="2D6BFF"/>
                      </a:solidFill>
                      <a:latin typeface="페이퍼로지 7 Bold" pitchFamily="2" charset="-127"/>
                      <a:ea typeface="페이퍼로지 7 Bold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D5EE-4C37-B6A4-F6236B19AAB0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>
                      <a:solidFill>
                        <a:srgbClr val="2D6BFF"/>
                      </a:solidFill>
                      <a:latin typeface="페이퍼로지 7 Bold" pitchFamily="2" charset="-127"/>
                      <a:ea typeface="페이퍼로지 7 Bold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D5EE-4C37-B6A4-F6236B19AAB0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>
                      <a:solidFill>
                        <a:srgbClr val="EE4344"/>
                      </a:solidFill>
                      <a:latin typeface="페이퍼로지 7 Bold" pitchFamily="2" charset="-127"/>
                      <a:ea typeface="페이퍼로지 7 Bold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D5EE-4C37-B6A4-F6236B19AAB0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>
                      <a:solidFill>
                        <a:srgbClr val="EE4344"/>
                      </a:solidFill>
                      <a:latin typeface="페이퍼로지 7 Bold" pitchFamily="2" charset="-127"/>
                      <a:ea typeface="페이퍼로지 7 Bold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D5EE-4C37-B6A4-F6236B19AA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latin typeface="페이퍼로지 7 Bold" pitchFamily="2" charset="-127"/>
                    <a:ea typeface="페이퍼로지 7 Bold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44.8</c:v>
                </c:pt>
                <c:pt idx="1">
                  <c:v>46.6</c:v>
                </c:pt>
                <c:pt idx="2">
                  <c:v>46.6</c:v>
                </c:pt>
                <c:pt idx="3">
                  <c:v>46.4</c:v>
                </c:pt>
                <c:pt idx="4">
                  <c:v>44.8</c:v>
                </c:pt>
                <c:pt idx="5">
                  <c:v>42.2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773E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5EE-4C37-B6A4-F6236B19A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AE1EB"/>
            </a:solidFill>
          </a:ln>
        </c:spPr>
        <c:txPr>
          <a:bodyPr/>
          <a:lstStyle/>
          <a:p>
            <a:pPr>
              <a:defRPr b="1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>
              <a:solidFill>
                <a:srgbClr val="DAE1EB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ko-KR"/>
          </a:p>
        </c:txPr>
        <c:crossAx val="-2068027336"/>
        <c:crosses val="autoZero"/>
        <c:crossBetween val="between"/>
        <c:majorUnit val="25"/>
      </c:valAx>
    </c:plotArea>
    <c:plotVisOnly val="1"/>
    <c:dispBlanksAs val="gap"/>
    <c:showDLblsOverMax val="1"/>
  </c:chart>
  <c:txPr>
    <a:bodyPr/>
    <a:lstStyle/>
    <a:p>
      <a:pPr>
        <a:defRPr sz="800">
          <a:latin typeface="페이퍼로지 4 Regular" pitchFamily="2" charset="-127"/>
          <a:ea typeface="페이퍼로지 4 Regular" pitchFamily="2" charset="-127"/>
        </a:defRPr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D73EF-AAC6-4F4D-9D03-D72A144DC90A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E0284-2F22-4C30-A379-996E5D956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41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공공데이터포털·경찰청 보이스피싱 현황(2025.12.30) — user-provided source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Team Guardrails 02_01 EDA — 776 voice-phishing calls; user-provided analysis and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age-composition chart and institution-impersonation victim distribution.</a:t>
            </a:r>
          </a:p>
          <a:p>
            <a:r>
              <a:t>- Source slide notes: 2025 victim composition; institution-impersonation age distribution; illustrative risk-factor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- 472-participant phishing-email experiment on time pressure — claim retained from user-provided slide.</a:t>
            </a:r>
          </a:p>
          <a:p>
            <a:r>
              <a:t>- Authority-cue phishing experiment — interpretation retained from user-provided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Slides 7–13의 범죄수법·심리압박·취약성 분석을 종합한 결론.</a:t>
            </a:r>
          </a:p>
          <a:p>
            <a:r>
              <a:t>- 사용자 제공 문제정의: 피해자는 조작된 상황에서 직접 진위를 판단해야 하며 잘못된 결정을 내릴 수 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LG U+ 익시오·SKT 에이닷·금융위 ASAP·금융보안원 FDS: 기존 슬라이드의 공개자료와 수치 유지.</a:t>
            </a:r>
          </a:p>
          <a:p>
            <a:r>
              <a:t>- 범위 제한: 통신 AI의 맥락분석 기능을 부정하지 않고, 은행 업무에서 발화 맥락과 ASAP/FDS 신호가 하나의 Case로 제공되지 않는 점을 문제로 정의.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금융보안원 FDS 운영 가이드라인과 ASAP 12주 성과·현장사례: 기존 슬라이드의 흐름과 사례 유지.</a:t>
            </a:r>
          </a:p>
          <a:p>
            <a:r>
              <a:t>- 핵심 해석: 탐지 이후에도 직원의 고객확인·상황 파악·설득이 보호조치의 일부로 이어짐.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금융보안원 FDS 가이드와 ASAP 현장사례: 탐지 이후 고객확인·설득 업무가 이어지는 근거.</a:t>
            </a:r>
          </a:p>
          <a:p>
            <a:r>
              <a:t>- 사용자 제공 현행 프로세스: 모니터링 직원의 확인계획 수립 → 콜센터 전달 → 고객·기관 확인/설득 → 결과 재공유.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기존 연결을 부정하지 않음: 통신 AI·ASAP·FDS·은행·경찰의 역할은 유지.</a:t>
            </a:r>
          </a:p>
          <a:p>
            <a:r>
              <a:t>- 사용자 제공 개입점: 범죄자의 발화 맥락을 Case화해 확인계획·기관검증·고객설득을 병렬 지원.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76F97-1B4A-425C-AB0A-813760743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A8976-D31C-47DB-8E24-1220C3A01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13AE9-FA72-413B-BA8F-8A98867C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54795-9E4F-4A8E-BCAE-291088616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28F06-688D-45E0-B825-1F23BFB5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5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4CFE-48A8-4365-87B6-C62265F5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DBFF-E0EC-431E-9846-3AFC238A7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C26A9-A76C-459E-84F1-490E21FF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13608-D321-4B77-8409-3F91019F0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E498-80A0-4475-B068-7B50E660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661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F39D2-D95D-4BB0-A0E4-5A23E643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F9FDC-6D1B-461C-BA8E-56450A689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62A-9CEA-4BAD-BBD2-FB4502F4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E2E13-416D-40B6-B1A0-0EDE342C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1AD97-15DB-4124-8AF3-BD74C0B3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409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6C87-F9AC-4F11-A3F4-2CDDD7CE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3290-E98B-499D-8FC9-E245CD3AD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5F8B2-3094-4EEF-858A-3516CB96A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1B875-7AEE-447F-9A46-ABD9D3AC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000D1-B595-4AAA-9644-4453049D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AD579-8073-4B64-B321-BC83DB91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18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3CC9-E0B8-4A1F-A4DB-179F243E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B2A0-E1BD-4258-A16C-756391B97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ADFF2-ABE1-43AF-BCDA-DF28D0D7D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51EA0-0913-47AD-BFBF-76EBFC910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5D216-2B98-48C6-B932-0257376A6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F32F9-4203-49E6-B0A1-961750BAC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B0D30D-7F1C-4681-A183-562C121A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6BDEA-C604-4782-8AC5-6BE88765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37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D4A7-4FDF-458E-8FA4-40476D13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758C6-DA99-4EBB-BFB7-6A5736EF7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1DAC2-56D7-4E32-B420-D55DD0E3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7B22E-B1A2-4430-A26A-49F1F829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90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395D0-3F66-4003-8353-10F1A74C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EF641-488F-4155-AAE2-4E293138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D6623-137E-4E76-9D66-9D07B015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12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8792C-BB8A-410F-810D-B2EE2355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C16B1-735E-424F-9BC2-F00DA115C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9E56C-9FBE-4D1E-982E-723AB97B4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BA699-E3F4-49CC-B46C-40835BAB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6A780-8668-4C7D-AFF3-C9633F1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8875-1120-46D0-BDE9-C5165E51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280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B71A-612A-4847-884B-2B33E024D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D2607C-7457-4D6C-B049-D2826BF70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971D4-0FDF-41B6-B75F-2202404BC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91081-1381-49EB-826A-CD0442FE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C1390-B4A2-4A66-B7BC-13D8CE93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C480A-21CF-48B1-B2D0-4F705D89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80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DFBC-154A-4C04-AAB2-39FC0D72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F3809-BC32-4564-BFE2-673825303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34B76-0FBD-4D85-B6D2-0AF0195C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19809-60A8-44D3-9B2A-591D1F14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B05C-4826-4AB5-972F-4FBFD87E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70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81404-9B8F-4E46-AAF7-F0D1C5524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BDAF8-3243-4607-8CC9-7321EAD73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313B-9AD6-4E03-A165-9789828A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48E17-5E06-4693-BDCA-18F9D166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99DC3-423C-488D-AB6B-86C2A008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106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>
            <a:extLst>
              <a:ext uri="{FF2B5EF4-FFF2-40B4-BE49-F238E27FC236}">
                <a16:creationId xmlns:a16="http://schemas.microsoft.com/office/drawing/2014/main" id="{456DC784-67F9-4CC0-9ED2-55652D9D360F}"/>
              </a:ext>
            </a:extLst>
          </p:cNvPr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l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44" name="PlaceHolder 2">
            <a:extLst>
              <a:ext uri="{FF2B5EF4-FFF2-40B4-BE49-F238E27FC236}">
                <a16:creationId xmlns:a16="http://schemas.microsoft.com/office/drawing/2014/main" id="{14C5E9DA-023A-4F93-A70D-B34EA523C39E}"/>
              </a:ext>
            </a:extLst>
          </p:cNvPr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5" name="PlaceHolder 3">
            <a:extLst>
              <a:ext uri="{FF2B5EF4-FFF2-40B4-BE49-F238E27FC236}">
                <a16:creationId xmlns:a16="http://schemas.microsoft.com/office/drawing/2014/main" id="{F9DBA960-9744-4414-ADB1-C730E9738CA8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0701332-0D58-4080-AB1A-D2DC8CF2CE4F}" type="slidenum">
              <a:rPr sz="1200" b="0" u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4">
            <a:extLst>
              <a:ext uri="{FF2B5EF4-FFF2-40B4-BE49-F238E27FC236}">
                <a16:creationId xmlns:a16="http://schemas.microsoft.com/office/drawing/2014/main" id="{F2E9438E-E98F-4CA0-9154-92ED5881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47" name="PlaceHolder 5">
            <a:extLst>
              <a:ext uri="{FF2B5EF4-FFF2-40B4-BE49-F238E27FC236}">
                <a16:creationId xmlns:a16="http://schemas.microsoft.com/office/drawing/2014/main" id="{D18E440A-6B09-4412-A88E-6C643C62885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05624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BE34FD-1063-42FE-A6F8-E1C17DCE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A7810-A03E-410A-AE3A-61BADBE7E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491AB-5F29-42E1-A9CE-FC1EA1896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EC11-C19C-4783-BEBE-4B2432E775CF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BD786-B6BA-4B11-B2DD-D0ACFDDC5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81F92-9DE4-4E51-AC3D-4E0694832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50048-B402-4FF8-9A84-324A79435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14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lguplus.com/17468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sec.or.kr/bbs/detail?bbsNo=11355&amp;menuNo=69" TargetMode="External"/><Relationship Id="rId5" Type="http://schemas.openxmlformats.org/officeDocument/2006/relationships/hyperlink" Target="https://www.fsc.go.kr/no010101/85526" TargetMode="External"/><Relationship Id="rId4" Type="http://schemas.openxmlformats.org/officeDocument/2006/relationships/hyperlink" Target="https://news.sktelecom.com/21805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sec.or.kr/bbs/detail?bbsNo=11355&amp;menuNo=69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fsc.go.kr/no010101/86149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sec.or.kr/bbs/detail?bbsNo=11355&amp;menuNo=6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fsc.go.kr/no010101/86149" TargetMode="External"/><Relationship Id="rId4" Type="http://schemas.openxmlformats.org/officeDocument/2006/relationships/hyperlink" Target="https://www.fsc.go.kr/no010101/8699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sc.go.kr/no010101/8552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fsc.go.kr/no010101/86149" TargetMode="External"/><Relationship Id="rId4" Type="http://schemas.openxmlformats.org/officeDocument/2006/relationships/hyperlink" Target="https://www.fsc.go.kr/no010101/8699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ounded Rectangle 10">
            <a:extLst>
              <a:ext uri="{FF2B5EF4-FFF2-40B4-BE49-F238E27FC236}">
                <a16:creationId xmlns:a16="http://schemas.microsoft.com/office/drawing/2014/main" id="{53D6246A-5ED8-478F-A3C7-73D28685E229}"/>
              </a:ext>
            </a:extLst>
          </p:cNvPr>
          <p:cNvSpPr/>
          <p:nvPr/>
        </p:nvSpPr>
        <p:spPr>
          <a:xfrm>
            <a:off x="566928" y="4953043"/>
            <a:ext cx="11073384" cy="677853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10">
            <a:extLst>
              <a:ext uri="{FF2B5EF4-FFF2-40B4-BE49-F238E27FC236}">
                <a16:creationId xmlns:a16="http://schemas.microsoft.com/office/drawing/2014/main" id="{00577C1F-C1C8-49E7-89C7-70F991988D25}"/>
              </a:ext>
            </a:extLst>
          </p:cNvPr>
          <p:cNvSpPr/>
          <p:nvPr/>
        </p:nvSpPr>
        <p:spPr>
          <a:xfrm>
            <a:off x="6135624" y="1463107"/>
            <a:ext cx="5504688" cy="3385465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548640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근거</a:t>
            </a:r>
            <a:r>
              <a:rPr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①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보이스피싱 수법과 구조 </a:t>
            </a:r>
            <a:r>
              <a:rPr lang="en-US" altLang="ko-KR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· </a:t>
            </a:r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사기유형</a:t>
            </a:r>
            <a:r>
              <a:rPr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변화</a:t>
            </a:r>
            <a:endParaRPr sz="950" dirty="0">
              <a:solidFill>
                <a:srgbClr val="2D6BFF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544465"/>
            <a:ext cx="10744200" cy="77559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2025년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기관사칭형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발생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57.0%</a:t>
            </a:r>
            <a:r>
              <a:rPr 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돌파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피해액</a:t>
            </a:r>
            <a:r>
              <a:rPr 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전년대비 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84% 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급등한 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9,884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억원</a:t>
            </a:r>
            <a:endParaRPr lang="en-US" altLang="ko-KR" sz="24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/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보이스피싱 사기유형 비중 → 기관사칭형 중심으로 이동되는 추세</a:t>
            </a:r>
            <a:endParaRPr lang="en-US" altLang="ko-KR" sz="24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" y="6494295"/>
            <a:ext cx="996696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l">
              <a:buNone/>
            </a:pP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공공데이터포털 경찰청 보이스피싱 현황 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2025.12.30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64808"/>
            <a:ext cx="32004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00" b="0">
                <a:solidFill>
                  <a:srgbClr val="6A7B97"/>
                </a:solidFill>
                <a:latin typeface="Malgun Gothic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108"/>
            <a:ext cx="5504688" cy="3385465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609291"/>
            <a:ext cx="384048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보이스피싱</a:t>
            </a:r>
            <a:r>
              <a:rPr sz="1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유형별</a:t>
            </a:r>
            <a:r>
              <a:rPr sz="1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발생건수</a:t>
            </a:r>
            <a:r>
              <a:rPr sz="1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추이</a:t>
            </a:r>
            <a:endParaRPr sz="14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1909418"/>
            <a:ext cx="40233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2016~2025 · </a:t>
            </a:r>
            <a:r>
              <a:rPr sz="1000" b="0" dirty="0" err="1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기관사칭형</a:t>
            </a:r>
            <a:r>
              <a:rPr sz="100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 vs </a:t>
            </a:r>
            <a:r>
              <a:rPr sz="1000" b="0" dirty="0" err="1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대출사기형</a:t>
            </a:r>
            <a:endParaRPr sz="1000" b="0" dirty="0">
              <a:solidFill>
                <a:srgbClr val="6A7B97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49808" y="2188737"/>
          <a:ext cx="5102352" cy="2462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19088" y="1609291"/>
            <a:ext cx="329184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기관사칭형</a:t>
            </a:r>
            <a:r>
              <a:rPr sz="1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피해액</a:t>
            </a:r>
            <a:r>
              <a:rPr sz="1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추이</a:t>
            </a:r>
            <a:endParaRPr sz="14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1909418"/>
            <a:ext cx="29260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2016~2025 · 피해액(억원)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419088" y="2366945"/>
          <a:ext cx="4983480" cy="233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1143000" y="5756908"/>
            <a:ext cx="9921240" cy="517955"/>
          </a:xfrm>
          <a:prstGeom prst="roundRect">
            <a:avLst/>
          </a:prstGeom>
          <a:solidFill>
            <a:srgbClr val="102D52"/>
          </a:solidFill>
          <a:ln>
            <a:solidFill>
              <a:srgbClr val="10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기관사칭형은</a:t>
            </a:r>
            <a:r>
              <a:rPr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 ‘</a:t>
            </a:r>
            <a:r>
              <a:rPr sz="1600" b="1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많이</a:t>
            </a:r>
            <a:r>
              <a:rPr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발생한</a:t>
            </a:r>
            <a:r>
              <a:rPr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유형’을</a:t>
            </a:r>
            <a:r>
              <a:rPr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넘어</a:t>
            </a:r>
            <a:r>
              <a:rPr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, 한 </a:t>
            </a:r>
            <a:r>
              <a:rPr sz="1600" b="1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건의</a:t>
            </a:r>
            <a:r>
              <a:rPr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손실</a:t>
            </a:r>
            <a:r>
              <a:rPr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규모가</a:t>
            </a:r>
            <a:r>
              <a:rPr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 큰 </a:t>
            </a:r>
            <a:r>
              <a:rPr sz="1600" b="1" dirty="0" err="1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핵심</a:t>
            </a:r>
            <a:r>
              <a:rPr sz="16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600" b="1" dirty="0" err="1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위험군</a:t>
            </a:r>
            <a:r>
              <a:rPr lang="ko-KR" altLang="en-US"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으로 나타난다</a:t>
            </a:r>
            <a:r>
              <a:rPr lang="en-US" altLang="ko-KR" sz="16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.</a:t>
            </a:r>
            <a:endParaRPr sz="1600" b="1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1AE0A57-D953-4847-A848-11EB7B2B9584}"/>
              </a:ext>
            </a:extLst>
          </p:cNvPr>
          <p:cNvGrpSpPr/>
          <p:nvPr/>
        </p:nvGrpSpPr>
        <p:grpSpPr>
          <a:xfrm>
            <a:off x="800719" y="5119313"/>
            <a:ext cx="10573798" cy="354843"/>
            <a:chOff x="800719" y="5140982"/>
            <a:chExt cx="10573798" cy="354843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E25717E-5056-428E-9737-11A2FDF56CD2}"/>
                </a:ext>
              </a:extLst>
            </p:cNvPr>
            <p:cNvGrpSpPr/>
            <p:nvPr/>
          </p:nvGrpSpPr>
          <p:grpSpPr>
            <a:xfrm>
              <a:off x="800719" y="5140982"/>
              <a:ext cx="5000530" cy="352711"/>
              <a:chOff x="800719" y="4731617"/>
              <a:chExt cx="5000530" cy="352711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800719" y="4805286"/>
                <a:ext cx="825289" cy="205372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l"/>
                <a:r>
                  <a:rPr sz="1200" b="1" dirty="0" err="1">
                    <a:solidFill>
                      <a:srgbClr val="102D52"/>
                    </a:solidFill>
                    <a:latin typeface="페이퍼로지 7 Bold" pitchFamily="2" charset="-127"/>
                    <a:ea typeface="페이퍼로지 7 Bold" pitchFamily="2" charset="-127"/>
                  </a:rPr>
                  <a:t>발생건수</a:t>
                </a:r>
                <a:endParaRPr sz="12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1461265" y="4731617"/>
                <a:ext cx="4339984" cy="352711"/>
              </a:xfrm>
              <a:prstGeom prst="rect">
                <a:avLst/>
              </a:prstGeom>
              <a:solidFill>
                <a:srgbClr val="ECF2F8"/>
              </a:solidFill>
              <a:ln>
                <a:solidFill>
                  <a:srgbClr val="ECF2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1461265" y="4731617"/>
                <a:ext cx="2473791" cy="352711"/>
              </a:xfrm>
              <a:prstGeom prst="rect">
                <a:avLst/>
              </a:prstGeom>
              <a:solidFill>
                <a:srgbClr val="2D6BFF"/>
              </a:solidFill>
              <a:ln>
                <a:solidFill>
                  <a:srgbClr val="2D6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3935056" y="4731617"/>
                <a:ext cx="1866193" cy="352711"/>
              </a:xfrm>
              <a:prstGeom prst="rect">
                <a:avLst/>
              </a:prstGeom>
              <a:solidFill>
                <a:srgbClr val="2DA477"/>
              </a:solidFill>
              <a:ln>
                <a:solidFill>
                  <a:srgbClr val="2DA47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461265" y="4797171"/>
                <a:ext cx="2473791" cy="221599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ctr"/>
                <a:r>
                  <a:rPr sz="1200" b="1" dirty="0" err="1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기관사칭형</a:t>
                </a:r>
                <a:r>
                  <a:rPr lang="en-US" sz="1200" b="1" dirty="0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200" b="1" dirty="0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57.0%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935056" y="4748238"/>
                <a:ext cx="1866193" cy="319468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ctr"/>
                <a:r>
                  <a:rPr sz="1000" b="1" dirty="0" err="1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대출사기형</a:t>
                </a:r>
                <a:endParaRPr lang="en-US" sz="100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sz="1000" b="1" dirty="0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43.0%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774B752-56D4-40C3-9B82-ED4AD3C301E3}"/>
                </a:ext>
              </a:extLst>
            </p:cNvPr>
            <p:cNvGrpSpPr/>
            <p:nvPr/>
          </p:nvGrpSpPr>
          <p:grpSpPr>
            <a:xfrm>
              <a:off x="6373987" y="5143114"/>
              <a:ext cx="5000530" cy="352711"/>
              <a:chOff x="800719" y="5143114"/>
              <a:chExt cx="5000530" cy="352711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800719" y="5216783"/>
                <a:ext cx="825289" cy="205372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l"/>
                <a:r>
                  <a:rPr sz="1200" b="1" dirty="0" err="1">
                    <a:solidFill>
                      <a:srgbClr val="102D52"/>
                    </a:solidFill>
                    <a:latin typeface="페이퍼로지 7 Bold" pitchFamily="2" charset="-127"/>
                    <a:ea typeface="페이퍼로지 7 Bold" pitchFamily="2" charset="-127"/>
                  </a:rPr>
                  <a:t>피해금액</a:t>
                </a:r>
                <a:endParaRPr sz="12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461265" y="5143114"/>
                <a:ext cx="4339984" cy="352711"/>
              </a:xfrm>
              <a:prstGeom prst="rect">
                <a:avLst/>
              </a:prstGeom>
              <a:solidFill>
                <a:srgbClr val="ECF2F8"/>
              </a:solidFill>
              <a:ln>
                <a:solidFill>
                  <a:srgbClr val="ECF2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1461265" y="5143114"/>
                <a:ext cx="3411228" cy="352711"/>
              </a:xfrm>
              <a:prstGeom prst="rect">
                <a:avLst/>
              </a:prstGeom>
              <a:solidFill>
                <a:srgbClr val="2D6BFF"/>
              </a:solidFill>
              <a:ln>
                <a:solidFill>
                  <a:srgbClr val="2D6B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4872492" y="5143114"/>
                <a:ext cx="928756" cy="352711"/>
              </a:xfrm>
              <a:prstGeom prst="rect">
                <a:avLst/>
              </a:prstGeom>
              <a:solidFill>
                <a:srgbClr val="2DA477"/>
              </a:solidFill>
              <a:ln>
                <a:solidFill>
                  <a:srgbClr val="2DA47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461265" y="5208671"/>
                <a:ext cx="3411228" cy="221599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ctr"/>
                <a:r>
                  <a:rPr sz="1200" b="1" dirty="0" err="1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기관사칭형</a:t>
                </a:r>
                <a:r>
                  <a:rPr lang="en-US" sz="1200" b="1" dirty="0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200" b="1" dirty="0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78.6%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4872493" y="5159735"/>
                <a:ext cx="928756" cy="319468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ctr"/>
                <a:r>
                  <a:rPr sz="1000" b="1" dirty="0" err="1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대출사기형</a:t>
                </a:r>
                <a:endParaRPr lang="en-US" sz="100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sz="1000" b="1" dirty="0">
                    <a:solidFill>
                      <a:srgbClr val="FFFF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21.4%</a:t>
                </a:r>
              </a:p>
            </p:txBody>
          </p:sp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DF387C-F60A-4378-A0C8-804F15DE549F}"/>
              </a:ext>
            </a:extLst>
          </p:cNvPr>
          <p:cNvGrpSpPr/>
          <p:nvPr/>
        </p:nvGrpSpPr>
        <p:grpSpPr>
          <a:xfrm>
            <a:off x="4315968" y="1463108"/>
            <a:ext cx="1481328" cy="832104"/>
            <a:chOff x="4315968" y="1418802"/>
            <a:chExt cx="1481328" cy="832104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8BC733A-9FD9-4C02-A8B7-9B3F67269AB6}"/>
                </a:ext>
              </a:extLst>
            </p:cNvPr>
            <p:cNvSpPr/>
            <p:nvPr/>
          </p:nvSpPr>
          <p:spPr>
            <a:xfrm>
              <a:off x="4315968" y="1437090"/>
              <a:ext cx="1481328" cy="813816"/>
            </a:xfrm>
            <a:custGeom>
              <a:avLst/>
              <a:gdLst>
                <a:gd name="connsiteX0" fmla="*/ 0 w 1481328"/>
                <a:gd name="connsiteY0" fmla="*/ 0 h 832104"/>
                <a:gd name="connsiteX1" fmla="*/ 1481328 w 1481328"/>
                <a:gd name="connsiteY1" fmla="*/ 0 h 832104"/>
                <a:gd name="connsiteX2" fmla="*/ 1481328 w 1481328"/>
                <a:gd name="connsiteY2" fmla="*/ 646172 h 832104"/>
                <a:gd name="connsiteX3" fmla="*/ 1295396 w 1481328"/>
                <a:gd name="connsiteY3" fmla="*/ 832104 h 832104"/>
                <a:gd name="connsiteX4" fmla="*/ 185932 w 1481328"/>
                <a:gd name="connsiteY4" fmla="*/ 832104 h 832104"/>
                <a:gd name="connsiteX5" fmla="*/ 0 w 1481328"/>
                <a:gd name="connsiteY5" fmla="*/ 646172 h 832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1328" h="832104">
                  <a:moveTo>
                    <a:pt x="0" y="0"/>
                  </a:moveTo>
                  <a:lnTo>
                    <a:pt x="1481328" y="0"/>
                  </a:lnTo>
                  <a:lnTo>
                    <a:pt x="1481328" y="646172"/>
                  </a:lnTo>
                  <a:cubicBezTo>
                    <a:pt x="1481328" y="748859"/>
                    <a:pt x="1398083" y="832104"/>
                    <a:pt x="1295396" y="832104"/>
                  </a:cubicBezTo>
                  <a:lnTo>
                    <a:pt x="185932" y="832104"/>
                  </a:lnTo>
                  <a:cubicBezTo>
                    <a:pt x="83245" y="832104"/>
                    <a:pt x="0" y="748859"/>
                    <a:pt x="0" y="646172"/>
                  </a:cubicBezTo>
                  <a:close/>
                </a:path>
              </a:pathLst>
            </a:custGeom>
            <a:solidFill>
              <a:srgbClr val="EBF3FF"/>
            </a:solidFill>
            <a:ln w="12700">
              <a:solidFill>
                <a:srgbClr val="D9E4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80559" y="1528530"/>
              <a:ext cx="1152144" cy="16773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850" b="1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2025 기관사칭형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80559" y="1687231"/>
              <a:ext cx="1152144" cy="27432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sz="15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13,323건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80559" y="1968998"/>
              <a:ext cx="1152144" cy="17543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sz="900" b="0" dirty="0" err="1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역대</a:t>
              </a:r>
              <a:r>
                <a:rPr sz="900" b="0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900" b="0" dirty="0" err="1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최고치</a:t>
              </a:r>
              <a:endParaRPr sz="9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15968" y="1418802"/>
              <a:ext cx="1481328" cy="36576"/>
            </a:xfrm>
            <a:prstGeom prst="rect">
              <a:avLst/>
            </a:prstGeom>
            <a:solidFill>
              <a:srgbClr val="2D6BFF"/>
            </a:solidFill>
            <a:ln>
              <a:solidFill>
                <a:srgbClr val="2D6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A253274-2467-44F2-B411-2E04FC18CC09}"/>
              </a:ext>
            </a:extLst>
          </p:cNvPr>
          <p:cNvGrpSpPr/>
          <p:nvPr/>
        </p:nvGrpSpPr>
        <p:grpSpPr>
          <a:xfrm>
            <a:off x="9895571" y="1463108"/>
            <a:ext cx="1527048" cy="832104"/>
            <a:chOff x="9895571" y="1418802"/>
            <a:chExt cx="1527048" cy="832104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051E3C4-E30D-44A2-83FD-0F2F73806634}"/>
                </a:ext>
              </a:extLst>
            </p:cNvPr>
            <p:cNvSpPr/>
            <p:nvPr/>
          </p:nvSpPr>
          <p:spPr>
            <a:xfrm>
              <a:off x="9895571" y="1437090"/>
              <a:ext cx="1527048" cy="813816"/>
            </a:xfrm>
            <a:custGeom>
              <a:avLst/>
              <a:gdLst>
                <a:gd name="connsiteX0" fmla="*/ 0 w 1527048"/>
                <a:gd name="connsiteY0" fmla="*/ 0 h 832104"/>
                <a:gd name="connsiteX1" fmla="*/ 1527048 w 1527048"/>
                <a:gd name="connsiteY1" fmla="*/ 0 h 832104"/>
                <a:gd name="connsiteX2" fmla="*/ 1527048 w 1527048"/>
                <a:gd name="connsiteY2" fmla="*/ 603499 h 832104"/>
                <a:gd name="connsiteX3" fmla="*/ 1298443 w 1527048"/>
                <a:gd name="connsiteY3" fmla="*/ 832104 h 832104"/>
                <a:gd name="connsiteX4" fmla="*/ 228605 w 1527048"/>
                <a:gd name="connsiteY4" fmla="*/ 832104 h 832104"/>
                <a:gd name="connsiteX5" fmla="*/ 0 w 1527048"/>
                <a:gd name="connsiteY5" fmla="*/ 603499 h 832104"/>
                <a:gd name="connsiteX6" fmla="*/ 0 w 1527048"/>
                <a:gd name="connsiteY6" fmla="*/ 0 h 832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048" h="832104">
                  <a:moveTo>
                    <a:pt x="0" y="0"/>
                  </a:moveTo>
                  <a:lnTo>
                    <a:pt x="1527048" y="0"/>
                  </a:lnTo>
                  <a:lnTo>
                    <a:pt x="1527048" y="603499"/>
                  </a:lnTo>
                  <a:cubicBezTo>
                    <a:pt x="1527048" y="729754"/>
                    <a:pt x="1424698" y="832104"/>
                    <a:pt x="1298443" y="832104"/>
                  </a:cubicBezTo>
                  <a:lnTo>
                    <a:pt x="228605" y="832104"/>
                  </a:lnTo>
                  <a:cubicBezTo>
                    <a:pt x="102350" y="832104"/>
                    <a:pt x="0" y="729754"/>
                    <a:pt x="0" y="6034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1F0"/>
            </a:solidFill>
            <a:ln w="12700">
              <a:solidFill>
                <a:srgbClr val="D9E4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1C7A396-744C-4512-B713-B4157C7DDDAB}"/>
                </a:ext>
              </a:extLst>
            </p:cNvPr>
            <p:cNvSpPr txBox="1"/>
            <p:nvPr/>
          </p:nvSpPr>
          <p:spPr>
            <a:xfrm>
              <a:off x="10060163" y="1528530"/>
              <a:ext cx="1197864" cy="16773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850" b="1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2025</a:t>
              </a:r>
              <a:r>
                <a:rPr lang="en-US" sz="850" b="1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 1</a:t>
              </a:r>
              <a:r>
                <a:rPr lang="ko-KR" altLang="en-US" sz="850" b="1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건 평균 피해액</a:t>
              </a:r>
              <a:endParaRPr sz="850" b="1" dirty="0">
                <a:solidFill>
                  <a:srgbClr val="4D5E78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3E74D61-09DE-4E9C-96C9-CADF244645A1}"/>
                </a:ext>
              </a:extLst>
            </p:cNvPr>
            <p:cNvSpPr txBox="1"/>
            <p:nvPr/>
          </p:nvSpPr>
          <p:spPr>
            <a:xfrm>
              <a:off x="10060163" y="1687231"/>
              <a:ext cx="1197864" cy="27432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lang="ko-KR" altLang="en-US" sz="15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약 </a:t>
              </a:r>
              <a:r>
                <a:rPr lang="en-US" altLang="ko-KR" sz="15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7,400</a:t>
              </a:r>
              <a:r>
                <a:rPr lang="ko-KR" altLang="en-US" sz="15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만원</a:t>
              </a:r>
              <a:endParaRPr sz="15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7110FDF-C08D-4379-9F40-20ABF0366428}"/>
                </a:ext>
              </a:extLst>
            </p:cNvPr>
            <p:cNvSpPr/>
            <p:nvPr/>
          </p:nvSpPr>
          <p:spPr>
            <a:xfrm>
              <a:off x="9895571" y="1418802"/>
              <a:ext cx="1527048" cy="36576"/>
            </a:xfrm>
            <a:prstGeom prst="rect">
              <a:avLst/>
            </a:prstGeom>
            <a:solidFill>
              <a:srgbClr val="EE4344"/>
            </a:solidFill>
            <a:ln>
              <a:solidFill>
                <a:srgbClr val="EE43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836AB82-938C-4458-AAA3-1B31859B36B5}"/>
              </a:ext>
            </a:extLst>
          </p:cNvPr>
          <p:cNvGrpSpPr/>
          <p:nvPr/>
        </p:nvGrpSpPr>
        <p:grpSpPr>
          <a:xfrm>
            <a:off x="8266176" y="1463108"/>
            <a:ext cx="1527048" cy="832104"/>
            <a:chOff x="9895571" y="1418802"/>
            <a:chExt cx="1527048" cy="832104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3236C50-A854-4F26-BD19-6217C08FCF84}"/>
                </a:ext>
              </a:extLst>
            </p:cNvPr>
            <p:cNvSpPr/>
            <p:nvPr/>
          </p:nvSpPr>
          <p:spPr>
            <a:xfrm>
              <a:off x="9895571" y="1437090"/>
              <a:ext cx="1527048" cy="813816"/>
            </a:xfrm>
            <a:custGeom>
              <a:avLst/>
              <a:gdLst>
                <a:gd name="connsiteX0" fmla="*/ 0 w 1527048"/>
                <a:gd name="connsiteY0" fmla="*/ 0 h 832104"/>
                <a:gd name="connsiteX1" fmla="*/ 1527048 w 1527048"/>
                <a:gd name="connsiteY1" fmla="*/ 0 h 832104"/>
                <a:gd name="connsiteX2" fmla="*/ 1527048 w 1527048"/>
                <a:gd name="connsiteY2" fmla="*/ 603499 h 832104"/>
                <a:gd name="connsiteX3" fmla="*/ 1298443 w 1527048"/>
                <a:gd name="connsiteY3" fmla="*/ 832104 h 832104"/>
                <a:gd name="connsiteX4" fmla="*/ 228605 w 1527048"/>
                <a:gd name="connsiteY4" fmla="*/ 832104 h 832104"/>
                <a:gd name="connsiteX5" fmla="*/ 0 w 1527048"/>
                <a:gd name="connsiteY5" fmla="*/ 603499 h 832104"/>
                <a:gd name="connsiteX6" fmla="*/ 0 w 1527048"/>
                <a:gd name="connsiteY6" fmla="*/ 0 h 832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048" h="832104">
                  <a:moveTo>
                    <a:pt x="0" y="0"/>
                  </a:moveTo>
                  <a:lnTo>
                    <a:pt x="1527048" y="0"/>
                  </a:lnTo>
                  <a:lnTo>
                    <a:pt x="1527048" y="603499"/>
                  </a:lnTo>
                  <a:cubicBezTo>
                    <a:pt x="1527048" y="729754"/>
                    <a:pt x="1424698" y="832104"/>
                    <a:pt x="1298443" y="832104"/>
                  </a:cubicBezTo>
                  <a:lnTo>
                    <a:pt x="228605" y="832104"/>
                  </a:lnTo>
                  <a:cubicBezTo>
                    <a:pt x="102350" y="832104"/>
                    <a:pt x="0" y="729754"/>
                    <a:pt x="0" y="6034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1F0"/>
            </a:solidFill>
            <a:ln w="12700">
              <a:solidFill>
                <a:srgbClr val="D9E4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B3D8425-41EB-4D0C-B2EF-1FFBB4E505E4}"/>
                </a:ext>
              </a:extLst>
            </p:cNvPr>
            <p:cNvSpPr txBox="1"/>
            <p:nvPr/>
          </p:nvSpPr>
          <p:spPr>
            <a:xfrm>
              <a:off x="10060163" y="1528530"/>
              <a:ext cx="1197864" cy="16773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850" b="1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2025</a:t>
              </a:r>
              <a:r>
                <a:rPr lang="en-US" sz="850" b="1" dirty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850" b="1" dirty="0" err="1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피해액</a:t>
              </a:r>
              <a:endParaRPr sz="850" b="1" dirty="0">
                <a:solidFill>
                  <a:srgbClr val="4D5E78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3693CF1-20EF-4261-9F6D-A4D7F510E55A}"/>
                </a:ext>
              </a:extLst>
            </p:cNvPr>
            <p:cNvSpPr txBox="1"/>
            <p:nvPr/>
          </p:nvSpPr>
          <p:spPr>
            <a:xfrm>
              <a:off x="10060163" y="1687231"/>
              <a:ext cx="1197864" cy="27432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sz="15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9,884억</a:t>
              </a:r>
              <a:r>
                <a:rPr lang="ko-KR" altLang="en-US" sz="15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원</a:t>
              </a:r>
              <a:endParaRPr sz="15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A235515-75DB-4877-B17C-A014E8FF470B}"/>
                </a:ext>
              </a:extLst>
            </p:cNvPr>
            <p:cNvSpPr txBox="1"/>
            <p:nvPr/>
          </p:nvSpPr>
          <p:spPr>
            <a:xfrm>
              <a:off x="10060163" y="1968998"/>
              <a:ext cx="1197864" cy="17543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sz="900" b="0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2024년 </a:t>
              </a:r>
              <a:r>
                <a:rPr sz="900" b="0" dirty="0" err="1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대비</a:t>
              </a:r>
              <a:r>
                <a:rPr sz="900" b="0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rPr>
                <a:t> +84.8%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916747B-0904-4CD4-91B7-DAC2E7E44ECC}"/>
                </a:ext>
              </a:extLst>
            </p:cNvPr>
            <p:cNvSpPr/>
            <p:nvPr/>
          </p:nvSpPr>
          <p:spPr>
            <a:xfrm>
              <a:off x="9895571" y="1418802"/>
              <a:ext cx="1527048" cy="36576"/>
            </a:xfrm>
            <a:prstGeom prst="rect">
              <a:avLst/>
            </a:prstGeom>
            <a:solidFill>
              <a:srgbClr val="EE4344"/>
            </a:solidFill>
            <a:ln>
              <a:solidFill>
                <a:srgbClr val="EE43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F05EE53B-6419-432B-8B28-A0E15B6D444A}"/>
              </a:ext>
            </a:extLst>
          </p:cNvPr>
          <p:cNvSpPr txBox="1"/>
          <p:nvPr/>
        </p:nvSpPr>
        <p:spPr>
          <a:xfrm>
            <a:off x="10067544" y="2013304"/>
            <a:ext cx="1197864" cy="1754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2024년 </a:t>
            </a:r>
            <a:r>
              <a:rPr sz="900" b="0" dirty="0" err="1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대비</a:t>
            </a:r>
            <a:r>
              <a:rPr sz="9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 +84.8%</a:t>
            </a:r>
          </a:p>
        </p:txBody>
      </p:sp>
    </p:spTree>
    <p:extLst>
      <p:ext uri="{BB962C8B-B14F-4D97-AF65-F5344CB8AC3E}">
        <p14:creationId xmlns:p14="http://schemas.microsoft.com/office/powerpoint/2010/main" val="1403542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548640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근거</a:t>
            </a:r>
            <a:r>
              <a:rPr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① 보이스피싱 수법과 구조 </a:t>
            </a:r>
            <a:r>
              <a:rPr lang="en-US" altLang="ko-KR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· </a:t>
            </a:r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통화</a:t>
            </a:r>
            <a:r>
              <a:rPr 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endParaRPr sz="950" dirty="0">
              <a:solidFill>
                <a:srgbClr val="2D6BFF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592132"/>
            <a:ext cx="11446136" cy="77559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범죄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통화의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발화 내용 분석 결과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‘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심리전략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84.4% +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사칭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70.1%’의 결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합이 선행됨</a:t>
            </a:r>
            <a:endParaRPr lang="en-US" altLang="ko-KR" sz="24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/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권위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긴급성으로 판단을 흔들고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은행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검찰 사칭으로 요구의 정당성을 확보하는 수법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1525"/>
            <a:ext cx="996696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 dirty="0" err="1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: Team Guardrails EDA · </a:t>
            </a:r>
            <a:r>
              <a:rPr sz="720" b="0" dirty="0" err="1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보이스피싱</a:t>
            </a:r>
            <a:r>
              <a:rPr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720" b="0" dirty="0" err="1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통화</a:t>
            </a:r>
            <a:r>
              <a:rPr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 776건</a:t>
            </a:r>
            <a:r>
              <a:rPr 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금융감독원 보이스피싱 체험관 공개 영상</a:t>
            </a:r>
            <a:r>
              <a:rPr lang="en-US" altLang="ko-KR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음원 데이터</a:t>
            </a:r>
            <a:r>
              <a:rPr lang="en-US" altLang="ko-KR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) / 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이영은</a:t>
            </a:r>
            <a:r>
              <a:rPr lang="en-US" altLang="ko-KR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서준배</a:t>
            </a:r>
            <a:r>
              <a:rPr lang="en-US" altLang="ko-KR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(2024), 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「기관 사칭형 보이스피싱 시나리오 분석</a:t>
            </a:r>
            <a:r>
              <a:rPr lang="en-US" altLang="ko-KR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피해자의 심리적 요인을 중심으로」</a:t>
            </a:r>
            <a:r>
              <a:rPr lang="en-US" altLang="ko-KR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, 『</a:t>
            </a:r>
            <a:r>
              <a:rPr lang="ko-KR" altLang="en-US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경찰학연구</a:t>
            </a:r>
            <a:r>
              <a:rPr lang="en-US" altLang="ko-KR" sz="720" b="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』, 24(2), 63-92.</a:t>
            </a:r>
            <a:endParaRPr sz="720" b="0" dirty="0">
              <a:solidFill>
                <a:srgbClr val="6A7B97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64808"/>
            <a:ext cx="32004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00" b="0">
                <a:solidFill>
                  <a:srgbClr val="6A7B97"/>
                </a:solidFill>
                <a:latin typeface="Malgun Gothic"/>
              </a:rPr>
              <a:t>8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97280" y="5535523"/>
            <a:ext cx="9966960" cy="672736"/>
          </a:xfrm>
          <a:prstGeom prst="roundRect">
            <a:avLst/>
          </a:prstGeom>
          <a:solidFill>
            <a:srgbClr val="102D52"/>
          </a:solidFill>
          <a:ln>
            <a:solidFill>
              <a:srgbClr val="10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범죄자의 </a:t>
            </a:r>
            <a:r>
              <a:rPr sz="1300" b="1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심리전략이</a:t>
            </a:r>
            <a:r>
              <a:rPr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금융소비자의 </a:t>
            </a:r>
            <a:r>
              <a:rPr sz="1300" b="1" dirty="0" err="1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판단을</a:t>
            </a:r>
            <a:r>
              <a:rPr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300" b="1" dirty="0" err="1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흔들고</a:t>
            </a:r>
            <a:r>
              <a:rPr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sz="1300" b="1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사칭이</a:t>
            </a:r>
            <a:r>
              <a:rPr lang="en-US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신뢰와 정당성을 형성하고 </a:t>
            </a:r>
            <a:r>
              <a:rPr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“</a:t>
            </a:r>
            <a:r>
              <a:rPr sz="1300" b="1" dirty="0" err="1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정상</a:t>
            </a:r>
            <a:r>
              <a:rPr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300" b="1" dirty="0" err="1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절차”처럼</a:t>
            </a:r>
            <a:r>
              <a:rPr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300" b="1" dirty="0" err="1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보이게</a:t>
            </a:r>
            <a:r>
              <a:rPr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 만</a:t>
            </a:r>
            <a:r>
              <a:rPr lang="ko-KR" altLang="en-US"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든다</a:t>
            </a:r>
            <a:r>
              <a:rPr lang="en-US" altLang="ko-KR"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.</a:t>
            </a:r>
          </a:p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즉</a:t>
            </a:r>
            <a:r>
              <a:rPr lang="en-US" altLang="ko-KR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보이스피싱은 송금을 요구하기 전부터</a:t>
            </a:r>
            <a:r>
              <a:rPr lang="en-US" altLang="ko-KR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피해자를 압박</a:t>
            </a:r>
            <a:r>
              <a:rPr lang="en-US" altLang="ko-KR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통제</a:t>
            </a:r>
            <a:r>
              <a:rPr lang="en-US" altLang="ko-KR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3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고립시키며 </a:t>
            </a:r>
            <a:r>
              <a:rPr lang="ko-KR" altLang="en-US"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판단환경을 무너뜨린다</a:t>
            </a:r>
            <a:r>
              <a:rPr lang="en-US" altLang="ko-KR"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.</a:t>
            </a:r>
            <a:endParaRPr sz="1300" b="1" dirty="0">
              <a:solidFill>
                <a:srgbClr val="FFC0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80644" y="1594071"/>
            <a:ext cx="10885964" cy="3686510"/>
          </a:xfrm>
          <a:prstGeom prst="roundRect">
            <a:avLst>
              <a:gd name="adj" fmla="val 5329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5D24BB-9E70-472E-B0FE-A387F7FE6F6A}"/>
              </a:ext>
            </a:extLst>
          </p:cNvPr>
          <p:cNvGrpSpPr/>
          <p:nvPr/>
        </p:nvGrpSpPr>
        <p:grpSpPr>
          <a:xfrm>
            <a:off x="896474" y="1741877"/>
            <a:ext cx="10254304" cy="3297684"/>
            <a:chOff x="896474" y="1841103"/>
            <a:chExt cx="10254304" cy="3297684"/>
          </a:xfrm>
        </p:grpSpPr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FE6FEA92-4827-40CC-914C-7F91271C834E}"/>
                </a:ext>
              </a:extLst>
            </p:cNvPr>
            <p:cNvGrpSpPr/>
            <p:nvPr/>
          </p:nvGrpSpPr>
          <p:grpSpPr>
            <a:xfrm>
              <a:off x="920671" y="1897138"/>
              <a:ext cx="5118148" cy="1953104"/>
              <a:chOff x="806404" y="2706557"/>
              <a:chExt cx="4452748" cy="2029742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F4EE6B4E-C3C0-4D34-85A7-0663F06252F2}"/>
                  </a:ext>
                </a:extLst>
              </p:cNvPr>
              <p:cNvGrpSpPr/>
              <p:nvPr/>
            </p:nvGrpSpPr>
            <p:grpSpPr>
              <a:xfrm>
                <a:off x="806404" y="2706557"/>
                <a:ext cx="4398263" cy="360545"/>
                <a:chOff x="806404" y="2859007"/>
                <a:chExt cx="4398263" cy="360545"/>
              </a:xfrm>
            </p:grpSpPr>
            <p:sp>
              <p:nvSpPr>
                <p:cNvPr id="34" name="Rounded Rectangle 33"/>
                <p:cNvSpPr/>
                <p:nvPr/>
              </p:nvSpPr>
              <p:spPr>
                <a:xfrm>
                  <a:off x="806404" y="2898748"/>
                  <a:ext cx="868680" cy="228601"/>
                </a:xfrm>
                <a:prstGeom prst="roundRect">
                  <a:avLst/>
                </a:prstGeom>
                <a:solidFill>
                  <a:srgbClr val="EBF3FF"/>
                </a:solidFill>
                <a:ln w="6350">
                  <a:solidFill>
                    <a:srgbClr val="EBF3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36576" tIns="9144" rIns="36576" bIns="9144" rtlCol="0" anchor="ctr"/>
                <a:lstStyle/>
                <a:p>
                  <a:pPr algn="ctr"/>
                  <a:r>
                    <a:rPr lang="ko-KR" altLang="en-US" sz="850" b="1" dirty="0">
                      <a:solidFill>
                        <a:srgbClr val="2D6B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범죄자 발화 분석</a:t>
                  </a:r>
                  <a:endParaRPr sz="85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1775668" y="2859007"/>
                  <a:ext cx="3428999" cy="360545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t">
                  <a:spAutoFit/>
                </a:bodyPr>
                <a:lstStyle/>
                <a:p>
                  <a:pPr algn="l"/>
                  <a:r>
                    <a:rPr lang="ko-KR" altLang="en-US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통화 중 범죄자 발화 목적의 선행</a:t>
                  </a:r>
                  <a:r>
                    <a:rPr lang="en-US" altLang="ko-KR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</a:t>
                  </a:r>
                  <a:r>
                    <a:rPr lang="ko-KR" altLang="en-US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동행</a:t>
                  </a:r>
                  <a:r>
                    <a:rPr lang="en-US" altLang="ko-KR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)</a:t>
                  </a:r>
                  <a:r>
                    <a:rPr lang="ko-KR" altLang="en-US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 관계 </a:t>
                  </a:r>
                  <a:r>
                    <a:rPr lang="en-US" altLang="ko-KR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“</a:t>
                  </a:r>
                  <a:r>
                    <a:rPr lang="ko-KR" altLang="en-US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심리전략</a:t>
                  </a:r>
                  <a:r>
                    <a:rPr lang="en-US" altLang="ko-KR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, </a:t>
                  </a:r>
                  <a:r>
                    <a:rPr lang="ko-KR" altLang="en-US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사칭 선행</a:t>
                  </a:r>
                  <a:r>
                    <a:rPr lang="en-US" altLang="ko-KR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”</a:t>
                  </a:r>
                </a:p>
                <a:p>
                  <a:pPr algn="l"/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분석 대상 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: 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총 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776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개의 통화 사례 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/ 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발화 구분 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: 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심리전략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, 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사칭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, 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행동요구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, 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금액 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/ 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왼쪽이 선행 → 우측이 후행</a:t>
                  </a:r>
                  <a:endParaRPr lang="en-US" altLang="ko-KR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7A41854A-8F32-4301-B36C-96E978ABAE94}"/>
                  </a:ext>
                </a:extLst>
              </p:cNvPr>
              <p:cNvGrpSpPr/>
              <p:nvPr/>
            </p:nvGrpSpPr>
            <p:grpSpPr>
              <a:xfrm>
                <a:off x="813485" y="3079145"/>
                <a:ext cx="4445667" cy="1657154"/>
                <a:chOff x="813485" y="3198912"/>
                <a:chExt cx="4445667" cy="1597024"/>
              </a:xfrm>
            </p:grpSpPr>
            <p:grpSp>
              <p:nvGrpSpPr>
                <p:cNvPr id="244" name="Group 243">
                  <a:extLst>
                    <a:ext uri="{FF2B5EF4-FFF2-40B4-BE49-F238E27FC236}">
                      <a16:creationId xmlns:a16="http://schemas.microsoft.com/office/drawing/2014/main" id="{4B4979FB-25AD-4665-BB27-8CD7FE242ACB}"/>
                    </a:ext>
                  </a:extLst>
                </p:cNvPr>
                <p:cNvGrpSpPr/>
                <p:nvPr/>
              </p:nvGrpSpPr>
              <p:grpSpPr>
                <a:xfrm>
                  <a:off x="813485" y="4553275"/>
                  <a:ext cx="4445667" cy="242661"/>
                  <a:chOff x="971148" y="3096936"/>
                  <a:chExt cx="4105322" cy="224198"/>
                </a:xfrm>
              </p:grpSpPr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1CFE4449-5E43-446B-A816-2418141A3971}"/>
                      </a:ext>
                    </a:extLst>
                  </p:cNvPr>
                  <p:cNvSpPr txBox="1"/>
                  <p:nvPr/>
                </p:nvSpPr>
                <p:spPr>
                  <a:xfrm>
                    <a:off x="971148" y="3135169"/>
                    <a:ext cx="802178" cy="147734"/>
                  </a:xfrm>
                  <a:prstGeom prst="rect">
                    <a:avLst/>
                  </a:prstGeom>
                  <a:noFill/>
                </p:spPr>
                <p:txBody>
                  <a:bodyPr wrap="square" lIns="18288" tIns="18288" rIns="18288" bIns="18288" anchor="ctr">
                    <a:spAutoFit/>
                  </a:bodyPr>
                  <a:lstStyle/>
                  <a:p>
                    <a:pPr algn="r"/>
                    <a:r>
                      <a:rPr sz="720" b="0" dirty="0" err="1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사칭→금액</a:t>
                    </a:r>
                    <a:endParaRPr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4EA6A574-907D-4768-8A24-B1B83DCF130B}"/>
                      </a:ext>
                    </a:extLst>
                  </p:cNvPr>
                  <p:cNvSpPr/>
                  <p:nvPr/>
                </p:nvSpPr>
                <p:spPr>
                  <a:xfrm>
                    <a:off x="1873911" y="3096936"/>
                    <a:ext cx="3202559" cy="224198"/>
                  </a:xfrm>
                  <a:prstGeom prst="rect">
                    <a:avLst/>
                  </a:prstGeom>
                  <a:solidFill>
                    <a:srgbClr val="ECF2F8"/>
                  </a:solidFill>
                  <a:ln>
                    <a:solidFill>
                      <a:srgbClr val="ECF2F8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96" name="Rectangle 195">
                    <a:extLst>
                      <a:ext uri="{FF2B5EF4-FFF2-40B4-BE49-F238E27FC236}">
                        <a16:creationId xmlns:a16="http://schemas.microsoft.com/office/drawing/2014/main" id="{7C1DA148-0B55-4E77-BA4B-ABC178515817}"/>
                      </a:ext>
                    </a:extLst>
                  </p:cNvPr>
                  <p:cNvSpPr/>
                  <p:nvPr/>
                </p:nvSpPr>
                <p:spPr>
                  <a:xfrm>
                    <a:off x="1873911" y="3096936"/>
                    <a:ext cx="2129702" cy="224198"/>
                  </a:xfrm>
                  <a:prstGeom prst="rect">
                    <a:avLst/>
                  </a:prstGeom>
                  <a:solidFill>
                    <a:srgbClr val="102D52"/>
                  </a:solidFill>
                  <a:ln>
                    <a:solidFill>
                      <a:srgbClr val="102D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66.5% (516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)</a:t>
                    </a:r>
                  </a:p>
                </p:txBody>
              </p:sp>
            </p:grpSp>
            <p:grpSp>
              <p:nvGrpSpPr>
                <p:cNvPr id="243" name="Group 242">
                  <a:extLst>
                    <a:ext uri="{FF2B5EF4-FFF2-40B4-BE49-F238E27FC236}">
                      <a16:creationId xmlns:a16="http://schemas.microsoft.com/office/drawing/2014/main" id="{A579266F-2C7F-40C4-831A-61F945F0F0C2}"/>
                    </a:ext>
                  </a:extLst>
                </p:cNvPr>
                <p:cNvGrpSpPr/>
                <p:nvPr/>
              </p:nvGrpSpPr>
              <p:grpSpPr>
                <a:xfrm>
                  <a:off x="813485" y="4214685"/>
                  <a:ext cx="4445667" cy="242661"/>
                  <a:chOff x="971148" y="3438309"/>
                  <a:chExt cx="4105322" cy="224198"/>
                </a:xfrm>
              </p:grpSpPr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92A3FFAA-DBCB-4EBB-9BBD-1FDC983D5C22}"/>
                      </a:ext>
                    </a:extLst>
                  </p:cNvPr>
                  <p:cNvSpPr txBox="1"/>
                  <p:nvPr/>
                </p:nvSpPr>
                <p:spPr>
                  <a:xfrm>
                    <a:off x="971148" y="3470387"/>
                    <a:ext cx="802178" cy="160044"/>
                  </a:xfrm>
                  <a:prstGeom prst="rect">
                    <a:avLst/>
                  </a:prstGeom>
                  <a:noFill/>
                </p:spPr>
                <p:txBody>
                  <a:bodyPr wrap="square" lIns="18288" tIns="18288" rIns="18288" bIns="18288" anchor="ctr">
                    <a:spAutoFit/>
                  </a:bodyPr>
                  <a:lstStyle/>
                  <a:p>
                    <a:pPr algn="r"/>
                    <a:r>
                      <a:rPr sz="720" b="0" dirty="0" err="1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사칭</a:t>
                    </a:r>
                    <a:r>
                      <a:rPr sz="720" b="0" dirty="0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→</a:t>
                    </a:r>
                    <a:r>
                      <a:rPr lang="ko-KR" altLang="en-US" sz="800" b="1" dirty="0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 </a:t>
                    </a:r>
                    <a:r>
                      <a:rPr lang="ko-KR" altLang="en-US" sz="800" b="0" dirty="0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행동요구</a:t>
                    </a:r>
                    <a:endParaRPr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99" name="Rectangle 198">
                    <a:extLst>
                      <a:ext uri="{FF2B5EF4-FFF2-40B4-BE49-F238E27FC236}">
                        <a16:creationId xmlns:a16="http://schemas.microsoft.com/office/drawing/2014/main" id="{D88A4B74-42B2-4A85-9CB9-65335D4D9165}"/>
                      </a:ext>
                    </a:extLst>
                  </p:cNvPr>
                  <p:cNvSpPr/>
                  <p:nvPr/>
                </p:nvSpPr>
                <p:spPr>
                  <a:xfrm>
                    <a:off x="1873911" y="3438309"/>
                    <a:ext cx="3202559" cy="224198"/>
                  </a:xfrm>
                  <a:prstGeom prst="rect">
                    <a:avLst/>
                  </a:prstGeom>
                  <a:solidFill>
                    <a:srgbClr val="ECF2F8"/>
                  </a:solidFill>
                  <a:ln>
                    <a:solidFill>
                      <a:srgbClr val="ECF2F8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0F56280E-07D6-4CF2-A6A1-04970A404146}"/>
                      </a:ext>
                    </a:extLst>
                  </p:cNvPr>
                  <p:cNvSpPr/>
                  <p:nvPr/>
                </p:nvSpPr>
                <p:spPr>
                  <a:xfrm>
                    <a:off x="1873911" y="3438309"/>
                    <a:ext cx="2581263" cy="224198"/>
                  </a:xfrm>
                  <a:prstGeom prst="rect">
                    <a:avLst/>
                  </a:prstGeom>
                  <a:solidFill>
                    <a:srgbClr val="102D52"/>
                  </a:solidFill>
                  <a:ln>
                    <a:solidFill>
                      <a:srgbClr val="102D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80.6% (627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)</a:t>
                    </a:r>
                  </a:p>
                </p:txBody>
              </p:sp>
            </p:grpSp>
            <p:grpSp>
              <p:nvGrpSpPr>
                <p:cNvPr id="242" name="Group 241">
                  <a:extLst>
                    <a:ext uri="{FF2B5EF4-FFF2-40B4-BE49-F238E27FC236}">
                      <a16:creationId xmlns:a16="http://schemas.microsoft.com/office/drawing/2014/main" id="{FDA057FC-7527-4903-A088-DBE47FE629A5}"/>
                    </a:ext>
                  </a:extLst>
                </p:cNvPr>
                <p:cNvGrpSpPr/>
                <p:nvPr/>
              </p:nvGrpSpPr>
              <p:grpSpPr>
                <a:xfrm>
                  <a:off x="813485" y="3876094"/>
                  <a:ext cx="4445667" cy="242661"/>
                  <a:chOff x="971148" y="3779683"/>
                  <a:chExt cx="4105322" cy="224198"/>
                </a:xfrm>
              </p:grpSpPr>
              <p:sp>
                <p:nvSpPr>
                  <p:cNvPr id="202" name="TextBox 201">
                    <a:extLst>
                      <a:ext uri="{FF2B5EF4-FFF2-40B4-BE49-F238E27FC236}">
                        <a16:creationId xmlns:a16="http://schemas.microsoft.com/office/drawing/2014/main" id="{218913FB-50E4-4F7B-802D-4B64713EEDA0}"/>
                      </a:ext>
                    </a:extLst>
                  </p:cNvPr>
                  <p:cNvSpPr txBox="1"/>
                  <p:nvPr/>
                </p:nvSpPr>
                <p:spPr>
                  <a:xfrm>
                    <a:off x="971148" y="3817915"/>
                    <a:ext cx="802178" cy="147734"/>
                  </a:xfrm>
                  <a:prstGeom prst="rect">
                    <a:avLst/>
                  </a:prstGeom>
                  <a:noFill/>
                </p:spPr>
                <p:txBody>
                  <a:bodyPr wrap="square" lIns="18288" tIns="18288" rIns="18288" bIns="18288" anchor="ctr">
                    <a:spAutoFit/>
                  </a:bodyPr>
                  <a:lstStyle/>
                  <a:p>
                    <a:pPr algn="r"/>
                    <a:r>
                      <a:rPr sz="720" b="0" dirty="0" err="1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심리전략→사칭</a:t>
                    </a:r>
                    <a:endParaRPr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203" name="Rectangle 202">
                    <a:extLst>
                      <a:ext uri="{FF2B5EF4-FFF2-40B4-BE49-F238E27FC236}">
                        <a16:creationId xmlns:a16="http://schemas.microsoft.com/office/drawing/2014/main" id="{96ED3EB3-01BE-4AD5-B195-14732BB08E09}"/>
                      </a:ext>
                    </a:extLst>
                  </p:cNvPr>
                  <p:cNvSpPr/>
                  <p:nvPr/>
                </p:nvSpPr>
                <p:spPr>
                  <a:xfrm>
                    <a:off x="1873911" y="3779683"/>
                    <a:ext cx="3202559" cy="224198"/>
                  </a:xfrm>
                  <a:prstGeom prst="rect">
                    <a:avLst/>
                  </a:prstGeom>
                  <a:solidFill>
                    <a:srgbClr val="ECF2F8"/>
                  </a:solidFill>
                  <a:ln>
                    <a:solidFill>
                      <a:srgbClr val="ECF2F8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204" name="Rectangle 203">
                    <a:extLst>
                      <a:ext uri="{FF2B5EF4-FFF2-40B4-BE49-F238E27FC236}">
                        <a16:creationId xmlns:a16="http://schemas.microsoft.com/office/drawing/2014/main" id="{99DB5520-709D-4C24-88B5-DE29F01A0796}"/>
                      </a:ext>
                    </a:extLst>
                  </p:cNvPr>
                  <p:cNvSpPr/>
                  <p:nvPr/>
                </p:nvSpPr>
                <p:spPr>
                  <a:xfrm>
                    <a:off x="1873911" y="3779683"/>
                    <a:ext cx="2869493" cy="224198"/>
                  </a:xfrm>
                  <a:prstGeom prst="rect">
                    <a:avLst/>
                  </a:prstGeom>
                  <a:solidFill>
                    <a:srgbClr val="102D52"/>
                  </a:solidFill>
                  <a:ln>
                    <a:solidFill>
                      <a:srgbClr val="102D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89.6% (695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)</a:t>
                    </a:r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AA5A57E7-36FB-4DB3-A887-377A8E8866DB}"/>
                    </a:ext>
                  </a:extLst>
                </p:cNvPr>
                <p:cNvGrpSpPr/>
                <p:nvPr/>
              </p:nvGrpSpPr>
              <p:grpSpPr>
                <a:xfrm>
                  <a:off x="813485" y="3537503"/>
                  <a:ext cx="4445667" cy="242661"/>
                  <a:chOff x="971148" y="4121056"/>
                  <a:chExt cx="4105322" cy="224198"/>
                </a:xfrm>
              </p:grpSpPr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A63467F6-50D6-4BE0-A3DE-210616786B9A}"/>
                      </a:ext>
                    </a:extLst>
                  </p:cNvPr>
                  <p:cNvSpPr txBox="1"/>
                  <p:nvPr/>
                </p:nvSpPr>
                <p:spPr>
                  <a:xfrm>
                    <a:off x="971148" y="4159289"/>
                    <a:ext cx="802178" cy="147734"/>
                  </a:xfrm>
                  <a:prstGeom prst="rect">
                    <a:avLst/>
                  </a:prstGeom>
                  <a:noFill/>
                </p:spPr>
                <p:txBody>
                  <a:bodyPr wrap="square" lIns="18288" tIns="18288" rIns="18288" bIns="18288" anchor="ctr">
                    <a:spAutoFit/>
                  </a:bodyPr>
                  <a:lstStyle/>
                  <a:p>
                    <a:pPr algn="r"/>
                    <a:r>
                      <a:rPr sz="720" b="0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심리전략→금액</a:t>
                    </a:r>
                  </a:p>
                </p:txBody>
              </p:sp>
              <p:sp>
                <p:nvSpPr>
                  <p:cNvPr id="207" name="Rectangle 206">
                    <a:extLst>
                      <a:ext uri="{FF2B5EF4-FFF2-40B4-BE49-F238E27FC236}">
                        <a16:creationId xmlns:a16="http://schemas.microsoft.com/office/drawing/2014/main" id="{4C7A75E7-2699-4E8D-9FB3-10CF311BBAC9}"/>
                      </a:ext>
                    </a:extLst>
                  </p:cNvPr>
                  <p:cNvSpPr/>
                  <p:nvPr/>
                </p:nvSpPr>
                <p:spPr>
                  <a:xfrm>
                    <a:off x="1873911" y="4121056"/>
                    <a:ext cx="3202559" cy="224198"/>
                  </a:xfrm>
                  <a:prstGeom prst="rect">
                    <a:avLst/>
                  </a:prstGeom>
                  <a:solidFill>
                    <a:srgbClr val="ECF2F8"/>
                  </a:solidFill>
                  <a:ln>
                    <a:solidFill>
                      <a:srgbClr val="ECF2F8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208" name="Rectangle 207">
                    <a:extLst>
                      <a:ext uri="{FF2B5EF4-FFF2-40B4-BE49-F238E27FC236}">
                        <a16:creationId xmlns:a16="http://schemas.microsoft.com/office/drawing/2014/main" id="{D54F1B91-2BC2-4410-9185-8324A4E1B469}"/>
                      </a:ext>
                    </a:extLst>
                  </p:cNvPr>
                  <p:cNvSpPr/>
                  <p:nvPr/>
                </p:nvSpPr>
                <p:spPr>
                  <a:xfrm>
                    <a:off x="1873911" y="4121056"/>
                    <a:ext cx="2891911" cy="224198"/>
                  </a:xfrm>
                  <a:prstGeom prst="rect">
                    <a:avLst/>
                  </a:prstGeom>
                  <a:solidFill>
                    <a:srgbClr val="102D52"/>
                  </a:solidFill>
                  <a:ln>
                    <a:solidFill>
                      <a:srgbClr val="102D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90.3% (700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)</a:t>
                    </a:r>
                  </a:p>
                </p:txBody>
              </p:sp>
            </p:grpSp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709CF7EA-6AE1-436D-B0CC-D3DE67C28D46}"/>
                    </a:ext>
                  </a:extLst>
                </p:cNvPr>
                <p:cNvGrpSpPr/>
                <p:nvPr/>
              </p:nvGrpSpPr>
              <p:grpSpPr>
                <a:xfrm>
                  <a:off x="813485" y="3198912"/>
                  <a:ext cx="4445667" cy="242661"/>
                  <a:chOff x="971148" y="4462429"/>
                  <a:chExt cx="4105322" cy="224198"/>
                </a:xfrm>
              </p:grpSpPr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B92D959D-48D3-4FAC-82E0-75246F7981B2}"/>
                      </a:ext>
                    </a:extLst>
                  </p:cNvPr>
                  <p:cNvSpPr txBox="1"/>
                  <p:nvPr/>
                </p:nvSpPr>
                <p:spPr>
                  <a:xfrm>
                    <a:off x="971148" y="4500662"/>
                    <a:ext cx="802178" cy="147734"/>
                  </a:xfrm>
                  <a:prstGeom prst="rect">
                    <a:avLst/>
                  </a:prstGeom>
                  <a:noFill/>
                </p:spPr>
                <p:txBody>
                  <a:bodyPr wrap="square" lIns="18288" tIns="18288" rIns="18288" bIns="18288" anchor="ctr">
                    <a:spAutoFit/>
                  </a:bodyPr>
                  <a:lstStyle/>
                  <a:p>
                    <a:pPr algn="r"/>
                    <a:r>
                      <a:rPr sz="720" b="0" dirty="0" err="1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심리전략</a:t>
                    </a:r>
                    <a:r>
                      <a:rPr sz="720" b="0" dirty="0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→</a:t>
                    </a:r>
                    <a:r>
                      <a:rPr lang="ko-KR" altLang="en-US" sz="720" b="0" dirty="0">
                        <a:solidFill>
                          <a:srgbClr val="4D5E78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행동요구</a:t>
                    </a:r>
                    <a:endParaRPr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E22BF126-D393-4A50-9005-754DDD65B7D6}"/>
                      </a:ext>
                    </a:extLst>
                  </p:cNvPr>
                  <p:cNvSpPr/>
                  <p:nvPr/>
                </p:nvSpPr>
                <p:spPr>
                  <a:xfrm>
                    <a:off x="1873911" y="4462429"/>
                    <a:ext cx="3202559" cy="224198"/>
                  </a:xfrm>
                  <a:prstGeom prst="rect">
                    <a:avLst/>
                  </a:prstGeom>
                  <a:solidFill>
                    <a:srgbClr val="ECF2F8"/>
                  </a:solidFill>
                  <a:ln>
                    <a:solidFill>
                      <a:srgbClr val="ECF2F8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212" name="Rectangle 211">
                    <a:extLst>
                      <a:ext uri="{FF2B5EF4-FFF2-40B4-BE49-F238E27FC236}">
                        <a16:creationId xmlns:a16="http://schemas.microsoft.com/office/drawing/2014/main" id="{A07C28B1-3C89-449F-B8F3-A057497C67FE}"/>
                      </a:ext>
                    </a:extLst>
                  </p:cNvPr>
                  <p:cNvSpPr/>
                  <p:nvPr/>
                </p:nvSpPr>
                <p:spPr>
                  <a:xfrm>
                    <a:off x="1873911" y="4462429"/>
                    <a:ext cx="3096875" cy="224198"/>
                  </a:xfrm>
                  <a:prstGeom prst="rect">
                    <a:avLst/>
                  </a:prstGeom>
                  <a:solidFill>
                    <a:srgbClr val="102D52"/>
                  </a:solidFill>
                  <a:ln>
                    <a:solidFill>
                      <a:srgbClr val="102D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96.7% (750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)</a:t>
                    </a:r>
                  </a:p>
                </p:txBody>
              </p:sp>
            </p:grpSp>
          </p:grp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A5768F2-4890-4B46-81CD-78856490C673}"/>
                </a:ext>
              </a:extLst>
            </p:cNvPr>
            <p:cNvGrpSpPr/>
            <p:nvPr/>
          </p:nvGrpSpPr>
          <p:grpSpPr>
            <a:xfrm>
              <a:off x="896474" y="4173507"/>
              <a:ext cx="5142344" cy="927436"/>
              <a:chOff x="789241" y="3988317"/>
              <a:chExt cx="5142344" cy="773619"/>
            </a:xfrm>
          </p:grpSpPr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1BD106D3-142E-405C-8CBC-171392B750FD}"/>
                  </a:ext>
                </a:extLst>
              </p:cNvPr>
              <p:cNvGrpSpPr/>
              <p:nvPr/>
            </p:nvGrpSpPr>
            <p:grpSpPr>
              <a:xfrm>
                <a:off x="813438" y="3988317"/>
                <a:ext cx="5055521" cy="306238"/>
                <a:chOff x="965838" y="2856369"/>
                <a:chExt cx="5055521" cy="306238"/>
              </a:xfrm>
            </p:grpSpPr>
            <p:sp>
              <p:nvSpPr>
                <p:cNvPr id="372" name="Rounded Rectangle 33">
                  <a:extLst>
                    <a:ext uri="{FF2B5EF4-FFF2-40B4-BE49-F238E27FC236}">
                      <a16:creationId xmlns:a16="http://schemas.microsoft.com/office/drawing/2014/main" id="{4A7EE20D-7D97-4450-9D58-76FF1929ED7A}"/>
                    </a:ext>
                  </a:extLst>
                </p:cNvPr>
                <p:cNvSpPr/>
                <p:nvPr/>
              </p:nvSpPr>
              <p:spPr>
                <a:xfrm>
                  <a:off x="965838" y="2890122"/>
                  <a:ext cx="998492" cy="194168"/>
                </a:xfrm>
                <a:prstGeom prst="roundRect">
                  <a:avLst/>
                </a:prstGeom>
                <a:solidFill>
                  <a:srgbClr val="EBF3FF"/>
                </a:solidFill>
                <a:ln w="6350">
                  <a:solidFill>
                    <a:srgbClr val="EBF3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36576" tIns="9144" rIns="36576" bIns="9144" rtlCol="0" anchor="ctr"/>
                <a:lstStyle/>
                <a:p>
                  <a:pPr algn="ctr"/>
                  <a:r>
                    <a:rPr lang="ko-KR" altLang="en-US" sz="850" b="1" dirty="0">
                      <a:solidFill>
                        <a:srgbClr val="2D6B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피해자 응답 분석</a:t>
                  </a:r>
                  <a:endParaRPr sz="85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DC47E3E1-E7D3-4D62-AEF7-6DE4F848BAF0}"/>
                    </a:ext>
                  </a:extLst>
                </p:cNvPr>
                <p:cNvSpPr txBox="1"/>
                <p:nvPr/>
              </p:nvSpPr>
              <p:spPr>
                <a:xfrm>
                  <a:off x="2079945" y="2856369"/>
                  <a:ext cx="3941414" cy="306238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t">
                  <a:spAutoFit/>
                </a:bodyPr>
                <a:lstStyle/>
                <a:p>
                  <a:pPr algn="l"/>
                  <a:r>
                    <a:rPr lang="ko-KR" altLang="en-US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통화 중 피해자 질문형 응답의 목적 </a:t>
                  </a:r>
                  <a:r>
                    <a:rPr lang="en-US" altLang="ko-KR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“</a:t>
                  </a:r>
                  <a:r>
                    <a:rPr lang="ko-KR" altLang="en-US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의심보다 지속 위한 질문이 더 많아</a:t>
                  </a:r>
                  <a:r>
                    <a:rPr lang="en-US" altLang="ko-KR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”</a:t>
                  </a:r>
                </a:p>
                <a:p>
                  <a:pPr algn="l"/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분석 대상 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: 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피해자의 질문 목적의 발화</a:t>
                  </a:r>
                  <a:r>
                    <a:rPr lang="en-US" altLang="ko-KR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 1,347</a:t>
                  </a:r>
                  <a:r>
                    <a:rPr lang="ko-KR" altLang="en-US" sz="700" b="1" dirty="0">
                      <a:solidFill>
                        <a:srgbClr val="6A7B97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개</a:t>
                  </a:r>
                </a:p>
              </p:txBody>
            </p:sp>
          </p:grp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3EF12196-84C7-4796-AB26-F31C59C72481}"/>
                  </a:ext>
                </a:extLst>
              </p:cNvPr>
              <p:cNvGrpSpPr/>
              <p:nvPr/>
            </p:nvGrpSpPr>
            <p:grpSpPr>
              <a:xfrm>
                <a:off x="789241" y="4283342"/>
                <a:ext cx="5142344" cy="478594"/>
                <a:chOff x="789241" y="4914564"/>
                <a:chExt cx="5142344" cy="478594"/>
              </a:xfrm>
            </p:grpSpPr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BDA51C32-C3CD-4D21-B1EE-17303FC5D4B7}"/>
                    </a:ext>
                  </a:extLst>
                </p:cNvPr>
                <p:cNvSpPr txBox="1"/>
                <p:nvPr/>
              </p:nvSpPr>
              <p:spPr>
                <a:xfrm>
                  <a:off x="789241" y="4948088"/>
                  <a:ext cx="1030830" cy="147733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r"/>
                  <a:r>
                    <a:rPr lang="ko-KR" altLang="en-US"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대회지속 </a:t>
                  </a:r>
                  <a:r>
                    <a:rPr lang="en-US" altLang="ko-KR"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· </a:t>
                  </a:r>
                  <a:r>
                    <a:rPr lang="ko-KR" altLang="en-US"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지시수행형 응답</a:t>
                  </a:r>
                  <a:endParaRPr sz="720" b="0" dirty="0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78" name="Rectangle 377">
                  <a:extLst>
                    <a:ext uri="{FF2B5EF4-FFF2-40B4-BE49-F238E27FC236}">
                      <a16:creationId xmlns:a16="http://schemas.microsoft.com/office/drawing/2014/main" id="{4702B4FE-FF64-4749-92B4-41A2A163E8E7}"/>
                    </a:ext>
                  </a:extLst>
                </p:cNvPr>
                <p:cNvSpPr/>
                <p:nvPr/>
              </p:nvSpPr>
              <p:spPr>
                <a:xfrm>
                  <a:off x="1945271" y="4914564"/>
                  <a:ext cx="3986314" cy="213871"/>
                </a:xfrm>
                <a:prstGeom prst="rect">
                  <a:avLst/>
                </a:prstGeom>
                <a:solidFill>
                  <a:srgbClr val="ECF2F8"/>
                </a:solidFill>
                <a:ln>
                  <a:solidFill>
                    <a:srgbClr val="ECF2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79" name="Rectangle 378">
                  <a:extLst>
                    <a:ext uri="{FF2B5EF4-FFF2-40B4-BE49-F238E27FC236}">
                      <a16:creationId xmlns:a16="http://schemas.microsoft.com/office/drawing/2014/main" id="{FB5D79E9-7DB4-42C9-AEFF-AA0CE8CE891F}"/>
                    </a:ext>
                  </a:extLst>
                </p:cNvPr>
                <p:cNvSpPr/>
                <p:nvPr/>
              </p:nvSpPr>
              <p:spPr>
                <a:xfrm>
                  <a:off x="1945271" y="4915018"/>
                  <a:ext cx="2830283" cy="213871"/>
                </a:xfrm>
                <a:prstGeom prst="rect">
                  <a:avLst/>
                </a:prstGeom>
                <a:solidFill>
                  <a:srgbClr val="EE4344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71.0% (956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)</a:t>
                  </a:r>
                </a:p>
              </p:txBody>
            </p:sp>
            <p:sp>
              <p:nvSpPr>
                <p:cNvPr id="381" name="Rectangle 380">
                  <a:extLst>
                    <a:ext uri="{FF2B5EF4-FFF2-40B4-BE49-F238E27FC236}">
                      <a16:creationId xmlns:a16="http://schemas.microsoft.com/office/drawing/2014/main" id="{EE67DDD6-8E07-4696-AD13-1CA6ED79C4C6}"/>
                    </a:ext>
                  </a:extLst>
                </p:cNvPr>
                <p:cNvSpPr/>
                <p:nvPr/>
              </p:nvSpPr>
              <p:spPr>
                <a:xfrm>
                  <a:off x="1945271" y="5178833"/>
                  <a:ext cx="3986314" cy="213871"/>
                </a:xfrm>
                <a:prstGeom prst="rect">
                  <a:avLst/>
                </a:prstGeom>
                <a:solidFill>
                  <a:srgbClr val="ECF2F8"/>
                </a:solidFill>
                <a:ln>
                  <a:solidFill>
                    <a:srgbClr val="ECF2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82" name="Rectangle 381">
                  <a:extLst>
                    <a:ext uri="{FF2B5EF4-FFF2-40B4-BE49-F238E27FC236}">
                      <a16:creationId xmlns:a16="http://schemas.microsoft.com/office/drawing/2014/main" id="{A63E6131-E8E1-4C6E-8996-FAE7A362E404}"/>
                    </a:ext>
                  </a:extLst>
                </p:cNvPr>
                <p:cNvSpPr/>
                <p:nvPr/>
              </p:nvSpPr>
              <p:spPr>
                <a:xfrm>
                  <a:off x="1945271" y="5179287"/>
                  <a:ext cx="1084277" cy="213871"/>
                </a:xfrm>
                <a:prstGeom prst="rect">
                  <a:avLst/>
                </a:prstGeom>
                <a:solidFill>
                  <a:srgbClr val="2D6BFF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27.2% (366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)</a:t>
                  </a:r>
                </a:p>
              </p:txBody>
            </p:sp>
            <p:sp>
              <p:nvSpPr>
                <p:cNvPr id="384" name="TextBox 383">
                  <a:extLst>
                    <a:ext uri="{FF2B5EF4-FFF2-40B4-BE49-F238E27FC236}">
                      <a16:creationId xmlns:a16="http://schemas.microsoft.com/office/drawing/2014/main" id="{79C4F1FB-D8E6-429D-B50D-83F5588179C5}"/>
                    </a:ext>
                  </a:extLst>
                </p:cNvPr>
                <p:cNvSpPr txBox="1"/>
                <p:nvPr/>
              </p:nvSpPr>
              <p:spPr>
                <a:xfrm>
                  <a:off x="789241" y="5207232"/>
                  <a:ext cx="1030830" cy="147733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r"/>
                  <a:r>
                    <a:rPr lang="ko-KR" altLang="en-US"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경계 </a:t>
                  </a:r>
                  <a:r>
                    <a:rPr lang="en-US" altLang="ko-KR"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· </a:t>
                  </a:r>
                  <a:r>
                    <a:rPr lang="ko-KR" altLang="en-US" sz="72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의심형 응답</a:t>
                  </a:r>
                  <a:endParaRPr sz="720" b="0" dirty="0">
                    <a:solidFill>
                      <a:srgbClr val="4D5E78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EA6DAF4A-004F-4DB3-BA39-F39DE3D87E32}"/>
                </a:ext>
              </a:extLst>
            </p:cNvPr>
            <p:cNvGrpSpPr/>
            <p:nvPr/>
          </p:nvGrpSpPr>
          <p:grpSpPr>
            <a:xfrm>
              <a:off x="6213018" y="2291376"/>
              <a:ext cx="4863228" cy="1130094"/>
              <a:chOff x="6126480" y="3213573"/>
              <a:chExt cx="4773168" cy="805083"/>
            </a:xfrm>
          </p:grpSpPr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8C153C59-9DC2-4C1E-8EC8-719E553D26BC}"/>
                  </a:ext>
                </a:extLst>
              </p:cNvPr>
              <p:cNvGrpSpPr/>
              <p:nvPr/>
            </p:nvGrpSpPr>
            <p:grpSpPr>
              <a:xfrm>
                <a:off x="6126480" y="3213573"/>
                <a:ext cx="4773168" cy="201168"/>
                <a:chOff x="6126480" y="3213573"/>
                <a:chExt cx="4773168" cy="201168"/>
              </a:xfrm>
            </p:grpSpPr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51607F5-4214-43A3-9922-31B6B0C8CAB2}"/>
                    </a:ext>
                  </a:extLst>
                </p:cNvPr>
                <p:cNvSpPr txBox="1"/>
                <p:nvPr/>
              </p:nvSpPr>
              <p:spPr>
                <a:xfrm>
                  <a:off x="6126480" y="3225716"/>
                  <a:ext cx="1325880" cy="167738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r"/>
                  <a:r>
                    <a:rPr sz="850" b="0" dirty="0" err="1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권위·신뢰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 · 455건</a:t>
                  </a:r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F87883B7-AFE3-4904-8C6E-8BFF1897D2F3}"/>
                    </a:ext>
                  </a:extLst>
                </p:cNvPr>
                <p:cNvSpPr/>
                <p:nvPr/>
              </p:nvSpPr>
              <p:spPr>
                <a:xfrm>
                  <a:off x="7543800" y="3213573"/>
                  <a:ext cx="3355848" cy="201168"/>
                </a:xfrm>
                <a:prstGeom prst="rect">
                  <a:avLst/>
                </a:prstGeom>
                <a:solidFill>
                  <a:srgbClr val="ECF2F8"/>
                </a:solidFill>
                <a:ln>
                  <a:solidFill>
                    <a:srgbClr val="ECF2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BC854516-9255-4204-A73D-DC925B1E0F7B}"/>
                    </a:ext>
                  </a:extLst>
                </p:cNvPr>
                <p:cNvSpPr/>
                <p:nvPr/>
              </p:nvSpPr>
              <p:spPr>
                <a:xfrm>
                  <a:off x="7543800" y="3213573"/>
                  <a:ext cx="2809324" cy="201168"/>
                </a:xfrm>
                <a:prstGeom prst="rect">
                  <a:avLst/>
                </a:prstGeom>
                <a:solidFill>
                  <a:srgbClr val="2D6BFF"/>
                </a:solidFill>
                <a:ln>
                  <a:solidFill>
                    <a:srgbClr val="2D6B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ko-KR" sz="85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58.6%</a:t>
                  </a:r>
                </a:p>
              </p:txBody>
            </p:sp>
          </p:grp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E2AA0FC3-5805-4B55-B93B-BD2B63185937}"/>
                  </a:ext>
                </a:extLst>
              </p:cNvPr>
              <p:cNvGrpSpPr/>
              <p:nvPr/>
            </p:nvGrpSpPr>
            <p:grpSpPr>
              <a:xfrm>
                <a:off x="6126480" y="3513402"/>
                <a:ext cx="4773168" cy="201168"/>
                <a:chOff x="6126480" y="3487044"/>
                <a:chExt cx="4773168" cy="201168"/>
              </a:xfrm>
            </p:grpSpPr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EBD2BED3-2400-489E-86FF-6BA6F1E38E7D}"/>
                    </a:ext>
                  </a:extLst>
                </p:cNvPr>
                <p:cNvSpPr txBox="1"/>
                <p:nvPr/>
              </p:nvSpPr>
              <p:spPr>
                <a:xfrm>
                  <a:off x="6126480" y="3499187"/>
                  <a:ext cx="1325880" cy="167738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r"/>
                  <a:r>
                    <a:rPr sz="850" b="0" dirty="0" err="1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긴급성·시간압박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 · 448건</a:t>
                  </a:r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C621F7F1-94F2-4ED8-B2E0-4A63C6860C43}"/>
                    </a:ext>
                  </a:extLst>
                </p:cNvPr>
                <p:cNvSpPr/>
                <p:nvPr/>
              </p:nvSpPr>
              <p:spPr>
                <a:xfrm>
                  <a:off x="7543800" y="3487044"/>
                  <a:ext cx="3355848" cy="201168"/>
                </a:xfrm>
                <a:prstGeom prst="rect">
                  <a:avLst/>
                </a:prstGeom>
                <a:solidFill>
                  <a:srgbClr val="ECF2F8"/>
                </a:solidFill>
                <a:ln>
                  <a:solidFill>
                    <a:srgbClr val="ECF2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D85E970F-32EF-445C-A728-8E07689CB116}"/>
                    </a:ext>
                  </a:extLst>
                </p:cNvPr>
                <p:cNvSpPr/>
                <p:nvPr/>
              </p:nvSpPr>
              <p:spPr>
                <a:xfrm>
                  <a:off x="7543800" y="3487044"/>
                  <a:ext cx="2766177" cy="201168"/>
                </a:xfrm>
                <a:prstGeom prst="rect">
                  <a:avLst/>
                </a:prstGeom>
                <a:solidFill>
                  <a:srgbClr val="2D6BFF"/>
                </a:solidFill>
                <a:ln>
                  <a:solidFill>
                    <a:srgbClr val="2D6B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8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57.7%</a:t>
                  </a:r>
                  <a:endParaRPr sz="85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E15A454C-F2D3-4D3C-B9C2-172CC4F9BEB8}"/>
                  </a:ext>
                </a:extLst>
              </p:cNvPr>
              <p:cNvGrpSpPr/>
              <p:nvPr/>
            </p:nvGrpSpPr>
            <p:grpSpPr>
              <a:xfrm>
                <a:off x="6126480" y="3813230"/>
                <a:ext cx="4773168" cy="205426"/>
                <a:chOff x="6126480" y="3813230"/>
                <a:chExt cx="4773168" cy="205426"/>
              </a:xfrm>
            </p:grpSpPr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95AE5D2B-E8B9-40B4-B9D6-66DD2C63691A}"/>
                    </a:ext>
                  </a:extLst>
                </p:cNvPr>
                <p:cNvSpPr txBox="1"/>
                <p:nvPr/>
              </p:nvSpPr>
              <p:spPr>
                <a:xfrm>
                  <a:off x="6126480" y="3825373"/>
                  <a:ext cx="1325880" cy="167738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r"/>
                  <a:r>
                    <a:rPr lang="ko-KR" altLang="en-US"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공포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·</a:t>
                  </a:r>
                  <a:r>
                    <a:rPr lang="ko-KR" altLang="en-US"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위협 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· </a:t>
                  </a:r>
                  <a:r>
                    <a:rPr lang="en-US" altLang="ko-KR" sz="85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294</a:t>
                  </a:r>
                  <a:r>
                    <a:rPr sz="850" b="0" dirty="0">
                      <a:solidFill>
                        <a:srgbClr val="4D5E78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</a:p>
              </p:txBody>
            </p:sp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D0561105-AE38-44A6-9ACB-7D27480C9DA1}"/>
                    </a:ext>
                  </a:extLst>
                </p:cNvPr>
                <p:cNvSpPr/>
                <p:nvPr/>
              </p:nvSpPr>
              <p:spPr>
                <a:xfrm>
                  <a:off x="7543800" y="3813230"/>
                  <a:ext cx="3355848" cy="201168"/>
                </a:xfrm>
                <a:prstGeom prst="rect">
                  <a:avLst/>
                </a:prstGeom>
                <a:solidFill>
                  <a:srgbClr val="ECF2F8"/>
                </a:solidFill>
                <a:ln>
                  <a:solidFill>
                    <a:srgbClr val="ECF2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0E72C2A0-9F3B-488A-B1AA-C8EF4DF2AF16}"/>
                    </a:ext>
                  </a:extLst>
                </p:cNvPr>
                <p:cNvSpPr/>
                <p:nvPr/>
              </p:nvSpPr>
              <p:spPr>
                <a:xfrm>
                  <a:off x="7543800" y="3817488"/>
                  <a:ext cx="1816951" cy="201168"/>
                </a:xfrm>
                <a:prstGeom prst="rect">
                  <a:avLst/>
                </a:prstGeom>
                <a:solidFill>
                  <a:srgbClr val="2D6BFF"/>
                </a:solidFill>
                <a:ln>
                  <a:solidFill>
                    <a:srgbClr val="2D6B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ko-KR" sz="85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37.9%</a:t>
                  </a:r>
                </a:p>
              </p:txBody>
            </p:sp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FC01425-DC4D-4C9A-81E4-855069C92172}"/>
                </a:ext>
              </a:extLst>
            </p:cNvPr>
            <p:cNvGrpSpPr/>
            <p:nvPr/>
          </p:nvGrpSpPr>
          <p:grpSpPr>
            <a:xfrm>
              <a:off x="6342906" y="3798387"/>
              <a:ext cx="4807872" cy="1340400"/>
              <a:chOff x="6333362" y="3698076"/>
              <a:chExt cx="4807872" cy="1340400"/>
            </a:xfrm>
          </p:grpSpPr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696A0F4E-ABE8-4E5C-A9B9-8F0F6F95AEE2}"/>
                  </a:ext>
                </a:extLst>
              </p:cNvPr>
              <p:cNvGrpSpPr/>
              <p:nvPr/>
            </p:nvGrpSpPr>
            <p:grpSpPr>
              <a:xfrm>
                <a:off x="6347104" y="4406892"/>
                <a:ext cx="4794130" cy="631584"/>
                <a:chOff x="7277939" y="4630405"/>
                <a:chExt cx="5244127" cy="574921"/>
              </a:xfrm>
            </p:grpSpPr>
            <p:sp>
              <p:nvSpPr>
                <p:cNvPr id="417" name="Rectangle: Rounded Corners 416">
                  <a:extLst>
                    <a:ext uri="{FF2B5EF4-FFF2-40B4-BE49-F238E27FC236}">
                      <a16:creationId xmlns:a16="http://schemas.microsoft.com/office/drawing/2014/main" id="{907F86A9-BE29-4621-99EC-CD0A93ACC997}"/>
                    </a:ext>
                  </a:extLst>
                </p:cNvPr>
                <p:cNvSpPr/>
                <p:nvPr/>
              </p:nvSpPr>
              <p:spPr>
                <a:xfrm>
                  <a:off x="7277939" y="4630406"/>
                  <a:ext cx="1134360" cy="574920"/>
                </a:xfrm>
                <a:prstGeom prst="roundRect">
                  <a:avLst>
                    <a:gd name="adj" fmla="val 9488"/>
                  </a:avLst>
                </a:prstGeom>
                <a:solidFill>
                  <a:schemeClr val="bg1"/>
                </a:solidFill>
                <a:ln>
                  <a:solidFill>
                    <a:srgbClr val="2D6B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None/>
                  </a:pPr>
                  <a:r>
                    <a:rPr lang="ko-KR" altLang="en-US" sz="1000" b="0" u="none">
                      <a:solidFill>
                        <a:srgbClr val="000000"/>
                      </a:solidFill>
                      <a:latin typeface="페이퍼로지 7 Bold" pitchFamily="2" charset="-127"/>
                      <a:ea typeface="페이퍼로지 7 Bold" pitchFamily="2" charset="-127"/>
                      <a:cs typeface="Arial"/>
                    </a:rPr>
                    <a:t>신뢰</a:t>
                  </a:r>
                  <a:r>
                    <a:rPr lang="en-US" altLang="ko-KR" sz="1000" b="0" u="none">
                      <a:solidFill>
                        <a:srgbClr val="000000"/>
                      </a:solidFill>
                      <a:latin typeface="페이퍼로지 7 Bold" pitchFamily="2" charset="-127"/>
                      <a:ea typeface="페이퍼로지 7 Bold" pitchFamily="2" charset="-127"/>
                      <a:cs typeface="Arial"/>
                    </a:rPr>
                    <a:t>·</a:t>
                  </a:r>
                  <a:r>
                    <a:rPr lang="ko-KR" altLang="en-US" sz="1000" b="0" u="none">
                      <a:solidFill>
                        <a:srgbClr val="000000"/>
                      </a:solidFill>
                      <a:latin typeface="페이퍼로지 7 Bold" pitchFamily="2" charset="-127"/>
                      <a:ea typeface="페이퍼로지 7 Bold" pitchFamily="2" charset="-127"/>
                      <a:cs typeface="Arial"/>
                    </a:rPr>
                    <a:t>권위</a:t>
                  </a:r>
                  <a:endParaRPr lang="ko-KR" altLang="en-US" sz="1000" b="0" u="none" dirty="0">
                    <a:solidFill>
                      <a:srgbClr val="000000"/>
                    </a:solidFill>
                    <a:latin typeface="페이퍼로지 7 Bold" pitchFamily="2" charset="-127"/>
                    <a:ea typeface="페이퍼로지 7 Bold" pitchFamily="2" charset="-127"/>
                    <a:cs typeface="Arial"/>
                  </a:endParaRPr>
                </a:p>
              </p:txBody>
            </p:sp>
            <p:sp>
              <p:nvSpPr>
                <p:cNvPr id="418" name="Arrow: Right 417">
                  <a:extLst>
                    <a:ext uri="{FF2B5EF4-FFF2-40B4-BE49-F238E27FC236}">
                      <a16:creationId xmlns:a16="http://schemas.microsoft.com/office/drawing/2014/main" id="{E7BEDA98-8C5B-4E05-9EDC-DDFA006DF51E}"/>
                    </a:ext>
                  </a:extLst>
                </p:cNvPr>
                <p:cNvSpPr/>
                <p:nvPr/>
              </p:nvSpPr>
              <p:spPr>
                <a:xfrm>
                  <a:off x="8447430" y="4813287"/>
                  <a:ext cx="165300" cy="21034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  <p:sp>
              <p:nvSpPr>
                <p:cNvPr id="419" name="Arrow: Right 418">
                  <a:extLst>
                    <a:ext uri="{FF2B5EF4-FFF2-40B4-BE49-F238E27FC236}">
                      <a16:creationId xmlns:a16="http://schemas.microsoft.com/office/drawing/2014/main" id="{4496BEF1-FBC2-47C7-81EC-464F68F18914}"/>
                    </a:ext>
                  </a:extLst>
                </p:cNvPr>
                <p:cNvSpPr/>
                <p:nvPr/>
              </p:nvSpPr>
              <p:spPr>
                <a:xfrm>
                  <a:off x="9817352" y="4773240"/>
                  <a:ext cx="165300" cy="21034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  <p:sp>
              <p:nvSpPr>
                <p:cNvPr id="420" name="Arrow: Right 419">
                  <a:extLst>
                    <a:ext uri="{FF2B5EF4-FFF2-40B4-BE49-F238E27FC236}">
                      <a16:creationId xmlns:a16="http://schemas.microsoft.com/office/drawing/2014/main" id="{51069639-5D2B-4944-A03A-608B723416AF}"/>
                    </a:ext>
                  </a:extLst>
                </p:cNvPr>
                <p:cNvSpPr/>
                <p:nvPr/>
              </p:nvSpPr>
              <p:spPr>
                <a:xfrm>
                  <a:off x="11187274" y="4813285"/>
                  <a:ext cx="165300" cy="21034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  <p:sp>
              <p:nvSpPr>
                <p:cNvPr id="421" name="Rectangle: Rounded Corners 420">
                  <a:extLst>
                    <a:ext uri="{FF2B5EF4-FFF2-40B4-BE49-F238E27FC236}">
                      <a16:creationId xmlns:a16="http://schemas.microsoft.com/office/drawing/2014/main" id="{49147678-9F0C-4BDE-9322-6F14BE1CD496}"/>
                    </a:ext>
                  </a:extLst>
                </p:cNvPr>
                <p:cNvSpPr/>
                <p:nvPr/>
              </p:nvSpPr>
              <p:spPr>
                <a:xfrm>
                  <a:off x="8647861" y="4630405"/>
                  <a:ext cx="1134360" cy="574920"/>
                </a:xfrm>
                <a:prstGeom prst="roundRect">
                  <a:avLst>
                    <a:gd name="adj" fmla="val 9488"/>
                  </a:avLst>
                </a:prstGeom>
                <a:solidFill>
                  <a:schemeClr val="bg1"/>
                </a:solidFill>
                <a:ln>
                  <a:solidFill>
                    <a:srgbClr val="FF4B1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None/>
                  </a:pPr>
                  <a:r>
                    <a:rPr lang="ko-KR" altLang="en-US" sz="1000" b="0" u="none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  <a:cs typeface="Arial"/>
                    </a:rPr>
                    <a:t>공포 강화</a:t>
                  </a:r>
                </a:p>
              </p:txBody>
            </p:sp>
            <p:sp>
              <p:nvSpPr>
                <p:cNvPr id="422" name="Rectangle: Rounded Corners 421">
                  <a:extLst>
                    <a:ext uri="{FF2B5EF4-FFF2-40B4-BE49-F238E27FC236}">
                      <a16:creationId xmlns:a16="http://schemas.microsoft.com/office/drawing/2014/main" id="{5B00A45E-4604-44AB-B530-CD2C58082A05}"/>
                    </a:ext>
                  </a:extLst>
                </p:cNvPr>
                <p:cNvSpPr/>
                <p:nvPr/>
              </p:nvSpPr>
              <p:spPr>
                <a:xfrm>
                  <a:off x="10017783" y="4630405"/>
                  <a:ext cx="1134360" cy="574920"/>
                </a:xfrm>
                <a:prstGeom prst="roundRect">
                  <a:avLst>
                    <a:gd name="adj" fmla="val 9488"/>
                  </a:avLst>
                </a:prstGeom>
                <a:solidFill>
                  <a:schemeClr val="bg1"/>
                </a:solidFill>
                <a:ln>
                  <a:solidFill>
                    <a:srgbClr val="EE434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None/>
                  </a:pPr>
                  <a:r>
                    <a:rPr lang="ko-KR" altLang="en-US" sz="1000" b="0" u="none" dirty="0">
                      <a:solidFill>
                        <a:srgbClr val="EE4344"/>
                      </a:solidFill>
                      <a:latin typeface="페이퍼로지 7 Bold" pitchFamily="2" charset="-127"/>
                      <a:ea typeface="페이퍼로지 7 Bold" pitchFamily="2" charset="-127"/>
                      <a:cs typeface="Arial"/>
                    </a:rPr>
                    <a:t>정신</a:t>
                  </a:r>
                  <a:r>
                    <a:rPr lang="en-US" altLang="ko-KR" sz="1000" b="0" u="none" dirty="0">
                      <a:solidFill>
                        <a:srgbClr val="EE4344"/>
                      </a:solidFill>
                      <a:latin typeface="페이퍼로지 7 Bold" pitchFamily="2" charset="-127"/>
                      <a:ea typeface="페이퍼로지 7 Bold" pitchFamily="2" charset="-127"/>
                      <a:cs typeface="Arial"/>
                    </a:rPr>
                    <a:t>·</a:t>
                  </a:r>
                  <a:r>
                    <a:rPr lang="ko-KR" altLang="en-US" sz="1000" b="0" u="none" dirty="0">
                      <a:solidFill>
                        <a:srgbClr val="EE4344"/>
                      </a:solidFill>
                      <a:latin typeface="페이퍼로지 7 Bold" pitchFamily="2" charset="-127"/>
                      <a:ea typeface="페이퍼로지 7 Bold" pitchFamily="2" charset="-127"/>
                      <a:cs typeface="Arial"/>
                    </a:rPr>
                    <a:t>물리적</a:t>
                  </a:r>
                  <a:endParaRPr lang="en-US" altLang="ko-KR" sz="1000" b="0" u="none" dirty="0">
                    <a:solidFill>
                      <a:srgbClr val="EE4344"/>
                    </a:solidFill>
                    <a:latin typeface="페이퍼로지 7 Bold" pitchFamily="2" charset="-127"/>
                    <a:ea typeface="페이퍼로지 7 Bold" pitchFamily="2" charset="-127"/>
                    <a:cs typeface="Arial"/>
                  </a:endParaRPr>
                </a:p>
                <a:p>
                  <a:pPr algn="ctr">
                    <a:buNone/>
                  </a:pPr>
                  <a:r>
                    <a:rPr lang="ko-KR" altLang="en-US" sz="1000" b="0" u="none" dirty="0">
                      <a:solidFill>
                        <a:srgbClr val="EE4344"/>
                      </a:solidFill>
                      <a:latin typeface="페이퍼로지 7 Bold" pitchFamily="2" charset="-127"/>
                      <a:ea typeface="페이퍼로지 7 Bold" pitchFamily="2" charset="-127"/>
                      <a:cs typeface="Arial"/>
                    </a:rPr>
                    <a:t>고립</a:t>
                  </a:r>
                </a:p>
              </p:txBody>
            </p:sp>
            <p:sp>
              <p:nvSpPr>
                <p:cNvPr id="423" name="Rectangle: Rounded Corners 422">
                  <a:extLst>
                    <a:ext uri="{FF2B5EF4-FFF2-40B4-BE49-F238E27FC236}">
                      <a16:creationId xmlns:a16="http://schemas.microsoft.com/office/drawing/2014/main" id="{4914A3CB-A4C1-4985-B00C-8D12767AAAE6}"/>
                    </a:ext>
                  </a:extLst>
                </p:cNvPr>
                <p:cNvSpPr/>
                <p:nvPr/>
              </p:nvSpPr>
              <p:spPr>
                <a:xfrm>
                  <a:off x="11387706" y="4630405"/>
                  <a:ext cx="1134360" cy="574920"/>
                </a:xfrm>
                <a:prstGeom prst="roundRect">
                  <a:avLst>
                    <a:gd name="adj" fmla="val 9488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None/>
                  </a:pPr>
                  <a:r>
                    <a:rPr lang="ko-KR" altLang="en-US" sz="1000" b="0" u="none" dirty="0">
                      <a:solidFill>
                        <a:srgbClr val="000000"/>
                      </a:solidFill>
                      <a:latin typeface="페이퍼로지 7 Bold" pitchFamily="2" charset="-127"/>
                      <a:ea typeface="페이퍼로지 7 Bold" pitchFamily="2" charset="-127"/>
                      <a:cs typeface="Arial"/>
                    </a:rPr>
                    <a:t>자기통제 부족</a:t>
                  </a:r>
                </a:p>
              </p:txBody>
            </p:sp>
          </p:grpSp>
          <p:grpSp>
            <p:nvGrpSpPr>
              <p:cNvPr id="424" name="Group 423">
                <a:extLst>
                  <a:ext uri="{FF2B5EF4-FFF2-40B4-BE49-F238E27FC236}">
                    <a16:creationId xmlns:a16="http://schemas.microsoft.com/office/drawing/2014/main" id="{9361FE65-02CF-4C45-9DD1-F20A21536B84}"/>
                  </a:ext>
                </a:extLst>
              </p:cNvPr>
              <p:cNvGrpSpPr/>
              <p:nvPr/>
            </p:nvGrpSpPr>
            <p:grpSpPr>
              <a:xfrm>
                <a:off x="6333362" y="3698076"/>
                <a:ext cx="4730878" cy="521681"/>
                <a:chOff x="965838" y="2798419"/>
                <a:chExt cx="4730878" cy="521681"/>
              </a:xfrm>
            </p:grpSpPr>
            <p:sp>
              <p:nvSpPr>
                <p:cNvPr id="425" name="Rounded Rectangle 33">
                  <a:extLst>
                    <a:ext uri="{FF2B5EF4-FFF2-40B4-BE49-F238E27FC236}">
                      <a16:creationId xmlns:a16="http://schemas.microsoft.com/office/drawing/2014/main" id="{167B05C7-D03C-45B8-91F2-45E4877C079E}"/>
                    </a:ext>
                  </a:extLst>
                </p:cNvPr>
                <p:cNvSpPr/>
                <p:nvPr/>
              </p:nvSpPr>
              <p:spPr>
                <a:xfrm>
                  <a:off x="965838" y="2804064"/>
                  <a:ext cx="998492" cy="516036"/>
                </a:xfrm>
                <a:prstGeom prst="roundRect">
                  <a:avLst/>
                </a:prstGeom>
                <a:solidFill>
                  <a:srgbClr val="EBF3FF"/>
                </a:solidFill>
                <a:ln w="6350">
                  <a:solidFill>
                    <a:srgbClr val="EBF3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36576" tIns="9144" rIns="36576" bIns="9144" rtlCol="0" anchor="ctr"/>
                <a:lstStyle/>
                <a:p>
                  <a:pPr algn="ctr"/>
                  <a:r>
                    <a:rPr lang="ko-KR" altLang="en-US" sz="850" b="1" dirty="0">
                      <a:solidFill>
                        <a:srgbClr val="2D6B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연구 논문 참고</a:t>
                  </a:r>
                  <a:endParaRPr sz="85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426" name="TextBox 425">
                  <a:extLst>
                    <a:ext uri="{FF2B5EF4-FFF2-40B4-BE49-F238E27FC236}">
                      <a16:creationId xmlns:a16="http://schemas.microsoft.com/office/drawing/2014/main" id="{67A839DB-FDC7-47FE-A22B-466E72FE521A}"/>
                    </a:ext>
                  </a:extLst>
                </p:cNvPr>
                <p:cNvSpPr txBox="1"/>
                <p:nvPr/>
              </p:nvSpPr>
              <p:spPr>
                <a:xfrm>
                  <a:off x="2079945" y="2798419"/>
                  <a:ext cx="3616771" cy="52168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t">
                  <a:spAutoFit/>
                </a:bodyPr>
                <a:lstStyle/>
                <a:p>
                  <a:pPr algn="l"/>
                  <a:r>
                    <a:rPr lang="ko-KR" altLang="en-US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신뢰와 권위로 접근한 뒤 공포와 고립을 강화하면</a:t>
                  </a:r>
                  <a:r>
                    <a:rPr lang="en-US" altLang="ko-KR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, </a:t>
                  </a:r>
                  <a:r>
                    <a:rPr lang="ko-KR" altLang="en-US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피해자는 외부에 확인하거나 상황을 재판단하기 어려워진다는 연구 논문이 있음</a:t>
                  </a:r>
                  <a:r>
                    <a:rPr lang="en-US" altLang="ko-KR" sz="105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.</a:t>
                  </a:r>
                </a:p>
                <a:p>
                  <a:pPr algn="l"/>
                  <a:r>
                    <a:rPr lang="en-US" altLang="ko-KR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"</a:t>
                  </a:r>
                  <a:r>
                    <a:rPr lang="ko-KR" altLang="en-US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범죄자는 돈보다 먼저</a:t>
                  </a:r>
                  <a:r>
                    <a:rPr lang="en-US" altLang="ko-KR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, </a:t>
                  </a:r>
                  <a:r>
                    <a:rPr lang="ko-KR" altLang="en-US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피해자의 ‘판단권’을 빼앗는다</a:t>
                  </a:r>
                  <a:r>
                    <a:rPr lang="en-US" altLang="ko-KR" sz="1050" b="1" dirty="0">
                      <a:solidFill>
                        <a:srgbClr val="FF4B1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”</a:t>
                  </a:r>
                </a:p>
              </p:txBody>
            </p:sp>
          </p:grpSp>
        </p:grpSp>
        <p:grpSp>
          <p:nvGrpSpPr>
            <p:cNvPr id="429" name="Group 428">
              <a:extLst>
                <a:ext uri="{FF2B5EF4-FFF2-40B4-BE49-F238E27FC236}">
                  <a16:creationId xmlns:a16="http://schemas.microsoft.com/office/drawing/2014/main" id="{4E56F0DD-2CCD-4264-9913-E38DD059B64C}"/>
                </a:ext>
              </a:extLst>
            </p:cNvPr>
            <p:cNvGrpSpPr/>
            <p:nvPr/>
          </p:nvGrpSpPr>
          <p:grpSpPr>
            <a:xfrm>
              <a:off x="6342906" y="1841103"/>
              <a:ext cx="4520028" cy="306238"/>
              <a:chOff x="6397339" y="2598810"/>
              <a:chExt cx="4520028" cy="306238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1E1A040-52CB-4CDB-85AF-22552E7EE478}"/>
                  </a:ext>
                </a:extLst>
              </p:cNvPr>
              <p:cNvSpPr txBox="1"/>
              <p:nvPr/>
            </p:nvSpPr>
            <p:spPr>
              <a:xfrm>
                <a:off x="7498201" y="2598810"/>
                <a:ext cx="3419166" cy="306238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l"/>
                <a:r>
                  <a:rPr lang="ko-KR" altLang="en-US" sz="1050" b="1" dirty="0">
                    <a:solidFill>
                      <a:srgbClr val="102D52"/>
                    </a:solidFill>
                    <a:latin typeface="페이퍼로지 7 Bold" pitchFamily="2" charset="-127"/>
                    <a:ea typeface="페이퍼로지 7 Bold" pitchFamily="2" charset="-127"/>
                  </a:rPr>
                  <a:t>범죄자가 사용하는 심리전략 중 </a:t>
                </a:r>
                <a:r>
                  <a:rPr lang="en-US" altLang="ko-KR" sz="105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“</a:t>
                </a:r>
                <a:r>
                  <a:rPr lang="ko-KR" altLang="en-US" sz="105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권</a:t>
                </a:r>
                <a:r>
                  <a:rPr sz="1050" b="1" dirty="0" err="1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위·신뢰</a:t>
                </a:r>
                <a:r>
                  <a:rPr lang="en-US" sz="105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,</a:t>
                </a:r>
                <a:r>
                  <a:rPr sz="105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1050" b="1" dirty="0" err="1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긴급성</a:t>
                </a:r>
                <a:r>
                  <a:rPr lang="en-US" sz="105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, </a:t>
                </a:r>
                <a:r>
                  <a:rPr sz="1050" b="1" dirty="0" err="1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공포</a:t>
                </a:r>
                <a:r>
                  <a:rPr lang="en-US" sz="105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lang="ko-KR" altLang="en-US" sz="105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유도</a:t>
                </a:r>
                <a:r>
                  <a:rPr lang="en-US" altLang="ko-KR" sz="105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”</a:t>
                </a:r>
                <a:endParaRPr lang="en-US" sz="105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r>
                  <a:rPr lang="ko-KR" altLang="en-US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분석 대상 </a:t>
                </a:r>
                <a:r>
                  <a:rPr lang="en-US" altLang="ko-KR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: </a:t>
                </a:r>
                <a:r>
                  <a:rPr lang="ko-KR" altLang="en-US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총 </a:t>
                </a:r>
                <a:r>
                  <a:rPr lang="en-US" altLang="ko-KR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776</a:t>
                </a:r>
                <a:r>
                  <a:rPr lang="ko-KR" altLang="en-US" sz="700" b="1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개의 통화 사례 중 심리전략</a:t>
                </a:r>
                <a:endParaRPr lang="en-US" altLang="ko-KR" sz="700" b="1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428" name="Rounded Rectangle 33">
                <a:extLst>
                  <a:ext uri="{FF2B5EF4-FFF2-40B4-BE49-F238E27FC236}">
                    <a16:creationId xmlns:a16="http://schemas.microsoft.com/office/drawing/2014/main" id="{A56EF7F5-1932-44BD-83CA-2D82CA0E59B3}"/>
                  </a:ext>
                </a:extLst>
              </p:cNvPr>
              <p:cNvSpPr/>
              <p:nvPr/>
            </p:nvSpPr>
            <p:spPr>
              <a:xfrm>
                <a:off x="6397339" y="2654845"/>
                <a:ext cx="998492" cy="194167"/>
              </a:xfrm>
              <a:prstGeom prst="roundRect">
                <a:avLst/>
              </a:prstGeom>
              <a:solidFill>
                <a:srgbClr val="EBF3FF"/>
              </a:solidFill>
              <a:ln w="6350">
                <a:solidFill>
                  <a:srgbClr val="EBF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36576" tIns="9144" rIns="36576" bIns="9144" rtlCol="0" anchor="ctr"/>
              <a:lstStyle/>
              <a:p>
                <a:pPr algn="ctr"/>
                <a:r>
                  <a:rPr lang="ko-KR" altLang="en-US" sz="85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심리전략 </a:t>
                </a:r>
                <a:r>
                  <a:rPr lang="en-US" altLang="ko-KR" sz="85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TOP 3 </a:t>
                </a:r>
                <a:endParaRPr lang="ko-KR" altLang="en-US" sz="850" b="1" dirty="0">
                  <a:solidFill>
                    <a:srgbClr val="2D6B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4982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666791" y="1523835"/>
            <a:ext cx="10703053" cy="2057400"/>
          </a:xfrm>
          <a:prstGeom prst="roundRect">
            <a:avLst>
              <a:gd name="adj" fmla="val 7202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548640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근거</a:t>
            </a:r>
            <a:r>
              <a:rPr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950" dirty="0" err="1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분석</a:t>
            </a:r>
            <a:r>
              <a:rPr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②</a:t>
            </a:r>
            <a:r>
              <a:rPr 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금융소비자의 취약성</a:t>
            </a:r>
            <a:endParaRPr sz="950" dirty="0">
              <a:solidFill>
                <a:srgbClr val="2D6BFF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563177"/>
            <a:ext cx="10744200" cy="77559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보이스피싱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피해는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2030과 60대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이상에서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서로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다른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400" b="1" dirty="0" err="1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이유로</a:t>
            </a:r>
            <a:r>
              <a:rPr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집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중되는데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pPr algn="l"/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2030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은 낯선 금융경험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 60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대 이상은 디지털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확인 부담에서 취약성 나타남</a:t>
            </a:r>
            <a:endParaRPr lang="en-US" altLang="ko-KR" sz="24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464808"/>
            <a:ext cx="32004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00" b="0">
                <a:solidFill>
                  <a:srgbClr val="6A7B97"/>
                </a:solidFill>
                <a:latin typeface="Malgun Gothic"/>
              </a:rPr>
              <a:t>11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8F60484-54D4-4BD0-98F3-044C37CF0733}"/>
              </a:ext>
            </a:extLst>
          </p:cNvPr>
          <p:cNvGrpSpPr/>
          <p:nvPr/>
        </p:nvGrpSpPr>
        <p:grpSpPr>
          <a:xfrm>
            <a:off x="7470456" y="1676258"/>
            <a:ext cx="3584448" cy="375487"/>
            <a:chOff x="7740396" y="1725366"/>
            <a:chExt cx="3584448" cy="375487"/>
          </a:xfrm>
        </p:grpSpPr>
        <p:sp>
          <p:nvSpPr>
            <p:cNvPr id="38" name="Rounded Rectangle 37"/>
            <p:cNvSpPr/>
            <p:nvPr/>
          </p:nvSpPr>
          <p:spPr>
            <a:xfrm>
              <a:off x="7740396" y="1733910"/>
              <a:ext cx="1051560" cy="358399"/>
            </a:xfrm>
            <a:prstGeom prst="roundRect">
              <a:avLst/>
            </a:prstGeom>
            <a:solidFill>
              <a:srgbClr val="FFF1F0"/>
            </a:solidFill>
            <a:ln w="6350">
              <a:solidFill>
                <a:srgbClr val="FFF1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" tIns="9144" rIns="36576" bIns="9144" rtlCol="0" anchor="ctr"/>
            <a:lstStyle/>
            <a:p>
              <a:pPr algn="ctr"/>
              <a:r>
                <a:rPr sz="850" b="1" dirty="0" err="1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기관사칭형</a:t>
              </a:r>
              <a:endParaRPr sz="85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29116" y="1725366"/>
              <a:ext cx="2395728" cy="375487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1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2025년 1~8월 </a:t>
              </a:r>
              <a:r>
                <a:rPr sz="1100" b="1" dirty="0" err="1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피해자</a:t>
              </a:r>
              <a:r>
                <a:rPr sz="11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sz="1100" b="1" dirty="0" err="1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구성</a:t>
              </a:r>
              <a:endParaRPr lang="en-US" sz="11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algn="l"/>
              <a:r>
                <a:rPr lang="en-US" sz="11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11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기관사칭형도 </a:t>
              </a:r>
              <a:r>
                <a:rPr lang="en-US" altLang="ko-KR" sz="11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20</a:t>
              </a:r>
              <a:r>
                <a:rPr lang="ko-KR" altLang="en-US" sz="11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대</a:t>
              </a:r>
              <a:r>
                <a:rPr lang="en-US" altLang="ko-KR" sz="11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, 60</a:t>
              </a:r>
              <a:r>
                <a:rPr lang="ko-KR" altLang="en-US" sz="11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대 이상 비중 큼</a:t>
              </a:r>
              <a:r>
                <a:rPr lang="en-US" altLang="ko-KR" sz="11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rPr>
                <a:t>”</a:t>
              </a:r>
              <a:endParaRPr lang="en-US" sz="11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C83E6DB-C812-4031-B158-DBDDFCD62AC5}"/>
              </a:ext>
            </a:extLst>
          </p:cNvPr>
          <p:cNvGrpSpPr/>
          <p:nvPr/>
        </p:nvGrpSpPr>
        <p:grpSpPr>
          <a:xfrm>
            <a:off x="7297218" y="2164537"/>
            <a:ext cx="3843867" cy="1261872"/>
            <a:chOff x="7543800" y="2194560"/>
            <a:chExt cx="3337864" cy="1261872"/>
          </a:xfrm>
        </p:grpSpPr>
        <p:sp>
          <p:nvSpPr>
            <p:cNvPr id="40" name="TextBox 39"/>
            <p:cNvSpPr txBox="1"/>
            <p:nvPr/>
          </p:nvSpPr>
          <p:spPr>
            <a:xfrm>
              <a:off x="7543800" y="2200681"/>
              <a:ext cx="685800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r"/>
              <a:r>
                <a:rPr sz="750" b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20대 이하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339327" y="2194560"/>
              <a:ext cx="2331720" cy="164592"/>
            </a:xfrm>
            <a:prstGeom prst="rect">
              <a:avLst/>
            </a:prstGeom>
            <a:solidFill>
              <a:srgbClr val="ECF2F8"/>
            </a:solidFill>
            <a:ln>
              <a:solidFill>
                <a:srgbClr val="ECF2F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339327" y="2194560"/>
              <a:ext cx="2140000" cy="164592"/>
            </a:xfrm>
            <a:prstGeom prst="rect">
              <a:avLst/>
            </a:prstGeom>
            <a:solidFill>
              <a:srgbClr val="2D6BFF"/>
            </a:solidFill>
            <a:ln>
              <a:solidFill>
                <a:srgbClr val="2D6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34192" y="2200681"/>
              <a:ext cx="347472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sz="750" b="1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41.3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543800" y="2475000"/>
              <a:ext cx="685800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r"/>
              <a:r>
                <a:rPr sz="750" b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30대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339327" y="2468879"/>
              <a:ext cx="2331720" cy="164592"/>
            </a:xfrm>
            <a:prstGeom prst="rect">
              <a:avLst/>
            </a:prstGeom>
            <a:solidFill>
              <a:srgbClr val="ECF2F8"/>
            </a:solidFill>
            <a:ln>
              <a:solidFill>
                <a:srgbClr val="ECF2F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339327" y="2468879"/>
              <a:ext cx="580339" cy="164592"/>
            </a:xfrm>
            <a:prstGeom prst="rect">
              <a:avLst/>
            </a:prstGeom>
            <a:solidFill>
              <a:srgbClr val="5599FF"/>
            </a:solidFill>
            <a:ln>
              <a:solidFill>
                <a:srgbClr val="5599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974531" y="2475000"/>
              <a:ext cx="347472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sz="750" b="1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11.2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543800" y="2749321"/>
              <a:ext cx="685800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r"/>
              <a:r>
                <a:rPr sz="750" b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40대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39327" y="2743200"/>
              <a:ext cx="2331720" cy="164592"/>
            </a:xfrm>
            <a:prstGeom prst="rect">
              <a:avLst/>
            </a:prstGeom>
            <a:solidFill>
              <a:srgbClr val="ECF2F8"/>
            </a:solidFill>
            <a:ln>
              <a:solidFill>
                <a:srgbClr val="ECF2F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339327" y="2743200"/>
              <a:ext cx="248716" cy="164592"/>
            </a:xfrm>
            <a:prstGeom prst="rect">
              <a:avLst/>
            </a:prstGeom>
            <a:solidFill>
              <a:srgbClr val="BCCADE"/>
            </a:solidFill>
            <a:ln>
              <a:solidFill>
                <a:srgbClr val="BCCA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642908" y="2749321"/>
              <a:ext cx="347472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sz="750" b="1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4.8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43800" y="3023641"/>
              <a:ext cx="685800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r"/>
              <a:r>
                <a:rPr sz="750" b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50대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339327" y="3017520"/>
              <a:ext cx="2331720" cy="164592"/>
            </a:xfrm>
            <a:prstGeom prst="rect">
              <a:avLst/>
            </a:prstGeom>
            <a:solidFill>
              <a:srgbClr val="ECF2F8"/>
            </a:solidFill>
            <a:ln>
              <a:solidFill>
                <a:srgbClr val="ECF2F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339327" y="3017520"/>
              <a:ext cx="466344" cy="164592"/>
            </a:xfrm>
            <a:prstGeom prst="rect">
              <a:avLst/>
            </a:prstGeom>
            <a:solidFill>
              <a:srgbClr val="8997AC"/>
            </a:solidFill>
            <a:ln>
              <a:solidFill>
                <a:srgbClr val="8997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860536" y="3023641"/>
              <a:ext cx="347472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sz="750" b="1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9.0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543800" y="3297961"/>
              <a:ext cx="685800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r"/>
              <a:r>
                <a:rPr sz="750" b="0">
                  <a:solidFill>
                    <a:srgbClr val="4D5E78"/>
                  </a:solidFill>
                  <a:latin typeface="페이퍼로지 7 Bold" pitchFamily="2" charset="-127"/>
                  <a:ea typeface="페이퍼로지 7 Bold" pitchFamily="2" charset="-127"/>
                </a:rPr>
                <a:t>60대 이상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39327" y="3291840"/>
              <a:ext cx="2331720" cy="164592"/>
            </a:xfrm>
            <a:prstGeom prst="rect">
              <a:avLst/>
            </a:prstGeom>
            <a:solidFill>
              <a:srgbClr val="ECF2F8"/>
            </a:solidFill>
            <a:ln>
              <a:solidFill>
                <a:srgbClr val="ECF2F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339327" y="3291840"/>
              <a:ext cx="1746199" cy="164592"/>
            </a:xfrm>
            <a:prstGeom prst="rect">
              <a:avLst/>
            </a:prstGeom>
            <a:solidFill>
              <a:srgbClr val="102D52"/>
            </a:solidFill>
            <a:ln>
              <a:solidFill>
                <a:srgbClr val="102D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140391" y="3297961"/>
              <a:ext cx="347472" cy="152349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/>
              <a:r>
                <a:rPr sz="750" b="1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rPr>
                <a:t>33.7</a:t>
              </a:r>
            </a:p>
          </p:txBody>
        </p:sp>
      </p:grpSp>
      <p:sp>
        <p:nvSpPr>
          <p:cNvPr id="72" name="Rounded Rectangle 71"/>
          <p:cNvSpPr/>
          <p:nvPr/>
        </p:nvSpPr>
        <p:spPr>
          <a:xfrm>
            <a:off x="666791" y="5746912"/>
            <a:ext cx="10731177" cy="457200"/>
          </a:xfrm>
          <a:prstGeom prst="roundRect">
            <a:avLst/>
          </a:prstGeom>
          <a:solidFill>
            <a:srgbClr val="102D52"/>
          </a:solidFill>
          <a:ln>
            <a:solidFill>
              <a:srgbClr val="10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3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청년층은 ‘낯선 금융경험’</a:t>
            </a:r>
            <a:r>
              <a:rPr lang="en-US" altLang="ko-KR" sz="13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3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고령층은 ‘디지털</a:t>
            </a:r>
            <a:r>
              <a:rPr lang="en-US" altLang="ko-KR" sz="13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3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확인 부담’이 </a:t>
            </a:r>
            <a:r>
              <a:rPr lang="ko-KR" altLang="en-US" sz="13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취약요인</a:t>
            </a:r>
            <a:r>
              <a:rPr lang="ko-KR" altLang="en-US" sz="13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으로 작용한다</a:t>
            </a:r>
            <a:r>
              <a:rPr lang="en-US" altLang="ko-KR" sz="1300" b="1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</a:rPr>
              <a:t>.</a:t>
            </a:r>
            <a:endParaRPr lang="ko-KR" altLang="en-US" sz="1300" b="1" dirty="0">
              <a:solidFill>
                <a:srgbClr val="FFFFFF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7BD4D7-ABA0-46DC-8D8C-0B85BED5C0A6}"/>
              </a:ext>
            </a:extLst>
          </p:cNvPr>
          <p:cNvSpPr txBox="1"/>
          <p:nvPr/>
        </p:nvSpPr>
        <p:spPr>
          <a:xfrm>
            <a:off x="579120" y="6494295"/>
            <a:ext cx="996696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공공데이터포털 경찰청 보이스피싱 현황 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2025.12.30 / 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과학기술정보통신부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한국지능정보사회진흥원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(NIA), 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「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2023 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디지털정보격차 실태조사」 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금융감독원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한국은행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「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2024 </a:t>
            </a:r>
            <a:r>
              <a:rPr lang="ko-KR" altLang="en-US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전국민 금융이해력 조사」</a:t>
            </a:r>
            <a:r>
              <a:rPr lang="en-US" altLang="ko-KR" sz="800" dirty="0">
                <a:solidFill>
                  <a:srgbClr val="6A7B97"/>
                </a:solidFill>
                <a:latin typeface="페이퍼로지 4 Regular" pitchFamily="2" charset="-127"/>
                <a:ea typeface="페이퍼로지 4 Regular" pitchFamily="2" charset="-127"/>
              </a:rPr>
              <a:t>(2025.4.29.)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A695542-8B00-4469-AC84-19FBA0BD2EBD}"/>
              </a:ext>
            </a:extLst>
          </p:cNvPr>
          <p:cNvGrpSpPr/>
          <p:nvPr/>
        </p:nvGrpSpPr>
        <p:grpSpPr>
          <a:xfrm>
            <a:off x="966506" y="1779638"/>
            <a:ext cx="6139117" cy="1566188"/>
            <a:chOff x="855328" y="1882892"/>
            <a:chExt cx="6139117" cy="1421163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A21EA165-64AA-4325-95CD-AF77C2318408}"/>
                </a:ext>
              </a:extLst>
            </p:cNvPr>
            <p:cNvGrpSpPr/>
            <p:nvPr/>
          </p:nvGrpSpPr>
          <p:grpSpPr>
            <a:xfrm>
              <a:off x="855328" y="1882892"/>
              <a:ext cx="4726752" cy="340718"/>
              <a:chOff x="822960" y="1666777"/>
              <a:chExt cx="4572000" cy="340718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822960" y="1667253"/>
                <a:ext cx="1234440" cy="326665"/>
              </a:xfrm>
              <a:prstGeom prst="roundRect">
                <a:avLst/>
              </a:prstGeom>
              <a:solidFill>
                <a:srgbClr val="EBF3FF"/>
              </a:solidFill>
              <a:ln w="6350">
                <a:solidFill>
                  <a:srgbClr val="EBF3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36576" tIns="9144" rIns="36576" bIns="9144" rtlCol="0" anchor="ctr"/>
              <a:lstStyle/>
              <a:p>
                <a:pPr algn="ctr"/>
                <a:r>
                  <a:rPr lang="ko-KR" altLang="en-US" sz="85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전체 보이스피싱</a:t>
                </a:r>
                <a:endParaRPr sz="850" b="1" dirty="0">
                  <a:solidFill>
                    <a:srgbClr val="2D6B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194560" y="1666777"/>
                <a:ext cx="3200400" cy="340718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l"/>
                <a:r>
                  <a:rPr lang="en-US" altLang="ko-KR" sz="1100" b="1" dirty="0">
                    <a:solidFill>
                      <a:srgbClr val="102D52"/>
                    </a:solidFill>
                    <a:latin typeface="페이퍼로지 7 Bold" pitchFamily="2" charset="-127"/>
                    <a:ea typeface="페이퍼로지 7 Bold" pitchFamily="2" charset="-127"/>
                  </a:rPr>
                  <a:t>2016 vs 2025 </a:t>
                </a:r>
                <a:r>
                  <a:rPr lang="ko-KR" altLang="en-US" sz="1100" b="1" dirty="0">
                    <a:solidFill>
                      <a:srgbClr val="102D52"/>
                    </a:solidFill>
                    <a:latin typeface="페이퍼로지 7 Bold" pitchFamily="2" charset="-127"/>
                    <a:ea typeface="페이퍼로지 7 Bold" pitchFamily="2" charset="-127"/>
                  </a:rPr>
                  <a:t>연령대별 피해자 구성 변화</a:t>
                </a:r>
                <a:endParaRPr lang="en-US" altLang="ko-KR" sz="1100" b="1" dirty="0">
                  <a:solidFill>
                    <a:srgbClr val="102D52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l"/>
                <a:r>
                  <a:rPr lang="en-US" altLang="ko-KR" sz="11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“20</a:t>
                </a:r>
                <a:r>
                  <a:rPr lang="ko-KR" altLang="en-US" sz="11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대와 </a:t>
                </a:r>
                <a:r>
                  <a:rPr lang="en-US" altLang="ko-KR" sz="11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5070 </a:t>
                </a:r>
                <a:r>
                  <a:rPr lang="ko-KR" altLang="en-US" sz="11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세대의</a:t>
                </a:r>
                <a:r>
                  <a:rPr lang="en-US" altLang="ko-KR" sz="11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lang="ko-KR" altLang="en-US" sz="11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보이스피싱 피해자 비중 증가</a:t>
                </a:r>
                <a:r>
                  <a:rPr lang="en-US" altLang="ko-KR" sz="1100" b="1" dirty="0">
                    <a:solidFill>
                      <a:srgbClr val="FF4B16"/>
                    </a:solidFill>
                    <a:latin typeface="페이퍼로지 7 Bold" pitchFamily="2" charset="-127"/>
                    <a:ea typeface="페이퍼로지 7 Bold" pitchFamily="2" charset="-127"/>
                  </a:rPr>
                  <a:t>”</a:t>
                </a:r>
                <a:endParaRPr lang="ko-KR" altLang="en-US" sz="110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A9ECD605-D1F1-44C6-A446-7F00B2CD4BB1}"/>
                </a:ext>
              </a:extLst>
            </p:cNvPr>
            <p:cNvGrpSpPr/>
            <p:nvPr/>
          </p:nvGrpSpPr>
          <p:grpSpPr>
            <a:xfrm>
              <a:off x="902596" y="2211261"/>
              <a:ext cx="6091849" cy="1092794"/>
              <a:chOff x="868680" y="1881364"/>
              <a:chExt cx="5892405" cy="1092794"/>
            </a:xfrm>
          </p:grpSpPr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BD9BA601-5208-4662-8255-37E794874C32}"/>
                  </a:ext>
                </a:extLst>
              </p:cNvPr>
              <p:cNvSpPr/>
              <p:nvPr/>
            </p:nvSpPr>
            <p:spPr>
              <a:xfrm>
                <a:off x="3935020" y="2101850"/>
                <a:ext cx="2797004" cy="762000"/>
              </a:xfrm>
              <a:custGeom>
                <a:avLst/>
                <a:gdLst>
                  <a:gd name="connsiteX0" fmla="*/ 0 w 2794000"/>
                  <a:gd name="connsiteY0" fmla="*/ 635000 h 762000"/>
                  <a:gd name="connsiteX1" fmla="*/ 0 w 2794000"/>
                  <a:gd name="connsiteY1" fmla="*/ 514350 h 762000"/>
                  <a:gd name="connsiteX2" fmla="*/ 1054100 w 2794000"/>
                  <a:gd name="connsiteY2" fmla="*/ 311150 h 762000"/>
                  <a:gd name="connsiteX3" fmla="*/ 1676400 w 2794000"/>
                  <a:gd name="connsiteY3" fmla="*/ 0 h 762000"/>
                  <a:gd name="connsiteX4" fmla="*/ 2794000 w 2794000"/>
                  <a:gd name="connsiteY4" fmla="*/ 298450 h 762000"/>
                  <a:gd name="connsiteX5" fmla="*/ 2794000 w 2794000"/>
                  <a:gd name="connsiteY5" fmla="*/ 762000 h 762000"/>
                  <a:gd name="connsiteX6" fmla="*/ 0 w 2794000"/>
                  <a:gd name="connsiteY6" fmla="*/ 63500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4000" h="762000">
                    <a:moveTo>
                      <a:pt x="0" y="635000"/>
                    </a:moveTo>
                    <a:lnTo>
                      <a:pt x="0" y="514350"/>
                    </a:lnTo>
                    <a:lnTo>
                      <a:pt x="1054100" y="311150"/>
                    </a:lnTo>
                    <a:lnTo>
                      <a:pt x="1676400" y="0"/>
                    </a:lnTo>
                    <a:lnTo>
                      <a:pt x="2794000" y="298450"/>
                    </a:lnTo>
                    <a:lnTo>
                      <a:pt x="2794000" y="762000"/>
                    </a:lnTo>
                    <a:lnTo>
                      <a:pt x="0" y="63500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C4E6EE57-EBAD-4DDD-A8BA-5BE1C891921B}"/>
                  </a:ext>
                </a:extLst>
              </p:cNvPr>
              <p:cNvSpPr/>
              <p:nvPr/>
            </p:nvSpPr>
            <p:spPr>
              <a:xfrm>
                <a:off x="1324715" y="2339396"/>
                <a:ext cx="1333500" cy="283154"/>
              </a:xfrm>
              <a:custGeom>
                <a:avLst/>
                <a:gdLst>
                  <a:gd name="connsiteX0" fmla="*/ 939800 w 1333500"/>
                  <a:gd name="connsiteY0" fmla="*/ 38100 h 266700"/>
                  <a:gd name="connsiteX1" fmla="*/ 1333500 w 1333500"/>
                  <a:gd name="connsiteY1" fmla="*/ 266700 h 266700"/>
                  <a:gd name="connsiteX2" fmla="*/ 0 w 1333500"/>
                  <a:gd name="connsiteY2" fmla="*/ 266700 h 266700"/>
                  <a:gd name="connsiteX3" fmla="*/ 0 w 1333500"/>
                  <a:gd name="connsiteY3" fmla="*/ 0 h 266700"/>
                  <a:gd name="connsiteX4" fmla="*/ 990600 w 1333500"/>
                  <a:gd name="connsiteY4" fmla="*/ 0 h 266700"/>
                  <a:gd name="connsiteX5" fmla="*/ 939800 w 1333500"/>
                  <a:gd name="connsiteY5" fmla="*/ 381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3500" h="266700">
                    <a:moveTo>
                      <a:pt x="939800" y="38100"/>
                    </a:moveTo>
                    <a:lnTo>
                      <a:pt x="1333500" y="266700"/>
                    </a:lnTo>
                    <a:lnTo>
                      <a:pt x="0" y="266700"/>
                    </a:lnTo>
                    <a:lnTo>
                      <a:pt x="0" y="0"/>
                    </a:lnTo>
                    <a:lnTo>
                      <a:pt x="990600" y="0"/>
                    </a:lnTo>
                    <a:lnTo>
                      <a:pt x="939800" y="3810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D7A3B507-0867-4FAD-8089-6E7220C08389}"/>
                  </a:ext>
                </a:extLst>
              </p:cNvPr>
              <p:cNvGrpSpPr/>
              <p:nvPr/>
            </p:nvGrpSpPr>
            <p:grpSpPr>
              <a:xfrm>
                <a:off x="868680" y="2048011"/>
                <a:ext cx="5866021" cy="370189"/>
                <a:chOff x="991978" y="2240280"/>
                <a:chExt cx="5866021" cy="530352"/>
              </a:xfrm>
            </p:grpSpPr>
            <p:sp>
              <p:nvSpPr>
                <p:cNvPr id="14" name="TextBox 13"/>
                <p:cNvSpPr txBox="1"/>
                <p:nvPr/>
              </p:nvSpPr>
              <p:spPr>
                <a:xfrm>
                  <a:off x="991978" y="2390812"/>
                  <a:ext cx="457200" cy="229287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2016</a:t>
                  </a:r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1435607" y="2240280"/>
                  <a:ext cx="1019409" cy="530352"/>
                </a:xfrm>
                <a:prstGeom prst="rect">
                  <a:avLst/>
                </a:prstGeom>
                <a:solidFill>
                  <a:srgbClr val="5791C7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1435607" y="2302626"/>
                  <a:ext cx="1019409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20대 </a:t>
                  </a:r>
                  <a:r>
                    <a:rPr sz="800" b="1" dirty="0" err="1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이하</a:t>
                  </a:r>
                  <a:r>
                    <a:rPr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
18.8%</a:t>
                  </a:r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2455017" y="2240280"/>
                  <a:ext cx="1187503" cy="530352"/>
                </a:xfrm>
                <a:prstGeom prst="rect">
                  <a:avLst/>
                </a:prstGeom>
                <a:solidFill>
                  <a:srgbClr val="3670AA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2455017" y="2302626"/>
                  <a:ext cx="1187503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30대
21.9%</a:t>
                  </a:r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3642521" y="2240280"/>
                  <a:ext cx="1447778" cy="530352"/>
                </a:xfrm>
                <a:prstGeom prst="rect">
                  <a:avLst/>
                </a:prstGeom>
                <a:solidFill>
                  <a:srgbClr val="1E4B82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3642521" y="2302626"/>
                  <a:ext cx="1447778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sz="800" b="1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40대
26.7%</a:t>
                  </a:r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5090300" y="2240280"/>
                  <a:ext cx="1220038" cy="530352"/>
                </a:xfrm>
                <a:prstGeom prst="rect">
                  <a:avLst/>
                </a:prstGeom>
                <a:solidFill>
                  <a:srgbClr val="399184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5090300" y="2302626"/>
                  <a:ext cx="1220038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50대
22.5%</a:t>
                  </a:r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6310338" y="2240280"/>
                  <a:ext cx="401257" cy="530352"/>
                </a:xfrm>
                <a:prstGeom prst="rect">
                  <a:avLst/>
                </a:prstGeom>
                <a:solidFill>
                  <a:srgbClr val="3E825B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6711595" y="2240280"/>
                  <a:ext cx="146404" cy="530352"/>
                </a:xfrm>
                <a:prstGeom prst="rect">
                  <a:avLst/>
                </a:prstGeom>
                <a:solidFill>
                  <a:srgbClr val="7C803F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F0A1EA14-BF5B-46CC-A92F-C2F0FC023823}"/>
                    </a:ext>
                  </a:extLst>
                </p:cNvPr>
                <p:cNvSpPr txBox="1"/>
                <p:nvPr/>
              </p:nvSpPr>
              <p:spPr>
                <a:xfrm>
                  <a:off x="6220821" y="2302626"/>
                  <a:ext cx="569446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lang="en-US"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</a:t>
                  </a:r>
                  <a:r>
                    <a:rPr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0대
</a:t>
                  </a:r>
                  <a:r>
                    <a:rPr lang="en-US"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7.4</a:t>
                  </a:r>
                  <a:r>
                    <a:rPr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%</a:t>
                  </a: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8E31D508-C5C3-44E5-8FB1-04B141884261}"/>
                  </a:ext>
                </a:extLst>
              </p:cNvPr>
              <p:cNvGrpSpPr/>
              <p:nvPr/>
            </p:nvGrpSpPr>
            <p:grpSpPr>
              <a:xfrm>
                <a:off x="876774" y="2603969"/>
                <a:ext cx="5884311" cy="370189"/>
                <a:chOff x="991978" y="2880360"/>
                <a:chExt cx="5884311" cy="530352"/>
              </a:xfrm>
            </p:grpSpPr>
            <p:sp>
              <p:nvSpPr>
                <p:cNvPr id="25" name="TextBox 24"/>
                <p:cNvSpPr txBox="1"/>
                <p:nvPr/>
              </p:nvSpPr>
              <p:spPr>
                <a:xfrm>
                  <a:off x="991978" y="3030892"/>
                  <a:ext cx="457200" cy="229287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l"/>
                  <a:r>
                    <a:rPr sz="800" b="1" dirty="0">
                      <a:solidFill>
                        <a:srgbClr val="102D52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2025</a:t>
                  </a:r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1435607" y="2880360"/>
                  <a:ext cx="1339330" cy="530352"/>
                </a:xfrm>
                <a:prstGeom prst="rect">
                  <a:avLst/>
                </a:prstGeom>
                <a:solidFill>
                  <a:srgbClr val="5791C7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1435607" y="2942706"/>
                  <a:ext cx="1339330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sz="800" b="1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20대 이하
24.7%</a:t>
                  </a:r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2774938" y="2880360"/>
                  <a:ext cx="580195" cy="530352"/>
                </a:xfrm>
                <a:prstGeom prst="rect">
                  <a:avLst/>
                </a:prstGeom>
                <a:solidFill>
                  <a:srgbClr val="3670AA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2774938" y="2942706"/>
                  <a:ext cx="580195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sz="800" b="1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30대
10.7%</a:t>
                  </a:r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3355134" y="2880360"/>
                  <a:ext cx="694066" cy="530352"/>
                </a:xfrm>
                <a:prstGeom prst="rect">
                  <a:avLst/>
                </a:prstGeom>
                <a:solidFill>
                  <a:srgbClr val="1E4B82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3355134" y="2942706"/>
                  <a:ext cx="694066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sz="800" b="1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40대
12.8%</a:t>
                  </a:r>
                </a:p>
              </p:txBody>
            </p:sp>
            <p:sp>
              <p:nvSpPr>
                <p:cNvPr id="32" name="Rectangle 31"/>
                <p:cNvSpPr/>
                <p:nvPr/>
              </p:nvSpPr>
              <p:spPr>
                <a:xfrm>
                  <a:off x="4049200" y="2880360"/>
                  <a:ext cx="1111590" cy="530352"/>
                </a:xfrm>
                <a:prstGeom prst="rect">
                  <a:avLst/>
                </a:prstGeom>
                <a:solidFill>
                  <a:srgbClr val="399184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4049200" y="2942706"/>
                  <a:ext cx="1111590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sz="800" b="1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50대
20.5%</a:t>
                  </a:r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5160791" y="2880360"/>
                  <a:ext cx="1344753" cy="530352"/>
                </a:xfrm>
                <a:prstGeom prst="rect">
                  <a:avLst/>
                </a:prstGeom>
                <a:solidFill>
                  <a:srgbClr val="3E825B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5160791" y="2942706"/>
                  <a:ext cx="1344753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60대
24.8%</a:t>
                  </a:r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6505544" y="2880360"/>
                  <a:ext cx="347033" cy="530352"/>
                </a:xfrm>
                <a:prstGeom prst="rect">
                  <a:avLst/>
                </a:prstGeom>
                <a:solidFill>
                  <a:srgbClr val="7C803F"/>
                </a:solidFill>
                <a:ln w="1016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80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F753FCA2-5104-496F-99AD-297DEE6879F5}"/>
                    </a:ext>
                  </a:extLst>
                </p:cNvPr>
                <p:cNvSpPr txBox="1"/>
                <p:nvPr/>
              </p:nvSpPr>
              <p:spPr>
                <a:xfrm>
                  <a:off x="6484811" y="2940880"/>
                  <a:ext cx="391478" cy="405661"/>
                </a:xfrm>
                <a:prstGeom prst="rect">
                  <a:avLst/>
                </a:prstGeom>
                <a:noFill/>
              </p:spPr>
              <p:txBody>
                <a:bodyPr wrap="square" lIns="18288" tIns="18288" rIns="18288" bIns="18288" anchor="ctr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</a:t>
                  </a:r>
                  <a:r>
                    <a:rPr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0대
</a:t>
                  </a:r>
                  <a:r>
                    <a:rPr lang="en-US" altLang="ko-KR"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6.</a:t>
                  </a:r>
                  <a:r>
                    <a:rPr sz="800" b="1" dirty="0">
                      <a:solidFill>
                        <a:srgbClr val="FFFF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4%</a:t>
                  </a:r>
                </a:p>
              </p:txBody>
            </p:sp>
          </p:grp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AA2141D-DCD8-48B5-9DB2-3926220C1723}"/>
                  </a:ext>
                </a:extLst>
              </p:cNvPr>
              <p:cNvSpPr txBox="1"/>
              <p:nvPr/>
            </p:nvSpPr>
            <p:spPr>
              <a:xfrm>
                <a:off x="5480924" y="1881364"/>
                <a:ext cx="1271321" cy="160044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spAutoFit/>
              </a:bodyPr>
              <a:lstStyle/>
              <a:p>
                <a:pPr algn="r"/>
                <a:r>
                  <a:rPr lang="en-US" altLang="ko-KR" sz="800" b="1" dirty="0">
                    <a:solidFill>
                      <a:srgbClr val="7C803F"/>
                    </a:solidFill>
                    <a:latin typeface="페이퍼로지 7 Bold" pitchFamily="2" charset="-127"/>
                    <a:ea typeface="페이퍼로지 7 Bold" pitchFamily="2" charset="-127"/>
                  </a:rPr>
                  <a:t>7</a:t>
                </a:r>
                <a:r>
                  <a:rPr sz="800" b="1" dirty="0">
                    <a:solidFill>
                      <a:srgbClr val="7C803F"/>
                    </a:solidFill>
                    <a:latin typeface="페이퍼로지 7 Bold" pitchFamily="2" charset="-127"/>
                    <a:ea typeface="페이퍼로지 7 Bold" pitchFamily="2" charset="-127"/>
                  </a:rPr>
                  <a:t>0대</a:t>
                </a:r>
                <a:r>
                  <a:rPr lang="en-US" sz="800" b="1" dirty="0">
                    <a:solidFill>
                      <a:srgbClr val="7C803F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lang="en-US" altLang="ko-KR" sz="800" b="1" dirty="0">
                    <a:solidFill>
                      <a:srgbClr val="7C803F"/>
                    </a:solidFill>
                    <a:latin typeface="페이퍼로지 7 Bold" pitchFamily="2" charset="-127"/>
                    <a:ea typeface="페이퍼로지 7 Bold" pitchFamily="2" charset="-127"/>
                  </a:rPr>
                  <a:t>2.7</a:t>
                </a:r>
                <a:r>
                  <a:rPr sz="800" b="1" dirty="0">
                    <a:solidFill>
                      <a:srgbClr val="7C803F"/>
                    </a:solidFill>
                    <a:latin typeface="페이퍼로지 7 Bold" pitchFamily="2" charset="-127"/>
                    <a:ea typeface="페이퍼로지 7 Bold" pitchFamily="2" charset="-127"/>
                  </a:rPr>
                  <a:t>%</a:t>
                </a:r>
              </a:p>
            </p:txBody>
          </p:sp>
        </p:grpSp>
      </p:grpSp>
      <p:graphicFrame>
        <p:nvGraphicFramePr>
          <p:cNvPr id="84" name="Chart 83">
            <a:extLst>
              <a:ext uri="{FF2B5EF4-FFF2-40B4-BE49-F238E27FC236}">
                <a16:creationId xmlns:a16="http://schemas.microsoft.com/office/drawing/2014/main" id="{50F463A2-5494-40F7-B3E4-B79B069FFE60}"/>
              </a:ext>
            </a:extLst>
          </p:cNvPr>
          <p:cNvGraphicFramePr>
            <a:graphicFrameLocks noGrp="1"/>
          </p:cNvGraphicFramePr>
          <p:nvPr/>
        </p:nvGraphicFramePr>
        <p:xfrm>
          <a:off x="4960641" y="3916828"/>
          <a:ext cx="2164531" cy="16487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5" name="Rounded Rectangle 59">
            <a:extLst>
              <a:ext uri="{FF2B5EF4-FFF2-40B4-BE49-F238E27FC236}">
                <a16:creationId xmlns:a16="http://schemas.microsoft.com/office/drawing/2014/main" id="{D6696830-63A5-4909-875D-F0920BA179A0}"/>
              </a:ext>
            </a:extLst>
          </p:cNvPr>
          <p:cNvSpPr/>
          <p:nvPr/>
        </p:nvSpPr>
        <p:spPr>
          <a:xfrm>
            <a:off x="666791" y="3766066"/>
            <a:ext cx="4294384" cy="1743182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8E041A-F829-4305-8D6D-0C7B35C6271A}"/>
              </a:ext>
            </a:extLst>
          </p:cNvPr>
          <p:cNvSpPr txBox="1"/>
          <p:nvPr/>
        </p:nvSpPr>
        <p:spPr>
          <a:xfrm>
            <a:off x="837479" y="3919699"/>
            <a:ext cx="4150995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altLang="ko-KR" sz="1400" b="1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</a:rPr>
              <a:t>20</a:t>
            </a:r>
            <a:r>
              <a:rPr lang="ko-KR" altLang="en-US" sz="1400" b="1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</a:rPr>
              <a:t>대 초반</a:t>
            </a:r>
            <a:r>
              <a:rPr lang="en-US" altLang="ko-KR" sz="1400" b="1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400" b="1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</a:rPr>
              <a:t>사회초년생 </a:t>
            </a:r>
            <a:r>
              <a:rPr lang="en-US" altLang="ko-KR" sz="1400" b="1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</a:rPr>
              <a:t>| </a:t>
            </a:r>
            <a:r>
              <a:rPr lang="ko-KR" altLang="en-US" sz="1400" b="1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</a:rPr>
              <a:t>금융경험</a:t>
            </a:r>
            <a:r>
              <a:rPr lang="en-US" altLang="ko-KR" sz="1400" b="1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400" b="1" dirty="0">
                <a:solidFill>
                  <a:srgbClr val="2D6BFF"/>
                </a:solidFill>
                <a:latin typeface="페이퍼로지 7 Bold" pitchFamily="2" charset="-127"/>
                <a:ea typeface="페이퍼로지 7 Bold" pitchFamily="2" charset="-127"/>
              </a:rPr>
              <a:t>이해력의 취약성</a:t>
            </a:r>
            <a:endParaRPr sz="1400" b="1" dirty="0">
              <a:solidFill>
                <a:srgbClr val="2D6BFF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8E4D5CA-1104-4B0F-9CEF-FBD41E7C4ECE}"/>
              </a:ext>
            </a:extLst>
          </p:cNvPr>
          <p:cNvSpPr txBox="1"/>
          <p:nvPr/>
        </p:nvSpPr>
        <p:spPr>
          <a:xfrm>
            <a:off x="837480" y="4173418"/>
            <a:ext cx="384048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• 2024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년 </a:t>
            </a:r>
            <a:r>
              <a:rPr lang="en-US" altLang="ko-KR" sz="9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2</a:t>
            </a:r>
            <a:r>
              <a:rPr lang="en-US" altLang="ko-KR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0</a:t>
            </a:r>
            <a:r>
              <a:rPr lang="ko-KR" altLang="en-US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대 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디지털 금융이해력 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30~50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대비 낮은 </a:t>
            </a:r>
            <a:r>
              <a:rPr lang="en-US" altLang="ko-KR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44.8</a:t>
            </a:r>
            <a:r>
              <a:rPr lang="ko-KR" altLang="en-US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점</a:t>
            </a:r>
            <a:endParaRPr lang="en-US" altLang="ko-KR" sz="900" b="0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/>
            <a:r>
              <a:rPr lang="en-US" altLang="ko-KR" sz="900" b="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• </a:t>
            </a:r>
            <a:r>
              <a:rPr lang="ko-KR" altLang="en-US" sz="900" b="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금융감독원 </a:t>
            </a:r>
            <a:r>
              <a:rPr lang="en-US" altLang="ko-KR" sz="900" b="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“20</a:t>
            </a:r>
            <a:r>
              <a:rPr lang="ko-KR" altLang="en-US" sz="900" b="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대의 낮은 금융이해력</a:t>
            </a:r>
            <a:r>
              <a:rPr lang="en-US" altLang="ko-KR" sz="900" b="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900" b="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실제 금융거래 경험 부족 가능성 제시</a:t>
            </a:r>
            <a:r>
              <a:rPr lang="en-US" altLang="ko-KR" sz="900" b="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”</a:t>
            </a:r>
          </a:p>
        </p:txBody>
      </p:sp>
      <p:sp>
        <p:nvSpPr>
          <p:cNvPr id="88" name="Rounded Rectangle 65">
            <a:extLst>
              <a:ext uri="{FF2B5EF4-FFF2-40B4-BE49-F238E27FC236}">
                <a16:creationId xmlns:a16="http://schemas.microsoft.com/office/drawing/2014/main" id="{495C1DFB-EBAA-4DD2-9207-D728ABB3DFA2}"/>
              </a:ext>
            </a:extLst>
          </p:cNvPr>
          <p:cNvSpPr/>
          <p:nvPr/>
        </p:nvSpPr>
        <p:spPr>
          <a:xfrm>
            <a:off x="7147999" y="3766066"/>
            <a:ext cx="4221845" cy="1743182"/>
          </a:xfrm>
          <a:prstGeom prst="roundRect">
            <a:avLst/>
          </a:prstGeom>
          <a:solidFill>
            <a:srgbClr val="EBF8F2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E2CB02-1494-4F54-9EB0-160D5D8DF92D}"/>
              </a:ext>
            </a:extLst>
          </p:cNvPr>
          <p:cNvSpPr txBox="1"/>
          <p:nvPr/>
        </p:nvSpPr>
        <p:spPr>
          <a:xfrm>
            <a:off x="7282880" y="3919699"/>
            <a:ext cx="3463913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altLang="ko-KR" sz="1400" b="1" dirty="0">
                <a:solidFill>
                  <a:srgbClr val="2DA477"/>
                </a:solidFill>
                <a:latin typeface="페이퍼로지 7 Bold" pitchFamily="2" charset="-127"/>
                <a:ea typeface="페이퍼로지 7 Bold" pitchFamily="2" charset="-127"/>
              </a:rPr>
              <a:t>60</a:t>
            </a:r>
            <a:r>
              <a:rPr lang="ko-KR" altLang="en-US" sz="1400" b="1" dirty="0">
                <a:solidFill>
                  <a:srgbClr val="2DA477"/>
                </a:solidFill>
                <a:latin typeface="페이퍼로지 7 Bold" pitchFamily="2" charset="-127"/>
                <a:ea typeface="페이퍼로지 7 Bold" pitchFamily="2" charset="-127"/>
              </a:rPr>
              <a:t>대 이상 </a:t>
            </a:r>
            <a:r>
              <a:rPr lang="en-US" altLang="ko-KR" sz="1400" b="1" dirty="0">
                <a:solidFill>
                  <a:srgbClr val="2DA477"/>
                </a:solidFill>
                <a:latin typeface="페이퍼로지 7 Bold" pitchFamily="2" charset="-127"/>
                <a:ea typeface="페이퍼로지 7 Bold" pitchFamily="2" charset="-127"/>
              </a:rPr>
              <a:t>| </a:t>
            </a:r>
            <a:r>
              <a:rPr lang="ko-KR" altLang="en-US" sz="1400" b="1" dirty="0">
                <a:solidFill>
                  <a:srgbClr val="2DA477"/>
                </a:solidFill>
                <a:latin typeface="페이퍼로지 7 Bold" pitchFamily="2" charset="-127"/>
                <a:ea typeface="페이퍼로지 7 Bold" pitchFamily="2" charset="-127"/>
              </a:rPr>
              <a:t>디지털 금융환경에서 확인 부담</a:t>
            </a:r>
            <a:endParaRPr sz="1400" b="1" dirty="0">
              <a:solidFill>
                <a:srgbClr val="2DA47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BEA2D67-8E54-47FE-8D07-08F60C81A623}"/>
              </a:ext>
            </a:extLst>
          </p:cNvPr>
          <p:cNvSpPr txBox="1"/>
          <p:nvPr/>
        </p:nvSpPr>
        <p:spPr>
          <a:xfrm>
            <a:off x="7282880" y="4173418"/>
            <a:ext cx="4115088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• 2024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년 </a:t>
            </a:r>
            <a:r>
              <a:rPr lang="ko-KR" altLang="en-US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고령층 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디지털 금융이해력 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30~50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대비 낮은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60</a:t>
            </a:r>
            <a:r>
              <a:rPr lang="ko-KR" altLang="en-US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대 </a:t>
            </a:r>
            <a:r>
              <a:rPr lang="en-US" altLang="ko-KR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44.8</a:t>
            </a:r>
            <a:r>
              <a:rPr lang="ko-KR" altLang="en-US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점</a:t>
            </a:r>
            <a:r>
              <a:rPr lang="en-US" altLang="ko-KR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, 70</a:t>
            </a:r>
            <a:r>
              <a:rPr lang="ko-KR" altLang="en-US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대 </a:t>
            </a:r>
            <a:r>
              <a:rPr lang="en-US" altLang="ko-KR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42.2</a:t>
            </a:r>
            <a:r>
              <a:rPr lang="ko-KR" altLang="en-US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점</a:t>
            </a:r>
            <a:br>
              <a:rPr lang="en-US" altLang="ko-KR" sz="9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</a:b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• 2023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년 </a:t>
            </a:r>
            <a:r>
              <a:rPr lang="ko-KR" altLang="en-US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고령층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 디지털 역량이 일반 국민 대비 </a:t>
            </a:r>
            <a:r>
              <a:rPr lang="en-US" altLang="ko-KR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55.3% </a:t>
            </a:r>
            <a:r>
              <a:rPr lang="ko-KR" altLang="en-US" sz="900" b="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수준</a:t>
            </a:r>
            <a:endParaRPr lang="en-US" altLang="ko-KR" sz="900" b="0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05C3BE2-5A99-47E2-A756-CD4E20293F6B}"/>
              </a:ext>
            </a:extLst>
          </p:cNvPr>
          <p:cNvSpPr txBox="1"/>
          <p:nvPr/>
        </p:nvSpPr>
        <p:spPr>
          <a:xfrm>
            <a:off x="5370279" y="3823625"/>
            <a:ext cx="14781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dirty="0">
                <a:latin typeface="페이퍼로지 7 Bold" pitchFamily="2" charset="-127"/>
                <a:ea typeface="페이퍼로지 7 Bold" pitchFamily="2" charset="-127"/>
              </a:rPr>
              <a:t>연령대별 디지털 금융이해력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3AB47CD-FD10-47C8-9185-0B34D36F77A9}"/>
              </a:ext>
            </a:extLst>
          </p:cNvPr>
          <p:cNvSpPr txBox="1"/>
          <p:nvPr/>
        </p:nvSpPr>
        <p:spPr>
          <a:xfrm>
            <a:off x="5452180" y="4063169"/>
            <a:ext cx="136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30~50</a:t>
            </a:r>
            <a:r>
              <a:rPr lang="ko-KR" altLang="en-US" sz="8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대비 낮은</a:t>
            </a:r>
            <a:endParaRPr lang="en-US" altLang="ko-KR" sz="800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en-US" altLang="ko-KR" sz="10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20</a:t>
            </a:r>
            <a:r>
              <a:rPr lang="ko-KR" altLang="en-US" sz="10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대</a:t>
            </a:r>
            <a:r>
              <a:rPr lang="en-US" altLang="ko-KR" sz="10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0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고령층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07BF2DBE-AE94-46C1-BFE6-080F10AFA3E3}"/>
              </a:ext>
            </a:extLst>
          </p:cNvPr>
          <p:cNvSpPr/>
          <p:nvPr/>
        </p:nvSpPr>
        <p:spPr>
          <a:xfrm>
            <a:off x="853024" y="4617707"/>
            <a:ext cx="3921918" cy="770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우려사항</a:t>
            </a:r>
            <a:endParaRPr lang="en-US" altLang="ko-KR" sz="900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/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• 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독립적인 경제생활을 시작하며 금융 의사결정 경험이 축적되는 단계</a:t>
            </a:r>
            <a:endParaRPr lang="en-US" altLang="ko-KR" sz="900" b="0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/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• 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금융지식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금융행동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금융태도 등 금융이해력의 개인차가 존재</a:t>
            </a:r>
            <a:endParaRPr lang="en-US" altLang="ko-KR" sz="900" b="0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/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• 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낯선 금융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수사 상황에서 정보 비대칭이 커질 수 있음</a:t>
            </a:r>
            <a:endParaRPr lang="en-US" altLang="ko-KR" sz="900" b="0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D395713-AC94-4D34-B4BC-C81467EA5241}"/>
              </a:ext>
            </a:extLst>
          </p:cNvPr>
          <p:cNvSpPr/>
          <p:nvPr/>
        </p:nvSpPr>
        <p:spPr>
          <a:xfrm>
            <a:off x="7297962" y="4617707"/>
            <a:ext cx="3921918" cy="770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우려사항</a:t>
            </a:r>
            <a:endParaRPr lang="ko-KR" altLang="en-US" sz="900" b="0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/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• 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짧은 시간에 여러 단서를 교차확인하는 데 부담이 클 수 있음
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• 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통화 중 가족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은행과의 외부 확인이 차단되기 쉬움
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• 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디지털 권한</a:t>
            </a:r>
            <a:r>
              <a:rPr lang="en-US" altLang="ko-KR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900" b="0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접근성 설정을 이용한 통제가 가능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DD08A6-97DF-47E7-BD49-7B3B87725F79}"/>
              </a:ext>
            </a:extLst>
          </p:cNvPr>
          <p:cNvGrpSpPr/>
          <p:nvPr/>
        </p:nvGrpSpPr>
        <p:grpSpPr>
          <a:xfrm>
            <a:off x="4632960" y="7127620"/>
            <a:ext cx="6822435" cy="1122185"/>
            <a:chOff x="4522373" y="4271928"/>
            <a:chExt cx="6822435" cy="11221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0AE90AD-0ED1-4E18-9718-F0A850CC9D1B}"/>
                </a:ext>
              </a:extLst>
            </p:cNvPr>
            <p:cNvGrpSpPr/>
            <p:nvPr/>
          </p:nvGrpSpPr>
          <p:grpSpPr>
            <a:xfrm>
              <a:off x="4522373" y="4535147"/>
              <a:ext cx="1490472" cy="841248"/>
              <a:chOff x="4416552" y="4618997"/>
              <a:chExt cx="1490472" cy="841248"/>
            </a:xfrm>
          </p:grpSpPr>
          <p:sp>
            <p:nvSpPr>
              <p:cNvPr id="63" name="Rounded Rectangle 62"/>
              <p:cNvSpPr/>
              <p:nvPr/>
            </p:nvSpPr>
            <p:spPr>
              <a:xfrm>
                <a:off x="4608576" y="4618997"/>
                <a:ext cx="1115568" cy="841248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9E4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40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4416552" y="4737869"/>
                <a:ext cx="1490472" cy="283154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ctr"/>
                <a:r>
                  <a:rPr sz="1600" b="1" dirty="0">
                    <a:solidFill>
                      <a:srgbClr val="2D6B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52.5%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4727448" y="5112773"/>
                <a:ext cx="868680" cy="283154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ctr"/>
                <a:r>
                  <a:rPr lang="ko-KR" altLang="en-US" sz="800" b="0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기관사칭형 피해 중</a:t>
                </a:r>
                <a:endParaRPr lang="en-US" altLang="ko-KR" sz="800" b="0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sz="800" b="0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2030 </a:t>
                </a:r>
                <a:r>
                  <a:rPr sz="800" b="0" dirty="0" err="1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비중</a:t>
                </a:r>
                <a:endParaRPr sz="800" b="0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8553661-0922-4D73-8C75-7B6C0775D901}"/>
                </a:ext>
              </a:extLst>
            </p:cNvPr>
            <p:cNvGrpSpPr/>
            <p:nvPr/>
          </p:nvGrpSpPr>
          <p:grpSpPr>
            <a:xfrm>
              <a:off x="10127645" y="4271928"/>
              <a:ext cx="1217163" cy="1122185"/>
              <a:chOff x="10113264" y="4578898"/>
              <a:chExt cx="1115568" cy="881347"/>
            </a:xfrm>
          </p:grpSpPr>
          <p:sp>
            <p:nvSpPr>
              <p:cNvPr id="69" name="Rounded Rectangle 68"/>
              <p:cNvSpPr/>
              <p:nvPr/>
            </p:nvSpPr>
            <p:spPr>
              <a:xfrm>
                <a:off x="10113264" y="4578898"/>
                <a:ext cx="1115568" cy="881347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D9E4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40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0222992" y="4704774"/>
                <a:ext cx="896112" cy="22238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ctr"/>
                <a:r>
                  <a:rPr sz="1600" b="1" dirty="0">
                    <a:solidFill>
                      <a:srgbClr val="2DA477"/>
                    </a:solidFill>
                    <a:latin typeface="페이퍼로지 7 Bold" pitchFamily="2" charset="-127"/>
                    <a:ea typeface="페이퍼로지 7 Bold" pitchFamily="2" charset="-127"/>
                  </a:rPr>
                  <a:t>33.7%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0165897" y="5028996"/>
                <a:ext cx="1010302" cy="319074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ctr"/>
                <a:r>
                  <a:rPr lang="ko-KR" altLang="en-US" sz="800" b="0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기관사칭형 피해 중</a:t>
                </a:r>
                <a:endParaRPr lang="en-US" altLang="ko-KR" sz="800" b="0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sz="800" b="0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60</a:t>
                </a:r>
                <a:r>
                  <a:rPr lang="ko-KR" altLang="en-US" sz="800" b="0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대 이상</a:t>
                </a:r>
                <a:r>
                  <a:rPr sz="800" b="0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 </a:t>
                </a:r>
                <a:r>
                  <a:rPr sz="800" b="0" dirty="0" err="1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비중</a:t>
                </a:r>
                <a:endParaRPr lang="en-US" sz="800" b="0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algn="ctr"/>
                <a:r>
                  <a:rPr lang="en-US" sz="800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(</a:t>
                </a:r>
                <a:r>
                  <a:rPr lang="ko-KR" altLang="en-US" sz="800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전년 대비 </a:t>
                </a:r>
                <a:r>
                  <a:rPr lang="en-US" sz="800" dirty="0">
                    <a:solidFill>
                      <a:srgbClr val="EE4344"/>
                    </a:solidFill>
                    <a:latin typeface="페이퍼로지 7 Bold" pitchFamily="2" charset="-127"/>
                    <a:ea typeface="페이퍼로지 7 Bold" pitchFamily="2" charset="-127"/>
                  </a:rPr>
                  <a:t>172% </a:t>
                </a:r>
                <a:r>
                  <a:rPr lang="ko-KR" altLang="en-US" sz="800" dirty="0">
                    <a:solidFill>
                      <a:srgbClr val="EE4344"/>
                    </a:solidFill>
                    <a:latin typeface="페이퍼로지 7 Bold" pitchFamily="2" charset="-127"/>
                    <a:ea typeface="페이퍼로지 7 Bold" pitchFamily="2" charset="-127"/>
                  </a:rPr>
                  <a:t>증가</a:t>
                </a:r>
                <a:r>
                  <a:rPr lang="en-US" altLang="ko-KR" sz="800" dirty="0">
                    <a:solidFill>
                      <a:srgbClr val="6A7B97"/>
                    </a:solidFill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  <a:endParaRPr sz="800" b="0" dirty="0">
                  <a:solidFill>
                    <a:srgbClr val="6A7B97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</p:grp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4D38D19-1D19-4BFB-80A4-1506CB4610CC}"/>
              </a:ext>
            </a:extLst>
          </p:cNvPr>
          <p:cNvSpPr/>
          <p:nvPr/>
        </p:nvSpPr>
        <p:spPr>
          <a:xfrm>
            <a:off x="3711067" y="4255272"/>
            <a:ext cx="1761066" cy="247793"/>
          </a:xfrm>
          <a:custGeom>
            <a:avLst/>
            <a:gdLst>
              <a:gd name="connsiteX0" fmla="*/ 0 w 1761066"/>
              <a:gd name="connsiteY0" fmla="*/ 0 h 194734"/>
              <a:gd name="connsiteX1" fmla="*/ 1761066 w 1761066"/>
              <a:gd name="connsiteY1" fmla="*/ 0 h 194734"/>
              <a:gd name="connsiteX2" fmla="*/ 1761066 w 1761066"/>
              <a:gd name="connsiteY2" fmla="*/ 194734 h 19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1066" h="194734">
                <a:moveTo>
                  <a:pt x="0" y="0"/>
                </a:moveTo>
                <a:lnTo>
                  <a:pt x="1761066" y="0"/>
                </a:lnTo>
                <a:lnTo>
                  <a:pt x="1761066" y="194734"/>
                </a:lnTo>
              </a:path>
            </a:pathLst>
          </a:custGeom>
          <a:noFill/>
          <a:ln w="12700">
            <a:solidFill>
              <a:srgbClr val="EE4344">
                <a:alpha val="5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B773563-BC61-4A11-A0BB-CCBC0B53377D}"/>
              </a:ext>
            </a:extLst>
          </p:cNvPr>
          <p:cNvGrpSpPr/>
          <p:nvPr/>
        </p:nvGrpSpPr>
        <p:grpSpPr>
          <a:xfrm>
            <a:off x="6560100" y="4262415"/>
            <a:ext cx="722779" cy="268061"/>
            <a:chOff x="6515100" y="4234632"/>
            <a:chExt cx="722779" cy="268061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0C04188-07A8-49A9-AC65-D9384980DDAA}"/>
                </a:ext>
              </a:extLst>
            </p:cNvPr>
            <p:cNvSpPr/>
            <p:nvPr/>
          </p:nvSpPr>
          <p:spPr>
            <a:xfrm flipH="1">
              <a:off x="6656423" y="4234632"/>
              <a:ext cx="581456" cy="125955"/>
            </a:xfrm>
            <a:custGeom>
              <a:avLst/>
              <a:gdLst>
                <a:gd name="connsiteX0" fmla="*/ 0 w 1761066"/>
                <a:gd name="connsiteY0" fmla="*/ 0 h 194734"/>
                <a:gd name="connsiteX1" fmla="*/ 1761066 w 1761066"/>
                <a:gd name="connsiteY1" fmla="*/ 0 h 194734"/>
                <a:gd name="connsiteX2" fmla="*/ 1761066 w 1761066"/>
                <a:gd name="connsiteY2" fmla="*/ 194734 h 19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61066" h="194734">
                  <a:moveTo>
                    <a:pt x="0" y="0"/>
                  </a:moveTo>
                  <a:lnTo>
                    <a:pt x="1761066" y="0"/>
                  </a:lnTo>
                  <a:lnTo>
                    <a:pt x="1761066" y="194734"/>
                  </a:lnTo>
                </a:path>
              </a:pathLst>
            </a:custGeom>
            <a:noFill/>
            <a:ln w="12700">
              <a:solidFill>
                <a:srgbClr val="EE4344">
                  <a:alpha val="50000"/>
                </a:srgb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F4BB3BA-CDCF-458B-AD0D-9F9096912DEF}"/>
                </a:ext>
              </a:extLst>
            </p:cNvPr>
            <p:cNvSpPr/>
            <p:nvPr/>
          </p:nvSpPr>
          <p:spPr>
            <a:xfrm>
              <a:off x="6515100" y="4376738"/>
              <a:ext cx="280988" cy="125955"/>
            </a:xfrm>
            <a:custGeom>
              <a:avLst/>
              <a:gdLst>
                <a:gd name="connsiteX0" fmla="*/ 0 w 280988"/>
                <a:gd name="connsiteY0" fmla="*/ 104775 h 128587"/>
                <a:gd name="connsiteX1" fmla="*/ 0 w 280988"/>
                <a:gd name="connsiteY1" fmla="*/ 104775 h 128587"/>
                <a:gd name="connsiteX2" fmla="*/ 0 w 280988"/>
                <a:gd name="connsiteY2" fmla="*/ 0 h 128587"/>
                <a:gd name="connsiteX3" fmla="*/ 0 w 280988"/>
                <a:gd name="connsiteY3" fmla="*/ 0 h 128587"/>
                <a:gd name="connsiteX4" fmla="*/ 280988 w 280988"/>
                <a:gd name="connsiteY4" fmla="*/ 0 h 128587"/>
                <a:gd name="connsiteX5" fmla="*/ 280988 w 280988"/>
                <a:gd name="connsiteY5" fmla="*/ 128587 h 12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0988" h="128587">
                  <a:moveTo>
                    <a:pt x="0" y="104775"/>
                  </a:moveTo>
                  <a:lnTo>
                    <a:pt x="0" y="104775"/>
                  </a:lnTo>
                  <a:lnTo>
                    <a:pt x="0" y="0"/>
                  </a:lnTo>
                  <a:lnTo>
                    <a:pt x="0" y="0"/>
                  </a:lnTo>
                  <a:lnTo>
                    <a:pt x="280988" y="0"/>
                  </a:lnTo>
                  <a:lnTo>
                    <a:pt x="280988" y="128587"/>
                  </a:lnTo>
                </a:path>
              </a:pathLst>
            </a:custGeom>
            <a:noFill/>
            <a:ln w="12700">
              <a:solidFill>
                <a:srgbClr val="EE4344">
                  <a:alpha val="50000"/>
                </a:srgb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9871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479928D0-11FE-49DB-B193-8EF4A4A0B47D}"/>
              </a:ext>
            </a:extLst>
          </p:cNvPr>
          <p:cNvSpPr txBox="1"/>
          <p:nvPr/>
        </p:nvSpPr>
        <p:spPr>
          <a:xfrm>
            <a:off x="548640" y="228600"/>
            <a:ext cx="548640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근거 분석 ②</a:t>
            </a:r>
            <a:r>
              <a:rPr lang="en-US" altLang="ko-KR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보이스피싱 환경 속</a:t>
            </a:r>
            <a:r>
              <a:rPr lang="en-US" altLang="ko-KR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950" dirty="0">
                <a:solidFill>
                  <a:srgbClr val="2D6BFF"/>
                </a:solidFill>
                <a:latin typeface="페이퍼로지 4 Regular" pitchFamily="2" charset="-127"/>
                <a:ea typeface="페이퍼로지 4 Regular" pitchFamily="2" charset="-127"/>
              </a:rPr>
              <a:t>터널효과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55818"/>
            <a:ext cx="1074420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공포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권위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시간압박이 겹치면</a:t>
            </a:r>
            <a:r>
              <a:rPr lang="en-US" altLang="ko-KR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, ‘</a:t>
            </a:r>
            <a:r>
              <a:rPr lang="ko-KR" altLang="en-US" sz="2400" b="1" dirty="0">
                <a:solidFill>
                  <a:srgbClr val="102D52"/>
                </a:solidFill>
                <a:latin typeface="페이퍼로지 7 Bold" pitchFamily="2" charset="-127"/>
                <a:ea typeface="페이퍼로지 7 Bold" pitchFamily="2" charset="-127"/>
              </a:rPr>
              <a:t>확인’보다 ‘즉시 행동’이 앞선다</a:t>
            </a:r>
            <a:endParaRPr sz="24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947722"/>
            <a:ext cx="10744200" cy="2523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기관사칭형 보이스피싱은 공신력과 긴급성을 이용해 피해자의 판단을 압박한다</a:t>
            </a:r>
            <a:endParaRPr lang="en-US" altLang="ko-KR" sz="14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>
                <a:solidFill>
                  <a:srgbClr val="6A7B97"/>
                </a:solidFill>
                <a:latin typeface="Malgun Gothic"/>
              </a:rPr>
              <a:t>출처: 시간압박 피싱 실험(472명) · 권위 단서 연구 · 사용자 제공 문헌 종합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64808"/>
            <a:ext cx="32004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00" b="0">
                <a:solidFill>
                  <a:srgbClr val="6A7B97"/>
                </a:solidFill>
                <a:latin typeface="Malgun Gothic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60020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8" y="1810512"/>
            <a:ext cx="658368" cy="228600"/>
          </a:xfrm>
          <a:prstGeom prst="roundRect">
            <a:avLst/>
          </a:prstGeom>
          <a:solidFill>
            <a:srgbClr val="EBF3FF"/>
          </a:solidFill>
          <a:ln w="6350"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850" b="1">
                <a:solidFill>
                  <a:srgbClr val="2D6BFF"/>
                </a:solidFill>
                <a:latin typeface="Malgun Gothic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764792"/>
            <a:ext cx="1920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dirty="0" err="1">
                <a:solidFill>
                  <a:srgbClr val="2D6BFF"/>
                </a:solidFill>
                <a:latin typeface="Malgun Gothic"/>
              </a:rPr>
              <a:t>감정적</a:t>
            </a:r>
            <a:r>
              <a:rPr sz="1500" b="1" dirty="0">
                <a:solidFill>
                  <a:srgbClr val="2D6BFF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2D6BFF"/>
                </a:solidFill>
                <a:latin typeface="Malgun Gothic"/>
              </a:rPr>
              <a:t>각성</a:t>
            </a:r>
            <a:endParaRPr sz="1500" b="1" dirty="0">
              <a:solidFill>
                <a:srgbClr val="2D6BFF"/>
              </a:solidFill>
              <a:latin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2212848"/>
            <a:ext cx="4572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02D52"/>
                </a:solidFill>
                <a:latin typeface="Malgun Gothic"/>
              </a:rPr>
              <a:t>불안·공포는 “확인”보다 “즉시 행동”을 우선하게 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78608"/>
            <a:ext cx="457200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4D5E78"/>
                </a:solidFill>
                <a:latin typeface="Malgun Gothic"/>
              </a:rPr>
              <a:t>• 정보 진위보다 지시 수행에 집중
• 의심이 생겨도 통화를 계속함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600200"/>
            <a:ext cx="5413248" cy="150876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AD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64224" y="1810512"/>
            <a:ext cx="658368" cy="228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850" b="1">
                <a:solidFill>
                  <a:srgbClr val="EB9B1A"/>
                </a:solidFill>
                <a:latin typeface="Malgun Gothic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1764792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EB9B1A"/>
                </a:solidFill>
                <a:latin typeface="Malgun Gothic"/>
              </a:rPr>
              <a:t>권위 + 시간압박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212848"/>
            <a:ext cx="46634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02D52"/>
                </a:solidFill>
                <a:latin typeface="Malgun Gothic"/>
              </a:rPr>
              <a:t>공식기관 단서와 촉박한 시간은 대안 검토를 제한합니다.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578608"/>
            <a:ext cx="46634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4D5E78"/>
                </a:solidFill>
                <a:latin typeface="Malgun Gothic"/>
              </a:rPr>
              <a:t>• 범죄자의 설명이 유일한 현실처럼 느껴짐
• 외부 확인보다 지시 수행으로 이동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10128"/>
            <a:ext cx="27432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기관사칭형 보이스피싱의 심리적 압박 구조</a:t>
            </a:r>
            <a:endParaRPr sz="12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86384" y="3675887"/>
            <a:ext cx="1627632" cy="749808"/>
          </a:xfrm>
          <a:prstGeom prst="roundRect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767328"/>
            <a:ext cx="1517904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권위 단서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5456" y="3840480"/>
            <a:ext cx="34747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5599FF"/>
                </a:solidFill>
                <a:latin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99232" y="3675887"/>
            <a:ext cx="1627632" cy="749808"/>
          </a:xfrm>
          <a:prstGeom prst="roundRect">
            <a:avLst/>
          </a:prstGeom>
          <a:solidFill>
            <a:srgbClr val="EE4344"/>
          </a:solidFill>
          <a:ln>
            <a:solidFill>
              <a:srgbClr val="EE4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54096" y="3767328"/>
            <a:ext cx="1517904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공포·긴급성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304" y="3840480"/>
            <a:ext cx="34747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5599FF"/>
                </a:solidFill>
                <a:latin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3675887"/>
            <a:ext cx="1627632" cy="749808"/>
          </a:xfrm>
          <a:prstGeom prst="roundRect">
            <a:avLst/>
          </a:prstGeom>
          <a:solidFill>
            <a:srgbClr val="EB9B1A"/>
          </a:solidFill>
          <a:ln>
            <a:solidFill>
              <a:srgbClr val="EB9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66944" y="3767328"/>
            <a:ext cx="1517904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외부 확인 감소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840480"/>
            <a:ext cx="34747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5599FF"/>
                </a:solidFill>
                <a:latin typeface="Malgun Gothi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24927" y="3675887"/>
            <a:ext cx="1627632" cy="749808"/>
          </a:xfrm>
          <a:prstGeom prst="roundRect">
            <a:avLst/>
          </a:prstGeom>
          <a:solidFill>
            <a:srgbClr val="7456C4"/>
          </a:solidFill>
          <a:ln>
            <a:solidFill>
              <a:srgbClr val="74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79792" y="3767328"/>
            <a:ext cx="1517904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같은 지시 반복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840480"/>
            <a:ext cx="34747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5599FF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37776" y="3675887"/>
            <a:ext cx="1627632" cy="749808"/>
          </a:xfrm>
          <a:prstGeom prst="roundRect">
            <a:avLst/>
          </a:prstGeom>
          <a:solidFill>
            <a:srgbClr val="102D52"/>
          </a:solidFill>
          <a:ln>
            <a:solidFill>
              <a:srgbClr val="10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2640" y="3767328"/>
            <a:ext cx="1517904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송금·앱 설치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773168"/>
            <a:ext cx="3328416" cy="694944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7552" y="4892040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2D6BFF"/>
                </a:solidFill>
                <a:latin typeface="Malgun Gothic"/>
              </a:rPr>
              <a:t>검증 터널링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138928"/>
            <a:ext cx="28346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>
                <a:solidFill>
                  <a:srgbClr val="102D52"/>
                </a:solidFill>
                <a:latin typeface="Malgun Gothic"/>
              </a:rPr>
              <a:t>확인 가능한 정보가 범죄자의 설명으로 축소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25696" y="4773168"/>
            <a:ext cx="3328416" cy="694944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AD2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90288" y="4892040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EB9B1A"/>
                </a:solidFill>
                <a:latin typeface="Malgun Gothic"/>
              </a:rPr>
              <a:t>472명 피싱 실험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5138928"/>
            <a:ext cx="28346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>
                <a:solidFill>
                  <a:srgbClr val="102D52"/>
                </a:solidFill>
                <a:latin typeface="Malgun Gothic"/>
              </a:rPr>
              <a:t>시간압박이 탐지 정확도를 유의하게 낮춤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28431" y="4773168"/>
            <a:ext cx="3328416" cy="694944"/>
          </a:xfrm>
          <a:prstGeom prst="roundRect">
            <a:avLst/>
          </a:prstGeom>
          <a:solidFill>
            <a:srgbClr val="FFF1F0"/>
          </a:solidFill>
          <a:ln w="12700">
            <a:solidFill>
              <a:srgbClr val="FFC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93024" y="4892040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EE4344"/>
                </a:solidFill>
                <a:latin typeface="Malgun Gothic"/>
              </a:rPr>
              <a:t>권위 단서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5138928"/>
            <a:ext cx="28346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>
                <a:solidFill>
                  <a:srgbClr val="102D52"/>
                </a:solidFill>
                <a:latin typeface="Malgun Gothic"/>
              </a:rPr>
              <a:t>진짜 기관과 사기 메시지의 구별을 어렵게 함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FC3F2F-AB05-4148-9704-F8C8BB2F4822}"/>
              </a:ext>
            </a:extLst>
          </p:cNvPr>
          <p:cNvSpPr txBox="1"/>
          <p:nvPr/>
        </p:nvSpPr>
        <p:spPr>
          <a:xfrm>
            <a:off x="195654" y="-2048950"/>
            <a:ext cx="6103256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ko-KR" sz="900" b="1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그리고 별도의 공통 취약성</a:t>
            </a:r>
            <a:endParaRPr lang="ko-KR" altLang="ko-KR" dirty="0">
              <a:effectLst/>
            </a:endParaRP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ko-KR" sz="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오른쪽이나 다음 페이지에서:</a:t>
            </a:r>
            <a:endParaRPr lang="ko-KR" altLang="ko-KR" dirty="0">
              <a:effectLst/>
            </a:endParaRP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ko-KR" sz="1800" b="1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전 연령 공통 | 낯선 수사절차와 권위에 대한 정보 비대칭</a:t>
            </a:r>
            <a:endParaRPr lang="ko-KR" altLang="ko-KR" dirty="0">
              <a:effectLst/>
            </a:endParaRP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ko-KR" sz="1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• 검찰·경찰 등 공신력 있는 기관을 사칭</a:t>
            </a:r>
            <a:br>
              <a:rPr lang="ko-KR" altLang="ko-KR" sz="1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br>
            <a:r>
              <a:rPr lang="ko-KR" altLang="ko-KR" sz="1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• 사건번호·영장·공문 등으로 실제 수사처럼 연출</a:t>
            </a:r>
            <a:br>
              <a:rPr lang="ko-KR" altLang="ko-KR" sz="1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br>
            <a:r>
              <a:rPr lang="ko-KR" altLang="ko-KR" sz="1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• 피해자가 즉시 사실관계를 검증하기 어려운 상황을 조성</a:t>
            </a:r>
            <a:endParaRPr lang="ko-KR" altLang="ko-KR" dirty="0">
              <a:effectLst/>
            </a:endParaRP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ko-KR" altLang="ko-KR" sz="1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이건 </a:t>
            </a:r>
            <a:r>
              <a:rPr lang="ko-KR" altLang="ko-KR" sz="1800" b="1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20대만의 문제가 아니라 보이스피싱의 공격전략</a:t>
            </a:r>
            <a:r>
              <a:rPr lang="ko-KR" altLang="ko-KR" sz="18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으로 분리.</a:t>
            </a:r>
            <a:endParaRPr lang="ko-KR" altLang="ko-KR" dirty="0">
              <a:effectLst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09425E6-45C2-4E32-A320-9A41ECD93128}"/>
              </a:ext>
            </a:extLst>
          </p:cNvPr>
          <p:cNvSpPr txBox="1"/>
          <p:nvPr/>
        </p:nvSpPr>
        <p:spPr>
          <a:xfrm>
            <a:off x="640080" y="1352239"/>
            <a:ext cx="27432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</a:rPr>
              <a:t>기관사칭형 보이스피싱의 심리적 압박 구조</a:t>
            </a:r>
            <a:endParaRPr sz="1200" b="1" dirty="0">
              <a:solidFill>
                <a:srgbClr val="102D5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891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9C095D92-45B6-4993-973C-3E20269E5924}"/>
              </a:ext>
            </a:extLst>
          </p:cNvPr>
          <p:cNvSpPr txBox="1"/>
          <p:nvPr/>
        </p:nvSpPr>
        <p:spPr>
          <a:xfrm>
            <a:off x="594360" y="274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6FEB"/>
                </a:solidFill>
              </a:rPr>
              <a:t>근거 분석 ④ · 심리적 통제 구조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F92AF0-E60C-41BF-A935-0515902E47D5}"/>
              </a:ext>
            </a:extLst>
          </p:cNvPr>
          <p:cNvSpPr txBox="1"/>
          <p:nvPr/>
        </p:nvSpPr>
        <p:spPr>
          <a:xfrm>
            <a:off x="594360" y="62179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123056"/>
                </a:solidFill>
              </a:rPr>
              <a:t>기관사칭형</a:t>
            </a:r>
            <a:r>
              <a:rPr sz="2000" b="1" dirty="0">
                <a:solidFill>
                  <a:srgbClr val="123056"/>
                </a:solidFill>
              </a:rPr>
              <a:t> </a:t>
            </a:r>
            <a:r>
              <a:rPr sz="2000" b="1" dirty="0" err="1">
                <a:solidFill>
                  <a:srgbClr val="123056"/>
                </a:solidFill>
              </a:rPr>
              <a:t>보이스피싱은</a:t>
            </a:r>
            <a:r>
              <a:rPr sz="2000" b="1" dirty="0">
                <a:solidFill>
                  <a:srgbClr val="123056"/>
                </a:solidFill>
              </a:rPr>
              <a:t> ‘</a:t>
            </a:r>
            <a:r>
              <a:rPr sz="2000" b="1" dirty="0" err="1">
                <a:solidFill>
                  <a:srgbClr val="123056"/>
                </a:solidFill>
              </a:rPr>
              <a:t>신뢰·권위</a:t>
            </a:r>
            <a:r>
              <a:rPr sz="2000" b="1" dirty="0">
                <a:solidFill>
                  <a:srgbClr val="123056"/>
                </a:solidFill>
              </a:rPr>
              <a:t> → </a:t>
            </a:r>
            <a:r>
              <a:rPr sz="2000" b="1" dirty="0" err="1">
                <a:solidFill>
                  <a:srgbClr val="123056"/>
                </a:solidFill>
              </a:rPr>
              <a:t>공포</a:t>
            </a:r>
            <a:r>
              <a:rPr sz="2000" b="1" dirty="0">
                <a:solidFill>
                  <a:srgbClr val="123056"/>
                </a:solidFill>
              </a:rPr>
              <a:t> → </a:t>
            </a:r>
            <a:r>
              <a:rPr sz="2000" b="1" dirty="0" err="1">
                <a:solidFill>
                  <a:srgbClr val="123056"/>
                </a:solidFill>
              </a:rPr>
              <a:t>고립’으로</a:t>
            </a:r>
            <a:r>
              <a:rPr sz="2000" b="1" dirty="0">
                <a:solidFill>
                  <a:srgbClr val="123056"/>
                </a:solidFill>
              </a:rPr>
              <a:t> </a:t>
            </a:r>
            <a:r>
              <a:rPr sz="2000" b="1" dirty="0" err="1">
                <a:solidFill>
                  <a:srgbClr val="123056"/>
                </a:solidFill>
              </a:rPr>
              <a:t>판단환경을</a:t>
            </a:r>
            <a:r>
              <a:rPr sz="2000" b="1" dirty="0">
                <a:solidFill>
                  <a:srgbClr val="123056"/>
                </a:solidFill>
              </a:rPr>
              <a:t> </a:t>
            </a:r>
            <a:r>
              <a:rPr sz="2000" b="1" dirty="0" err="1">
                <a:solidFill>
                  <a:srgbClr val="123056"/>
                </a:solidFill>
              </a:rPr>
              <a:t>통제합니다</a:t>
            </a:r>
            <a:endParaRPr sz="2000" b="1" dirty="0">
              <a:solidFill>
                <a:srgbClr val="123056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17BCC9-CBC4-49F4-AC44-FA0FAD6411C1}"/>
              </a:ext>
            </a:extLst>
          </p:cNvPr>
          <p:cNvSpPr txBox="1"/>
          <p:nvPr/>
        </p:nvSpPr>
        <p:spPr>
          <a:xfrm>
            <a:off x="594360" y="11247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8094"/>
                </a:solidFill>
              </a:rPr>
              <a:t>실제 통화와 기관사칭 스크립트 연구에서 확인된 단계적 구조만으로 정리했습니다.</a:t>
            </a:r>
          </a:p>
        </p:txBody>
      </p: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CA02017C-7404-4264-8A09-69AD008C6C5B}"/>
              </a:ext>
            </a:extLst>
          </p:cNvPr>
          <p:cNvSpPr/>
          <p:nvPr/>
        </p:nvSpPr>
        <p:spPr>
          <a:xfrm>
            <a:off x="594360" y="182880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9BD1E3-F38B-4046-8014-60DDD91341F0}"/>
              </a:ext>
            </a:extLst>
          </p:cNvPr>
          <p:cNvSpPr txBox="1"/>
          <p:nvPr/>
        </p:nvSpPr>
        <p:spPr>
          <a:xfrm>
            <a:off x="740664" y="197510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6FEB"/>
                </a:solidFill>
              </a:rPr>
              <a:t>01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4F1466-DB46-42F3-8390-EFE9B4AA02B2}"/>
              </a:ext>
            </a:extLst>
          </p:cNvPr>
          <p:cNvSpPr txBox="1"/>
          <p:nvPr/>
        </p:nvSpPr>
        <p:spPr>
          <a:xfrm>
            <a:off x="740664" y="228600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6FEB"/>
                </a:solidFill>
              </a:rPr>
              <a:t>신뢰·권위 형성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E85616-B231-4C67-ABBB-9C53C9315CA0}"/>
              </a:ext>
            </a:extLst>
          </p:cNvPr>
          <p:cNvSpPr txBox="1"/>
          <p:nvPr/>
        </p:nvSpPr>
        <p:spPr>
          <a:xfrm>
            <a:off x="740664" y="2697480"/>
            <a:ext cx="16824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D41"/>
                </a:solidFill>
              </a:rPr>
              <a:t>검찰·경찰 등 기관의 권위를 이용해 상대 설명을 신뢰하게 만듦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393D52-FF24-46ED-B19B-98791CCE93AC}"/>
              </a:ext>
            </a:extLst>
          </p:cNvPr>
          <p:cNvSpPr txBox="1"/>
          <p:nvPr/>
        </p:nvSpPr>
        <p:spPr>
          <a:xfrm>
            <a:off x="2587752" y="249631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6FEB"/>
                </a:solidFill>
              </a:rPr>
              <a:t>→</a:t>
            </a:r>
          </a:p>
        </p:txBody>
      </p:sp>
      <p:sp>
        <p:nvSpPr>
          <p:cNvPr id="49" name="Rounded Rectangle 9">
            <a:extLst>
              <a:ext uri="{FF2B5EF4-FFF2-40B4-BE49-F238E27FC236}">
                <a16:creationId xmlns:a16="http://schemas.microsoft.com/office/drawing/2014/main" id="{53C2FB69-4987-4351-BD19-FEAEB6595E41}"/>
              </a:ext>
            </a:extLst>
          </p:cNvPr>
          <p:cNvSpPr/>
          <p:nvPr/>
        </p:nvSpPr>
        <p:spPr>
          <a:xfrm>
            <a:off x="2852928" y="182880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9BBEAF-C1AC-4086-BF04-CD24EAA473FB}"/>
              </a:ext>
            </a:extLst>
          </p:cNvPr>
          <p:cNvSpPr txBox="1"/>
          <p:nvPr/>
        </p:nvSpPr>
        <p:spPr>
          <a:xfrm>
            <a:off x="2999232" y="197510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24848"/>
                </a:solidFill>
              </a:rPr>
              <a:t>02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8E4D8B-8556-4543-8A6B-EBAB4951CFC1}"/>
              </a:ext>
            </a:extLst>
          </p:cNvPr>
          <p:cNvSpPr txBox="1"/>
          <p:nvPr/>
        </p:nvSpPr>
        <p:spPr>
          <a:xfrm>
            <a:off x="2999232" y="228600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4848"/>
                </a:solidFill>
              </a:rPr>
              <a:t>공포·위협 강화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712C56-F9BC-4255-A69F-249B30DD243D}"/>
              </a:ext>
            </a:extLst>
          </p:cNvPr>
          <p:cNvSpPr txBox="1"/>
          <p:nvPr/>
        </p:nvSpPr>
        <p:spPr>
          <a:xfrm>
            <a:off x="2999232" y="2697480"/>
            <a:ext cx="16824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D41"/>
                </a:solidFill>
              </a:rPr>
              <a:t>범죄 연루·체포 등 위협을 제시해 심리적 압박을 강화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8379E0-7D73-4A30-A8C2-3417EE007179}"/>
              </a:ext>
            </a:extLst>
          </p:cNvPr>
          <p:cNvSpPr txBox="1"/>
          <p:nvPr/>
        </p:nvSpPr>
        <p:spPr>
          <a:xfrm>
            <a:off x="4846320" y="249631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6FEB"/>
                </a:solidFill>
              </a:rPr>
              <a:t>→</a:t>
            </a:r>
          </a:p>
        </p:txBody>
      </p:sp>
      <p:sp>
        <p:nvSpPr>
          <p:cNvPr id="54" name="Rounded Rectangle 14">
            <a:extLst>
              <a:ext uri="{FF2B5EF4-FFF2-40B4-BE49-F238E27FC236}">
                <a16:creationId xmlns:a16="http://schemas.microsoft.com/office/drawing/2014/main" id="{8C75C703-14E2-49A8-9294-D72732A2F36D}"/>
              </a:ext>
            </a:extLst>
          </p:cNvPr>
          <p:cNvSpPr/>
          <p:nvPr/>
        </p:nvSpPr>
        <p:spPr>
          <a:xfrm>
            <a:off x="5111496" y="182880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9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628A5C-EE46-42E7-B5F1-595CED7A094F}"/>
              </a:ext>
            </a:extLst>
          </p:cNvPr>
          <p:cNvSpPr txBox="1"/>
          <p:nvPr/>
        </p:nvSpPr>
        <p:spPr>
          <a:xfrm>
            <a:off x="5257800" y="197510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E9918"/>
                </a:solidFill>
              </a:rPr>
              <a:t>03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C712A7-0BB5-4B03-9F63-5ECB481D7126}"/>
              </a:ext>
            </a:extLst>
          </p:cNvPr>
          <p:cNvSpPr txBox="1"/>
          <p:nvPr/>
        </p:nvSpPr>
        <p:spPr>
          <a:xfrm>
            <a:off x="5257800" y="228600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E9918"/>
                </a:solidFill>
              </a:rPr>
              <a:t>고립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F0D3B2-37D2-4021-8F40-9DFFBC829245}"/>
              </a:ext>
            </a:extLst>
          </p:cNvPr>
          <p:cNvSpPr txBox="1"/>
          <p:nvPr/>
        </p:nvSpPr>
        <p:spPr>
          <a:xfrm>
            <a:off x="5257800" y="2697480"/>
            <a:ext cx="16824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D41"/>
                </a:solidFill>
              </a:rPr>
              <a:t>가족·외부와의 접촉을 제한하며 사회적·물리적 고립을 유도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DF8A9C-D880-4DB0-B8AF-1D5EA24DD939}"/>
              </a:ext>
            </a:extLst>
          </p:cNvPr>
          <p:cNvSpPr txBox="1"/>
          <p:nvPr/>
        </p:nvSpPr>
        <p:spPr>
          <a:xfrm>
            <a:off x="7104888" y="249631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6FEB"/>
                </a:solidFill>
              </a:rPr>
              <a:t>→</a:t>
            </a:r>
          </a:p>
        </p:txBody>
      </p:sp>
      <p:sp>
        <p:nvSpPr>
          <p:cNvPr id="59" name="Rounded Rectangle 19">
            <a:extLst>
              <a:ext uri="{FF2B5EF4-FFF2-40B4-BE49-F238E27FC236}">
                <a16:creationId xmlns:a16="http://schemas.microsoft.com/office/drawing/2014/main" id="{9A0DC7D7-905A-4D62-9CFA-34FB04906C8E}"/>
              </a:ext>
            </a:extLst>
          </p:cNvPr>
          <p:cNvSpPr/>
          <p:nvPr/>
        </p:nvSpPr>
        <p:spPr>
          <a:xfrm>
            <a:off x="7370064" y="182880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8AFF50-9B6A-4916-8027-4D9E90AF4995}"/>
              </a:ext>
            </a:extLst>
          </p:cNvPr>
          <p:cNvSpPr txBox="1"/>
          <p:nvPr/>
        </p:nvSpPr>
        <p:spPr>
          <a:xfrm>
            <a:off x="7516368" y="197510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453BE"/>
                </a:solidFill>
              </a:rPr>
              <a:t>04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C67F7C-9F45-4BAE-BA3A-D8CC472FEF14}"/>
              </a:ext>
            </a:extLst>
          </p:cNvPr>
          <p:cNvSpPr txBox="1"/>
          <p:nvPr/>
        </p:nvSpPr>
        <p:spPr>
          <a:xfrm>
            <a:off x="7516368" y="228600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453BE"/>
                </a:solidFill>
              </a:rPr>
              <a:t>판단환경 약화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E54B9C-6CC9-4B72-A071-513D3C8289B5}"/>
              </a:ext>
            </a:extLst>
          </p:cNvPr>
          <p:cNvSpPr txBox="1"/>
          <p:nvPr/>
        </p:nvSpPr>
        <p:spPr>
          <a:xfrm>
            <a:off x="7516368" y="2697480"/>
            <a:ext cx="16824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D41"/>
                </a:solidFill>
              </a:rPr>
              <a:t>고립과 통제를 통해 자기통제를 약화시키는 과정으로 연결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D51CC5-5E87-4446-9907-151E301EC19D}"/>
              </a:ext>
            </a:extLst>
          </p:cNvPr>
          <p:cNvSpPr txBox="1"/>
          <p:nvPr/>
        </p:nvSpPr>
        <p:spPr>
          <a:xfrm>
            <a:off x="9363456" y="249631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6FEB"/>
                </a:solidFill>
              </a:rPr>
              <a:t>→</a:t>
            </a:r>
          </a:p>
        </p:txBody>
      </p:sp>
      <p:sp>
        <p:nvSpPr>
          <p:cNvPr id="64" name="Rounded Rectangle 24">
            <a:extLst>
              <a:ext uri="{FF2B5EF4-FFF2-40B4-BE49-F238E27FC236}">
                <a16:creationId xmlns:a16="http://schemas.microsoft.com/office/drawing/2014/main" id="{774377EA-B136-4D26-BCA6-3245A5728270}"/>
              </a:ext>
            </a:extLst>
          </p:cNvPr>
          <p:cNvSpPr/>
          <p:nvPr/>
        </p:nvSpPr>
        <p:spPr>
          <a:xfrm>
            <a:off x="9628632" y="182880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0737C53-F390-4E19-90E3-8636036186FD}"/>
              </a:ext>
            </a:extLst>
          </p:cNvPr>
          <p:cNvSpPr txBox="1"/>
          <p:nvPr/>
        </p:nvSpPr>
        <p:spPr>
          <a:xfrm>
            <a:off x="9774936" y="197510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23056"/>
                </a:solidFill>
              </a:rPr>
              <a:t>05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A2D331-4C6A-449E-B121-F93BE7727A4A}"/>
              </a:ext>
            </a:extLst>
          </p:cNvPr>
          <p:cNvSpPr txBox="1"/>
          <p:nvPr/>
        </p:nvSpPr>
        <p:spPr>
          <a:xfrm>
            <a:off x="9774936" y="228600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3056"/>
                </a:solidFill>
              </a:rPr>
              <a:t>금융행동 유도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239130E-F853-4EED-B7C0-4551D7449B81}"/>
              </a:ext>
            </a:extLst>
          </p:cNvPr>
          <p:cNvSpPr txBox="1"/>
          <p:nvPr/>
        </p:nvSpPr>
        <p:spPr>
          <a:xfrm>
            <a:off x="9774936" y="2697480"/>
            <a:ext cx="16824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02D41"/>
                </a:solidFill>
              </a:rPr>
              <a:t>인출·송금 등 구체적인 금융행동으로 이어짐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F809B4A-719F-440C-B9AB-B1113534E331}"/>
              </a:ext>
            </a:extLst>
          </p:cNvPr>
          <p:cNvSpPr txBox="1"/>
          <p:nvPr/>
        </p:nvSpPr>
        <p:spPr>
          <a:xfrm>
            <a:off x="59436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3056"/>
                </a:solidFill>
              </a:rPr>
              <a:t>연구에서 직접 확인된 구조</a:t>
            </a:r>
          </a:p>
        </p:txBody>
      </p:sp>
      <p:sp>
        <p:nvSpPr>
          <p:cNvPr id="69" name="Rounded Rectangle 29">
            <a:extLst>
              <a:ext uri="{FF2B5EF4-FFF2-40B4-BE49-F238E27FC236}">
                <a16:creationId xmlns:a16="http://schemas.microsoft.com/office/drawing/2014/main" id="{C0E3B8CB-5BC7-4A76-B660-C7502A546BD8}"/>
              </a:ext>
            </a:extLst>
          </p:cNvPr>
          <p:cNvSpPr/>
          <p:nvPr/>
        </p:nvSpPr>
        <p:spPr>
          <a:xfrm>
            <a:off x="594360" y="4443984"/>
            <a:ext cx="5394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22AA17-1FA2-48B2-A24B-EF4934BCE2AC}"/>
              </a:ext>
            </a:extLst>
          </p:cNvPr>
          <p:cNvSpPr txBox="1"/>
          <p:nvPr/>
        </p:nvSpPr>
        <p:spPr>
          <a:xfrm>
            <a:off x="795528" y="460857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6FEB"/>
                </a:solidFill>
              </a:rPr>
              <a:t>실제 통화 분석 · 배승희·최민경·이혜용(2023)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2C734D-B888-4EAA-8F4D-5BD27E1F50E1}"/>
              </a:ext>
            </a:extLst>
          </p:cNvPr>
          <p:cNvSpPr txBox="1"/>
          <p:nvPr/>
        </p:nvSpPr>
        <p:spPr>
          <a:xfrm>
            <a:off x="795528" y="4919472"/>
            <a:ext cx="4892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2D41"/>
                </a:solidFill>
              </a:rPr>
              <a:t>접근 → 범죄 연루 위협 → 사회적 고립 → 수직관계 강화 → 인출 유도 → 인출 확인</a:t>
            </a:r>
          </a:p>
        </p:txBody>
      </p:sp>
      <p:sp>
        <p:nvSpPr>
          <p:cNvPr id="72" name="Rounded Rectangle 32">
            <a:extLst>
              <a:ext uri="{FF2B5EF4-FFF2-40B4-BE49-F238E27FC236}">
                <a16:creationId xmlns:a16="http://schemas.microsoft.com/office/drawing/2014/main" id="{47A5F026-FF1E-41BB-89F9-21A07B9E4A72}"/>
              </a:ext>
            </a:extLst>
          </p:cNvPr>
          <p:cNvSpPr/>
          <p:nvPr/>
        </p:nvSpPr>
        <p:spPr>
          <a:xfrm>
            <a:off x="6199632" y="4443984"/>
            <a:ext cx="5394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0AE686-BCF7-4191-94B4-D15A27272291}"/>
              </a:ext>
            </a:extLst>
          </p:cNvPr>
          <p:cNvSpPr txBox="1"/>
          <p:nvPr/>
        </p:nvSpPr>
        <p:spPr>
          <a:xfrm>
            <a:off x="6400800" y="460857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4848"/>
                </a:solidFill>
              </a:rPr>
              <a:t>스크립트 분석 · 이영은·서준배(2024)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47B646-CDD2-4564-A22C-BF687A099400}"/>
              </a:ext>
            </a:extLst>
          </p:cNvPr>
          <p:cNvSpPr txBox="1"/>
          <p:nvPr/>
        </p:nvSpPr>
        <p:spPr>
          <a:xfrm>
            <a:off x="6400800" y="4919472"/>
            <a:ext cx="4892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2D41"/>
                </a:solidFill>
              </a:rPr>
              <a:t>신뢰·권위 → 공포 강화 → 정신·물리적 고립 → 자기통제 부족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B41F31-B429-49F7-AD21-32543788FDB7}"/>
              </a:ext>
            </a:extLst>
          </p:cNvPr>
          <p:cNvSpPr txBox="1"/>
          <p:nvPr/>
        </p:nvSpPr>
        <p:spPr>
          <a:xfrm>
            <a:off x="594360" y="6565392"/>
            <a:ext cx="10881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708094"/>
                </a:solidFill>
              </a:rPr>
              <a:t>출처: 배승희·최민경·이혜용(2023) / 이영은·서준배(2024) · 원본 PPT의 연구 근거 및 표현 기준으로 재구성</a:t>
            </a:r>
          </a:p>
        </p:txBody>
      </p:sp>
    </p:spTree>
    <p:extLst>
      <p:ext uri="{BB962C8B-B14F-4D97-AF65-F5344CB8AC3E}">
        <p14:creationId xmlns:p14="http://schemas.microsoft.com/office/powerpoint/2010/main" val="371425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00232" y="-164592"/>
            <a:ext cx="859536" cy="859536"/>
          </a:xfrm>
          <a:prstGeom prst="ellipse">
            <a:avLst/>
          </a:prstGeom>
          <a:solidFill>
            <a:srgbClr val="EBF3FF"/>
          </a:solidFill>
          <a:ln>
            <a:solidFill>
              <a:srgbClr val="EB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48288" y="146304"/>
            <a:ext cx="164592" cy="164592"/>
          </a:xfrm>
          <a:prstGeom prst="ellipse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5486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2D6BFF"/>
                </a:solidFill>
                <a:latin typeface="Malgun Gothic"/>
              </a:rPr>
              <a:t>핵심 인사이트 · 문제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7"/>
            <a:ext cx="107442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102D52"/>
                </a:solidFill>
                <a:latin typeface="Malgun Gothic"/>
              </a:rPr>
              <a:t>고객은 조작된 정보와 감정 상태에서 직접 진위를 판단해야 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42415"/>
            <a:ext cx="107442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0">
                <a:solidFill>
                  <a:srgbClr val="6A7B97"/>
                </a:solidFill>
                <a:latin typeface="Malgun Gothic"/>
              </a:rPr>
              <a:t>범죄자가 만든 판단환경 안에서는 단순 경고만으로 독립적인 재확인을 기대하기 어렵습니다.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37376"/>
            <a:ext cx="11100816" cy="0"/>
          </a:xfrm>
          <a:prstGeom prst="line">
            <a:avLst/>
          </a:prstGeom>
          <a:ln w="10160">
            <a:solidFill>
              <a:srgbClr val="D9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64808"/>
            <a:ext cx="99669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0">
                <a:solidFill>
                  <a:srgbClr val="6A7B97"/>
                </a:solidFill>
                <a:latin typeface="Malgun Gothic"/>
              </a:rPr>
              <a:t>근거: 7~13P 범죄수법·심리압박·피해자 행동 분석 종합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64808"/>
            <a:ext cx="32004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00" b="0">
                <a:solidFill>
                  <a:srgbClr val="6A7B97"/>
                </a:solidFill>
                <a:latin typeface="Malgun Gothic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691640"/>
            <a:ext cx="3319272" cy="182880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9536" y="1837944"/>
            <a:ext cx="420624" cy="420624"/>
          </a:xfrm>
          <a:prstGeom prst="ellipse">
            <a:avLst/>
          </a:prstGeom>
          <a:solidFill>
            <a:srgbClr val="2D6BFF"/>
          </a:solidFill>
          <a:ln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837944"/>
            <a:ext cx="420624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1819656"/>
            <a:ext cx="2459736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2D52"/>
                </a:solidFill>
                <a:latin typeface="Malgun Gothic"/>
              </a:rPr>
              <a:t>범죄자가 판단환경을 통제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2130552"/>
            <a:ext cx="2459736" cy="1298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>
                <a:solidFill>
                  <a:srgbClr val="4D5E78"/>
                </a:solidFill>
                <a:latin typeface="Malgun Gothic"/>
              </a:rPr>
              <a:t>권위·공포·긴급성·고립으로 외부 확인을 차단합니다.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2377440"/>
            <a:ext cx="402336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5599FF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1691640"/>
            <a:ext cx="3319272" cy="18288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90872" y="1837944"/>
            <a:ext cx="420624" cy="420624"/>
          </a:xfrm>
          <a:prstGeom prst="ellipse">
            <a:avLst/>
          </a:prstGeom>
          <a:solidFill>
            <a:srgbClr val="EB9B1A"/>
          </a:solidFill>
          <a:ln>
            <a:solidFill>
              <a:srgbClr val="EB9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1837944"/>
            <a:ext cx="420624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819656"/>
            <a:ext cx="2459736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2D52"/>
                </a:solidFill>
                <a:latin typeface="Malgun Gothic"/>
              </a:rPr>
              <a:t>왜곡된 정보만으로 진위 판단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130552"/>
            <a:ext cx="2459736" cy="1298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>
                <a:solidFill>
                  <a:srgbClr val="4D5E78"/>
                </a:solidFill>
                <a:latin typeface="Malgun Gothic"/>
              </a:rPr>
              <a:t>범죄자의 주장과 요구를 사실로 받아들일 가능성이 커집니다.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377440"/>
            <a:ext cx="402336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5599FF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75904" y="1691640"/>
            <a:ext cx="3108960" cy="1828800"/>
          </a:xfrm>
          <a:prstGeom prst="roundRect">
            <a:avLst/>
          </a:prstGeom>
          <a:solidFill>
            <a:srgbClr val="FFF1F0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22208" y="1837944"/>
            <a:ext cx="420624" cy="420624"/>
          </a:xfrm>
          <a:prstGeom prst="ellipse">
            <a:avLst/>
          </a:prstGeom>
          <a:solidFill>
            <a:srgbClr val="EE4344"/>
          </a:solidFill>
          <a:ln>
            <a:solidFill>
              <a:srgbClr val="EE4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22208" y="1837944"/>
            <a:ext cx="420624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1819656"/>
            <a:ext cx="224942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2D52"/>
                </a:solidFill>
                <a:latin typeface="Malgun Gothic"/>
              </a:rPr>
              <a:t>잘못된 금융행동으로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130552"/>
            <a:ext cx="2249424" cy="1298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>
                <a:solidFill>
                  <a:srgbClr val="4D5E78"/>
                </a:solidFill>
                <a:latin typeface="Malgun Gothic"/>
              </a:rPr>
              <a:t>추가송금·인증정보 제공·원격제어 허용으로 이어질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886200"/>
            <a:ext cx="10332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4096512"/>
            <a:ext cx="1874519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D6BFF"/>
                </a:solidFill>
                <a:latin typeface="Malgun Gothic"/>
              </a:rPr>
              <a:t>현재의 판단 부담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69080"/>
            <a:ext cx="800100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2D52"/>
                </a:solidFill>
                <a:latin typeface="Malgun Gothic"/>
              </a:rPr>
              <a:t>고객이 범죄자의 주장 · 은행 Alert · 기관 절차의 진위를 스스로 비교해야 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88720" y="4526280"/>
            <a:ext cx="9765792" cy="0"/>
          </a:xfrm>
          <a:prstGeom prst="line">
            <a:avLst/>
          </a:prstGeom>
          <a:ln w="12700">
            <a:solidFill>
              <a:srgbClr val="D9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88720" y="4690872"/>
            <a:ext cx="1874519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DA477"/>
                </a:solidFill>
                <a:latin typeface="Malgun Gothic"/>
              </a:rPr>
              <a:t>필요한 개입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63440"/>
            <a:ext cx="800100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2D52"/>
                </a:solidFill>
                <a:latin typeface="Malgun Gothic"/>
              </a:rPr>
              <a:t>발화 맥락을 먼저 구조화하고, 사실 확인 · 고객 설득 · 금융조치를 하나의 사건으로 지원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5669280"/>
            <a:ext cx="10287000" cy="585216"/>
          </a:xfrm>
          <a:prstGeom prst="roundRect">
            <a:avLst/>
          </a:prstGeom>
          <a:solidFill>
            <a:srgbClr val="102D52"/>
          </a:solidFill>
          <a:ln>
            <a:solidFill>
              <a:srgbClr val="10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필요한 것은 더 강한 경고가 아니라, 발화 맥락을 먼저 파악하고 사실 확인·고객 설득을 체계화하는 구조입니다.</a:t>
            </a:r>
          </a:p>
        </p:txBody>
      </p:sp>
    </p:spTree>
    <p:extLst>
      <p:ext uri="{BB962C8B-B14F-4D97-AF65-F5344CB8AC3E}">
        <p14:creationId xmlns:p14="http://schemas.microsoft.com/office/powerpoint/2010/main" val="186376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740;p11">
            <a:extLst>
              <a:ext uri="{FF2B5EF4-FFF2-40B4-BE49-F238E27FC236}">
                <a16:creationId xmlns:a16="http://schemas.microsoft.com/office/drawing/2014/main" id="{CEDC1E74-3199-4C7F-8378-4D4F4F427A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50040"/>
          </a:xfrm>
          <a:prstGeom prst="rect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Google Shape;741;p11">
            <a:extLst>
              <a:ext uri="{FF2B5EF4-FFF2-40B4-BE49-F238E27FC236}">
                <a16:creationId xmlns:a16="http://schemas.microsoft.com/office/drawing/2014/main" id="{901F3BC8-B286-4759-9641-2B4FF153E9AC}"/>
              </a:ext>
            </a:extLst>
          </p:cNvPr>
          <p:cNvSpPr>
            <a:spLocks noGrp="1"/>
          </p:cNvSpPr>
          <p:nvPr/>
        </p:nvSpPr>
        <p:spPr>
          <a:xfrm>
            <a:off x="548640" y="2469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sz="975" b="1" u="none">
                <a:solidFill>
                  <a:srgbClr val="2F66E8"/>
                </a:solidFill>
                <a:latin typeface="Arial"/>
                <a:ea typeface="Arial"/>
                <a:cs typeface="Arial"/>
              </a:rPr>
              <a:t>현행 체계 ① · 탐지·공유·보호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9" name="Google Shape;742;p11">
            <a:extLst>
              <a:ext uri="{FF2B5EF4-FFF2-40B4-BE49-F238E27FC236}">
                <a16:creationId xmlns:a16="http://schemas.microsoft.com/office/drawing/2014/main" id="{6F1603E1-5569-4A66-AF81-4734F184ABBE}"/>
              </a:ext>
            </a:extLst>
          </p:cNvPr>
          <p:cNvSpPr>
            <a:spLocks noGrp="1"/>
          </p:cNvSpPr>
          <p:nvPr/>
        </p:nvSpPr>
        <p:spPr>
          <a:xfrm>
            <a:off x="548640" y="567000"/>
            <a:ext cx="10652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2250" b="1">
                <a:solidFill>
                  <a:srgbClr val="0E2746"/>
                </a:solidFill>
              </a:defRPr>
            </a:pPr>
            <a:r>
              <a:rPr sz="225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통신 AI·ASAP·FDS는 탐지·공유·거래보호에서 이미 강하게 작동합니다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Google Shape;743;p11">
            <a:extLst>
              <a:ext uri="{FF2B5EF4-FFF2-40B4-BE49-F238E27FC236}">
                <a16:creationId xmlns:a16="http://schemas.microsoft.com/office/drawing/2014/main" id="{16AD12ED-788E-4C45-BAA2-74677F0AFB27}"/>
              </a:ext>
            </a:extLst>
          </p:cNvPr>
          <p:cNvSpPr>
            <a:spLocks noGrp="1"/>
          </p:cNvSpPr>
          <p:nvPr/>
        </p:nvSpPr>
        <p:spPr>
          <a:xfrm>
            <a:off x="548640" y="1078920"/>
            <a:ext cx="10560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sz="97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각 시스템의 역할은 유지하되, 탐지 이후 은행의 확인 업무에서 어떤 정보가 더 필요한지 살펴봅니다.</a:t>
            </a:r>
            <a:endParaRPr sz="9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Google Shape;744;p11">
            <a:extLst>
              <a:ext uri="{FF2B5EF4-FFF2-40B4-BE49-F238E27FC236}">
                <a16:creationId xmlns:a16="http://schemas.microsoft.com/office/drawing/2014/main" id="{340133A9-7399-4C52-81B1-7A489B9CB5DB}"/>
              </a:ext>
            </a:extLst>
          </p:cNvPr>
          <p:cNvSpPr>
            <a:spLocks noGrp="1"/>
          </p:cNvSpPr>
          <p:nvPr/>
        </p:nvSpPr>
        <p:spPr>
          <a:xfrm>
            <a:off x="11000160" y="0"/>
            <a:ext cx="859320" cy="859320"/>
          </a:xfrm>
          <a:prstGeom prst="ellipse">
            <a:avLst/>
          </a:prstGeom>
          <a:solidFill>
            <a:srgbClr val="EBF3FF"/>
          </a:solidFill>
          <a:ln w="9525">
            <a:solidFill>
              <a:srgbClr val="EBF3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Google Shape;745;p11">
            <a:extLst>
              <a:ext uri="{FF2B5EF4-FFF2-40B4-BE49-F238E27FC236}">
                <a16:creationId xmlns:a16="http://schemas.microsoft.com/office/drawing/2014/main" id="{9C397049-EF1C-412C-9BAE-DF0D4126433B}"/>
              </a:ext>
            </a:extLst>
          </p:cNvPr>
          <p:cNvSpPr>
            <a:spLocks noGrp="1"/>
          </p:cNvSpPr>
          <p:nvPr/>
        </p:nvSpPr>
        <p:spPr>
          <a:xfrm>
            <a:off x="11448360" y="146160"/>
            <a:ext cx="164160" cy="164160"/>
          </a:xfrm>
          <a:prstGeom prst="ellipse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080" rIns="820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4" name="Google Shape;747;p11">
            <a:extLst>
              <a:ext uri="{FF2B5EF4-FFF2-40B4-BE49-F238E27FC236}">
                <a16:creationId xmlns:a16="http://schemas.microsoft.com/office/drawing/2014/main" id="{6AABF6A2-E39C-4D39-A845-9010B46055F5}"/>
              </a:ext>
            </a:extLst>
          </p:cNvPr>
          <p:cNvSpPr>
            <a:spLocks noGrp="1"/>
          </p:cNvSpPr>
          <p:nvPr/>
        </p:nvSpPr>
        <p:spPr>
          <a:xfrm>
            <a:off x="621720" y="1627560"/>
            <a:ext cx="10990800" cy="1298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5" name="Google Shape;748;p11">
            <a:extLst>
              <a:ext uri="{FF2B5EF4-FFF2-40B4-BE49-F238E27FC236}">
                <a16:creationId xmlns:a16="http://schemas.microsoft.com/office/drawing/2014/main" id="{96DAE17E-68DC-46D0-91D3-8E5FF59472D5}"/>
              </a:ext>
            </a:extLst>
          </p:cNvPr>
          <p:cNvSpPr>
            <a:spLocks noGrp="1"/>
          </p:cNvSpPr>
          <p:nvPr/>
        </p:nvSpPr>
        <p:spPr>
          <a:xfrm>
            <a:off x="841320" y="1828800"/>
            <a:ext cx="785880" cy="255600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 w="9525">
            <a:solidFill>
              <a:srgbClr val="EBF3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6" name="Google Shape;749;p11">
            <a:extLst>
              <a:ext uri="{FF2B5EF4-FFF2-40B4-BE49-F238E27FC236}">
                <a16:creationId xmlns:a16="http://schemas.microsoft.com/office/drawing/2014/main" id="{E76E2DAE-5E23-41BA-BD7F-699229611807}"/>
              </a:ext>
            </a:extLst>
          </p:cNvPr>
          <p:cNvSpPr>
            <a:spLocks noGrp="1"/>
          </p:cNvSpPr>
          <p:nvPr/>
        </p:nvSpPr>
        <p:spPr>
          <a:xfrm>
            <a:off x="841320" y="1828800"/>
            <a:ext cx="785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670" b="1" u="none">
                <a:solidFill>
                  <a:srgbClr val="2D6BFF"/>
                </a:solidFill>
                <a:latin typeface="Arial"/>
                <a:ea typeface="Arial"/>
                <a:cs typeface="Arial"/>
              </a:rPr>
              <a:t>DETECT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7" name="Google Shape;750;p11">
            <a:extLst>
              <a:ext uri="{FF2B5EF4-FFF2-40B4-BE49-F238E27FC236}">
                <a16:creationId xmlns:a16="http://schemas.microsoft.com/office/drawing/2014/main" id="{6FB35EE6-392C-4E42-A5AB-FD873FFD319F}"/>
              </a:ext>
            </a:extLst>
          </p:cNvPr>
          <p:cNvSpPr>
            <a:spLocks noGrp="1"/>
          </p:cNvSpPr>
          <p:nvPr/>
        </p:nvSpPr>
        <p:spPr>
          <a:xfrm>
            <a:off x="1810440" y="17830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통신사·스마트폰 AI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46" name="Google Shape;751;p11"/>
          <p:cNvCxnSpPr/>
          <p:nvPr/>
        </p:nvCxnSpPr>
        <p:spPr>
          <a:xfrm>
            <a:off x="3886200" y="1792080"/>
            <a:ext cx="360" cy="942120"/>
          </a:xfrm>
          <a:prstGeom prst="straightConnector1">
            <a:avLst/>
          </a:prstGeom>
          <a:ln w="12700">
            <a:solidFill>
              <a:srgbClr val="D9E4F0"/>
            </a:solidFill>
            <a:miter/>
          </a:ln>
        </p:spPr>
      </p:cxnSp>
      <p:sp>
        <p:nvSpPr>
          <p:cNvPr id="489" name="Google Shape;752;p11">
            <a:extLst>
              <a:ext uri="{FF2B5EF4-FFF2-40B4-BE49-F238E27FC236}">
                <a16:creationId xmlns:a16="http://schemas.microsoft.com/office/drawing/2014/main" id="{3414BB22-FDF7-49BA-A69E-2799D2D1A917}"/>
              </a:ext>
            </a:extLst>
          </p:cNvPr>
          <p:cNvSpPr>
            <a:spLocks noGrp="1"/>
          </p:cNvSpPr>
          <p:nvPr/>
        </p:nvSpPr>
        <p:spPr>
          <a:xfrm>
            <a:off x="4114800" y="1792080"/>
            <a:ext cx="749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1" u="none">
                <a:solidFill>
                  <a:srgbClr val="2D6BFF"/>
                </a:solidFill>
                <a:latin typeface="Arial"/>
                <a:ea typeface="Arial"/>
                <a:cs typeface="Arial"/>
              </a:rPr>
              <a:t>익시오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0" name="Google Shape;753;p11">
            <a:extLst>
              <a:ext uri="{FF2B5EF4-FFF2-40B4-BE49-F238E27FC236}">
                <a16:creationId xmlns:a16="http://schemas.microsoft.com/office/drawing/2014/main" id="{FF57CE80-4678-4007-B1BF-F353765CAD1B}"/>
              </a:ext>
            </a:extLst>
          </p:cNvPr>
          <p:cNvSpPr>
            <a:spLocks noGrp="1"/>
          </p:cNvSpPr>
          <p:nvPr/>
        </p:nvSpPr>
        <p:spPr>
          <a:xfrm>
            <a:off x="4114800" y="204840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810" b="1" u="sng">
                <a:solidFill>
                  <a:srgbClr val="0E2746"/>
                </a:solidFill>
                <a:latin typeface="Arial"/>
                <a:ea typeface="Arial"/>
                <a:cs typeface="Arial"/>
                <a:hlinkClick r:id="rId3"/>
              </a:rPr>
              <a:t>통화내용을 문장 단위로 실시간 분석</a:t>
            </a:r>
            <a:endParaRPr sz="8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1" name="Google Shape;754;p11">
            <a:extLst>
              <a:ext uri="{FF2B5EF4-FFF2-40B4-BE49-F238E27FC236}">
                <a16:creationId xmlns:a16="http://schemas.microsoft.com/office/drawing/2014/main" id="{EFD8C7DE-5EB3-4401-867B-7C3953AE485B}"/>
              </a:ext>
            </a:extLst>
          </p:cNvPr>
          <p:cNvSpPr>
            <a:spLocks noGrp="1"/>
          </p:cNvSpPr>
          <p:nvPr/>
        </p:nvSpPr>
        <p:spPr>
          <a:xfrm>
            <a:off x="4114800" y="237744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즉시 음성·화면 경고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2" name="Google Shape;755;p11">
            <a:extLst>
              <a:ext uri="{FF2B5EF4-FFF2-40B4-BE49-F238E27FC236}">
                <a16:creationId xmlns:a16="http://schemas.microsoft.com/office/drawing/2014/main" id="{021F083E-CAE6-42EC-A2E1-88C49CB1660B}"/>
              </a:ext>
            </a:extLst>
          </p:cNvPr>
          <p:cNvSpPr>
            <a:spLocks noGrp="1"/>
          </p:cNvSpPr>
          <p:nvPr/>
        </p:nvSpPr>
        <p:spPr>
          <a:xfrm>
            <a:off x="7708320" y="1792080"/>
            <a:ext cx="749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1" u="none">
                <a:solidFill>
                  <a:srgbClr val="2D6BFF"/>
                </a:solidFill>
                <a:latin typeface="Arial"/>
                <a:ea typeface="Arial"/>
                <a:cs typeface="Arial"/>
              </a:rPr>
              <a:t>에이닷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3" name="Google Shape;756;p11">
            <a:extLst>
              <a:ext uri="{FF2B5EF4-FFF2-40B4-BE49-F238E27FC236}">
                <a16:creationId xmlns:a16="http://schemas.microsoft.com/office/drawing/2014/main" id="{1F945CE1-3C22-44D4-BDD4-8EAA0A928BE8}"/>
              </a:ext>
            </a:extLst>
          </p:cNvPr>
          <p:cNvSpPr>
            <a:spLocks noGrp="1"/>
          </p:cNvSpPr>
          <p:nvPr/>
        </p:nvSpPr>
        <p:spPr>
          <a:xfrm>
            <a:off x="7708320" y="204840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810" b="1" u="sng">
                <a:solidFill>
                  <a:srgbClr val="0E2746"/>
                </a:solidFill>
                <a:latin typeface="Arial"/>
                <a:ea typeface="Arial"/>
                <a:cs typeface="Arial"/>
                <a:hlinkClick r:id="rId4"/>
              </a:rPr>
              <a:t>대화내용을 실시간 분석</a:t>
            </a:r>
            <a:endParaRPr sz="8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4" name="Google Shape;757;p11">
            <a:extLst>
              <a:ext uri="{FF2B5EF4-FFF2-40B4-BE49-F238E27FC236}">
                <a16:creationId xmlns:a16="http://schemas.microsoft.com/office/drawing/2014/main" id="{CD14D7E5-48B0-4845-8976-372CB50607FB}"/>
              </a:ext>
            </a:extLst>
          </p:cNvPr>
          <p:cNvSpPr>
            <a:spLocks noGrp="1"/>
          </p:cNvSpPr>
          <p:nvPr/>
        </p:nvSpPr>
        <p:spPr>
          <a:xfrm>
            <a:off x="7708320" y="237744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의심·위험 단계 경고 / 온디바이스 처리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5" name="Google Shape;758;p11">
            <a:extLst>
              <a:ext uri="{FF2B5EF4-FFF2-40B4-BE49-F238E27FC236}">
                <a16:creationId xmlns:a16="http://schemas.microsoft.com/office/drawing/2014/main" id="{4F2B7AF7-1469-4DD1-B26E-7D6CD8201806}"/>
              </a:ext>
            </a:extLst>
          </p:cNvPr>
          <p:cNvSpPr>
            <a:spLocks noGrp="1"/>
          </p:cNvSpPr>
          <p:nvPr/>
        </p:nvSpPr>
        <p:spPr>
          <a:xfrm>
            <a:off x="621720" y="3072240"/>
            <a:ext cx="10990800" cy="1298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6" name="Google Shape;759;p11">
            <a:extLst>
              <a:ext uri="{FF2B5EF4-FFF2-40B4-BE49-F238E27FC236}">
                <a16:creationId xmlns:a16="http://schemas.microsoft.com/office/drawing/2014/main" id="{5003ACBD-C0C6-47CB-8E76-0B24DFAAB4A0}"/>
              </a:ext>
            </a:extLst>
          </p:cNvPr>
          <p:cNvSpPr>
            <a:spLocks noGrp="1"/>
          </p:cNvSpPr>
          <p:nvPr/>
        </p:nvSpPr>
        <p:spPr>
          <a:xfrm>
            <a:off x="841320" y="3273480"/>
            <a:ext cx="785880" cy="255600"/>
          </a:xfrm>
          <a:prstGeom prst="roundRect">
            <a:avLst>
              <a:gd name="adj" fmla="val 20000"/>
            </a:avLst>
          </a:prstGeom>
          <a:solidFill>
            <a:srgbClr val="FDEDED"/>
          </a:solidFill>
          <a:ln w="9525">
            <a:solidFill>
              <a:srgbClr val="FDEDE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7" name="Google Shape;760;p11">
            <a:extLst>
              <a:ext uri="{FF2B5EF4-FFF2-40B4-BE49-F238E27FC236}">
                <a16:creationId xmlns:a16="http://schemas.microsoft.com/office/drawing/2014/main" id="{7AF79A0B-913A-4348-AFE7-10EE0192FBA9}"/>
              </a:ext>
            </a:extLst>
          </p:cNvPr>
          <p:cNvSpPr>
            <a:spLocks noGrp="1"/>
          </p:cNvSpPr>
          <p:nvPr/>
        </p:nvSpPr>
        <p:spPr>
          <a:xfrm>
            <a:off x="841320" y="3273480"/>
            <a:ext cx="785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670" b="1" u="none">
                <a:solidFill>
                  <a:srgbClr val="E84646"/>
                </a:solidFill>
                <a:latin typeface="Arial"/>
                <a:ea typeface="Arial"/>
                <a:cs typeface="Arial"/>
              </a:rPr>
              <a:t>SHARE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8" name="Google Shape;761;p11">
            <a:extLst>
              <a:ext uri="{FF2B5EF4-FFF2-40B4-BE49-F238E27FC236}">
                <a16:creationId xmlns:a16="http://schemas.microsoft.com/office/drawing/2014/main" id="{AE4DDDD3-F67B-4474-A587-78C0854C4B9A}"/>
              </a:ext>
            </a:extLst>
          </p:cNvPr>
          <p:cNvSpPr>
            <a:spLocks noGrp="1"/>
          </p:cNvSpPr>
          <p:nvPr/>
        </p:nvSpPr>
        <p:spPr>
          <a:xfrm>
            <a:off x="1810440" y="32277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ASAP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57" name="Google Shape;762;p11"/>
          <p:cNvCxnSpPr/>
          <p:nvPr/>
        </p:nvCxnSpPr>
        <p:spPr>
          <a:xfrm>
            <a:off x="3886200" y="3236760"/>
            <a:ext cx="360" cy="942120"/>
          </a:xfrm>
          <a:prstGeom prst="straightConnector1">
            <a:avLst/>
          </a:prstGeom>
          <a:ln w="12700">
            <a:solidFill>
              <a:srgbClr val="D9E4F0"/>
            </a:solidFill>
            <a:miter/>
          </a:ln>
        </p:spPr>
      </p:cxnSp>
      <p:sp>
        <p:nvSpPr>
          <p:cNvPr id="500" name="Google Shape;763;p11">
            <a:extLst>
              <a:ext uri="{FF2B5EF4-FFF2-40B4-BE49-F238E27FC236}">
                <a16:creationId xmlns:a16="http://schemas.microsoft.com/office/drawing/2014/main" id="{9B71C536-B06E-42A4-885F-CA1F1A0E9FBB}"/>
              </a:ext>
            </a:extLst>
          </p:cNvPr>
          <p:cNvSpPr>
            <a:spLocks noGrp="1"/>
          </p:cNvSpPr>
          <p:nvPr/>
        </p:nvSpPr>
        <p:spPr>
          <a:xfrm>
            <a:off x="4114800" y="3237120"/>
            <a:ext cx="749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1" u="none">
                <a:solidFill>
                  <a:srgbClr val="E84646"/>
                </a:solidFill>
                <a:latin typeface="Arial"/>
                <a:ea typeface="Arial"/>
                <a:cs typeface="Arial"/>
              </a:rPr>
              <a:t>참여기관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1" name="Google Shape;764;p11">
            <a:extLst>
              <a:ext uri="{FF2B5EF4-FFF2-40B4-BE49-F238E27FC236}">
                <a16:creationId xmlns:a16="http://schemas.microsoft.com/office/drawing/2014/main" id="{E65E871F-EE1F-4F46-8C32-87BB1F7B2BF2}"/>
              </a:ext>
            </a:extLst>
          </p:cNvPr>
          <p:cNvSpPr>
            <a:spLocks noGrp="1"/>
          </p:cNvSpPr>
          <p:nvPr/>
        </p:nvSpPr>
        <p:spPr>
          <a:xfrm>
            <a:off x="4114800" y="349308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810" b="1" u="sng">
                <a:solidFill>
                  <a:srgbClr val="0E2746"/>
                </a:solidFill>
                <a:latin typeface="Arial"/>
                <a:ea typeface="Arial"/>
                <a:cs typeface="Arial"/>
                <a:hlinkClick r:id="rId5"/>
              </a:rPr>
              <a:t>약 130개 금융회사</a:t>
            </a:r>
            <a:endParaRPr sz="8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2" name="Google Shape;765;p11">
            <a:extLst>
              <a:ext uri="{FF2B5EF4-FFF2-40B4-BE49-F238E27FC236}">
                <a16:creationId xmlns:a16="http://schemas.microsoft.com/office/drawing/2014/main" id="{3E5DB79A-B3BE-42A7-8B1B-6F3E75A019A7}"/>
              </a:ext>
            </a:extLst>
          </p:cNvPr>
          <p:cNvSpPr>
            <a:spLocks noGrp="1"/>
          </p:cNvSpPr>
          <p:nvPr/>
        </p:nvSpPr>
        <p:spPr>
          <a:xfrm>
            <a:off x="7708320" y="3237120"/>
            <a:ext cx="749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1" u="none">
                <a:solidFill>
                  <a:srgbClr val="E84646"/>
                </a:solidFill>
                <a:latin typeface="Arial"/>
                <a:ea typeface="Arial"/>
                <a:cs typeface="Arial"/>
              </a:rPr>
              <a:t>공유범위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3" name="Google Shape;766;p11">
            <a:extLst>
              <a:ext uri="{FF2B5EF4-FFF2-40B4-BE49-F238E27FC236}">
                <a16:creationId xmlns:a16="http://schemas.microsoft.com/office/drawing/2014/main" id="{E30AF80D-9C81-42B4-B69D-3F837FB17D43}"/>
              </a:ext>
            </a:extLst>
          </p:cNvPr>
          <p:cNvSpPr>
            <a:spLocks noGrp="1"/>
          </p:cNvSpPr>
          <p:nvPr/>
        </p:nvSpPr>
        <p:spPr>
          <a:xfrm>
            <a:off x="7708320" y="349308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810" b="1" u="sng">
                <a:solidFill>
                  <a:srgbClr val="0E2746"/>
                </a:solidFill>
                <a:latin typeface="Arial"/>
                <a:ea typeface="Arial"/>
                <a:cs typeface="Arial"/>
                <a:hlinkClick r:id="rId5"/>
              </a:rPr>
              <a:t>9개 유형 · 90개 항목</a:t>
            </a:r>
            <a:endParaRPr sz="8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4" name="Google Shape;767;p11">
            <a:extLst>
              <a:ext uri="{FF2B5EF4-FFF2-40B4-BE49-F238E27FC236}">
                <a16:creationId xmlns:a16="http://schemas.microsoft.com/office/drawing/2014/main" id="{A6D253B5-8B14-413B-8C6F-212494AC12DF}"/>
              </a:ext>
            </a:extLst>
          </p:cNvPr>
          <p:cNvSpPr>
            <a:spLocks noGrp="1"/>
          </p:cNvSpPr>
          <p:nvPr/>
        </p:nvSpPr>
        <p:spPr>
          <a:xfrm>
            <a:off x="7708320" y="382212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실시간 공유·활용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5" name="Google Shape;768;p11">
            <a:extLst>
              <a:ext uri="{FF2B5EF4-FFF2-40B4-BE49-F238E27FC236}">
                <a16:creationId xmlns:a16="http://schemas.microsoft.com/office/drawing/2014/main" id="{07B573F5-F7FD-4A4A-9FC0-8911F0F831EC}"/>
              </a:ext>
            </a:extLst>
          </p:cNvPr>
          <p:cNvSpPr>
            <a:spLocks noGrp="1"/>
          </p:cNvSpPr>
          <p:nvPr/>
        </p:nvSpPr>
        <p:spPr>
          <a:xfrm>
            <a:off x="621720" y="4517280"/>
            <a:ext cx="10990800" cy="1298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6" name="Google Shape;769;p11">
            <a:extLst>
              <a:ext uri="{FF2B5EF4-FFF2-40B4-BE49-F238E27FC236}">
                <a16:creationId xmlns:a16="http://schemas.microsoft.com/office/drawing/2014/main" id="{650B8034-8E3B-4C88-9EBD-7C1E9A9AF6CA}"/>
              </a:ext>
            </a:extLst>
          </p:cNvPr>
          <p:cNvSpPr>
            <a:spLocks noGrp="1"/>
          </p:cNvSpPr>
          <p:nvPr/>
        </p:nvSpPr>
        <p:spPr>
          <a:xfrm>
            <a:off x="841320" y="4718160"/>
            <a:ext cx="785880" cy="255600"/>
          </a:xfrm>
          <a:prstGeom prst="roundRect">
            <a:avLst>
              <a:gd name="adj" fmla="val 20000"/>
            </a:avLst>
          </a:prstGeom>
          <a:solidFill>
            <a:srgbClr val="E8F8F2"/>
          </a:solidFill>
          <a:ln w="9525">
            <a:solidFill>
              <a:srgbClr val="E8F8F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7" name="Google Shape;770;p11">
            <a:extLst>
              <a:ext uri="{FF2B5EF4-FFF2-40B4-BE49-F238E27FC236}">
                <a16:creationId xmlns:a16="http://schemas.microsoft.com/office/drawing/2014/main" id="{23CC60AB-EFB3-425A-AEB6-3FB196BC97B7}"/>
              </a:ext>
            </a:extLst>
          </p:cNvPr>
          <p:cNvSpPr>
            <a:spLocks noGrp="1"/>
          </p:cNvSpPr>
          <p:nvPr/>
        </p:nvSpPr>
        <p:spPr>
          <a:xfrm>
            <a:off x="841320" y="4718160"/>
            <a:ext cx="785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670" b="1" u="none">
                <a:solidFill>
                  <a:srgbClr val="2B9D74"/>
                </a:solidFill>
                <a:latin typeface="Arial"/>
                <a:ea typeface="Arial"/>
                <a:cs typeface="Arial"/>
              </a:rPr>
              <a:t>PROTECT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8" name="Google Shape;771;p11">
            <a:extLst>
              <a:ext uri="{FF2B5EF4-FFF2-40B4-BE49-F238E27FC236}">
                <a16:creationId xmlns:a16="http://schemas.microsoft.com/office/drawing/2014/main" id="{51D02BDE-09CE-4646-B2D7-48C34D67312B}"/>
              </a:ext>
            </a:extLst>
          </p:cNvPr>
          <p:cNvSpPr>
            <a:spLocks noGrp="1"/>
          </p:cNvSpPr>
          <p:nvPr/>
        </p:nvSpPr>
        <p:spPr>
          <a:xfrm>
            <a:off x="1810440" y="467244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은행 FDS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67" name="Google Shape;772;p11"/>
          <p:cNvCxnSpPr/>
          <p:nvPr/>
        </p:nvCxnSpPr>
        <p:spPr>
          <a:xfrm>
            <a:off x="3886200" y="4681440"/>
            <a:ext cx="360" cy="942480"/>
          </a:xfrm>
          <a:prstGeom prst="straightConnector1">
            <a:avLst/>
          </a:prstGeom>
          <a:ln w="12700">
            <a:solidFill>
              <a:srgbClr val="D9E4F0"/>
            </a:solidFill>
            <a:miter/>
          </a:ln>
        </p:spPr>
      </p:cxnSp>
      <p:sp>
        <p:nvSpPr>
          <p:cNvPr id="510" name="Google Shape;773;p11">
            <a:extLst>
              <a:ext uri="{FF2B5EF4-FFF2-40B4-BE49-F238E27FC236}">
                <a16:creationId xmlns:a16="http://schemas.microsoft.com/office/drawing/2014/main" id="{4271A93E-99A8-48F0-AD88-447DC12EF3FC}"/>
              </a:ext>
            </a:extLst>
          </p:cNvPr>
          <p:cNvSpPr>
            <a:spLocks noGrp="1"/>
          </p:cNvSpPr>
          <p:nvPr/>
        </p:nvSpPr>
        <p:spPr>
          <a:xfrm>
            <a:off x="4114800" y="4681800"/>
            <a:ext cx="749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1" u="none">
                <a:solidFill>
                  <a:srgbClr val="2B9D74"/>
                </a:solidFill>
                <a:latin typeface="Arial"/>
                <a:ea typeface="Arial"/>
                <a:cs typeface="Arial"/>
              </a:rPr>
              <a:t>탐지체계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1" name="Google Shape;774;p11">
            <a:extLst>
              <a:ext uri="{FF2B5EF4-FFF2-40B4-BE49-F238E27FC236}">
                <a16:creationId xmlns:a16="http://schemas.microsoft.com/office/drawing/2014/main" id="{68A8F887-E60F-4E5C-B36A-7C5DB1F43B73}"/>
              </a:ext>
            </a:extLst>
          </p:cNvPr>
          <p:cNvSpPr>
            <a:spLocks noGrp="1"/>
          </p:cNvSpPr>
          <p:nvPr/>
        </p:nvSpPr>
        <p:spPr>
          <a:xfrm>
            <a:off x="4114800" y="493776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810" b="1" u="sng">
                <a:solidFill>
                  <a:srgbClr val="0E2746"/>
                </a:solidFill>
                <a:latin typeface="Arial"/>
                <a:ea typeface="Arial"/>
                <a:cs typeface="Arial"/>
                <a:hlinkClick r:id="rId6"/>
              </a:rPr>
              <a:t>시나리오 기반 공동 탐지룰 51개</a:t>
            </a:r>
            <a:endParaRPr sz="8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2" name="Google Shape;775;p11">
            <a:extLst>
              <a:ext uri="{FF2B5EF4-FFF2-40B4-BE49-F238E27FC236}">
                <a16:creationId xmlns:a16="http://schemas.microsoft.com/office/drawing/2014/main" id="{ACB295B2-AE48-434E-858C-1F3CB9E92C7C}"/>
              </a:ext>
            </a:extLst>
          </p:cNvPr>
          <p:cNvSpPr>
            <a:spLocks noGrp="1"/>
          </p:cNvSpPr>
          <p:nvPr/>
        </p:nvSpPr>
        <p:spPr>
          <a:xfrm>
            <a:off x="4114800" y="526680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은행별 자체룰 추가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3" name="Google Shape;776;p11">
            <a:extLst>
              <a:ext uri="{FF2B5EF4-FFF2-40B4-BE49-F238E27FC236}">
                <a16:creationId xmlns:a16="http://schemas.microsoft.com/office/drawing/2014/main" id="{8F0922FA-8177-45FA-8E2A-24ABABC95FEB}"/>
              </a:ext>
            </a:extLst>
          </p:cNvPr>
          <p:cNvSpPr>
            <a:spLocks noGrp="1"/>
          </p:cNvSpPr>
          <p:nvPr/>
        </p:nvSpPr>
        <p:spPr>
          <a:xfrm>
            <a:off x="7708320" y="4681800"/>
            <a:ext cx="749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1" u="none">
                <a:solidFill>
                  <a:srgbClr val="2B9D74"/>
                </a:solidFill>
                <a:latin typeface="Arial"/>
                <a:ea typeface="Arial"/>
                <a:cs typeface="Arial"/>
              </a:rPr>
              <a:t>대응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4" name="Google Shape;777;p11">
            <a:extLst>
              <a:ext uri="{FF2B5EF4-FFF2-40B4-BE49-F238E27FC236}">
                <a16:creationId xmlns:a16="http://schemas.microsoft.com/office/drawing/2014/main" id="{2C2FD7A4-C700-4E15-B542-DCE50499E26E}"/>
              </a:ext>
            </a:extLst>
          </p:cNvPr>
          <p:cNvSpPr>
            <a:spLocks noGrp="1"/>
          </p:cNvSpPr>
          <p:nvPr/>
        </p:nvSpPr>
        <p:spPr>
          <a:xfrm>
            <a:off x="7708320" y="493776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810" b="1" u="sng">
                <a:solidFill>
                  <a:srgbClr val="0E2746"/>
                </a:solidFill>
                <a:latin typeface="Arial"/>
                <a:ea typeface="Arial"/>
                <a:cs typeface="Arial"/>
                <a:hlinkClick r:id="rId6"/>
              </a:rPr>
              <a:t>아웃바운드콜·화상통화·생체인증</a:t>
            </a:r>
            <a:endParaRPr sz="8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5" name="Google Shape;778;p11">
            <a:extLst>
              <a:ext uri="{FF2B5EF4-FFF2-40B4-BE49-F238E27FC236}">
                <a16:creationId xmlns:a16="http://schemas.microsoft.com/office/drawing/2014/main" id="{35114A94-F1A8-47E4-A5D5-0F1AC90CE365}"/>
              </a:ext>
            </a:extLst>
          </p:cNvPr>
          <p:cNvSpPr>
            <a:spLocks noGrp="1"/>
          </p:cNvSpPr>
          <p:nvPr/>
        </p:nvSpPr>
        <p:spPr>
          <a:xfrm>
            <a:off x="7708320" y="526680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8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근거가 있으면 즉시 거래정지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6" name="Google Shape;779;p11">
            <a:extLst>
              <a:ext uri="{FF2B5EF4-FFF2-40B4-BE49-F238E27FC236}">
                <a16:creationId xmlns:a16="http://schemas.microsoft.com/office/drawing/2014/main" id="{151D7BB2-771C-4907-8838-6AF4FEB30944}"/>
              </a:ext>
            </a:extLst>
          </p:cNvPr>
          <p:cNvSpPr>
            <a:spLocks noGrp="1"/>
          </p:cNvSpPr>
          <p:nvPr/>
        </p:nvSpPr>
        <p:spPr>
          <a:xfrm>
            <a:off x="1298520" y="6053400"/>
            <a:ext cx="9600840" cy="273960"/>
          </a:xfrm>
          <a:prstGeom prst="roundRect">
            <a:avLst>
              <a:gd name="adj" fmla="val 5000"/>
            </a:avLst>
          </a:prstGeom>
          <a:solidFill>
            <a:srgbClr val="0E2746"/>
          </a:solidFill>
          <a:ln w="9525">
            <a:solidFill>
              <a:srgbClr val="0E274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7" name="Google Shape;780;p11">
            <a:extLst>
              <a:ext uri="{FF2B5EF4-FFF2-40B4-BE49-F238E27FC236}">
                <a16:creationId xmlns:a16="http://schemas.microsoft.com/office/drawing/2014/main" id="{5E9BB3BF-8101-41C2-B354-BB82BE900FFF}"/>
              </a:ext>
            </a:extLst>
          </p:cNvPr>
          <p:cNvSpPr>
            <a:spLocks noGrp="1"/>
          </p:cNvSpPr>
          <p:nvPr/>
        </p:nvSpPr>
        <p:spPr>
          <a:xfrm>
            <a:off x="1298520" y="60624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9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은행 담당자는 ASAP·FDS Alert만으로 “범죄자가 누구를 사칭해 무엇을 주장·요구했는지”를 즉시 파악하기 어렵습니다.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76" name="Google Shape;781;p11"/>
          <p:cNvCxnSpPr/>
          <p:nvPr/>
        </p:nvCxnSpPr>
        <p:spPr>
          <a:xfrm>
            <a:off x="548640" y="6418800"/>
            <a:ext cx="11082600" cy="360"/>
          </a:xfrm>
          <a:prstGeom prst="straightConnector1">
            <a:avLst/>
          </a:prstGeom>
          <a:ln w="10150">
            <a:solidFill>
              <a:srgbClr val="D9E4F0"/>
            </a:solidFill>
            <a:miter/>
          </a:ln>
        </p:spPr>
      </p:cxnSp>
      <p:sp>
        <p:nvSpPr>
          <p:cNvPr id="519" name="Google Shape;782;p11">
            <a:extLst>
              <a:ext uri="{FF2B5EF4-FFF2-40B4-BE49-F238E27FC236}">
                <a16:creationId xmlns:a16="http://schemas.microsoft.com/office/drawing/2014/main" id="{A07632B3-5F95-4B0B-88F9-FBFDCA327AFE}"/>
              </a:ext>
            </a:extLst>
          </p:cNvPr>
          <p:cNvSpPr>
            <a:spLocks noGrp="1"/>
          </p:cNvSpPr>
          <p:nvPr/>
        </p:nvSpPr>
        <p:spPr>
          <a:xfrm>
            <a:off x="567000" y="649224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10" b="1" u="none">
                <a:solidFill>
                  <a:srgbClr val="8291A5"/>
                </a:solidFill>
                <a:latin typeface="Arial"/>
                <a:ea typeface="Arial"/>
                <a:cs typeface="Arial"/>
              </a:rPr>
              <a:t>근거</a:t>
            </a:r>
            <a:endParaRPr sz="6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0" name="Google Shape;783;p11">
            <a:extLst>
              <a:ext uri="{FF2B5EF4-FFF2-40B4-BE49-F238E27FC236}">
                <a16:creationId xmlns:a16="http://schemas.microsoft.com/office/drawing/2014/main" id="{147C989F-5A49-4F87-ACA7-AB55D0339C58}"/>
              </a:ext>
            </a:extLst>
          </p:cNvPr>
          <p:cNvSpPr>
            <a:spLocks noGrp="1"/>
          </p:cNvSpPr>
          <p:nvPr/>
        </p:nvSpPr>
        <p:spPr>
          <a:xfrm>
            <a:off x="905400" y="6483240"/>
            <a:ext cx="7768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00" b="0" u="sng">
                <a:solidFill>
                  <a:srgbClr val="8291A5"/>
                </a:solidFill>
                <a:latin typeface="Arial"/>
                <a:ea typeface="Arial"/>
                <a:cs typeface="Arial"/>
                <a:hlinkClick r:id="rId3"/>
              </a:rPr>
              <a:t>LG U+ 익시오  ·  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1" name="Google Shape;784;p11">
            <a:extLst>
              <a:ext uri="{FF2B5EF4-FFF2-40B4-BE49-F238E27FC236}">
                <a16:creationId xmlns:a16="http://schemas.microsoft.com/office/drawing/2014/main" id="{C47D21BE-8D65-41E9-9CD1-6FF23A70D0A2}"/>
              </a:ext>
            </a:extLst>
          </p:cNvPr>
          <p:cNvSpPr>
            <a:spLocks noGrp="1"/>
          </p:cNvSpPr>
          <p:nvPr/>
        </p:nvSpPr>
        <p:spPr>
          <a:xfrm>
            <a:off x="1682640" y="6483240"/>
            <a:ext cx="7768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00" b="0" u="sng">
                <a:solidFill>
                  <a:srgbClr val="8291A5"/>
                </a:solidFill>
                <a:latin typeface="Arial"/>
                <a:ea typeface="Arial"/>
                <a:cs typeface="Arial"/>
                <a:hlinkClick r:id="rId4"/>
              </a:rPr>
              <a:t>SKT 에이닷  ·  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2" name="Google Shape;785;p11">
            <a:extLst>
              <a:ext uri="{FF2B5EF4-FFF2-40B4-BE49-F238E27FC236}">
                <a16:creationId xmlns:a16="http://schemas.microsoft.com/office/drawing/2014/main" id="{B74F795B-B4C6-4DC7-BC11-B18B5EF2957A}"/>
              </a:ext>
            </a:extLst>
          </p:cNvPr>
          <p:cNvSpPr>
            <a:spLocks noGrp="1"/>
          </p:cNvSpPr>
          <p:nvPr/>
        </p:nvSpPr>
        <p:spPr>
          <a:xfrm>
            <a:off x="2459880" y="6483240"/>
            <a:ext cx="7768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00" b="0" u="sng">
                <a:solidFill>
                  <a:srgbClr val="8291A5"/>
                </a:solidFill>
                <a:latin typeface="Arial"/>
                <a:ea typeface="Arial"/>
                <a:cs typeface="Arial"/>
                <a:hlinkClick r:id="rId5"/>
              </a:rPr>
              <a:t>금융위 ASAP  ·  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3" name="Google Shape;786;p11">
            <a:extLst>
              <a:ext uri="{FF2B5EF4-FFF2-40B4-BE49-F238E27FC236}">
                <a16:creationId xmlns:a16="http://schemas.microsoft.com/office/drawing/2014/main" id="{1B225DC0-7259-4F02-997E-87A502E6AE6B}"/>
              </a:ext>
            </a:extLst>
          </p:cNvPr>
          <p:cNvSpPr>
            <a:spLocks noGrp="1"/>
          </p:cNvSpPr>
          <p:nvPr/>
        </p:nvSpPr>
        <p:spPr>
          <a:xfrm>
            <a:off x="3237120" y="6483240"/>
            <a:ext cx="7768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00" b="0" u="sng">
                <a:solidFill>
                  <a:srgbClr val="8291A5"/>
                </a:solidFill>
                <a:latin typeface="Arial"/>
                <a:ea typeface="Arial"/>
                <a:cs typeface="Arial"/>
                <a:hlinkClick r:id="rId6"/>
              </a:rPr>
              <a:t>금융보안원 FDS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7" name="TextBox 776"/>
          <p:cNvSpPr txBox="1"/>
          <p:nvPr/>
        </p:nvSpPr>
        <p:spPr>
          <a:xfrm>
            <a:off x="11292840" y="6464808"/>
            <a:ext cx="32004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00" b="0">
                <a:solidFill>
                  <a:srgbClr val="6A7B97"/>
                </a:solidFill>
                <a:latin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2548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792;p12">
            <a:extLst>
              <a:ext uri="{FF2B5EF4-FFF2-40B4-BE49-F238E27FC236}">
                <a16:creationId xmlns:a16="http://schemas.microsoft.com/office/drawing/2014/main" id="{3439753C-40CA-4A1A-8EB2-B118398410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50040"/>
          </a:xfrm>
          <a:prstGeom prst="rect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6" name="Google Shape;793;p12">
            <a:extLst>
              <a:ext uri="{FF2B5EF4-FFF2-40B4-BE49-F238E27FC236}">
                <a16:creationId xmlns:a16="http://schemas.microsoft.com/office/drawing/2014/main" id="{17FDD9BF-2E6E-4BB1-A5E1-F4E0ED604BD7}"/>
              </a:ext>
            </a:extLst>
          </p:cNvPr>
          <p:cNvSpPr>
            <a:spLocks noGrp="1"/>
          </p:cNvSpPr>
          <p:nvPr/>
        </p:nvSpPr>
        <p:spPr>
          <a:xfrm>
            <a:off x="548640" y="2469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2D6BFF"/>
                </a:solidFill>
                <a:latin typeface="Arial"/>
                <a:ea typeface="Arial"/>
                <a:cs typeface="Arial"/>
              </a:rPr>
              <a:t>현행 체계 ② · 은행 업무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7" name="Google Shape;794;p12">
            <a:extLst>
              <a:ext uri="{FF2B5EF4-FFF2-40B4-BE49-F238E27FC236}">
                <a16:creationId xmlns:a16="http://schemas.microsoft.com/office/drawing/2014/main" id="{53CB9B17-6BA5-494F-807F-9905202E094E}"/>
              </a:ext>
            </a:extLst>
          </p:cNvPr>
          <p:cNvSpPr>
            <a:spLocks noGrp="1"/>
          </p:cNvSpPr>
          <p:nvPr/>
        </p:nvSpPr>
        <p:spPr>
          <a:xfrm>
            <a:off x="548640" y="567000"/>
            <a:ext cx="10652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2175" b="1">
                <a:solidFill>
                  <a:srgbClr val="0E2746"/>
                </a:solidFill>
              </a:defRPr>
            </a:pPr>
            <a:r>
              <a:rPr sz="217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FDS Alert 이후에는 고객확인·상황 파악·설득이 사람의 업무로 남습니다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8" name="Google Shape;795;p12">
            <a:extLst>
              <a:ext uri="{FF2B5EF4-FFF2-40B4-BE49-F238E27FC236}">
                <a16:creationId xmlns:a16="http://schemas.microsoft.com/office/drawing/2014/main" id="{2BA54C1C-1C8A-4C23-B387-94FC79A2A705}"/>
              </a:ext>
            </a:extLst>
          </p:cNvPr>
          <p:cNvSpPr>
            <a:spLocks noGrp="1"/>
          </p:cNvSpPr>
          <p:nvPr/>
        </p:nvSpPr>
        <p:spPr>
          <a:xfrm>
            <a:off x="548640" y="1078920"/>
            <a:ext cx="10560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sz="97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탐지와 거래보호가 작동해도, 실제 진위 확인과 고객의 행동을 멈추게 하는 과정은 직원이 수행합니다.</a:t>
            </a:r>
            <a:endParaRPr sz="9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9" name="Google Shape;796;p12">
            <a:extLst>
              <a:ext uri="{FF2B5EF4-FFF2-40B4-BE49-F238E27FC236}">
                <a16:creationId xmlns:a16="http://schemas.microsoft.com/office/drawing/2014/main" id="{125DD1F6-7C64-40B6-BA07-8C2FC69F9AF7}"/>
              </a:ext>
            </a:extLst>
          </p:cNvPr>
          <p:cNvSpPr>
            <a:spLocks noGrp="1"/>
          </p:cNvSpPr>
          <p:nvPr/>
        </p:nvSpPr>
        <p:spPr>
          <a:xfrm>
            <a:off x="11000160" y="0"/>
            <a:ext cx="859320" cy="859320"/>
          </a:xfrm>
          <a:prstGeom prst="ellipse">
            <a:avLst/>
          </a:prstGeom>
          <a:solidFill>
            <a:srgbClr val="EBF3FF"/>
          </a:solidFill>
          <a:ln w="9525">
            <a:solidFill>
              <a:srgbClr val="EBF3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0" name="Google Shape;797;p12">
            <a:extLst>
              <a:ext uri="{FF2B5EF4-FFF2-40B4-BE49-F238E27FC236}">
                <a16:creationId xmlns:a16="http://schemas.microsoft.com/office/drawing/2014/main" id="{F8FC37EE-2C0C-49F0-8D26-BCF54C13AA19}"/>
              </a:ext>
            </a:extLst>
          </p:cNvPr>
          <p:cNvSpPr>
            <a:spLocks noGrp="1"/>
          </p:cNvSpPr>
          <p:nvPr/>
        </p:nvSpPr>
        <p:spPr>
          <a:xfrm>
            <a:off x="11448360" y="146160"/>
            <a:ext cx="164160" cy="164160"/>
          </a:xfrm>
          <a:prstGeom prst="ellipse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080" rIns="820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2" name="Google Shape;799;p12">
            <a:extLst>
              <a:ext uri="{FF2B5EF4-FFF2-40B4-BE49-F238E27FC236}">
                <a16:creationId xmlns:a16="http://schemas.microsoft.com/office/drawing/2014/main" id="{6E36800A-567B-4B80-ABBE-FF8725A0808A}"/>
              </a:ext>
            </a:extLst>
          </p:cNvPr>
          <p:cNvSpPr>
            <a:spLocks noGrp="1"/>
          </p:cNvSpPr>
          <p:nvPr/>
        </p:nvSpPr>
        <p:spPr>
          <a:xfrm>
            <a:off x="640080" y="1572840"/>
            <a:ext cx="959760" cy="228240"/>
          </a:xfrm>
          <a:prstGeom prst="roundRect">
            <a:avLst>
              <a:gd name="adj" fmla="val 20000"/>
            </a:avLst>
          </a:prstGeom>
          <a:solidFill>
            <a:srgbClr val="E8F8F2"/>
          </a:solidFill>
          <a:ln w="9525">
            <a:solidFill>
              <a:srgbClr val="E8F8F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800;p12">
            <a:extLst>
              <a:ext uri="{FF2B5EF4-FFF2-40B4-BE49-F238E27FC236}">
                <a16:creationId xmlns:a16="http://schemas.microsoft.com/office/drawing/2014/main" id="{0EEB659C-DD4F-4817-86EB-41565393978E}"/>
              </a:ext>
            </a:extLst>
          </p:cNvPr>
          <p:cNvSpPr>
            <a:spLocks noGrp="1"/>
          </p:cNvSpPr>
          <p:nvPr/>
        </p:nvSpPr>
        <p:spPr>
          <a:xfrm>
            <a:off x="640080" y="157284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620" b="1" u="none">
                <a:solidFill>
                  <a:srgbClr val="2B9D74"/>
                </a:solidFill>
                <a:latin typeface="Arial"/>
                <a:ea typeface="Arial"/>
                <a:cs typeface="Arial"/>
              </a:rPr>
              <a:t>공식 가이드</a:t>
            </a:r>
            <a:endParaRPr sz="6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4" name="Google Shape;801;p12">
            <a:extLst>
              <a:ext uri="{FF2B5EF4-FFF2-40B4-BE49-F238E27FC236}">
                <a16:creationId xmlns:a16="http://schemas.microsoft.com/office/drawing/2014/main" id="{00814430-AD83-4BC8-BCDF-415EFE49E481}"/>
              </a:ext>
            </a:extLst>
          </p:cNvPr>
          <p:cNvSpPr>
            <a:spLocks noGrp="1"/>
          </p:cNvSpPr>
          <p:nvPr/>
        </p:nvSpPr>
        <p:spPr>
          <a:xfrm>
            <a:off x="1719000" y="1554480"/>
            <a:ext cx="53946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92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금융보안원 FDS 운영 가이드라인이 제시한 대응 흐름</a:t>
            </a:r>
            <a:endParaRPr sz="9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5" name="Google Shape;802;p12">
            <a:extLst>
              <a:ext uri="{FF2B5EF4-FFF2-40B4-BE49-F238E27FC236}">
                <a16:creationId xmlns:a16="http://schemas.microsoft.com/office/drawing/2014/main" id="{7818BF5B-C1A8-41C3-B8EC-97E6269A2DCA}"/>
              </a:ext>
            </a:extLst>
          </p:cNvPr>
          <p:cNvSpPr>
            <a:spLocks noGrp="1"/>
          </p:cNvSpPr>
          <p:nvPr/>
        </p:nvSpPr>
        <p:spPr>
          <a:xfrm>
            <a:off x="658440" y="1911240"/>
            <a:ext cx="2523240" cy="87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6" name="Google Shape;803;p12">
            <a:extLst>
              <a:ext uri="{FF2B5EF4-FFF2-40B4-BE49-F238E27FC236}">
                <a16:creationId xmlns:a16="http://schemas.microsoft.com/office/drawing/2014/main" id="{80C9805C-5ACC-4130-99C9-1D37E27C5017}"/>
              </a:ext>
            </a:extLst>
          </p:cNvPr>
          <p:cNvSpPr>
            <a:spLocks noGrp="1"/>
          </p:cNvSpPr>
          <p:nvPr/>
        </p:nvSpPr>
        <p:spPr>
          <a:xfrm>
            <a:off x="822960" y="2130480"/>
            <a:ext cx="383760" cy="383760"/>
          </a:xfrm>
          <a:prstGeom prst="ellipse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7" name="Google Shape;804;p12">
            <a:extLst>
              <a:ext uri="{FF2B5EF4-FFF2-40B4-BE49-F238E27FC236}">
                <a16:creationId xmlns:a16="http://schemas.microsoft.com/office/drawing/2014/main" id="{5AE2A623-A651-426D-97C1-F43228AD37D0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8" name="Google Shape;805;p12">
            <a:extLst>
              <a:ext uri="{FF2B5EF4-FFF2-40B4-BE49-F238E27FC236}">
                <a16:creationId xmlns:a16="http://schemas.microsoft.com/office/drawing/2014/main" id="{C15DDE30-80C2-4B44-8ED4-A961B8571A45}"/>
              </a:ext>
            </a:extLst>
          </p:cNvPr>
          <p:cNvSpPr>
            <a:spLocks noGrp="1"/>
          </p:cNvSpPr>
          <p:nvPr/>
        </p:nvSpPr>
        <p:spPr>
          <a:xfrm>
            <a:off x="1316880" y="201168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FDS 탐지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9" name="Google Shape;806;p12">
            <a:extLst>
              <a:ext uri="{FF2B5EF4-FFF2-40B4-BE49-F238E27FC236}">
                <a16:creationId xmlns:a16="http://schemas.microsoft.com/office/drawing/2014/main" id="{D6F8DD96-EA76-49A7-A7C8-087C39DADAB8}"/>
              </a:ext>
            </a:extLst>
          </p:cNvPr>
          <p:cNvSpPr>
            <a:spLocks noGrp="1"/>
          </p:cNvSpPr>
          <p:nvPr/>
        </p:nvSpPr>
        <p:spPr>
          <a:xfrm>
            <a:off x="1316880" y="231336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6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51개 공동룰 + 은행 자체룰</a:t>
            </a:r>
            <a:endParaRPr sz="6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Google Shape;807;p12">
            <a:extLst>
              <a:ext uri="{FF2B5EF4-FFF2-40B4-BE49-F238E27FC236}">
                <a16:creationId xmlns:a16="http://schemas.microsoft.com/office/drawing/2014/main" id="{C652D173-316A-4B81-8CCD-E6D23E68E9B4}"/>
              </a:ext>
            </a:extLst>
          </p:cNvPr>
          <p:cNvSpPr>
            <a:spLocks noGrp="1"/>
          </p:cNvSpPr>
          <p:nvPr/>
        </p:nvSpPr>
        <p:spPr>
          <a:xfrm>
            <a:off x="3237120" y="2240280"/>
            <a:ext cx="273960" cy="155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99FF"/>
          </a:solidFill>
          <a:ln w="9525">
            <a:solidFill>
              <a:srgbClr val="559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880" bIns="388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Google Shape;808;p12">
            <a:extLst>
              <a:ext uri="{FF2B5EF4-FFF2-40B4-BE49-F238E27FC236}">
                <a16:creationId xmlns:a16="http://schemas.microsoft.com/office/drawing/2014/main" id="{2CA5C888-95EE-419D-B940-1F6A74590CA9}"/>
              </a:ext>
            </a:extLst>
          </p:cNvPr>
          <p:cNvSpPr>
            <a:spLocks noGrp="1"/>
          </p:cNvSpPr>
          <p:nvPr/>
        </p:nvSpPr>
        <p:spPr>
          <a:xfrm>
            <a:off x="3511440" y="1911240"/>
            <a:ext cx="2523240" cy="87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Google Shape;809;p12">
            <a:extLst>
              <a:ext uri="{FF2B5EF4-FFF2-40B4-BE49-F238E27FC236}">
                <a16:creationId xmlns:a16="http://schemas.microsoft.com/office/drawing/2014/main" id="{34143271-93AD-4711-87FC-3E2CD2AFA9E0}"/>
              </a:ext>
            </a:extLst>
          </p:cNvPr>
          <p:cNvSpPr>
            <a:spLocks noGrp="1"/>
          </p:cNvSpPr>
          <p:nvPr/>
        </p:nvSpPr>
        <p:spPr>
          <a:xfrm>
            <a:off x="3675960" y="2130480"/>
            <a:ext cx="383760" cy="383760"/>
          </a:xfrm>
          <a:prstGeom prst="ellipse">
            <a:avLst/>
          </a:prstGeom>
          <a:solidFill>
            <a:srgbClr val="E29826"/>
          </a:solidFill>
          <a:ln w="9525">
            <a:solidFill>
              <a:srgbClr val="E298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3" name="Google Shape;810;p12">
            <a:extLst>
              <a:ext uri="{FF2B5EF4-FFF2-40B4-BE49-F238E27FC236}">
                <a16:creationId xmlns:a16="http://schemas.microsoft.com/office/drawing/2014/main" id="{B4B0EB73-FB28-4F0B-A297-F04556D887A1}"/>
              </a:ext>
            </a:extLst>
          </p:cNvPr>
          <p:cNvSpPr>
            <a:spLocks noGrp="1"/>
          </p:cNvSpPr>
          <p:nvPr/>
        </p:nvSpPr>
        <p:spPr>
          <a:xfrm>
            <a:off x="3675960" y="214884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Google Shape;811;p12">
            <a:extLst>
              <a:ext uri="{FF2B5EF4-FFF2-40B4-BE49-F238E27FC236}">
                <a16:creationId xmlns:a16="http://schemas.microsoft.com/office/drawing/2014/main" id="{D2B5ADF4-6224-4B2E-B53F-B67BF830AAF1}"/>
              </a:ext>
            </a:extLst>
          </p:cNvPr>
          <p:cNvSpPr>
            <a:spLocks noGrp="1"/>
          </p:cNvSpPr>
          <p:nvPr/>
        </p:nvSpPr>
        <p:spPr>
          <a:xfrm>
            <a:off x="4169520" y="201168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강화 본인확인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Google Shape;812;p12">
            <a:extLst>
              <a:ext uri="{FF2B5EF4-FFF2-40B4-BE49-F238E27FC236}">
                <a16:creationId xmlns:a16="http://schemas.microsoft.com/office/drawing/2014/main" id="{9B27552D-D5F2-4CD8-88AC-ADCA27674A23}"/>
              </a:ext>
            </a:extLst>
          </p:cNvPr>
          <p:cNvSpPr>
            <a:spLocks noGrp="1"/>
          </p:cNvSpPr>
          <p:nvPr/>
        </p:nvSpPr>
        <p:spPr>
          <a:xfrm>
            <a:off x="4169520" y="231336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6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아웃바운드콜·화상통화·생체인증</a:t>
            </a:r>
            <a:endParaRPr sz="6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Google Shape;813;p12">
            <a:extLst>
              <a:ext uri="{FF2B5EF4-FFF2-40B4-BE49-F238E27FC236}">
                <a16:creationId xmlns:a16="http://schemas.microsoft.com/office/drawing/2014/main" id="{91BF3F99-EBB8-4640-98FC-A4A28B5EB5EA}"/>
              </a:ext>
            </a:extLst>
          </p:cNvPr>
          <p:cNvSpPr>
            <a:spLocks noGrp="1"/>
          </p:cNvSpPr>
          <p:nvPr/>
        </p:nvSpPr>
        <p:spPr>
          <a:xfrm>
            <a:off x="6089760" y="2240280"/>
            <a:ext cx="273960" cy="155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99FF"/>
          </a:solidFill>
          <a:ln w="9525">
            <a:solidFill>
              <a:srgbClr val="559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880" bIns="388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Google Shape;814;p12">
            <a:extLst>
              <a:ext uri="{FF2B5EF4-FFF2-40B4-BE49-F238E27FC236}">
                <a16:creationId xmlns:a16="http://schemas.microsoft.com/office/drawing/2014/main" id="{F9A05E1B-EE45-4B75-9F88-3735337A98BC}"/>
              </a:ext>
            </a:extLst>
          </p:cNvPr>
          <p:cNvSpPr>
            <a:spLocks noGrp="1"/>
          </p:cNvSpPr>
          <p:nvPr/>
        </p:nvSpPr>
        <p:spPr>
          <a:xfrm>
            <a:off x="6364080" y="1911240"/>
            <a:ext cx="2523240" cy="87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Google Shape;815;p12">
            <a:extLst>
              <a:ext uri="{FF2B5EF4-FFF2-40B4-BE49-F238E27FC236}">
                <a16:creationId xmlns:a16="http://schemas.microsoft.com/office/drawing/2014/main" id="{6D89FC20-7727-4E82-B5F1-03429E7EF56A}"/>
              </a:ext>
            </a:extLst>
          </p:cNvPr>
          <p:cNvSpPr>
            <a:spLocks noGrp="1"/>
          </p:cNvSpPr>
          <p:nvPr/>
        </p:nvSpPr>
        <p:spPr>
          <a:xfrm>
            <a:off x="6528960" y="2130480"/>
            <a:ext cx="383760" cy="383760"/>
          </a:xfrm>
          <a:prstGeom prst="ellipse">
            <a:avLst/>
          </a:prstGeom>
          <a:solidFill>
            <a:srgbClr val="E84646"/>
          </a:solidFill>
          <a:ln w="9525">
            <a:solidFill>
              <a:srgbClr val="E8464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Google Shape;816;p12">
            <a:extLst>
              <a:ext uri="{FF2B5EF4-FFF2-40B4-BE49-F238E27FC236}">
                <a16:creationId xmlns:a16="http://schemas.microsoft.com/office/drawing/2014/main" id="{7BFC5200-A1A5-4DF4-B211-AAB26D48E436}"/>
              </a:ext>
            </a:extLst>
          </p:cNvPr>
          <p:cNvSpPr>
            <a:spLocks noGrp="1"/>
          </p:cNvSpPr>
          <p:nvPr/>
        </p:nvSpPr>
        <p:spPr>
          <a:xfrm>
            <a:off x="6528960" y="214884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Google Shape;817;p12">
            <a:extLst>
              <a:ext uri="{FF2B5EF4-FFF2-40B4-BE49-F238E27FC236}">
                <a16:creationId xmlns:a16="http://schemas.microsoft.com/office/drawing/2014/main" id="{F106A08F-E6FF-496E-8A80-260C71C0CBE5}"/>
              </a:ext>
            </a:extLst>
          </p:cNvPr>
          <p:cNvSpPr>
            <a:spLocks noGrp="1"/>
          </p:cNvSpPr>
          <p:nvPr/>
        </p:nvSpPr>
        <p:spPr>
          <a:xfrm>
            <a:off x="7022520" y="201168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거래보호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Google Shape;818;p12">
            <a:extLst>
              <a:ext uri="{FF2B5EF4-FFF2-40B4-BE49-F238E27FC236}">
                <a16:creationId xmlns:a16="http://schemas.microsoft.com/office/drawing/2014/main" id="{B5B1E745-BF53-4D0B-A4B3-F661C5EAD4AC}"/>
              </a:ext>
            </a:extLst>
          </p:cNvPr>
          <p:cNvSpPr>
            <a:spLocks noGrp="1"/>
          </p:cNvSpPr>
          <p:nvPr/>
        </p:nvSpPr>
        <p:spPr>
          <a:xfrm>
            <a:off x="7022520" y="231336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6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합리적 근거 시 즉시 거래정지</a:t>
            </a:r>
            <a:endParaRPr sz="6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Google Shape;819;p12">
            <a:extLst>
              <a:ext uri="{FF2B5EF4-FFF2-40B4-BE49-F238E27FC236}">
                <a16:creationId xmlns:a16="http://schemas.microsoft.com/office/drawing/2014/main" id="{C50207CB-9DAF-4E98-8184-9FC7C6B5B8B4}"/>
              </a:ext>
            </a:extLst>
          </p:cNvPr>
          <p:cNvSpPr>
            <a:spLocks noGrp="1"/>
          </p:cNvSpPr>
          <p:nvPr/>
        </p:nvSpPr>
        <p:spPr>
          <a:xfrm>
            <a:off x="8942760" y="2240280"/>
            <a:ext cx="273960" cy="155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99FF"/>
          </a:solidFill>
          <a:ln w="9525">
            <a:solidFill>
              <a:srgbClr val="559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880" bIns="388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Google Shape;820;p12">
            <a:extLst>
              <a:ext uri="{FF2B5EF4-FFF2-40B4-BE49-F238E27FC236}">
                <a16:creationId xmlns:a16="http://schemas.microsoft.com/office/drawing/2014/main" id="{C4D7F506-F761-4D06-88AA-C9BA5EE297B9}"/>
              </a:ext>
            </a:extLst>
          </p:cNvPr>
          <p:cNvSpPr>
            <a:spLocks noGrp="1"/>
          </p:cNvSpPr>
          <p:nvPr/>
        </p:nvSpPr>
        <p:spPr>
          <a:xfrm>
            <a:off x="9217080" y="1911240"/>
            <a:ext cx="2523240" cy="87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4" name="Google Shape;821;p12">
            <a:extLst>
              <a:ext uri="{FF2B5EF4-FFF2-40B4-BE49-F238E27FC236}">
                <a16:creationId xmlns:a16="http://schemas.microsoft.com/office/drawing/2014/main" id="{780D4314-1A37-4649-9FA7-5C67FB2DE9B2}"/>
              </a:ext>
            </a:extLst>
          </p:cNvPr>
          <p:cNvSpPr>
            <a:spLocks noGrp="1"/>
          </p:cNvSpPr>
          <p:nvPr/>
        </p:nvSpPr>
        <p:spPr>
          <a:xfrm>
            <a:off x="9381600" y="2130480"/>
            <a:ext cx="383760" cy="383760"/>
          </a:xfrm>
          <a:prstGeom prst="ellipse">
            <a:avLst/>
          </a:prstGeom>
          <a:solidFill>
            <a:srgbClr val="2B9D74"/>
          </a:solidFill>
          <a:ln w="9525">
            <a:solidFill>
              <a:srgbClr val="2B9D7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Google Shape;822;p12">
            <a:extLst>
              <a:ext uri="{FF2B5EF4-FFF2-40B4-BE49-F238E27FC236}">
                <a16:creationId xmlns:a16="http://schemas.microsoft.com/office/drawing/2014/main" id="{52CFC4B4-4370-48AE-B39D-84DB60C41497}"/>
              </a:ext>
            </a:extLst>
          </p:cNvPr>
          <p:cNvSpPr>
            <a:spLocks noGrp="1"/>
          </p:cNvSpPr>
          <p:nvPr/>
        </p:nvSpPr>
        <p:spPr>
          <a:xfrm>
            <a:off x="9381600" y="2148840"/>
            <a:ext cx="38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Google Shape;823;p12">
            <a:extLst>
              <a:ext uri="{FF2B5EF4-FFF2-40B4-BE49-F238E27FC236}">
                <a16:creationId xmlns:a16="http://schemas.microsoft.com/office/drawing/2014/main" id="{5C0FE1C3-FF75-4170-BAC9-14810369AD35}"/>
              </a:ext>
            </a:extLst>
          </p:cNvPr>
          <p:cNvSpPr>
            <a:spLocks noGrp="1"/>
          </p:cNvSpPr>
          <p:nvPr/>
        </p:nvSpPr>
        <p:spPr>
          <a:xfrm>
            <a:off x="9875520" y="201168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오탐 해제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Google Shape;824;p12">
            <a:extLst>
              <a:ext uri="{FF2B5EF4-FFF2-40B4-BE49-F238E27FC236}">
                <a16:creationId xmlns:a16="http://schemas.microsoft.com/office/drawing/2014/main" id="{60F56BF3-3EBE-41DB-B381-7F138C205039}"/>
              </a:ext>
            </a:extLst>
          </p:cNvPr>
          <p:cNvSpPr>
            <a:spLocks noGrp="1"/>
          </p:cNvSpPr>
          <p:nvPr/>
        </p:nvSpPr>
        <p:spPr>
          <a:xfrm>
            <a:off x="9875520" y="231336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6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신속한 확인절차 후 즉시 해제</a:t>
            </a:r>
            <a:endParaRPr sz="6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Google Shape;825;p12">
            <a:extLst>
              <a:ext uri="{FF2B5EF4-FFF2-40B4-BE49-F238E27FC236}">
                <a16:creationId xmlns:a16="http://schemas.microsoft.com/office/drawing/2014/main" id="{E4F2A30F-6ABB-4AF7-AA69-C30E9D6B91FA}"/>
              </a:ext>
            </a:extLst>
          </p:cNvPr>
          <p:cNvSpPr>
            <a:spLocks noGrp="1"/>
          </p:cNvSpPr>
          <p:nvPr/>
        </p:nvSpPr>
        <p:spPr>
          <a:xfrm>
            <a:off x="640080" y="3072240"/>
            <a:ext cx="959760" cy="228240"/>
          </a:xfrm>
          <a:prstGeom prst="roundRect">
            <a:avLst>
              <a:gd name="adj" fmla="val 20000"/>
            </a:avLst>
          </a:prstGeom>
          <a:solidFill>
            <a:srgbClr val="FDEDED"/>
          </a:solidFill>
          <a:ln w="9525">
            <a:solidFill>
              <a:srgbClr val="FDEDE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Google Shape;826;p12">
            <a:extLst>
              <a:ext uri="{FF2B5EF4-FFF2-40B4-BE49-F238E27FC236}">
                <a16:creationId xmlns:a16="http://schemas.microsoft.com/office/drawing/2014/main" id="{63FF0A8A-00FD-4B6D-BF7D-7392C2B4F351}"/>
              </a:ext>
            </a:extLst>
          </p:cNvPr>
          <p:cNvSpPr>
            <a:spLocks noGrp="1"/>
          </p:cNvSpPr>
          <p:nvPr/>
        </p:nvSpPr>
        <p:spPr>
          <a:xfrm>
            <a:off x="640080" y="307224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620" b="1" u="none">
                <a:solidFill>
                  <a:srgbClr val="E84646"/>
                </a:solidFill>
                <a:latin typeface="Arial"/>
                <a:ea typeface="Arial"/>
                <a:cs typeface="Arial"/>
              </a:rPr>
              <a:t>현장 사례</a:t>
            </a:r>
            <a:endParaRPr sz="6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Google Shape;827;p12">
            <a:extLst>
              <a:ext uri="{FF2B5EF4-FFF2-40B4-BE49-F238E27FC236}">
                <a16:creationId xmlns:a16="http://schemas.microsoft.com/office/drawing/2014/main" id="{9A0234F9-25F9-4883-A20F-D11B1CC79CF4}"/>
              </a:ext>
            </a:extLst>
          </p:cNvPr>
          <p:cNvSpPr>
            <a:spLocks noGrp="1"/>
          </p:cNvSpPr>
          <p:nvPr/>
        </p:nvSpPr>
        <p:spPr>
          <a:xfrm>
            <a:off x="1719000" y="3054240"/>
            <a:ext cx="5943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ASAP 출범 12주 공개사례 — 거래조치 이후 고객 접촉·상황 확인·설득이 실제로 이어짐</a:t>
            </a:r>
            <a:endParaRPr sz="9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Google Shape;828;p12">
            <a:extLst>
              <a:ext uri="{FF2B5EF4-FFF2-40B4-BE49-F238E27FC236}">
                <a16:creationId xmlns:a16="http://schemas.microsoft.com/office/drawing/2014/main" id="{0807A0FD-AE7E-4A45-967D-E3CC4AC7D2C5}"/>
              </a:ext>
            </a:extLst>
          </p:cNvPr>
          <p:cNvSpPr>
            <a:spLocks noGrp="1"/>
          </p:cNvSpPr>
          <p:nvPr/>
        </p:nvSpPr>
        <p:spPr>
          <a:xfrm>
            <a:off x="658440" y="3420000"/>
            <a:ext cx="3309840" cy="215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Google Shape;829;p12">
            <a:extLst>
              <a:ext uri="{FF2B5EF4-FFF2-40B4-BE49-F238E27FC236}">
                <a16:creationId xmlns:a16="http://schemas.microsoft.com/office/drawing/2014/main" id="{1C267DCE-8455-4CE1-A7DF-78C20129DCAD}"/>
              </a:ext>
            </a:extLst>
          </p:cNvPr>
          <p:cNvSpPr>
            <a:spLocks noGrp="1"/>
          </p:cNvSpPr>
          <p:nvPr/>
        </p:nvSpPr>
        <p:spPr>
          <a:xfrm>
            <a:off x="859680" y="3639240"/>
            <a:ext cx="959760" cy="237240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 w="9525">
            <a:solidFill>
              <a:srgbClr val="EBF3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Google Shape;830;p12">
            <a:extLst>
              <a:ext uri="{FF2B5EF4-FFF2-40B4-BE49-F238E27FC236}">
                <a16:creationId xmlns:a16="http://schemas.microsoft.com/office/drawing/2014/main" id="{17239409-3584-49F6-84B8-C14A4FE0FFC1}"/>
              </a:ext>
            </a:extLst>
          </p:cNvPr>
          <p:cNvSpPr>
            <a:spLocks noGrp="1"/>
          </p:cNvSpPr>
          <p:nvPr/>
        </p:nvSpPr>
        <p:spPr>
          <a:xfrm>
            <a:off x="859680" y="3639240"/>
            <a:ext cx="959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640" b="1" u="none">
                <a:solidFill>
                  <a:srgbClr val="2D6BFF"/>
                </a:solidFill>
                <a:latin typeface="Arial"/>
                <a:ea typeface="Arial"/>
                <a:cs typeface="Arial"/>
              </a:rPr>
              <a:t>즉시 거래중지</a:t>
            </a:r>
            <a:endParaRPr sz="6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Google Shape;831;p12">
            <a:extLst>
              <a:ext uri="{FF2B5EF4-FFF2-40B4-BE49-F238E27FC236}">
                <a16:creationId xmlns:a16="http://schemas.microsoft.com/office/drawing/2014/main" id="{2A892D2E-97F8-4206-AB79-96439D9555F7}"/>
              </a:ext>
            </a:extLst>
          </p:cNvPr>
          <p:cNvSpPr>
            <a:spLocks noGrp="1"/>
          </p:cNvSpPr>
          <p:nvPr/>
        </p:nvSpPr>
        <p:spPr>
          <a:xfrm>
            <a:off x="859680" y="4041720"/>
            <a:ext cx="2889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2D6BFF"/>
                </a:solidFill>
                <a:latin typeface="Arial"/>
                <a:ea typeface="Arial"/>
                <a:cs typeface="Arial"/>
              </a:rPr>
              <a:t>약 2,800만원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Google Shape;832;p12">
            <a:extLst>
              <a:ext uri="{FF2B5EF4-FFF2-40B4-BE49-F238E27FC236}">
                <a16:creationId xmlns:a16="http://schemas.microsoft.com/office/drawing/2014/main" id="{CCF25C1B-9BCC-40E1-9631-80685C4E4B0B}"/>
              </a:ext>
            </a:extLst>
          </p:cNvPr>
          <p:cNvSpPr>
            <a:spLocks noGrp="1"/>
          </p:cNvSpPr>
          <p:nvPr/>
        </p:nvSpPr>
        <p:spPr>
          <a:xfrm>
            <a:off x="905400" y="4590360"/>
            <a:ext cx="2797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타은행 사기이용계좌 연계 거래를 FDS 모니터링 중 포착해 즉시 중지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Google Shape;833;p12">
            <a:extLst>
              <a:ext uri="{FF2B5EF4-FFF2-40B4-BE49-F238E27FC236}">
                <a16:creationId xmlns:a16="http://schemas.microsoft.com/office/drawing/2014/main" id="{A766A0B2-7A43-4621-99CC-BDA2C884736C}"/>
              </a:ext>
            </a:extLst>
          </p:cNvPr>
          <p:cNvSpPr>
            <a:spLocks noGrp="1"/>
          </p:cNvSpPr>
          <p:nvPr/>
        </p:nvSpPr>
        <p:spPr>
          <a:xfrm>
            <a:off x="4297680" y="3420000"/>
            <a:ext cx="3309840" cy="215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Google Shape;834;p12">
            <a:extLst>
              <a:ext uri="{FF2B5EF4-FFF2-40B4-BE49-F238E27FC236}">
                <a16:creationId xmlns:a16="http://schemas.microsoft.com/office/drawing/2014/main" id="{3EF6FCEE-3549-4FD8-A5C3-082F2FF2A866}"/>
              </a:ext>
            </a:extLst>
          </p:cNvPr>
          <p:cNvSpPr>
            <a:spLocks noGrp="1"/>
          </p:cNvSpPr>
          <p:nvPr/>
        </p:nvSpPr>
        <p:spPr>
          <a:xfrm>
            <a:off x="4498920" y="3639240"/>
            <a:ext cx="959760" cy="237240"/>
          </a:xfrm>
          <a:prstGeom prst="roundRect">
            <a:avLst>
              <a:gd name="adj" fmla="val 20000"/>
            </a:avLst>
          </a:prstGeom>
          <a:solidFill>
            <a:srgbClr val="E8F8F2"/>
          </a:solidFill>
          <a:ln w="9525">
            <a:solidFill>
              <a:srgbClr val="E8F8F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Google Shape;835;p12">
            <a:extLst>
              <a:ext uri="{FF2B5EF4-FFF2-40B4-BE49-F238E27FC236}">
                <a16:creationId xmlns:a16="http://schemas.microsoft.com/office/drawing/2014/main" id="{B924DE41-5E4E-460D-8325-F5899EE06A38}"/>
              </a:ext>
            </a:extLst>
          </p:cNvPr>
          <p:cNvSpPr>
            <a:spLocks noGrp="1"/>
          </p:cNvSpPr>
          <p:nvPr/>
        </p:nvSpPr>
        <p:spPr>
          <a:xfrm>
            <a:off x="4498920" y="3639240"/>
            <a:ext cx="959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640" b="1" u="none">
                <a:solidFill>
                  <a:srgbClr val="2B9D74"/>
                </a:solidFill>
                <a:latin typeface="Arial"/>
                <a:ea typeface="Arial"/>
                <a:cs typeface="Arial"/>
              </a:rPr>
              <a:t>3시간 지연출금</a:t>
            </a:r>
            <a:endParaRPr sz="6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Google Shape;836;p12">
            <a:extLst>
              <a:ext uri="{FF2B5EF4-FFF2-40B4-BE49-F238E27FC236}">
                <a16:creationId xmlns:a16="http://schemas.microsoft.com/office/drawing/2014/main" id="{CF2ABC95-F6A3-459A-904A-89C1163DB98A}"/>
              </a:ext>
            </a:extLst>
          </p:cNvPr>
          <p:cNvSpPr>
            <a:spLocks noGrp="1"/>
          </p:cNvSpPr>
          <p:nvPr/>
        </p:nvSpPr>
        <p:spPr>
          <a:xfrm>
            <a:off x="4498920" y="4041720"/>
            <a:ext cx="2889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2B9D74"/>
                </a:solidFill>
                <a:latin typeface="Arial"/>
                <a:ea typeface="Arial"/>
                <a:cs typeface="Arial"/>
              </a:rPr>
              <a:t>약 2,000만원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Google Shape;837;p12">
            <a:extLst>
              <a:ext uri="{FF2B5EF4-FFF2-40B4-BE49-F238E27FC236}">
                <a16:creationId xmlns:a16="http://schemas.microsoft.com/office/drawing/2014/main" id="{AF975417-8E98-4ED1-9799-533AFC110EA4}"/>
              </a:ext>
            </a:extLst>
          </p:cNvPr>
          <p:cNvSpPr>
            <a:spLocks noGrp="1"/>
          </p:cNvSpPr>
          <p:nvPr/>
        </p:nvSpPr>
        <p:spPr>
          <a:xfrm>
            <a:off x="4544640" y="4590360"/>
            <a:ext cx="2797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악성앱 설치 잠재 피해자의 이체를 지연하고 고객에게 연락해 모텔 투숙 등 보이스피싱 정황 확인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Google Shape;838;p12">
            <a:extLst>
              <a:ext uri="{FF2B5EF4-FFF2-40B4-BE49-F238E27FC236}">
                <a16:creationId xmlns:a16="http://schemas.microsoft.com/office/drawing/2014/main" id="{1A740016-E0BB-4EB8-A643-9F7FD1B71638}"/>
              </a:ext>
            </a:extLst>
          </p:cNvPr>
          <p:cNvSpPr>
            <a:spLocks noGrp="1"/>
          </p:cNvSpPr>
          <p:nvPr/>
        </p:nvSpPr>
        <p:spPr>
          <a:xfrm>
            <a:off x="7936920" y="3420000"/>
            <a:ext cx="3309840" cy="2157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Google Shape;839;p12">
            <a:extLst>
              <a:ext uri="{FF2B5EF4-FFF2-40B4-BE49-F238E27FC236}">
                <a16:creationId xmlns:a16="http://schemas.microsoft.com/office/drawing/2014/main" id="{D620B3B2-8F4C-4AEC-83C0-0E169F4C6AE9}"/>
              </a:ext>
            </a:extLst>
          </p:cNvPr>
          <p:cNvSpPr>
            <a:spLocks noGrp="1"/>
          </p:cNvSpPr>
          <p:nvPr/>
        </p:nvSpPr>
        <p:spPr>
          <a:xfrm>
            <a:off x="8138160" y="3639240"/>
            <a:ext cx="959760" cy="237240"/>
          </a:xfrm>
          <a:prstGeom prst="roundRect">
            <a:avLst>
              <a:gd name="adj" fmla="val 20000"/>
            </a:avLst>
          </a:prstGeom>
          <a:solidFill>
            <a:srgbClr val="FFF6E3"/>
          </a:solidFill>
          <a:ln w="9525">
            <a:solidFill>
              <a:srgbClr val="FFF6E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Google Shape;840;p12">
            <a:extLst>
              <a:ext uri="{FF2B5EF4-FFF2-40B4-BE49-F238E27FC236}">
                <a16:creationId xmlns:a16="http://schemas.microsoft.com/office/drawing/2014/main" id="{DDCEA6D3-D4CB-425B-A575-D5016B5F9060}"/>
              </a:ext>
            </a:extLst>
          </p:cNvPr>
          <p:cNvSpPr>
            <a:spLocks noGrp="1"/>
          </p:cNvSpPr>
          <p:nvPr/>
        </p:nvSpPr>
        <p:spPr>
          <a:xfrm>
            <a:off x="8138160" y="3639240"/>
            <a:ext cx="959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640" b="1" u="none">
                <a:solidFill>
                  <a:srgbClr val="E29826"/>
                </a:solidFill>
                <a:latin typeface="Arial"/>
                <a:ea typeface="Arial"/>
                <a:cs typeface="Arial"/>
              </a:rPr>
              <a:t>지속적 설득</a:t>
            </a:r>
            <a:endParaRPr sz="6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Google Shape;841;p12">
            <a:extLst>
              <a:ext uri="{FF2B5EF4-FFF2-40B4-BE49-F238E27FC236}">
                <a16:creationId xmlns:a16="http://schemas.microsoft.com/office/drawing/2014/main" id="{ADA4EEB6-C646-47AB-BBF2-B5BAC1C5B60D}"/>
              </a:ext>
            </a:extLst>
          </p:cNvPr>
          <p:cNvSpPr>
            <a:spLocks noGrp="1"/>
          </p:cNvSpPr>
          <p:nvPr/>
        </p:nvSpPr>
        <p:spPr>
          <a:xfrm>
            <a:off x="8138160" y="4041720"/>
            <a:ext cx="2889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E29826"/>
                </a:solidFill>
                <a:latin typeface="Arial"/>
                <a:ea typeface="Arial"/>
                <a:cs typeface="Arial"/>
              </a:rPr>
              <a:t>추가이체 방지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Google Shape;842;p12">
            <a:extLst>
              <a:ext uri="{FF2B5EF4-FFF2-40B4-BE49-F238E27FC236}">
                <a16:creationId xmlns:a16="http://schemas.microsoft.com/office/drawing/2014/main" id="{FFE2CF5A-76CD-4D29-8B7D-DCEDF752E0F8}"/>
              </a:ext>
            </a:extLst>
          </p:cNvPr>
          <p:cNvSpPr>
            <a:spLocks noGrp="1"/>
          </p:cNvSpPr>
          <p:nvPr/>
        </p:nvSpPr>
        <p:spPr>
          <a:xfrm>
            <a:off x="8183880" y="4590360"/>
            <a:ext cx="2797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고객이 처음에는 사기를 부인하고 추가이체 의사를 밝혔으나 직원 설득 후 인지·경찰 신고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Google Shape;843;p12">
            <a:extLst>
              <a:ext uri="{FF2B5EF4-FFF2-40B4-BE49-F238E27FC236}">
                <a16:creationId xmlns:a16="http://schemas.microsoft.com/office/drawing/2014/main" id="{8D452D25-3738-49BA-A4B6-93006E51D096}"/>
              </a:ext>
            </a:extLst>
          </p:cNvPr>
          <p:cNvSpPr>
            <a:spLocks noGrp="1"/>
          </p:cNvSpPr>
          <p:nvPr/>
        </p:nvSpPr>
        <p:spPr>
          <a:xfrm>
            <a:off x="1078920" y="5843160"/>
            <a:ext cx="10058040" cy="356400"/>
          </a:xfrm>
          <a:prstGeom prst="roundRect">
            <a:avLst>
              <a:gd name="adj" fmla="val 5000"/>
            </a:avLst>
          </a:prstGeom>
          <a:solidFill>
            <a:srgbClr val="0E2746"/>
          </a:solidFill>
          <a:ln w="9525">
            <a:solidFill>
              <a:srgbClr val="0E274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Google Shape;844;p12">
            <a:extLst>
              <a:ext uri="{FF2B5EF4-FFF2-40B4-BE49-F238E27FC236}">
                <a16:creationId xmlns:a16="http://schemas.microsoft.com/office/drawing/2014/main" id="{5E49BDFE-C3F9-428D-81A1-EEA5067DF99B}"/>
              </a:ext>
            </a:extLst>
          </p:cNvPr>
          <p:cNvSpPr>
            <a:spLocks noGrp="1"/>
          </p:cNvSpPr>
          <p:nvPr/>
        </p:nvSpPr>
        <p:spPr>
          <a:xfrm>
            <a:off x="1078920" y="585216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9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고객이 범죄를 부인하거나 추가이체를 원하면, 직원은 사실 확인과 설득에 더 많은 시간을 써야 합니다.</a:t>
            </a:r>
            <a:endParaRPr sz="7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06" name="Google Shape;845;p12"/>
          <p:cNvCxnSpPr/>
          <p:nvPr/>
        </p:nvCxnSpPr>
        <p:spPr>
          <a:xfrm>
            <a:off x="548640" y="6418800"/>
            <a:ext cx="11082600" cy="360"/>
          </a:xfrm>
          <a:prstGeom prst="straightConnector1">
            <a:avLst/>
          </a:prstGeom>
          <a:ln w="10150">
            <a:solidFill>
              <a:srgbClr val="D9E4F0"/>
            </a:solidFill>
            <a:miter/>
          </a:ln>
        </p:spPr>
      </p:cxnSp>
      <p:sp>
        <p:nvSpPr>
          <p:cNvPr id="579" name="Google Shape;846;p12">
            <a:extLst>
              <a:ext uri="{FF2B5EF4-FFF2-40B4-BE49-F238E27FC236}">
                <a16:creationId xmlns:a16="http://schemas.microsoft.com/office/drawing/2014/main" id="{A88D55A1-8B24-4D1B-9543-37A8C62E3B96}"/>
              </a:ext>
            </a:extLst>
          </p:cNvPr>
          <p:cNvSpPr>
            <a:spLocks noGrp="1"/>
          </p:cNvSpPr>
          <p:nvPr/>
        </p:nvSpPr>
        <p:spPr>
          <a:xfrm>
            <a:off x="567000" y="649224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10" b="1" u="none">
                <a:solidFill>
                  <a:srgbClr val="8291A5"/>
                </a:solidFill>
                <a:latin typeface="Arial"/>
                <a:ea typeface="Arial"/>
                <a:cs typeface="Arial"/>
              </a:rPr>
              <a:t>근거</a:t>
            </a:r>
            <a:endParaRPr sz="6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Google Shape;847;p12">
            <a:extLst>
              <a:ext uri="{FF2B5EF4-FFF2-40B4-BE49-F238E27FC236}">
                <a16:creationId xmlns:a16="http://schemas.microsoft.com/office/drawing/2014/main" id="{8E4CD69E-72BD-4659-86D0-5C8B75009031}"/>
              </a:ext>
            </a:extLst>
          </p:cNvPr>
          <p:cNvSpPr>
            <a:spLocks noGrp="1"/>
          </p:cNvSpPr>
          <p:nvPr/>
        </p:nvSpPr>
        <p:spPr>
          <a:xfrm>
            <a:off x="905400" y="6483240"/>
            <a:ext cx="870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00" b="0" u="sng">
                <a:solidFill>
                  <a:srgbClr val="8291A5"/>
                </a:solidFill>
                <a:latin typeface="Arial"/>
                <a:ea typeface="Arial"/>
                <a:cs typeface="Arial"/>
                <a:hlinkClick r:id="rId3"/>
              </a:rPr>
              <a:t>FDS 운영 가이드라인  ·  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Google Shape;848;p12">
            <a:extLst>
              <a:ext uri="{FF2B5EF4-FFF2-40B4-BE49-F238E27FC236}">
                <a16:creationId xmlns:a16="http://schemas.microsoft.com/office/drawing/2014/main" id="{5C510E3E-C0F7-4A78-9F7C-5E096353BA19}"/>
              </a:ext>
            </a:extLst>
          </p:cNvPr>
          <p:cNvSpPr>
            <a:spLocks noGrp="1"/>
          </p:cNvSpPr>
          <p:nvPr/>
        </p:nvSpPr>
        <p:spPr>
          <a:xfrm>
            <a:off x="1775880" y="6483240"/>
            <a:ext cx="8190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00" b="0" u="sng">
                <a:solidFill>
                  <a:srgbClr val="8291A5"/>
                </a:solidFill>
                <a:latin typeface="Arial"/>
                <a:ea typeface="Arial"/>
                <a:cs typeface="Arial"/>
                <a:hlinkClick r:id="rId4"/>
              </a:rPr>
              <a:t>ASAP 12주 성과·현장사례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7" name="TextBox 906"/>
          <p:cNvSpPr txBox="1"/>
          <p:nvPr/>
        </p:nvSpPr>
        <p:spPr>
          <a:xfrm>
            <a:off x="11292840" y="6464808"/>
            <a:ext cx="32004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00" b="0">
                <a:solidFill>
                  <a:srgbClr val="6A7B97"/>
                </a:solidFill>
                <a:latin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4580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854;p13">
            <a:extLst>
              <a:ext uri="{FF2B5EF4-FFF2-40B4-BE49-F238E27FC236}">
                <a16:creationId xmlns:a16="http://schemas.microsoft.com/office/drawing/2014/main" id="{0D31ECE2-AB03-40EF-B620-4C2C800CEE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50040"/>
          </a:xfrm>
          <a:prstGeom prst="rect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Google Shape;855;p13">
            <a:extLst>
              <a:ext uri="{FF2B5EF4-FFF2-40B4-BE49-F238E27FC236}">
                <a16:creationId xmlns:a16="http://schemas.microsoft.com/office/drawing/2014/main" id="{2C048868-18AE-4013-B216-F30B09177DE9}"/>
              </a:ext>
            </a:extLst>
          </p:cNvPr>
          <p:cNvSpPr>
            <a:spLocks noGrp="1"/>
          </p:cNvSpPr>
          <p:nvPr/>
        </p:nvSpPr>
        <p:spPr>
          <a:xfrm>
            <a:off x="548640" y="2469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sz="975" b="1" u="none">
                <a:solidFill>
                  <a:srgbClr val="2F66E8"/>
                </a:solidFill>
                <a:latin typeface="Arial"/>
                <a:ea typeface="Arial"/>
                <a:cs typeface="Arial"/>
              </a:rPr>
              <a:t>현행 체계 ③ · 순차 업무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Google Shape;856;p13">
            <a:extLst>
              <a:ext uri="{FF2B5EF4-FFF2-40B4-BE49-F238E27FC236}">
                <a16:creationId xmlns:a16="http://schemas.microsoft.com/office/drawing/2014/main" id="{618ED7D0-7C71-4DA8-82BC-1A9BFA41AD10}"/>
              </a:ext>
            </a:extLst>
          </p:cNvPr>
          <p:cNvSpPr>
            <a:spLocks noGrp="1"/>
          </p:cNvSpPr>
          <p:nvPr/>
        </p:nvSpPr>
        <p:spPr>
          <a:xfrm>
            <a:off x="548640" y="567000"/>
            <a:ext cx="10652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2175" b="1">
                <a:solidFill>
                  <a:srgbClr val="0E2746"/>
                </a:solidFill>
              </a:defRPr>
            </a:pPr>
            <a:r>
              <a:rPr sz="217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탐지 이후의 확인 업무는 여러 담당자를 거쳐 순차적으로 진행됩니다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Google Shape;857;p13">
            <a:extLst>
              <a:ext uri="{FF2B5EF4-FFF2-40B4-BE49-F238E27FC236}">
                <a16:creationId xmlns:a16="http://schemas.microsoft.com/office/drawing/2014/main" id="{106D3BF0-4D78-4815-8FCB-2CE02E110A69}"/>
              </a:ext>
            </a:extLst>
          </p:cNvPr>
          <p:cNvSpPr>
            <a:spLocks noGrp="1"/>
          </p:cNvSpPr>
          <p:nvPr/>
        </p:nvSpPr>
        <p:spPr>
          <a:xfrm>
            <a:off x="548640" y="1078920"/>
            <a:ext cx="10560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sz="97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통화 맥락이 부족하면 같은 사건을 다시 정리하고 전달하는 과정이 반복됩니다.</a:t>
            </a:r>
            <a:endParaRPr sz="9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Google Shape;858;p13">
            <a:extLst>
              <a:ext uri="{FF2B5EF4-FFF2-40B4-BE49-F238E27FC236}">
                <a16:creationId xmlns:a16="http://schemas.microsoft.com/office/drawing/2014/main" id="{CEF1B927-B301-40C9-91BD-4F9ED2411AD6}"/>
              </a:ext>
            </a:extLst>
          </p:cNvPr>
          <p:cNvSpPr>
            <a:spLocks noGrp="1"/>
          </p:cNvSpPr>
          <p:nvPr/>
        </p:nvSpPr>
        <p:spPr>
          <a:xfrm>
            <a:off x="11000160" y="0"/>
            <a:ext cx="859320" cy="859320"/>
          </a:xfrm>
          <a:prstGeom prst="ellipse">
            <a:avLst/>
          </a:prstGeom>
          <a:solidFill>
            <a:srgbClr val="EBF3FF"/>
          </a:solidFill>
          <a:ln w="9525">
            <a:solidFill>
              <a:srgbClr val="EBF3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8" name="Google Shape;859;p13">
            <a:extLst>
              <a:ext uri="{FF2B5EF4-FFF2-40B4-BE49-F238E27FC236}">
                <a16:creationId xmlns:a16="http://schemas.microsoft.com/office/drawing/2014/main" id="{184659D2-0CE2-4629-9A0A-8ACEA3AC80A3}"/>
              </a:ext>
            </a:extLst>
          </p:cNvPr>
          <p:cNvSpPr>
            <a:spLocks noGrp="1"/>
          </p:cNvSpPr>
          <p:nvPr/>
        </p:nvSpPr>
        <p:spPr>
          <a:xfrm>
            <a:off x="11448360" y="146160"/>
            <a:ext cx="164160" cy="164160"/>
          </a:xfrm>
          <a:prstGeom prst="ellipse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080" rIns="820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Google Shape;861;p13">
            <a:extLst>
              <a:ext uri="{FF2B5EF4-FFF2-40B4-BE49-F238E27FC236}">
                <a16:creationId xmlns:a16="http://schemas.microsoft.com/office/drawing/2014/main" id="{66316C90-7B41-46BF-AA9B-F7E7B7108159}"/>
              </a:ext>
            </a:extLst>
          </p:cNvPr>
          <p:cNvSpPr>
            <a:spLocks noGrp="1"/>
          </p:cNvSpPr>
          <p:nvPr/>
        </p:nvSpPr>
        <p:spPr>
          <a:xfrm>
            <a:off x="640080" y="1627560"/>
            <a:ext cx="3437640" cy="418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1" name="Google Shape;862;p13">
            <a:extLst>
              <a:ext uri="{FF2B5EF4-FFF2-40B4-BE49-F238E27FC236}">
                <a16:creationId xmlns:a16="http://schemas.microsoft.com/office/drawing/2014/main" id="{E6525ABA-0C7D-4029-BAD1-5446E31E0A8A}"/>
              </a:ext>
            </a:extLst>
          </p:cNvPr>
          <p:cNvSpPr>
            <a:spLocks noGrp="1"/>
          </p:cNvSpPr>
          <p:nvPr/>
        </p:nvSpPr>
        <p:spPr>
          <a:xfrm>
            <a:off x="868680" y="1865520"/>
            <a:ext cx="438480" cy="438480"/>
          </a:xfrm>
          <a:prstGeom prst="ellipse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Google Shape;863;p13">
            <a:extLst>
              <a:ext uri="{FF2B5EF4-FFF2-40B4-BE49-F238E27FC236}">
                <a16:creationId xmlns:a16="http://schemas.microsoft.com/office/drawing/2014/main" id="{AF9F7FA7-D823-4E0E-8E00-4B747F792700}"/>
              </a:ext>
            </a:extLst>
          </p:cNvPr>
          <p:cNvSpPr>
            <a:spLocks noGrp="1"/>
          </p:cNvSpPr>
          <p:nvPr/>
        </p:nvSpPr>
        <p:spPr>
          <a:xfrm>
            <a:off x="868680" y="1892880"/>
            <a:ext cx="438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3" name="Google Shape;864;p13">
            <a:extLst>
              <a:ext uri="{FF2B5EF4-FFF2-40B4-BE49-F238E27FC236}">
                <a16:creationId xmlns:a16="http://schemas.microsoft.com/office/drawing/2014/main" id="{438FEB15-45CF-4573-9548-969BA2FC3426}"/>
              </a:ext>
            </a:extLst>
          </p:cNvPr>
          <p:cNvSpPr>
            <a:spLocks noGrp="1"/>
          </p:cNvSpPr>
          <p:nvPr/>
        </p:nvSpPr>
        <p:spPr>
          <a:xfrm>
            <a:off x="1472040" y="1847160"/>
            <a:ext cx="2313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E2746"/>
                </a:solidFill>
              </a:defRPr>
            </a:pPr>
            <a:r>
              <a:rPr sz="12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모니터링 직원</a:t>
            </a:r>
            <a:endParaRPr sz="13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Google Shape;865;p13">
            <a:extLst>
              <a:ext uri="{FF2B5EF4-FFF2-40B4-BE49-F238E27FC236}">
                <a16:creationId xmlns:a16="http://schemas.microsoft.com/office/drawing/2014/main" id="{A390C43D-8F86-49FB-9284-F90FFBB8E878}"/>
              </a:ext>
            </a:extLst>
          </p:cNvPr>
          <p:cNvSpPr>
            <a:spLocks noGrp="1"/>
          </p:cNvSpPr>
          <p:nvPr/>
        </p:nvSpPr>
        <p:spPr>
          <a:xfrm>
            <a:off x="868680" y="2395800"/>
            <a:ext cx="1069560" cy="228240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 w="9525">
            <a:solidFill>
              <a:srgbClr val="EBF3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5" name="Google Shape;866;p13">
            <a:extLst>
              <a:ext uri="{FF2B5EF4-FFF2-40B4-BE49-F238E27FC236}">
                <a16:creationId xmlns:a16="http://schemas.microsoft.com/office/drawing/2014/main" id="{8F63ECFA-F07C-4865-B45C-1B50DFFEB971}"/>
              </a:ext>
            </a:extLst>
          </p:cNvPr>
          <p:cNvSpPr>
            <a:spLocks noGrp="1"/>
          </p:cNvSpPr>
          <p:nvPr/>
        </p:nvSpPr>
        <p:spPr>
          <a:xfrm>
            <a:off x="868680" y="2395800"/>
            <a:ext cx="1069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1">
                <a:solidFill>
                  <a:srgbClr val="2F66E8"/>
                </a:solidFill>
              </a:defRPr>
            </a:pPr>
            <a:r>
              <a:rPr sz="750" b="1" u="none">
                <a:solidFill>
                  <a:srgbClr val="2F66E8"/>
                </a:solidFill>
                <a:latin typeface="Arial"/>
                <a:ea typeface="Arial"/>
                <a:cs typeface="Arial"/>
              </a:rPr>
              <a:t>Alert 수신</a:t>
            </a:r>
            <a:endParaRPr sz="59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Google Shape;867;p13">
            <a:extLst>
              <a:ext uri="{FF2B5EF4-FFF2-40B4-BE49-F238E27FC236}">
                <a16:creationId xmlns:a16="http://schemas.microsoft.com/office/drawing/2014/main" id="{48AF9C1C-7BE5-4DE9-9EEF-7E7310F2F25C}"/>
              </a:ext>
            </a:extLst>
          </p:cNvPr>
          <p:cNvSpPr>
            <a:spLocks noGrp="1"/>
          </p:cNvSpPr>
          <p:nvPr/>
        </p:nvSpPr>
        <p:spPr>
          <a:xfrm>
            <a:off x="868680" y="2761560"/>
            <a:ext cx="29624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0">
                <a:solidFill>
                  <a:srgbClr val="66768F"/>
                </a:solidFill>
              </a:defRPr>
            </a:pPr>
            <a:r>
              <a:rPr sz="82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통신 AI·ASAP·FDS 신호 확인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0">
                <a:solidFill>
                  <a:srgbClr val="66768F"/>
                </a:solidFill>
              </a:defRPr>
            </a:pPr>
            <a:r>
              <a:rPr sz="82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거래·계좌 위험 분석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0">
                <a:solidFill>
                  <a:srgbClr val="66768F"/>
                </a:solidFill>
              </a:defRPr>
            </a:pPr>
            <a:r>
              <a:rPr sz="82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확인사항·확인계획 정리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43" name="Google Shape;868;p13"/>
          <p:cNvCxnSpPr/>
          <p:nvPr/>
        </p:nvCxnSpPr>
        <p:spPr>
          <a:xfrm>
            <a:off x="868680" y="3876840"/>
            <a:ext cx="2972160" cy="360"/>
          </a:xfrm>
          <a:prstGeom prst="straightConnector1">
            <a:avLst/>
          </a:prstGeom>
          <a:ln w="12700">
            <a:solidFill>
              <a:srgbClr val="D9E4F0"/>
            </a:solidFill>
            <a:miter/>
          </a:ln>
        </p:spPr>
      </p:cxnSp>
      <p:sp>
        <p:nvSpPr>
          <p:cNvPr id="598" name="Google Shape;869;p13">
            <a:extLst>
              <a:ext uri="{FF2B5EF4-FFF2-40B4-BE49-F238E27FC236}">
                <a16:creationId xmlns:a16="http://schemas.microsoft.com/office/drawing/2014/main" id="{A734FCC4-64FF-4014-9FF0-F71A1C57FC0B}"/>
              </a:ext>
            </a:extLst>
          </p:cNvPr>
          <p:cNvSpPr>
            <a:spLocks noGrp="1"/>
          </p:cNvSpPr>
          <p:nvPr/>
        </p:nvSpPr>
        <p:spPr>
          <a:xfrm>
            <a:off x="868680" y="4087440"/>
            <a:ext cx="895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750" b="1">
                <a:solidFill>
                  <a:srgbClr val="2F66E8"/>
                </a:solidFill>
              </a:defRPr>
            </a:pPr>
            <a:r>
              <a:rPr sz="750" b="1" u="none">
                <a:solidFill>
                  <a:srgbClr val="2F66E8"/>
                </a:solidFill>
                <a:latin typeface="Arial"/>
                <a:ea typeface="Arial"/>
                <a:cs typeface="Arial"/>
              </a:rPr>
              <a:t>콜센터에 전달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9" name="Google Shape;870;p13">
            <a:extLst>
              <a:ext uri="{FF2B5EF4-FFF2-40B4-BE49-F238E27FC236}">
                <a16:creationId xmlns:a16="http://schemas.microsoft.com/office/drawing/2014/main" id="{BFAABBFB-D602-48F3-AB4D-D69E41A87DEC}"/>
              </a:ext>
            </a:extLst>
          </p:cNvPr>
          <p:cNvSpPr>
            <a:spLocks noGrp="1"/>
          </p:cNvSpPr>
          <p:nvPr/>
        </p:nvSpPr>
        <p:spPr>
          <a:xfrm>
            <a:off x="868680" y="4407480"/>
            <a:ext cx="29624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고객에게 확인할 질문과</a:t>
            </a:r>
            <a:endParaRPr sz="7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사건 요약을 별도로 공유</a:t>
            </a:r>
            <a:endParaRPr sz="7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0" name="Google Shape;871;p13">
            <a:extLst>
              <a:ext uri="{FF2B5EF4-FFF2-40B4-BE49-F238E27FC236}">
                <a16:creationId xmlns:a16="http://schemas.microsoft.com/office/drawing/2014/main" id="{50026F61-24FA-460B-BBB9-D8E5B1E1BCF4}"/>
              </a:ext>
            </a:extLst>
          </p:cNvPr>
          <p:cNvSpPr>
            <a:spLocks noGrp="1"/>
          </p:cNvSpPr>
          <p:nvPr/>
        </p:nvSpPr>
        <p:spPr>
          <a:xfrm>
            <a:off x="4370760" y="1627560"/>
            <a:ext cx="3437640" cy="418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1" name="Google Shape;872;p13">
            <a:extLst>
              <a:ext uri="{FF2B5EF4-FFF2-40B4-BE49-F238E27FC236}">
                <a16:creationId xmlns:a16="http://schemas.microsoft.com/office/drawing/2014/main" id="{122EC9B2-7482-4278-9509-0DBD223CD2F7}"/>
              </a:ext>
            </a:extLst>
          </p:cNvPr>
          <p:cNvSpPr>
            <a:spLocks noGrp="1"/>
          </p:cNvSpPr>
          <p:nvPr/>
        </p:nvSpPr>
        <p:spPr>
          <a:xfrm>
            <a:off x="4599360" y="1865520"/>
            <a:ext cx="438480" cy="438480"/>
          </a:xfrm>
          <a:prstGeom prst="ellipse">
            <a:avLst/>
          </a:prstGeom>
          <a:solidFill>
            <a:srgbClr val="2B9D74"/>
          </a:solidFill>
          <a:ln w="9525">
            <a:solidFill>
              <a:srgbClr val="2B9D7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2" name="Google Shape;873;p13">
            <a:extLst>
              <a:ext uri="{FF2B5EF4-FFF2-40B4-BE49-F238E27FC236}">
                <a16:creationId xmlns:a16="http://schemas.microsoft.com/office/drawing/2014/main" id="{E9934A18-805F-4463-9A13-15009F0E3755}"/>
              </a:ext>
            </a:extLst>
          </p:cNvPr>
          <p:cNvSpPr>
            <a:spLocks noGrp="1"/>
          </p:cNvSpPr>
          <p:nvPr/>
        </p:nvSpPr>
        <p:spPr>
          <a:xfrm>
            <a:off x="4599360" y="1892880"/>
            <a:ext cx="438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3" name="Google Shape;874;p13">
            <a:extLst>
              <a:ext uri="{FF2B5EF4-FFF2-40B4-BE49-F238E27FC236}">
                <a16:creationId xmlns:a16="http://schemas.microsoft.com/office/drawing/2014/main" id="{1C7F6479-DE3B-49BE-B6EC-35DDF1D92E20}"/>
              </a:ext>
            </a:extLst>
          </p:cNvPr>
          <p:cNvSpPr>
            <a:spLocks noGrp="1"/>
          </p:cNvSpPr>
          <p:nvPr/>
        </p:nvSpPr>
        <p:spPr>
          <a:xfrm>
            <a:off x="5203080" y="1847160"/>
            <a:ext cx="2313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E2746"/>
                </a:solidFill>
              </a:defRPr>
            </a:pPr>
            <a:r>
              <a:rPr sz="12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콜센터 직원</a:t>
            </a:r>
            <a:endParaRPr sz="13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4" name="Google Shape;875;p13">
            <a:extLst>
              <a:ext uri="{FF2B5EF4-FFF2-40B4-BE49-F238E27FC236}">
                <a16:creationId xmlns:a16="http://schemas.microsoft.com/office/drawing/2014/main" id="{8938EC89-D9E6-49BC-A250-F5EC618398D1}"/>
              </a:ext>
            </a:extLst>
          </p:cNvPr>
          <p:cNvSpPr>
            <a:spLocks noGrp="1"/>
          </p:cNvSpPr>
          <p:nvPr/>
        </p:nvSpPr>
        <p:spPr>
          <a:xfrm>
            <a:off x="4599360" y="2395800"/>
            <a:ext cx="1069560" cy="228240"/>
          </a:xfrm>
          <a:prstGeom prst="roundRect">
            <a:avLst>
              <a:gd name="adj" fmla="val 20000"/>
            </a:avLst>
          </a:prstGeom>
          <a:solidFill>
            <a:srgbClr val="E8F8F2"/>
          </a:solidFill>
          <a:ln w="9525">
            <a:solidFill>
              <a:srgbClr val="E8F8F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5" name="Google Shape;876;p13">
            <a:extLst>
              <a:ext uri="{FF2B5EF4-FFF2-40B4-BE49-F238E27FC236}">
                <a16:creationId xmlns:a16="http://schemas.microsoft.com/office/drawing/2014/main" id="{D16895A7-5538-49A7-857F-BFA080EC37A6}"/>
              </a:ext>
            </a:extLst>
          </p:cNvPr>
          <p:cNvSpPr>
            <a:spLocks noGrp="1"/>
          </p:cNvSpPr>
          <p:nvPr/>
        </p:nvSpPr>
        <p:spPr>
          <a:xfrm>
            <a:off x="4599360" y="2395800"/>
            <a:ext cx="1069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1">
                <a:solidFill>
                  <a:srgbClr val="E29826"/>
                </a:solidFill>
              </a:defRPr>
            </a:pPr>
            <a:r>
              <a:rPr sz="750" b="1" u="none">
                <a:solidFill>
                  <a:srgbClr val="E29826"/>
                </a:solidFill>
                <a:latin typeface="Arial"/>
                <a:ea typeface="Arial"/>
                <a:cs typeface="Arial"/>
              </a:rPr>
              <a:t>고객 접촉</a:t>
            </a:r>
            <a:endParaRPr sz="59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" name="Google Shape;877;p13">
            <a:extLst>
              <a:ext uri="{FF2B5EF4-FFF2-40B4-BE49-F238E27FC236}">
                <a16:creationId xmlns:a16="http://schemas.microsoft.com/office/drawing/2014/main" id="{18D951CA-9450-4D30-9B5C-CB4990DE1AE2}"/>
              </a:ext>
            </a:extLst>
          </p:cNvPr>
          <p:cNvSpPr>
            <a:spLocks noGrp="1"/>
          </p:cNvSpPr>
          <p:nvPr/>
        </p:nvSpPr>
        <p:spPr>
          <a:xfrm>
            <a:off x="4599360" y="2761560"/>
            <a:ext cx="29624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0">
                <a:solidFill>
                  <a:srgbClr val="66768F"/>
                </a:solidFill>
              </a:defRPr>
            </a:pPr>
            <a:r>
              <a:rPr sz="82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전달 내용 재파악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0">
                <a:solidFill>
                  <a:srgbClr val="66768F"/>
                </a:solidFill>
              </a:defRPr>
            </a:pPr>
            <a:r>
              <a:rPr sz="82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고객에게 전화해 진위 확인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0">
                <a:solidFill>
                  <a:srgbClr val="66768F"/>
                </a:solidFill>
              </a:defRPr>
            </a:pPr>
            <a:r>
              <a:rPr sz="82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필요 시 사칭기관 확인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53" name="Google Shape;878;p13"/>
          <p:cNvCxnSpPr/>
          <p:nvPr/>
        </p:nvCxnSpPr>
        <p:spPr>
          <a:xfrm>
            <a:off x="4599360" y="3876840"/>
            <a:ext cx="2972160" cy="360"/>
          </a:xfrm>
          <a:prstGeom prst="straightConnector1">
            <a:avLst/>
          </a:prstGeom>
          <a:ln w="12700">
            <a:solidFill>
              <a:srgbClr val="D9E4F0"/>
            </a:solidFill>
            <a:miter/>
          </a:ln>
        </p:spPr>
      </p:cxnSp>
      <p:sp>
        <p:nvSpPr>
          <p:cNvPr id="608" name="Google Shape;879;p13">
            <a:extLst>
              <a:ext uri="{FF2B5EF4-FFF2-40B4-BE49-F238E27FC236}">
                <a16:creationId xmlns:a16="http://schemas.microsoft.com/office/drawing/2014/main" id="{E9B7DBB0-1896-4BD9-A9B6-9845ED39DB96}"/>
              </a:ext>
            </a:extLst>
          </p:cNvPr>
          <p:cNvSpPr>
            <a:spLocks noGrp="1"/>
          </p:cNvSpPr>
          <p:nvPr/>
        </p:nvSpPr>
        <p:spPr>
          <a:xfrm>
            <a:off x="4599360" y="4087440"/>
            <a:ext cx="895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750" b="1">
                <a:solidFill>
                  <a:srgbClr val="E29826"/>
                </a:solidFill>
              </a:defRPr>
            </a:pPr>
            <a:r>
              <a:rPr sz="750" b="1" u="none">
                <a:solidFill>
                  <a:srgbClr val="E29826"/>
                </a:solidFill>
                <a:latin typeface="Arial"/>
                <a:ea typeface="Arial"/>
                <a:cs typeface="Arial"/>
              </a:rPr>
              <a:t>설득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" name="Google Shape;880;p13">
            <a:extLst>
              <a:ext uri="{FF2B5EF4-FFF2-40B4-BE49-F238E27FC236}">
                <a16:creationId xmlns:a16="http://schemas.microsoft.com/office/drawing/2014/main" id="{F941E23C-B9A9-4FE9-9F44-77A55FC559CE}"/>
              </a:ext>
            </a:extLst>
          </p:cNvPr>
          <p:cNvSpPr>
            <a:spLocks noGrp="1"/>
          </p:cNvSpPr>
          <p:nvPr/>
        </p:nvSpPr>
        <p:spPr>
          <a:xfrm>
            <a:off x="4599360" y="4407480"/>
            <a:ext cx="29624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범죄자를 신뢰하는 고객에게</a:t>
            </a:r>
            <a:endParaRPr sz="7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확인 근거를 설명하고 설득</a:t>
            </a:r>
            <a:endParaRPr sz="7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0" name="Google Shape;881;p13">
            <a:extLst>
              <a:ext uri="{FF2B5EF4-FFF2-40B4-BE49-F238E27FC236}">
                <a16:creationId xmlns:a16="http://schemas.microsoft.com/office/drawing/2014/main" id="{1B40EB72-8051-4F55-80CA-98FFFA69278F}"/>
              </a:ext>
            </a:extLst>
          </p:cNvPr>
          <p:cNvSpPr>
            <a:spLocks noGrp="1"/>
          </p:cNvSpPr>
          <p:nvPr/>
        </p:nvSpPr>
        <p:spPr>
          <a:xfrm>
            <a:off x="8101440" y="1627560"/>
            <a:ext cx="3437640" cy="418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1" name="Google Shape;882;p13">
            <a:extLst>
              <a:ext uri="{FF2B5EF4-FFF2-40B4-BE49-F238E27FC236}">
                <a16:creationId xmlns:a16="http://schemas.microsoft.com/office/drawing/2014/main" id="{6858A0DE-16FA-49ED-B76C-BBBC7AE363AB}"/>
              </a:ext>
            </a:extLst>
          </p:cNvPr>
          <p:cNvSpPr>
            <a:spLocks noGrp="1"/>
          </p:cNvSpPr>
          <p:nvPr/>
        </p:nvSpPr>
        <p:spPr>
          <a:xfrm>
            <a:off x="8330040" y="1865520"/>
            <a:ext cx="438480" cy="438480"/>
          </a:xfrm>
          <a:prstGeom prst="ellipse">
            <a:avLst/>
          </a:prstGeom>
          <a:solidFill>
            <a:srgbClr val="E29826"/>
          </a:solidFill>
          <a:ln w="9525">
            <a:solidFill>
              <a:srgbClr val="E298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2" name="Google Shape;883;p13">
            <a:extLst>
              <a:ext uri="{FF2B5EF4-FFF2-40B4-BE49-F238E27FC236}">
                <a16:creationId xmlns:a16="http://schemas.microsoft.com/office/drawing/2014/main" id="{7AB84BDC-C090-4900-ADD1-64C3521FA8C2}"/>
              </a:ext>
            </a:extLst>
          </p:cNvPr>
          <p:cNvSpPr>
            <a:spLocks noGrp="1"/>
          </p:cNvSpPr>
          <p:nvPr/>
        </p:nvSpPr>
        <p:spPr>
          <a:xfrm>
            <a:off x="8330040" y="1892880"/>
            <a:ext cx="438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3" name="Google Shape;884;p13">
            <a:extLst>
              <a:ext uri="{FF2B5EF4-FFF2-40B4-BE49-F238E27FC236}">
                <a16:creationId xmlns:a16="http://schemas.microsoft.com/office/drawing/2014/main" id="{6A306F78-86DD-4DF8-BB42-2262EBE679E5}"/>
              </a:ext>
            </a:extLst>
          </p:cNvPr>
          <p:cNvSpPr>
            <a:spLocks noGrp="1"/>
          </p:cNvSpPr>
          <p:nvPr/>
        </p:nvSpPr>
        <p:spPr>
          <a:xfrm>
            <a:off x="8933760" y="1847160"/>
            <a:ext cx="2313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1200" b="1">
                <a:solidFill>
                  <a:srgbClr val="0E2746"/>
                </a:solidFill>
              </a:defRPr>
            </a:pPr>
            <a:r>
              <a:rPr sz="12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결과 재공유</a:t>
            </a:r>
            <a:endParaRPr sz="13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4" name="Google Shape;885;p13">
            <a:extLst>
              <a:ext uri="{FF2B5EF4-FFF2-40B4-BE49-F238E27FC236}">
                <a16:creationId xmlns:a16="http://schemas.microsoft.com/office/drawing/2014/main" id="{2F19D3B6-0F9E-48C9-83EE-C4FD75384964}"/>
              </a:ext>
            </a:extLst>
          </p:cNvPr>
          <p:cNvSpPr>
            <a:spLocks noGrp="1"/>
          </p:cNvSpPr>
          <p:nvPr/>
        </p:nvSpPr>
        <p:spPr>
          <a:xfrm>
            <a:off x="8330040" y="2395800"/>
            <a:ext cx="1069560" cy="228240"/>
          </a:xfrm>
          <a:prstGeom prst="roundRect">
            <a:avLst>
              <a:gd name="adj" fmla="val 20000"/>
            </a:avLst>
          </a:prstGeom>
          <a:solidFill>
            <a:srgbClr val="FFF6E3"/>
          </a:solidFill>
          <a:ln w="9525">
            <a:solidFill>
              <a:srgbClr val="FFF6E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5" name="Google Shape;886;p13">
            <a:extLst>
              <a:ext uri="{FF2B5EF4-FFF2-40B4-BE49-F238E27FC236}">
                <a16:creationId xmlns:a16="http://schemas.microsoft.com/office/drawing/2014/main" id="{B3BD39CD-F406-4ECD-8480-0046661B5447}"/>
              </a:ext>
            </a:extLst>
          </p:cNvPr>
          <p:cNvSpPr>
            <a:spLocks noGrp="1"/>
          </p:cNvSpPr>
          <p:nvPr/>
        </p:nvSpPr>
        <p:spPr>
          <a:xfrm>
            <a:off x="8330040" y="2395800"/>
            <a:ext cx="1069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1">
                <a:solidFill>
                  <a:srgbClr val="2C8A7B"/>
                </a:solidFill>
              </a:defRPr>
            </a:pPr>
            <a:r>
              <a:rPr sz="750" b="1" u="none">
                <a:solidFill>
                  <a:srgbClr val="2C8A7B"/>
                </a:solidFill>
                <a:latin typeface="Arial"/>
                <a:ea typeface="Arial"/>
                <a:cs typeface="Arial"/>
              </a:rPr>
              <a:t>확인 결과</a:t>
            </a:r>
            <a:endParaRPr sz="59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6" name="Google Shape;887;p13">
            <a:extLst>
              <a:ext uri="{FF2B5EF4-FFF2-40B4-BE49-F238E27FC236}">
                <a16:creationId xmlns:a16="http://schemas.microsoft.com/office/drawing/2014/main" id="{1E250779-D4E2-47D2-BD6B-84B973EC7DAB}"/>
              </a:ext>
            </a:extLst>
          </p:cNvPr>
          <p:cNvSpPr>
            <a:spLocks noGrp="1"/>
          </p:cNvSpPr>
          <p:nvPr/>
        </p:nvSpPr>
        <p:spPr>
          <a:xfrm>
            <a:off x="8330040" y="2761560"/>
            <a:ext cx="29624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0">
                <a:solidFill>
                  <a:srgbClr val="66768F"/>
                </a:solidFill>
              </a:defRPr>
            </a:pPr>
            <a:r>
              <a:rPr sz="82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고객 답변·기관 확인결과 정리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0">
                <a:solidFill>
                  <a:srgbClr val="66768F"/>
                </a:solidFill>
              </a:defRPr>
            </a:pPr>
            <a:r>
              <a:rPr sz="82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모니터링 직원에게 재전달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0">
                <a:solidFill>
                  <a:srgbClr val="66768F"/>
                </a:solidFill>
              </a:defRPr>
            </a:pPr>
            <a:r>
              <a:rPr sz="82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금융조치 판단 지원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63" name="Google Shape;888;p13"/>
          <p:cNvCxnSpPr/>
          <p:nvPr/>
        </p:nvCxnSpPr>
        <p:spPr>
          <a:xfrm>
            <a:off x="8330040" y="3876840"/>
            <a:ext cx="2972160" cy="360"/>
          </a:xfrm>
          <a:prstGeom prst="straightConnector1">
            <a:avLst/>
          </a:prstGeom>
          <a:ln w="12700">
            <a:solidFill>
              <a:srgbClr val="D9E4F0"/>
            </a:solidFill>
            <a:miter/>
          </a:ln>
        </p:spPr>
      </p:cxnSp>
      <p:sp>
        <p:nvSpPr>
          <p:cNvPr id="618" name="Google Shape;889;p13">
            <a:extLst>
              <a:ext uri="{FF2B5EF4-FFF2-40B4-BE49-F238E27FC236}">
                <a16:creationId xmlns:a16="http://schemas.microsoft.com/office/drawing/2014/main" id="{288CE7FB-B442-4FF3-9407-B7E25277E719}"/>
              </a:ext>
            </a:extLst>
          </p:cNvPr>
          <p:cNvSpPr>
            <a:spLocks noGrp="1"/>
          </p:cNvSpPr>
          <p:nvPr/>
        </p:nvSpPr>
        <p:spPr>
          <a:xfrm>
            <a:off x="8330040" y="4087440"/>
            <a:ext cx="895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750" b="1">
                <a:solidFill>
                  <a:srgbClr val="E24B4B"/>
                </a:solidFill>
              </a:defRPr>
            </a:pPr>
            <a:r>
              <a:rPr sz="750" b="1" u="none">
                <a:solidFill>
                  <a:srgbClr val="E24B4B"/>
                </a:solidFill>
                <a:latin typeface="Arial"/>
                <a:ea typeface="Arial"/>
                <a:cs typeface="Arial"/>
              </a:rPr>
              <a:t>실패 위험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9" name="Google Shape;890;p13">
            <a:extLst>
              <a:ext uri="{FF2B5EF4-FFF2-40B4-BE49-F238E27FC236}">
                <a16:creationId xmlns:a16="http://schemas.microsoft.com/office/drawing/2014/main" id="{FF10B82C-0EE7-4FED-AEAA-D6C53D06C066}"/>
              </a:ext>
            </a:extLst>
          </p:cNvPr>
          <p:cNvSpPr>
            <a:spLocks noGrp="1"/>
          </p:cNvSpPr>
          <p:nvPr/>
        </p:nvSpPr>
        <p:spPr>
          <a:xfrm>
            <a:off x="8330040" y="4407480"/>
            <a:ext cx="29624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확인·설득이 늦거나 실패하면</a:t>
            </a:r>
            <a:endParaRPr sz="7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추가 송금으로 피해 발생</a:t>
            </a:r>
            <a:endParaRPr sz="7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0" name="Google Shape;891;p13">
            <a:extLst>
              <a:ext uri="{FF2B5EF4-FFF2-40B4-BE49-F238E27FC236}">
                <a16:creationId xmlns:a16="http://schemas.microsoft.com/office/drawing/2014/main" id="{A8C890D3-A03C-4DFC-B70C-20D9576E5CA8}"/>
              </a:ext>
            </a:extLst>
          </p:cNvPr>
          <p:cNvSpPr>
            <a:spLocks noGrp="1"/>
          </p:cNvSpPr>
          <p:nvPr/>
        </p:nvSpPr>
        <p:spPr>
          <a:xfrm>
            <a:off x="868680" y="5961960"/>
            <a:ext cx="10442160" cy="292320"/>
          </a:xfrm>
          <a:prstGeom prst="roundRect">
            <a:avLst>
              <a:gd name="adj" fmla="val 5000"/>
            </a:avLst>
          </a:prstGeom>
          <a:solidFill>
            <a:srgbClr val="FFF6E3"/>
          </a:solidFill>
          <a:ln w="12700">
            <a:solidFill>
              <a:srgbClr val="F6D28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1" name="Google Shape;892;p13">
            <a:extLst>
              <a:ext uri="{FF2B5EF4-FFF2-40B4-BE49-F238E27FC236}">
                <a16:creationId xmlns:a16="http://schemas.microsoft.com/office/drawing/2014/main" id="{C7720E6A-DB57-4B20-BDCE-F3F8FB1ABD59}"/>
              </a:ext>
            </a:extLst>
          </p:cNvPr>
          <p:cNvSpPr>
            <a:spLocks noGrp="1"/>
          </p:cNvSpPr>
          <p:nvPr/>
        </p:nvSpPr>
        <p:spPr>
          <a:xfrm>
            <a:off x="1024200" y="5970960"/>
            <a:ext cx="1013112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병목  |  맥락 재구성 → 담당자 전달 → 고객 확인·설득 → 결과 재공유가 순차적으로 반복됩니다.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68" name="Google Shape;893;p13"/>
          <p:cNvCxnSpPr/>
          <p:nvPr/>
        </p:nvCxnSpPr>
        <p:spPr>
          <a:xfrm>
            <a:off x="548640" y="6418800"/>
            <a:ext cx="11082600" cy="360"/>
          </a:xfrm>
          <a:prstGeom prst="straightConnector1">
            <a:avLst/>
          </a:prstGeom>
          <a:ln w="10150">
            <a:solidFill>
              <a:srgbClr val="D9E4F0"/>
            </a:solidFill>
            <a:miter/>
          </a:ln>
        </p:spPr>
      </p:cxnSp>
      <p:sp>
        <p:nvSpPr>
          <p:cNvPr id="623" name="Google Shape;894;p13">
            <a:extLst>
              <a:ext uri="{FF2B5EF4-FFF2-40B4-BE49-F238E27FC236}">
                <a16:creationId xmlns:a16="http://schemas.microsoft.com/office/drawing/2014/main" id="{3A883B07-6422-403C-97BA-03CA994D9B64}"/>
              </a:ext>
            </a:extLst>
          </p:cNvPr>
          <p:cNvSpPr>
            <a:spLocks noGrp="1"/>
          </p:cNvSpPr>
          <p:nvPr/>
        </p:nvSpPr>
        <p:spPr>
          <a:xfrm>
            <a:off x="567000" y="649224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10" b="1" u="none">
                <a:solidFill>
                  <a:srgbClr val="8291A5"/>
                </a:solidFill>
                <a:latin typeface="Arial"/>
                <a:ea typeface="Arial"/>
                <a:cs typeface="Arial"/>
              </a:rPr>
              <a:t>근거</a:t>
            </a:r>
            <a:endParaRPr sz="6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4" name="Google Shape;895;p13">
            <a:extLst>
              <a:ext uri="{FF2B5EF4-FFF2-40B4-BE49-F238E27FC236}">
                <a16:creationId xmlns:a16="http://schemas.microsoft.com/office/drawing/2014/main" id="{5EB2A29E-B5A8-4C01-A6A9-B98568A767A0}"/>
              </a:ext>
            </a:extLst>
          </p:cNvPr>
          <p:cNvSpPr>
            <a:spLocks noGrp="1"/>
          </p:cNvSpPr>
          <p:nvPr/>
        </p:nvSpPr>
        <p:spPr>
          <a:xfrm>
            <a:off x="905400" y="6483240"/>
            <a:ext cx="7768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600" b="0">
                <a:solidFill>
                  <a:srgbClr val="66768F"/>
                </a:solidFill>
              </a:defRPr>
            </a:pPr>
            <a:r>
              <a:rPr sz="600" b="0" u="sng">
                <a:solidFill>
                  <a:srgbClr val="66768F"/>
                </a:solidFill>
                <a:latin typeface="Arial"/>
                <a:ea typeface="Arial"/>
                <a:cs typeface="Arial"/>
                <a:hlinkClick r:id="rId3"/>
              </a:rPr>
              <a:t>FDS 가이드  ·  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5" name="Google Shape;896;p13">
            <a:extLst>
              <a:ext uri="{FF2B5EF4-FFF2-40B4-BE49-F238E27FC236}">
                <a16:creationId xmlns:a16="http://schemas.microsoft.com/office/drawing/2014/main" id="{67EF1658-3DBE-414F-90B1-58CC43EC8C44}"/>
              </a:ext>
            </a:extLst>
          </p:cNvPr>
          <p:cNvSpPr>
            <a:spLocks noGrp="1"/>
          </p:cNvSpPr>
          <p:nvPr/>
        </p:nvSpPr>
        <p:spPr>
          <a:xfrm>
            <a:off x="1682640" y="6483240"/>
            <a:ext cx="11775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600" b="0">
                <a:solidFill>
                  <a:srgbClr val="66768F"/>
                </a:solidFill>
              </a:defRPr>
            </a:pPr>
            <a:r>
              <a:rPr sz="600" b="0" u="sng">
                <a:solidFill>
                  <a:srgbClr val="66768F"/>
                </a:solidFill>
                <a:latin typeface="Arial"/>
                <a:ea typeface="Arial"/>
                <a:cs typeface="Arial"/>
                <a:hlinkClick r:id="rId4"/>
              </a:rPr>
              <a:t>ASAP 현장사례  ·  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6" name="Google Shape;897;p13">
            <a:extLst>
              <a:ext uri="{FF2B5EF4-FFF2-40B4-BE49-F238E27FC236}">
                <a16:creationId xmlns:a16="http://schemas.microsoft.com/office/drawing/2014/main" id="{5E0717F1-6097-4ED1-A02D-D820E2980AF6}"/>
              </a:ext>
            </a:extLst>
          </p:cNvPr>
          <p:cNvSpPr>
            <a:spLocks noGrp="1"/>
          </p:cNvSpPr>
          <p:nvPr/>
        </p:nvSpPr>
        <p:spPr>
          <a:xfrm>
            <a:off x="2860200" y="6483240"/>
            <a:ext cx="7768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600" b="0">
                <a:solidFill>
                  <a:srgbClr val="66768F"/>
                </a:solidFill>
              </a:defRPr>
            </a:pPr>
            <a:r>
              <a:rPr sz="600" b="0" u="sng">
                <a:solidFill>
                  <a:srgbClr val="66768F"/>
                </a:solidFill>
                <a:latin typeface="Arial"/>
                <a:ea typeface="Arial"/>
                <a:cs typeface="Arial"/>
                <a:hlinkClick r:id="rId5"/>
              </a:rPr>
              <a:t>사용자 제공 현행업무 흐름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7" name="Google Shape;898;p13">
            <a:extLst>
              <a:ext uri="{FF2B5EF4-FFF2-40B4-BE49-F238E27FC236}">
                <a16:creationId xmlns:a16="http://schemas.microsoft.com/office/drawing/2014/main" id="{20450839-CE1C-421C-830F-741E439736FF}"/>
              </a:ext>
            </a:extLst>
          </p:cNvPr>
          <p:cNvSpPr>
            <a:spLocks noGrp="1"/>
          </p:cNvSpPr>
          <p:nvPr/>
        </p:nvSpPr>
        <p:spPr>
          <a:xfrm>
            <a:off x="3637440" y="6483240"/>
            <a:ext cx="7768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9" name="TextBox 868"/>
          <p:cNvSpPr txBox="1"/>
          <p:nvPr/>
        </p:nvSpPr>
        <p:spPr>
          <a:xfrm>
            <a:off x="11292840" y="6464808"/>
            <a:ext cx="32004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00" b="0">
                <a:solidFill>
                  <a:srgbClr val="6A7B97"/>
                </a:solidFill>
                <a:latin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65886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904;p14">
            <a:extLst>
              <a:ext uri="{FF2B5EF4-FFF2-40B4-BE49-F238E27FC236}">
                <a16:creationId xmlns:a16="http://schemas.microsoft.com/office/drawing/2014/main" id="{0F2AFED4-9F05-4D3E-93DB-17558385EC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50040"/>
          </a:xfrm>
          <a:prstGeom prst="rect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0" name="Google Shape;905;p14">
            <a:extLst>
              <a:ext uri="{FF2B5EF4-FFF2-40B4-BE49-F238E27FC236}">
                <a16:creationId xmlns:a16="http://schemas.microsoft.com/office/drawing/2014/main" id="{185A9905-8304-47CC-A60F-A32702D7C1BC}"/>
              </a:ext>
            </a:extLst>
          </p:cNvPr>
          <p:cNvSpPr>
            <a:spLocks noGrp="1"/>
          </p:cNvSpPr>
          <p:nvPr/>
        </p:nvSpPr>
        <p:spPr>
          <a:xfrm>
            <a:off x="548640" y="2469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sz="975" b="1" u="none">
                <a:solidFill>
                  <a:srgbClr val="2F66E8"/>
                </a:solidFill>
                <a:latin typeface="Arial"/>
                <a:ea typeface="Arial"/>
                <a:cs typeface="Arial"/>
              </a:rPr>
              <a:t>핵심 문제정의 · 현재 프로세스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1" name="Google Shape;906;p14">
            <a:extLst>
              <a:ext uri="{FF2B5EF4-FFF2-40B4-BE49-F238E27FC236}">
                <a16:creationId xmlns:a16="http://schemas.microsoft.com/office/drawing/2014/main" id="{CBA773B1-87A1-4E44-8F45-8BD47EDC40AA}"/>
              </a:ext>
            </a:extLst>
          </p:cNvPr>
          <p:cNvSpPr>
            <a:spLocks noGrp="1"/>
          </p:cNvSpPr>
          <p:nvPr/>
        </p:nvSpPr>
        <p:spPr>
          <a:xfrm>
            <a:off x="548640" y="567000"/>
            <a:ext cx="10652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2100" b="1">
                <a:solidFill>
                  <a:srgbClr val="0E2746"/>
                </a:solidFill>
              </a:defRPr>
            </a:pPr>
            <a:r>
              <a:rPr sz="210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문제는 연결 부재가 아니라, 통화 맥락 없이 확인·설득을 이어가는 방식입니다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2" name="Google Shape;907;p14">
            <a:extLst>
              <a:ext uri="{FF2B5EF4-FFF2-40B4-BE49-F238E27FC236}">
                <a16:creationId xmlns:a16="http://schemas.microsoft.com/office/drawing/2014/main" id="{3E79C9E6-326D-4D09-8385-C05323013EC3}"/>
              </a:ext>
            </a:extLst>
          </p:cNvPr>
          <p:cNvSpPr>
            <a:spLocks noGrp="1"/>
          </p:cNvSpPr>
          <p:nvPr/>
        </p:nvSpPr>
        <p:spPr>
          <a:xfrm>
            <a:off x="548640" y="1078920"/>
            <a:ext cx="10560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975" b="0">
                <a:solidFill>
                  <a:srgbClr val="66768F"/>
                </a:solidFill>
              </a:defRPr>
            </a:pPr>
            <a:r>
              <a:rPr sz="97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기존 연결을 유지하면서 범죄자의 실제 발화와 확인 결과를 하나의 Shared Case로 묶어야 합니다.</a:t>
            </a:r>
            <a:endParaRPr sz="9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3" name="Google Shape;908;p14">
            <a:extLst>
              <a:ext uri="{FF2B5EF4-FFF2-40B4-BE49-F238E27FC236}">
                <a16:creationId xmlns:a16="http://schemas.microsoft.com/office/drawing/2014/main" id="{E0707708-66B4-4E0B-8C99-9AE507F1CECD}"/>
              </a:ext>
            </a:extLst>
          </p:cNvPr>
          <p:cNvSpPr>
            <a:spLocks noGrp="1"/>
          </p:cNvSpPr>
          <p:nvPr/>
        </p:nvSpPr>
        <p:spPr>
          <a:xfrm>
            <a:off x="11000160" y="0"/>
            <a:ext cx="859320" cy="859320"/>
          </a:xfrm>
          <a:prstGeom prst="ellipse">
            <a:avLst/>
          </a:prstGeom>
          <a:solidFill>
            <a:srgbClr val="EBF3FF"/>
          </a:solidFill>
          <a:ln w="9525">
            <a:solidFill>
              <a:srgbClr val="EBF3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4" name="Google Shape;909;p14">
            <a:extLst>
              <a:ext uri="{FF2B5EF4-FFF2-40B4-BE49-F238E27FC236}">
                <a16:creationId xmlns:a16="http://schemas.microsoft.com/office/drawing/2014/main" id="{FB7E92CD-2713-4F6D-A9D6-0A44FEBC4070}"/>
              </a:ext>
            </a:extLst>
          </p:cNvPr>
          <p:cNvSpPr>
            <a:spLocks noGrp="1"/>
          </p:cNvSpPr>
          <p:nvPr/>
        </p:nvSpPr>
        <p:spPr>
          <a:xfrm>
            <a:off x="11448360" y="146160"/>
            <a:ext cx="164160" cy="164160"/>
          </a:xfrm>
          <a:prstGeom prst="ellipse">
            <a:avLst/>
          </a:prstGeom>
          <a:solidFill>
            <a:srgbClr val="2D6BFF"/>
          </a:solidFill>
          <a:ln w="9525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080" rIns="820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Google Shape;911;p14">
            <a:extLst>
              <a:ext uri="{FF2B5EF4-FFF2-40B4-BE49-F238E27FC236}">
                <a16:creationId xmlns:a16="http://schemas.microsoft.com/office/drawing/2014/main" id="{E8608B0F-2D74-4B73-AD11-8E8E9EBB1469}"/>
              </a:ext>
            </a:extLst>
          </p:cNvPr>
          <p:cNvSpPr>
            <a:spLocks noGrp="1"/>
          </p:cNvSpPr>
          <p:nvPr/>
        </p:nvSpPr>
        <p:spPr>
          <a:xfrm>
            <a:off x="640080" y="1554480"/>
            <a:ext cx="1133640" cy="228240"/>
          </a:xfrm>
          <a:prstGeom prst="roundRect">
            <a:avLst>
              <a:gd name="adj" fmla="val 20000"/>
            </a:avLst>
          </a:prstGeom>
          <a:solidFill>
            <a:srgbClr val="E8F8F2"/>
          </a:solidFill>
          <a:ln w="9525">
            <a:solidFill>
              <a:srgbClr val="E8F8F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Google Shape;912;p14">
            <a:extLst>
              <a:ext uri="{FF2B5EF4-FFF2-40B4-BE49-F238E27FC236}">
                <a16:creationId xmlns:a16="http://schemas.microsoft.com/office/drawing/2014/main" id="{BB2B2B79-1877-4699-A3CD-91CB4DA9E631}"/>
              </a:ext>
            </a:extLst>
          </p:cNvPr>
          <p:cNvSpPr>
            <a:spLocks noGrp="1"/>
          </p:cNvSpPr>
          <p:nvPr/>
        </p:nvSpPr>
        <p:spPr>
          <a:xfrm>
            <a:off x="640080" y="1554480"/>
            <a:ext cx="1133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1">
                <a:solidFill>
                  <a:srgbClr val="2C8A7B"/>
                </a:solidFill>
              </a:defRPr>
            </a:pPr>
            <a:r>
              <a:rPr sz="750" b="1" u="none">
                <a:solidFill>
                  <a:srgbClr val="2C8A7B"/>
                </a:solidFill>
                <a:latin typeface="Arial"/>
                <a:ea typeface="Arial"/>
                <a:cs typeface="Arial"/>
              </a:rPr>
              <a:t>현재 운영 흐름</a:t>
            </a:r>
            <a:endParaRPr sz="6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Google Shape;913;p14">
            <a:extLst>
              <a:ext uri="{FF2B5EF4-FFF2-40B4-BE49-F238E27FC236}">
                <a16:creationId xmlns:a16="http://schemas.microsoft.com/office/drawing/2014/main" id="{3E7EF5F7-1B8D-4E17-AA84-D898D74C45BE}"/>
              </a:ext>
            </a:extLst>
          </p:cNvPr>
          <p:cNvSpPr>
            <a:spLocks noGrp="1"/>
          </p:cNvSpPr>
          <p:nvPr/>
        </p:nvSpPr>
        <p:spPr>
          <a:xfrm>
            <a:off x="1874520" y="153612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현행 프로세스 — 탐지 → 맥락 재구성 → 고객 확인·설득 → 금융조치</a:t>
            </a:r>
            <a:endParaRPr sz="9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9" name="Google Shape;914;p14">
            <a:extLst>
              <a:ext uri="{FF2B5EF4-FFF2-40B4-BE49-F238E27FC236}">
                <a16:creationId xmlns:a16="http://schemas.microsoft.com/office/drawing/2014/main" id="{7031200F-8EF5-4796-BB7B-7FA079F50A81}"/>
              </a:ext>
            </a:extLst>
          </p:cNvPr>
          <p:cNvSpPr>
            <a:spLocks noGrp="1"/>
          </p:cNvSpPr>
          <p:nvPr/>
        </p:nvSpPr>
        <p:spPr>
          <a:xfrm>
            <a:off x="658440" y="1920240"/>
            <a:ext cx="2349720" cy="895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Google Shape;915;p14">
            <a:extLst>
              <a:ext uri="{FF2B5EF4-FFF2-40B4-BE49-F238E27FC236}">
                <a16:creationId xmlns:a16="http://schemas.microsoft.com/office/drawing/2014/main" id="{FA3A0CC4-47E7-4FFD-BB34-64E43B1407A3}"/>
              </a:ext>
            </a:extLst>
          </p:cNvPr>
          <p:cNvSpPr>
            <a:spLocks noGrp="1"/>
          </p:cNvSpPr>
          <p:nvPr/>
        </p:nvSpPr>
        <p:spPr>
          <a:xfrm>
            <a:off x="822960" y="2066400"/>
            <a:ext cx="1992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0E2746"/>
                </a:solidFill>
              </a:defRPr>
            </a:pPr>
            <a:r>
              <a:rPr sz="105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통신 AI·ASAP·FDS</a:t>
            </a:r>
            <a:endParaRPr sz="93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Google Shape;916;p14">
            <a:extLst>
              <a:ext uri="{FF2B5EF4-FFF2-40B4-BE49-F238E27FC236}">
                <a16:creationId xmlns:a16="http://schemas.microsoft.com/office/drawing/2014/main" id="{EA89D8CF-AABD-42D9-9B19-1C5357B9F617}"/>
              </a:ext>
            </a:extLst>
          </p:cNvPr>
          <p:cNvSpPr>
            <a:spLocks noGrp="1"/>
          </p:cNvSpPr>
          <p:nvPr/>
        </p:nvSpPr>
        <p:spPr>
          <a:xfrm>
            <a:off x="822960" y="2359080"/>
            <a:ext cx="1992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0">
                <a:solidFill>
                  <a:srgbClr val="66768F"/>
                </a:solidFill>
              </a:defRPr>
            </a:pPr>
            <a:r>
              <a:rPr sz="75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위험 Event·Alert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Google Shape;917;p14">
            <a:extLst>
              <a:ext uri="{FF2B5EF4-FFF2-40B4-BE49-F238E27FC236}">
                <a16:creationId xmlns:a16="http://schemas.microsoft.com/office/drawing/2014/main" id="{16C7503B-5A84-40EF-9842-0A2118231F16}"/>
              </a:ext>
            </a:extLst>
          </p:cNvPr>
          <p:cNvSpPr>
            <a:spLocks noGrp="1"/>
          </p:cNvSpPr>
          <p:nvPr/>
        </p:nvSpPr>
        <p:spPr>
          <a:xfrm>
            <a:off x="3063240" y="2249280"/>
            <a:ext cx="292320" cy="155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99FF"/>
          </a:solidFill>
          <a:ln w="9525">
            <a:solidFill>
              <a:srgbClr val="559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880" bIns="388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Google Shape;918;p14">
            <a:extLst>
              <a:ext uri="{FF2B5EF4-FFF2-40B4-BE49-F238E27FC236}">
                <a16:creationId xmlns:a16="http://schemas.microsoft.com/office/drawing/2014/main" id="{A4921A62-7431-4064-87D5-EB9D7170A5A8}"/>
              </a:ext>
            </a:extLst>
          </p:cNvPr>
          <p:cNvSpPr>
            <a:spLocks noGrp="1"/>
          </p:cNvSpPr>
          <p:nvPr/>
        </p:nvSpPr>
        <p:spPr>
          <a:xfrm>
            <a:off x="3401640" y="1920240"/>
            <a:ext cx="2349720" cy="895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Google Shape;919;p14">
            <a:extLst>
              <a:ext uri="{FF2B5EF4-FFF2-40B4-BE49-F238E27FC236}">
                <a16:creationId xmlns:a16="http://schemas.microsoft.com/office/drawing/2014/main" id="{93FAF403-05EF-4EE1-9F1C-6FE2394E324C}"/>
              </a:ext>
            </a:extLst>
          </p:cNvPr>
          <p:cNvSpPr>
            <a:spLocks noGrp="1"/>
          </p:cNvSpPr>
          <p:nvPr/>
        </p:nvSpPr>
        <p:spPr>
          <a:xfrm>
            <a:off x="3566160" y="2066400"/>
            <a:ext cx="1992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0E2746"/>
                </a:solidFill>
              </a:defRPr>
            </a:pPr>
            <a:r>
              <a:rPr sz="105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은행 모니터링 직원</a:t>
            </a:r>
            <a:endParaRPr sz="93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Google Shape;920;p14">
            <a:extLst>
              <a:ext uri="{FF2B5EF4-FFF2-40B4-BE49-F238E27FC236}">
                <a16:creationId xmlns:a16="http://schemas.microsoft.com/office/drawing/2014/main" id="{907CD2B4-EB22-4685-9482-FE2D5AD18B41}"/>
              </a:ext>
            </a:extLst>
          </p:cNvPr>
          <p:cNvSpPr>
            <a:spLocks noGrp="1"/>
          </p:cNvSpPr>
          <p:nvPr/>
        </p:nvSpPr>
        <p:spPr>
          <a:xfrm>
            <a:off x="3566160" y="2359080"/>
            <a:ext cx="1992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0">
                <a:solidFill>
                  <a:srgbClr val="66768F"/>
                </a:solidFill>
              </a:defRPr>
            </a:pPr>
            <a:r>
              <a:rPr sz="75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맥락 재구성·확인계획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Google Shape;921;p14">
            <a:extLst>
              <a:ext uri="{FF2B5EF4-FFF2-40B4-BE49-F238E27FC236}">
                <a16:creationId xmlns:a16="http://schemas.microsoft.com/office/drawing/2014/main" id="{4E2A0CC9-D991-4C3C-AB81-57725FD98BFC}"/>
              </a:ext>
            </a:extLst>
          </p:cNvPr>
          <p:cNvSpPr>
            <a:spLocks noGrp="1"/>
          </p:cNvSpPr>
          <p:nvPr/>
        </p:nvSpPr>
        <p:spPr>
          <a:xfrm>
            <a:off x="5806440" y="2249280"/>
            <a:ext cx="292320" cy="155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99FF"/>
          </a:solidFill>
          <a:ln w="9525">
            <a:solidFill>
              <a:srgbClr val="559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880" bIns="388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Google Shape;922;p14">
            <a:extLst>
              <a:ext uri="{FF2B5EF4-FFF2-40B4-BE49-F238E27FC236}">
                <a16:creationId xmlns:a16="http://schemas.microsoft.com/office/drawing/2014/main" id="{10022608-2E39-41FD-A6AE-D2780D778265}"/>
              </a:ext>
            </a:extLst>
          </p:cNvPr>
          <p:cNvSpPr>
            <a:spLocks noGrp="1"/>
          </p:cNvSpPr>
          <p:nvPr/>
        </p:nvSpPr>
        <p:spPr>
          <a:xfrm>
            <a:off x="6144840" y="1920240"/>
            <a:ext cx="2349720" cy="895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Google Shape;923;p14">
            <a:extLst>
              <a:ext uri="{FF2B5EF4-FFF2-40B4-BE49-F238E27FC236}">
                <a16:creationId xmlns:a16="http://schemas.microsoft.com/office/drawing/2014/main" id="{4D736BD7-621B-4D37-AFD6-873291D550D7}"/>
              </a:ext>
            </a:extLst>
          </p:cNvPr>
          <p:cNvSpPr>
            <a:spLocks noGrp="1"/>
          </p:cNvSpPr>
          <p:nvPr/>
        </p:nvSpPr>
        <p:spPr>
          <a:xfrm>
            <a:off x="6309360" y="2066400"/>
            <a:ext cx="1992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0E2746"/>
                </a:solidFill>
              </a:defRPr>
            </a:pPr>
            <a:r>
              <a:rPr sz="105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콜센터·고객·사칭기관</a:t>
            </a:r>
            <a:endParaRPr sz="93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Google Shape;924;p14">
            <a:extLst>
              <a:ext uri="{FF2B5EF4-FFF2-40B4-BE49-F238E27FC236}">
                <a16:creationId xmlns:a16="http://schemas.microsoft.com/office/drawing/2014/main" id="{A6B5EBEE-14C6-4057-B8F6-1FDAA1FF2910}"/>
              </a:ext>
            </a:extLst>
          </p:cNvPr>
          <p:cNvSpPr>
            <a:spLocks noGrp="1"/>
          </p:cNvSpPr>
          <p:nvPr/>
        </p:nvSpPr>
        <p:spPr>
          <a:xfrm>
            <a:off x="6309360" y="2359080"/>
            <a:ext cx="1992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0">
                <a:solidFill>
                  <a:srgbClr val="66768F"/>
                </a:solidFill>
              </a:defRPr>
            </a:pPr>
            <a:r>
              <a:rPr sz="75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진위확인·설득·기관검증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Google Shape;925;p14">
            <a:extLst>
              <a:ext uri="{FF2B5EF4-FFF2-40B4-BE49-F238E27FC236}">
                <a16:creationId xmlns:a16="http://schemas.microsoft.com/office/drawing/2014/main" id="{604DD47F-0425-48EB-AB46-E55F55F5763D}"/>
              </a:ext>
            </a:extLst>
          </p:cNvPr>
          <p:cNvSpPr>
            <a:spLocks noGrp="1"/>
          </p:cNvSpPr>
          <p:nvPr/>
        </p:nvSpPr>
        <p:spPr>
          <a:xfrm>
            <a:off x="8549640" y="2249280"/>
            <a:ext cx="292320" cy="155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99FF"/>
          </a:solidFill>
          <a:ln w="9525">
            <a:solidFill>
              <a:srgbClr val="5599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880" bIns="3888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Google Shape;926;p14">
            <a:extLst>
              <a:ext uri="{FF2B5EF4-FFF2-40B4-BE49-F238E27FC236}">
                <a16:creationId xmlns:a16="http://schemas.microsoft.com/office/drawing/2014/main" id="{A6D037F3-E6AD-4470-ACA2-0B5A09B29B9C}"/>
              </a:ext>
            </a:extLst>
          </p:cNvPr>
          <p:cNvSpPr>
            <a:spLocks noGrp="1"/>
          </p:cNvSpPr>
          <p:nvPr/>
        </p:nvSpPr>
        <p:spPr>
          <a:xfrm>
            <a:off x="8888040" y="1920240"/>
            <a:ext cx="2349720" cy="895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Google Shape;927;p14">
            <a:extLst>
              <a:ext uri="{FF2B5EF4-FFF2-40B4-BE49-F238E27FC236}">
                <a16:creationId xmlns:a16="http://schemas.microsoft.com/office/drawing/2014/main" id="{6BF02FCB-879C-4A92-B610-95A014D0B227}"/>
              </a:ext>
            </a:extLst>
          </p:cNvPr>
          <p:cNvSpPr>
            <a:spLocks noGrp="1"/>
          </p:cNvSpPr>
          <p:nvPr/>
        </p:nvSpPr>
        <p:spPr>
          <a:xfrm>
            <a:off x="9052560" y="2066400"/>
            <a:ext cx="1992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1050" b="1">
                <a:solidFill>
                  <a:srgbClr val="0E2746"/>
                </a:solidFill>
              </a:defRPr>
            </a:pPr>
            <a:r>
              <a:rPr sz="105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금융기관</a:t>
            </a:r>
            <a:endParaRPr sz="939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Google Shape;928;p14">
            <a:extLst>
              <a:ext uri="{FF2B5EF4-FFF2-40B4-BE49-F238E27FC236}">
                <a16:creationId xmlns:a16="http://schemas.microsoft.com/office/drawing/2014/main" id="{1A5DE121-FEEE-4C90-9914-0588BBE19AA4}"/>
              </a:ext>
            </a:extLst>
          </p:cNvPr>
          <p:cNvSpPr>
            <a:spLocks noGrp="1"/>
          </p:cNvSpPr>
          <p:nvPr/>
        </p:nvSpPr>
        <p:spPr>
          <a:xfrm>
            <a:off x="9052560" y="2359080"/>
            <a:ext cx="1992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0">
                <a:solidFill>
                  <a:srgbClr val="66768F"/>
                </a:solidFill>
              </a:defRPr>
            </a:pPr>
            <a:r>
              <a:rPr sz="750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지연·정지·해제</a:t>
            </a:r>
            <a:endParaRPr sz="6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Google Shape;929;p14">
            <a:extLst>
              <a:ext uri="{FF2B5EF4-FFF2-40B4-BE49-F238E27FC236}">
                <a16:creationId xmlns:a16="http://schemas.microsoft.com/office/drawing/2014/main" id="{BA564DAF-F372-45FD-819E-ACE6D96DB86D}"/>
              </a:ext>
            </a:extLst>
          </p:cNvPr>
          <p:cNvSpPr>
            <a:spLocks noGrp="1"/>
          </p:cNvSpPr>
          <p:nvPr/>
        </p:nvSpPr>
        <p:spPr>
          <a:xfrm>
            <a:off x="658440" y="2971800"/>
            <a:ext cx="10972440" cy="43848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 w="12700">
            <a:solidFill>
              <a:srgbClr val="D9E4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Google Shape;930;p14">
            <a:extLst>
              <a:ext uri="{FF2B5EF4-FFF2-40B4-BE49-F238E27FC236}">
                <a16:creationId xmlns:a16="http://schemas.microsoft.com/office/drawing/2014/main" id="{FDB9F7C0-D7C8-4D94-8EB3-B7F214D301A4}"/>
              </a:ext>
            </a:extLst>
          </p:cNvPr>
          <p:cNvSpPr>
            <a:spLocks noGrp="1"/>
          </p:cNvSpPr>
          <p:nvPr/>
        </p:nvSpPr>
        <p:spPr>
          <a:xfrm>
            <a:off x="868680" y="3026520"/>
            <a:ext cx="10560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1">
                <a:solidFill>
                  <a:srgbClr val="0E2746"/>
                </a:solidFill>
              </a:defRPr>
            </a:pPr>
            <a:r>
              <a:rPr sz="750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각 단계가 연결돼도 범죄자의 발화 맥락과 확인 결과는 담당자가 다시 정리·전달해야 합니다.</a:t>
            </a:r>
            <a:endParaRPr sz="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Google Shape;931;p14">
            <a:extLst>
              <a:ext uri="{FF2B5EF4-FFF2-40B4-BE49-F238E27FC236}">
                <a16:creationId xmlns:a16="http://schemas.microsoft.com/office/drawing/2014/main" id="{013CA34E-7A1F-4336-ACC8-0423003C73B7}"/>
              </a:ext>
            </a:extLst>
          </p:cNvPr>
          <p:cNvSpPr>
            <a:spLocks noGrp="1"/>
          </p:cNvSpPr>
          <p:nvPr/>
        </p:nvSpPr>
        <p:spPr>
          <a:xfrm>
            <a:off x="640080" y="3666600"/>
            <a:ext cx="1133640" cy="228240"/>
          </a:xfrm>
          <a:prstGeom prst="roundRect">
            <a:avLst>
              <a:gd name="adj" fmla="val 20000"/>
            </a:avLst>
          </a:prstGeom>
          <a:solidFill>
            <a:srgbClr val="FFF6E3"/>
          </a:solidFill>
          <a:ln w="9525">
            <a:solidFill>
              <a:srgbClr val="FFF6E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Google Shape;932;p14">
            <a:extLst>
              <a:ext uri="{FF2B5EF4-FFF2-40B4-BE49-F238E27FC236}">
                <a16:creationId xmlns:a16="http://schemas.microsoft.com/office/drawing/2014/main" id="{788491A6-9287-4E12-88C0-825B007AAB62}"/>
              </a:ext>
            </a:extLst>
          </p:cNvPr>
          <p:cNvSpPr>
            <a:spLocks noGrp="1"/>
          </p:cNvSpPr>
          <p:nvPr/>
        </p:nvSpPr>
        <p:spPr>
          <a:xfrm>
            <a:off x="640080" y="3666600"/>
            <a:ext cx="1133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50" b="1">
                <a:solidFill>
                  <a:srgbClr val="E29826"/>
                </a:solidFill>
              </a:defRPr>
            </a:pPr>
            <a:r>
              <a:rPr sz="750" b="1" u="none">
                <a:solidFill>
                  <a:srgbClr val="E29826"/>
                </a:solidFill>
                <a:latin typeface="Arial"/>
                <a:ea typeface="Arial"/>
                <a:cs typeface="Arial"/>
              </a:rPr>
              <a:t>AI가 간결화할 영역</a:t>
            </a:r>
            <a:endParaRPr sz="6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Google Shape;933;p14">
            <a:extLst>
              <a:ext uri="{FF2B5EF4-FFF2-40B4-BE49-F238E27FC236}">
                <a16:creationId xmlns:a16="http://schemas.microsoft.com/office/drawing/2014/main" id="{D08FE6D3-8FF8-4940-89D3-ED2BE39069EF}"/>
              </a:ext>
            </a:extLst>
          </p:cNvPr>
          <p:cNvSpPr>
            <a:spLocks noGrp="1"/>
          </p:cNvSpPr>
          <p:nvPr/>
        </p:nvSpPr>
        <p:spPr>
          <a:xfrm>
            <a:off x="1874520" y="3648600"/>
            <a:ext cx="5851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825" b="1">
                <a:solidFill>
                  <a:srgbClr val="0E2746"/>
                </a:solidFill>
              </a:defRPr>
            </a:pPr>
            <a:r>
              <a:rPr sz="825" b="1" u="none">
                <a:solidFill>
                  <a:srgbClr val="0E2746"/>
                </a:solidFill>
                <a:latin typeface="Arial"/>
                <a:ea typeface="Arial"/>
                <a:cs typeface="Arial"/>
              </a:rPr>
              <a:t>통화 맥락을 먼저 구조화하고, 같은 Case에서 확인·검증·설득을 병렬 실행</a:t>
            </a:r>
            <a:endParaRPr sz="9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Google Shape;934;p14">
            <a:extLst>
              <a:ext uri="{FF2B5EF4-FFF2-40B4-BE49-F238E27FC236}">
                <a16:creationId xmlns:a16="http://schemas.microsoft.com/office/drawing/2014/main" id="{BE9EE88D-A7CB-41FA-84C1-214C9C8B1DEC}"/>
              </a:ext>
            </a:extLst>
          </p:cNvPr>
          <p:cNvSpPr>
            <a:spLocks noGrp="1"/>
          </p:cNvSpPr>
          <p:nvPr/>
        </p:nvSpPr>
        <p:spPr>
          <a:xfrm>
            <a:off x="658440" y="4032360"/>
            <a:ext cx="10972440" cy="160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0" name="Google Shape;935;p14">
            <a:extLst>
              <a:ext uri="{FF2B5EF4-FFF2-40B4-BE49-F238E27FC236}">
                <a16:creationId xmlns:a16="http://schemas.microsoft.com/office/drawing/2014/main" id="{453E018D-D7CF-4AA9-A51D-849B62DB1876}"/>
              </a:ext>
            </a:extLst>
          </p:cNvPr>
          <p:cNvSpPr>
            <a:spLocks noGrp="1"/>
          </p:cNvSpPr>
          <p:nvPr/>
        </p:nvSpPr>
        <p:spPr>
          <a:xfrm>
            <a:off x="5257800" y="4224600"/>
            <a:ext cx="1078560" cy="1078560"/>
          </a:xfrm>
          <a:prstGeom prst="ellipse">
            <a:avLst/>
          </a:prstGeom>
          <a:solidFill>
            <a:srgbClr val="0E2746"/>
          </a:solidFill>
          <a:ln w="9525">
            <a:solidFill>
              <a:srgbClr val="0E274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1" name="Google Shape;936;p14">
            <a:extLst>
              <a:ext uri="{FF2B5EF4-FFF2-40B4-BE49-F238E27FC236}">
                <a16:creationId xmlns:a16="http://schemas.microsoft.com/office/drawing/2014/main" id="{DD425F08-6D79-4348-96B1-F0B894E80232}"/>
              </a:ext>
            </a:extLst>
          </p:cNvPr>
          <p:cNvSpPr>
            <a:spLocks noGrp="1"/>
          </p:cNvSpPr>
          <p:nvPr/>
        </p:nvSpPr>
        <p:spPr>
          <a:xfrm>
            <a:off x="5385960" y="447156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</a:t>
            </a:r>
            <a:br/>
            <a:r>
              <a:rPr sz="85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2" name="Google Shape;937;p14">
            <a:extLst>
              <a:ext uri="{FF2B5EF4-FFF2-40B4-BE49-F238E27FC236}">
                <a16:creationId xmlns:a16="http://schemas.microsoft.com/office/drawing/2014/main" id="{51CF4308-E13E-42A2-86F1-074E88551094}"/>
              </a:ext>
            </a:extLst>
          </p:cNvPr>
          <p:cNvSpPr>
            <a:spLocks noGrp="1"/>
          </p:cNvSpPr>
          <p:nvPr/>
        </p:nvSpPr>
        <p:spPr>
          <a:xfrm>
            <a:off x="914400" y="4316040"/>
            <a:ext cx="1874160" cy="859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D6B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3" name="Google Shape;938;p14">
            <a:extLst>
              <a:ext uri="{FF2B5EF4-FFF2-40B4-BE49-F238E27FC236}">
                <a16:creationId xmlns:a16="http://schemas.microsoft.com/office/drawing/2014/main" id="{CFB98976-4ADC-4976-8989-F5E6202B61CD}"/>
              </a:ext>
            </a:extLst>
          </p:cNvPr>
          <p:cNvSpPr>
            <a:spLocks noGrp="1"/>
          </p:cNvSpPr>
          <p:nvPr/>
        </p:nvSpPr>
        <p:spPr>
          <a:xfrm>
            <a:off x="1024200" y="4416480"/>
            <a:ext cx="1654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780" b="1" u="none">
                <a:solidFill>
                  <a:srgbClr val="2D6BFF"/>
                </a:solidFill>
                <a:latin typeface="Arial"/>
                <a:ea typeface="Arial"/>
                <a:cs typeface="Arial"/>
              </a:rPr>
              <a:t>Customer Agent</a:t>
            </a:r>
            <a:endParaRPr sz="7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4" name="Google Shape;939;p14">
            <a:extLst>
              <a:ext uri="{FF2B5EF4-FFF2-40B4-BE49-F238E27FC236}">
                <a16:creationId xmlns:a16="http://schemas.microsoft.com/office/drawing/2014/main" id="{3B097CDC-9558-48B8-B825-5C3D1AEA335E}"/>
              </a:ext>
            </a:extLst>
          </p:cNvPr>
          <p:cNvSpPr>
            <a:spLocks noGrp="1"/>
          </p:cNvSpPr>
          <p:nvPr/>
        </p:nvSpPr>
        <p:spPr>
          <a:xfrm>
            <a:off x="1024200" y="4709160"/>
            <a:ext cx="1654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675" b="0">
                <a:solidFill>
                  <a:srgbClr val="66768F"/>
                </a:solidFill>
              </a:defRPr>
            </a:pPr>
            <a:r>
              <a:rPr sz="67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고객 브리핑·질문·설득근거</a:t>
            </a:r>
            <a:endParaRPr sz="6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82" name="Google Shape;940;p14"/>
          <p:cNvCxnSpPr/>
          <p:nvPr/>
        </p:nvCxnSpPr>
        <p:spPr>
          <a:xfrm>
            <a:off x="1846800" y="5175360"/>
            <a:ext cx="3950640" cy="91800"/>
          </a:xfrm>
          <a:prstGeom prst="straightConnector1">
            <a:avLst/>
          </a:prstGeom>
          <a:ln w="15225">
            <a:solidFill>
              <a:srgbClr val="2D6BFF"/>
            </a:solidFill>
            <a:miter/>
          </a:ln>
        </p:spPr>
      </p:cxnSp>
      <p:sp>
        <p:nvSpPr>
          <p:cNvPr id="666" name="Google Shape;941;p14">
            <a:extLst>
              <a:ext uri="{FF2B5EF4-FFF2-40B4-BE49-F238E27FC236}">
                <a16:creationId xmlns:a16="http://schemas.microsoft.com/office/drawing/2014/main" id="{B9AE4642-C863-4154-9453-886696779DE7}"/>
              </a:ext>
            </a:extLst>
          </p:cNvPr>
          <p:cNvSpPr>
            <a:spLocks noGrp="1"/>
          </p:cNvSpPr>
          <p:nvPr/>
        </p:nvSpPr>
        <p:spPr>
          <a:xfrm>
            <a:off x="3108960" y="4316040"/>
            <a:ext cx="1874160" cy="859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B9D7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7" name="Google Shape;942;p14">
            <a:extLst>
              <a:ext uri="{FF2B5EF4-FFF2-40B4-BE49-F238E27FC236}">
                <a16:creationId xmlns:a16="http://schemas.microsoft.com/office/drawing/2014/main" id="{19EA6DD3-D74F-4B89-BBC6-8E6094C861BD}"/>
              </a:ext>
            </a:extLst>
          </p:cNvPr>
          <p:cNvSpPr>
            <a:spLocks noGrp="1"/>
          </p:cNvSpPr>
          <p:nvPr/>
        </p:nvSpPr>
        <p:spPr>
          <a:xfrm>
            <a:off x="3218760" y="4416480"/>
            <a:ext cx="1654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780" b="1" u="none">
                <a:solidFill>
                  <a:srgbClr val="2B9D74"/>
                </a:solidFill>
                <a:latin typeface="Arial"/>
                <a:ea typeface="Arial"/>
                <a:cs typeface="Arial"/>
              </a:rPr>
              <a:t>Bank Agent</a:t>
            </a:r>
            <a:endParaRPr sz="7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8" name="Google Shape;943;p14">
            <a:extLst>
              <a:ext uri="{FF2B5EF4-FFF2-40B4-BE49-F238E27FC236}">
                <a16:creationId xmlns:a16="http://schemas.microsoft.com/office/drawing/2014/main" id="{A62551BB-FC57-4EAF-8DA2-087FE375D182}"/>
              </a:ext>
            </a:extLst>
          </p:cNvPr>
          <p:cNvSpPr>
            <a:spLocks noGrp="1"/>
          </p:cNvSpPr>
          <p:nvPr/>
        </p:nvSpPr>
        <p:spPr>
          <a:xfrm>
            <a:off x="3218760" y="4709160"/>
            <a:ext cx="1654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675" b="0">
                <a:solidFill>
                  <a:srgbClr val="66768F"/>
                </a:solidFill>
              </a:defRPr>
            </a:pPr>
            <a:r>
              <a:rPr sz="67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FDS 분석·확인계획·금융조치</a:t>
            </a:r>
            <a:endParaRPr sz="6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86" name="Google Shape;944;p14"/>
          <p:cNvCxnSpPr/>
          <p:nvPr/>
        </p:nvCxnSpPr>
        <p:spPr>
          <a:xfrm>
            <a:off x="4041360" y="5175360"/>
            <a:ext cx="1756080" cy="91800"/>
          </a:xfrm>
          <a:prstGeom prst="straightConnector1">
            <a:avLst/>
          </a:prstGeom>
          <a:ln w="15225">
            <a:solidFill>
              <a:srgbClr val="2B9D74"/>
            </a:solidFill>
            <a:miter/>
          </a:ln>
        </p:spPr>
      </p:cxnSp>
      <p:sp>
        <p:nvSpPr>
          <p:cNvPr id="670" name="Google Shape;945;p14">
            <a:extLst>
              <a:ext uri="{FF2B5EF4-FFF2-40B4-BE49-F238E27FC236}">
                <a16:creationId xmlns:a16="http://schemas.microsoft.com/office/drawing/2014/main" id="{E6A185CC-649F-46B5-ADE8-D78651617359}"/>
              </a:ext>
            </a:extLst>
          </p:cNvPr>
          <p:cNvSpPr>
            <a:spLocks noGrp="1"/>
          </p:cNvSpPr>
          <p:nvPr/>
        </p:nvSpPr>
        <p:spPr>
          <a:xfrm>
            <a:off x="6995160" y="4316040"/>
            <a:ext cx="1874160" cy="859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982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1" name="Google Shape;946;p14">
            <a:extLst>
              <a:ext uri="{FF2B5EF4-FFF2-40B4-BE49-F238E27FC236}">
                <a16:creationId xmlns:a16="http://schemas.microsoft.com/office/drawing/2014/main" id="{F32F7CAB-EC01-41DE-8E2B-1162C6FDBFC2}"/>
              </a:ext>
            </a:extLst>
          </p:cNvPr>
          <p:cNvSpPr>
            <a:spLocks noGrp="1"/>
          </p:cNvSpPr>
          <p:nvPr/>
        </p:nvSpPr>
        <p:spPr>
          <a:xfrm>
            <a:off x="7104960" y="4416480"/>
            <a:ext cx="1654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780" b="1" u="none">
                <a:solidFill>
                  <a:srgbClr val="E29826"/>
                </a:solidFill>
                <a:latin typeface="Arial"/>
                <a:ea typeface="Arial"/>
                <a:cs typeface="Arial"/>
              </a:rPr>
              <a:t>Verification Agent</a:t>
            </a:r>
            <a:endParaRPr sz="7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2" name="Google Shape;947;p14">
            <a:extLst>
              <a:ext uri="{FF2B5EF4-FFF2-40B4-BE49-F238E27FC236}">
                <a16:creationId xmlns:a16="http://schemas.microsoft.com/office/drawing/2014/main" id="{209571F5-B1E7-4F8F-AF0A-8CD59CFE61A0}"/>
              </a:ext>
            </a:extLst>
          </p:cNvPr>
          <p:cNvSpPr>
            <a:spLocks noGrp="1"/>
          </p:cNvSpPr>
          <p:nvPr/>
        </p:nvSpPr>
        <p:spPr>
          <a:xfrm>
            <a:off x="7104960" y="4709160"/>
            <a:ext cx="1654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675" b="0">
                <a:solidFill>
                  <a:srgbClr val="66768F"/>
                </a:solidFill>
              </a:defRPr>
            </a:pPr>
            <a:r>
              <a:rPr sz="67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사칭기관·공식절차 확인</a:t>
            </a:r>
            <a:endParaRPr sz="6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90" name="Google Shape;948;p14"/>
          <p:cNvCxnSpPr/>
          <p:nvPr/>
        </p:nvCxnSpPr>
        <p:spPr>
          <a:xfrm flipH="1">
            <a:off x="5797080" y="5175360"/>
            <a:ext cx="2130840" cy="91800"/>
          </a:xfrm>
          <a:prstGeom prst="straightConnector1">
            <a:avLst/>
          </a:prstGeom>
          <a:ln w="15225">
            <a:solidFill>
              <a:srgbClr val="E29826"/>
            </a:solidFill>
            <a:miter/>
          </a:ln>
        </p:spPr>
      </p:cxnSp>
      <p:sp>
        <p:nvSpPr>
          <p:cNvPr id="674" name="Google Shape;949;p14">
            <a:extLst>
              <a:ext uri="{FF2B5EF4-FFF2-40B4-BE49-F238E27FC236}">
                <a16:creationId xmlns:a16="http://schemas.microsoft.com/office/drawing/2014/main" id="{17E86445-5BF6-4D95-9066-BC6A66682FED}"/>
              </a:ext>
            </a:extLst>
          </p:cNvPr>
          <p:cNvSpPr>
            <a:spLocks noGrp="1"/>
          </p:cNvSpPr>
          <p:nvPr/>
        </p:nvSpPr>
        <p:spPr>
          <a:xfrm>
            <a:off x="9189720" y="4316040"/>
            <a:ext cx="1874160" cy="859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658B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5" name="Google Shape;950;p14">
            <a:extLst>
              <a:ext uri="{FF2B5EF4-FFF2-40B4-BE49-F238E27FC236}">
                <a16:creationId xmlns:a16="http://schemas.microsoft.com/office/drawing/2014/main" id="{DA48A1AD-14FE-4566-951C-A59C22B7B020}"/>
              </a:ext>
            </a:extLst>
          </p:cNvPr>
          <p:cNvSpPr>
            <a:spLocks noGrp="1"/>
          </p:cNvSpPr>
          <p:nvPr/>
        </p:nvSpPr>
        <p:spPr>
          <a:xfrm>
            <a:off x="9299520" y="4416480"/>
            <a:ext cx="1654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780" b="1" u="none">
                <a:solidFill>
                  <a:srgbClr val="7658BE"/>
                </a:solidFill>
                <a:latin typeface="Arial"/>
                <a:ea typeface="Arial"/>
                <a:cs typeface="Arial"/>
              </a:rPr>
              <a:t>Orchestrator</a:t>
            </a:r>
            <a:endParaRPr sz="7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6" name="Google Shape;951;p14">
            <a:extLst>
              <a:ext uri="{FF2B5EF4-FFF2-40B4-BE49-F238E27FC236}">
                <a16:creationId xmlns:a16="http://schemas.microsoft.com/office/drawing/2014/main" id="{F0582266-DCBB-4CB6-AB13-ABED09DA3BC1}"/>
              </a:ext>
            </a:extLst>
          </p:cNvPr>
          <p:cNvSpPr>
            <a:spLocks noGrp="1"/>
          </p:cNvSpPr>
          <p:nvPr/>
        </p:nvSpPr>
        <p:spPr>
          <a:xfrm>
            <a:off x="9299520" y="4709160"/>
            <a:ext cx="1654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675" b="0">
                <a:solidFill>
                  <a:srgbClr val="66768F"/>
                </a:solidFill>
              </a:defRPr>
            </a:pPr>
            <a:r>
              <a:rPr sz="675" b="0" u="none">
                <a:solidFill>
                  <a:srgbClr val="66768F"/>
                </a:solidFill>
                <a:latin typeface="Arial"/>
                <a:ea typeface="Arial"/>
                <a:cs typeface="Arial"/>
              </a:rPr>
              <a:t>발화맥락 추출·작업배정·Timeline</a:t>
            </a:r>
            <a:endParaRPr sz="6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94" name="Google Shape;952;p14"/>
          <p:cNvCxnSpPr/>
          <p:nvPr/>
        </p:nvCxnSpPr>
        <p:spPr>
          <a:xfrm flipH="1">
            <a:off x="5797080" y="5175360"/>
            <a:ext cx="4325400" cy="91800"/>
          </a:xfrm>
          <a:prstGeom prst="straightConnector1">
            <a:avLst/>
          </a:prstGeom>
          <a:ln w="15225">
            <a:solidFill>
              <a:srgbClr val="7658BE"/>
            </a:solidFill>
            <a:miter/>
          </a:ln>
        </p:spPr>
      </p:cxnSp>
      <p:sp>
        <p:nvSpPr>
          <p:cNvPr id="678" name="Google Shape;953;p14">
            <a:extLst>
              <a:ext uri="{FF2B5EF4-FFF2-40B4-BE49-F238E27FC236}">
                <a16:creationId xmlns:a16="http://schemas.microsoft.com/office/drawing/2014/main" id="{6615411A-CBBA-4AC5-9524-07271E569789}"/>
              </a:ext>
            </a:extLst>
          </p:cNvPr>
          <p:cNvSpPr>
            <a:spLocks noGrp="1"/>
          </p:cNvSpPr>
          <p:nvPr/>
        </p:nvSpPr>
        <p:spPr>
          <a:xfrm>
            <a:off x="1170360" y="5843160"/>
            <a:ext cx="9856800" cy="356400"/>
          </a:xfrm>
          <a:prstGeom prst="roundRect">
            <a:avLst>
              <a:gd name="adj" fmla="val 5000"/>
            </a:avLst>
          </a:prstGeom>
          <a:solidFill>
            <a:srgbClr val="0E2746"/>
          </a:solidFill>
          <a:ln w="9525">
            <a:solidFill>
              <a:srgbClr val="0E274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9" name="Google Shape;954;p14">
            <a:extLst>
              <a:ext uri="{FF2B5EF4-FFF2-40B4-BE49-F238E27FC236}">
                <a16:creationId xmlns:a16="http://schemas.microsoft.com/office/drawing/2014/main" id="{79E602CC-1ACA-4383-9139-364C44E87B8C}"/>
              </a:ext>
            </a:extLst>
          </p:cNvPr>
          <p:cNvSpPr>
            <a:spLocks noGrp="1"/>
          </p:cNvSpPr>
          <p:nvPr/>
        </p:nvSpPr>
        <p:spPr>
          <a:xfrm>
            <a:off x="1170360" y="5852160"/>
            <a:ext cx="9856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  <a:defRPr sz="788" b="1">
                <a:solidFill>
                  <a:srgbClr val="FFFFFF"/>
                </a:solidFill>
              </a:defRPr>
            </a:pPr>
            <a:r>
              <a:rPr sz="788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핵심 개입점  |  새로운 탐지가 아니라, 발화 맥락을 Case화해 확인·검증·설득 시간을 줄이는 것입니다.</a:t>
            </a:r>
            <a:endParaRPr sz="79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97" name="Google Shape;955;p14"/>
          <p:cNvCxnSpPr/>
          <p:nvPr/>
        </p:nvCxnSpPr>
        <p:spPr>
          <a:xfrm>
            <a:off x="548640" y="6418800"/>
            <a:ext cx="11082600" cy="360"/>
          </a:xfrm>
          <a:prstGeom prst="straightConnector1">
            <a:avLst/>
          </a:prstGeom>
          <a:ln w="10150">
            <a:solidFill>
              <a:srgbClr val="D9E4F0"/>
            </a:solidFill>
            <a:miter/>
          </a:ln>
        </p:spPr>
      </p:cxnSp>
      <p:sp>
        <p:nvSpPr>
          <p:cNvPr id="681" name="Google Shape;956;p14">
            <a:extLst>
              <a:ext uri="{FF2B5EF4-FFF2-40B4-BE49-F238E27FC236}">
                <a16:creationId xmlns:a16="http://schemas.microsoft.com/office/drawing/2014/main" id="{44ACF81F-D4B9-434D-80DB-DEE7544CF233}"/>
              </a:ext>
            </a:extLst>
          </p:cNvPr>
          <p:cNvSpPr>
            <a:spLocks noGrp="1"/>
          </p:cNvSpPr>
          <p:nvPr/>
        </p:nvSpPr>
        <p:spPr>
          <a:xfrm>
            <a:off x="567000" y="649224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610" b="1" u="none">
                <a:solidFill>
                  <a:srgbClr val="8291A5"/>
                </a:solidFill>
                <a:latin typeface="Arial"/>
                <a:ea typeface="Arial"/>
                <a:cs typeface="Arial"/>
              </a:rPr>
              <a:t>근거</a:t>
            </a:r>
            <a:endParaRPr sz="6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2" name="Google Shape;957;p14">
            <a:extLst>
              <a:ext uri="{FF2B5EF4-FFF2-40B4-BE49-F238E27FC236}">
                <a16:creationId xmlns:a16="http://schemas.microsoft.com/office/drawing/2014/main" id="{DC05A401-4A30-4FDF-A5F2-1FD7200A1197}"/>
              </a:ext>
            </a:extLst>
          </p:cNvPr>
          <p:cNvSpPr>
            <a:spLocks noGrp="1"/>
          </p:cNvSpPr>
          <p:nvPr/>
        </p:nvSpPr>
        <p:spPr>
          <a:xfrm>
            <a:off x="905400" y="6483240"/>
            <a:ext cx="8190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600" b="0">
                <a:solidFill>
                  <a:srgbClr val="66768F"/>
                </a:solidFill>
              </a:defRPr>
            </a:pPr>
            <a:r>
              <a:rPr sz="600" b="0" u="sng">
                <a:solidFill>
                  <a:srgbClr val="66768F"/>
                </a:solidFill>
                <a:latin typeface="Arial"/>
                <a:ea typeface="Arial"/>
                <a:cs typeface="Arial"/>
                <a:hlinkClick r:id="rId3"/>
              </a:rPr>
              <a:t>ASAP 실시간 공유  ·  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3" name="Google Shape;958;p14">
            <a:extLst>
              <a:ext uri="{FF2B5EF4-FFF2-40B4-BE49-F238E27FC236}">
                <a16:creationId xmlns:a16="http://schemas.microsoft.com/office/drawing/2014/main" id="{B9DAD075-3C1D-435A-9796-5DAB818AC734}"/>
              </a:ext>
            </a:extLst>
          </p:cNvPr>
          <p:cNvSpPr>
            <a:spLocks noGrp="1"/>
          </p:cNvSpPr>
          <p:nvPr/>
        </p:nvSpPr>
        <p:spPr>
          <a:xfrm>
            <a:off x="1724400" y="6483240"/>
            <a:ext cx="11260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600" b="0">
                <a:solidFill>
                  <a:srgbClr val="66768F"/>
                </a:solidFill>
              </a:defRPr>
            </a:pPr>
            <a:r>
              <a:rPr sz="600" b="0" u="sng">
                <a:solidFill>
                  <a:srgbClr val="66768F"/>
                </a:solidFill>
                <a:latin typeface="Arial"/>
                <a:ea typeface="Arial"/>
                <a:cs typeface="Arial"/>
                <a:hlinkClick r:id="rId4"/>
              </a:rPr>
              <a:t>FDS 대응 흐름  ·  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4" name="Google Shape;959;p14">
            <a:extLst>
              <a:ext uri="{FF2B5EF4-FFF2-40B4-BE49-F238E27FC236}">
                <a16:creationId xmlns:a16="http://schemas.microsoft.com/office/drawing/2014/main" id="{D139A95C-9698-4B49-AEDC-24A6BD3EB8E4}"/>
              </a:ext>
            </a:extLst>
          </p:cNvPr>
          <p:cNvSpPr>
            <a:spLocks noGrp="1"/>
          </p:cNvSpPr>
          <p:nvPr/>
        </p:nvSpPr>
        <p:spPr>
          <a:xfrm>
            <a:off x="2851200" y="6483240"/>
            <a:ext cx="7768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  <a:defRPr sz="600" b="0">
                <a:solidFill>
                  <a:srgbClr val="66768F"/>
                </a:solidFill>
              </a:defRPr>
            </a:pPr>
            <a:r>
              <a:rPr sz="600" b="0" u="sng">
                <a:solidFill>
                  <a:srgbClr val="66768F"/>
                </a:solidFill>
                <a:latin typeface="Arial"/>
                <a:ea typeface="Arial"/>
                <a:cs typeface="Arial"/>
                <a:hlinkClick r:id="rId5"/>
              </a:rPr>
              <a:t>사용자 제공 현행업무 흐름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8" name="TextBox 997"/>
          <p:cNvSpPr txBox="1"/>
          <p:nvPr/>
        </p:nvSpPr>
        <p:spPr>
          <a:xfrm>
            <a:off x="11292840" y="6464808"/>
            <a:ext cx="32004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00" b="0">
                <a:solidFill>
                  <a:srgbClr val="6A7B97"/>
                </a:solidFill>
                <a:latin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2992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2342</Words>
  <Application>Microsoft Office PowerPoint</Application>
  <PresentationFormat>Widescreen</PresentationFormat>
  <Paragraphs>380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Malgun Gothic</vt:lpstr>
      <vt:lpstr>Malgun Gothic</vt:lpstr>
      <vt:lpstr>Arial</vt:lpstr>
      <vt:lpstr>Symbol</vt:lpstr>
      <vt:lpstr>Times New Roman</vt:lpstr>
      <vt:lpstr>Wingdings</vt:lpstr>
      <vt:lpstr>페이퍼로지 4 Regular</vt:lpstr>
      <vt:lpstr>페이퍼로지 7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2</cp:revision>
  <dcterms:created xsi:type="dcterms:W3CDTF">2026-08-31T11:11:23Z</dcterms:created>
  <dcterms:modified xsi:type="dcterms:W3CDTF">2026-08-31T11:29:15Z</dcterms:modified>
</cp:coreProperties>
</file>