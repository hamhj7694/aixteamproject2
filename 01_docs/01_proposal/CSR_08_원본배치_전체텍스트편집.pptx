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3" r:id="rId2"/>
    <p:sldId id="265" r:id="rId3"/>
    <p:sldId id="264" r:id="rId4"/>
    <p:sldId id="262" r:id="rId5"/>
    <p:sldId id="261" r:id="rId6"/>
    <p:sldId id="260" r:id="rId7"/>
    <p:sldId id="259" r:id="rId8"/>
    <p:sldId id="258" r:id="rId9"/>
    <p:sldId id="256" r:id="rId10"/>
    <p:sldId id="257" r:id="rId11"/>
  </p:sldIdLst>
  <p:sldSz cx="15925800" cy="8963025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BD26B23-3257-4025-8BB2-F7A011FD13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075" y="812800"/>
            <a:ext cx="7121525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075" y="812800"/>
            <a:ext cx="7121525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075" y="812800"/>
            <a:ext cx="7121525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075" y="812800"/>
            <a:ext cx="7121525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075" y="812800"/>
            <a:ext cx="7121525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9075" y="812800"/>
            <a:ext cx="7121525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95960" y="357480"/>
            <a:ext cx="14332680" cy="14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795960" y="2097000"/>
            <a:ext cx="14332680" cy="519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99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94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jpe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png"/><Relationship Id="rId20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jpe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37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jpe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eg"/><Relationship Id="rId13" Type="http://schemas.openxmlformats.org/officeDocument/2006/relationships/image" Target="../media/image85.jpeg"/><Relationship Id="rId18" Type="http://schemas.openxmlformats.org/officeDocument/2006/relationships/image" Target="../media/image90.png"/><Relationship Id="rId26" Type="http://schemas.openxmlformats.org/officeDocument/2006/relationships/image" Target="../media/image98.png"/><Relationship Id="rId3" Type="http://schemas.openxmlformats.org/officeDocument/2006/relationships/image" Target="../media/image75.jpeg"/><Relationship Id="rId21" Type="http://schemas.openxmlformats.org/officeDocument/2006/relationships/image" Target="../media/image93.png"/><Relationship Id="rId34" Type="http://schemas.openxmlformats.org/officeDocument/2006/relationships/image" Target="../media/image106.png"/><Relationship Id="rId7" Type="http://schemas.openxmlformats.org/officeDocument/2006/relationships/image" Target="../media/image79.jpeg"/><Relationship Id="rId12" Type="http://schemas.openxmlformats.org/officeDocument/2006/relationships/image" Target="../media/image84.jpeg"/><Relationship Id="rId17" Type="http://schemas.openxmlformats.org/officeDocument/2006/relationships/image" Target="../media/image89.jpeg"/><Relationship Id="rId25" Type="http://schemas.openxmlformats.org/officeDocument/2006/relationships/image" Target="../media/image97.png"/><Relationship Id="rId33" Type="http://schemas.openxmlformats.org/officeDocument/2006/relationships/image" Target="../media/image10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jpeg"/><Relationship Id="rId24" Type="http://schemas.openxmlformats.org/officeDocument/2006/relationships/image" Target="../media/image96.png"/><Relationship Id="rId32" Type="http://schemas.openxmlformats.org/officeDocument/2006/relationships/image" Target="../media/image104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28" Type="http://schemas.openxmlformats.org/officeDocument/2006/relationships/image" Target="../media/image100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31" Type="http://schemas.openxmlformats.org/officeDocument/2006/relationships/image" Target="../media/image103.png"/><Relationship Id="rId4" Type="http://schemas.openxmlformats.org/officeDocument/2006/relationships/image" Target="../media/image76.jpeg"/><Relationship Id="rId9" Type="http://schemas.openxmlformats.org/officeDocument/2006/relationships/image" Target="../media/image81.jpeg"/><Relationship Id="rId14" Type="http://schemas.openxmlformats.org/officeDocument/2006/relationships/image" Target="../media/image86.png"/><Relationship Id="rId22" Type="http://schemas.openxmlformats.org/officeDocument/2006/relationships/image" Target="../media/image94.png"/><Relationship Id="rId27" Type="http://schemas.openxmlformats.org/officeDocument/2006/relationships/image" Target="../media/image99.png"/><Relationship Id="rId30" Type="http://schemas.openxmlformats.org/officeDocument/2006/relationships/image" Target="../media/image10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30.png"/><Relationship Id="rId3" Type="http://schemas.openxmlformats.org/officeDocument/2006/relationships/image" Target="../media/image107.png"/><Relationship Id="rId21" Type="http://schemas.openxmlformats.org/officeDocument/2006/relationships/image" Target="../media/image125.png"/><Relationship Id="rId7" Type="http://schemas.openxmlformats.org/officeDocument/2006/relationships/image" Target="../media/image111.png"/><Relationship Id="rId12" Type="http://schemas.openxmlformats.org/officeDocument/2006/relationships/image" Target="../media/image116.jpeg"/><Relationship Id="rId17" Type="http://schemas.openxmlformats.org/officeDocument/2006/relationships/image" Target="../media/image121.png"/><Relationship Id="rId25" Type="http://schemas.openxmlformats.org/officeDocument/2006/relationships/image" Target="../media/image129.jpe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29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5.jpeg"/><Relationship Id="rId24" Type="http://schemas.openxmlformats.org/officeDocument/2006/relationships/image" Target="../media/image128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23" Type="http://schemas.openxmlformats.org/officeDocument/2006/relationships/image" Target="../media/image127.jpeg"/><Relationship Id="rId28" Type="http://schemas.openxmlformats.org/officeDocument/2006/relationships/image" Target="../media/image132.jpeg"/><Relationship Id="rId10" Type="http://schemas.openxmlformats.org/officeDocument/2006/relationships/image" Target="../media/image114.jpeg"/><Relationship Id="rId19" Type="http://schemas.openxmlformats.org/officeDocument/2006/relationships/image" Target="../media/image123.png"/><Relationship Id="rId31" Type="http://schemas.openxmlformats.org/officeDocument/2006/relationships/image" Target="../media/image135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6.jpeg"/><Relationship Id="rId27" Type="http://schemas.openxmlformats.org/officeDocument/2006/relationships/image" Target="../media/image131.png"/><Relationship Id="rId30" Type="http://schemas.openxmlformats.org/officeDocument/2006/relationships/image" Target="../media/image13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26" Type="http://schemas.openxmlformats.org/officeDocument/2006/relationships/image" Target="../media/image159.png"/><Relationship Id="rId39" Type="http://schemas.openxmlformats.org/officeDocument/2006/relationships/image" Target="../media/image172.png"/><Relationship Id="rId21" Type="http://schemas.openxmlformats.org/officeDocument/2006/relationships/image" Target="../media/image154.png"/><Relationship Id="rId34" Type="http://schemas.openxmlformats.org/officeDocument/2006/relationships/image" Target="../media/image167.png"/><Relationship Id="rId42" Type="http://schemas.openxmlformats.org/officeDocument/2006/relationships/image" Target="../media/image175.png"/><Relationship Id="rId47" Type="http://schemas.openxmlformats.org/officeDocument/2006/relationships/image" Target="../media/image180.png"/><Relationship Id="rId50" Type="http://schemas.openxmlformats.org/officeDocument/2006/relationships/image" Target="../media/image183.jpeg"/><Relationship Id="rId55" Type="http://schemas.openxmlformats.org/officeDocument/2006/relationships/image" Target="../media/image188.png"/><Relationship Id="rId63" Type="http://schemas.openxmlformats.org/officeDocument/2006/relationships/image" Target="../media/image196.png"/><Relationship Id="rId7" Type="http://schemas.openxmlformats.org/officeDocument/2006/relationships/image" Target="../media/image140.jpe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29" Type="http://schemas.openxmlformats.org/officeDocument/2006/relationships/image" Target="../media/image162.png"/><Relationship Id="rId41" Type="http://schemas.openxmlformats.org/officeDocument/2006/relationships/image" Target="../media/image174.png"/><Relationship Id="rId54" Type="http://schemas.openxmlformats.org/officeDocument/2006/relationships/image" Target="../media/image187.png"/><Relationship Id="rId6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jpeg"/><Relationship Id="rId11" Type="http://schemas.openxmlformats.org/officeDocument/2006/relationships/image" Target="../media/image144.png"/><Relationship Id="rId24" Type="http://schemas.openxmlformats.org/officeDocument/2006/relationships/image" Target="../media/image157.png"/><Relationship Id="rId32" Type="http://schemas.openxmlformats.org/officeDocument/2006/relationships/image" Target="../media/image165.png"/><Relationship Id="rId37" Type="http://schemas.openxmlformats.org/officeDocument/2006/relationships/image" Target="../media/image170.png"/><Relationship Id="rId40" Type="http://schemas.openxmlformats.org/officeDocument/2006/relationships/image" Target="../media/image173.png"/><Relationship Id="rId45" Type="http://schemas.openxmlformats.org/officeDocument/2006/relationships/image" Target="../media/image178.png"/><Relationship Id="rId53" Type="http://schemas.openxmlformats.org/officeDocument/2006/relationships/image" Target="../media/image186.png"/><Relationship Id="rId58" Type="http://schemas.openxmlformats.org/officeDocument/2006/relationships/image" Target="../media/image191.jpeg"/><Relationship Id="rId5" Type="http://schemas.openxmlformats.org/officeDocument/2006/relationships/image" Target="../media/image138.png"/><Relationship Id="rId15" Type="http://schemas.openxmlformats.org/officeDocument/2006/relationships/image" Target="../media/image148.jpeg"/><Relationship Id="rId23" Type="http://schemas.openxmlformats.org/officeDocument/2006/relationships/image" Target="../media/image156.png"/><Relationship Id="rId28" Type="http://schemas.openxmlformats.org/officeDocument/2006/relationships/image" Target="../media/image161.jpeg"/><Relationship Id="rId36" Type="http://schemas.openxmlformats.org/officeDocument/2006/relationships/image" Target="../media/image169.png"/><Relationship Id="rId49" Type="http://schemas.openxmlformats.org/officeDocument/2006/relationships/image" Target="../media/image182.png"/><Relationship Id="rId57" Type="http://schemas.openxmlformats.org/officeDocument/2006/relationships/image" Target="../media/image190.png"/><Relationship Id="rId61" Type="http://schemas.openxmlformats.org/officeDocument/2006/relationships/image" Target="../media/image194.png"/><Relationship Id="rId10" Type="http://schemas.openxmlformats.org/officeDocument/2006/relationships/image" Target="../media/image143.png"/><Relationship Id="rId19" Type="http://schemas.openxmlformats.org/officeDocument/2006/relationships/image" Target="../media/image152.jpeg"/><Relationship Id="rId31" Type="http://schemas.openxmlformats.org/officeDocument/2006/relationships/image" Target="../media/image164.png"/><Relationship Id="rId44" Type="http://schemas.openxmlformats.org/officeDocument/2006/relationships/image" Target="../media/image177.png"/><Relationship Id="rId52" Type="http://schemas.openxmlformats.org/officeDocument/2006/relationships/image" Target="../media/image185.png"/><Relationship Id="rId60" Type="http://schemas.openxmlformats.org/officeDocument/2006/relationships/image" Target="../media/image193.png"/><Relationship Id="rId65" Type="http://schemas.openxmlformats.org/officeDocument/2006/relationships/image" Target="../media/image198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Relationship Id="rId27" Type="http://schemas.openxmlformats.org/officeDocument/2006/relationships/image" Target="../media/image160.jpeg"/><Relationship Id="rId30" Type="http://schemas.openxmlformats.org/officeDocument/2006/relationships/image" Target="../media/image163.png"/><Relationship Id="rId35" Type="http://schemas.openxmlformats.org/officeDocument/2006/relationships/image" Target="../media/image168.png"/><Relationship Id="rId43" Type="http://schemas.openxmlformats.org/officeDocument/2006/relationships/image" Target="../media/image176.png"/><Relationship Id="rId48" Type="http://schemas.openxmlformats.org/officeDocument/2006/relationships/image" Target="../media/image181.png"/><Relationship Id="rId56" Type="http://schemas.openxmlformats.org/officeDocument/2006/relationships/image" Target="../media/image189.png"/><Relationship Id="rId64" Type="http://schemas.openxmlformats.org/officeDocument/2006/relationships/image" Target="../media/image197.jpeg"/><Relationship Id="rId8" Type="http://schemas.openxmlformats.org/officeDocument/2006/relationships/image" Target="../media/image141.jpeg"/><Relationship Id="rId51" Type="http://schemas.openxmlformats.org/officeDocument/2006/relationships/image" Target="../media/image184.png"/><Relationship Id="rId3" Type="http://schemas.openxmlformats.org/officeDocument/2006/relationships/image" Target="../media/image136.png"/><Relationship Id="rId12" Type="http://schemas.openxmlformats.org/officeDocument/2006/relationships/image" Target="../media/image145.jpe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33" Type="http://schemas.openxmlformats.org/officeDocument/2006/relationships/image" Target="../media/image166.png"/><Relationship Id="rId38" Type="http://schemas.openxmlformats.org/officeDocument/2006/relationships/image" Target="../media/image171.png"/><Relationship Id="rId46" Type="http://schemas.openxmlformats.org/officeDocument/2006/relationships/image" Target="../media/image179.png"/><Relationship Id="rId59" Type="http://schemas.openxmlformats.org/officeDocument/2006/relationships/image" Target="../media/image19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9.jpeg"/><Relationship Id="rId7" Type="http://schemas.openxmlformats.org/officeDocument/2006/relationships/image" Target="../media/image20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18" Type="http://schemas.openxmlformats.org/officeDocument/2006/relationships/image" Target="../media/image223.png"/><Relationship Id="rId26" Type="http://schemas.openxmlformats.org/officeDocument/2006/relationships/image" Target="../media/image231.jpeg"/><Relationship Id="rId3" Type="http://schemas.openxmlformats.org/officeDocument/2006/relationships/image" Target="../media/image208.jpeg"/><Relationship Id="rId21" Type="http://schemas.openxmlformats.org/officeDocument/2006/relationships/image" Target="../media/image226.png"/><Relationship Id="rId7" Type="http://schemas.openxmlformats.org/officeDocument/2006/relationships/image" Target="../media/image212.png"/><Relationship Id="rId12" Type="http://schemas.openxmlformats.org/officeDocument/2006/relationships/image" Target="../media/image217.png"/><Relationship Id="rId17" Type="http://schemas.openxmlformats.org/officeDocument/2006/relationships/image" Target="../media/image222.jpeg"/><Relationship Id="rId25" Type="http://schemas.openxmlformats.org/officeDocument/2006/relationships/image" Target="../media/image23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21.png"/><Relationship Id="rId20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jpeg"/><Relationship Id="rId11" Type="http://schemas.openxmlformats.org/officeDocument/2006/relationships/image" Target="../media/image216.png"/><Relationship Id="rId24" Type="http://schemas.openxmlformats.org/officeDocument/2006/relationships/image" Target="../media/image229.png"/><Relationship Id="rId5" Type="http://schemas.openxmlformats.org/officeDocument/2006/relationships/image" Target="../media/image210.png"/><Relationship Id="rId15" Type="http://schemas.openxmlformats.org/officeDocument/2006/relationships/image" Target="../media/image220.png"/><Relationship Id="rId23" Type="http://schemas.openxmlformats.org/officeDocument/2006/relationships/image" Target="../media/image228.png"/><Relationship Id="rId10" Type="http://schemas.openxmlformats.org/officeDocument/2006/relationships/image" Target="../media/image215.png"/><Relationship Id="rId19" Type="http://schemas.openxmlformats.org/officeDocument/2006/relationships/image" Target="../media/image224.png"/><Relationship Id="rId4" Type="http://schemas.openxmlformats.org/officeDocument/2006/relationships/image" Target="../media/image209.jpeg"/><Relationship Id="rId9" Type="http://schemas.openxmlformats.org/officeDocument/2006/relationships/image" Target="../media/image214.jpeg"/><Relationship Id="rId14" Type="http://schemas.openxmlformats.org/officeDocument/2006/relationships/image" Target="../media/image219.png"/><Relationship Id="rId22" Type="http://schemas.openxmlformats.org/officeDocument/2006/relationships/image" Target="../media/image227.png"/><Relationship Id="rId27" Type="http://schemas.openxmlformats.org/officeDocument/2006/relationships/image" Target="../media/image2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0820" y="7514987"/>
            <a:ext cx="15191720" cy="1269087"/>
          </a:xfrm>
          <a:prstGeom prst="roundRect">
            <a:avLst>
              <a:gd name="adj" fmla="val 8824"/>
            </a:avLst>
          </a:prstGeom>
          <a:solidFill>
            <a:srgbClr val="FDEFEF"/>
          </a:solidFill>
          <a:ln w="19050">
            <a:solidFill>
              <a:srgbClr val="FDE9E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28" y="7738943"/>
            <a:ext cx="24884" cy="84605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3" y="7726502"/>
            <a:ext cx="970478" cy="858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74573" y="7676733"/>
            <a:ext cx="9207103" cy="870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821"/>
              </a:lnSpc>
            </a:pPr>
            <a:r>
              <a:rPr lang="en-US" sz="2558" b="1" dirty="0">
                <a:solidFill>
                  <a:srgbClr val="33455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FDS는 이상거래를 탐지하지만, 이후의 대응은 한 명이 아닌
</a:t>
            </a:r>
            <a:r>
              <a:rPr lang="en-US" sz="2558" b="1" dirty="0">
                <a:solidFill>
                  <a:srgbClr val="E4313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여러 담당자의 확인과 조치로 이어진다.</a:t>
            </a:r>
            <a:endParaRPr lang="en-US" sz="255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2765524" y="5387400"/>
            <a:ext cx="2787015" cy="1978283"/>
          </a:xfrm>
          <a:prstGeom prst="rect">
            <a:avLst/>
          </a:prstGeom>
          <a:solidFill>
            <a:srgbClr val="ECF2F8"/>
          </a:solidFill>
          <a:ln w="19050">
            <a:solidFill>
              <a:srgbClr val="FAFAF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914829" y="6420088"/>
            <a:ext cx="2500848" cy="846058"/>
          </a:xfrm>
          <a:prstGeom prst="roundRect">
            <a:avLst>
              <a:gd name="adj" fmla="val 10294"/>
            </a:avLst>
          </a:prstGeom>
          <a:solidFill>
            <a:srgbClr val="F9FBF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3669" y="6955096"/>
            <a:ext cx="49768" cy="3732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3669" y="6756023"/>
            <a:ext cx="49768" cy="37326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63669" y="6556951"/>
            <a:ext cx="49768" cy="373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412510" y="6668929"/>
            <a:ext cx="1368623" cy="60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79"/>
              </a:lnSpc>
            </a:pPr>
            <a:r>
              <a:rPr lang="en-US" sz="1274" dirty="0">
                <a:solidFill>
                  <a:srgbClr val="77869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관련부서 협업</a:t>
            </a:r>
            <a:endParaRPr lang="en-US" sz="1274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579"/>
              </a:lnSpc>
            </a:pPr>
            <a:r>
              <a:rPr lang="en-US" sz="1274" dirty="0">
                <a:solidFill>
                  <a:srgbClr val="77869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중지/해제 등</a:t>
            </a:r>
            <a:endParaRPr lang="en-US" sz="1274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579"/>
              </a:lnSpc>
            </a:pPr>
            <a:r>
              <a:rPr lang="en-US" sz="1274" dirty="0">
                <a:solidFill>
                  <a:srgbClr val="77869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후속조치 검토</a:t>
            </a:r>
            <a:endParaRPr lang="en-US" sz="127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3" name="Text 6"/>
          <p:cNvSpPr/>
          <p:nvPr/>
        </p:nvSpPr>
        <p:spPr>
          <a:xfrm>
            <a:off x="13412510" y="6457415"/>
            <a:ext cx="646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33"/>
              </a:lnSpc>
            </a:pPr>
            <a:r>
              <a:rPr lang="en-US" sz="1236" dirty="0">
                <a:solidFill>
                  <a:srgbClr val="7280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추가조회</a:t>
            </a:r>
            <a:endParaRPr lang="en-US" sz="123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12914829" y="6034386"/>
            <a:ext cx="2513290" cy="360819"/>
          </a:xfrm>
          <a:prstGeom prst="roundRect">
            <a:avLst>
              <a:gd name="adj" fmla="val 5172"/>
            </a:avLst>
          </a:prstGeom>
          <a:solidFill>
            <a:srgbClr val="194771"/>
          </a:solidFill>
          <a:ln w="9525">
            <a:solidFill>
              <a:srgbClr val="1C4973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13288090" y="6096596"/>
            <a:ext cx="1804095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26"/>
              </a:lnSpc>
            </a:pPr>
            <a:r>
              <a:rPr lang="en-US" sz="1297" dirty="0">
                <a:solidFill>
                  <a:srgbClr val="A2B5C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내부 검토 · 조치 담당자</a:t>
            </a:r>
            <a:endParaRPr lang="en-US" sz="129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35539" y="5449610"/>
            <a:ext cx="646986" cy="547449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990952" y="5412283"/>
            <a:ext cx="2774573" cy="1940957"/>
          </a:xfrm>
          <a:prstGeom prst="rect">
            <a:avLst/>
          </a:prstGeom>
          <a:solidFill>
            <a:srgbClr val="EFF4F9"/>
          </a:solidFill>
          <a:ln w="28575">
            <a:solidFill>
              <a:srgbClr val="F8FAFC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10140256" y="6444973"/>
            <a:ext cx="2488406" cy="783848"/>
          </a:xfrm>
          <a:prstGeom prst="roundRect">
            <a:avLst>
              <a:gd name="adj" fmla="val 9524"/>
            </a:avLst>
          </a:prstGeom>
          <a:solidFill>
            <a:srgbClr val="F9FBFC"/>
          </a:solidFill>
          <a:ln/>
        </p:spPr>
      </p:sp>
      <p:sp>
        <p:nvSpPr>
          <p:cNvPr id="19" name="Text 11"/>
          <p:cNvSpPr/>
          <p:nvPr/>
        </p:nvSpPr>
        <p:spPr>
          <a:xfrm>
            <a:off x="10351770" y="6569393"/>
            <a:ext cx="2115145" cy="510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99"/>
              </a:lnSpc>
            </a:pPr>
            <a:r>
              <a:rPr lang="en-US" sz="1306" dirty="0">
                <a:solidFill>
                  <a:srgbClr val="77879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 연락  · 거래 목적/경위</a:t>
            </a:r>
            <a:endParaRPr lang="en-US" sz="1306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ts val="1699"/>
              </a:lnSpc>
            </a:pPr>
            <a:r>
              <a:rPr lang="en-US" sz="1306" dirty="0">
                <a:solidFill>
                  <a:srgbClr val="77879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확인</a:t>
            </a:r>
            <a:endParaRPr lang="en-US" sz="130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0127814" y="6034385"/>
            <a:ext cx="2513290" cy="373261"/>
          </a:xfrm>
          <a:prstGeom prst="roundRect">
            <a:avLst>
              <a:gd name="adj" fmla="val 3333"/>
            </a:avLst>
          </a:prstGeom>
          <a:solidFill>
            <a:srgbClr val="134470"/>
          </a:solidFill>
          <a:ln/>
        </p:spPr>
      </p:sp>
      <p:sp>
        <p:nvSpPr>
          <p:cNvPr id="21" name="Text 13"/>
          <p:cNvSpPr/>
          <p:nvPr/>
        </p:nvSpPr>
        <p:spPr>
          <a:xfrm>
            <a:off x="10550843" y="6096596"/>
            <a:ext cx="1704558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254" dirty="0">
                <a:solidFill>
                  <a:srgbClr val="A3B6C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 사실확인 담당자</a:t>
            </a:r>
            <a:endParaRPr lang="en-US" sz="125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8524" y="5462052"/>
            <a:ext cx="659428" cy="535007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179052" y="5387400"/>
            <a:ext cx="2811899" cy="1978283"/>
          </a:xfrm>
          <a:prstGeom prst="rect">
            <a:avLst/>
          </a:prstGeom>
          <a:solidFill>
            <a:srgbClr val="EDF3F9"/>
          </a:solidFill>
          <a:ln w="19050">
            <a:solidFill>
              <a:srgbClr val="F7F9FB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7353241" y="6444973"/>
            <a:ext cx="2500848" cy="783848"/>
          </a:xfrm>
          <a:prstGeom prst="roundRect">
            <a:avLst>
              <a:gd name="adj" fmla="val 9524"/>
            </a:avLst>
          </a:prstGeom>
          <a:solidFill>
            <a:srgbClr val="F9FBFC"/>
          </a:solidFill>
          <a:ln/>
        </p:spPr>
      </p:sp>
      <p:sp>
        <p:nvSpPr>
          <p:cNvPr id="25" name="Text 16"/>
          <p:cNvSpPr/>
          <p:nvPr/>
        </p:nvSpPr>
        <p:spPr>
          <a:xfrm>
            <a:off x="7552314" y="6693812"/>
            <a:ext cx="2127587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2"/>
              </a:lnSpc>
            </a:pPr>
            <a:r>
              <a:rPr lang="en-US" sz="1253" dirty="0">
                <a:solidFill>
                  <a:srgbClr val="76869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건 확인 · 거래내역 검토</a:t>
            </a:r>
            <a:endParaRPr lang="en-US" sz="125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7340799" y="6034385"/>
            <a:ext cx="2525732" cy="373261"/>
          </a:xfrm>
          <a:prstGeom prst="roundRect">
            <a:avLst>
              <a:gd name="adj" fmla="val 5833"/>
            </a:avLst>
          </a:prstGeom>
          <a:solidFill>
            <a:srgbClr val="14446F"/>
          </a:solidFill>
          <a:ln/>
        </p:spPr>
      </p:sp>
      <p:sp>
        <p:nvSpPr>
          <p:cNvPr id="27" name="Text 18"/>
          <p:cNvSpPr/>
          <p:nvPr/>
        </p:nvSpPr>
        <p:spPr>
          <a:xfrm>
            <a:off x="7552314" y="6096596"/>
            <a:ext cx="210270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61"/>
              </a:lnSpc>
            </a:pPr>
            <a:r>
              <a:rPr lang="en-US" sz="1332" dirty="0">
                <a:solidFill>
                  <a:srgbClr val="A2B5C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이상거래 후속 대응 담당자</a:t>
            </a:r>
            <a:endParaRPr lang="en-US" sz="133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3951" y="5462052"/>
            <a:ext cx="646986" cy="535007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179052" y="4964371"/>
            <a:ext cx="8410813" cy="385703"/>
          </a:xfrm>
          <a:prstGeom prst="roundRect">
            <a:avLst>
              <a:gd name="adj" fmla="val 15323"/>
            </a:avLst>
          </a:prstGeom>
          <a:solidFill>
            <a:srgbClr val="638AA7"/>
          </a:solidFill>
          <a:ln w="9525">
            <a:solidFill>
              <a:srgbClr val="89A6BB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9642574" y="5039022"/>
            <a:ext cx="3185160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17"/>
              </a:lnSpc>
            </a:pPr>
            <a:r>
              <a:rPr lang="en-US" sz="1579" dirty="0">
                <a:solidFill>
                  <a:srgbClr val="C6D4D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대응 단계에 참여하는 주요 담당자</a:t>
            </a:r>
            <a:endParaRPr lang="en-US" sz="157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261283" y="3371791"/>
            <a:ext cx="6743581" cy="4018776"/>
          </a:xfrm>
          <a:prstGeom prst="rect">
            <a:avLst/>
          </a:prstGeom>
          <a:solidFill>
            <a:srgbClr val="FDFEFE"/>
          </a:solidFill>
          <a:ln/>
        </p:spPr>
      </p:sp>
      <p:sp>
        <p:nvSpPr>
          <p:cNvPr id="32" name="Shape 22"/>
          <p:cNvSpPr/>
          <p:nvPr/>
        </p:nvSpPr>
        <p:spPr>
          <a:xfrm>
            <a:off x="5337632" y="4230290"/>
            <a:ext cx="1356181" cy="2737247"/>
          </a:xfrm>
          <a:prstGeom prst="roundRect">
            <a:avLst>
              <a:gd name="adj" fmla="val 3670"/>
            </a:avLst>
          </a:prstGeom>
          <a:solidFill>
            <a:srgbClr val="F4F5F6"/>
          </a:solidFill>
          <a:ln w="9525">
            <a:solidFill>
              <a:srgbClr val="D1D5DA"/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7987" y="5126117"/>
            <a:ext cx="522565" cy="510123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673567" y="5797987"/>
            <a:ext cx="684312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3"/>
              </a:lnSpc>
            </a:pPr>
            <a:r>
              <a:rPr lang="en-US" sz="1306" dirty="0">
                <a:solidFill>
                  <a:srgbClr val="677B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로그아웃</a:t>
            </a:r>
            <a:endParaRPr lang="en-US" sz="130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2090261" y="4242733"/>
            <a:ext cx="3160276" cy="2699921"/>
          </a:xfrm>
          <a:prstGeom prst="rect">
            <a:avLst/>
          </a:prstGeom>
          <a:solidFill>
            <a:srgbClr val="BFD2EF"/>
          </a:solidFill>
          <a:ln w="9525">
            <a:solidFill>
              <a:srgbClr val="819ABF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3247371" y="6507183"/>
            <a:ext cx="1903631" cy="311051"/>
          </a:xfrm>
          <a:prstGeom prst="rect">
            <a:avLst/>
          </a:prstGeom>
          <a:solidFill>
            <a:srgbClr val="E8F5FE"/>
          </a:solidFill>
          <a:ln w="9525">
            <a:solidFill>
              <a:srgbClr val="A1BBDD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3508653" y="6544508"/>
            <a:ext cx="1405950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51"/>
              </a:lnSpc>
            </a:pPr>
            <a:r>
              <a:rPr lang="en-US" sz="1122" dirty="0">
                <a:solidFill>
                  <a:srgbClr val="6A819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추심이체·츨급동의 동</a:t>
            </a:r>
            <a:endParaRPr lang="en-US" sz="112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Shape 27"/>
          <p:cNvSpPr/>
          <p:nvPr/>
        </p:nvSpPr>
        <p:spPr>
          <a:xfrm>
            <a:off x="3247371" y="6146363"/>
            <a:ext cx="1903631" cy="298609"/>
          </a:xfrm>
          <a:prstGeom prst="roundRect">
            <a:avLst>
              <a:gd name="adj" fmla="val 3125"/>
            </a:avLst>
          </a:prstGeom>
          <a:solidFill>
            <a:srgbClr val="E9F4FD"/>
          </a:solidFill>
          <a:ln w="9525">
            <a:solidFill>
              <a:srgbClr val="9FBBDD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3794820" y="6183689"/>
            <a:ext cx="821174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23"/>
              </a:lnSpc>
            </a:pPr>
            <a:r>
              <a:rPr lang="en-US" sz="1100" dirty="0">
                <a:solidFill>
                  <a:srgbClr val="667E9B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지급 및 결제</a:t>
            </a:r>
            <a:endParaRPr lang="en-US" sz="11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3247371" y="5797986"/>
            <a:ext cx="1903631" cy="298609"/>
          </a:xfrm>
          <a:prstGeom prst="rect">
            <a:avLst/>
          </a:prstGeom>
          <a:solidFill>
            <a:srgbClr val="E8F4FD"/>
          </a:solidFill>
          <a:ln w="9525">
            <a:solidFill>
              <a:srgbClr val="97B5DA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06799" y="5835312"/>
            <a:ext cx="584775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39"/>
              </a:lnSpc>
            </a:pPr>
            <a:r>
              <a:rPr lang="en-US" sz="1117" dirty="0">
                <a:solidFill>
                  <a:srgbClr val="6982A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오픈뱅킹</a:t>
            </a:r>
            <a:endParaRPr lang="en-US" sz="111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3247371" y="5449609"/>
            <a:ext cx="1903631" cy="298609"/>
          </a:xfrm>
          <a:prstGeom prst="roundRect">
            <a:avLst>
              <a:gd name="adj" fmla="val 3125"/>
            </a:avLst>
          </a:prstGeom>
          <a:solidFill>
            <a:srgbClr val="E8F4FE"/>
          </a:solidFill>
          <a:ln w="9525">
            <a:solidFill>
              <a:srgbClr val="9CB8DC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3844588" y="5499377"/>
            <a:ext cx="721638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9"/>
              </a:lnSpc>
            </a:pPr>
            <a:r>
              <a:rPr lang="en-US" sz="1181" dirty="0">
                <a:solidFill>
                  <a:srgbClr val="647D9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츨금(ATM)</a:t>
            </a:r>
            <a:endParaRPr lang="en-US" sz="118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3247370" y="5101233"/>
            <a:ext cx="1916073" cy="311051"/>
          </a:xfrm>
          <a:prstGeom prst="roundRect">
            <a:avLst>
              <a:gd name="adj" fmla="val 12000"/>
            </a:avLst>
          </a:prstGeom>
          <a:solidFill>
            <a:srgbClr val="E8F3FD"/>
          </a:solidFill>
          <a:ln w="9525">
            <a:solidFill>
              <a:srgbClr val="9AB6DA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4056103" y="5151002"/>
            <a:ext cx="2861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6"/>
              </a:lnSpc>
            </a:pPr>
            <a:r>
              <a:rPr lang="en-US" sz="1093" dirty="0">
                <a:solidFill>
                  <a:srgbClr val="647E9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대출</a:t>
            </a:r>
            <a:endParaRPr lang="en-US" sz="109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3247371" y="4765298"/>
            <a:ext cx="1903631" cy="298609"/>
          </a:xfrm>
          <a:prstGeom prst="rect">
            <a:avLst/>
          </a:prstGeom>
          <a:solidFill>
            <a:srgbClr val="E8F4FD"/>
          </a:solidFill>
          <a:ln w="9525">
            <a:solidFill>
              <a:srgbClr val="A8C0E0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3906799" y="4802624"/>
            <a:ext cx="584775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39"/>
              </a:lnSpc>
            </a:pPr>
            <a:r>
              <a:rPr lang="en-US" sz="1117" dirty="0">
                <a:solidFill>
                  <a:srgbClr val="7289A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자금이동</a:t>
            </a:r>
            <a:endParaRPr lang="en-US" sz="111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Shape 37"/>
          <p:cNvSpPr/>
          <p:nvPr/>
        </p:nvSpPr>
        <p:spPr>
          <a:xfrm>
            <a:off x="2177356" y="4765298"/>
            <a:ext cx="1007805" cy="2077819"/>
          </a:xfrm>
          <a:prstGeom prst="roundRect">
            <a:avLst>
              <a:gd name="adj" fmla="val 16049"/>
            </a:avLst>
          </a:prstGeom>
          <a:solidFill>
            <a:srgbClr val="E9F4FD"/>
          </a:solidFill>
          <a:ln w="19050">
            <a:solidFill>
              <a:srgbClr val="A5BFE0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2339102" y="5723334"/>
            <a:ext cx="684312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1306" dirty="0">
                <a:solidFill>
                  <a:srgbClr val="5C739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거래지시</a:t>
            </a:r>
            <a:endParaRPr lang="en-US" sz="130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2177356" y="4367153"/>
            <a:ext cx="2973645" cy="348377"/>
          </a:xfrm>
          <a:prstGeom prst="roundRect">
            <a:avLst>
              <a:gd name="adj" fmla="val 2679"/>
            </a:avLst>
          </a:prstGeom>
          <a:solidFill>
            <a:srgbClr val="E9F4FD"/>
          </a:solidFill>
          <a:ln w="9525">
            <a:solidFill>
              <a:srgbClr val="A1BEDF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3483769" y="4416921"/>
            <a:ext cx="348377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95"/>
              </a:lnSpc>
            </a:pPr>
            <a:r>
              <a:rPr lang="en-US" sz="1331" dirty="0">
                <a:solidFill>
                  <a:srgbClr val="697E9B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조회</a:t>
            </a:r>
            <a:endParaRPr lang="en-US" sz="133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2" name="Shape 41"/>
          <p:cNvSpPr/>
          <p:nvPr/>
        </p:nvSpPr>
        <p:spPr>
          <a:xfrm>
            <a:off x="597217" y="4230290"/>
            <a:ext cx="1418392" cy="2737247"/>
          </a:xfrm>
          <a:prstGeom prst="roundRect">
            <a:avLst>
              <a:gd name="adj" fmla="val 3509"/>
            </a:avLst>
          </a:prstGeom>
          <a:solidFill>
            <a:srgbClr val="F3F5F6"/>
          </a:solidFill>
          <a:ln w="9525">
            <a:solidFill>
              <a:srgbClr val="CFD3D8"/>
            </a:solidFill>
            <a:prstDash val="solid"/>
          </a:ln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363" y="5735777"/>
            <a:ext cx="609660" cy="609660"/>
          </a:xfrm>
          <a:prstGeom prst="rect">
            <a:avLst/>
          </a:prstGeom>
        </p:spPr>
      </p:pic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457" y="4653319"/>
            <a:ext cx="435471" cy="398145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1032689" y="6382762"/>
            <a:ext cx="535007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93"/>
              </a:lnSpc>
            </a:pPr>
            <a:r>
              <a:rPr lang="en-US" sz="1362" dirty="0">
                <a:solidFill>
                  <a:srgbClr val="677A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로그인</a:t>
            </a:r>
            <a:endParaRPr lang="en-US" sz="136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" name="Text 43"/>
          <p:cNvSpPr/>
          <p:nvPr/>
        </p:nvSpPr>
        <p:spPr>
          <a:xfrm>
            <a:off x="684312" y="5126117"/>
            <a:ext cx="1256645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59"/>
              </a:lnSpc>
            </a:pPr>
            <a:r>
              <a:rPr lang="en-US" sz="1121" dirty="0">
                <a:solidFill>
                  <a:srgbClr val="6679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접근매체 발급:갱신</a:t>
            </a:r>
            <a:endParaRPr lang="en-US" sz="112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" name="Shape 44"/>
          <p:cNvSpPr/>
          <p:nvPr/>
        </p:nvSpPr>
        <p:spPr>
          <a:xfrm>
            <a:off x="348377" y="2836784"/>
            <a:ext cx="6569393" cy="535007"/>
          </a:xfrm>
          <a:prstGeom prst="roundRect">
            <a:avLst>
              <a:gd name="adj" fmla="val 8721"/>
            </a:avLst>
          </a:prstGeom>
          <a:solidFill>
            <a:srgbClr val="6B88AA"/>
          </a:solidFill>
          <a:ln w="9525">
            <a:solidFill>
              <a:srgbClr val="7B95B3"/>
            </a:solidFill>
            <a:prstDash val="solid"/>
          </a:ln>
        </p:spPr>
      </p:sp>
      <p:sp>
        <p:nvSpPr>
          <p:cNvPr id="58" name="Text 45"/>
          <p:cNvSpPr/>
          <p:nvPr/>
        </p:nvSpPr>
        <p:spPr>
          <a:xfrm>
            <a:off x="2227124" y="2948762"/>
            <a:ext cx="2787015" cy="33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57"/>
              </a:lnSpc>
            </a:pPr>
            <a:r>
              <a:rPr lang="en-US" sz="2195" b="1" dirty="0">
                <a:solidFill>
                  <a:srgbClr val="DAE1E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 적용업무의 범위</a:t>
            </a:r>
            <a:endParaRPr lang="en-US" sz="219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9" name="Text 46"/>
          <p:cNvSpPr/>
          <p:nvPr/>
        </p:nvSpPr>
        <p:spPr>
          <a:xfrm>
            <a:off x="3147834" y="3969008"/>
            <a:ext cx="1045131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402" dirty="0">
                <a:solidFill>
                  <a:srgbClr val="6B7F98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전자금거래</a:t>
            </a:r>
            <a:endParaRPr lang="en-US" sz="140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0" name="Text 47"/>
          <p:cNvSpPr/>
          <p:nvPr/>
        </p:nvSpPr>
        <p:spPr>
          <a:xfrm>
            <a:off x="2513291" y="3583305"/>
            <a:ext cx="2301776" cy="3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37"/>
              </a:lnSpc>
            </a:pPr>
            <a:r>
              <a:rPr lang="en-US" sz="1673" dirty="0">
                <a:solidFill>
                  <a:srgbClr val="4A5E7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&lt;FDS적용업무의 범위&gt;</a:t>
            </a:r>
            <a:endParaRPr lang="en-US" sz="167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7166611" y="3396674"/>
            <a:ext cx="8423255" cy="1418392"/>
          </a:xfrm>
          <a:prstGeom prst="roundRect">
            <a:avLst>
              <a:gd name="adj" fmla="val 3509"/>
            </a:avLst>
          </a:prstGeom>
          <a:solidFill>
            <a:srgbClr val="FBF9F9"/>
          </a:solidFill>
          <a:ln/>
        </p:spPr>
      </p:sp>
      <p:sp>
        <p:nvSpPr>
          <p:cNvPr id="62" name="Shape 49"/>
          <p:cNvSpPr/>
          <p:nvPr/>
        </p:nvSpPr>
        <p:spPr>
          <a:xfrm>
            <a:off x="13922633" y="3807261"/>
            <a:ext cx="1430834" cy="746522"/>
          </a:xfrm>
          <a:prstGeom prst="roundRect">
            <a:avLst>
              <a:gd name="adj" fmla="val 15000"/>
            </a:avLst>
          </a:prstGeom>
          <a:solidFill>
            <a:srgbClr val="1E5FA3"/>
          </a:solidFill>
          <a:ln w="9525">
            <a:solidFill>
              <a:srgbClr val="0D52A2"/>
            </a:solidFill>
            <a:prstDash val="solid"/>
          </a:ln>
        </p:spPr>
      </p:sp>
      <p:sp>
        <p:nvSpPr>
          <p:cNvPr id="63" name="Text 50"/>
          <p:cNvSpPr/>
          <p:nvPr/>
        </p:nvSpPr>
        <p:spPr>
          <a:xfrm>
            <a:off x="14208800" y="3906798"/>
            <a:ext cx="920710" cy="52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44"/>
              </a:lnSpc>
            </a:pPr>
            <a:r>
              <a:rPr lang="en-US" sz="1407" dirty="0">
                <a:solidFill>
                  <a:srgbClr val="A4BFD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금융소비자</a:t>
            </a:r>
            <a:endParaRPr lang="en-US" sz="1407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744"/>
              </a:lnSpc>
            </a:pPr>
            <a:r>
              <a:rPr lang="en-US" sz="1407" dirty="0">
                <a:solidFill>
                  <a:srgbClr val="A4BFD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보호(목표)</a:t>
            </a:r>
            <a:endParaRPr lang="en-US" sz="140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39249" y="3919240"/>
            <a:ext cx="808732" cy="497681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13213437" y="4043660"/>
            <a:ext cx="348377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4"/>
              </a:lnSpc>
            </a:pPr>
            <a:r>
              <a:rPr lang="en-US" sz="1331" dirty="0">
                <a:solidFill>
                  <a:srgbClr val="F8AE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대응</a:t>
            </a:r>
            <a:endParaRPr lang="en-US" sz="133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6" name="Shape 52"/>
          <p:cNvSpPr/>
          <p:nvPr/>
        </p:nvSpPr>
        <p:spPr>
          <a:xfrm>
            <a:off x="11683067" y="3857030"/>
            <a:ext cx="1293971" cy="684312"/>
          </a:xfrm>
          <a:prstGeom prst="roundRect">
            <a:avLst>
              <a:gd name="adj" fmla="val 16364"/>
            </a:avLst>
          </a:prstGeom>
          <a:solidFill>
            <a:srgbClr val="223849"/>
          </a:solidFill>
          <a:ln w="9525">
            <a:solidFill>
              <a:srgbClr val="3D5264"/>
            </a:solidFill>
            <a:prstDash val="solid"/>
          </a:ln>
        </p:spPr>
      </p:sp>
      <p:sp>
        <p:nvSpPr>
          <p:cNvPr id="67" name="Text 53"/>
          <p:cNvSpPr/>
          <p:nvPr/>
        </p:nvSpPr>
        <p:spPr>
          <a:xfrm>
            <a:off x="11819930" y="3944124"/>
            <a:ext cx="1057573" cy="510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77"/>
              </a:lnSpc>
            </a:pPr>
            <a:r>
              <a:rPr lang="en-US" sz="1347" dirty="0">
                <a:solidFill>
                  <a:srgbClr val="AAB2B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이상금융거래</a:t>
            </a:r>
            <a:endParaRPr lang="en-US" sz="1347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ts val="1677"/>
              </a:lnSpc>
            </a:pPr>
            <a:r>
              <a:rPr lang="en-US" sz="1347" dirty="0">
                <a:solidFill>
                  <a:srgbClr val="AAB2B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데이터</a:t>
            </a:r>
            <a:endParaRPr lang="en-US" sz="134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4103" y="3931682"/>
            <a:ext cx="721638" cy="497681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11023640" y="4043660"/>
            <a:ext cx="360819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372" dirty="0">
                <a:solidFill>
                  <a:srgbClr val="F8A6A8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분석</a:t>
            </a:r>
            <a:endParaRPr lang="en-US" sz="137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0" name="Shape 55"/>
          <p:cNvSpPr/>
          <p:nvPr/>
        </p:nvSpPr>
        <p:spPr>
          <a:xfrm>
            <a:off x="9567923" y="3857030"/>
            <a:ext cx="1281529" cy="684312"/>
          </a:xfrm>
          <a:prstGeom prst="roundRect">
            <a:avLst>
              <a:gd name="adj" fmla="val 16364"/>
            </a:avLst>
          </a:prstGeom>
          <a:solidFill>
            <a:srgbClr val="273C51"/>
          </a:solidFill>
          <a:ln w="9525">
            <a:solidFill>
              <a:srgbClr val="17314E"/>
            </a:solidFill>
            <a:prstDash val="solid"/>
          </a:ln>
        </p:spPr>
      </p:sp>
      <p:sp>
        <p:nvSpPr>
          <p:cNvPr id="71" name="Text 56"/>
          <p:cNvSpPr/>
          <p:nvPr/>
        </p:nvSpPr>
        <p:spPr>
          <a:xfrm>
            <a:off x="9742111" y="4056102"/>
            <a:ext cx="945594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22"/>
              </a:lnSpc>
            </a:pPr>
            <a:r>
              <a:rPr lang="en-US" sz="1349" dirty="0">
                <a:solidFill>
                  <a:srgbClr val="A6AFB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 데이터</a:t>
            </a:r>
            <a:endParaRPr lang="en-US" sz="134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21400" y="3931682"/>
            <a:ext cx="671870" cy="497681"/>
          </a:xfrm>
          <a:prstGeom prst="rect">
            <a:avLst/>
          </a:prstGeom>
        </p:spPr>
      </p:pic>
      <p:pic>
        <p:nvPicPr>
          <p:cNvPr id="7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40335" y="3832146"/>
            <a:ext cx="1306413" cy="758964"/>
          </a:xfrm>
          <a:prstGeom prst="rect">
            <a:avLst/>
          </a:prstGeom>
        </p:spPr>
      </p:pic>
      <p:sp>
        <p:nvSpPr>
          <p:cNvPr id="74" name="Text 57"/>
          <p:cNvSpPr/>
          <p:nvPr/>
        </p:nvSpPr>
        <p:spPr>
          <a:xfrm>
            <a:off x="7639408" y="3869472"/>
            <a:ext cx="958036" cy="65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96"/>
              </a:lnSpc>
            </a:pPr>
            <a:r>
              <a:rPr lang="en-US" sz="1368" dirty="0">
                <a:solidFill>
                  <a:srgbClr val="A6AFB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대상 데이터</a:t>
            </a:r>
            <a:endParaRPr lang="en-US" sz="1368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ts val="1696"/>
              </a:lnSpc>
            </a:pPr>
            <a:r>
              <a:rPr lang="en-US" sz="1368" dirty="0">
                <a:solidFill>
                  <a:srgbClr val="A6AFB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(거래기기</a:t>
            </a:r>
            <a:endParaRPr lang="en-US" sz="1368" dirty="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ts val="1696"/>
              </a:lnSpc>
            </a:pPr>
            <a:r>
              <a:rPr lang="en-US" sz="1368" dirty="0">
                <a:solidFill>
                  <a:srgbClr val="A6AFB7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개인·외부)</a:t>
            </a:r>
            <a:endParaRPr lang="en-US" sz="136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5" name="Shape 58"/>
          <p:cNvSpPr/>
          <p:nvPr/>
        </p:nvSpPr>
        <p:spPr>
          <a:xfrm>
            <a:off x="7179052" y="2861668"/>
            <a:ext cx="8410813" cy="510123"/>
          </a:xfrm>
          <a:prstGeom prst="roundRect">
            <a:avLst>
              <a:gd name="adj" fmla="val 7927"/>
            </a:avLst>
          </a:prstGeom>
          <a:solidFill>
            <a:srgbClr val="DE4346"/>
          </a:solidFill>
          <a:ln/>
        </p:spPr>
      </p:sp>
      <p:sp>
        <p:nvSpPr>
          <p:cNvPr id="76" name="Text 59"/>
          <p:cNvSpPr/>
          <p:nvPr/>
        </p:nvSpPr>
        <p:spPr>
          <a:xfrm>
            <a:off x="8958263" y="2973646"/>
            <a:ext cx="4839950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40"/>
              </a:lnSpc>
            </a:pPr>
            <a:r>
              <a:rPr lang="en-US" sz="1861" dirty="0">
                <a:solidFill>
                  <a:srgbClr val="F4C1C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 운영 프로세스에 따른 데이터 변화 과정</a:t>
            </a:r>
            <a:endParaRPr lang="en-US" sz="186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" name="Text 60"/>
          <p:cNvSpPr/>
          <p:nvPr/>
        </p:nvSpPr>
        <p:spPr>
          <a:xfrm>
            <a:off x="8908494" y="4056102"/>
            <a:ext cx="348377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36"/>
              </a:lnSpc>
            </a:pPr>
            <a:r>
              <a:rPr lang="en-US" sz="1331" dirty="0">
                <a:solidFill>
                  <a:srgbClr val="F7A7A8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</a:t>
            </a:r>
            <a:endParaRPr lang="en-US" sz="133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" name="Text 61"/>
          <p:cNvSpPr/>
          <p:nvPr/>
        </p:nvSpPr>
        <p:spPr>
          <a:xfrm>
            <a:off x="9443502" y="3471327"/>
            <a:ext cx="3682841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1322" dirty="0">
                <a:solidFill>
                  <a:srgbClr val="6C7B8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&lt;FDS 운영 프로세스에 따른 데이터 변화 과정&gt;</a:t>
            </a:r>
            <a:endParaRPr lang="en-US" sz="132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25879" y="4441806"/>
            <a:ext cx="423029" cy="435471"/>
          </a:xfrm>
          <a:prstGeom prst="rect">
            <a:avLst/>
          </a:prstGeom>
        </p:spPr>
      </p:pic>
      <p:sp>
        <p:nvSpPr>
          <p:cNvPr id="86" name="Text 67"/>
          <p:cNvSpPr/>
          <p:nvPr/>
        </p:nvSpPr>
        <p:spPr>
          <a:xfrm>
            <a:off x="480164" y="2832787"/>
            <a:ext cx="8597444" cy="172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858"/>
              </a:lnSpc>
            </a:pPr>
            <a:endParaRPr lang="en-US" sz="579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" name="Text 45">
            <a:extLst>
              <a:ext uri="{FF2B5EF4-FFF2-40B4-BE49-F238E27FC236}">
                <a16:creationId xmlns:a16="http://schemas.microsoft.com/office/drawing/2014/main" id="{318A1B8A-6C4E-4284-B725-52A71AA8ED8D}"/>
              </a:ext>
            </a:extLst>
          </p:cNvPr>
          <p:cNvSpPr/>
          <p:nvPr/>
        </p:nvSpPr>
        <p:spPr>
          <a:xfrm>
            <a:off x="1293972" y="307152"/>
            <a:ext cx="2189797" cy="301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43"/>
              </a:lnSpc>
            </a:pPr>
            <a:r>
              <a:rPr lang="en-US" altLang="ko-KR" sz="1800" dirty="0" err="1">
                <a:solidFill>
                  <a:srgbClr val="7986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탐지이후의</a:t>
            </a:r>
            <a:r>
              <a:rPr lang="en-US" altLang="ko-KR" sz="1800" dirty="0">
                <a:solidFill>
                  <a:srgbClr val="7986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800" dirty="0" err="1">
                <a:solidFill>
                  <a:srgbClr val="7986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업무</a:t>
            </a:r>
            <a:endParaRPr lang="en-US" altLang="ko-KR" sz="1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91DA3E4-9CF5-4B20-B45A-BEAC145D5F7F}"/>
              </a:ext>
            </a:extLst>
          </p:cNvPr>
          <p:cNvGrpSpPr/>
          <p:nvPr/>
        </p:nvGrpSpPr>
        <p:grpSpPr>
          <a:xfrm>
            <a:off x="261284" y="52150"/>
            <a:ext cx="933152" cy="821174"/>
            <a:chOff x="261284" y="-32064"/>
            <a:chExt cx="933152" cy="821174"/>
          </a:xfrm>
        </p:grpSpPr>
        <p:sp>
          <p:nvSpPr>
            <p:cNvPr id="92" name="Shape 46">
              <a:extLst>
                <a:ext uri="{FF2B5EF4-FFF2-40B4-BE49-F238E27FC236}">
                  <a16:creationId xmlns:a16="http://schemas.microsoft.com/office/drawing/2014/main" id="{BABD97B1-4A03-474D-8EFD-3692F5DD3035}"/>
                </a:ext>
              </a:extLst>
            </p:cNvPr>
            <p:cNvSpPr/>
            <p:nvPr/>
          </p:nvSpPr>
          <p:spPr>
            <a:xfrm>
              <a:off x="335935" y="114359"/>
              <a:ext cx="758964" cy="398145"/>
            </a:xfrm>
            <a:prstGeom prst="roundRect">
              <a:avLst>
                <a:gd name="adj" fmla="val 4688"/>
              </a:avLst>
            </a:prstGeom>
            <a:solidFill>
              <a:srgbClr val="021C37"/>
            </a:solidFill>
            <a:ln w="9525">
              <a:solidFill>
                <a:srgbClr val="090D24"/>
              </a:solidFill>
              <a:prstDash val="solid"/>
            </a:ln>
          </p:spPr>
        </p:sp>
        <p:sp>
          <p:nvSpPr>
            <p:cNvPr id="93" name="Text 47">
              <a:extLst>
                <a:ext uri="{FF2B5EF4-FFF2-40B4-BE49-F238E27FC236}">
                  <a16:creationId xmlns:a16="http://schemas.microsoft.com/office/drawing/2014/main" id="{CD4260BA-99DC-4DB6-8E0C-4F23A8D41656}"/>
                </a:ext>
              </a:extLst>
            </p:cNvPr>
            <p:cNvSpPr/>
            <p:nvPr/>
          </p:nvSpPr>
          <p:spPr>
            <a:xfrm>
              <a:off x="261284" y="-32064"/>
              <a:ext cx="933152" cy="821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1470"/>
                </a:lnSpc>
              </a:pPr>
              <a:r>
                <a:rPr lang="en-US" sz="1929" dirty="0">
                  <a:solidFill>
                    <a:srgbClr val="98A5AF"/>
                  </a:solidFill>
                  <a:latin typeface="페이퍼로지 5 Medium" pitchFamily="2" charset="-127"/>
                  <a:ea typeface="페이퍼로지 5 Medium" pitchFamily="2" charset="-127"/>
                  <a:cs typeface="Aptos" pitchFamily="34" charset="-120"/>
                </a:rPr>
                <a:t>01</a:t>
              </a:r>
              <a:endParaRPr lang="en-US" sz="1929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pic>
        <p:nvPicPr>
          <p:cNvPr id="94" name="Image 16" descr="preencoded.png">
            <a:extLst>
              <a:ext uri="{FF2B5EF4-FFF2-40B4-BE49-F238E27FC236}">
                <a16:creationId xmlns:a16="http://schemas.microsoft.com/office/drawing/2014/main" id="{B92F6DF0-3DFF-48D3-A9AA-B410D88596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60179" y="329713"/>
            <a:ext cx="5997059" cy="87094"/>
          </a:xfrm>
          <a:prstGeom prst="rect">
            <a:avLst/>
          </a:prstGeom>
        </p:spPr>
      </p:pic>
      <p:sp>
        <p:nvSpPr>
          <p:cNvPr id="95" name="Text 63">
            <a:extLst>
              <a:ext uri="{FF2B5EF4-FFF2-40B4-BE49-F238E27FC236}">
                <a16:creationId xmlns:a16="http://schemas.microsoft.com/office/drawing/2014/main" id="{4398DC09-B020-406C-8013-7F7222C729CB}"/>
              </a:ext>
            </a:extLst>
          </p:cNvPr>
          <p:cNvSpPr/>
          <p:nvPr/>
        </p:nvSpPr>
        <p:spPr>
          <a:xfrm>
            <a:off x="8995590" y="242618"/>
            <a:ext cx="6096595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62"/>
              </a:lnSpc>
            </a:pPr>
            <a:r>
              <a:rPr lang="en-US" sz="1280" dirty="0">
                <a:solidFill>
                  <a:srgbClr val="909BA9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FDS는 탐지를 수행하고, 대응 단계에서는 여러 담당자의 확인과 조치가 이어진다.</a:t>
            </a:r>
            <a:endParaRPr lang="en-US" sz="128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6" name="Text 49">
            <a:extLst>
              <a:ext uri="{FF2B5EF4-FFF2-40B4-BE49-F238E27FC236}">
                <a16:creationId xmlns:a16="http://schemas.microsoft.com/office/drawing/2014/main" id="{6E07E3C1-2F20-408A-8D5F-2F6E397995CD}"/>
              </a:ext>
            </a:extLst>
          </p:cNvPr>
          <p:cNvSpPr/>
          <p:nvPr/>
        </p:nvSpPr>
        <p:spPr>
          <a:xfrm>
            <a:off x="385702" y="703896"/>
            <a:ext cx="15540098" cy="1030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466"/>
              </a:lnSpc>
            </a:pPr>
            <a:r>
              <a:rPr lang="en-US" altLang="ko-KR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 </a:t>
            </a:r>
            <a:r>
              <a:rPr lang="ko-KR" alt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적용 업무범위와</a:t>
            </a:r>
            <a:r>
              <a:rPr lang="en-US" altLang="ko-KR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ko-KR" alt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대응 프로세스는 어떻게 이어질까</a:t>
            </a:r>
            <a:r>
              <a:rPr lang="en-US" altLang="ko-KR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</a:t>
            </a:r>
            <a:endParaRPr lang="ko-KR" altLang="en-US" sz="4713" b="1" dirty="0">
              <a:solidFill>
                <a:srgbClr val="283B4F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36399" y="3075562"/>
            <a:ext cx="15465445" cy="5773103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472798" y="6316713"/>
            <a:ext cx="8933378" cy="2395089"/>
          </a:xfrm>
          <a:prstGeom prst="rect">
            <a:avLst/>
          </a:prstGeom>
          <a:solidFill>
            <a:srgbClr val="FCFCFC"/>
          </a:solidFill>
          <a:ln w="38100">
            <a:solidFill>
              <a:srgbClr val="F6F7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65219" y="7270376"/>
            <a:ext cx="74652" cy="1331297"/>
          </a:xfrm>
          <a:prstGeom prst="rect">
            <a:avLst/>
          </a:prstGeom>
          <a:solidFill>
            <a:srgbClr val="F8F9F9"/>
          </a:solidFill>
          <a:ln/>
        </p:spPr>
      </p:sp>
      <p:sp>
        <p:nvSpPr>
          <p:cNvPr id="6" name="Shape 4"/>
          <p:cNvSpPr/>
          <p:nvPr/>
        </p:nvSpPr>
        <p:spPr>
          <a:xfrm>
            <a:off x="5462053" y="7257933"/>
            <a:ext cx="62210" cy="1343739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7" name="Shape 5"/>
          <p:cNvSpPr/>
          <p:nvPr/>
        </p:nvSpPr>
        <p:spPr>
          <a:xfrm>
            <a:off x="3682842" y="7245491"/>
            <a:ext cx="62210" cy="1343739"/>
          </a:xfrm>
          <a:prstGeom prst="rect">
            <a:avLst/>
          </a:prstGeom>
          <a:solidFill>
            <a:srgbClr val="F7F8F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009" y="7245492"/>
            <a:ext cx="62210" cy="1356181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0350" y="6884672"/>
            <a:ext cx="659428" cy="149304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227" y="6803799"/>
            <a:ext cx="410587" cy="3110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49532" y="6889455"/>
            <a:ext cx="1368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391" b="1" dirty="0">
                <a:solidFill>
                  <a:srgbClr val="E08489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5</a:t>
            </a:r>
            <a:endParaRPr lang="en-US" sz="139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046" y="6890893"/>
            <a:ext cx="1206877" cy="136862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806" y="6803799"/>
            <a:ext cx="398145" cy="311051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0893" y="6890893"/>
            <a:ext cx="385703" cy="136862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5190" y="6822462"/>
            <a:ext cx="348377" cy="273725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4494" y="6878451"/>
            <a:ext cx="49768" cy="161746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6690" y="6890893"/>
            <a:ext cx="833616" cy="13686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1002" y="6946882"/>
            <a:ext cx="136862" cy="24884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1451" y="6803799"/>
            <a:ext cx="410587" cy="311051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4130756" y="6889455"/>
            <a:ext cx="1368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293" dirty="0">
                <a:solidFill>
                  <a:srgbClr val="AEB8C3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3</a:t>
            </a:r>
            <a:endParaRPr lang="en-US" sz="129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35857" y="6890893"/>
            <a:ext cx="833616" cy="136862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0849" y="6803799"/>
            <a:ext cx="410587" cy="311051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69087" y="6897114"/>
            <a:ext cx="1119783" cy="124420"/>
          </a:xfrm>
          <a:prstGeom prst="rect">
            <a:avLst/>
          </a:prstGeom>
        </p:spPr>
      </p:pic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081" y="6803799"/>
            <a:ext cx="410587" cy="311051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895827" y="6895676"/>
            <a:ext cx="111978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5"/>
              </a:lnSpc>
            </a:pPr>
            <a:r>
              <a:rPr lang="en-US" sz="1541" dirty="0">
                <a:solidFill>
                  <a:srgbClr val="A9B2BA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1</a:t>
            </a:r>
            <a:endParaRPr lang="en-US" sz="154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6" name="Text 9"/>
          <p:cNvSpPr/>
          <p:nvPr/>
        </p:nvSpPr>
        <p:spPr>
          <a:xfrm>
            <a:off x="7701618" y="7817824"/>
            <a:ext cx="1592580" cy="69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9"/>
              </a:lnSpc>
            </a:pPr>
            <a:r>
              <a:rPr lang="en-US" sz="1254" dirty="0">
                <a:solidFill>
                  <a:srgbClr val="A4A8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다른 계좌로</a:t>
            </a:r>
            <a:endParaRPr lang="en-US" sz="1254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19"/>
              </a:lnSpc>
            </a:pPr>
            <a:r>
              <a:rPr lang="en-US" sz="1254" dirty="0">
                <a:solidFill>
                  <a:srgbClr val="A4A8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송금이 이어져</a:t>
            </a:r>
            <a:endParaRPr lang="en-US" sz="1254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19"/>
              </a:lnSpc>
            </a:pPr>
            <a:r>
              <a:rPr lang="en-US" sz="1254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총 15억 6천만원 피해</a:t>
            </a:r>
            <a:endParaRPr lang="en-US" sz="1254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2538174" y="7805383"/>
            <a:ext cx="1020247" cy="46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83"/>
              </a:lnSpc>
            </a:pPr>
            <a:r>
              <a:rPr lang="en-US" sz="1176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“주식 투자</a:t>
            </a:r>
            <a:endParaRPr lang="en-US" sz="1176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683"/>
              </a:lnSpc>
            </a:pPr>
            <a:r>
              <a:rPr lang="en-US" sz="1176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목적입니다</a:t>
            </a:r>
            <a:r>
              <a:rPr lang="en-US" sz="1176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.</a:t>
            </a:r>
            <a:r>
              <a:rPr lang="en-US" altLang="ko-KR" sz="1176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”</a:t>
            </a:r>
            <a:endParaRPr lang="en-US" sz="1176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7838480" y="7494331"/>
            <a:ext cx="846058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402" dirty="0">
                <a:solidFill>
                  <a:srgbClr val="69707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송금</a:t>
            </a:r>
            <a:endParaRPr lang="en-US" sz="140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984617" y="7805382"/>
            <a:ext cx="1418392" cy="51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14"/>
              </a:lnSpc>
            </a:pPr>
            <a:r>
              <a:rPr lang="en-US" sz="1176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</a:t>
            </a:r>
            <a:r>
              <a:rPr lang="en-US" sz="1176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1176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이체된</a:t>
            </a:r>
            <a:r>
              <a:rPr lang="en-US" sz="1176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1176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계좌가</a:t>
            </a:r>
            <a:endParaRPr lang="en-US" sz="1176" dirty="0">
              <a:solidFill>
                <a:srgbClr val="A7ABB1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714"/>
              </a:lnSpc>
            </a:pPr>
            <a:r>
              <a:rPr lang="en-US" sz="1176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의심계좌</a:t>
            </a:r>
            <a:r>
              <a:rPr lang="ko-KR" altLang="en-US" sz="1176" dirty="0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로 추가 </a:t>
            </a:r>
            <a:r>
              <a:rPr lang="en-US" sz="1176" dirty="0" err="1">
                <a:solidFill>
                  <a:srgbClr val="A7ABB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확인됨</a:t>
            </a:r>
            <a:endParaRPr lang="en-US" sz="117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5984617" y="7481890"/>
            <a:ext cx="124420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402" dirty="0">
                <a:solidFill>
                  <a:srgbClr val="6E758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의심계좌확인</a:t>
            </a:r>
            <a:endParaRPr lang="en-US" sz="140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2538175" y="7481890"/>
            <a:ext cx="833616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372" dirty="0">
                <a:solidFill>
                  <a:srgbClr val="666E7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고객설명</a:t>
            </a:r>
            <a:endParaRPr lang="en-US" sz="137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6158806" y="7233049"/>
            <a:ext cx="734080" cy="18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61"/>
              </a:lnSpc>
            </a:pPr>
            <a:r>
              <a:rPr lang="en-US" sz="1432" dirty="0">
                <a:solidFill>
                  <a:srgbClr val="BD9BA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2/21</a:t>
            </a:r>
            <a:endParaRPr lang="en-US" sz="143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4006335" y="7805382"/>
            <a:ext cx="1293971" cy="472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77"/>
              </a:lnSpc>
            </a:pPr>
            <a:r>
              <a:rPr lang="ko-KR" altLang="en-US" sz="1176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말을 신뢰하고</a:t>
            </a:r>
            <a:endParaRPr lang="en-US" altLang="ko-KR" sz="1176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1577"/>
              </a:lnSpc>
            </a:pPr>
            <a:r>
              <a:rPr lang="en-US" sz="1176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</a:t>
            </a:r>
            <a:r>
              <a:rPr lang="en-US" sz="1176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제한 해제</a:t>
            </a:r>
            <a:endParaRPr lang="en-US" sz="1176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4006335" y="7481890"/>
            <a:ext cx="858500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402" dirty="0">
                <a:solidFill>
                  <a:srgbClr val="68707D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조치 해제</a:t>
            </a:r>
            <a:endParaRPr lang="en-US" sz="140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7838480" y="7233049"/>
            <a:ext cx="1045131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264" dirty="0">
                <a:solidFill>
                  <a:srgbClr val="C59BA0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2/21~2/23</a:t>
            </a:r>
            <a:endParaRPr lang="en-US" sz="126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4006334" y="7233049"/>
            <a:ext cx="423029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411" dirty="0">
                <a:solidFill>
                  <a:srgbClr val="9A9CA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41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709197" y="7481890"/>
            <a:ext cx="1231761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382" b="1" dirty="0">
                <a:solidFill>
                  <a:srgbClr val="6C738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이상거래 감지</a:t>
            </a:r>
            <a:endParaRPr lang="en-US" sz="138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2538175" y="7233048"/>
            <a:ext cx="423029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402" dirty="0">
                <a:solidFill>
                  <a:srgbClr val="989B9F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40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696754" y="7805382"/>
            <a:ext cx="1517928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81"/>
              </a:lnSpc>
            </a:pPr>
            <a:r>
              <a:rPr lang="en-US" sz="1195" dirty="0">
                <a:solidFill>
                  <a:srgbClr val="ACB0B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고액 이체가 탐지되어</a:t>
            </a:r>
            <a:endParaRPr lang="en-US" sz="1195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481"/>
              </a:lnSpc>
            </a:pPr>
            <a:r>
              <a:rPr lang="en-US" sz="1195" dirty="0">
                <a:solidFill>
                  <a:srgbClr val="ACB0B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제한 조치</a:t>
            </a:r>
            <a:endParaRPr lang="en-US" sz="119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709196" y="7233048"/>
            <a:ext cx="423029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411" dirty="0">
                <a:solidFill>
                  <a:srgbClr val="9D9FA4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2/20</a:t>
            </a:r>
            <a:endParaRPr lang="en-US" sz="141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6295669" y="6895676"/>
            <a:ext cx="136862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0"/>
              </a:lnSpc>
            </a:pPr>
            <a:r>
              <a:rPr lang="en-US" sz="1323" b="1" dirty="0">
                <a:solidFill>
                  <a:srgbClr val="DF8F92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4</a:t>
            </a:r>
            <a:endParaRPr lang="en-US" sz="132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2650153" y="6895676"/>
            <a:ext cx="124420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304" dirty="0">
                <a:solidFill>
                  <a:srgbClr val="ACB6C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</a:t>
            </a:r>
            <a:endParaRPr lang="en-US" sz="130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696755" y="6449201"/>
            <a:ext cx="177921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sz="1519" dirty="0">
                <a:solidFill>
                  <a:srgbClr val="6F768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사건 진행 타임라인</a:t>
            </a:r>
            <a:endParaRPr lang="en-US" sz="1519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9625" y="3287078"/>
            <a:ext cx="8933378" cy="2898993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447914" y="3598128"/>
            <a:ext cx="6059269" cy="2587943"/>
          </a:xfrm>
          <a:prstGeom prst="roundRect">
            <a:avLst>
              <a:gd name="adj" fmla="val 1886"/>
            </a:avLst>
          </a:prstGeom>
          <a:solidFill>
            <a:srgbClr val="FCFCFC"/>
          </a:solidFill>
          <a:ln w="19050">
            <a:solidFill>
              <a:srgbClr val="F6F7F8"/>
            </a:solidFill>
            <a:prstDash val="solid"/>
          </a:ln>
        </p:spPr>
      </p:sp>
      <p:sp>
        <p:nvSpPr>
          <p:cNvPr id="46" name="Shape 28"/>
          <p:cNvSpPr/>
          <p:nvPr/>
        </p:nvSpPr>
        <p:spPr>
          <a:xfrm>
            <a:off x="9567922" y="6523851"/>
            <a:ext cx="5785545" cy="1990727"/>
          </a:xfrm>
          <a:prstGeom prst="rect">
            <a:avLst/>
          </a:prstGeom>
          <a:solidFill>
            <a:srgbClr val="FAEFEF"/>
          </a:solidFill>
          <a:ln w="28575">
            <a:solidFill>
              <a:srgbClr val="FAF8F8"/>
            </a:solidFill>
            <a:prstDash val="solid"/>
          </a:ln>
        </p:spPr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29205" y="6880549"/>
            <a:ext cx="460355" cy="373261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10457526" y="6749029"/>
            <a:ext cx="4690646" cy="152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55"/>
              </a:lnSpc>
            </a:pPr>
            <a:r>
              <a:rPr lang="en-US" altLang="ko-KR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[ </a:t>
            </a:r>
            <a:r>
              <a:rPr lang="en-US" b="1" dirty="0" err="1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시사점</a:t>
            </a:r>
            <a:r>
              <a:rPr lang="en-US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b="1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]</a:t>
            </a:r>
            <a:endParaRPr lang="en-US" b="1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2155"/>
              </a:lnSpc>
            </a:pPr>
            <a:r>
              <a:rPr lang="ko-KR" altLang="en-US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탐지만으로 보이스피싱 피해가 막아지는  게 아니다</a:t>
            </a:r>
            <a:r>
              <a:rPr lang="en-US" altLang="ko-KR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!</a:t>
            </a:r>
          </a:p>
          <a:p>
            <a:pPr>
              <a:lnSpc>
                <a:spcPts val="2155"/>
              </a:lnSpc>
            </a:pPr>
            <a:endParaRPr lang="en-US" dirty="0">
              <a:solidFill>
                <a:srgbClr val="C76C73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2155"/>
              </a:lnSpc>
            </a:pPr>
            <a:r>
              <a:rPr lang="ko-KR" altLang="en-US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중요한 것은</a:t>
            </a:r>
            <a:r>
              <a:rPr lang="en-US" altLang="ko-KR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탐지 이후</a:t>
            </a:r>
            <a:r>
              <a:rPr lang="en-US" altLang="ko-KR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은행 직원이</a:t>
            </a:r>
            <a:endParaRPr lang="en-US" altLang="ko-KR" dirty="0">
              <a:solidFill>
                <a:schemeClr val="bg1"/>
              </a:solidFill>
              <a:highlight>
                <a:srgbClr val="800000"/>
              </a:highlight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2155"/>
              </a:lnSpc>
            </a:pPr>
            <a:r>
              <a:rPr lang="en-US" altLang="ko-KR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무엇을 확인하고</a:t>
            </a:r>
            <a:r>
              <a:rPr lang="en-US" altLang="ko-KR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’ ‘</a:t>
            </a:r>
            <a:r>
              <a:rPr lang="ko-KR" altLang="en-US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어떻게 대응하는가</a:t>
            </a:r>
            <a:r>
              <a:rPr lang="en-US" altLang="ko-KR" dirty="0">
                <a:solidFill>
                  <a:schemeClr val="bg1"/>
                </a:solidFill>
                <a:highlight>
                  <a:srgbClr val="800000"/>
                </a:highlight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이다</a:t>
            </a:r>
            <a:r>
              <a:rPr lang="en-US" altLang="ko-KR" dirty="0">
                <a:solidFill>
                  <a:srgbClr val="C76C73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765" y="4661923"/>
            <a:ext cx="5549146" cy="87094"/>
          </a:xfrm>
          <a:prstGeom prst="rect">
            <a:avLst/>
          </a:prstGeom>
        </p:spPr>
      </p:pic>
      <p:pic>
        <p:nvPicPr>
          <p:cNvPr id="58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2798" y="3287077"/>
            <a:ext cx="6034385" cy="323493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734080" y="4923205"/>
            <a:ext cx="5549146" cy="1094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63"/>
              </a:lnSpc>
            </a:pPr>
            <a:r>
              <a:rPr lang="en-US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은행이 이상거래를 탐지해 첫 거래를 제한했지만.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963"/>
              </a:lnSpc>
            </a:pPr>
            <a:r>
              <a:rPr lang="en-US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고객이 '주식 투자 목적'이라고 설명하자 조치를 해제</a:t>
            </a:r>
            <a:r>
              <a:rPr lang="en-US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했다.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963"/>
              </a:lnSpc>
            </a:pPr>
            <a:r>
              <a:rPr lang="en-US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이후 다른 계좌로 추가 송금이 이어지면서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1963"/>
              </a:lnSpc>
            </a:pPr>
            <a:r>
              <a:rPr lang="en-US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총 15억 6천만원의 피해가 발생</a:t>
            </a:r>
            <a:r>
              <a:rPr lang="en-US" dirty="0">
                <a:solidFill>
                  <a:srgbClr val="9A9EA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했다.</a:t>
            </a:r>
            <a:endParaRPr 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Text 40"/>
          <p:cNvSpPr/>
          <p:nvPr/>
        </p:nvSpPr>
        <p:spPr>
          <a:xfrm>
            <a:off x="746522" y="3741213"/>
            <a:ext cx="4877276" cy="78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871"/>
              </a:lnSpc>
            </a:pPr>
            <a:r>
              <a:rPr lang="en-US" sz="2243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이후에도 사흘간 추가 송금,</a:t>
            </a:r>
            <a:endParaRPr lang="en-US" sz="2243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2871"/>
              </a:lnSpc>
            </a:pPr>
            <a:r>
              <a:rPr lang="en-US" sz="2243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15억피해</a:t>
            </a:r>
            <a:endParaRPr lang="en-US" sz="2243" dirty="0">
              <a:solidFill>
                <a:srgbClr val="C0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6" name="Text 41"/>
          <p:cNvSpPr/>
          <p:nvPr/>
        </p:nvSpPr>
        <p:spPr>
          <a:xfrm>
            <a:off x="1468160" y="3392837"/>
            <a:ext cx="1256645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78"/>
              </a:lnSpc>
            </a:pPr>
            <a:r>
              <a:rPr lang="en-US" sz="1538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2026.02.23</a:t>
            </a:r>
            <a:endParaRPr lang="en-US" sz="1538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Text 42"/>
          <p:cNvSpPr/>
          <p:nvPr/>
        </p:nvSpPr>
        <p:spPr>
          <a:xfrm>
            <a:off x="1269088" y="3405278"/>
            <a:ext cx="62210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65"/>
              </a:lnSpc>
            </a:pPr>
            <a:r>
              <a:rPr lang="en-US" sz="1622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I</a:t>
            </a:r>
            <a:endParaRPr lang="en-US" sz="1622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8" name="Text 43"/>
          <p:cNvSpPr/>
          <p:nvPr/>
        </p:nvSpPr>
        <p:spPr>
          <a:xfrm>
            <a:off x="684312" y="3381114"/>
            <a:ext cx="460355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78"/>
              </a:lnSpc>
            </a:pPr>
            <a:r>
              <a:rPr lang="en-US" sz="1313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YTN</a:t>
            </a:r>
            <a:endParaRPr lang="en-US" sz="1313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0" name="Text 44"/>
          <p:cNvSpPr/>
          <p:nvPr/>
        </p:nvSpPr>
        <p:spPr>
          <a:xfrm>
            <a:off x="11202294" y="253164"/>
            <a:ext cx="4130754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65"/>
              </a:lnSpc>
            </a:pPr>
            <a:r>
              <a:rPr lang="en-US" sz="1263" dirty="0">
                <a:solidFill>
                  <a:srgbClr val="ACB0B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보이스피싱은 탐지되지 않아서만 발생하는 것이 아니다.</a:t>
            </a:r>
            <a:endParaRPr lang="en-US" sz="126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1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00385" y="263664"/>
            <a:ext cx="8460581" cy="99536"/>
          </a:xfrm>
          <a:prstGeom prst="rect">
            <a:avLst/>
          </a:prstGeom>
        </p:spPr>
      </p:pic>
      <p:sp>
        <p:nvSpPr>
          <p:cNvPr id="72" name="Text 45"/>
          <p:cNvSpPr/>
          <p:nvPr/>
        </p:nvSpPr>
        <p:spPr>
          <a:xfrm>
            <a:off x="1293972" y="215531"/>
            <a:ext cx="1206877" cy="301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68"/>
              </a:lnSpc>
            </a:pPr>
            <a:r>
              <a:rPr lang="en-US" sz="1635" dirty="0">
                <a:solidFill>
                  <a:srgbClr val="8C929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문제의시작</a:t>
            </a:r>
            <a:endParaRPr lang="en-US" sz="163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A9442C9-312C-46E7-957D-7039ACEDD405}"/>
              </a:ext>
            </a:extLst>
          </p:cNvPr>
          <p:cNvGrpSpPr/>
          <p:nvPr/>
        </p:nvGrpSpPr>
        <p:grpSpPr>
          <a:xfrm>
            <a:off x="261284" y="52150"/>
            <a:ext cx="933152" cy="821174"/>
            <a:chOff x="261284" y="-32064"/>
            <a:chExt cx="933152" cy="821174"/>
          </a:xfrm>
        </p:grpSpPr>
        <p:sp>
          <p:nvSpPr>
            <p:cNvPr id="73" name="Shape 46"/>
            <p:cNvSpPr/>
            <p:nvPr/>
          </p:nvSpPr>
          <p:spPr>
            <a:xfrm>
              <a:off x="335935" y="114359"/>
              <a:ext cx="758964" cy="398145"/>
            </a:xfrm>
            <a:prstGeom prst="roundRect">
              <a:avLst>
                <a:gd name="adj" fmla="val 4688"/>
              </a:avLst>
            </a:prstGeom>
            <a:solidFill>
              <a:srgbClr val="021C37"/>
            </a:solidFill>
            <a:ln w="9525">
              <a:solidFill>
                <a:srgbClr val="090D24"/>
              </a:solidFill>
              <a:prstDash val="solid"/>
            </a:ln>
          </p:spPr>
        </p:sp>
        <p:sp>
          <p:nvSpPr>
            <p:cNvPr id="74" name="Text 47"/>
            <p:cNvSpPr/>
            <p:nvPr/>
          </p:nvSpPr>
          <p:spPr>
            <a:xfrm>
              <a:off x="261284" y="-32064"/>
              <a:ext cx="933152" cy="821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1470"/>
                </a:lnSpc>
              </a:pPr>
              <a:r>
                <a:rPr lang="en-US" sz="1929" dirty="0">
                  <a:solidFill>
                    <a:srgbClr val="98A5AF"/>
                  </a:solidFill>
                  <a:latin typeface="페이퍼로지 5 Medium" pitchFamily="2" charset="-127"/>
                  <a:ea typeface="페이퍼로지 5 Medium" pitchFamily="2" charset="-127"/>
                  <a:cs typeface="Aptos" pitchFamily="34" charset="-120"/>
                </a:rPr>
                <a:t>02</a:t>
              </a:r>
              <a:endParaRPr lang="en-US" sz="1929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75" name="Text 48"/>
          <p:cNvSpPr/>
          <p:nvPr/>
        </p:nvSpPr>
        <p:spPr>
          <a:xfrm>
            <a:off x="373261" y="1694496"/>
            <a:ext cx="15874924" cy="1206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51"/>
              </a:lnSpc>
            </a:pPr>
            <a:r>
              <a:rPr lang="en-US" sz="1861" dirty="0" err="1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보이스피싱</a:t>
            </a:r>
            <a:r>
              <a:rPr lang="ko-KR" alt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을 탐지하는 기술과 체계는 현재도 잘 잡혀 있다</a:t>
            </a:r>
            <a:r>
              <a:rPr lang="en-US" altLang="ko-KR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.</a:t>
            </a:r>
            <a:r>
              <a:rPr lang="ko-KR" alt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------</a:t>
            </a:r>
            <a:r>
              <a:rPr lang="ko-KR" alt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통신사 </a:t>
            </a:r>
            <a:r>
              <a:rPr lang="en-US" altLang="ko-KR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AI,</a:t>
            </a:r>
            <a:r>
              <a:rPr lang="ko-KR" alt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ASAP </a:t>
            </a:r>
            <a:r>
              <a:rPr lang="ko-KR" alt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체계</a:t>
            </a:r>
            <a:r>
              <a:rPr lang="en-US" altLang="ko-KR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ko-KR" alt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은행 </a:t>
            </a:r>
            <a:r>
              <a:rPr lang="en-US" altLang="ko-KR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FDS </a:t>
            </a:r>
            <a:r>
              <a:rPr lang="ko-KR" alt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경고</a:t>
            </a:r>
            <a:endParaRPr lang="en-US" sz="1861" dirty="0">
              <a:solidFill>
                <a:srgbClr val="91969E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2451"/>
              </a:lnSpc>
            </a:pPr>
            <a:r>
              <a:rPr lang="en-US" sz="1861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문제는</a:t>
            </a:r>
            <a:r>
              <a:rPr lang="en-US" sz="186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탐지 이후의 대응 </a:t>
            </a:r>
            <a:r>
              <a:rPr lang="en-US" sz="1861" dirty="0" err="1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과정</a:t>
            </a:r>
            <a:r>
              <a:rPr lang="en-US" sz="1861" dirty="0" err="1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에</a:t>
            </a:r>
            <a:r>
              <a:rPr 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ko-KR" altLang="en-US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있는 게 아닐까</a:t>
            </a:r>
            <a:r>
              <a:rPr lang="en-US" altLang="ko-KR" sz="1861" dirty="0">
                <a:solidFill>
                  <a:srgbClr val="91969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 --------------- 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탐지는 했지만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… 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상황과 사실관계를 모른다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/ 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말을 믿는다 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/ 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 설득이 어렵다</a:t>
            </a:r>
            <a:endParaRPr lang="en-US" altLang="ko-KR" sz="1861" dirty="0"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2451"/>
              </a:lnSpc>
            </a:pPr>
            <a:r>
              <a:rPr lang="en-US" sz="1861" dirty="0">
                <a:latin typeface="페이퍼로지 5 Medium" pitchFamily="2" charset="-127"/>
                <a:ea typeface="페이퍼로지 5 Medium" pitchFamily="2" charset="-127"/>
              </a:rPr>
              <a:t>						           (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</a:rPr>
              <a:t>고객도 속거나 혼란스러워서 의사소통이 어렵다 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</a:rPr>
              <a:t> 은행 직원이 사실 확인 및 대응하기 어렵다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</a:rPr>
              <a:t>)</a:t>
            </a:r>
            <a:endParaRPr lang="en-US" sz="186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Text 49"/>
          <p:cNvSpPr/>
          <p:nvPr/>
        </p:nvSpPr>
        <p:spPr>
          <a:xfrm>
            <a:off x="385702" y="761345"/>
            <a:ext cx="12006561" cy="796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466"/>
              </a:lnSpc>
            </a:pPr>
            <a:r>
              <a:rPr lang="ko-KR" alt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보이스피싱 </a:t>
            </a:r>
            <a:r>
              <a:rPr lang="en-US" sz="4713" b="1" dirty="0" err="1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탐지는</a:t>
            </a:r>
            <a:r>
              <a:rPr 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4713" b="1" dirty="0" err="1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했는데</a:t>
            </a:r>
            <a:r>
              <a:rPr 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en-US" sz="4713" b="1" dirty="0">
                <a:solidFill>
                  <a:srgbClr val="C5313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왜 피해는 계속될까?</a:t>
            </a:r>
            <a:endParaRPr lang="en-US" sz="4713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9892" y="7131665"/>
            <a:ext cx="14793575" cy="1654790"/>
          </a:xfrm>
          <a:prstGeom prst="roundRect">
            <a:avLst>
              <a:gd name="adj" fmla="val 7519"/>
            </a:avLst>
          </a:prstGeom>
          <a:solidFill>
            <a:srgbClr val="FDEFF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248" y="7430274"/>
            <a:ext cx="12442" cy="103268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435" y="7542252"/>
            <a:ext cx="995363" cy="7962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60277" y="8139470"/>
            <a:ext cx="6930211" cy="3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55"/>
              </a:lnSpc>
            </a:pPr>
            <a:r>
              <a:rPr lang="en-US" sz="2303" b="1" dirty="0">
                <a:solidFill>
                  <a:srgbClr val="394D64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그리고 그 과정에서 휴먼에러가 발생할 수 있다.</a:t>
            </a:r>
            <a:endParaRPr lang="en-US" sz="230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3147834" y="7343180"/>
            <a:ext cx="11197828" cy="78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233"/>
              </a:lnSpc>
            </a:pPr>
            <a:r>
              <a:rPr lang="en-US" sz="2303" b="1" dirty="0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</a:t>
            </a:r>
            <a:r>
              <a:rPr lang="en-US" sz="2303" b="1" dirty="0" err="1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시스템이</a:t>
            </a:r>
            <a:r>
              <a:rPr lang="en-US" sz="2303" b="1" dirty="0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2303" b="1" dirty="0" err="1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위험</a:t>
            </a:r>
            <a:r>
              <a:rPr lang="ko-KR" altLang="en-US" sz="2303" b="1" dirty="0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도를 판별해서 전</a:t>
            </a:r>
            <a:r>
              <a:rPr lang="en-US" sz="2303" b="1" dirty="0" err="1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달하더라도</a:t>
            </a:r>
            <a:r>
              <a:rPr lang="en-US" sz="2303" b="1" dirty="0">
                <a:solidFill>
                  <a:srgbClr val="3C4F66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</a:t>
            </a:r>
            <a:endParaRPr lang="en-US" sz="2303" dirty="0">
              <a:latin typeface="페이퍼로지 5 Medium" pitchFamily="2" charset="-127"/>
              <a:ea typeface="페이퍼로지 5 Medium" pitchFamily="2" charset="-127"/>
            </a:endParaRPr>
          </a:p>
          <a:p>
            <a:pPr>
              <a:lnSpc>
                <a:spcPts val="3233"/>
              </a:lnSpc>
            </a:pPr>
            <a:r>
              <a:rPr lang="en-US" sz="2303" b="1" dirty="0">
                <a:solidFill>
                  <a:srgbClr val="E2495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그 정보를 해석하고 다음 행동을 결정하는 과정에는 사람의 판단이 개입한다.</a:t>
            </a:r>
            <a:endParaRPr lang="en-US" sz="230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9003" y="4842332"/>
            <a:ext cx="559891" cy="7589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2603778" y="3224867"/>
            <a:ext cx="2799457" cy="497681"/>
          </a:xfrm>
          <a:prstGeom prst="roundRect">
            <a:avLst>
              <a:gd name="adj" fmla="val 12500"/>
            </a:avLst>
          </a:prstGeom>
          <a:solidFill>
            <a:srgbClr val="5A666E"/>
          </a:solidFill>
          <a:ln w="9525">
            <a:solidFill>
              <a:srgbClr val="BBC0C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3014365" y="3336845"/>
            <a:ext cx="2065377" cy="29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1715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사람의 판단 결과</a:t>
            </a:r>
            <a:endParaRPr lang="en-US" sz="1715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12591336" y="3710107"/>
            <a:ext cx="2811899" cy="3172718"/>
          </a:xfrm>
          <a:prstGeom prst="roundRect">
            <a:avLst>
              <a:gd name="adj" fmla="val 2765"/>
            </a:avLst>
          </a:prstGeom>
          <a:solidFill>
            <a:srgbClr val="F6F6F7"/>
          </a:solidFill>
          <a:ln w="9525">
            <a:solidFill>
              <a:srgbClr val="D7DADC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2402" y="6360259"/>
            <a:ext cx="62210" cy="24884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2753082" y="5451991"/>
            <a:ext cx="2488406" cy="709196"/>
          </a:xfrm>
          <a:prstGeom prst="rect">
            <a:avLst/>
          </a:prstGeom>
          <a:solidFill>
            <a:srgbClr val="FDFDFD"/>
          </a:solidFill>
          <a:ln w="19050">
            <a:solidFill>
              <a:srgbClr val="F6F6F8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26807" y="5588853"/>
            <a:ext cx="522565" cy="41058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23561" y="5663505"/>
            <a:ext cx="1256645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402" dirty="0">
                <a:solidFill>
                  <a:srgbClr val="747F9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확인 진행</a:t>
            </a:r>
            <a:endParaRPr lang="en-US" sz="140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12753082" y="4668143"/>
            <a:ext cx="2488406" cy="709196"/>
          </a:xfrm>
          <a:prstGeom prst="rect">
            <a:avLst/>
          </a:prstGeom>
          <a:solidFill>
            <a:srgbClr val="FCFDFD"/>
          </a:solidFill>
          <a:ln w="47625">
            <a:solidFill>
              <a:srgbClr val="F7F7F8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26807" y="4842332"/>
            <a:ext cx="522565" cy="41058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723561" y="4916983"/>
            <a:ext cx="1256645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352" dirty="0">
                <a:solidFill>
                  <a:srgbClr val="6D788A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제한 해재</a:t>
            </a:r>
            <a:endParaRPr lang="en-US" sz="135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12815293" y="3958947"/>
            <a:ext cx="2376428" cy="671870"/>
          </a:xfrm>
          <a:prstGeom prst="roundRect">
            <a:avLst>
              <a:gd name="adj" fmla="val 12963"/>
            </a:avLst>
          </a:prstGeom>
          <a:solidFill>
            <a:srgbClr val="FDFDFD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13723561" y="4170462"/>
            <a:ext cx="1256645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382" dirty="0">
                <a:solidFill>
                  <a:srgbClr val="7782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제한 유지</a:t>
            </a:r>
            <a:endParaRPr lang="en-US" sz="138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26808" y="4095810"/>
            <a:ext cx="510123" cy="410587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2733" y="5165825"/>
            <a:ext cx="1368623" cy="51012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317386" y="4904541"/>
            <a:ext cx="1256645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6"/>
              </a:lnSpc>
            </a:pPr>
            <a:r>
              <a:rPr lang="en-US" sz="1425" dirty="0">
                <a:solidFill>
                  <a:srgbClr val="788394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위험 신호 전달</a:t>
            </a:r>
            <a:endParaRPr lang="en-US" sz="142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0415" y="4481513"/>
            <a:ext cx="360819" cy="360819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5673566" y="3112888"/>
            <a:ext cx="6245900" cy="3782378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26" name="Shape 15"/>
          <p:cNvSpPr/>
          <p:nvPr/>
        </p:nvSpPr>
        <p:spPr>
          <a:xfrm>
            <a:off x="7689175" y="3846969"/>
            <a:ext cx="1965841" cy="684312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DFE0E2"/>
            </a:solidFill>
            <a:prstDash val="solid"/>
          </a:ln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8248" y="4021157"/>
            <a:ext cx="447913" cy="335935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8460581" y="4046041"/>
            <a:ext cx="99536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342" dirty="0">
                <a:solidFill>
                  <a:srgbClr val="747F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고객의 설명</a:t>
            </a:r>
            <a:endParaRPr lang="en-US" sz="134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9886" y="4518839"/>
            <a:ext cx="261283" cy="311051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3240" y="4929426"/>
            <a:ext cx="2612827" cy="1878747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9891415" y="5377339"/>
            <a:ext cx="1916073" cy="659428"/>
          </a:xfrm>
          <a:prstGeom prst="roundRect">
            <a:avLst>
              <a:gd name="adj" fmla="val 13208"/>
            </a:avLst>
          </a:prstGeom>
          <a:solidFill>
            <a:srgbClr val="FDFDFD"/>
          </a:solidFill>
          <a:ln w="9525">
            <a:solidFill>
              <a:srgbClr val="EBEBEC"/>
            </a:solidFill>
            <a:prstDash val="solid"/>
          </a:ln>
        </p:spPr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53162" y="5539085"/>
            <a:ext cx="485239" cy="335935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10650379" y="5576411"/>
            <a:ext cx="1057573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36"/>
              </a:lnSpc>
            </a:pPr>
            <a:r>
              <a:rPr lang="en-US" sz="1206" dirty="0">
                <a:solidFill>
                  <a:srgbClr val="778293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내부 확인 내용</a:t>
            </a:r>
            <a:endParaRPr lang="en-US" sz="120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80365" y="5626179"/>
            <a:ext cx="311051" cy="211515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5872639" y="5439548"/>
            <a:ext cx="1853863" cy="671870"/>
          </a:xfrm>
          <a:prstGeom prst="roundRect">
            <a:avLst>
              <a:gd name="adj" fmla="val 14815"/>
            </a:avLst>
          </a:prstGeom>
          <a:solidFill>
            <a:srgbClr val="FDFDFD"/>
          </a:solidFill>
          <a:ln w="9525">
            <a:solidFill>
              <a:srgbClr val="E0DFE0"/>
            </a:solidFill>
            <a:prstDash val="solid"/>
          </a:ln>
        </p:spPr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4386" y="5651063"/>
            <a:ext cx="435471" cy="273725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6581835" y="5663505"/>
            <a:ext cx="1007805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03"/>
              </a:lnSpc>
            </a:pPr>
            <a:r>
              <a:rPr lang="en-US" sz="1144" dirty="0">
                <a:solidFill>
                  <a:srgbClr val="768092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거래 계좌 정보</a:t>
            </a:r>
            <a:endParaRPr lang="en-US" sz="114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9841647" y="4456628"/>
            <a:ext cx="1940957" cy="684312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E9E9EA"/>
            </a:solidFill>
            <a:prstDash val="solid"/>
          </a:ln>
        </p:spPr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28277" y="4630816"/>
            <a:ext cx="423029" cy="348377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10550842" y="4668143"/>
            <a:ext cx="1094899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55"/>
              </a:lnSpc>
            </a:pPr>
            <a:r>
              <a:rPr lang="en-US" sz="1244" dirty="0">
                <a:solidFill>
                  <a:srgbClr val="7A8495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추가 조회 결과</a:t>
            </a:r>
            <a:endParaRPr lang="en-US" sz="1244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80365" y="5053846"/>
            <a:ext cx="385703" cy="261283"/>
          </a:xfrm>
          <a:prstGeom prst="rect">
            <a:avLst/>
          </a:prstGeom>
        </p:spPr>
      </p:pic>
      <p:sp>
        <p:nvSpPr>
          <p:cNvPr id="42" name="Shape 23"/>
          <p:cNvSpPr/>
          <p:nvPr/>
        </p:nvSpPr>
        <p:spPr>
          <a:xfrm>
            <a:off x="5959734" y="4493955"/>
            <a:ext cx="1754326" cy="659428"/>
          </a:xfrm>
          <a:prstGeom prst="roundRect">
            <a:avLst>
              <a:gd name="adj" fmla="val 16981"/>
            </a:avLst>
          </a:prstGeom>
          <a:solidFill>
            <a:srgbClr val="FDFDFD"/>
          </a:solidFill>
          <a:ln w="9525">
            <a:solidFill>
              <a:srgbClr val="EBECEE"/>
            </a:solidFill>
            <a:prstDash val="solid"/>
          </a:ln>
        </p:spPr>
      </p:sp>
      <p:pic>
        <p:nvPicPr>
          <p:cNvPr id="43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83690" y="4643259"/>
            <a:ext cx="373261" cy="360819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6706255" y="4693026"/>
            <a:ext cx="796290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342" dirty="0">
                <a:solidFill>
                  <a:srgbClr val="747F9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결과</a:t>
            </a:r>
            <a:endParaRPr lang="en-US" sz="134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02081" y="5066288"/>
            <a:ext cx="423029" cy="261283"/>
          </a:xfrm>
          <a:prstGeom prst="rect">
            <a:avLst/>
          </a:prstGeom>
        </p:spPr>
      </p:pic>
      <p:sp>
        <p:nvSpPr>
          <p:cNvPr id="46" name="Shape 25"/>
          <p:cNvSpPr/>
          <p:nvPr/>
        </p:nvSpPr>
        <p:spPr>
          <a:xfrm>
            <a:off x="5710893" y="3224867"/>
            <a:ext cx="6183690" cy="497681"/>
          </a:xfrm>
          <a:prstGeom prst="roundRect">
            <a:avLst>
              <a:gd name="adj" fmla="val 10000"/>
            </a:avLst>
          </a:prstGeom>
          <a:solidFill>
            <a:srgbClr val="E13C3F"/>
          </a:solidFill>
          <a:ln w="9525">
            <a:solidFill>
              <a:srgbClr val="E6595D"/>
            </a:solidFill>
            <a:prstDash val="solid"/>
          </a:ln>
        </p:spPr>
      </p:sp>
      <p:sp>
        <p:nvSpPr>
          <p:cNvPr id="47" name="Text 26"/>
          <p:cNvSpPr/>
          <p:nvPr/>
        </p:nvSpPr>
        <p:spPr>
          <a:xfrm>
            <a:off x="5895478" y="3336845"/>
            <a:ext cx="5971679" cy="29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ko-KR" altLang="en-US" sz="1842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확인과 </a:t>
            </a:r>
            <a:r>
              <a:rPr lang="en-US" sz="1842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판단은</a:t>
            </a:r>
            <a:r>
              <a:rPr lang="en-US" sz="1842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sz="1842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사람의</a:t>
            </a:r>
            <a:r>
              <a:rPr lang="en-US" sz="1842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몫… </a:t>
            </a:r>
            <a:r>
              <a:rPr lang="ko-KR" altLang="en-US" sz="1842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그러나 정확한 정보를 알 수 없는 상황</a:t>
            </a:r>
            <a:endParaRPr lang="en-US" sz="1842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410587" y="3125331"/>
            <a:ext cx="3757493" cy="3819704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9" name="Shape 28"/>
          <p:cNvSpPr/>
          <p:nvPr/>
        </p:nvSpPr>
        <p:spPr>
          <a:xfrm>
            <a:off x="634544" y="5688389"/>
            <a:ext cx="3371790" cy="895826"/>
          </a:xfrm>
          <a:prstGeom prst="rect">
            <a:avLst/>
          </a:prstGeom>
          <a:solidFill>
            <a:srgbClr val="FDFDFD"/>
          </a:solidFill>
          <a:ln w="47625">
            <a:solidFill>
              <a:srgbClr val="F4F7FA"/>
            </a:solidFill>
            <a:prstDash val="solid"/>
          </a:ln>
        </p:spPr>
      </p:sp>
      <p:sp>
        <p:nvSpPr>
          <p:cNvPr id="50" name="Text 29"/>
          <p:cNvSpPr/>
          <p:nvPr/>
        </p:nvSpPr>
        <p:spPr>
          <a:xfrm>
            <a:off x="1891189" y="6161186"/>
            <a:ext cx="1965841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8"/>
              </a:lnSpc>
            </a:pPr>
            <a:r>
              <a:rPr lang="en-US" sz="1292" dirty="0">
                <a:solidFill>
                  <a:srgbClr val="9EA5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이상거래 탐지 · 거래 제한</a:t>
            </a:r>
            <a:endParaRPr lang="en-US" sz="1292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1" name="Text 30"/>
          <p:cNvSpPr/>
          <p:nvPr/>
        </p:nvSpPr>
        <p:spPr>
          <a:xfrm>
            <a:off x="1891189" y="5887461"/>
            <a:ext cx="497681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656" b="1" dirty="0">
                <a:solidFill>
                  <a:srgbClr val="566579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FDS</a:t>
            </a:r>
            <a:endParaRPr lang="en-US" sz="1656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2689" y="5924788"/>
            <a:ext cx="510123" cy="423029"/>
          </a:xfrm>
          <a:prstGeom prst="rect">
            <a:avLst/>
          </a:prstGeom>
        </p:spPr>
      </p:pic>
      <p:sp>
        <p:nvSpPr>
          <p:cNvPr id="53" name="Shape 31"/>
          <p:cNvSpPr/>
          <p:nvPr/>
        </p:nvSpPr>
        <p:spPr>
          <a:xfrm>
            <a:off x="696754" y="4817447"/>
            <a:ext cx="3259812" cy="796290"/>
          </a:xfrm>
          <a:prstGeom prst="roundRect">
            <a:avLst>
              <a:gd name="adj" fmla="val 10937"/>
            </a:avLst>
          </a:prstGeom>
          <a:solidFill>
            <a:srgbClr val="FDFDFE"/>
          </a:solidFill>
          <a:ln/>
        </p:spPr>
      </p:sp>
      <p:sp>
        <p:nvSpPr>
          <p:cNvPr id="54" name="Text 32"/>
          <p:cNvSpPr/>
          <p:nvPr/>
        </p:nvSpPr>
        <p:spPr>
          <a:xfrm>
            <a:off x="1878747" y="5203150"/>
            <a:ext cx="1953399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6"/>
              </a:lnSpc>
            </a:pPr>
            <a:r>
              <a:rPr lang="en-US" sz="1283" dirty="0">
                <a:solidFill>
                  <a:srgbClr val="9FA6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사기계좌·피해정보 공유</a:t>
            </a:r>
            <a:endParaRPr lang="en-US" sz="128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Text 33"/>
          <p:cNvSpPr/>
          <p:nvPr/>
        </p:nvSpPr>
        <p:spPr>
          <a:xfrm>
            <a:off x="1891189" y="4929425"/>
            <a:ext cx="684312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705" b="1" dirty="0">
                <a:solidFill>
                  <a:srgbClr val="526278"/>
                </a:solidFill>
                <a:latin typeface="페이퍼로지 5 Medium" pitchFamily="2" charset="-127"/>
                <a:ea typeface="페이퍼로지 5 Medium" pitchFamily="2" charset="-127"/>
                <a:cs typeface="Aptos" pitchFamily="34" charset="-120"/>
              </a:rPr>
              <a:t>ASAP</a:t>
            </a:r>
            <a:endParaRPr lang="en-US" sz="170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5131" y="4979193"/>
            <a:ext cx="497681" cy="398145"/>
          </a:xfrm>
          <a:prstGeom prst="rect">
            <a:avLst/>
          </a:prstGeom>
        </p:spPr>
      </p:pic>
      <p:sp>
        <p:nvSpPr>
          <p:cNvPr id="57" name="Shape 34"/>
          <p:cNvSpPr/>
          <p:nvPr/>
        </p:nvSpPr>
        <p:spPr>
          <a:xfrm>
            <a:off x="646986" y="3822085"/>
            <a:ext cx="3359348" cy="908268"/>
          </a:xfrm>
          <a:prstGeom prst="rect">
            <a:avLst/>
          </a:prstGeom>
          <a:solidFill>
            <a:srgbClr val="FCFDFD"/>
          </a:solidFill>
          <a:ln w="57150">
            <a:solidFill>
              <a:srgbClr val="F4F7FA"/>
            </a:solidFill>
            <a:prstDash val="solid"/>
          </a:ln>
        </p:spPr>
      </p:sp>
      <p:sp>
        <p:nvSpPr>
          <p:cNvPr id="58" name="Text 35"/>
          <p:cNvSpPr/>
          <p:nvPr/>
        </p:nvSpPr>
        <p:spPr>
          <a:xfrm>
            <a:off x="1916073" y="4307323"/>
            <a:ext cx="161746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48"/>
              </a:lnSpc>
            </a:pPr>
            <a:r>
              <a:rPr lang="en-US" sz="1357" dirty="0">
                <a:solidFill>
                  <a:srgbClr val="A0A6AE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의심 통화/문자 탐지</a:t>
            </a:r>
            <a:endParaRPr lang="en-US" sz="1357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9" name="Text 36"/>
          <p:cNvSpPr/>
          <p:nvPr/>
        </p:nvSpPr>
        <p:spPr>
          <a:xfrm>
            <a:off x="1916073" y="4021157"/>
            <a:ext cx="1020247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sz="1538" dirty="0">
                <a:solidFill>
                  <a:srgbClr val="5E6C8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통신사AI</a:t>
            </a:r>
            <a:endParaRPr lang="en-US" sz="1538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60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2457" y="4046041"/>
            <a:ext cx="572333" cy="497681"/>
          </a:xfrm>
          <a:prstGeom prst="rect">
            <a:avLst/>
          </a:prstGeom>
        </p:spPr>
      </p:pic>
      <p:sp>
        <p:nvSpPr>
          <p:cNvPr id="61" name="Shape 37"/>
          <p:cNvSpPr/>
          <p:nvPr/>
        </p:nvSpPr>
        <p:spPr>
          <a:xfrm>
            <a:off x="497682" y="3224868"/>
            <a:ext cx="3645515" cy="485239"/>
          </a:xfrm>
          <a:prstGeom prst="roundRect">
            <a:avLst>
              <a:gd name="adj" fmla="val 12179"/>
            </a:avLst>
          </a:prstGeom>
          <a:solidFill>
            <a:srgbClr val="718EA8"/>
          </a:solidFill>
          <a:ln w="9525">
            <a:solidFill>
              <a:srgbClr val="859EB5"/>
            </a:solidFill>
            <a:prstDash val="solid"/>
          </a:ln>
        </p:spPr>
      </p:sp>
      <p:sp>
        <p:nvSpPr>
          <p:cNvPr id="62" name="Text 38"/>
          <p:cNvSpPr/>
          <p:nvPr/>
        </p:nvSpPr>
        <p:spPr>
          <a:xfrm>
            <a:off x="970479" y="3336845"/>
            <a:ext cx="2339102" cy="29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1724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탐지는</a:t>
            </a:r>
            <a:r>
              <a:rPr lang="en-US" sz="1724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잘 </a:t>
            </a:r>
            <a:r>
              <a:rPr lang="ko-KR" altLang="en-US" sz="1724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작</a:t>
            </a:r>
            <a:r>
              <a:rPr lang="en-US" sz="1724" dirty="0" err="1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동한다</a:t>
            </a:r>
            <a:endParaRPr lang="en-US" sz="1724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1" name="Text 44">
            <a:extLst>
              <a:ext uri="{FF2B5EF4-FFF2-40B4-BE49-F238E27FC236}">
                <a16:creationId xmlns:a16="http://schemas.microsoft.com/office/drawing/2014/main" id="{B3061293-0C3E-43AC-BE69-BB970A6C4CEE}"/>
              </a:ext>
            </a:extLst>
          </p:cNvPr>
          <p:cNvSpPr/>
          <p:nvPr/>
        </p:nvSpPr>
        <p:spPr>
          <a:xfrm>
            <a:off x="11202293" y="253164"/>
            <a:ext cx="4225825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6"/>
              </a:lnSpc>
            </a:pPr>
            <a:r>
              <a:rPr lang="en-US" altLang="ko-KR" sz="1200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탐지는</a:t>
            </a:r>
            <a:r>
              <a:rPr lang="en-US" altLang="ko-KR" sz="1200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위험을</a:t>
            </a:r>
            <a:r>
              <a:rPr lang="en-US" altLang="ko-KR" sz="1200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알려주지만</a:t>
            </a:r>
            <a:r>
              <a:rPr lang="en-US" altLang="ko-KR" sz="1200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이후의</a:t>
            </a:r>
            <a:r>
              <a:rPr lang="en-US" altLang="ko-KR" sz="1200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판단과</a:t>
            </a:r>
            <a:r>
              <a:rPr lang="en-US" altLang="ko-KR" sz="1200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대옹은</a:t>
            </a:r>
            <a:r>
              <a:rPr lang="en-US" altLang="ko-KR" sz="1200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사람이</a:t>
            </a:r>
            <a:r>
              <a:rPr lang="en-US" altLang="ko-KR" sz="1200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한다</a:t>
            </a:r>
            <a:r>
              <a:rPr lang="en-US" altLang="ko-KR" sz="1200" dirty="0">
                <a:solidFill>
                  <a:srgbClr val="9EA6A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.</a:t>
            </a:r>
            <a:endParaRPr lang="en-US" altLang="ko-KR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72" name="Image 24" descr="preencoded.png">
            <a:extLst>
              <a:ext uri="{FF2B5EF4-FFF2-40B4-BE49-F238E27FC236}">
                <a16:creationId xmlns:a16="http://schemas.microsoft.com/office/drawing/2014/main" id="{61B3266A-3472-496A-9289-D811783E65C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600385" y="263664"/>
            <a:ext cx="8460581" cy="99536"/>
          </a:xfrm>
          <a:prstGeom prst="rect">
            <a:avLst/>
          </a:prstGeom>
        </p:spPr>
      </p:pic>
      <p:sp>
        <p:nvSpPr>
          <p:cNvPr id="73" name="Text 45">
            <a:extLst>
              <a:ext uri="{FF2B5EF4-FFF2-40B4-BE49-F238E27FC236}">
                <a16:creationId xmlns:a16="http://schemas.microsoft.com/office/drawing/2014/main" id="{E1A5FD3F-7964-4DF5-9B7B-603B56A21425}"/>
              </a:ext>
            </a:extLst>
          </p:cNvPr>
          <p:cNvSpPr/>
          <p:nvPr/>
        </p:nvSpPr>
        <p:spPr>
          <a:xfrm>
            <a:off x="1293972" y="215531"/>
            <a:ext cx="1206877" cy="301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68"/>
              </a:lnSpc>
            </a:pPr>
            <a:r>
              <a:rPr lang="ko-KR" altLang="en-US" sz="1635" dirty="0">
                <a:solidFill>
                  <a:srgbClr val="8C929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왜 발생할까</a:t>
            </a:r>
            <a:r>
              <a:rPr lang="en-US" altLang="ko-KR" sz="1635" dirty="0">
                <a:solidFill>
                  <a:srgbClr val="8C929C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</a:t>
            </a:r>
            <a:endParaRPr lang="en-US" sz="1635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998880A-A343-4C0D-B8A1-77850636ACD5}"/>
              </a:ext>
            </a:extLst>
          </p:cNvPr>
          <p:cNvGrpSpPr/>
          <p:nvPr/>
        </p:nvGrpSpPr>
        <p:grpSpPr>
          <a:xfrm>
            <a:off x="261284" y="52150"/>
            <a:ext cx="933152" cy="821174"/>
            <a:chOff x="261284" y="-32064"/>
            <a:chExt cx="933152" cy="821174"/>
          </a:xfrm>
        </p:grpSpPr>
        <p:sp>
          <p:nvSpPr>
            <p:cNvPr id="79" name="Shape 46">
              <a:extLst>
                <a:ext uri="{FF2B5EF4-FFF2-40B4-BE49-F238E27FC236}">
                  <a16:creationId xmlns:a16="http://schemas.microsoft.com/office/drawing/2014/main" id="{2CF4E36E-4BB1-4A2F-80F0-06D1C62B8BE1}"/>
                </a:ext>
              </a:extLst>
            </p:cNvPr>
            <p:cNvSpPr/>
            <p:nvPr/>
          </p:nvSpPr>
          <p:spPr>
            <a:xfrm>
              <a:off x="335935" y="114359"/>
              <a:ext cx="758964" cy="398145"/>
            </a:xfrm>
            <a:prstGeom prst="roundRect">
              <a:avLst>
                <a:gd name="adj" fmla="val 4688"/>
              </a:avLst>
            </a:prstGeom>
            <a:solidFill>
              <a:srgbClr val="021C37"/>
            </a:solidFill>
            <a:ln w="9525">
              <a:solidFill>
                <a:srgbClr val="090D24"/>
              </a:solidFill>
              <a:prstDash val="solid"/>
            </a:ln>
          </p:spPr>
        </p:sp>
        <p:sp>
          <p:nvSpPr>
            <p:cNvPr id="80" name="Text 47">
              <a:extLst>
                <a:ext uri="{FF2B5EF4-FFF2-40B4-BE49-F238E27FC236}">
                  <a16:creationId xmlns:a16="http://schemas.microsoft.com/office/drawing/2014/main" id="{CE1AC158-D920-4BCF-B248-431BA2E99BD0}"/>
                </a:ext>
              </a:extLst>
            </p:cNvPr>
            <p:cNvSpPr/>
            <p:nvPr/>
          </p:nvSpPr>
          <p:spPr>
            <a:xfrm>
              <a:off x="261284" y="-32064"/>
              <a:ext cx="933152" cy="821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1470"/>
                </a:lnSpc>
              </a:pPr>
              <a:r>
                <a:rPr lang="en-US" sz="1929" dirty="0">
                  <a:solidFill>
                    <a:srgbClr val="98A5AF"/>
                  </a:solidFill>
                  <a:latin typeface="페이퍼로지 5 Medium" pitchFamily="2" charset="-127"/>
                  <a:ea typeface="페이퍼로지 5 Medium" pitchFamily="2" charset="-127"/>
                  <a:cs typeface="Aptos" pitchFamily="34" charset="-120"/>
                </a:rPr>
                <a:t>03</a:t>
              </a:r>
              <a:endParaRPr lang="en-US" sz="1929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82" name="Text 49">
            <a:extLst>
              <a:ext uri="{FF2B5EF4-FFF2-40B4-BE49-F238E27FC236}">
                <a16:creationId xmlns:a16="http://schemas.microsoft.com/office/drawing/2014/main" id="{D9E43421-C32B-4BDA-A01F-B60A5AD9AF5A}"/>
              </a:ext>
            </a:extLst>
          </p:cNvPr>
          <p:cNvSpPr/>
          <p:nvPr/>
        </p:nvSpPr>
        <p:spPr>
          <a:xfrm>
            <a:off x="385702" y="761344"/>
            <a:ext cx="15540098" cy="160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466"/>
              </a:lnSpc>
            </a:pPr>
            <a:r>
              <a:rPr lang="ko-KR" alt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탐지 이후</a:t>
            </a:r>
            <a:r>
              <a:rPr lang="en-US" altLang="ko-KR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 </a:t>
            </a:r>
            <a:r>
              <a:rPr lang="ko-KR" alt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은행 담당자의 확인</a:t>
            </a:r>
            <a:r>
              <a:rPr lang="en-US" altLang="ko-KR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</a:t>
            </a:r>
            <a:r>
              <a:rPr lang="ko-KR" alt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판단</a:t>
            </a:r>
            <a:r>
              <a:rPr lang="en-US" altLang="ko-KR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,</a:t>
            </a:r>
            <a:r>
              <a:rPr lang="ko-KR" alt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조치 과정에서</a:t>
            </a:r>
            <a:endParaRPr lang="en-US" altLang="ko-KR" sz="4713" b="1" dirty="0">
              <a:solidFill>
                <a:srgbClr val="283B4F"/>
              </a:solidFill>
              <a:latin typeface="페이퍼로지 5 Medium" pitchFamily="2" charset="-127"/>
              <a:ea typeface="페이퍼로지 5 Medium" pitchFamily="2" charset="-127"/>
              <a:cs typeface="Malgun Gothic" pitchFamily="34" charset="-120"/>
            </a:endParaRPr>
          </a:p>
          <a:p>
            <a:pPr>
              <a:lnSpc>
                <a:spcPts val="6466"/>
              </a:lnSpc>
            </a:pPr>
            <a:r>
              <a:rPr lang="en-US" altLang="ko-KR" sz="4713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‘</a:t>
            </a:r>
            <a:r>
              <a:rPr lang="ko-KR" altLang="en-US" sz="4713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휴먼 에러</a:t>
            </a:r>
            <a:r>
              <a:rPr lang="en-US" altLang="ko-KR" sz="4713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’</a:t>
            </a:r>
            <a:r>
              <a:rPr lang="ko-KR" altLang="en-US" sz="4713" b="1" dirty="0">
                <a:solidFill>
                  <a:srgbClr val="C0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가 발생</a:t>
            </a:r>
            <a:r>
              <a:rPr lang="ko-KR" altLang="en-US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할 수 있다</a:t>
            </a:r>
            <a:r>
              <a:rPr lang="en-US" altLang="ko-KR" sz="4713" b="1" dirty="0">
                <a:solidFill>
                  <a:srgbClr val="283B4F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!</a:t>
            </a:r>
            <a:endParaRPr lang="en-US" sz="4713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39E585B7-6D64-4BE8-B9C0-C0749E794185}"/>
              </a:ext>
            </a:extLst>
          </p:cNvPr>
          <p:cNvSpPr/>
          <p:nvPr/>
        </p:nvSpPr>
        <p:spPr>
          <a:xfrm>
            <a:off x="7472448" y="1439435"/>
            <a:ext cx="8346586" cy="118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51"/>
              </a:lnSpc>
            </a:pP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</a:rPr>
              <a:t>은행 직원은 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</a:rPr>
              <a:t>고객의 상황이나 정황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</a:rPr>
              <a:t>을 정확히 알 수 없으며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</a:rPr>
              <a:t>,</a:t>
            </a:r>
          </a:p>
          <a:p>
            <a:pPr>
              <a:lnSpc>
                <a:spcPts val="2451"/>
              </a:lnSpc>
            </a:pP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</a:rPr>
              <a:t>단지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</a:rPr>
              <a:t> ‘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</a:rPr>
              <a:t>보이스피싱이 발생 했다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861" dirty="0">
                <a:latin typeface="페이퍼로지 5 Medium" pitchFamily="2" charset="-127"/>
                <a:ea typeface="페이퍼로지 5 Medium" pitchFamily="2" charset="-127"/>
              </a:rPr>
              <a:t>는 사실만 알 수 있다</a:t>
            </a:r>
            <a:r>
              <a:rPr lang="en-US" altLang="ko-KR" sz="1861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7C3EAA4-D7FD-40CA-A122-AE0F8C5856F2}"/>
              </a:ext>
            </a:extLst>
          </p:cNvPr>
          <p:cNvSpPr/>
          <p:nvPr/>
        </p:nvSpPr>
        <p:spPr>
          <a:xfrm>
            <a:off x="12662728" y="2883953"/>
            <a:ext cx="2463026" cy="29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ko-KR" altLang="en-US" sz="1600" dirty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정확한 정보 없이 판단 하기</a:t>
            </a:r>
            <a:r>
              <a:rPr lang="en-US" altLang="ko-KR" sz="1600" dirty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  <a:cs typeface="Malgun Gothic" pitchFamily="34" charset="-120"/>
              </a:rPr>
              <a:t>?</a:t>
            </a:r>
            <a:endParaRPr lang="en-US" sz="1600" dirty="0">
              <a:solidFill>
                <a:srgbClr val="FF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" y="2381"/>
            <a:ext cx="15913358" cy="895826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207" y="1706940"/>
            <a:ext cx="920710" cy="46035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13404" y="8039933"/>
            <a:ext cx="2923877" cy="572333"/>
          </a:xfrm>
          <a:prstGeom prst="roundRect">
            <a:avLst>
              <a:gd name="adj" fmla="val 21739"/>
            </a:avLst>
          </a:prstGeom>
          <a:solidFill>
            <a:srgbClr val="00265A"/>
          </a:solidFill>
          <a:ln w="9525">
            <a:solidFill>
              <a:srgbClr val="8C9AA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74223" y="8151912"/>
            <a:ext cx="2239566" cy="33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79"/>
              </a:lnSpc>
            </a:pPr>
            <a:r>
              <a:rPr lang="en-US" sz="1941" dirty="0">
                <a:solidFill>
                  <a:srgbClr val="B3BD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 알림 예시 화면</a:t>
            </a:r>
            <a:endParaRPr lang="en-US" sz="1941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100" y="7380506"/>
            <a:ext cx="671870" cy="33593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718811" y="6372701"/>
            <a:ext cx="4902160" cy="2003167"/>
          </a:xfrm>
          <a:prstGeom prst="roundRect">
            <a:avLst>
              <a:gd name="adj" fmla="val 22205"/>
            </a:avLst>
          </a:prstGeom>
          <a:solidFill>
            <a:srgbClr val="FDF3F2"/>
          </a:solidFill>
          <a:ln/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03044" y="6683752"/>
            <a:ext cx="1505486" cy="167967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477774" y="6770846"/>
            <a:ext cx="3085624" cy="118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910"/>
              </a:lnSpc>
            </a:pPr>
            <a:r>
              <a:rPr lang="en-US" sz="1901" dirty="0">
                <a:solidFill>
                  <a:srgbClr val="354E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지금고객에게</a:t>
            </a:r>
            <a:r>
              <a:rPr lang="en-US" sz="1901" dirty="0">
                <a:solidFill>
                  <a:srgbClr val="F5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가장 먼저 확인해야 할 것은
</a:t>
            </a:r>
            <a:r>
              <a:rPr lang="en-US" sz="1901" dirty="0">
                <a:solidFill>
                  <a:srgbClr val="3952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무엇일까</a:t>
            </a:r>
            <a:endParaRPr lang="en-US" sz="1901" dirty="0"/>
          </a:p>
        </p:txBody>
      </p:sp>
      <p:sp>
        <p:nvSpPr>
          <p:cNvPr id="10" name="Shape 4"/>
          <p:cNvSpPr/>
          <p:nvPr/>
        </p:nvSpPr>
        <p:spPr>
          <a:xfrm>
            <a:off x="10731252" y="6298049"/>
            <a:ext cx="622102" cy="609660"/>
          </a:xfrm>
          <a:prstGeom prst="roundRect">
            <a:avLst>
              <a:gd name="adj" fmla="val 47959"/>
            </a:avLst>
          </a:prstGeom>
          <a:solidFill>
            <a:srgbClr val="E44C63"/>
          </a:solidFill>
          <a:ln w="9525">
            <a:solidFill>
              <a:srgbClr val="EB7585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10868116" y="6459795"/>
            <a:ext cx="360819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2205" dirty="0">
                <a:solidFill>
                  <a:srgbClr val="F7D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205" dirty="0"/>
          </a:p>
        </p:txBody>
      </p:sp>
      <p:sp>
        <p:nvSpPr>
          <p:cNvPr id="12" name="Shape 6"/>
          <p:cNvSpPr/>
          <p:nvPr/>
        </p:nvSpPr>
        <p:spPr>
          <a:xfrm>
            <a:off x="10706367" y="4070925"/>
            <a:ext cx="4902160" cy="2040493"/>
          </a:xfrm>
          <a:prstGeom prst="roundRect">
            <a:avLst>
              <a:gd name="adj" fmla="val 19207"/>
            </a:avLst>
          </a:prstGeom>
          <a:solidFill>
            <a:srgbClr val="F1F7FD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40833" y="4481513"/>
            <a:ext cx="1493044" cy="16299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353354" y="4605933"/>
            <a:ext cx="2787015" cy="78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867"/>
              </a:lnSpc>
            </a:pPr>
            <a:r>
              <a:rPr lang="en-US" sz="1989" dirty="0">
                <a:solidFill>
                  <a:srgbClr val="364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이전에도 비슷한 거래나
</a:t>
            </a:r>
            <a:r>
              <a:rPr lang="en-US" sz="1989" dirty="0">
                <a:solidFill>
                  <a:srgbClr val="F039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이력이</a:t>
            </a:r>
            <a:r>
              <a:rPr lang="en-US" sz="1989" dirty="0">
                <a:solidFill>
                  <a:srgbClr val="364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있었을까</a:t>
            </a:r>
            <a:endParaRPr lang="en-US" sz="1989" dirty="0"/>
          </a:p>
        </p:txBody>
      </p:sp>
      <p:sp>
        <p:nvSpPr>
          <p:cNvPr id="15" name="Shape 8"/>
          <p:cNvSpPr/>
          <p:nvPr/>
        </p:nvSpPr>
        <p:spPr>
          <a:xfrm>
            <a:off x="10718810" y="3958947"/>
            <a:ext cx="622102" cy="609660"/>
          </a:xfrm>
          <a:prstGeom prst="roundRect">
            <a:avLst>
              <a:gd name="adj" fmla="val 50510"/>
            </a:avLst>
          </a:prstGeom>
          <a:solidFill>
            <a:srgbClr val="002759"/>
          </a:solidFill>
          <a:ln w="9525">
            <a:solidFill>
              <a:srgbClr val="5D7094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10855672" y="4108252"/>
            <a:ext cx="373261" cy="286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2243" b="1" dirty="0">
                <a:solidFill>
                  <a:srgbClr val="BAC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243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4207" y="2465903"/>
            <a:ext cx="4379595" cy="4379595"/>
          </a:xfrm>
          <a:prstGeom prst="rect">
            <a:avLst/>
          </a:prstGeom>
        </p:spPr>
      </p:pic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2817" y="6011882"/>
            <a:ext cx="1381065" cy="196584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391924" y="6372701"/>
            <a:ext cx="4889718" cy="1953399"/>
          </a:xfrm>
          <a:prstGeom prst="roundRect">
            <a:avLst>
              <a:gd name="adj" fmla="val 22134"/>
            </a:avLst>
          </a:prstGeom>
          <a:solidFill>
            <a:srgbClr val="F1F7FD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5570" y="6658868"/>
            <a:ext cx="1542812" cy="164234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379483" y="6360259"/>
            <a:ext cx="609660" cy="609660"/>
          </a:xfrm>
          <a:prstGeom prst="roundRect">
            <a:avLst>
              <a:gd name="adj" fmla="val 50000"/>
            </a:avLst>
          </a:prstGeom>
          <a:solidFill>
            <a:srgbClr val="00265B"/>
          </a:solidFill>
          <a:ln w="9525">
            <a:solidFill>
              <a:srgbClr val="122960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503902" y="6522006"/>
            <a:ext cx="360819" cy="286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2234" b="1" dirty="0">
                <a:solidFill>
                  <a:srgbClr val="BBC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34" dirty="0"/>
          </a:p>
        </p:txBody>
      </p:sp>
      <p:sp>
        <p:nvSpPr>
          <p:cNvPr id="40" name="Text 29"/>
          <p:cNvSpPr/>
          <p:nvPr/>
        </p:nvSpPr>
        <p:spPr>
          <a:xfrm>
            <a:off x="1076236" y="6969918"/>
            <a:ext cx="2065377" cy="796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102"/>
              </a:lnSpc>
            </a:pPr>
            <a:r>
              <a:rPr lang="en-US" sz="2255" dirty="0">
                <a:solidFill>
                  <a:srgbClr val="3A5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고객은이상황을
</a:t>
            </a:r>
            <a:r>
              <a:rPr lang="en-US" sz="2255" dirty="0">
                <a:solidFill>
                  <a:srgbClr val="EE34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인지하고</a:t>
            </a:r>
            <a:r>
              <a:rPr lang="en-US" sz="2255" dirty="0">
                <a:solidFill>
                  <a:srgbClr val="3A5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있을까</a:t>
            </a:r>
            <a:endParaRPr lang="en-US" sz="2255" dirty="0"/>
          </a:p>
        </p:txBody>
      </p:sp>
      <p:sp>
        <p:nvSpPr>
          <p:cNvPr id="41" name="Shape 30"/>
          <p:cNvSpPr/>
          <p:nvPr/>
        </p:nvSpPr>
        <p:spPr>
          <a:xfrm>
            <a:off x="367039" y="4033599"/>
            <a:ext cx="4902160" cy="2115145"/>
          </a:xfrm>
          <a:prstGeom prst="roundRect">
            <a:avLst>
              <a:gd name="adj" fmla="val 22059"/>
            </a:avLst>
          </a:prstGeom>
          <a:solidFill>
            <a:srgbClr val="FDF3F3"/>
          </a:solidFill>
          <a:ln w="28575">
            <a:solidFill>
              <a:srgbClr val="F4F0EF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7040" y="4307323"/>
            <a:ext cx="1928515" cy="1841421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2432418" y="4493954"/>
            <a:ext cx="2388870" cy="119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933"/>
              </a:lnSpc>
            </a:pPr>
            <a:r>
              <a:rPr lang="en-US" sz="2097" dirty="0">
                <a:solidFill>
                  <a:srgbClr val="485F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</a:t>
            </a:r>
            <a:r>
              <a:rPr lang="en-US" sz="2097" dirty="0">
                <a:solidFill>
                  <a:srgbClr val="F4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누구의 지시에 따라
</a:t>
            </a:r>
            <a:r>
              <a:rPr lang="en-US" sz="2097" dirty="0">
                <a:solidFill>
                  <a:srgbClr val="344C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송금하고 있을까</a:t>
            </a:r>
            <a:endParaRPr lang="en-US" sz="2097" dirty="0"/>
          </a:p>
        </p:txBody>
      </p:sp>
      <p:sp>
        <p:nvSpPr>
          <p:cNvPr id="44" name="Shape 32"/>
          <p:cNvSpPr/>
          <p:nvPr/>
        </p:nvSpPr>
        <p:spPr>
          <a:xfrm>
            <a:off x="379483" y="3958946"/>
            <a:ext cx="609660" cy="597218"/>
          </a:xfrm>
          <a:prstGeom prst="roundRect">
            <a:avLst>
              <a:gd name="adj" fmla="val 48958"/>
            </a:avLst>
          </a:prstGeom>
          <a:solidFill>
            <a:srgbClr val="E64C64"/>
          </a:solidFill>
          <a:ln w="9525">
            <a:solidFill>
              <a:srgbClr val="EE435A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503902" y="4108252"/>
            <a:ext cx="360819" cy="286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3"/>
              </a:lnSpc>
            </a:pPr>
            <a:r>
              <a:rPr lang="en-US" sz="2336" b="1" dirty="0">
                <a:solidFill>
                  <a:srgbClr val="F7D0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336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B2245DF-192E-4BB1-8BE3-0E555C716DA3}"/>
              </a:ext>
            </a:extLst>
          </p:cNvPr>
          <p:cNvGrpSpPr/>
          <p:nvPr/>
        </p:nvGrpSpPr>
        <p:grpSpPr>
          <a:xfrm>
            <a:off x="6127702" y="2789396"/>
            <a:ext cx="3769935" cy="3657957"/>
            <a:chOff x="6127702" y="2789396"/>
            <a:chExt cx="3769935" cy="3657957"/>
          </a:xfrm>
        </p:grpSpPr>
        <p:sp>
          <p:nvSpPr>
            <p:cNvPr id="18" name="Shape 10"/>
            <p:cNvSpPr/>
            <p:nvPr/>
          </p:nvSpPr>
          <p:spPr>
            <a:xfrm>
              <a:off x="6127702" y="3137773"/>
              <a:ext cx="3769935" cy="3309580"/>
            </a:xfrm>
            <a:prstGeom prst="roundRect">
              <a:avLst>
                <a:gd name="adj" fmla="val 1692"/>
              </a:avLst>
            </a:prstGeom>
            <a:solidFill>
              <a:srgbClr val="FDFDFD"/>
            </a:solidFill>
            <a:ln w="19050">
              <a:solidFill>
                <a:srgbClr val="EAEFF4"/>
              </a:solidFill>
              <a:prstDash val="solid"/>
            </a:ln>
          </p:spPr>
        </p:sp>
        <p:sp>
          <p:nvSpPr>
            <p:cNvPr id="19" name="Shape 11"/>
            <p:cNvSpPr/>
            <p:nvPr/>
          </p:nvSpPr>
          <p:spPr>
            <a:xfrm>
              <a:off x="6202353" y="3237310"/>
              <a:ext cx="3633073" cy="982920"/>
            </a:xfrm>
            <a:prstGeom prst="roundRect">
              <a:avLst>
                <a:gd name="adj" fmla="val 1899"/>
              </a:avLst>
            </a:prstGeom>
            <a:solidFill>
              <a:srgbClr val="FDEBEB"/>
            </a:solidFill>
            <a:ln/>
          </p:spPr>
        </p:sp>
        <p:pic>
          <p:nvPicPr>
            <p:cNvPr id="20" name="Image 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88984" y="3423939"/>
              <a:ext cx="485239" cy="497681"/>
            </a:xfrm>
            <a:prstGeom prst="rect">
              <a:avLst/>
            </a:prstGeom>
          </p:spPr>
        </p:pic>
        <p:sp>
          <p:nvSpPr>
            <p:cNvPr id="21" name="Text 12"/>
            <p:cNvSpPr/>
            <p:nvPr/>
          </p:nvSpPr>
          <p:spPr>
            <a:xfrm>
              <a:off x="7035968" y="3647897"/>
              <a:ext cx="2600385" cy="460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336"/>
                </a:lnSpc>
              </a:pPr>
              <a:r>
                <a:rPr lang="en-US" sz="913" dirty="0">
                  <a:solidFill>
                    <a:srgbClr val="A3A9B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금응보인원 이상거래 탐지를에 따라 추가 확인이</a:t>
              </a:r>
              <a:endParaRPr lang="en-US" sz="913" dirty="0"/>
            </a:p>
            <a:p>
              <a:pPr>
                <a:lnSpc>
                  <a:spcPts val="1336"/>
                </a:lnSpc>
              </a:pPr>
              <a:r>
                <a:rPr lang="en-US" sz="913" dirty="0">
                  <a:solidFill>
                    <a:srgbClr val="A3A9B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필요한 거래입니다.</a:t>
              </a:r>
              <a:endParaRPr lang="en-US" sz="913" dirty="0"/>
            </a:p>
          </p:txBody>
        </p:sp>
        <p:sp>
          <p:nvSpPr>
            <p:cNvPr id="22" name="Text 13"/>
            <p:cNvSpPr/>
            <p:nvPr/>
          </p:nvSpPr>
          <p:spPr>
            <a:xfrm>
              <a:off x="7035968" y="3361729"/>
              <a:ext cx="2214682" cy="2488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251"/>
                </a:lnSpc>
              </a:pPr>
              <a:r>
                <a:rPr lang="en-US" sz="1161" dirty="0">
                  <a:solidFill>
                    <a:srgbClr val="F9616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이상금융거래가 탐지되었습니다.</a:t>
              </a:r>
              <a:endParaRPr lang="en-US" sz="1161" dirty="0"/>
            </a:p>
          </p:txBody>
        </p:sp>
        <p:sp>
          <p:nvSpPr>
            <p:cNvPr id="23" name="Text 14"/>
            <p:cNvSpPr/>
            <p:nvPr/>
          </p:nvSpPr>
          <p:spPr>
            <a:xfrm>
              <a:off x="7658071" y="6024324"/>
              <a:ext cx="1667232" cy="223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372"/>
                </a:lnSpc>
              </a:pPr>
              <a:r>
                <a:rPr lang="en-US" sz="1430" dirty="0">
                  <a:solidFill>
                    <a:srgbClr val="8496B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987-654-**** (타행)</a:t>
              </a:r>
              <a:endParaRPr lang="en-US" sz="1430" dirty="0"/>
            </a:p>
          </p:txBody>
        </p:sp>
        <p:sp>
          <p:nvSpPr>
            <p:cNvPr id="24" name="Text 15"/>
            <p:cNvSpPr/>
            <p:nvPr/>
          </p:nvSpPr>
          <p:spPr>
            <a:xfrm>
              <a:off x="7658071" y="5750600"/>
              <a:ext cx="1194435" cy="2115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176"/>
                </a:lnSpc>
              </a:pPr>
              <a:r>
                <a:rPr lang="en-US" sz="1450" dirty="0">
                  <a:solidFill>
                    <a:srgbClr val="8798B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123-456-***</a:t>
              </a:r>
              <a:endParaRPr lang="en-US" sz="1450" dirty="0"/>
            </a:p>
          </p:txBody>
        </p:sp>
        <p:sp>
          <p:nvSpPr>
            <p:cNvPr id="25" name="Text 16"/>
            <p:cNvSpPr/>
            <p:nvPr/>
          </p:nvSpPr>
          <p:spPr>
            <a:xfrm>
              <a:off x="6413866" y="5750599"/>
              <a:ext cx="646986" cy="1990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136"/>
                </a:lnSpc>
              </a:pPr>
              <a:r>
                <a:rPr lang="en-US" sz="1224" dirty="0">
                  <a:solidFill>
                    <a:srgbClr val="8C9DB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출극계좌</a:t>
              </a:r>
              <a:endParaRPr lang="en-US" sz="1224" dirty="0"/>
            </a:p>
          </p:txBody>
        </p:sp>
        <p:sp>
          <p:nvSpPr>
            <p:cNvPr id="26" name="Text 17"/>
            <p:cNvSpPr/>
            <p:nvPr/>
          </p:nvSpPr>
          <p:spPr>
            <a:xfrm>
              <a:off x="7658072" y="5489316"/>
              <a:ext cx="1206877" cy="223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372"/>
                </a:lnSpc>
              </a:pPr>
              <a:r>
                <a:rPr lang="en-US" sz="1402" dirty="0">
                  <a:solidFill>
                    <a:srgbClr val="8596B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400,000,000원</a:t>
              </a:r>
              <a:endParaRPr lang="en-US" sz="1402" dirty="0"/>
            </a:p>
          </p:txBody>
        </p:sp>
        <p:sp>
          <p:nvSpPr>
            <p:cNvPr id="27" name="Text 18"/>
            <p:cNvSpPr/>
            <p:nvPr/>
          </p:nvSpPr>
          <p:spPr>
            <a:xfrm>
              <a:off x="6426310" y="5489317"/>
              <a:ext cx="634544" cy="2115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229"/>
                </a:lnSpc>
              </a:pPr>
              <a:r>
                <a:rPr lang="en-US" sz="1212" dirty="0">
                  <a:solidFill>
                    <a:srgbClr val="8799B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거래금액</a:t>
              </a:r>
              <a:endParaRPr lang="en-US" sz="1212" dirty="0"/>
            </a:p>
          </p:txBody>
        </p:sp>
        <p:sp>
          <p:nvSpPr>
            <p:cNvPr id="28" name="Text 19"/>
            <p:cNvSpPr/>
            <p:nvPr/>
          </p:nvSpPr>
          <p:spPr>
            <a:xfrm>
              <a:off x="7658071" y="5215592"/>
              <a:ext cx="1530370" cy="223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262"/>
                </a:lnSpc>
              </a:pPr>
              <a:r>
                <a:rPr lang="en-US" sz="1216" dirty="0">
                  <a:solidFill>
                    <a:srgbClr val="8598B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타행이체(모바일뱅킹)</a:t>
              </a:r>
              <a:endParaRPr lang="en-US" sz="1216" dirty="0"/>
            </a:p>
          </p:txBody>
        </p:sp>
        <p:sp>
          <p:nvSpPr>
            <p:cNvPr id="29" name="Text 20"/>
            <p:cNvSpPr/>
            <p:nvPr/>
          </p:nvSpPr>
          <p:spPr>
            <a:xfrm>
              <a:off x="6426310" y="5215592"/>
              <a:ext cx="622102" cy="2115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112"/>
                </a:lnSpc>
              </a:pPr>
              <a:r>
                <a:rPr lang="en-US" sz="1189" dirty="0">
                  <a:solidFill>
                    <a:srgbClr val="8194B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거래유형</a:t>
              </a:r>
              <a:endParaRPr lang="en-US" sz="1189" dirty="0"/>
            </a:p>
          </p:txBody>
        </p:sp>
        <p:sp>
          <p:nvSpPr>
            <p:cNvPr id="30" name="Text 21"/>
            <p:cNvSpPr/>
            <p:nvPr/>
          </p:nvSpPr>
          <p:spPr>
            <a:xfrm>
              <a:off x="7658071" y="4941868"/>
              <a:ext cx="1219319" cy="2363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443"/>
                </a:lnSpc>
              </a:pPr>
              <a:r>
                <a:rPr lang="en-US" sz="1279" dirty="0">
                  <a:solidFill>
                    <a:srgbClr val="8395B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개인(여성, 60대)</a:t>
              </a:r>
              <a:endParaRPr lang="en-US" sz="1279" dirty="0"/>
            </a:p>
          </p:txBody>
        </p:sp>
        <p:sp>
          <p:nvSpPr>
            <p:cNvPr id="31" name="Text 22"/>
            <p:cNvSpPr/>
            <p:nvPr/>
          </p:nvSpPr>
          <p:spPr>
            <a:xfrm>
              <a:off x="6426310" y="4941868"/>
              <a:ext cx="634544" cy="2115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203"/>
                </a:lnSpc>
              </a:pPr>
              <a:r>
                <a:rPr lang="en-US" sz="1212" dirty="0">
                  <a:solidFill>
                    <a:srgbClr val="8E9FB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고객구분</a:t>
              </a:r>
              <a:endParaRPr lang="en-US" sz="1212" dirty="0"/>
            </a:p>
          </p:txBody>
        </p:sp>
        <p:sp>
          <p:nvSpPr>
            <p:cNvPr id="32" name="Text 23"/>
            <p:cNvSpPr/>
            <p:nvPr/>
          </p:nvSpPr>
          <p:spPr>
            <a:xfrm>
              <a:off x="7670512" y="4668142"/>
              <a:ext cx="1741884" cy="223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176"/>
                </a:lnSpc>
              </a:pPr>
              <a:r>
                <a:rPr lang="en-US" sz="1402" dirty="0">
                  <a:solidFill>
                    <a:srgbClr val="8093A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2026.02.20 10:24:17</a:t>
              </a:r>
              <a:endParaRPr lang="en-US" sz="1402" dirty="0"/>
            </a:p>
          </p:txBody>
        </p:sp>
        <p:sp>
          <p:nvSpPr>
            <p:cNvPr id="33" name="Text 24"/>
            <p:cNvSpPr/>
            <p:nvPr/>
          </p:nvSpPr>
          <p:spPr>
            <a:xfrm>
              <a:off x="6426310" y="4668143"/>
              <a:ext cx="646986" cy="2115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254"/>
                </a:lnSpc>
              </a:pPr>
              <a:r>
                <a:rPr lang="en-US" sz="1236" dirty="0">
                  <a:solidFill>
                    <a:srgbClr val="8A9BB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탐지시각</a:t>
              </a:r>
              <a:endParaRPr lang="en-US" sz="1236" dirty="0"/>
            </a:p>
          </p:txBody>
        </p:sp>
        <p:sp>
          <p:nvSpPr>
            <p:cNvPr id="34" name="Text 25"/>
            <p:cNvSpPr/>
            <p:nvPr/>
          </p:nvSpPr>
          <p:spPr>
            <a:xfrm>
              <a:off x="6301888" y="4357091"/>
              <a:ext cx="1045131" cy="223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182"/>
                </a:lnSpc>
              </a:pPr>
              <a:r>
                <a:rPr lang="en-US" sz="1191" dirty="0">
                  <a:solidFill>
                    <a:srgbClr val="66739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탐지 거래 상세</a:t>
              </a:r>
              <a:endParaRPr lang="en-US" sz="1191" dirty="0"/>
            </a:p>
          </p:txBody>
        </p:sp>
        <p:sp>
          <p:nvSpPr>
            <p:cNvPr id="46" name="Text 34"/>
            <p:cNvSpPr/>
            <p:nvPr/>
          </p:nvSpPr>
          <p:spPr>
            <a:xfrm>
              <a:off x="6239679" y="2789396"/>
              <a:ext cx="1144667" cy="2488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385"/>
                </a:lnSpc>
              </a:pPr>
              <a:r>
                <a:rPr lang="en-US" sz="1432" dirty="0">
                  <a:solidFill>
                    <a:srgbClr val="586993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FDS탐지 알림</a:t>
              </a:r>
              <a:endParaRPr lang="en-US" sz="1432" dirty="0"/>
            </a:p>
          </p:txBody>
        </p:sp>
      </p:grpSp>
      <p:sp>
        <p:nvSpPr>
          <p:cNvPr id="47" name="Shape 35"/>
          <p:cNvSpPr/>
          <p:nvPr/>
        </p:nvSpPr>
        <p:spPr>
          <a:xfrm>
            <a:off x="10718811" y="1719381"/>
            <a:ext cx="4902160" cy="2065377"/>
          </a:xfrm>
          <a:prstGeom prst="roundRect">
            <a:avLst>
              <a:gd name="adj" fmla="val 23193"/>
            </a:avLst>
          </a:prstGeom>
          <a:solidFill>
            <a:srgbClr val="FDF3F3"/>
          </a:solidFill>
          <a:ln/>
        </p:spPr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41761" y="2042875"/>
            <a:ext cx="1729442" cy="1729442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10731252" y="1706939"/>
            <a:ext cx="622102" cy="609660"/>
          </a:xfrm>
          <a:prstGeom prst="roundRect">
            <a:avLst>
              <a:gd name="adj" fmla="val 47959"/>
            </a:avLst>
          </a:prstGeom>
          <a:solidFill>
            <a:srgbClr val="E64B63"/>
          </a:solidFill>
          <a:ln w="9525">
            <a:solidFill>
              <a:srgbClr val="EE4058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10868115" y="1868685"/>
            <a:ext cx="373261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66"/>
              </a:lnSpc>
            </a:pPr>
            <a:r>
              <a:rPr lang="en-US" sz="2205" dirty="0">
                <a:solidFill>
                  <a:srgbClr val="F8D3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5" dirty="0"/>
          </a:p>
        </p:txBody>
      </p:sp>
      <p:sp>
        <p:nvSpPr>
          <p:cNvPr id="51" name="Text 38"/>
          <p:cNvSpPr/>
          <p:nvPr/>
        </p:nvSpPr>
        <p:spPr>
          <a:xfrm>
            <a:off x="11440449" y="2117526"/>
            <a:ext cx="2675037" cy="119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981"/>
              </a:lnSpc>
            </a:pPr>
            <a:r>
              <a:rPr lang="en-US" sz="1946" dirty="0">
                <a:solidFill>
                  <a:srgbClr val="3D54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송금이전에</a:t>
            </a:r>
            <a:r>
              <a:rPr lang="en-US" sz="1946" dirty="0">
                <a:solidFill>
                  <a:srgbClr val="F53F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어떤 연락, 설명, 요구를
</a:t>
            </a:r>
            <a:r>
              <a:rPr lang="en-US" sz="1946" dirty="0">
                <a:solidFill>
                  <a:srgbClr val="3950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받았을까</a:t>
            </a:r>
            <a:endParaRPr lang="en-US" sz="1946" dirty="0"/>
          </a:p>
        </p:txBody>
      </p:sp>
      <p:sp>
        <p:nvSpPr>
          <p:cNvPr id="52" name="Shape 39"/>
          <p:cNvSpPr/>
          <p:nvPr/>
        </p:nvSpPr>
        <p:spPr>
          <a:xfrm>
            <a:off x="404366" y="1706940"/>
            <a:ext cx="4839950" cy="2052935"/>
          </a:xfrm>
          <a:prstGeom prst="roundRect">
            <a:avLst>
              <a:gd name="adj" fmla="val 21970"/>
            </a:avLst>
          </a:prstGeom>
          <a:solidFill>
            <a:srgbClr val="F0F6FD"/>
          </a:solidFill>
          <a:ln w="47625">
            <a:solidFill>
              <a:srgbClr val="F2F6FA"/>
            </a:solidFill>
            <a:prstDash val="solid"/>
          </a:ln>
        </p:spPr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53592" y="1980664"/>
            <a:ext cx="1605022" cy="1741884"/>
          </a:xfrm>
          <a:prstGeom prst="rect">
            <a:avLst/>
          </a:prstGeom>
        </p:spPr>
      </p:pic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8940" y="2615208"/>
            <a:ext cx="298609" cy="385703"/>
          </a:xfrm>
          <a:prstGeom prst="rect">
            <a:avLst/>
          </a:prstGeom>
        </p:spPr>
      </p:pic>
      <p:sp>
        <p:nvSpPr>
          <p:cNvPr id="55" name="Shape 40"/>
          <p:cNvSpPr/>
          <p:nvPr/>
        </p:nvSpPr>
        <p:spPr>
          <a:xfrm>
            <a:off x="379483" y="1706939"/>
            <a:ext cx="609660" cy="609660"/>
          </a:xfrm>
          <a:prstGeom prst="roundRect">
            <a:avLst>
              <a:gd name="adj" fmla="val 50510"/>
            </a:avLst>
          </a:prstGeom>
          <a:solidFill>
            <a:srgbClr val="01275B"/>
          </a:solidFill>
          <a:ln w="9525">
            <a:solidFill>
              <a:srgbClr val="11295F"/>
            </a:solidFill>
            <a:prstDash val="solid"/>
          </a:ln>
        </p:spPr>
      </p:sp>
      <p:sp>
        <p:nvSpPr>
          <p:cNvPr id="56" name="Text 41"/>
          <p:cNvSpPr/>
          <p:nvPr/>
        </p:nvSpPr>
        <p:spPr>
          <a:xfrm>
            <a:off x="528788" y="1868685"/>
            <a:ext cx="311051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1901" b="1" dirty="0">
                <a:solidFill>
                  <a:srgbClr val="C5CD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1" dirty="0"/>
          </a:p>
        </p:txBody>
      </p:sp>
      <p:sp>
        <p:nvSpPr>
          <p:cNvPr id="57" name="Text 42"/>
          <p:cNvSpPr/>
          <p:nvPr/>
        </p:nvSpPr>
        <p:spPr>
          <a:xfrm>
            <a:off x="1126004" y="2590323"/>
            <a:ext cx="1542812" cy="771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918"/>
              </a:lnSpc>
            </a:pPr>
            <a:r>
              <a:rPr lang="en-US" sz="2202" dirty="0">
                <a:solidFill>
                  <a:srgbClr val="F03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왜이 송금을
</a:t>
            </a:r>
            <a:r>
              <a:rPr lang="en-US" sz="2202" dirty="0">
                <a:solidFill>
                  <a:srgbClr val="344D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하려는 걸까</a:t>
            </a:r>
            <a:endParaRPr lang="en-US" sz="2202" dirty="0"/>
          </a:p>
        </p:txBody>
      </p:sp>
      <p:sp>
        <p:nvSpPr>
          <p:cNvPr id="58" name="Text 43"/>
          <p:cNvSpPr/>
          <p:nvPr/>
        </p:nvSpPr>
        <p:spPr>
          <a:xfrm>
            <a:off x="1138447" y="2167295"/>
            <a:ext cx="1181993" cy="3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44"/>
              </a:lnSpc>
            </a:pPr>
            <a:r>
              <a:rPr lang="en-US" sz="2074" b="1" dirty="0">
                <a:solidFill>
                  <a:srgbClr val="4059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고객은</a:t>
            </a:r>
            <a:endParaRPr lang="en-US" sz="2074" dirty="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74450" y="761346"/>
            <a:ext cx="286167" cy="559891"/>
          </a:xfrm>
          <a:prstGeom prst="rect">
            <a:avLst/>
          </a:prstGeom>
        </p:spPr>
      </p:pic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5186" y="748903"/>
            <a:ext cx="286167" cy="559891"/>
          </a:xfrm>
          <a:prstGeom prst="rect">
            <a:avLst/>
          </a:prstGeom>
        </p:spPr>
      </p:pic>
      <p:sp>
        <p:nvSpPr>
          <p:cNvPr id="61" name="Shape 44"/>
          <p:cNvSpPr/>
          <p:nvPr/>
        </p:nvSpPr>
        <p:spPr>
          <a:xfrm>
            <a:off x="1200655" y="238779"/>
            <a:ext cx="13536930" cy="1144667"/>
          </a:xfrm>
          <a:prstGeom prst="roundRect">
            <a:avLst>
              <a:gd name="adj" fmla="val 16304"/>
            </a:avLst>
          </a:prstGeom>
          <a:solidFill>
            <a:srgbClr val="E3EEFD"/>
          </a:solidFill>
          <a:ln/>
        </p:spPr>
      </p:sp>
      <p:sp>
        <p:nvSpPr>
          <p:cNvPr id="62" name="Text 45"/>
          <p:cNvSpPr/>
          <p:nvPr/>
        </p:nvSpPr>
        <p:spPr>
          <a:xfrm>
            <a:off x="2133809" y="462736"/>
            <a:ext cx="11919466" cy="70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590"/>
              </a:lnSpc>
            </a:pPr>
            <a:r>
              <a:rPr lang="en-US" sz="3590" b="1" dirty="0">
                <a:solidFill>
                  <a:srgbClr val="274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FDS 알림만 보고,</a:t>
            </a:r>
            <a:r>
              <a:rPr lang="en-US" sz="3590" b="1" dirty="0">
                <a:solidFill>
                  <a:srgbClr val="E5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고객의 상황</a:t>
            </a:r>
            <a:r>
              <a:rPr lang="en-US" sz="3590" b="1" dirty="0">
                <a:solidFill>
                  <a:srgbClr val="2C48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3590" b="1" dirty="0">
                <a:solidFill>
                  <a:srgbClr val="E52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알 수 있을까?</a:t>
            </a:r>
            <a:endParaRPr lang="en-US" sz="35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1"/>
            <a:ext cx="15925800" cy="89582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583531" y="6596657"/>
            <a:ext cx="4031218" cy="2115145"/>
          </a:xfrm>
          <a:prstGeom prst="roundRect">
            <a:avLst>
              <a:gd name="adj" fmla="val 4118"/>
            </a:avLst>
          </a:prstGeom>
          <a:solidFill>
            <a:srgbClr val="E9F2FD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4814" y="7069455"/>
            <a:ext cx="3707725" cy="153037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6373" y="7293411"/>
            <a:ext cx="236399" cy="373261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7720" y="6733520"/>
            <a:ext cx="360819" cy="33593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2379821" y="7231202"/>
            <a:ext cx="2488406" cy="1231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13"/>
              </a:lnSpc>
            </a:pPr>
            <a:r>
              <a:rPr lang="en-US" sz="1777" dirty="0">
                <a:solidFill>
                  <a:srgbClr val="4953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“탐지는 됐지만,</a:t>
            </a:r>
            <a:endParaRPr lang="en-US" sz="1777" dirty="0"/>
          </a:p>
          <a:p>
            <a:pPr>
              <a:lnSpc>
                <a:spcPts val="2213"/>
              </a:lnSpc>
            </a:pPr>
            <a:r>
              <a:rPr lang="en-US" sz="1777" dirty="0">
                <a:solidFill>
                  <a:srgbClr val="4953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지끔이 사건에서 무엇을</a:t>
            </a:r>
            <a:endParaRPr lang="en-US" sz="1777" dirty="0"/>
          </a:p>
          <a:p>
            <a:pPr>
              <a:lnSpc>
                <a:spcPts val="2213"/>
              </a:lnSpc>
            </a:pPr>
            <a:r>
              <a:rPr lang="en-US" sz="1777" dirty="0">
                <a:solidFill>
                  <a:srgbClr val="4953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확인해야 하지?”</a:t>
            </a:r>
            <a:endParaRPr lang="en-US" sz="1777" dirty="0"/>
          </a:p>
        </p:txBody>
      </p:sp>
      <p:sp>
        <p:nvSpPr>
          <p:cNvPr id="8" name="Text 2"/>
          <p:cNvSpPr/>
          <p:nvPr/>
        </p:nvSpPr>
        <p:spPr>
          <a:xfrm>
            <a:off x="12267843" y="6745962"/>
            <a:ext cx="1493044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1"/>
              </a:lnSpc>
            </a:pPr>
            <a:r>
              <a:rPr lang="en-US" sz="1259" dirty="0">
                <a:solidFill>
                  <a:srgbClr val="608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담당자의 한 마디</a:t>
            </a:r>
            <a:endParaRPr lang="en-US" sz="1259" dirty="0"/>
          </a:p>
        </p:txBody>
      </p:sp>
      <p:sp>
        <p:nvSpPr>
          <p:cNvPr id="9" name="Shape 3"/>
          <p:cNvSpPr/>
          <p:nvPr/>
        </p:nvSpPr>
        <p:spPr>
          <a:xfrm>
            <a:off x="335935" y="6584216"/>
            <a:ext cx="11110734" cy="2127587"/>
          </a:xfrm>
          <a:prstGeom prst="roundRect">
            <a:avLst>
              <a:gd name="adj" fmla="val 5263"/>
            </a:avLst>
          </a:prstGeom>
          <a:solidFill>
            <a:srgbClr val="FDF4F4"/>
          </a:solidFill>
          <a:ln/>
        </p:spPr>
      </p:sp>
      <p:sp>
        <p:nvSpPr>
          <p:cNvPr id="10" name="Shape 4"/>
          <p:cNvSpPr/>
          <p:nvPr/>
        </p:nvSpPr>
        <p:spPr>
          <a:xfrm>
            <a:off x="8696981" y="7280970"/>
            <a:ext cx="485239" cy="485239"/>
          </a:xfrm>
          <a:prstGeom prst="roundRect">
            <a:avLst>
              <a:gd name="adj" fmla="val 49359"/>
            </a:avLst>
          </a:prstGeom>
          <a:solidFill>
            <a:srgbClr val="FDDFDF"/>
          </a:solidFill>
          <a:ln w="19050">
            <a:solidFill>
              <a:srgbClr val="FDE7E7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8796517" y="7405389"/>
            <a:ext cx="286167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4"/>
              </a:lnSpc>
            </a:pPr>
            <a:r>
              <a:rPr lang="en-US" sz="1774" dirty="0">
                <a:solidFill>
                  <a:srgbClr val="E24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774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907" y="7343179"/>
            <a:ext cx="74652" cy="1119783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885082" y="7280970"/>
            <a:ext cx="485239" cy="485239"/>
          </a:xfrm>
          <a:prstGeom prst="roundRect">
            <a:avLst>
              <a:gd name="adj" fmla="val 49359"/>
            </a:avLst>
          </a:prstGeom>
          <a:solidFill>
            <a:srgbClr val="FDE0E0"/>
          </a:solidFill>
          <a:ln w="9525">
            <a:solidFill>
              <a:srgbClr val="FDE8E8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5984618" y="7405389"/>
            <a:ext cx="286167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4"/>
              </a:lnSpc>
            </a:pPr>
            <a:r>
              <a:rPr lang="en-US" sz="1774" dirty="0">
                <a:solidFill>
                  <a:srgbClr val="E543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74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3567" y="7343180"/>
            <a:ext cx="87094" cy="1107341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3309581" y="7280970"/>
            <a:ext cx="485239" cy="485239"/>
          </a:xfrm>
          <a:prstGeom prst="roundRect">
            <a:avLst>
              <a:gd name="adj" fmla="val 49359"/>
            </a:avLst>
          </a:prstGeom>
          <a:solidFill>
            <a:srgbClr val="FDE1E1"/>
          </a:solidFill>
          <a:ln w="19050">
            <a:solidFill>
              <a:srgbClr val="FDE9E9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3409117" y="7405389"/>
            <a:ext cx="286167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4"/>
              </a:lnSpc>
            </a:pPr>
            <a:r>
              <a:rPr lang="en-US" sz="1666" b="1" dirty="0">
                <a:solidFill>
                  <a:srgbClr val="E54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66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8066" y="7343180"/>
            <a:ext cx="74652" cy="1107341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547450" y="7280970"/>
            <a:ext cx="485239" cy="485239"/>
          </a:xfrm>
          <a:prstGeom prst="roundRect">
            <a:avLst>
              <a:gd name="adj" fmla="val 49359"/>
            </a:avLst>
          </a:prstGeom>
          <a:solidFill>
            <a:srgbClr val="FDE1E1"/>
          </a:solidFill>
          <a:ln w="19050">
            <a:solidFill>
              <a:srgbClr val="FDF0F0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659427" y="7392948"/>
            <a:ext cx="248841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04"/>
              </a:lnSpc>
            </a:pPr>
            <a:r>
              <a:rPr lang="en-US" sz="1612" b="1" dirty="0">
                <a:solidFill>
                  <a:srgbClr val="E54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12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450" y="6671310"/>
            <a:ext cx="435471" cy="410587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356408" y="7280969"/>
            <a:ext cx="1928515" cy="1144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54"/>
              </a:lnSpc>
            </a:pPr>
            <a:r>
              <a:rPr lang="en-US" sz="1187" dirty="0">
                <a:solidFill>
                  <a:srgbClr val="7D8A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확인한 뒤에도</a:t>
            </a:r>
            <a:endParaRPr lang="en-US" sz="1187" dirty="0"/>
          </a:p>
          <a:p>
            <a:pPr>
              <a:lnSpc>
                <a:spcPts val="1854"/>
              </a:lnSpc>
            </a:pPr>
            <a:r>
              <a:rPr lang="en-US" sz="1187" dirty="0">
                <a:solidFill>
                  <a:srgbClr val="7D8A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계좌로 추가 송금이</a:t>
            </a:r>
            <a:endParaRPr lang="en-US" sz="1187" dirty="0"/>
          </a:p>
          <a:p>
            <a:pPr>
              <a:lnSpc>
                <a:spcPts val="1854"/>
              </a:lnSpc>
            </a:pPr>
            <a:r>
              <a:rPr lang="en-US" sz="1187" dirty="0">
                <a:solidFill>
                  <a:srgbClr val="7D8A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이어질 수 있어,</a:t>
            </a:r>
            <a:endParaRPr lang="en-US" sz="1187" dirty="0"/>
          </a:p>
          <a:p>
            <a:pPr>
              <a:lnSpc>
                <a:spcPts val="1854"/>
              </a:lnSpc>
            </a:pPr>
            <a:r>
              <a:rPr lang="en-US" sz="1187" dirty="0">
                <a:solidFill>
                  <a:srgbClr val="7D8A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사건이 계속 이어질 수 있음</a:t>
            </a:r>
            <a:endParaRPr lang="en-US" sz="1187" dirty="0"/>
          </a:p>
        </p:txBody>
      </p:sp>
      <p:sp>
        <p:nvSpPr>
          <p:cNvPr id="23" name="Text 13"/>
          <p:cNvSpPr/>
          <p:nvPr/>
        </p:nvSpPr>
        <p:spPr>
          <a:xfrm>
            <a:off x="6556951" y="7280969"/>
            <a:ext cx="1828979" cy="1144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24"/>
              </a:lnSpc>
            </a:pPr>
            <a:r>
              <a:rPr lang="en-US" sz="1224" dirty="0">
                <a:solidFill>
                  <a:srgbClr val="7E8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담당자에게 넘길 때</a:t>
            </a:r>
            <a:endParaRPr lang="en-US" sz="1224" dirty="0"/>
          </a:p>
          <a:p>
            <a:pPr>
              <a:lnSpc>
                <a:spcPts val="1524"/>
              </a:lnSpc>
            </a:pPr>
            <a:r>
              <a:rPr lang="en-US" sz="1224" dirty="0">
                <a:solidFill>
                  <a:srgbClr val="7E8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이유와 확인 목적이</a:t>
            </a:r>
            <a:endParaRPr lang="en-US" sz="1224" dirty="0"/>
          </a:p>
          <a:p>
            <a:pPr>
              <a:lnSpc>
                <a:spcPts val="1524"/>
              </a:lnSpc>
            </a:pPr>
            <a:r>
              <a:rPr lang="en-US" sz="1224" dirty="0">
                <a:solidFill>
                  <a:srgbClr val="7E8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전달되지 않으면</a:t>
            </a:r>
            <a:endParaRPr lang="en-US" sz="1224" dirty="0"/>
          </a:p>
          <a:p>
            <a:pPr>
              <a:lnSpc>
                <a:spcPts val="1524"/>
              </a:lnSpc>
            </a:pPr>
            <a:r>
              <a:rPr lang="en-US" sz="1224" dirty="0">
                <a:solidFill>
                  <a:srgbClr val="7E8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맥락이 끊길 수 있음</a:t>
            </a:r>
            <a:endParaRPr lang="en-US" sz="1224" dirty="0"/>
          </a:p>
        </p:txBody>
      </p:sp>
      <p:sp>
        <p:nvSpPr>
          <p:cNvPr id="24" name="Text 14"/>
          <p:cNvSpPr/>
          <p:nvPr/>
        </p:nvSpPr>
        <p:spPr>
          <a:xfrm>
            <a:off x="3981451" y="7567136"/>
            <a:ext cx="1580138" cy="84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47"/>
              </a:lnSpc>
            </a:pPr>
            <a:r>
              <a:rPr lang="en-US" sz="1241" dirty="0">
                <a:solidFill>
                  <a:srgbClr val="808D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사건에서 무엇을</a:t>
            </a:r>
            <a:endParaRPr lang="en-US" sz="1241" dirty="0"/>
          </a:p>
          <a:p>
            <a:pPr>
              <a:lnSpc>
                <a:spcPts val="1547"/>
              </a:lnSpc>
            </a:pPr>
            <a:r>
              <a:rPr lang="en-US" sz="1241" dirty="0">
                <a:solidFill>
                  <a:srgbClr val="808D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확인해야 하는지</a:t>
            </a:r>
            <a:endParaRPr lang="en-US" sz="1241" dirty="0"/>
          </a:p>
          <a:p>
            <a:pPr>
              <a:lnSpc>
                <a:spcPts val="1547"/>
              </a:lnSpc>
            </a:pPr>
            <a:r>
              <a:rPr lang="en-US" sz="1241" dirty="0">
                <a:solidFill>
                  <a:srgbClr val="808D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판단해야 함</a:t>
            </a:r>
            <a:endParaRPr lang="en-US" sz="1241" dirty="0"/>
          </a:p>
        </p:txBody>
      </p:sp>
      <p:sp>
        <p:nvSpPr>
          <p:cNvPr id="25" name="Text 15"/>
          <p:cNvSpPr/>
          <p:nvPr/>
        </p:nvSpPr>
        <p:spPr>
          <a:xfrm>
            <a:off x="3981450" y="7318296"/>
            <a:ext cx="920710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1"/>
              </a:lnSpc>
            </a:pPr>
            <a:r>
              <a:rPr lang="en-US" sz="1233" dirty="0">
                <a:solidFill>
                  <a:srgbClr val="7885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정보 중</a:t>
            </a:r>
            <a:endParaRPr lang="en-US" sz="1233" dirty="0"/>
          </a:p>
        </p:txBody>
      </p:sp>
      <p:sp>
        <p:nvSpPr>
          <p:cNvPr id="26" name="Text 16"/>
          <p:cNvSpPr/>
          <p:nvPr/>
        </p:nvSpPr>
        <p:spPr>
          <a:xfrm>
            <a:off x="1219320" y="7280969"/>
            <a:ext cx="1779210" cy="1144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39"/>
              </a:lnSpc>
            </a:pPr>
            <a:r>
              <a:rPr lang="en-US" sz="1270" dirty="0">
                <a:solidFill>
                  <a:srgbClr val="7E8B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FDS는 위험거래라는</a:t>
            </a:r>
            <a:endParaRPr lang="en-US" sz="1270" dirty="0"/>
          </a:p>
          <a:p>
            <a:pPr>
              <a:lnSpc>
                <a:spcPts val="1939"/>
              </a:lnSpc>
            </a:pPr>
            <a:r>
              <a:rPr lang="en-US" sz="1270" dirty="0">
                <a:solidFill>
                  <a:srgbClr val="7E8B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사실만 알려줄 뿐,</a:t>
            </a:r>
            <a:endParaRPr lang="en-US" sz="1270" dirty="0"/>
          </a:p>
          <a:p>
            <a:pPr>
              <a:lnSpc>
                <a:spcPts val="1939"/>
              </a:lnSpc>
            </a:pPr>
            <a:r>
              <a:rPr lang="en-US" sz="1270" dirty="0">
                <a:solidFill>
                  <a:srgbClr val="7E8B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왜 송금했는지는</a:t>
            </a:r>
            <a:endParaRPr lang="en-US" sz="1270" dirty="0"/>
          </a:p>
          <a:p>
            <a:pPr>
              <a:lnSpc>
                <a:spcPts val="1939"/>
              </a:lnSpc>
            </a:pPr>
            <a:r>
              <a:rPr lang="en-US" sz="1270" dirty="0">
                <a:solidFill>
                  <a:srgbClr val="7E8B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없음</a:t>
            </a:r>
            <a:endParaRPr lang="en-US" sz="1270" dirty="0"/>
          </a:p>
        </p:txBody>
      </p:sp>
      <p:sp>
        <p:nvSpPr>
          <p:cNvPr id="27" name="Text 17"/>
          <p:cNvSpPr/>
          <p:nvPr/>
        </p:nvSpPr>
        <p:spPr>
          <a:xfrm>
            <a:off x="1094899" y="6708636"/>
            <a:ext cx="2426196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94"/>
              </a:lnSpc>
            </a:pPr>
            <a:r>
              <a:rPr lang="en-US" sz="1677" dirty="0">
                <a:solidFill>
                  <a:srgbClr val="EC4C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담당자가 겪는 어려움</a:t>
            </a:r>
            <a:endParaRPr lang="en-US" sz="1677" dirty="0"/>
          </a:p>
        </p:txBody>
      </p:sp>
      <p:sp>
        <p:nvSpPr>
          <p:cNvPr id="28" name="Shape 18"/>
          <p:cNvSpPr/>
          <p:nvPr/>
        </p:nvSpPr>
        <p:spPr>
          <a:xfrm>
            <a:off x="10998756" y="2167295"/>
            <a:ext cx="4640878" cy="4242733"/>
          </a:xfrm>
          <a:prstGeom prst="roundRect">
            <a:avLst>
              <a:gd name="adj" fmla="val 2639"/>
            </a:avLst>
          </a:prstGeom>
          <a:solidFill>
            <a:srgbClr val="F7FAFD"/>
          </a:solidFill>
          <a:ln w="9525">
            <a:solidFill>
              <a:srgbClr val="F4F7FD"/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66452" y="5327570"/>
            <a:ext cx="2849225" cy="49768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41568" y="4444186"/>
            <a:ext cx="2874109" cy="49768"/>
          </a:xfrm>
          <a:prstGeom prst="rect">
            <a:avLst/>
          </a:prstGeom>
        </p:spPr>
      </p:pic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29126" y="3560802"/>
            <a:ext cx="2886551" cy="6221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12591336" y="5850136"/>
            <a:ext cx="2824341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47"/>
              </a:lnSpc>
            </a:pPr>
            <a:r>
              <a:rPr lang="en-US" sz="1150" dirty="0">
                <a:solidFill>
                  <a:srgbClr val="9B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문의가 필요한 내용을 정리해 공유</a:t>
            </a:r>
            <a:endParaRPr lang="en-US" sz="1150" dirty="0"/>
          </a:p>
        </p:txBody>
      </p:sp>
      <p:sp>
        <p:nvSpPr>
          <p:cNvPr id="33" name="Text 20"/>
          <p:cNvSpPr/>
          <p:nvPr/>
        </p:nvSpPr>
        <p:spPr>
          <a:xfrm>
            <a:off x="12603778" y="5539084"/>
            <a:ext cx="238887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43"/>
              </a:lnSpc>
            </a:pPr>
            <a:r>
              <a:rPr lang="en-US" sz="1298" dirty="0">
                <a:solidFill>
                  <a:srgbClr val="606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사실확인 담당자에게 전달</a:t>
            </a:r>
            <a:endParaRPr lang="en-US" sz="1298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32373" y="5501758"/>
            <a:ext cx="584775" cy="597218"/>
          </a:xfrm>
          <a:prstGeom prst="rect">
            <a:avLst/>
          </a:prstGeom>
        </p:spPr>
      </p:pic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22713" y="5551527"/>
            <a:ext cx="410587" cy="410587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11297365" y="5651063"/>
            <a:ext cx="261283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4"/>
              </a:lnSpc>
            </a:pPr>
            <a:r>
              <a:rPr lang="en-US" sz="1744" dirty="0">
                <a:solidFill>
                  <a:srgbClr val="A8AF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744" dirty="0"/>
          </a:p>
        </p:txBody>
      </p:sp>
      <p:sp>
        <p:nvSpPr>
          <p:cNvPr id="37" name="Shape 22"/>
          <p:cNvSpPr/>
          <p:nvPr/>
        </p:nvSpPr>
        <p:spPr>
          <a:xfrm>
            <a:off x="11421785" y="5949672"/>
            <a:ext cx="211515" cy="298609"/>
          </a:xfrm>
          <a:prstGeom prst="roundRect">
            <a:avLst>
              <a:gd name="adj" fmla="val 10294"/>
            </a:avLst>
          </a:prstGeom>
          <a:solidFill>
            <a:srgbClr val="F9FBFD"/>
          </a:solidFill>
          <a:ln/>
        </p:spPr>
      </p:sp>
      <p:sp>
        <p:nvSpPr>
          <p:cNvPr id="38" name="Text 23"/>
          <p:cNvSpPr/>
          <p:nvPr/>
        </p:nvSpPr>
        <p:spPr>
          <a:xfrm>
            <a:off x="12603778" y="4966751"/>
            <a:ext cx="2699921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61"/>
              </a:lnSpc>
            </a:pPr>
            <a:r>
              <a:rPr lang="en-US" sz="1153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FDS만으로 알 수 없는 고객 상황을 구분</a:t>
            </a:r>
            <a:endParaRPr lang="en-US" sz="1153" dirty="0"/>
          </a:p>
        </p:txBody>
      </p:sp>
      <p:sp>
        <p:nvSpPr>
          <p:cNvPr id="39" name="Text 24"/>
          <p:cNvSpPr/>
          <p:nvPr/>
        </p:nvSpPr>
        <p:spPr>
          <a:xfrm>
            <a:off x="12591336" y="4655700"/>
            <a:ext cx="1891189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13"/>
              </a:lnSpc>
            </a:pPr>
            <a:r>
              <a:rPr lang="en-US" sz="1306" dirty="0">
                <a:solidFill>
                  <a:srgbClr val="606A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확인 필요사항 정리</a:t>
            </a:r>
            <a:endParaRPr lang="en-US" sz="1306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832372" y="4618375"/>
            <a:ext cx="572333" cy="584775"/>
          </a:xfrm>
          <a:prstGeom prst="rect">
            <a:avLst/>
          </a:prstGeom>
        </p:spPr>
      </p:pic>
      <p:sp>
        <p:nvSpPr>
          <p:cNvPr id="41" name="Shape 25"/>
          <p:cNvSpPr/>
          <p:nvPr/>
        </p:nvSpPr>
        <p:spPr>
          <a:xfrm>
            <a:off x="11222713" y="4680585"/>
            <a:ext cx="410587" cy="398145"/>
          </a:xfrm>
          <a:prstGeom prst="roundRect">
            <a:avLst>
              <a:gd name="adj" fmla="val 44531"/>
            </a:avLst>
          </a:prstGeom>
          <a:solidFill>
            <a:srgbClr val="001749"/>
          </a:solidFill>
          <a:ln w="9525">
            <a:solidFill>
              <a:srgbClr val="0E1948"/>
            </a:solidFill>
            <a:prstDash val="solid"/>
          </a:ln>
        </p:spPr>
      </p:sp>
      <p:sp>
        <p:nvSpPr>
          <p:cNvPr id="42" name="Text 26"/>
          <p:cNvSpPr/>
          <p:nvPr/>
        </p:nvSpPr>
        <p:spPr>
          <a:xfrm>
            <a:off x="11297365" y="4780122"/>
            <a:ext cx="2612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6"/>
              </a:lnSpc>
            </a:pPr>
            <a:r>
              <a:rPr lang="en-US" sz="1626" dirty="0">
                <a:solidFill>
                  <a:srgbClr val="AA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26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96901" y="5091172"/>
            <a:ext cx="62210" cy="447913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12529126" y="3199983"/>
            <a:ext cx="2886551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0"/>
              </a:lnSpc>
            </a:pPr>
            <a:r>
              <a:rPr lang="en-US" sz="1116" dirty="0">
                <a:solidFill>
                  <a:srgbClr val="9B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탐지된 거래의 기본 정보와 탐지사유를 확인</a:t>
            </a:r>
            <a:endParaRPr lang="en-US" sz="1116" dirty="0"/>
          </a:p>
        </p:txBody>
      </p:sp>
      <p:sp>
        <p:nvSpPr>
          <p:cNvPr id="45" name="Text 28"/>
          <p:cNvSpPr/>
          <p:nvPr/>
        </p:nvSpPr>
        <p:spPr>
          <a:xfrm>
            <a:off x="12529125" y="2888932"/>
            <a:ext cx="1542812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38"/>
              </a:lnSpc>
            </a:pPr>
            <a:r>
              <a:rPr lang="en-US" sz="1393" dirty="0">
                <a:solidFill>
                  <a:srgbClr val="616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FDS탐지 알림 확인</a:t>
            </a:r>
            <a:endParaRPr lang="en-US" sz="1393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807489" y="2851606"/>
            <a:ext cx="559891" cy="597218"/>
          </a:xfrm>
          <a:prstGeom prst="rect">
            <a:avLst/>
          </a:prstGeom>
        </p:spPr>
      </p:pic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22713" y="2926259"/>
            <a:ext cx="410587" cy="410587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11309806" y="3013353"/>
            <a:ext cx="223957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5"/>
              </a:lnSpc>
            </a:pPr>
            <a:r>
              <a:rPr lang="en-US" sz="1440" b="1" dirty="0">
                <a:solidFill>
                  <a:srgbClr val="9EA5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40" dirty="0"/>
          </a:p>
        </p:txBody>
      </p:sp>
      <p:sp>
        <p:nvSpPr>
          <p:cNvPr id="49" name="Text 30"/>
          <p:cNvSpPr/>
          <p:nvPr/>
        </p:nvSpPr>
        <p:spPr>
          <a:xfrm>
            <a:off x="12566452" y="4083367"/>
            <a:ext cx="283678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5"/>
              </a:lnSpc>
            </a:pPr>
            <a:r>
              <a:rPr lang="en-US" sz="113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거래금액, 수취계좌, 기존 거래내역 등 확인</a:t>
            </a:r>
            <a:endParaRPr lang="en-US" sz="1130" dirty="0"/>
          </a:p>
        </p:txBody>
      </p:sp>
      <p:sp>
        <p:nvSpPr>
          <p:cNvPr id="50" name="Text 31"/>
          <p:cNvSpPr/>
          <p:nvPr/>
        </p:nvSpPr>
        <p:spPr>
          <a:xfrm>
            <a:off x="12554009" y="3784758"/>
            <a:ext cx="1144667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40"/>
              </a:lnSpc>
            </a:pPr>
            <a:r>
              <a:rPr lang="en-US" sz="1305" dirty="0">
                <a:solidFill>
                  <a:srgbClr val="5D6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정보 검토</a:t>
            </a:r>
            <a:endParaRPr lang="en-US" sz="1305" dirty="0"/>
          </a:p>
        </p:txBody>
      </p:sp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07489" y="3734991"/>
            <a:ext cx="584775" cy="584775"/>
          </a:xfrm>
          <a:prstGeom prst="rect">
            <a:avLst/>
          </a:prstGeom>
        </p:spPr>
      </p:pic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22713" y="3797200"/>
            <a:ext cx="410587" cy="398145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11297365" y="3896736"/>
            <a:ext cx="261283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4"/>
              </a:lnSpc>
            </a:pPr>
            <a:r>
              <a:rPr lang="en-US" sz="1744" dirty="0">
                <a:solidFill>
                  <a:srgbClr val="A0A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44" dirty="0"/>
          </a:p>
        </p:txBody>
      </p:sp>
      <p:sp>
        <p:nvSpPr>
          <p:cNvPr id="54" name="Shape 33"/>
          <p:cNvSpPr/>
          <p:nvPr/>
        </p:nvSpPr>
        <p:spPr>
          <a:xfrm>
            <a:off x="11396901" y="4232671"/>
            <a:ext cx="62210" cy="423029"/>
          </a:xfrm>
          <a:prstGeom prst="rect">
            <a:avLst/>
          </a:prstGeom>
          <a:solidFill>
            <a:srgbClr val="F6FAFD"/>
          </a:solidFill>
          <a:ln/>
        </p:spPr>
      </p:sp>
      <p:sp>
        <p:nvSpPr>
          <p:cNvPr id="55" name="Shape 34"/>
          <p:cNvSpPr/>
          <p:nvPr/>
        </p:nvSpPr>
        <p:spPr>
          <a:xfrm>
            <a:off x="11396901" y="3349287"/>
            <a:ext cx="62210" cy="423029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56" name="Text 35"/>
          <p:cNvSpPr/>
          <p:nvPr/>
        </p:nvSpPr>
        <p:spPr>
          <a:xfrm>
            <a:off x="11235155" y="2266830"/>
            <a:ext cx="2202240" cy="29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99"/>
              </a:lnSpc>
            </a:pPr>
            <a:r>
              <a:rPr lang="en-US" sz="1673" dirty="0">
                <a:solidFill>
                  <a:srgbClr val="525D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담당자의 업무 흐름</a:t>
            </a:r>
            <a:endParaRPr lang="en-US" sz="1673" dirty="0"/>
          </a:p>
        </p:txBody>
      </p:sp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87864" y="2179737"/>
            <a:ext cx="5586472" cy="4292501"/>
          </a:xfrm>
          <a:prstGeom prst="rect">
            <a:avLst/>
          </a:prstGeom>
        </p:spPr>
      </p:pic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37089" y="5850135"/>
            <a:ext cx="2724805" cy="622102"/>
          </a:xfrm>
          <a:prstGeom prst="rect">
            <a:avLst/>
          </a:prstGeom>
        </p:spPr>
      </p:pic>
      <p:sp>
        <p:nvSpPr>
          <p:cNvPr id="59" name="Shape 36"/>
          <p:cNvSpPr/>
          <p:nvPr/>
        </p:nvSpPr>
        <p:spPr>
          <a:xfrm>
            <a:off x="7987784" y="4046041"/>
            <a:ext cx="2836783" cy="1741884"/>
          </a:xfrm>
          <a:prstGeom prst="roundRect">
            <a:avLst>
              <a:gd name="adj" fmla="val 6429"/>
            </a:avLst>
          </a:prstGeom>
          <a:solidFill>
            <a:srgbClr val="F7FAFD"/>
          </a:solidFill>
          <a:ln/>
        </p:spPr>
      </p:sp>
      <p:sp>
        <p:nvSpPr>
          <p:cNvPr id="60" name="Text 37"/>
          <p:cNvSpPr/>
          <p:nvPr/>
        </p:nvSpPr>
        <p:spPr>
          <a:xfrm>
            <a:off x="9057799" y="5501759"/>
            <a:ext cx="12566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78"/>
              </a:lnSpc>
            </a:pPr>
            <a:r>
              <a:rPr lang="en-US" sz="1087" dirty="0">
                <a:solidFill>
                  <a:srgbClr val="8F98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987-654-**** (타랭)</a:t>
            </a:r>
            <a:endParaRPr lang="en-US" sz="1087" dirty="0"/>
          </a:p>
        </p:txBody>
      </p:sp>
      <p:sp>
        <p:nvSpPr>
          <p:cNvPr id="61" name="Text 38"/>
          <p:cNvSpPr/>
          <p:nvPr/>
        </p:nvSpPr>
        <p:spPr>
          <a:xfrm>
            <a:off x="8211741" y="5501759"/>
            <a:ext cx="4852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81"/>
              </a:lnSpc>
            </a:pPr>
            <a:r>
              <a:rPr lang="en-US" sz="909" dirty="0">
                <a:solidFill>
                  <a:srgbClr val="8D96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수취계좌</a:t>
            </a:r>
            <a:endParaRPr lang="en-US" sz="909" dirty="0"/>
          </a:p>
        </p:txBody>
      </p:sp>
      <p:sp>
        <p:nvSpPr>
          <p:cNvPr id="62" name="Text 39"/>
          <p:cNvSpPr/>
          <p:nvPr/>
        </p:nvSpPr>
        <p:spPr>
          <a:xfrm>
            <a:off x="9057799" y="5290245"/>
            <a:ext cx="895826" cy="16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80"/>
              </a:lnSpc>
            </a:pPr>
            <a:r>
              <a:rPr lang="en-US" sz="1097" dirty="0">
                <a:solidFill>
                  <a:srgbClr val="949C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123-456-****</a:t>
            </a:r>
            <a:endParaRPr lang="en-US" sz="1097" dirty="0"/>
          </a:p>
        </p:txBody>
      </p:sp>
      <p:sp>
        <p:nvSpPr>
          <p:cNvPr id="63" name="Text 40"/>
          <p:cNvSpPr/>
          <p:nvPr/>
        </p:nvSpPr>
        <p:spPr>
          <a:xfrm>
            <a:off x="8211741" y="5277802"/>
            <a:ext cx="485239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91"/>
              </a:lnSpc>
            </a:pPr>
            <a:r>
              <a:rPr lang="en-US" sz="909" dirty="0">
                <a:solidFill>
                  <a:srgbClr val="8E96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출금계좌</a:t>
            </a:r>
            <a:endParaRPr lang="en-US" sz="909" dirty="0"/>
          </a:p>
        </p:txBody>
      </p:sp>
      <p:sp>
        <p:nvSpPr>
          <p:cNvPr id="64" name="Text 41"/>
          <p:cNvSpPr/>
          <p:nvPr/>
        </p:nvSpPr>
        <p:spPr>
          <a:xfrm>
            <a:off x="9057800" y="5066288"/>
            <a:ext cx="958036" cy="16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44"/>
              </a:lnSpc>
            </a:pPr>
            <a:r>
              <a:rPr lang="en-US" sz="1139" dirty="0">
                <a:solidFill>
                  <a:srgbClr val="8E98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400,000,000원</a:t>
            </a:r>
            <a:endParaRPr lang="en-US" sz="1139" dirty="0"/>
          </a:p>
        </p:txBody>
      </p:sp>
      <p:sp>
        <p:nvSpPr>
          <p:cNvPr id="65" name="Text 42"/>
          <p:cNvSpPr/>
          <p:nvPr/>
        </p:nvSpPr>
        <p:spPr>
          <a:xfrm>
            <a:off x="8224183" y="5053846"/>
            <a:ext cx="472797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8"/>
              </a:lnSpc>
            </a:pPr>
            <a:r>
              <a:rPr lang="en-US" sz="903" dirty="0">
                <a:solidFill>
                  <a:srgbClr val="9BA3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거래금액</a:t>
            </a:r>
            <a:endParaRPr lang="en-US" sz="903" dirty="0"/>
          </a:p>
        </p:txBody>
      </p:sp>
      <p:sp>
        <p:nvSpPr>
          <p:cNvPr id="66" name="Text 43"/>
          <p:cNvSpPr/>
          <p:nvPr/>
        </p:nvSpPr>
        <p:spPr>
          <a:xfrm>
            <a:off x="9057799" y="4817447"/>
            <a:ext cx="1169551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20"/>
              </a:lnSpc>
            </a:pPr>
            <a:r>
              <a:rPr lang="en-US" sz="927" dirty="0">
                <a:solidFill>
                  <a:srgbClr val="949E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타행이체(모바일뱅킹)</a:t>
            </a:r>
            <a:endParaRPr lang="en-US" sz="927" dirty="0"/>
          </a:p>
        </p:txBody>
      </p:sp>
      <p:sp>
        <p:nvSpPr>
          <p:cNvPr id="67" name="Text 44"/>
          <p:cNvSpPr/>
          <p:nvPr/>
        </p:nvSpPr>
        <p:spPr>
          <a:xfrm>
            <a:off x="8211741" y="4817447"/>
            <a:ext cx="485239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99"/>
              </a:lnSpc>
            </a:pPr>
            <a:r>
              <a:rPr lang="en-US" sz="926" dirty="0">
                <a:solidFill>
                  <a:srgbClr val="8F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거래유형</a:t>
            </a:r>
            <a:endParaRPr lang="en-US" sz="926" dirty="0"/>
          </a:p>
        </p:txBody>
      </p:sp>
      <p:sp>
        <p:nvSpPr>
          <p:cNvPr id="68" name="Text 45"/>
          <p:cNvSpPr/>
          <p:nvPr/>
        </p:nvSpPr>
        <p:spPr>
          <a:xfrm>
            <a:off x="9057799" y="4593491"/>
            <a:ext cx="920710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03"/>
              </a:lnSpc>
            </a:pPr>
            <a:r>
              <a:rPr lang="en-US" sz="965" dirty="0">
                <a:solidFill>
                  <a:srgbClr val="959E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개인(여성, 60대)</a:t>
            </a:r>
            <a:endParaRPr lang="en-US" sz="965" dirty="0"/>
          </a:p>
        </p:txBody>
      </p:sp>
      <p:sp>
        <p:nvSpPr>
          <p:cNvPr id="69" name="Text 46"/>
          <p:cNvSpPr/>
          <p:nvPr/>
        </p:nvSpPr>
        <p:spPr>
          <a:xfrm>
            <a:off x="8211741" y="4593491"/>
            <a:ext cx="485239" cy="16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91"/>
              </a:lnSpc>
            </a:pPr>
            <a:r>
              <a:rPr lang="en-US" sz="926" dirty="0">
                <a:solidFill>
                  <a:srgbClr val="959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고객구분</a:t>
            </a:r>
            <a:endParaRPr lang="en-US" sz="926" dirty="0"/>
          </a:p>
        </p:txBody>
      </p:sp>
      <p:sp>
        <p:nvSpPr>
          <p:cNvPr id="70" name="Text 47"/>
          <p:cNvSpPr/>
          <p:nvPr/>
        </p:nvSpPr>
        <p:spPr>
          <a:xfrm>
            <a:off x="9057800" y="4357092"/>
            <a:ext cx="1331297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30"/>
              </a:lnSpc>
            </a:pPr>
            <a:r>
              <a:rPr lang="en-US" sz="977" b="1" dirty="0">
                <a:solidFill>
                  <a:srgbClr val="8F99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2026. 02. 20 10:24:17</a:t>
            </a:r>
            <a:endParaRPr lang="en-US" sz="977" dirty="0"/>
          </a:p>
        </p:txBody>
      </p:sp>
      <p:sp>
        <p:nvSpPr>
          <p:cNvPr id="71" name="Text 48"/>
          <p:cNvSpPr/>
          <p:nvPr/>
        </p:nvSpPr>
        <p:spPr>
          <a:xfrm>
            <a:off x="8211741" y="4357092"/>
            <a:ext cx="485239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61"/>
              </a:lnSpc>
            </a:pPr>
            <a:r>
              <a:rPr lang="en-US" sz="926" dirty="0">
                <a:solidFill>
                  <a:srgbClr val="969F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탐지시각</a:t>
            </a:r>
            <a:endParaRPr lang="en-US" sz="926" dirty="0"/>
          </a:p>
        </p:txBody>
      </p:sp>
      <p:sp>
        <p:nvSpPr>
          <p:cNvPr id="72" name="Text 49"/>
          <p:cNvSpPr/>
          <p:nvPr/>
        </p:nvSpPr>
        <p:spPr>
          <a:xfrm>
            <a:off x="8087321" y="4070925"/>
            <a:ext cx="908268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51"/>
              </a:lnSpc>
            </a:pPr>
            <a:r>
              <a:rPr lang="en-US" sz="1036" dirty="0">
                <a:solidFill>
                  <a:srgbClr val="687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거래 상세</a:t>
            </a:r>
            <a:endParaRPr lang="en-US" sz="1036" dirty="0"/>
          </a:p>
        </p:txBody>
      </p:sp>
      <p:sp>
        <p:nvSpPr>
          <p:cNvPr id="73" name="Shape 50"/>
          <p:cNvSpPr/>
          <p:nvPr/>
        </p:nvSpPr>
        <p:spPr>
          <a:xfrm>
            <a:off x="8087321" y="3212425"/>
            <a:ext cx="2699921" cy="746522"/>
          </a:xfrm>
          <a:prstGeom prst="roundRect">
            <a:avLst>
              <a:gd name="adj" fmla="val 3750"/>
            </a:avLst>
          </a:prstGeom>
          <a:solidFill>
            <a:srgbClr val="FCEAEB"/>
          </a:solidFill>
          <a:ln w="9525">
            <a:solidFill>
              <a:srgbClr val="FAECEE"/>
            </a:solidFill>
            <a:prstDash val="solid"/>
          </a:ln>
        </p:spPr>
      </p:sp>
      <p:sp>
        <p:nvSpPr>
          <p:cNvPr id="74" name="Text 51"/>
          <p:cNvSpPr/>
          <p:nvPr/>
        </p:nvSpPr>
        <p:spPr>
          <a:xfrm>
            <a:off x="8634770" y="3523476"/>
            <a:ext cx="1940957" cy="33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54"/>
              </a:lnSpc>
            </a:pPr>
            <a:r>
              <a:rPr lang="en-US" sz="682" dirty="0">
                <a:solidFill>
                  <a:srgbClr val="ABA3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금응보인인 이싱거래 탐자들어 따라 추가 학인이</a:t>
            </a:r>
            <a:endParaRPr lang="en-US" sz="682" dirty="0"/>
          </a:p>
          <a:p>
            <a:pPr>
              <a:lnSpc>
                <a:spcPts val="854"/>
              </a:lnSpc>
            </a:pPr>
            <a:r>
              <a:rPr lang="en-US" sz="682" dirty="0">
                <a:solidFill>
                  <a:srgbClr val="ABA3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거래입니다.</a:t>
            </a:r>
            <a:endParaRPr lang="en-US" sz="682" dirty="0"/>
          </a:p>
        </p:txBody>
      </p:sp>
      <p:sp>
        <p:nvSpPr>
          <p:cNvPr id="75" name="Text 52"/>
          <p:cNvSpPr/>
          <p:nvPr/>
        </p:nvSpPr>
        <p:spPr>
          <a:xfrm>
            <a:off x="8634770" y="3311961"/>
            <a:ext cx="1679674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01"/>
              </a:lnSpc>
            </a:pPr>
            <a:r>
              <a:rPr lang="en-US" sz="880" dirty="0">
                <a:solidFill>
                  <a:srgbClr val="F060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이상금응거래가 탐지되었습니다.</a:t>
            </a:r>
            <a:endParaRPr lang="en-US" sz="880" dirty="0"/>
          </a:p>
        </p:txBody>
      </p:sp>
      <p:pic>
        <p:nvPicPr>
          <p:cNvPr id="76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24183" y="3423940"/>
            <a:ext cx="335935" cy="335935"/>
          </a:xfrm>
          <a:prstGeom prst="rect">
            <a:avLst/>
          </a:prstGeom>
        </p:spPr>
      </p:pic>
      <p:sp>
        <p:nvSpPr>
          <p:cNvPr id="77" name="Text 53"/>
          <p:cNvSpPr/>
          <p:nvPr/>
        </p:nvSpPr>
        <p:spPr>
          <a:xfrm>
            <a:off x="8099763" y="2864048"/>
            <a:ext cx="945594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62"/>
              </a:lnSpc>
            </a:pPr>
            <a:r>
              <a:rPr lang="en-US" sz="1118" dirty="0">
                <a:solidFill>
                  <a:srgbClr val="606B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 탐지 알림</a:t>
            </a:r>
            <a:endParaRPr lang="en-US" sz="1118" dirty="0"/>
          </a:p>
        </p:txBody>
      </p:sp>
      <p:pic>
        <p:nvPicPr>
          <p:cNvPr id="78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1052" y="3722548"/>
            <a:ext cx="4864834" cy="2712363"/>
          </a:xfrm>
          <a:prstGeom prst="rect">
            <a:avLst/>
          </a:prstGeom>
        </p:spPr>
      </p:pic>
      <p:pic>
        <p:nvPicPr>
          <p:cNvPr id="79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965841" y="5364896"/>
            <a:ext cx="24884" cy="174188"/>
          </a:xfrm>
          <a:prstGeom prst="rect">
            <a:avLst/>
          </a:prstGeom>
        </p:spPr>
      </p:pic>
      <p:pic>
        <p:nvPicPr>
          <p:cNvPr id="80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68081" y="4419303"/>
            <a:ext cx="2874109" cy="1729442"/>
          </a:xfrm>
          <a:prstGeom prst="rect">
            <a:avLst/>
          </a:prstGeom>
        </p:spPr>
      </p:pic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7218" y="5302686"/>
            <a:ext cx="236399" cy="273725"/>
          </a:xfrm>
          <a:prstGeom prst="rect">
            <a:avLst/>
          </a:prstGeom>
        </p:spPr>
      </p:pic>
      <p:pic>
        <p:nvPicPr>
          <p:cNvPr id="82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04095" y="4867216"/>
            <a:ext cx="24884" cy="161746"/>
          </a:xfrm>
          <a:prstGeom prst="rect">
            <a:avLst/>
          </a:prstGeom>
        </p:spPr>
      </p:pic>
      <p:pic>
        <p:nvPicPr>
          <p:cNvPr id="83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9891" y="4792563"/>
            <a:ext cx="298609" cy="298609"/>
          </a:xfrm>
          <a:prstGeom prst="rect">
            <a:avLst/>
          </a:prstGeom>
        </p:spPr>
      </p:pic>
      <p:pic>
        <p:nvPicPr>
          <p:cNvPr id="84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04095" y="4369535"/>
            <a:ext cx="24884" cy="161746"/>
          </a:xfrm>
          <a:prstGeom prst="rect">
            <a:avLst/>
          </a:prstGeom>
        </p:spPr>
      </p:pic>
      <p:pic>
        <p:nvPicPr>
          <p:cNvPr id="85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2333" y="4294881"/>
            <a:ext cx="273725" cy="273725"/>
          </a:xfrm>
          <a:prstGeom prst="rect">
            <a:avLst/>
          </a:prstGeom>
        </p:spPr>
      </p:pic>
      <p:sp>
        <p:nvSpPr>
          <p:cNvPr id="86" name="Shape 54"/>
          <p:cNvSpPr/>
          <p:nvPr/>
        </p:nvSpPr>
        <p:spPr>
          <a:xfrm>
            <a:off x="348377" y="2192178"/>
            <a:ext cx="4777740" cy="1866305"/>
          </a:xfrm>
          <a:prstGeom prst="rect">
            <a:avLst/>
          </a:prstGeom>
          <a:solidFill>
            <a:srgbClr val="EAF2FB"/>
          </a:solidFill>
          <a:ln w="38100">
            <a:solidFill>
              <a:srgbClr val="F9FBFE"/>
            </a:solidFill>
            <a:prstDash val="solid"/>
          </a:ln>
        </p:spPr>
      </p:sp>
      <p:pic>
        <p:nvPicPr>
          <p:cNvPr id="87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23030" y="2403693"/>
            <a:ext cx="1555254" cy="1605022"/>
          </a:xfrm>
          <a:prstGeom prst="rect">
            <a:avLst/>
          </a:prstGeom>
        </p:spPr>
      </p:pic>
      <p:sp>
        <p:nvSpPr>
          <p:cNvPr id="88" name="Text 55"/>
          <p:cNvSpPr/>
          <p:nvPr/>
        </p:nvSpPr>
        <p:spPr>
          <a:xfrm>
            <a:off x="2065377" y="3299519"/>
            <a:ext cx="2612827" cy="60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89"/>
              </a:lnSpc>
            </a:pPr>
            <a:r>
              <a:rPr lang="en-US" sz="1383" dirty="0">
                <a:solidFill>
                  <a:srgbClr val="909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“탐지된 사건을 빠르게 파악하고</a:t>
            </a:r>
            <a:endParaRPr lang="en-US" sz="1383" dirty="0"/>
          </a:p>
          <a:p>
            <a:pPr>
              <a:lnSpc>
                <a:spcPts val="1989"/>
              </a:lnSpc>
            </a:pPr>
            <a:r>
              <a:rPr lang="en-US" sz="1383" dirty="0">
                <a:solidFill>
                  <a:srgbClr val="909C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대응을 시작해요."</a:t>
            </a:r>
            <a:endParaRPr lang="en-US" sz="1383" dirty="0"/>
          </a:p>
        </p:txBody>
      </p:sp>
      <p:sp>
        <p:nvSpPr>
          <p:cNvPr id="89" name="Text 56"/>
          <p:cNvSpPr/>
          <p:nvPr/>
        </p:nvSpPr>
        <p:spPr>
          <a:xfrm>
            <a:off x="2065377" y="2951142"/>
            <a:ext cx="2513290" cy="29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29"/>
              </a:lnSpc>
            </a:pPr>
            <a:r>
              <a:rPr lang="en-US" sz="1592" dirty="0">
                <a:solidFill>
                  <a:srgbClr val="6D76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이상거래 후속 대응 담당자</a:t>
            </a:r>
            <a:endParaRPr lang="en-US" sz="1592" dirty="0"/>
          </a:p>
        </p:txBody>
      </p:sp>
      <p:sp>
        <p:nvSpPr>
          <p:cNvPr id="90" name="Text 57"/>
          <p:cNvSpPr/>
          <p:nvPr/>
        </p:nvSpPr>
        <p:spPr>
          <a:xfrm>
            <a:off x="3371791" y="2602766"/>
            <a:ext cx="423029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69"/>
              </a:lnSpc>
            </a:pPr>
            <a:r>
              <a:rPr lang="en-US" sz="1232" dirty="0">
                <a:solidFill>
                  <a:srgbClr val="717D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(가명)</a:t>
            </a:r>
            <a:endParaRPr lang="en-US" sz="1232" dirty="0"/>
          </a:p>
        </p:txBody>
      </p:sp>
      <p:sp>
        <p:nvSpPr>
          <p:cNvPr id="91" name="Text 58"/>
          <p:cNvSpPr/>
          <p:nvPr/>
        </p:nvSpPr>
        <p:spPr>
          <a:xfrm>
            <a:off x="2065378" y="2515671"/>
            <a:ext cx="1256645" cy="3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55"/>
              </a:lnSpc>
            </a:pPr>
            <a:r>
              <a:rPr lang="en-US" sz="1794" dirty="0">
                <a:solidFill>
                  <a:srgbClr val="303B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김지연 대리</a:t>
            </a:r>
            <a:endParaRPr lang="en-US" sz="1794" dirty="0"/>
          </a:p>
        </p:txBody>
      </p:sp>
      <p:sp>
        <p:nvSpPr>
          <p:cNvPr id="92" name="Text 59"/>
          <p:cNvSpPr/>
          <p:nvPr/>
        </p:nvSpPr>
        <p:spPr>
          <a:xfrm>
            <a:off x="2127588" y="5290244"/>
            <a:ext cx="2276892" cy="84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40"/>
              </a:lnSpc>
            </a:pPr>
            <a:r>
              <a:rPr lang="en-US" sz="1236" dirty="0">
                <a:solidFill>
                  <a:srgbClr val="7885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 탐지 건 검토</a:t>
            </a:r>
            <a:endParaRPr lang="en-US" sz="1236" dirty="0"/>
          </a:p>
          <a:p>
            <a:pPr>
              <a:lnSpc>
                <a:spcPts val="1540"/>
              </a:lnSpc>
            </a:pPr>
            <a:r>
              <a:rPr lang="en-US" sz="1236" dirty="0">
                <a:solidFill>
                  <a:srgbClr val="7885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확인 사항 정리</a:t>
            </a:r>
            <a:endParaRPr lang="en-US" sz="1236" dirty="0"/>
          </a:p>
          <a:p>
            <a:pPr>
              <a:lnSpc>
                <a:spcPts val="1540"/>
              </a:lnSpc>
            </a:pPr>
            <a:r>
              <a:rPr lang="en-US" sz="1236" dirty="0">
                <a:solidFill>
                  <a:srgbClr val="7885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사실확인 담당자에게 전달</a:t>
            </a:r>
            <a:endParaRPr lang="en-US" sz="1236" dirty="0"/>
          </a:p>
        </p:txBody>
      </p:sp>
      <p:sp>
        <p:nvSpPr>
          <p:cNvPr id="93" name="Text 60"/>
          <p:cNvSpPr/>
          <p:nvPr/>
        </p:nvSpPr>
        <p:spPr>
          <a:xfrm>
            <a:off x="1070015" y="5315129"/>
            <a:ext cx="758964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8"/>
              </a:lnSpc>
            </a:pPr>
            <a:r>
              <a:rPr lang="en-US" sz="1443" dirty="0">
                <a:solidFill>
                  <a:srgbClr val="5962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</a:t>
            </a:r>
            <a:endParaRPr lang="en-US" sz="1443" dirty="0"/>
          </a:p>
        </p:txBody>
      </p:sp>
      <p:sp>
        <p:nvSpPr>
          <p:cNvPr id="94" name="Text 61"/>
          <p:cNvSpPr/>
          <p:nvPr/>
        </p:nvSpPr>
        <p:spPr>
          <a:xfrm>
            <a:off x="1953400" y="4817447"/>
            <a:ext cx="510123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US" sz="1327" dirty="0">
                <a:solidFill>
                  <a:srgbClr val="7E89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차</a:t>
            </a:r>
            <a:endParaRPr lang="en-US" sz="1327" dirty="0"/>
          </a:p>
        </p:txBody>
      </p:sp>
      <p:sp>
        <p:nvSpPr>
          <p:cNvPr id="95" name="Text 62"/>
          <p:cNvSpPr/>
          <p:nvPr/>
        </p:nvSpPr>
        <p:spPr>
          <a:xfrm>
            <a:off x="1082457" y="4805005"/>
            <a:ext cx="348377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40"/>
              </a:lnSpc>
            </a:pPr>
            <a:r>
              <a:rPr lang="en-US" sz="1331" dirty="0">
                <a:solidFill>
                  <a:srgbClr val="5D6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</a:t>
            </a:r>
            <a:endParaRPr lang="en-US" sz="1331" dirty="0"/>
          </a:p>
        </p:txBody>
      </p:sp>
      <p:sp>
        <p:nvSpPr>
          <p:cNvPr id="96" name="Text 63"/>
          <p:cNvSpPr/>
          <p:nvPr/>
        </p:nvSpPr>
        <p:spPr>
          <a:xfrm>
            <a:off x="1953400" y="4307323"/>
            <a:ext cx="2052935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234" dirty="0">
                <a:solidFill>
                  <a:srgbClr val="7D89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금융사 이상거래 모니터링팀</a:t>
            </a:r>
            <a:endParaRPr lang="en-US" sz="1234" dirty="0"/>
          </a:p>
        </p:txBody>
      </p:sp>
      <p:sp>
        <p:nvSpPr>
          <p:cNvPr id="97" name="Text 64"/>
          <p:cNvSpPr/>
          <p:nvPr/>
        </p:nvSpPr>
        <p:spPr>
          <a:xfrm>
            <a:off x="1070015" y="4319765"/>
            <a:ext cx="360819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43"/>
              </a:lnSpc>
            </a:pPr>
            <a:r>
              <a:rPr lang="en-US" sz="1378" dirty="0">
                <a:solidFill>
                  <a:srgbClr val="636B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</a:t>
            </a:r>
            <a:endParaRPr lang="en-US" sz="1378" dirty="0"/>
          </a:p>
        </p:txBody>
      </p:sp>
      <p:pic>
        <p:nvPicPr>
          <p:cNvPr id="98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22871" y="3934063"/>
            <a:ext cx="410587" cy="447913"/>
          </a:xfrm>
          <a:prstGeom prst="rect">
            <a:avLst/>
          </a:prstGeom>
        </p:spPr>
      </p:pic>
      <p:sp>
        <p:nvSpPr>
          <p:cNvPr id="99" name="Text 65"/>
          <p:cNvSpPr/>
          <p:nvPr/>
        </p:nvSpPr>
        <p:spPr>
          <a:xfrm>
            <a:off x="4640878" y="5352454"/>
            <a:ext cx="2077819" cy="54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85"/>
              </a:lnSpc>
            </a:pPr>
            <a:r>
              <a:rPr lang="en-US" sz="1268" dirty="0">
                <a:solidFill>
                  <a:srgbClr val="818D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없는데,</a:t>
            </a:r>
            <a:endParaRPr lang="en-US" sz="1268" dirty="0"/>
          </a:p>
          <a:p>
            <a:pPr>
              <a:lnSpc>
                <a:spcPts val="1585"/>
              </a:lnSpc>
            </a:pPr>
            <a:r>
              <a:rPr lang="en-US" sz="1268" dirty="0">
                <a:solidFill>
                  <a:srgbClr val="818D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무엇을 확인해야 하지?</a:t>
            </a:r>
            <a:endParaRPr lang="en-US" sz="1268" dirty="0"/>
          </a:p>
        </p:txBody>
      </p:sp>
      <p:sp>
        <p:nvSpPr>
          <p:cNvPr id="100" name="Text 66"/>
          <p:cNvSpPr/>
          <p:nvPr/>
        </p:nvSpPr>
        <p:spPr>
          <a:xfrm>
            <a:off x="4640878" y="5091171"/>
            <a:ext cx="2052935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8"/>
              </a:lnSpc>
            </a:pPr>
            <a:r>
              <a:rPr lang="en-US" sz="1232" dirty="0">
                <a:solidFill>
                  <a:srgbClr val="7A8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왜 이체했는지까자는</a:t>
            </a:r>
            <a:endParaRPr lang="en-US" sz="1232" dirty="0"/>
          </a:p>
        </p:txBody>
      </p:sp>
      <p:sp>
        <p:nvSpPr>
          <p:cNvPr id="101" name="Text 67"/>
          <p:cNvSpPr/>
          <p:nvPr/>
        </p:nvSpPr>
        <p:spPr>
          <a:xfrm>
            <a:off x="4640878" y="4817447"/>
            <a:ext cx="1057573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46"/>
              </a:lnSpc>
            </a:pPr>
            <a:r>
              <a:rPr lang="en-US" sz="1272" dirty="0">
                <a:solidFill>
                  <a:srgbClr val="7C8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정보만으로</a:t>
            </a:r>
            <a:endParaRPr lang="en-US" sz="1272" dirty="0"/>
          </a:p>
        </p:txBody>
      </p:sp>
      <p:sp>
        <p:nvSpPr>
          <p:cNvPr id="102" name="Text 68"/>
          <p:cNvSpPr/>
          <p:nvPr/>
        </p:nvSpPr>
        <p:spPr>
          <a:xfrm>
            <a:off x="423030" y="1619845"/>
            <a:ext cx="124544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61"/>
              </a:lnSpc>
            </a:pPr>
            <a:r>
              <a:rPr lang="en-US" sz="2124" dirty="0">
                <a:solidFill>
                  <a:srgbClr val="7481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FDS가 탐지한 이상거래를 처음 확인하고, 어떤 내용을 추가로 확인해야 하는지 판단 · 정리하는 사람</a:t>
            </a:r>
            <a:endParaRPr lang="en-US" sz="2124" dirty="0"/>
          </a:p>
        </p:txBody>
      </p:sp>
      <p:sp>
        <p:nvSpPr>
          <p:cNvPr id="103" name="Text 69"/>
          <p:cNvSpPr/>
          <p:nvPr/>
        </p:nvSpPr>
        <p:spPr>
          <a:xfrm>
            <a:off x="423029" y="736461"/>
            <a:ext cx="8734306" cy="84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5643"/>
              </a:lnSpc>
            </a:pPr>
            <a:r>
              <a:rPr lang="en-US" sz="5877" b="1" dirty="0">
                <a:solidFill>
                  <a:srgbClr val="172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이상거래</a:t>
            </a:r>
            <a:r>
              <a:rPr lang="en-US" sz="5877" b="1" dirty="0">
                <a:solidFill>
                  <a:srgbClr val="DD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대응</a:t>
            </a:r>
            <a:r>
              <a:rPr lang="en-US" sz="5877" b="1" dirty="0">
                <a:solidFill>
                  <a:srgbClr val="172A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5877" dirty="0"/>
          </a:p>
        </p:txBody>
      </p:sp>
      <p:sp>
        <p:nvSpPr>
          <p:cNvPr id="104" name="Shape 70"/>
          <p:cNvSpPr/>
          <p:nvPr/>
        </p:nvSpPr>
        <p:spPr>
          <a:xfrm>
            <a:off x="2301776" y="450295"/>
            <a:ext cx="13288089" cy="12442"/>
          </a:xfrm>
          <a:prstGeom prst="rect">
            <a:avLst/>
          </a:prstGeom>
          <a:solidFill>
            <a:srgbClr val="4F6896"/>
          </a:solidFill>
          <a:ln/>
        </p:spPr>
      </p:sp>
      <p:sp>
        <p:nvSpPr>
          <p:cNvPr id="105" name="Text 71"/>
          <p:cNvSpPr/>
          <p:nvPr/>
        </p:nvSpPr>
        <p:spPr>
          <a:xfrm>
            <a:off x="1244204" y="201453"/>
            <a:ext cx="833616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66"/>
              </a:lnSpc>
            </a:pPr>
            <a:r>
              <a:rPr lang="en-US" sz="1592" dirty="0">
                <a:solidFill>
                  <a:srgbClr val="5871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</a:t>
            </a:r>
            <a:endParaRPr lang="en-US" sz="1592" dirty="0"/>
          </a:p>
        </p:txBody>
      </p:sp>
      <p:sp>
        <p:nvSpPr>
          <p:cNvPr id="106" name="Shape 72"/>
          <p:cNvSpPr/>
          <p:nvPr/>
        </p:nvSpPr>
        <p:spPr>
          <a:xfrm>
            <a:off x="373261" y="139244"/>
            <a:ext cx="671870" cy="435471"/>
          </a:xfrm>
          <a:prstGeom prst="roundRect">
            <a:avLst>
              <a:gd name="adj" fmla="val 11429"/>
            </a:avLst>
          </a:prstGeom>
          <a:solidFill>
            <a:srgbClr val="00194B"/>
          </a:solidFill>
          <a:ln w="9525">
            <a:solidFill>
              <a:srgbClr val="0A1544"/>
            </a:solidFill>
            <a:prstDash val="solid"/>
          </a:ln>
        </p:spPr>
      </p:sp>
      <p:sp>
        <p:nvSpPr>
          <p:cNvPr id="107" name="Text 73"/>
          <p:cNvSpPr/>
          <p:nvPr/>
        </p:nvSpPr>
        <p:spPr>
          <a:xfrm>
            <a:off x="547450" y="226337"/>
            <a:ext cx="335935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sz="1852" b="1" dirty="0">
                <a:solidFill>
                  <a:srgbClr val="AB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8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"/>
            <a:ext cx="15925800" cy="8958263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3" name="Shape 1"/>
          <p:cNvSpPr/>
          <p:nvPr/>
        </p:nvSpPr>
        <p:spPr>
          <a:xfrm>
            <a:off x="10837009" y="5601295"/>
            <a:ext cx="4927044" cy="3160276"/>
          </a:xfrm>
          <a:prstGeom prst="rect">
            <a:avLst/>
          </a:prstGeom>
          <a:solidFill>
            <a:srgbClr val="FAFBFC"/>
          </a:solidFill>
          <a:ln w="9525">
            <a:solidFill>
              <a:srgbClr val="FDFDF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894" y="7654230"/>
            <a:ext cx="4864834" cy="103268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2944" y="8015049"/>
            <a:ext cx="273725" cy="2363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07952" y="7753767"/>
            <a:ext cx="2115145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7"/>
              </a:lnSpc>
            </a:pPr>
            <a:r>
              <a:rPr lang="en-US" sz="1150" dirty="0">
                <a:solidFill>
                  <a:srgbClr val="5E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통화에서 신뢰를 형성하지 못해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3546" y="7268527"/>
            <a:ext cx="149304" cy="17418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5618" y="7218759"/>
            <a:ext cx="286167" cy="286167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2712" y="6982360"/>
            <a:ext cx="124420" cy="199073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5618" y="6708635"/>
            <a:ext cx="286167" cy="273725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5618" y="6161186"/>
            <a:ext cx="286167" cy="497681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10861894" y="5626179"/>
            <a:ext cx="4864834" cy="423029"/>
          </a:xfrm>
          <a:prstGeom prst="roundRect">
            <a:avLst>
              <a:gd name="adj" fmla="val 5147"/>
            </a:avLst>
          </a:prstGeom>
          <a:solidFill>
            <a:srgbClr val="022156"/>
          </a:solidFill>
          <a:ln w="9525">
            <a:solidFill>
              <a:srgbClr val="516388"/>
            </a:solidFill>
            <a:prstDash val="solid"/>
          </a:ln>
        </p:spPr>
      </p:sp>
      <p:sp>
        <p:nvSpPr>
          <p:cNvPr id="13" name="Text 4"/>
          <p:cNvSpPr/>
          <p:nvPr/>
        </p:nvSpPr>
        <p:spPr>
          <a:xfrm>
            <a:off x="11123176" y="5700832"/>
            <a:ext cx="4056102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1"/>
              </a:lnSpc>
            </a:pPr>
            <a:r>
              <a:rPr lang="en-US" sz="1323" dirty="0">
                <a:solidFill>
                  <a:srgbClr val="9CA6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통화 이후 실제로 어떻게 되었나 (보도 내용 기반)</a:t>
            </a:r>
            <a:endParaRPr lang="en-US" sz="1323" dirty="0"/>
          </a:p>
        </p:txBody>
      </p:sp>
      <p:sp>
        <p:nvSpPr>
          <p:cNvPr id="14" name="Text 5"/>
          <p:cNvSpPr/>
          <p:nvPr/>
        </p:nvSpPr>
        <p:spPr>
          <a:xfrm>
            <a:off x="14009727" y="8724245"/>
            <a:ext cx="1667232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66"/>
              </a:lnSpc>
            </a:pPr>
            <a:r>
              <a:rPr lang="en-US" sz="1040" dirty="0">
                <a:solidFill>
                  <a:srgbClr val="949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YTN, 2026.02.23 보도</a:t>
            </a:r>
            <a:endParaRPr lang="en-US" sz="1040" dirty="0"/>
          </a:p>
        </p:txBody>
      </p:sp>
      <p:sp>
        <p:nvSpPr>
          <p:cNvPr id="15" name="Text 6"/>
          <p:cNvSpPr/>
          <p:nvPr/>
        </p:nvSpPr>
        <p:spPr>
          <a:xfrm>
            <a:off x="12852618" y="7231201"/>
            <a:ext cx="174188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22"/>
              </a:lnSpc>
            </a:pPr>
            <a:r>
              <a:rPr lang="en-US" sz="1330" dirty="0">
                <a:solidFill>
                  <a:srgbClr val="E167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15억6천만원</a:t>
            </a:r>
            <a:r>
              <a:rPr lang="en-US" sz="1330" dirty="0">
                <a:solidFill>
                  <a:srgbClr val="7E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 발생</a:t>
            </a:r>
            <a:endParaRPr lang="en-US" sz="1330" dirty="0"/>
          </a:p>
        </p:txBody>
      </p:sp>
      <p:sp>
        <p:nvSpPr>
          <p:cNvPr id="16" name="Text 7"/>
          <p:cNvSpPr/>
          <p:nvPr/>
        </p:nvSpPr>
        <p:spPr>
          <a:xfrm>
            <a:off x="11620858" y="7243643"/>
            <a:ext cx="311051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46"/>
              </a:lnSpc>
            </a:pPr>
            <a:r>
              <a:rPr lang="en-US" sz="1189" dirty="0">
                <a:solidFill>
                  <a:srgbClr val="6772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최중</a:t>
            </a:r>
            <a:endParaRPr lang="en-US" sz="1189" dirty="0"/>
          </a:p>
        </p:txBody>
      </p:sp>
      <p:sp>
        <p:nvSpPr>
          <p:cNvPr id="17" name="Text 8"/>
          <p:cNvSpPr/>
          <p:nvPr/>
        </p:nvSpPr>
        <p:spPr>
          <a:xfrm>
            <a:off x="12653546" y="6721078"/>
            <a:ext cx="1804095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4"/>
              </a:lnSpc>
            </a:pPr>
            <a:r>
              <a:rPr lang="en-US" sz="1153" dirty="0">
                <a:solidFill>
                  <a:srgbClr val="7D86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3개 계좌로 추가 송금</a:t>
            </a:r>
            <a:endParaRPr lang="en-US" sz="1153" dirty="0"/>
          </a:p>
        </p:txBody>
      </p:sp>
      <p:sp>
        <p:nvSpPr>
          <p:cNvPr id="18" name="Text 9"/>
          <p:cNvSpPr/>
          <p:nvPr/>
        </p:nvSpPr>
        <p:spPr>
          <a:xfrm>
            <a:off x="11620858" y="6733520"/>
            <a:ext cx="311051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46"/>
              </a:lnSpc>
            </a:pPr>
            <a:r>
              <a:rPr lang="en-US" sz="1189" dirty="0">
                <a:solidFill>
                  <a:srgbClr val="677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189" dirty="0"/>
          </a:p>
        </p:txBody>
      </p:sp>
      <p:sp>
        <p:nvSpPr>
          <p:cNvPr id="19" name="Text 10"/>
          <p:cNvSpPr/>
          <p:nvPr/>
        </p:nvSpPr>
        <p:spPr>
          <a:xfrm>
            <a:off x="12653546" y="6098976"/>
            <a:ext cx="291143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17"/>
              </a:lnSpc>
            </a:pPr>
            <a:r>
              <a:rPr lang="en-US" sz="1053" dirty="0">
                <a:solidFill>
                  <a:srgbClr val="808B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송금 (4억 원)</a:t>
            </a:r>
            <a:endParaRPr lang="en-US" sz="1053" dirty="0"/>
          </a:p>
          <a:p>
            <a:pPr>
              <a:lnSpc>
                <a:spcPts val="1317"/>
              </a:lnSpc>
            </a:pPr>
            <a:r>
              <a:rPr lang="en-US" sz="1053" dirty="0">
                <a:solidFill>
                  <a:srgbClr val="808B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 이상거래로 판단하여 두 차례 거래 제한</a:t>
            </a:r>
            <a:endParaRPr lang="en-US" sz="1053" dirty="0"/>
          </a:p>
        </p:txBody>
      </p:sp>
      <p:sp>
        <p:nvSpPr>
          <p:cNvPr id="20" name="Text 11"/>
          <p:cNvSpPr/>
          <p:nvPr/>
        </p:nvSpPr>
        <p:spPr>
          <a:xfrm>
            <a:off x="11608415" y="6186071"/>
            <a:ext cx="671870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38"/>
              </a:lnSpc>
            </a:pPr>
            <a:r>
              <a:rPr lang="en-US" sz="1283" dirty="0">
                <a:solidFill>
                  <a:srgbClr val="626E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20일</a:t>
            </a:r>
            <a:endParaRPr lang="en-US" sz="1283" dirty="0"/>
          </a:p>
        </p:txBody>
      </p:sp>
      <p:sp>
        <p:nvSpPr>
          <p:cNvPr id="21" name="Shape 12"/>
          <p:cNvSpPr/>
          <p:nvPr/>
        </p:nvSpPr>
        <p:spPr>
          <a:xfrm>
            <a:off x="10837010" y="2279273"/>
            <a:ext cx="4914602" cy="3222486"/>
          </a:xfrm>
          <a:prstGeom prst="rect">
            <a:avLst/>
          </a:prstGeom>
          <a:solidFill>
            <a:srgbClr val="FEF7F7"/>
          </a:solidFill>
          <a:ln w="19050">
            <a:solidFill>
              <a:srgbClr val="FDF9F9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10936546" y="4693027"/>
            <a:ext cx="4665762" cy="709196"/>
          </a:xfrm>
          <a:prstGeom prst="rect">
            <a:avLst/>
          </a:prstGeom>
          <a:solidFill>
            <a:srgbClr val="FDF7F7"/>
          </a:solidFill>
          <a:ln/>
        </p:spPr>
      </p:sp>
      <p:sp>
        <p:nvSpPr>
          <p:cNvPr id="23" name="Shape 14"/>
          <p:cNvSpPr/>
          <p:nvPr/>
        </p:nvSpPr>
        <p:spPr>
          <a:xfrm>
            <a:off x="11048524" y="4792563"/>
            <a:ext cx="497681" cy="497681"/>
          </a:xfrm>
          <a:prstGeom prst="roundRect">
            <a:avLst>
              <a:gd name="adj" fmla="val 49375"/>
            </a:avLst>
          </a:prstGeom>
          <a:solidFill>
            <a:srgbClr val="FDDFDF"/>
          </a:solidFill>
          <a:ln w="9525">
            <a:solidFill>
              <a:srgbClr val="FDE9E9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11135618" y="4916984"/>
            <a:ext cx="32349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sz="1999" dirty="0">
                <a:solidFill>
                  <a:srgbClr val="DD3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99" dirty="0"/>
          </a:p>
        </p:txBody>
      </p:sp>
      <p:sp>
        <p:nvSpPr>
          <p:cNvPr id="25" name="Text 16"/>
          <p:cNvSpPr/>
          <p:nvPr/>
        </p:nvSpPr>
        <p:spPr>
          <a:xfrm>
            <a:off x="11819930" y="4755237"/>
            <a:ext cx="3645515" cy="572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31"/>
              </a:lnSpc>
            </a:pPr>
            <a:r>
              <a:rPr lang="en-US" sz="1228" dirty="0">
                <a:solidFill>
                  <a:srgbClr val="838E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확인과 설득을 동시에 해야 해</a:t>
            </a:r>
            <a:endParaRPr lang="en-US" sz="1228" dirty="0"/>
          </a:p>
          <a:p>
            <a:pPr>
              <a:lnSpc>
                <a:spcPts val="1531"/>
              </a:lnSpc>
            </a:pPr>
            <a:r>
              <a:rPr lang="en-US" sz="1228" dirty="0">
                <a:solidFill>
                  <a:srgbClr val="838E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순서 표현에 따라 대응 결과가 크게 달라진다.</a:t>
            </a:r>
            <a:endParaRPr lang="en-US" sz="1228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98756" y="4643259"/>
            <a:ext cx="4591110" cy="3732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1819931" y="3971389"/>
            <a:ext cx="3371790" cy="572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77"/>
              </a:lnSpc>
            </a:pPr>
            <a:r>
              <a:rPr lang="en-US" sz="1232" dirty="0">
                <a:solidFill>
                  <a:srgbClr val="808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통화 시간 안에 고객의 상황, 거래 목적,</a:t>
            </a:r>
            <a:endParaRPr lang="en-US" sz="1232" dirty="0"/>
          </a:p>
          <a:p>
            <a:pPr>
              <a:lnSpc>
                <a:spcPts val="1677"/>
              </a:lnSpc>
            </a:pPr>
            <a:r>
              <a:rPr lang="en-US" sz="1232" dirty="0">
                <a:solidFill>
                  <a:srgbClr val="808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지시받은 내용 등을 충분히 파악하기 어렵다.</a:t>
            </a:r>
            <a:endParaRPr lang="en-US" sz="1232" dirty="0"/>
          </a:p>
        </p:txBody>
      </p:sp>
      <p:sp>
        <p:nvSpPr>
          <p:cNvPr id="28" name="Shape 18"/>
          <p:cNvSpPr/>
          <p:nvPr/>
        </p:nvSpPr>
        <p:spPr>
          <a:xfrm>
            <a:off x="11048524" y="4008715"/>
            <a:ext cx="497681" cy="497681"/>
          </a:xfrm>
          <a:prstGeom prst="roundRect">
            <a:avLst>
              <a:gd name="adj" fmla="val 50000"/>
            </a:avLst>
          </a:prstGeom>
          <a:solidFill>
            <a:srgbClr val="FDE0DF"/>
          </a:solidFill>
          <a:ln w="19050">
            <a:solidFill>
              <a:srgbClr val="FDEEEE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11135618" y="4133136"/>
            <a:ext cx="32349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sz="1929" dirty="0">
                <a:solidFill>
                  <a:srgbClr val="DD4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29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98756" y="3846968"/>
            <a:ext cx="4591110" cy="497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1807488" y="3187541"/>
            <a:ext cx="2737247" cy="572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98"/>
              </a:lnSpc>
            </a:pPr>
            <a:r>
              <a:rPr lang="en-US" sz="1200" dirty="0">
                <a:solidFill>
                  <a:srgbClr val="7F8A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범죄조적의 설명을 신뢰하고 있어</a:t>
            </a:r>
            <a:endParaRPr lang="en-US" sz="1200" dirty="0"/>
          </a:p>
          <a:p>
            <a:pPr>
              <a:lnSpc>
                <a:spcPts val="1498"/>
              </a:lnSpc>
            </a:pPr>
            <a:r>
              <a:rPr lang="en-US" sz="1200" dirty="0">
                <a:solidFill>
                  <a:srgbClr val="7F8A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은행의 안내를 받아들이지 않는다.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11048524" y="3224867"/>
            <a:ext cx="497681" cy="497681"/>
          </a:xfrm>
          <a:prstGeom prst="roundRect">
            <a:avLst>
              <a:gd name="adj" fmla="val 49375"/>
            </a:avLst>
          </a:prstGeom>
          <a:solidFill>
            <a:srgbClr val="FDDFDF"/>
          </a:solidFill>
          <a:ln w="19050">
            <a:solidFill>
              <a:srgbClr val="FDEEEE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11135618" y="3349288"/>
            <a:ext cx="32349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892" dirty="0">
                <a:solidFill>
                  <a:srgbClr val="DA38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92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1197" y="3050679"/>
            <a:ext cx="4578668" cy="6221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1807488" y="2391252"/>
            <a:ext cx="2898993" cy="58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2"/>
              </a:lnSpc>
            </a:pPr>
            <a:r>
              <a:rPr lang="en-US" sz="1181" dirty="0">
                <a:solidFill>
                  <a:srgbClr val="7E89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은행 적원의 신원을 먼저 의심하여</a:t>
            </a:r>
            <a:endParaRPr lang="en-US" sz="1181" dirty="0"/>
          </a:p>
          <a:p>
            <a:pPr>
              <a:lnSpc>
                <a:spcPts val="1472"/>
              </a:lnSpc>
            </a:pPr>
            <a:r>
              <a:rPr lang="en-US" sz="1181" dirty="0">
                <a:solidFill>
                  <a:srgbClr val="7E89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확인으로 바로 들어가기 어렵다.</a:t>
            </a:r>
            <a:endParaRPr lang="en-US" sz="1181" dirty="0"/>
          </a:p>
        </p:txBody>
      </p:sp>
      <p:sp>
        <p:nvSpPr>
          <p:cNvPr id="36" name="Shape 24"/>
          <p:cNvSpPr/>
          <p:nvPr/>
        </p:nvSpPr>
        <p:spPr>
          <a:xfrm>
            <a:off x="11048524" y="2428577"/>
            <a:ext cx="497681" cy="497681"/>
          </a:xfrm>
          <a:prstGeom prst="roundRect">
            <a:avLst>
              <a:gd name="adj" fmla="val 49375"/>
            </a:avLst>
          </a:prstGeom>
          <a:solidFill>
            <a:srgbClr val="FDDFDF"/>
          </a:solidFill>
          <a:ln w="19050">
            <a:solidFill>
              <a:srgbClr val="FDEFEF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11160502" y="2552998"/>
            <a:ext cx="273725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330"/>
              </a:lnSpc>
            </a:pPr>
            <a:r>
              <a:rPr lang="en-US" sz="1773" b="1" dirty="0">
                <a:solidFill>
                  <a:srgbClr val="DE4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773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37009" y="1856243"/>
            <a:ext cx="4902160" cy="423029"/>
          </a:xfrm>
          <a:prstGeom prst="rect">
            <a:avLst/>
          </a:prstGeom>
        </p:spPr>
      </p:pic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98756" y="1906011"/>
            <a:ext cx="348377" cy="348377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1434227" y="1930895"/>
            <a:ext cx="2077819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62"/>
              </a:lnSpc>
            </a:pPr>
            <a:r>
              <a:rPr lang="en-US" sz="1436" dirty="0">
                <a:solidFill>
                  <a:srgbClr val="E351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담당자가 겪는 어려움</a:t>
            </a:r>
            <a:endParaRPr lang="en-US" sz="1436" dirty="0"/>
          </a:p>
        </p:txBody>
      </p:sp>
      <p:sp>
        <p:nvSpPr>
          <p:cNvPr id="41" name="Shape 27"/>
          <p:cNvSpPr/>
          <p:nvPr/>
        </p:nvSpPr>
        <p:spPr>
          <a:xfrm>
            <a:off x="161746" y="6360259"/>
            <a:ext cx="4329827" cy="2451080"/>
          </a:xfrm>
          <a:prstGeom prst="rect">
            <a:avLst/>
          </a:prstGeom>
          <a:solidFill>
            <a:srgbClr val="FBFCFC"/>
          </a:solidFill>
          <a:ln/>
        </p:spPr>
      </p:sp>
      <p:sp>
        <p:nvSpPr>
          <p:cNvPr id="42" name="Shape 28"/>
          <p:cNvSpPr/>
          <p:nvPr/>
        </p:nvSpPr>
        <p:spPr>
          <a:xfrm>
            <a:off x="248840" y="6758404"/>
            <a:ext cx="4205407" cy="2003167"/>
          </a:xfrm>
          <a:prstGeom prst="roundRect">
            <a:avLst>
              <a:gd name="adj" fmla="val 6366"/>
            </a:avLst>
          </a:prstGeom>
          <a:solidFill>
            <a:srgbClr val="F5F8FB"/>
          </a:solidFill>
          <a:ln/>
        </p:spPr>
      </p:sp>
      <p:sp>
        <p:nvSpPr>
          <p:cNvPr id="43" name="Shape 29"/>
          <p:cNvSpPr/>
          <p:nvPr/>
        </p:nvSpPr>
        <p:spPr>
          <a:xfrm>
            <a:off x="360819" y="8301216"/>
            <a:ext cx="3956566" cy="360819"/>
          </a:xfrm>
          <a:prstGeom prst="rect">
            <a:avLst/>
          </a:prstGeom>
          <a:solidFill>
            <a:srgbClr val="F0F5FA"/>
          </a:solidFill>
          <a:ln w="9525">
            <a:solidFill>
              <a:srgbClr val="F6FAFD"/>
            </a:solidFill>
            <a:prstDash val="solid"/>
          </a:ln>
        </p:spPr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101" y="8338542"/>
            <a:ext cx="273725" cy="286167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1219320" y="8350984"/>
            <a:ext cx="277457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11"/>
              </a:lnSpc>
            </a:pPr>
            <a:r>
              <a:rPr lang="en-US" sz="1194" dirty="0">
                <a:solidFill>
                  <a:srgbClr val="7C89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위헙 상황임을 안내하고 거래 중단 설득</a:t>
            </a:r>
            <a:endParaRPr lang="en-US" sz="1194" dirty="0"/>
          </a:p>
        </p:txBody>
      </p:sp>
      <p:sp>
        <p:nvSpPr>
          <p:cNvPr id="46" name="Shape 31"/>
          <p:cNvSpPr/>
          <p:nvPr/>
        </p:nvSpPr>
        <p:spPr>
          <a:xfrm>
            <a:off x="385703" y="7952839"/>
            <a:ext cx="3906798" cy="323493"/>
          </a:xfrm>
          <a:prstGeom prst="roundRect">
            <a:avLst>
              <a:gd name="adj" fmla="val 2885"/>
            </a:avLst>
          </a:prstGeom>
          <a:solidFill>
            <a:srgbClr val="F0F5FA"/>
          </a:solidFill>
          <a:ln/>
        </p:spPr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101" y="7977723"/>
            <a:ext cx="273725" cy="273725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1206877" y="7990165"/>
            <a:ext cx="2861667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9"/>
              </a:lnSpc>
            </a:pPr>
            <a:r>
              <a:rPr lang="en-US" sz="1185" dirty="0">
                <a:solidFill>
                  <a:srgbClr val="788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송금 가능성 및 다른 계좌 여부 확인</a:t>
            </a:r>
            <a:endParaRPr lang="en-US" sz="1185" dirty="0"/>
          </a:p>
        </p:txBody>
      </p:sp>
      <p:sp>
        <p:nvSpPr>
          <p:cNvPr id="49" name="Text 33"/>
          <p:cNvSpPr/>
          <p:nvPr/>
        </p:nvSpPr>
        <p:spPr>
          <a:xfrm>
            <a:off x="646986" y="8039933"/>
            <a:ext cx="211515" cy="14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0"/>
              </a:lnSpc>
            </a:pPr>
            <a:r>
              <a:rPr lang="en-US" sz="971" dirty="0">
                <a:solidFill>
                  <a:srgbClr val="BDCB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71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2101" y="7604462"/>
            <a:ext cx="273725" cy="286167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410588" y="7206317"/>
            <a:ext cx="3869472" cy="335935"/>
          </a:xfrm>
          <a:prstGeom prst="roundRect">
            <a:avLst>
              <a:gd name="adj" fmla="val 2778"/>
            </a:avLst>
          </a:prstGeom>
          <a:solidFill>
            <a:srgbClr val="F1F6FA"/>
          </a:solidFill>
          <a:ln/>
        </p:spPr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101" y="7243643"/>
            <a:ext cx="273725" cy="273725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1206877" y="7256085"/>
            <a:ext cx="1965841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95"/>
              </a:lnSpc>
            </a:pPr>
            <a:r>
              <a:rPr lang="en-US" sz="1177" dirty="0">
                <a:solidFill>
                  <a:srgbClr val="7684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거래 목적 및 배경 확인</a:t>
            </a:r>
            <a:endParaRPr lang="en-US" sz="1177" dirty="0"/>
          </a:p>
        </p:txBody>
      </p:sp>
      <p:sp>
        <p:nvSpPr>
          <p:cNvPr id="54" name="Text 36"/>
          <p:cNvSpPr/>
          <p:nvPr/>
        </p:nvSpPr>
        <p:spPr>
          <a:xfrm>
            <a:off x="646986" y="7293411"/>
            <a:ext cx="211515" cy="14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0"/>
              </a:lnSpc>
            </a:pPr>
            <a:r>
              <a:rPr lang="en-US" sz="971" b="1" dirty="0">
                <a:solidFill>
                  <a:srgbClr val="C1CF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71" dirty="0"/>
          </a:p>
        </p:txBody>
      </p:sp>
      <p:sp>
        <p:nvSpPr>
          <p:cNvPr id="55" name="Shape 37"/>
          <p:cNvSpPr/>
          <p:nvPr/>
        </p:nvSpPr>
        <p:spPr>
          <a:xfrm>
            <a:off x="373262" y="6808172"/>
            <a:ext cx="3944124" cy="373261"/>
          </a:xfrm>
          <a:prstGeom prst="rect">
            <a:avLst/>
          </a:prstGeom>
          <a:solidFill>
            <a:srgbClr val="F1F6FA"/>
          </a:solidFill>
          <a:ln/>
        </p:spPr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101" y="6870383"/>
            <a:ext cx="273725" cy="286167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1206877" y="6882824"/>
            <a:ext cx="1418392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197" dirty="0">
                <a:solidFill>
                  <a:srgbClr val="7B88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본인 여부 확인</a:t>
            </a:r>
            <a:endParaRPr lang="en-US" sz="1197" dirty="0"/>
          </a:p>
        </p:txBody>
      </p:sp>
      <p:sp>
        <p:nvSpPr>
          <p:cNvPr id="58" name="Text 39"/>
          <p:cNvSpPr/>
          <p:nvPr/>
        </p:nvSpPr>
        <p:spPr>
          <a:xfrm>
            <a:off x="659429" y="6932592"/>
            <a:ext cx="186630" cy="14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30"/>
              </a:lnSpc>
            </a:pPr>
            <a:r>
              <a:rPr lang="en-US" sz="1284" dirty="0">
                <a:solidFill>
                  <a:srgbClr val="BDCB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84" dirty="0"/>
          </a:p>
        </p:txBody>
      </p:sp>
      <p:sp>
        <p:nvSpPr>
          <p:cNvPr id="59" name="Shape 40"/>
          <p:cNvSpPr/>
          <p:nvPr/>
        </p:nvSpPr>
        <p:spPr>
          <a:xfrm>
            <a:off x="223956" y="6385143"/>
            <a:ext cx="4255175" cy="373261"/>
          </a:xfrm>
          <a:prstGeom prst="rect">
            <a:avLst/>
          </a:prstGeom>
          <a:solidFill>
            <a:srgbClr val="012763"/>
          </a:solidFill>
          <a:ln/>
        </p:spPr>
      </p:sp>
      <p:sp>
        <p:nvSpPr>
          <p:cNvPr id="60" name="Text 41"/>
          <p:cNvSpPr/>
          <p:nvPr/>
        </p:nvSpPr>
        <p:spPr>
          <a:xfrm>
            <a:off x="472798" y="6434911"/>
            <a:ext cx="2600385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57"/>
              </a:lnSpc>
            </a:pPr>
            <a:r>
              <a:rPr lang="en-US" sz="1483" dirty="0">
                <a:solidFill>
                  <a:srgbClr val="9EAA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중 확인하려는 주요 사항</a:t>
            </a:r>
            <a:endParaRPr lang="en-US" sz="1483" dirty="0"/>
          </a:p>
        </p:txBody>
      </p:sp>
      <p:sp>
        <p:nvSpPr>
          <p:cNvPr id="61" name="Text 42"/>
          <p:cNvSpPr/>
          <p:nvPr/>
        </p:nvSpPr>
        <p:spPr>
          <a:xfrm>
            <a:off x="1206878" y="7616904"/>
            <a:ext cx="2575500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5"/>
              </a:lnSpc>
            </a:pPr>
            <a:r>
              <a:rPr lang="en-US" sz="1199" dirty="0">
                <a:solidFill>
                  <a:srgbClr val="818D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누구의 권유나 지시를 받았는지 확인</a:t>
            </a:r>
            <a:endParaRPr lang="en-US" sz="1199" dirty="0"/>
          </a:p>
        </p:txBody>
      </p:sp>
      <p:sp>
        <p:nvSpPr>
          <p:cNvPr id="62" name="Text 43"/>
          <p:cNvSpPr/>
          <p:nvPr/>
        </p:nvSpPr>
        <p:spPr>
          <a:xfrm>
            <a:off x="646986" y="7654230"/>
            <a:ext cx="211515" cy="14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6"/>
              </a:lnSpc>
            </a:pPr>
            <a:r>
              <a:rPr lang="en-US" sz="1167" dirty="0">
                <a:solidFill>
                  <a:srgbClr val="BDCB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67" dirty="0"/>
          </a:p>
        </p:txBody>
      </p:sp>
      <p:sp>
        <p:nvSpPr>
          <p:cNvPr id="63" name="Shape 44"/>
          <p:cNvSpPr/>
          <p:nvPr/>
        </p:nvSpPr>
        <p:spPr>
          <a:xfrm>
            <a:off x="4578668" y="1756707"/>
            <a:ext cx="6146363" cy="6544508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64" name="Shape 45"/>
          <p:cNvSpPr/>
          <p:nvPr/>
        </p:nvSpPr>
        <p:spPr>
          <a:xfrm>
            <a:off x="4628436" y="8039933"/>
            <a:ext cx="6084153" cy="709196"/>
          </a:xfrm>
          <a:prstGeom prst="roundRect">
            <a:avLst>
              <a:gd name="adj" fmla="val 12281"/>
            </a:avLst>
          </a:prstGeom>
          <a:solidFill>
            <a:srgbClr val="FCEFEF"/>
          </a:solidFill>
          <a:ln/>
        </p:spPr>
      </p:sp>
      <p:sp>
        <p:nvSpPr>
          <p:cNvPr id="65" name="Text 46"/>
          <p:cNvSpPr/>
          <p:nvPr/>
        </p:nvSpPr>
        <p:spPr>
          <a:xfrm>
            <a:off x="5387399" y="8127027"/>
            <a:ext cx="502658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87"/>
              </a:lnSpc>
            </a:pPr>
            <a:r>
              <a:rPr lang="en-US" sz="1063" dirty="0">
                <a:solidFill>
                  <a:srgbClr val="AB83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은행 적원</a:t>
            </a:r>
            <a:r>
              <a:rPr lang="en-US" sz="1063" dirty="0">
                <a:solidFill>
                  <a:srgbClr val="838B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신원을 계속 의심하며, 핵심 사실 확인까지 진행되지 못한 채
</a:t>
            </a:r>
            <a:r>
              <a:rPr lang="en-US" sz="1063" dirty="0">
                <a:solidFill>
                  <a:srgbClr val="A782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설득이</a:t>
            </a:r>
            <a:r>
              <a:rPr lang="en-US" sz="1063" dirty="0">
                <a:solidFill>
                  <a:srgbClr val="838B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상태로 통화가 중료팀.</a:t>
            </a:r>
            <a:endParaRPr lang="en-US" sz="1063" dirty="0"/>
          </a:p>
        </p:txBody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39951" y="8114585"/>
            <a:ext cx="385703" cy="373261"/>
          </a:xfrm>
          <a:prstGeom prst="rect">
            <a:avLst/>
          </a:prstGeom>
        </p:spPr>
      </p:pic>
      <p:sp>
        <p:nvSpPr>
          <p:cNvPr id="67" name="Shape 47"/>
          <p:cNvSpPr/>
          <p:nvPr/>
        </p:nvSpPr>
        <p:spPr>
          <a:xfrm>
            <a:off x="8124647" y="7293411"/>
            <a:ext cx="2451080" cy="597218"/>
          </a:xfrm>
          <a:prstGeom prst="roundRect">
            <a:avLst>
              <a:gd name="adj" fmla="val 14583"/>
            </a:avLst>
          </a:prstGeom>
          <a:solidFill>
            <a:srgbClr val="FCECEC"/>
          </a:solidFill>
          <a:ln w="9525">
            <a:solidFill>
              <a:srgbClr val="FDEFEF"/>
            </a:solidFill>
            <a:prstDash val="solid"/>
          </a:ln>
        </p:spPr>
      </p:sp>
      <p:sp>
        <p:nvSpPr>
          <p:cNvPr id="68" name="Text 48"/>
          <p:cNvSpPr/>
          <p:nvPr/>
        </p:nvSpPr>
        <p:spPr>
          <a:xfrm>
            <a:off x="8348603" y="7318295"/>
            <a:ext cx="1940957" cy="52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84"/>
              </a:lnSpc>
            </a:pPr>
            <a:r>
              <a:rPr lang="en-US" sz="1174" dirty="0">
                <a:solidFill>
                  <a:srgbClr val="A57D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중요하죠. 제가 제 돈 가지고</a:t>
            </a:r>
            <a:endParaRPr lang="en-US" sz="1174" dirty="0"/>
          </a:p>
          <a:p>
            <a:pPr>
              <a:lnSpc>
                <a:spcPts val="1684"/>
              </a:lnSpc>
            </a:pPr>
            <a:r>
              <a:rPr lang="en-US" sz="1174" dirty="0">
                <a:solidFill>
                  <a:srgbClr val="A57D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마음대로 하는데</a:t>
            </a:r>
            <a:endParaRPr lang="en-US" sz="1174" dirty="0"/>
          </a:p>
        </p:txBody>
      </p:sp>
      <p:sp>
        <p:nvSpPr>
          <p:cNvPr id="69" name="Shape 49"/>
          <p:cNvSpPr/>
          <p:nvPr/>
        </p:nvSpPr>
        <p:spPr>
          <a:xfrm>
            <a:off x="5350073" y="6621541"/>
            <a:ext cx="2264450" cy="821174"/>
          </a:xfrm>
          <a:prstGeom prst="roundRect">
            <a:avLst>
              <a:gd name="adj" fmla="val 6061"/>
            </a:avLst>
          </a:prstGeom>
          <a:solidFill>
            <a:srgbClr val="EAF3FD"/>
          </a:solidFill>
          <a:ln w="9525">
            <a:solidFill>
              <a:srgbClr val="EEF4FC"/>
            </a:solidFill>
            <a:prstDash val="solid"/>
          </a:ln>
        </p:spPr>
      </p:sp>
      <p:sp>
        <p:nvSpPr>
          <p:cNvPr id="70" name="Text 50"/>
          <p:cNvSpPr/>
          <p:nvPr/>
        </p:nvSpPr>
        <p:spPr>
          <a:xfrm>
            <a:off x="5586472" y="6633983"/>
            <a:ext cx="1804095" cy="771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75"/>
              </a:lnSpc>
            </a:pPr>
            <a:r>
              <a:rPr lang="en-US" sz="1248" dirty="0">
                <a:solidFill>
                  <a:srgbClr val="7A8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중요한 게 아니고</a:t>
            </a:r>
            <a:endParaRPr lang="en-US" sz="1248" dirty="0"/>
          </a:p>
          <a:p>
            <a:pPr>
              <a:lnSpc>
                <a:spcPts val="1675"/>
              </a:lnSpc>
            </a:pPr>
            <a:r>
              <a:rPr lang="en-US" sz="1248" dirty="0">
                <a:solidFill>
                  <a:srgbClr val="7A8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피해를 더 이상 예방하기</a:t>
            </a:r>
            <a:endParaRPr lang="en-US" sz="1248" dirty="0"/>
          </a:p>
          <a:p>
            <a:pPr>
              <a:lnSpc>
                <a:spcPts val="1675"/>
              </a:lnSpc>
            </a:pPr>
            <a:r>
              <a:rPr lang="en-US" sz="1248" dirty="0">
                <a:solidFill>
                  <a:srgbClr val="7A8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방지하려면 경찰서...</a:t>
            </a:r>
            <a:endParaRPr lang="en-US" sz="1248" dirty="0"/>
          </a:p>
        </p:txBody>
      </p:sp>
      <p:sp>
        <p:nvSpPr>
          <p:cNvPr id="71" name="Shape 51"/>
          <p:cNvSpPr/>
          <p:nvPr/>
        </p:nvSpPr>
        <p:spPr>
          <a:xfrm>
            <a:off x="7813596" y="5675947"/>
            <a:ext cx="2762131" cy="1119783"/>
          </a:xfrm>
          <a:prstGeom prst="roundRect">
            <a:avLst>
              <a:gd name="adj" fmla="val 4444"/>
            </a:avLst>
          </a:prstGeom>
          <a:solidFill>
            <a:srgbClr val="FCEBEC"/>
          </a:solidFill>
          <a:ln w="9525">
            <a:solidFill>
              <a:srgbClr val="FDF0F1"/>
            </a:solidFill>
            <a:prstDash val="solid"/>
          </a:ln>
        </p:spPr>
      </p:sp>
      <p:sp>
        <p:nvSpPr>
          <p:cNvPr id="72" name="Text 52"/>
          <p:cNvSpPr/>
          <p:nvPr/>
        </p:nvSpPr>
        <p:spPr>
          <a:xfrm>
            <a:off x="8037553" y="5700831"/>
            <a:ext cx="2326660" cy="104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92"/>
              </a:lnSpc>
            </a:pPr>
            <a:r>
              <a:rPr lang="en-US" sz="1223" dirty="0">
                <a:solidFill>
                  <a:srgbClr val="9F77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거기에 누구세요?</a:t>
            </a:r>
            <a:endParaRPr lang="en-US" sz="1223" dirty="0"/>
          </a:p>
          <a:p>
            <a:pPr>
              <a:lnSpc>
                <a:spcPts val="1792"/>
              </a:lnSpc>
            </a:pPr>
            <a:r>
              <a:rPr lang="en-US" sz="1223" dirty="0">
                <a:solidFill>
                  <a:srgbClr val="9F77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국가기관이 그걸 안 가르쳐줘요?</a:t>
            </a:r>
            <a:endParaRPr lang="en-US" sz="1223" dirty="0"/>
          </a:p>
          <a:p>
            <a:pPr>
              <a:lnSpc>
                <a:spcPts val="1792"/>
              </a:lnSpc>
            </a:pPr>
            <a:r>
              <a:rPr lang="en-US" sz="1223" dirty="0">
                <a:solidFill>
                  <a:srgbClr val="9F77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그래야 제가 나중에 저기 하면</a:t>
            </a:r>
            <a:endParaRPr lang="en-US" sz="1223" dirty="0"/>
          </a:p>
          <a:p>
            <a:pPr>
              <a:lnSpc>
                <a:spcPts val="1792"/>
              </a:lnSpc>
            </a:pPr>
            <a:r>
              <a:rPr lang="en-US" sz="1223" dirty="0">
                <a:solidFill>
                  <a:srgbClr val="9F77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감사라도 인사드리지.</a:t>
            </a:r>
            <a:endParaRPr lang="en-US" sz="1223" dirty="0"/>
          </a:p>
        </p:txBody>
      </p:sp>
      <p:sp>
        <p:nvSpPr>
          <p:cNvPr id="73" name="Shape 53"/>
          <p:cNvSpPr/>
          <p:nvPr/>
        </p:nvSpPr>
        <p:spPr>
          <a:xfrm>
            <a:off x="7490103" y="3983831"/>
            <a:ext cx="3085624" cy="833616"/>
          </a:xfrm>
          <a:prstGeom prst="roundRect">
            <a:avLst>
              <a:gd name="adj" fmla="val 8955"/>
            </a:avLst>
          </a:prstGeom>
          <a:solidFill>
            <a:srgbClr val="FCEBEC"/>
          </a:solidFill>
          <a:ln/>
        </p:spPr>
      </p:sp>
      <p:sp>
        <p:nvSpPr>
          <p:cNvPr id="74" name="Text 54"/>
          <p:cNvSpPr/>
          <p:nvPr/>
        </p:nvSpPr>
        <p:spPr>
          <a:xfrm>
            <a:off x="7714059" y="3996273"/>
            <a:ext cx="2811899" cy="758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85"/>
              </a:lnSpc>
            </a:pPr>
            <a:r>
              <a:rPr lang="en-US" sz="1210" dirty="0">
                <a:solidFill>
                  <a:srgbClr val="A47D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저한테 이 얘기를 해주는 사람이</a:t>
            </a:r>
            <a:endParaRPr lang="en-US" sz="1210" dirty="0"/>
          </a:p>
          <a:p>
            <a:pPr>
              <a:lnSpc>
                <a:spcPts val="1585"/>
              </a:lnSpc>
            </a:pPr>
            <a:r>
              <a:rPr lang="en-US" sz="1210" dirty="0">
                <a:solidFill>
                  <a:srgbClr val="A47D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00은행 누군지는 알고 있어야 되잖아요.</a:t>
            </a:r>
            <a:endParaRPr lang="en-US" sz="1210" dirty="0"/>
          </a:p>
          <a:p>
            <a:pPr>
              <a:lnSpc>
                <a:spcPts val="1585"/>
              </a:lnSpc>
            </a:pPr>
            <a:r>
              <a:rPr lang="en-US" sz="1210" dirty="0">
                <a:solidFill>
                  <a:srgbClr val="A47D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 감사하니까.</a:t>
            </a:r>
            <a:endParaRPr lang="en-US" sz="1210" dirty="0"/>
          </a:p>
        </p:txBody>
      </p:sp>
      <p:pic>
        <p:nvPicPr>
          <p:cNvPr id="75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25111" y="4805005"/>
            <a:ext cx="87094" cy="870942"/>
          </a:xfrm>
          <a:prstGeom prst="rect">
            <a:avLst/>
          </a:prstGeom>
        </p:spPr>
      </p:pic>
      <p:sp>
        <p:nvSpPr>
          <p:cNvPr id="76" name="Shape 55"/>
          <p:cNvSpPr/>
          <p:nvPr/>
        </p:nvSpPr>
        <p:spPr>
          <a:xfrm>
            <a:off x="5350074" y="4854774"/>
            <a:ext cx="2600385" cy="808732"/>
          </a:xfrm>
          <a:prstGeom prst="roundRect">
            <a:avLst>
              <a:gd name="adj" fmla="val 9231"/>
            </a:avLst>
          </a:prstGeom>
          <a:solidFill>
            <a:srgbClr val="EBF3FD"/>
          </a:solidFill>
          <a:ln/>
        </p:spPr>
      </p:sp>
      <p:sp>
        <p:nvSpPr>
          <p:cNvPr id="77" name="Text 56"/>
          <p:cNvSpPr/>
          <p:nvPr/>
        </p:nvSpPr>
        <p:spPr>
          <a:xfrm>
            <a:off x="5574030" y="4867215"/>
            <a:ext cx="220224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7"/>
              </a:lnSpc>
            </a:pPr>
            <a:r>
              <a:rPr lang="en-US" sz="1207" dirty="0">
                <a:solidFill>
                  <a:srgbClr val="7380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00은행 000부라고</a:t>
            </a:r>
            <a:endParaRPr lang="en-US" sz="1207" dirty="0"/>
          </a:p>
          <a:p>
            <a:pPr>
              <a:lnSpc>
                <a:spcPts val="1507"/>
              </a:lnSpc>
            </a:pPr>
            <a:r>
              <a:rPr lang="en-US" sz="1207" dirty="0">
                <a:solidFill>
                  <a:srgbClr val="7380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보이스피싱 대응하는 팀이에요.</a:t>
            </a:r>
            <a:endParaRPr lang="en-US" sz="1207" dirty="0"/>
          </a:p>
          <a:p>
            <a:pPr>
              <a:lnSpc>
                <a:spcPts val="1507"/>
              </a:lnSpc>
            </a:pPr>
            <a:r>
              <a:rPr lang="en-US" sz="1207" dirty="0">
                <a:solidFill>
                  <a:srgbClr val="7380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저희들은</a:t>
            </a:r>
            <a:endParaRPr lang="en-US" sz="1207" dirty="0"/>
          </a:p>
        </p:txBody>
      </p:sp>
      <p:sp>
        <p:nvSpPr>
          <p:cNvPr id="78" name="Shape 57"/>
          <p:cNvSpPr/>
          <p:nvPr/>
        </p:nvSpPr>
        <p:spPr>
          <a:xfrm>
            <a:off x="5350074" y="3112889"/>
            <a:ext cx="2724805" cy="808732"/>
          </a:xfrm>
          <a:prstGeom prst="roundRect">
            <a:avLst>
              <a:gd name="adj" fmla="val 9231"/>
            </a:avLst>
          </a:prstGeom>
          <a:solidFill>
            <a:srgbClr val="EAF3FD"/>
          </a:solidFill>
          <a:ln/>
        </p:spPr>
      </p:sp>
      <p:sp>
        <p:nvSpPr>
          <p:cNvPr id="79" name="Text 58"/>
          <p:cNvSpPr/>
          <p:nvPr/>
        </p:nvSpPr>
        <p:spPr>
          <a:xfrm>
            <a:off x="5561588" y="3125331"/>
            <a:ext cx="228933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96"/>
              </a:lnSpc>
            </a:pPr>
            <a:r>
              <a:rPr lang="en-US" sz="1262" dirty="0">
                <a:solidFill>
                  <a:srgbClr val="7785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경찰서로 가세요.</a:t>
            </a:r>
            <a:endParaRPr lang="en-US" sz="1262" dirty="0"/>
          </a:p>
          <a:p>
            <a:pPr>
              <a:lnSpc>
                <a:spcPts val="1696"/>
              </a:lnSpc>
            </a:pPr>
            <a:r>
              <a:rPr lang="en-US" sz="1262" dirty="0">
                <a:solidFill>
                  <a:srgbClr val="7785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경찰서로...</a:t>
            </a:r>
            <a:endParaRPr lang="en-US" sz="1262" dirty="0"/>
          </a:p>
          <a:p>
            <a:pPr>
              <a:lnSpc>
                <a:spcPts val="1696"/>
              </a:lnSpc>
            </a:pPr>
            <a:r>
              <a:rPr lang="en-US" sz="1262" dirty="0">
                <a:solidFill>
                  <a:srgbClr val="7785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 가서 해결될 문깨가 아니..</a:t>
            </a:r>
            <a:endParaRPr lang="en-US" sz="1262" dirty="0"/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40414" y="3000911"/>
            <a:ext cx="5860197" cy="62210"/>
          </a:xfrm>
          <a:prstGeom prst="rect">
            <a:avLst/>
          </a:prstGeom>
        </p:spPr>
      </p:pic>
      <p:pic>
        <p:nvPicPr>
          <p:cNvPr id="81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37553" y="2416135"/>
            <a:ext cx="62210" cy="572333"/>
          </a:xfrm>
          <a:prstGeom prst="rect">
            <a:avLst/>
          </a:prstGeom>
        </p:spPr>
      </p:pic>
      <p:sp>
        <p:nvSpPr>
          <p:cNvPr id="82" name="Shape 59"/>
          <p:cNvSpPr/>
          <p:nvPr/>
        </p:nvSpPr>
        <p:spPr>
          <a:xfrm>
            <a:off x="4615994" y="1856244"/>
            <a:ext cx="6096595" cy="485239"/>
          </a:xfrm>
          <a:prstGeom prst="roundRect">
            <a:avLst>
              <a:gd name="adj" fmla="val 3846"/>
            </a:avLst>
          </a:prstGeom>
          <a:solidFill>
            <a:srgbClr val="ECF3FD"/>
          </a:solidFill>
          <a:ln/>
        </p:spPr>
      </p:sp>
      <p:pic>
        <p:nvPicPr>
          <p:cNvPr id="8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77741" y="1918454"/>
            <a:ext cx="385703" cy="385703"/>
          </a:xfrm>
          <a:prstGeom prst="rect">
            <a:avLst/>
          </a:prstGeom>
        </p:spPr>
      </p:pic>
      <p:sp>
        <p:nvSpPr>
          <p:cNvPr id="84" name="Text 60"/>
          <p:cNvSpPr/>
          <p:nvPr/>
        </p:nvSpPr>
        <p:spPr>
          <a:xfrm>
            <a:off x="5362516" y="1955780"/>
            <a:ext cx="2886551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sz="1696" dirty="0">
                <a:solidFill>
                  <a:srgbClr val="516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통화 내용</a:t>
            </a:r>
            <a:endParaRPr lang="en-US" sz="1402" dirty="0"/>
          </a:p>
          <a:p>
            <a:pPr>
              <a:lnSpc>
                <a:spcPts val="1470"/>
              </a:lnSpc>
            </a:pPr>
            <a:r>
              <a:rPr lang="en-US" sz="1402" dirty="0">
                <a:solidFill>
                  <a:srgbClr val="7484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(YTN 보도 사례 기반)</a:t>
            </a:r>
            <a:endParaRPr lang="en-US" sz="1402" dirty="0"/>
          </a:p>
        </p:txBody>
      </p:sp>
      <p:sp>
        <p:nvSpPr>
          <p:cNvPr id="85" name="Text 61"/>
          <p:cNvSpPr/>
          <p:nvPr/>
        </p:nvSpPr>
        <p:spPr>
          <a:xfrm>
            <a:off x="4839950" y="7567137"/>
            <a:ext cx="3732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2"/>
              </a:lnSpc>
            </a:pPr>
            <a:r>
              <a:rPr lang="en-US" sz="1048" dirty="0">
                <a:solidFill>
                  <a:srgbClr val="9DAE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10:30</a:t>
            </a:r>
            <a:endParaRPr lang="en-US" sz="1048" dirty="0"/>
          </a:p>
        </p:txBody>
      </p:sp>
      <p:sp>
        <p:nvSpPr>
          <p:cNvPr id="86" name="Text 62"/>
          <p:cNvSpPr/>
          <p:nvPr/>
        </p:nvSpPr>
        <p:spPr>
          <a:xfrm>
            <a:off x="4839950" y="6932592"/>
            <a:ext cx="373261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65"/>
              </a:lnSpc>
            </a:pPr>
            <a:r>
              <a:rPr lang="en-US" sz="1123" dirty="0">
                <a:solidFill>
                  <a:srgbClr val="98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10:29</a:t>
            </a:r>
            <a:endParaRPr lang="en-US" sz="1123" dirty="0"/>
          </a:p>
        </p:txBody>
      </p:sp>
      <p:sp>
        <p:nvSpPr>
          <p:cNvPr id="87" name="Text 63"/>
          <p:cNvSpPr/>
          <p:nvPr/>
        </p:nvSpPr>
        <p:spPr>
          <a:xfrm>
            <a:off x="4839950" y="6111419"/>
            <a:ext cx="3732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28"/>
              </a:lnSpc>
            </a:pPr>
            <a:r>
              <a:rPr lang="en-US" sz="1114" dirty="0">
                <a:solidFill>
                  <a:srgbClr val="9DAE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10:27</a:t>
            </a:r>
            <a:endParaRPr lang="en-US" sz="1114" dirty="0"/>
          </a:p>
        </p:txBody>
      </p:sp>
      <p:sp>
        <p:nvSpPr>
          <p:cNvPr id="88" name="Text 64"/>
          <p:cNvSpPr/>
          <p:nvPr/>
        </p:nvSpPr>
        <p:spPr>
          <a:xfrm>
            <a:off x="4839950" y="5103614"/>
            <a:ext cx="3732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2"/>
              </a:lnSpc>
            </a:pPr>
            <a:r>
              <a:rPr lang="en-US" sz="1108" dirty="0">
                <a:solidFill>
                  <a:srgbClr val="98A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10:26</a:t>
            </a:r>
            <a:endParaRPr lang="en-US" sz="1108" dirty="0"/>
          </a:p>
        </p:txBody>
      </p:sp>
      <p:sp>
        <p:nvSpPr>
          <p:cNvPr id="89" name="Text 65"/>
          <p:cNvSpPr/>
          <p:nvPr/>
        </p:nvSpPr>
        <p:spPr>
          <a:xfrm>
            <a:off x="4839950" y="4307324"/>
            <a:ext cx="3732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2"/>
              </a:lnSpc>
            </a:pPr>
            <a:r>
              <a:rPr lang="en-US" sz="1108" dirty="0">
                <a:solidFill>
                  <a:srgbClr val="9EAF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10:25</a:t>
            </a:r>
            <a:endParaRPr lang="en-US" sz="1108" dirty="0"/>
          </a:p>
        </p:txBody>
      </p:sp>
      <p:sp>
        <p:nvSpPr>
          <p:cNvPr id="90" name="Text 66"/>
          <p:cNvSpPr/>
          <p:nvPr/>
        </p:nvSpPr>
        <p:spPr>
          <a:xfrm>
            <a:off x="4839950" y="3249752"/>
            <a:ext cx="3732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61"/>
              </a:lnSpc>
            </a:pPr>
            <a:r>
              <a:rPr lang="en-US" sz="1114" dirty="0">
                <a:solidFill>
                  <a:srgbClr val="96A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10:24</a:t>
            </a:r>
            <a:endParaRPr lang="en-US" sz="1114" dirty="0"/>
          </a:p>
        </p:txBody>
      </p:sp>
      <p:sp>
        <p:nvSpPr>
          <p:cNvPr id="91" name="Text 67"/>
          <p:cNvSpPr/>
          <p:nvPr/>
        </p:nvSpPr>
        <p:spPr>
          <a:xfrm>
            <a:off x="8759191" y="2714744"/>
            <a:ext cx="1231761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1"/>
              </a:lnSpc>
            </a:pPr>
            <a:r>
              <a:rPr lang="en-US" sz="1091" dirty="0">
                <a:solidFill>
                  <a:srgbClr val="7F9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(60대 여성, 피해자)</a:t>
            </a:r>
            <a:endParaRPr lang="en-US" sz="1091" dirty="0"/>
          </a:p>
        </p:txBody>
      </p:sp>
      <p:sp>
        <p:nvSpPr>
          <p:cNvPr id="92" name="Text 68"/>
          <p:cNvSpPr/>
          <p:nvPr/>
        </p:nvSpPr>
        <p:spPr>
          <a:xfrm>
            <a:off x="5424725" y="2714744"/>
            <a:ext cx="1393508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57"/>
              </a:lnSpc>
            </a:pPr>
            <a:r>
              <a:rPr lang="en-US" sz="1032" dirty="0">
                <a:solidFill>
                  <a:srgbClr val="8193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 사실확인 담당자)</a:t>
            </a:r>
            <a:endParaRPr lang="en-US" sz="1032" dirty="0"/>
          </a:p>
        </p:txBody>
      </p:sp>
      <p:sp>
        <p:nvSpPr>
          <p:cNvPr id="93" name="Text 69"/>
          <p:cNvSpPr/>
          <p:nvPr/>
        </p:nvSpPr>
        <p:spPr>
          <a:xfrm>
            <a:off x="9182220" y="2453461"/>
            <a:ext cx="38570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32"/>
              </a:lnSpc>
            </a:pPr>
            <a:r>
              <a:rPr lang="en-US" sz="1474" dirty="0">
                <a:solidFill>
                  <a:srgbClr val="5D6F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1474" dirty="0"/>
          </a:p>
        </p:txBody>
      </p:sp>
      <p:sp>
        <p:nvSpPr>
          <p:cNvPr id="94" name="Text 70"/>
          <p:cNvSpPr/>
          <p:nvPr/>
        </p:nvSpPr>
        <p:spPr>
          <a:xfrm>
            <a:off x="5710893" y="2441019"/>
            <a:ext cx="833616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11"/>
              </a:lnSpc>
            </a:pPr>
            <a:r>
              <a:rPr lang="en-US" sz="1592" dirty="0">
                <a:solidFill>
                  <a:srgbClr val="5C6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은행직원</a:t>
            </a:r>
            <a:endParaRPr lang="en-US" sz="1592" dirty="0"/>
          </a:p>
        </p:txBody>
      </p:sp>
      <p:sp>
        <p:nvSpPr>
          <p:cNvPr id="95" name="Shape 71"/>
          <p:cNvSpPr/>
          <p:nvPr/>
        </p:nvSpPr>
        <p:spPr>
          <a:xfrm>
            <a:off x="211514" y="1868686"/>
            <a:ext cx="4255175" cy="4392037"/>
          </a:xfrm>
          <a:prstGeom prst="rect">
            <a:avLst/>
          </a:prstGeom>
          <a:solidFill>
            <a:srgbClr val="EEF5FD"/>
          </a:solidFill>
          <a:ln w="57150">
            <a:solidFill>
              <a:srgbClr val="F5F9FD"/>
            </a:solidFill>
            <a:prstDash val="solid"/>
          </a:ln>
        </p:spPr>
      </p:sp>
      <p:pic>
        <p:nvPicPr>
          <p:cNvPr id="96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41421" y="5302686"/>
            <a:ext cx="24884" cy="149304"/>
          </a:xfrm>
          <a:prstGeom prst="rect">
            <a:avLst/>
          </a:prstGeom>
        </p:spPr>
      </p:pic>
      <p:pic>
        <p:nvPicPr>
          <p:cNvPr id="97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7913" y="5240476"/>
            <a:ext cx="248841" cy="273725"/>
          </a:xfrm>
          <a:prstGeom prst="rect">
            <a:avLst/>
          </a:prstGeom>
        </p:spPr>
      </p:pic>
      <p:pic>
        <p:nvPicPr>
          <p:cNvPr id="98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41421" y="4817447"/>
            <a:ext cx="24884" cy="149304"/>
          </a:xfrm>
          <a:prstGeom prst="rect">
            <a:avLst/>
          </a:prstGeom>
        </p:spPr>
      </p:pic>
      <p:pic>
        <p:nvPicPr>
          <p:cNvPr id="99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5472" y="4742795"/>
            <a:ext cx="286167" cy="286167"/>
          </a:xfrm>
          <a:prstGeom prst="rect">
            <a:avLst/>
          </a:prstGeom>
        </p:spPr>
      </p:pic>
      <p:pic>
        <p:nvPicPr>
          <p:cNvPr id="100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41421" y="4332208"/>
            <a:ext cx="24884" cy="149304"/>
          </a:xfrm>
          <a:prstGeom prst="rect">
            <a:avLst/>
          </a:prstGeom>
        </p:spPr>
      </p:pic>
      <p:pic>
        <p:nvPicPr>
          <p:cNvPr id="101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7914" y="4257556"/>
            <a:ext cx="261283" cy="261283"/>
          </a:xfrm>
          <a:prstGeom prst="rect">
            <a:avLst/>
          </a:prstGeom>
        </p:spPr>
      </p:pic>
      <p:pic>
        <p:nvPicPr>
          <p:cNvPr id="102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1051" y="2067758"/>
            <a:ext cx="1517928" cy="1642348"/>
          </a:xfrm>
          <a:prstGeom prst="rect">
            <a:avLst/>
          </a:prstGeom>
        </p:spPr>
      </p:pic>
      <p:sp>
        <p:nvSpPr>
          <p:cNvPr id="103" name="Text 72"/>
          <p:cNvSpPr/>
          <p:nvPr/>
        </p:nvSpPr>
        <p:spPr>
          <a:xfrm>
            <a:off x="2028052" y="5514200"/>
            <a:ext cx="187874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44"/>
              </a:lnSpc>
            </a:pPr>
            <a:r>
              <a:rPr lang="en-US" sz="1379" dirty="0">
                <a:solidFill>
                  <a:srgbClr val="768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송금 목적.경위 파악</a:t>
            </a:r>
            <a:endParaRPr lang="en-US" sz="1379" dirty="0"/>
          </a:p>
          <a:p>
            <a:pPr>
              <a:lnSpc>
                <a:spcPts val="1944"/>
              </a:lnSpc>
            </a:pPr>
            <a:r>
              <a:rPr lang="en-US" sz="1379" dirty="0">
                <a:solidFill>
                  <a:srgbClr val="7684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내용 정리 및 전달</a:t>
            </a:r>
            <a:endParaRPr lang="en-US" sz="1379" dirty="0"/>
          </a:p>
        </p:txBody>
      </p:sp>
      <p:sp>
        <p:nvSpPr>
          <p:cNvPr id="104" name="Text 73"/>
          <p:cNvSpPr/>
          <p:nvPr/>
        </p:nvSpPr>
        <p:spPr>
          <a:xfrm>
            <a:off x="2028051" y="5240476"/>
            <a:ext cx="2090261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85"/>
              </a:lnSpc>
            </a:pPr>
            <a:r>
              <a:rPr lang="en-US" sz="1325" dirty="0">
                <a:solidFill>
                  <a:srgbClr val="7C89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통화로 사실관계 확인</a:t>
            </a:r>
            <a:endParaRPr lang="en-US" sz="1325" dirty="0"/>
          </a:p>
        </p:txBody>
      </p:sp>
      <p:sp>
        <p:nvSpPr>
          <p:cNvPr id="105" name="Text 74"/>
          <p:cNvSpPr/>
          <p:nvPr/>
        </p:nvSpPr>
        <p:spPr>
          <a:xfrm>
            <a:off x="920711" y="5240476"/>
            <a:ext cx="758964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4"/>
              </a:lnSpc>
            </a:pPr>
            <a:r>
              <a:rPr lang="en-US" sz="1443" dirty="0">
                <a:solidFill>
                  <a:srgbClr val="5B6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</a:t>
            </a:r>
            <a:endParaRPr lang="en-US" sz="1443" dirty="0"/>
          </a:p>
        </p:txBody>
      </p:sp>
      <p:sp>
        <p:nvSpPr>
          <p:cNvPr id="106" name="Text 75"/>
          <p:cNvSpPr/>
          <p:nvPr/>
        </p:nvSpPr>
        <p:spPr>
          <a:xfrm>
            <a:off x="2015609" y="4767679"/>
            <a:ext cx="522565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8"/>
              </a:lnSpc>
            </a:pPr>
            <a:r>
              <a:rPr lang="en-US" sz="1326" dirty="0">
                <a:solidFill>
                  <a:srgbClr val="727F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 차</a:t>
            </a:r>
            <a:endParaRPr lang="en-US" sz="1326" dirty="0"/>
          </a:p>
        </p:txBody>
      </p:sp>
      <p:sp>
        <p:nvSpPr>
          <p:cNvPr id="107" name="Text 76"/>
          <p:cNvSpPr/>
          <p:nvPr/>
        </p:nvSpPr>
        <p:spPr>
          <a:xfrm>
            <a:off x="933153" y="4755237"/>
            <a:ext cx="335935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7"/>
              </a:lnSpc>
            </a:pPr>
            <a:r>
              <a:rPr lang="en-US" sz="1283" dirty="0">
                <a:solidFill>
                  <a:srgbClr val="5F6B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</a:t>
            </a:r>
            <a:endParaRPr lang="en-US" sz="1283" dirty="0"/>
          </a:p>
        </p:txBody>
      </p:sp>
      <p:sp>
        <p:nvSpPr>
          <p:cNvPr id="108" name="Text 77"/>
          <p:cNvSpPr/>
          <p:nvPr/>
        </p:nvSpPr>
        <p:spPr>
          <a:xfrm>
            <a:off x="2015609" y="4269998"/>
            <a:ext cx="2015609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1"/>
              </a:lnSpc>
            </a:pPr>
            <a:r>
              <a:rPr lang="en-US" sz="1212" dirty="0">
                <a:solidFill>
                  <a:srgbClr val="717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금융사 이상거래 모니터링팀</a:t>
            </a:r>
            <a:endParaRPr lang="en-US" sz="1212" dirty="0"/>
          </a:p>
        </p:txBody>
      </p:sp>
      <p:sp>
        <p:nvSpPr>
          <p:cNvPr id="109" name="Text 78"/>
          <p:cNvSpPr/>
          <p:nvPr/>
        </p:nvSpPr>
        <p:spPr>
          <a:xfrm>
            <a:off x="920711" y="4282439"/>
            <a:ext cx="360819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6"/>
              </a:lnSpc>
            </a:pPr>
            <a:r>
              <a:rPr lang="en-US" sz="1378" dirty="0">
                <a:solidFill>
                  <a:srgbClr val="636E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</a:t>
            </a:r>
            <a:endParaRPr lang="en-US" sz="1378" dirty="0"/>
          </a:p>
        </p:txBody>
      </p:sp>
      <p:sp>
        <p:nvSpPr>
          <p:cNvPr id="110" name="Text 79"/>
          <p:cNvSpPr/>
          <p:nvPr/>
        </p:nvSpPr>
        <p:spPr>
          <a:xfrm>
            <a:off x="1965842" y="2826723"/>
            <a:ext cx="2451080" cy="1206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89"/>
              </a:lnSpc>
            </a:pPr>
            <a:r>
              <a:rPr lang="en-US" sz="1370" dirty="0">
                <a:solidFill>
                  <a:srgbClr val="79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"고객과의 통화에서</a:t>
            </a:r>
            <a:endParaRPr lang="en-US" sz="1370" dirty="0"/>
          </a:p>
          <a:p>
            <a:pPr>
              <a:lnSpc>
                <a:spcPts val="2089"/>
              </a:lnSpc>
            </a:pPr>
            <a:r>
              <a:rPr lang="en-US" sz="1370" dirty="0">
                <a:solidFill>
                  <a:srgbClr val="79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사실을 정확히 확인하고,</a:t>
            </a:r>
            <a:endParaRPr lang="en-US" sz="1370" dirty="0"/>
          </a:p>
          <a:p>
            <a:pPr>
              <a:lnSpc>
                <a:spcPts val="2089"/>
              </a:lnSpc>
            </a:pPr>
            <a:r>
              <a:rPr lang="en-US" sz="1370" dirty="0">
                <a:solidFill>
                  <a:srgbClr val="79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대용을 위해 정보를</a:t>
            </a:r>
            <a:endParaRPr lang="en-US" sz="1370" dirty="0"/>
          </a:p>
          <a:p>
            <a:pPr>
              <a:lnSpc>
                <a:spcPts val="2089"/>
              </a:lnSpc>
            </a:pPr>
            <a:r>
              <a:rPr lang="en-US" sz="1370" dirty="0">
                <a:solidFill>
                  <a:srgbClr val="798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정리하는 것이 제 역할입니다."</a:t>
            </a:r>
            <a:endParaRPr lang="en-US" sz="1370" dirty="0"/>
          </a:p>
        </p:txBody>
      </p:sp>
      <p:sp>
        <p:nvSpPr>
          <p:cNvPr id="111" name="Text 80"/>
          <p:cNvSpPr/>
          <p:nvPr/>
        </p:nvSpPr>
        <p:spPr>
          <a:xfrm>
            <a:off x="1953399" y="2478345"/>
            <a:ext cx="1667232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87"/>
              </a:lnSpc>
            </a:pPr>
            <a:r>
              <a:rPr lang="en-US" sz="1313" dirty="0">
                <a:solidFill>
                  <a:srgbClr val="6270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사실확인 담당자</a:t>
            </a:r>
            <a:endParaRPr lang="en-US" sz="1313" dirty="0"/>
          </a:p>
        </p:txBody>
      </p:sp>
      <p:sp>
        <p:nvSpPr>
          <p:cNvPr id="112" name="Text 81"/>
          <p:cNvSpPr/>
          <p:nvPr/>
        </p:nvSpPr>
        <p:spPr>
          <a:xfrm>
            <a:off x="3210044" y="2167294"/>
            <a:ext cx="44791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6"/>
              </a:lnSpc>
            </a:pPr>
            <a:r>
              <a:rPr lang="en-US" sz="1312" dirty="0">
                <a:solidFill>
                  <a:srgbClr val="7081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(가명)</a:t>
            </a:r>
            <a:endParaRPr lang="en-US" sz="1312" dirty="0"/>
          </a:p>
        </p:txBody>
      </p:sp>
      <p:sp>
        <p:nvSpPr>
          <p:cNvPr id="113" name="Text 82"/>
          <p:cNvSpPr/>
          <p:nvPr/>
        </p:nvSpPr>
        <p:spPr>
          <a:xfrm>
            <a:off x="1940957" y="2092642"/>
            <a:ext cx="1219319" cy="3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29"/>
              </a:lnSpc>
            </a:pPr>
            <a:r>
              <a:rPr lang="en-US" sz="1863" dirty="0">
                <a:solidFill>
                  <a:srgbClr val="384F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박소연대리</a:t>
            </a:r>
            <a:endParaRPr lang="en-US" sz="1863" dirty="0"/>
          </a:p>
        </p:txBody>
      </p:sp>
      <p:sp>
        <p:nvSpPr>
          <p:cNvPr id="114" name="Text 83"/>
          <p:cNvSpPr/>
          <p:nvPr/>
        </p:nvSpPr>
        <p:spPr>
          <a:xfrm>
            <a:off x="273725" y="1358563"/>
            <a:ext cx="10326886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11"/>
              </a:lnSpc>
            </a:pPr>
            <a:r>
              <a:rPr lang="en-US" sz="1698" dirty="0">
                <a:solidFill>
                  <a:srgbClr val="7782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고객과 적접 통화하며 사실관계와 송금 목적을 확인하고, 확인된 내용을 다음 담당자에게 전달하는 사람</a:t>
            </a:r>
            <a:endParaRPr lang="en-US" sz="1698" dirty="0"/>
          </a:p>
        </p:txBody>
      </p:sp>
      <p:sp>
        <p:nvSpPr>
          <p:cNvPr id="115" name="Text 84"/>
          <p:cNvSpPr/>
          <p:nvPr/>
        </p:nvSpPr>
        <p:spPr>
          <a:xfrm>
            <a:off x="248841" y="562273"/>
            <a:ext cx="6457414" cy="78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986"/>
              </a:lnSpc>
            </a:pPr>
            <a:r>
              <a:rPr lang="en-US" sz="5274" b="1" dirty="0">
                <a:solidFill>
                  <a:srgbClr val="1D3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r>
              <a:rPr lang="en-US" sz="5274" b="1" dirty="0">
                <a:solidFill>
                  <a:srgbClr val="D620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확인</a:t>
            </a:r>
            <a:r>
              <a:rPr lang="en-US" sz="5274" b="1" dirty="0">
                <a:solidFill>
                  <a:srgbClr val="1D34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5274" dirty="0"/>
          </a:p>
        </p:txBody>
      </p:sp>
      <p:sp>
        <p:nvSpPr>
          <p:cNvPr id="116" name="Shape 85"/>
          <p:cNvSpPr/>
          <p:nvPr/>
        </p:nvSpPr>
        <p:spPr>
          <a:xfrm>
            <a:off x="1828979" y="338316"/>
            <a:ext cx="13860423" cy="12442"/>
          </a:xfrm>
          <a:prstGeom prst="rect">
            <a:avLst/>
          </a:prstGeom>
          <a:solidFill>
            <a:srgbClr val="F0F5FB"/>
          </a:solidFill>
          <a:ln/>
        </p:spPr>
      </p:sp>
      <p:sp>
        <p:nvSpPr>
          <p:cNvPr id="117" name="Text 86"/>
          <p:cNvSpPr/>
          <p:nvPr/>
        </p:nvSpPr>
        <p:spPr>
          <a:xfrm>
            <a:off x="958036" y="151686"/>
            <a:ext cx="721638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41"/>
              </a:lnSpc>
            </a:pPr>
            <a:r>
              <a:rPr lang="en-US" sz="1378" dirty="0">
                <a:solidFill>
                  <a:srgbClr val="677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</a:t>
            </a:r>
            <a:endParaRPr lang="en-US" sz="1378" dirty="0"/>
          </a:p>
        </p:txBody>
      </p:sp>
      <p:pic>
        <p:nvPicPr>
          <p:cNvPr id="118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11515" y="126801"/>
            <a:ext cx="584775" cy="348377"/>
          </a:xfrm>
          <a:prstGeom prst="rect">
            <a:avLst/>
          </a:prstGeom>
        </p:spPr>
      </p:pic>
      <p:sp>
        <p:nvSpPr>
          <p:cNvPr id="119" name="Text 87"/>
          <p:cNvSpPr/>
          <p:nvPr/>
        </p:nvSpPr>
        <p:spPr>
          <a:xfrm>
            <a:off x="360819" y="176570"/>
            <a:ext cx="298609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4"/>
              </a:lnSpc>
            </a:pPr>
            <a:r>
              <a:rPr lang="en-US" sz="1558" dirty="0">
                <a:solidFill>
                  <a:srgbClr val="B3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55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"/>
            <a:ext cx="15925800" cy="8958263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01" y="7977723"/>
            <a:ext cx="11459111" cy="82117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930" y="8189237"/>
            <a:ext cx="311051" cy="27372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341" y="8114585"/>
            <a:ext cx="373261" cy="37326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446669" y="8400752"/>
            <a:ext cx="3956566" cy="38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1"/>
              </a:lnSpc>
            </a:pPr>
            <a:r>
              <a:rPr lang="en-US" sz="984" dirty="0">
                <a:solidFill>
                  <a:srgbClr val="8EA2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단계에서 사건 맥락과 검토 근거가 끊기면 후속 조치의 정확도와</a:t>
            </a:r>
            <a:endParaRPr lang="en-US" sz="984" dirty="0"/>
          </a:p>
          <a:p>
            <a:pPr>
              <a:lnSpc>
                <a:spcPts val="1291"/>
              </a:lnSpc>
            </a:pPr>
            <a:r>
              <a:rPr lang="en-US" sz="984" dirty="0">
                <a:solidFill>
                  <a:srgbClr val="8EA2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속도가 떨어질 수 있다.</a:t>
            </a:r>
            <a:endParaRPr lang="en-US" sz="984" dirty="0"/>
          </a:p>
        </p:txBody>
      </p:sp>
      <p:sp>
        <p:nvSpPr>
          <p:cNvPr id="7" name="Text 2"/>
          <p:cNvSpPr/>
          <p:nvPr/>
        </p:nvSpPr>
        <p:spPr>
          <a:xfrm>
            <a:off x="11546205" y="8214122"/>
            <a:ext cx="1990725" cy="17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49"/>
              </a:lnSpc>
            </a:pPr>
            <a:r>
              <a:rPr lang="en-US" sz="997" dirty="0">
                <a:solidFill>
                  <a:srgbClr val="8CA2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조치를 결정하는 단계가 종요하다.</a:t>
            </a:r>
            <a:endParaRPr lang="en-US" sz="997" dirty="0"/>
          </a:p>
        </p:txBody>
      </p:sp>
      <p:sp>
        <p:nvSpPr>
          <p:cNvPr id="8" name="Text 3"/>
          <p:cNvSpPr/>
          <p:nvPr/>
        </p:nvSpPr>
        <p:spPr>
          <a:xfrm>
            <a:off x="11446669" y="8015050"/>
            <a:ext cx="35210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42"/>
              </a:lnSpc>
            </a:pPr>
            <a:r>
              <a:rPr lang="en-US" sz="974" dirty="0">
                <a:solidFill>
                  <a:srgbClr val="8CA1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탐지 이후에는 "고객 확인½먼 아니라, 들어온 정보를 종합해</a:t>
            </a:r>
            <a:endParaRPr lang="en-US" sz="974" dirty="0"/>
          </a:p>
        </p:txBody>
      </p:sp>
      <p:sp>
        <p:nvSpPr>
          <p:cNvPr id="9" name="Text 4"/>
          <p:cNvSpPr/>
          <p:nvPr/>
        </p:nvSpPr>
        <p:spPr>
          <a:xfrm>
            <a:off x="10563284" y="8176795"/>
            <a:ext cx="671870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28"/>
              </a:lnSpc>
            </a:pPr>
            <a:r>
              <a:rPr lang="en-US" sz="1711" dirty="0">
                <a:solidFill>
                  <a:srgbClr val="4666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711" dirty="0"/>
          </a:p>
        </p:txBody>
      </p:sp>
      <p:sp>
        <p:nvSpPr>
          <p:cNvPr id="10" name="Text 5"/>
          <p:cNvSpPr/>
          <p:nvPr/>
        </p:nvSpPr>
        <p:spPr>
          <a:xfrm>
            <a:off x="6457414" y="8127028"/>
            <a:ext cx="3060740" cy="46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32"/>
              </a:lnSpc>
            </a:pPr>
            <a:r>
              <a:rPr lang="en-US" sz="1089" dirty="0">
                <a:solidFill>
                  <a:srgbClr val="F078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제한이 해제된 뒤 다른 3개 계좌로</a:t>
            </a:r>
            <a:endParaRPr lang="en-US" sz="1089" dirty="0"/>
          </a:p>
          <a:p>
            <a:pPr>
              <a:lnSpc>
                <a:spcPts val="1532"/>
              </a:lnSpc>
            </a:pPr>
            <a:r>
              <a:rPr lang="en-US" sz="1089" dirty="0">
                <a:solidFill>
                  <a:srgbClr val="F078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송금이 이어져 총 15억 6천만 원 피해 발생</a:t>
            </a:r>
            <a:endParaRPr lang="en-US" sz="1089" dirty="0"/>
          </a:p>
        </p:txBody>
      </p:sp>
      <p:sp>
        <p:nvSpPr>
          <p:cNvPr id="11" name="Text 6"/>
          <p:cNvSpPr/>
          <p:nvPr/>
        </p:nvSpPr>
        <p:spPr>
          <a:xfrm>
            <a:off x="5039023" y="8164354"/>
            <a:ext cx="1244203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6"/>
              </a:lnSpc>
            </a:pPr>
            <a:r>
              <a:rPr lang="en-US" sz="1300" dirty="0">
                <a:solidFill>
                  <a:srgbClr val="E95A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(보도 사례)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2454474" y="1856244"/>
            <a:ext cx="3297138" cy="472797"/>
          </a:xfrm>
          <a:prstGeom prst="roundRect">
            <a:avLst>
              <a:gd name="adj" fmla="val 3947"/>
            </a:avLst>
          </a:prstGeom>
          <a:solidFill>
            <a:srgbClr val="FDE8E7"/>
          </a:solidFill>
          <a:ln/>
        </p:spPr>
      </p:sp>
      <p:sp>
        <p:nvSpPr>
          <p:cNvPr id="13" name="Shape 8"/>
          <p:cNvSpPr/>
          <p:nvPr/>
        </p:nvSpPr>
        <p:spPr>
          <a:xfrm>
            <a:off x="12429590" y="2316599"/>
            <a:ext cx="3346906" cy="5561588"/>
          </a:xfrm>
          <a:prstGeom prst="rect">
            <a:avLst/>
          </a:prstGeom>
          <a:solidFill>
            <a:srgbClr val="FDF7F6"/>
          </a:solidFill>
          <a:ln w="19050">
            <a:solidFill>
              <a:srgbClr val="FEFCF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3337857" y="6808172"/>
            <a:ext cx="2289334" cy="6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44"/>
              </a:lnSpc>
            </a:pPr>
            <a:r>
              <a:rPr lang="en-US" sz="1283" dirty="0">
                <a:solidFill>
                  <a:srgbClr val="7386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검토해야 해</a:t>
            </a:r>
            <a:endParaRPr lang="en-US" sz="1283" dirty="0"/>
          </a:p>
          <a:p>
            <a:pPr>
              <a:lnSpc>
                <a:spcPts val="1844"/>
              </a:lnSpc>
            </a:pPr>
            <a:r>
              <a:rPr lang="en-US" sz="1283" dirty="0">
                <a:solidFill>
                  <a:srgbClr val="7386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압박과 판단 부담이 크다.</a:t>
            </a:r>
            <a:endParaRPr lang="en-US" sz="1283" dirty="0"/>
          </a:p>
        </p:txBody>
      </p:sp>
      <p:sp>
        <p:nvSpPr>
          <p:cNvPr id="15" name="Text 10"/>
          <p:cNvSpPr/>
          <p:nvPr/>
        </p:nvSpPr>
        <p:spPr>
          <a:xfrm>
            <a:off x="13337857" y="6534448"/>
            <a:ext cx="1891189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89"/>
              </a:lnSpc>
            </a:pPr>
            <a:r>
              <a:rPr lang="en-US" sz="1306" dirty="0">
                <a:solidFill>
                  <a:srgbClr val="768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정보와 부서 의견을</a:t>
            </a:r>
            <a:endParaRPr lang="en-US" sz="1306" dirty="0"/>
          </a:p>
        </p:txBody>
      </p:sp>
      <p:sp>
        <p:nvSpPr>
          <p:cNvPr id="16" name="Shape 11"/>
          <p:cNvSpPr/>
          <p:nvPr/>
        </p:nvSpPr>
        <p:spPr>
          <a:xfrm>
            <a:off x="12628663" y="6522006"/>
            <a:ext cx="535007" cy="535007"/>
          </a:xfrm>
          <a:prstGeom prst="roundRect">
            <a:avLst>
              <a:gd name="adj" fmla="val 49419"/>
            </a:avLst>
          </a:prstGeom>
          <a:solidFill>
            <a:srgbClr val="FDE5E4"/>
          </a:solidFill>
          <a:ln w="19050">
            <a:solidFill>
              <a:srgbClr val="FDEF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2728198" y="6646425"/>
            <a:ext cx="348377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2362" dirty="0">
                <a:solidFill>
                  <a:srgbClr val="E540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362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1336" y="6273165"/>
            <a:ext cx="3023414" cy="746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337858" y="5476874"/>
            <a:ext cx="2127587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2"/>
              </a:lnSpc>
            </a:pPr>
            <a:r>
              <a:rPr lang="en-US" sz="1287" dirty="0">
                <a:solidFill>
                  <a:srgbClr val="788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 늦거나 잘못되면</a:t>
            </a:r>
            <a:endParaRPr lang="en-US" sz="1287" dirty="0"/>
          </a:p>
          <a:p>
            <a:pPr>
              <a:lnSpc>
                <a:spcPts val="1602"/>
              </a:lnSpc>
            </a:pPr>
            <a:r>
              <a:rPr lang="en-US" sz="1287" dirty="0">
                <a:solidFill>
                  <a:srgbClr val="788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피해로 이어질 수 있다.</a:t>
            </a:r>
            <a:endParaRPr lang="en-US" sz="1287" dirty="0"/>
          </a:p>
        </p:txBody>
      </p:sp>
      <p:sp>
        <p:nvSpPr>
          <p:cNvPr id="20" name="Text 14"/>
          <p:cNvSpPr/>
          <p:nvPr/>
        </p:nvSpPr>
        <p:spPr>
          <a:xfrm>
            <a:off x="13337858" y="5190708"/>
            <a:ext cx="2015609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94"/>
              </a:lnSpc>
            </a:pPr>
            <a:r>
              <a:rPr lang="en-US" sz="1315" dirty="0">
                <a:solidFill>
                  <a:srgbClr val="7487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제한을 유지할지 해제할지</a:t>
            </a:r>
            <a:endParaRPr lang="en-US" sz="1315" dirty="0"/>
          </a:p>
        </p:txBody>
      </p:sp>
      <p:sp>
        <p:nvSpPr>
          <p:cNvPr id="21" name="Shape 15"/>
          <p:cNvSpPr/>
          <p:nvPr/>
        </p:nvSpPr>
        <p:spPr>
          <a:xfrm>
            <a:off x="12628663" y="5178267"/>
            <a:ext cx="535007" cy="535007"/>
          </a:xfrm>
          <a:prstGeom prst="roundRect">
            <a:avLst>
              <a:gd name="adj" fmla="val 48837"/>
            </a:avLst>
          </a:prstGeom>
          <a:solidFill>
            <a:srgbClr val="FDE4E4"/>
          </a:solidFill>
          <a:ln w="9525">
            <a:solidFill>
              <a:srgbClr val="FDE9E9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2728199" y="5302686"/>
            <a:ext cx="335935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66"/>
              </a:lnSpc>
            </a:pPr>
            <a:r>
              <a:rPr lang="en-US" sz="2116" dirty="0">
                <a:solidFill>
                  <a:srgbClr val="E43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16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8893" y="4916984"/>
            <a:ext cx="3035856" cy="622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337857" y="4120693"/>
            <a:ext cx="2314218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1"/>
              </a:lnSpc>
            </a:pPr>
            <a:r>
              <a:rPr lang="en-US" sz="1291" dirty="0">
                <a:solidFill>
                  <a:srgbClr val="7386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아니어서 전달받은 내용만으로</a:t>
            </a:r>
            <a:endParaRPr lang="en-US" sz="1291" dirty="0"/>
          </a:p>
          <a:p>
            <a:pPr>
              <a:lnSpc>
                <a:spcPts val="1611"/>
              </a:lnSpc>
            </a:pPr>
            <a:r>
              <a:rPr lang="en-US" sz="1291" dirty="0">
                <a:solidFill>
                  <a:srgbClr val="7386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맥락을 해석해야 한다.</a:t>
            </a:r>
            <a:endParaRPr lang="en-US" sz="1291" dirty="0"/>
          </a:p>
        </p:txBody>
      </p:sp>
      <p:sp>
        <p:nvSpPr>
          <p:cNvPr id="25" name="Text 18"/>
          <p:cNvSpPr/>
          <p:nvPr/>
        </p:nvSpPr>
        <p:spPr>
          <a:xfrm>
            <a:off x="13337857" y="3834526"/>
            <a:ext cx="2239566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61"/>
              </a:lnSpc>
            </a:pPr>
            <a:r>
              <a:rPr lang="en-US" sz="1276" dirty="0">
                <a:solidFill>
                  <a:srgbClr val="7D8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결과를 직접 만든 사람이</a:t>
            </a:r>
            <a:endParaRPr lang="en-US" sz="1276" dirty="0"/>
          </a:p>
        </p:txBody>
      </p:sp>
      <p:sp>
        <p:nvSpPr>
          <p:cNvPr id="26" name="Shape 19"/>
          <p:cNvSpPr/>
          <p:nvPr/>
        </p:nvSpPr>
        <p:spPr>
          <a:xfrm>
            <a:off x="12628663" y="3822085"/>
            <a:ext cx="535007" cy="535007"/>
          </a:xfrm>
          <a:prstGeom prst="roundRect">
            <a:avLst>
              <a:gd name="adj" fmla="val 48837"/>
            </a:avLst>
          </a:prstGeom>
          <a:solidFill>
            <a:srgbClr val="FDE6E5"/>
          </a:solidFill>
          <a:ln w="38100">
            <a:solidFill>
              <a:srgbClr val="FDE9E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2728199" y="3946505"/>
            <a:ext cx="335935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5"/>
              </a:lnSpc>
            </a:pPr>
            <a:r>
              <a:rPr lang="en-US" sz="2175" b="1" dirty="0">
                <a:solidFill>
                  <a:srgbClr val="E641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75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66452" y="3585686"/>
            <a:ext cx="3048298" cy="6221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337857" y="2515671"/>
            <a:ext cx="2314218" cy="920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97"/>
              </a:lnSpc>
            </a:pPr>
            <a:r>
              <a:rPr lang="en-US" sz="1198" dirty="0">
                <a:solidFill>
                  <a:srgbClr val="778A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설명, FDS 결과, 추가조회</a:t>
            </a:r>
            <a:endParaRPr lang="en-US" sz="1198" dirty="0"/>
          </a:p>
          <a:p>
            <a:pPr>
              <a:lnSpc>
                <a:spcPts val="1497"/>
              </a:lnSpc>
            </a:pPr>
            <a:r>
              <a:rPr lang="en-US" sz="1198" dirty="0">
                <a:solidFill>
                  <a:srgbClr val="778A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서로 다를 때 어떤 조치를</a:t>
            </a:r>
            <a:endParaRPr lang="en-US" sz="1198" dirty="0"/>
          </a:p>
          <a:p>
            <a:pPr>
              <a:lnSpc>
                <a:spcPts val="1497"/>
              </a:lnSpc>
            </a:pPr>
            <a:r>
              <a:rPr lang="en-US" sz="1198" dirty="0">
                <a:solidFill>
                  <a:srgbClr val="778A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할지 판단이 어렵다.</a:t>
            </a:r>
            <a:endParaRPr lang="en-US" sz="1198" dirty="0"/>
          </a:p>
        </p:txBody>
      </p:sp>
      <p:sp>
        <p:nvSpPr>
          <p:cNvPr id="30" name="Shape 22"/>
          <p:cNvSpPr/>
          <p:nvPr/>
        </p:nvSpPr>
        <p:spPr>
          <a:xfrm>
            <a:off x="12628663" y="2540555"/>
            <a:ext cx="535007" cy="522565"/>
          </a:xfrm>
          <a:prstGeom prst="roundRect">
            <a:avLst>
              <a:gd name="adj" fmla="val 50000"/>
            </a:avLst>
          </a:prstGeom>
          <a:solidFill>
            <a:srgbClr val="FDE5E4"/>
          </a:solidFill>
          <a:ln w="19050">
            <a:solidFill>
              <a:srgbClr val="FDEDEC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12740641" y="2664976"/>
            <a:ext cx="286167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649"/>
              </a:lnSpc>
            </a:pPr>
            <a:r>
              <a:rPr lang="en-US" sz="1969" dirty="0">
                <a:solidFill>
                  <a:srgbClr val="E54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69" dirty="0"/>
          </a:p>
        </p:txBody>
      </p:sp>
      <p:sp>
        <p:nvSpPr>
          <p:cNvPr id="32" name="Text 24"/>
          <p:cNvSpPr/>
          <p:nvPr/>
        </p:nvSpPr>
        <p:spPr>
          <a:xfrm>
            <a:off x="13089018" y="1943337"/>
            <a:ext cx="2077819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1"/>
              </a:lnSpc>
            </a:pPr>
            <a:r>
              <a:rPr lang="en-US" sz="1436" dirty="0">
                <a:solidFill>
                  <a:srgbClr val="E8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담당자가 겪는 어려움</a:t>
            </a:r>
            <a:endParaRPr lang="en-US" sz="1436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6220" y="1930896"/>
            <a:ext cx="335935" cy="33593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4304944" y="2229505"/>
            <a:ext cx="8025110" cy="5710892"/>
          </a:xfrm>
          <a:prstGeom prst="rect">
            <a:avLst/>
          </a:prstGeom>
          <a:solidFill>
            <a:srgbClr val="FBFBFC"/>
          </a:solidFill>
          <a:ln/>
        </p:spPr>
      </p:sp>
      <p:sp>
        <p:nvSpPr>
          <p:cNvPr id="35" name="Shape 26"/>
          <p:cNvSpPr/>
          <p:nvPr/>
        </p:nvSpPr>
        <p:spPr>
          <a:xfrm>
            <a:off x="9231988" y="3125331"/>
            <a:ext cx="2998530" cy="4740414"/>
          </a:xfrm>
          <a:prstGeom prst="roundRect">
            <a:avLst>
              <a:gd name="adj" fmla="val 1867"/>
            </a:avLst>
          </a:prstGeom>
          <a:solidFill>
            <a:srgbClr val="FDFDFE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6299" y="6522005"/>
            <a:ext cx="298609" cy="298609"/>
          </a:xfrm>
          <a:prstGeom prst="rect">
            <a:avLst/>
          </a:prstGeom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3965" y="6484679"/>
            <a:ext cx="398145" cy="398145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19081" y="6335375"/>
            <a:ext cx="2811899" cy="74652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3857" y="4929426"/>
            <a:ext cx="311051" cy="311051"/>
          </a:xfrm>
          <a:prstGeom prst="rect">
            <a:avLst/>
          </a:prstGeom>
        </p:spPr>
      </p:pic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56408" y="4904542"/>
            <a:ext cx="385703" cy="385703"/>
          </a:xfrm>
          <a:prstGeom prst="rect">
            <a:avLst/>
          </a:prstGeom>
        </p:spPr>
      </p:pic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9081" y="4755237"/>
            <a:ext cx="2811899" cy="74652"/>
          </a:xfrm>
          <a:prstGeom prst="rect">
            <a:avLst/>
          </a:prstGeom>
        </p:spPr>
      </p:pic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03857" y="3386613"/>
            <a:ext cx="273725" cy="298609"/>
          </a:xfrm>
          <a:prstGeom prst="rect">
            <a:avLst/>
          </a:prstGeom>
        </p:spPr>
      </p:pic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43965" y="3324403"/>
            <a:ext cx="398145" cy="398145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9431059" y="3423940"/>
            <a:ext cx="223957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2"/>
              </a:lnSpc>
            </a:pPr>
            <a:r>
              <a:rPr lang="en-US" sz="1541" dirty="0">
                <a:solidFill>
                  <a:srgbClr val="E94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41" dirty="0"/>
          </a:p>
        </p:txBody>
      </p:sp>
      <p:sp>
        <p:nvSpPr>
          <p:cNvPr id="45" name="Text 28"/>
          <p:cNvSpPr/>
          <p:nvPr/>
        </p:nvSpPr>
        <p:spPr>
          <a:xfrm>
            <a:off x="9928741" y="7305853"/>
            <a:ext cx="2214682" cy="472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8"/>
              </a:lnSpc>
            </a:pPr>
            <a:r>
              <a:rPr lang="en-US" sz="1104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제한을 유지할지 해제할지</a:t>
            </a:r>
            <a:endParaRPr lang="en-US" sz="1104" dirty="0"/>
          </a:p>
          <a:p>
            <a:pPr>
              <a:lnSpc>
                <a:spcPts val="1378"/>
              </a:lnSpc>
            </a:pPr>
            <a:r>
              <a:rPr lang="en-US" sz="1104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조치가 필요한지 판단합니다.</a:t>
            </a:r>
            <a:endParaRPr lang="en-US" sz="1104" dirty="0"/>
          </a:p>
        </p:txBody>
      </p:sp>
      <p:sp>
        <p:nvSpPr>
          <p:cNvPr id="46" name="Text 29"/>
          <p:cNvSpPr/>
          <p:nvPr/>
        </p:nvSpPr>
        <p:spPr>
          <a:xfrm>
            <a:off x="9928742" y="7069455"/>
            <a:ext cx="1555254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95"/>
              </a:lnSpc>
            </a:pPr>
            <a:r>
              <a:rPr lang="en-US" sz="1110" dirty="0">
                <a:solidFill>
                  <a:srgbClr val="8C9D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종합된 정보를 바당으로</a:t>
            </a:r>
            <a:endParaRPr lang="en-US" sz="1110" dirty="0"/>
          </a:p>
        </p:txBody>
      </p:sp>
      <p:sp>
        <p:nvSpPr>
          <p:cNvPr id="47" name="Text 30"/>
          <p:cNvSpPr/>
          <p:nvPr/>
        </p:nvSpPr>
        <p:spPr>
          <a:xfrm>
            <a:off x="10339328" y="6472237"/>
            <a:ext cx="1617464" cy="52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92"/>
              </a:lnSpc>
            </a:pPr>
            <a:r>
              <a:rPr lang="en-US" sz="1224" dirty="0">
                <a:solidFill>
                  <a:srgbClr val="5D6F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제한 유지/해제가</a:t>
            </a:r>
            <a:endParaRPr lang="en-US" sz="1224" dirty="0"/>
          </a:p>
          <a:p>
            <a:pPr>
              <a:lnSpc>
                <a:spcPts val="1592"/>
              </a:lnSpc>
            </a:pPr>
            <a:r>
              <a:rPr lang="en-US" sz="1224" dirty="0">
                <a:solidFill>
                  <a:srgbClr val="5D6F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적절한가</a:t>
            </a:r>
            <a:endParaRPr lang="en-US" sz="1224" dirty="0"/>
          </a:p>
        </p:txBody>
      </p:sp>
      <p:sp>
        <p:nvSpPr>
          <p:cNvPr id="48" name="Text 31"/>
          <p:cNvSpPr/>
          <p:nvPr/>
        </p:nvSpPr>
        <p:spPr>
          <a:xfrm>
            <a:off x="9418617" y="6571774"/>
            <a:ext cx="248841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347"/>
              </a:lnSpc>
            </a:pPr>
            <a:r>
              <a:rPr lang="en-US" sz="1713" dirty="0">
                <a:solidFill>
                  <a:srgbClr val="EA4B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13" dirty="0"/>
          </a:p>
        </p:txBody>
      </p:sp>
      <p:sp>
        <p:nvSpPr>
          <p:cNvPr id="49" name="Text 32"/>
          <p:cNvSpPr/>
          <p:nvPr/>
        </p:nvSpPr>
        <p:spPr>
          <a:xfrm>
            <a:off x="9928742" y="5451990"/>
            <a:ext cx="2177355" cy="69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98"/>
              </a:lnSpc>
            </a:pPr>
            <a:r>
              <a:rPr lang="en-US" sz="1079" dirty="0">
                <a:solidFill>
                  <a:srgbClr val="8C9C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조회된 계좌와 거래 흐름에서</a:t>
            </a:r>
            <a:endParaRPr lang="en-US" sz="1079" dirty="0"/>
          </a:p>
          <a:p>
            <a:pPr>
              <a:lnSpc>
                <a:spcPts val="1398"/>
              </a:lnSpc>
            </a:pPr>
            <a:r>
              <a:rPr lang="en-US" sz="1079" dirty="0">
                <a:solidFill>
                  <a:srgbClr val="8C9C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의심정황이 지속되는지</a:t>
            </a:r>
            <a:endParaRPr lang="en-US" sz="1079" dirty="0"/>
          </a:p>
          <a:p>
            <a:pPr>
              <a:lnSpc>
                <a:spcPts val="1398"/>
              </a:lnSpc>
            </a:pPr>
            <a:r>
              <a:rPr lang="en-US" sz="1079" dirty="0">
                <a:solidFill>
                  <a:srgbClr val="8C9C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확인합니다.</a:t>
            </a:r>
            <a:endParaRPr lang="en-US" sz="1079" dirty="0"/>
          </a:p>
        </p:txBody>
      </p:sp>
      <p:sp>
        <p:nvSpPr>
          <p:cNvPr id="50" name="Text 33"/>
          <p:cNvSpPr/>
          <p:nvPr/>
        </p:nvSpPr>
        <p:spPr>
          <a:xfrm>
            <a:off x="10326887" y="4941867"/>
            <a:ext cx="1331297" cy="472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41"/>
              </a:lnSpc>
            </a:pPr>
            <a:r>
              <a:rPr lang="en-US" sz="1217" dirty="0">
                <a:solidFill>
                  <a:srgbClr val="607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추가조회 결과상</a:t>
            </a:r>
            <a:endParaRPr lang="en-US" sz="1217" dirty="0"/>
          </a:p>
          <a:p>
            <a:pPr>
              <a:lnSpc>
                <a:spcPts val="1641"/>
              </a:lnSpc>
            </a:pPr>
            <a:r>
              <a:rPr lang="en-US" sz="1217" dirty="0">
                <a:solidFill>
                  <a:srgbClr val="6073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위험이 계속되는가</a:t>
            </a:r>
            <a:endParaRPr lang="en-US" sz="1217" dirty="0"/>
          </a:p>
        </p:txBody>
      </p:sp>
      <p:sp>
        <p:nvSpPr>
          <p:cNvPr id="51" name="Text 34"/>
          <p:cNvSpPr/>
          <p:nvPr/>
        </p:nvSpPr>
        <p:spPr>
          <a:xfrm>
            <a:off x="9418618" y="4991636"/>
            <a:ext cx="261283" cy="21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99"/>
              </a:lnSpc>
            </a:pPr>
            <a:r>
              <a:rPr lang="en-US" sz="1799" dirty="0">
                <a:solidFill>
                  <a:srgbClr val="EA5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99" dirty="0"/>
          </a:p>
        </p:txBody>
      </p:sp>
      <p:sp>
        <p:nvSpPr>
          <p:cNvPr id="52" name="Text 35"/>
          <p:cNvSpPr/>
          <p:nvPr/>
        </p:nvSpPr>
        <p:spPr>
          <a:xfrm>
            <a:off x="9928741" y="3884295"/>
            <a:ext cx="1592580" cy="68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81"/>
              </a:lnSpc>
            </a:pPr>
            <a:r>
              <a:rPr lang="en-US" sz="1101" dirty="0">
                <a:solidFill>
                  <a:srgbClr val="8D9D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거래 목적 설명과</a:t>
            </a:r>
            <a:endParaRPr lang="en-US" sz="1101" dirty="0"/>
          </a:p>
          <a:p>
            <a:pPr>
              <a:lnSpc>
                <a:spcPts val="1481"/>
              </a:lnSpc>
            </a:pPr>
            <a:r>
              <a:rPr lang="en-US" sz="1101" dirty="0">
                <a:solidFill>
                  <a:srgbClr val="8D9D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 탐지 내용이 서로</a:t>
            </a:r>
            <a:endParaRPr lang="en-US" sz="1101" dirty="0"/>
          </a:p>
          <a:p>
            <a:pPr>
              <a:lnSpc>
                <a:spcPts val="1481"/>
              </a:lnSpc>
            </a:pPr>
            <a:r>
              <a:rPr lang="en-US" sz="1101" dirty="0">
                <a:solidFill>
                  <a:srgbClr val="8D9D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부합하는지 검토합니다.</a:t>
            </a:r>
            <a:endParaRPr lang="en-US" sz="1101" dirty="0"/>
          </a:p>
        </p:txBody>
      </p:sp>
      <p:sp>
        <p:nvSpPr>
          <p:cNvPr id="53" name="Text 36"/>
          <p:cNvSpPr/>
          <p:nvPr/>
        </p:nvSpPr>
        <p:spPr>
          <a:xfrm>
            <a:off x="10326887" y="3324404"/>
            <a:ext cx="1704558" cy="535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68"/>
              </a:lnSpc>
            </a:pPr>
            <a:r>
              <a:rPr lang="en-US" sz="1178" dirty="0">
                <a:solidFill>
                  <a:srgbClr val="5E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설명과 탐지 결과가</a:t>
            </a:r>
            <a:endParaRPr lang="en-US" sz="1178" dirty="0"/>
          </a:p>
          <a:p>
            <a:pPr>
              <a:lnSpc>
                <a:spcPts val="1468"/>
              </a:lnSpc>
            </a:pPr>
            <a:r>
              <a:rPr lang="en-US" sz="1178" dirty="0">
                <a:solidFill>
                  <a:srgbClr val="5E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일치하는가</a:t>
            </a:r>
            <a:endParaRPr lang="en-US" sz="1178" dirty="0"/>
          </a:p>
        </p:txBody>
      </p:sp>
      <p:sp>
        <p:nvSpPr>
          <p:cNvPr id="54" name="Shape 37"/>
          <p:cNvSpPr/>
          <p:nvPr/>
        </p:nvSpPr>
        <p:spPr>
          <a:xfrm>
            <a:off x="9219546" y="2814280"/>
            <a:ext cx="2998530" cy="385703"/>
          </a:xfrm>
          <a:prstGeom prst="roundRect">
            <a:avLst>
              <a:gd name="adj" fmla="val 5645"/>
            </a:avLst>
          </a:prstGeom>
          <a:solidFill>
            <a:srgbClr val="002B69"/>
          </a:solidFill>
          <a:ln w="9525">
            <a:solidFill>
              <a:srgbClr val="15346E"/>
            </a:solidFill>
            <a:prstDash val="solid"/>
          </a:ln>
        </p:spPr>
      </p:sp>
      <p:sp>
        <p:nvSpPr>
          <p:cNvPr id="55" name="Text 38"/>
          <p:cNvSpPr/>
          <p:nvPr/>
        </p:nvSpPr>
        <p:spPr>
          <a:xfrm>
            <a:off x="9406175" y="2864048"/>
            <a:ext cx="1418392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67"/>
              </a:lnSpc>
            </a:pPr>
            <a:r>
              <a:rPr lang="en-US" sz="1407" dirty="0">
                <a:solidFill>
                  <a:srgbClr val="A1B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판단 포인트</a:t>
            </a:r>
            <a:endParaRPr lang="en-US" sz="1407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9595" y="6882824"/>
            <a:ext cx="4640878" cy="1020247"/>
          </a:xfrm>
          <a:prstGeom prst="rect">
            <a:avLst/>
          </a:prstGeom>
        </p:spPr>
      </p:pic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73567" y="7791092"/>
            <a:ext cx="37326" cy="24884"/>
          </a:xfrm>
          <a:prstGeom prst="rect">
            <a:avLst/>
          </a:prstGeom>
        </p:spPr>
      </p:pic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73567" y="7579578"/>
            <a:ext cx="37326" cy="37326"/>
          </a:xfrm>
          <a:prstGeom prst="rect">
            <a:avLst/>
          </a:prstGeom>
        </p:spPr>
      </p:pic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73567" y="7355622"/>
            <a:ext cx="37326" cy="37326"/>
          </a:xfrm>
          <a:prstGeom prst="rect">
            <a:avLst/>
          </a:prstGeom>
        </p:spPr>
      </p:pic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47212" y="6994802"/>
            <a:ext cx="174188" cy="199073"/>
          </a:xfrm>
          <a:prstGeom prst="rect">
            <a:avLst/>
          </a:prstGeom>
        </p:spPr>
      </p:pic>
      <p:pic>
        <p:nvPicPr>
          <p:cNvPr id="61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51001" y="6994803"/>
            <a:ext cx="298609" cy="311051"/>
          </a:xfrm>
          <a:prstGeom prst="rect">
            <a:avLst/>
          </a:prstGeom>
        </p:spPr>
      </p:pic>
      <p:pic>
        <p:nvPicPr>
          <p:cNvPr id="62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41805" y="6882824"/>
            <a:ext cx="547449" cy="1007805"/>
          </a:xfrm>
          <a:prstGeom prst="rect">
            <a:avLst/>
          </a:prstGeom>
        </p:spPr>
      </p:pic>
      <p:pic>
        <p:nvPicPr>
          <p:cNvPr id="63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28900" y="6920151"/>
            <a:ext cx="385703" cy="311051"/>
          </a:xfrm>
          <a:prstGeom prst="rect">
            <a:avLst/>
          </a:prstGeom>
        </p:spPr>
      </p:pic>
      <p:sp>
        <p:nvSpPr>
          <p:cNvPr id="64" name="Shape 39"/>
          <p:cNvSpPr/>
          <p:nvPr/>
        </p:nvSpPr>
        <p:spPr>
          <a:xfrm>
            <a:off x="4566225" y="6957477"/>
            <a:ext cx="323493" cy="261283"/>
          </a:xfrm>
          <a:prstGeom prst="roundRect">
            <a:avLst>
              <a:gd name="adj" fmla="val 22619"/>
            </a:avLst>
          </a:prstGeom>
          <a:solidFill>
            <a:srgbClr val="023C93"/>
          </a:solidFill>
          <a:ln w="9525">
            <a:solidFill>
              <a:srgbClr val="264699"/>
            </a:solidFill>
            <a:prstDash val="solid"/>
          </a:ln>
        </p:spPr>
      </p:sp>
      <p:sp>
        <p:nvSpPr>
          <p:cNvPr id="65" name="Text 40"/>
          <p:cNvSpPr/>
          <p:nvPr/>
        </p:nvSpPr>
        <p:spPr>
          <a:xfrm>
            <a:off x="4615994" y="6994803"/>
            <a:ext cx="2363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069" dirty="0">
                <a:solidFill>
                  <a:srgbClr val="A4B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69" dirty="0"/>
          </a:p>
        </p:txBody>
      </p:sp>
      <p:sp>
        <p:nvSpPr>
          <p:cNvPr id="66" name="Text 41"/>
          <p:cNvSpPr/>
          <p:nvPr/>
        </p:nvSpPr>
        <p:spPr>
          <a:xfrm>
            <a:off x="5810429" y="7256085"/>
            <a:ext cx="1629906" cy="63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24"/>
              </a:lnSpc>
            </a:pPr>
            <a:r>
              <a:rPr lang="en-US" sz="1092" dirty="0">
                <a:solidFill>
                  <a:srgbClr val="7F9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제한 유지 여부 검토</a:t>
            </a:r>
            <a:endParaRPr lang="en-US" sz="1092" dirty="0"/>
          </a:p>
          <a:p>
            <a:pPr>
              <a:lnSpc>
                <a:spcPts val="1524"/>
              </a:lnSpc>
            </a:pPr>
            <a:r>
              <a:rPr lang="en-US" sz="1092" dirty="0">
                <a:solidFill>
                  <a:srgbClr val="7F9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부서 헙의</a:t>
            </a:r>
            <a:endParaRPr lang="en-US" sz="1092" dirty="0"/>
          </a:p>
          <a:p>
            <a:pPr>
              <a:lnSpc>
                <a:spcPts val="1524"/>
              </a:lnSpc>
            </a:pPr>
            <a:r>
              <a:rPr lang="en-US" sz="1092" dirty="0">
                <a:solidFill>
                  <a:srgbClr val="7F9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피해 방지 조치 검토</a:t>
            </a:r>
            <a:endParaRPr lang="en-US" sz="1092" dirty="0"/>
          </a:p>
        </p:txBody>
      </p:sp>
      <p:sp>
        <p:nvSpPr>
          <p:cNvPr id="67" name="Text 42"/>
          <p:cNvSpPr/>
          <p:nvPr/>
        </p:nvSpPr>
        <p:spPr>
          <a:xfrm>
            <a:off x="5661125" y="6957476"/>
            <a:ext cx="75896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55"/>
              </a:lnSpc>
            </a:pPr>
            <a:r>
              <a:rPr lang="en-US" sz="1322" dirty="0">
                <a:solidFill>
                  <a:srgbClr val="5468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검토</a:t>
            </a:r>
            <a:endParaRPr lang="en-US" sz="1322" dirty="0"/>
          </a:p>
        </p:txBody>
      </p:sp>
      <p:pic>
        <p:nvPicPr>
          <p:cNvPr id="68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16921" y="5899904"/>
            <a:ext cx="4578668" cy="908268"/>
          </a:xfrm>
          <a:prstGeom prst="rect">
            <a:avLst/>
          </a:prstGeom>
        </p:spPr>
      </p:pic>
      <p:pic>
        <p:nvPicPr>
          <p:cNvPr id="69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73567" y="6633983"/>
            <a:ext cx="12442" cy="24884"/>
          </a:xfrm>
          <a:prstGeom prst="rect">
            <a:avLst/>
          </a:prstGeom>
        </p:spPr>
      </p:pic>
      <p:pic>
        <p:nvPicPr>
          <p:cNvPr id="70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73567" y="6397586"/>
            <a:ext cx="12442" cy="37326"/>
          </a:xfrm>
          <a:prstGeom prst="rect">
            <a:avLst/>
          </a:prstGeom>
        </p:spPr>
      </p:pic>
      <p:pic>
        <p:nvPicPr>
          <p:cNvPr id="71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47212" y="6011882"/>
            <a:ext cx="174188" cy="199073"/>
          </a:xfrm>
          <a:prstGeom prst="rect">
            <a:avLst/>
          </a:prstGeom>
        </p:spPr>
      </p:pic>
      <p:pic>
        <p:nvPicPr>
          <p:cNvPr id="72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163443" y="5999440"/>
            <a:ext cx="273725" cy="298609"/>
          </a:xfrm>
          <a:prstGeom prst="rect">
            <a:avLst/>
          </a:prstGeom>
        </p:spPr>
      </p:pic>
      <p:pic>
        <p:nvPicPr>
          <p:cNvPr id="73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41805" y="5887462"/>
            <a:ext cx="547449" cy="920710"/>
          </a:xfrm>
          <a:prstGeom prst="rect">
            <a:avLst/>
          </a:prstGeom>
        </p:spPr>
      </p:pic>
      <p:pic>
        <p:nvPicPr>
          <p:cNvPr id="74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28899" y="5924788"/>
            <a:ext cx="373261" cy="323493"/>
          </a:xfrm>
          <a:prstGeom prst="rect">
            <a:avLst/>
          </a:prstGeom>
        </p:spPr>
      </p:pic>
      <p:sp>
        <p:nvSpPr>
          <p:cNvPr id="75" name="Shape 43"/>
          <p:cNvSpPr/>
          <p:nvPr/>
        </p:nvSpPr>
        <p:spPr>
          <a:xfrm>
            <a:off x="4566225" y="5974556"/>
            <a:ext cx="323493" cy="261283"/>
          </a:xfrm>
          <a:prstGeom prst="roundRect">
            <a:avLst>
              <a:gd name="adj" fmla="val 26190"/>
            </a:avLst>
          </a:prstGeom>
          <a:solidFill>
            <a:srgbClr val="B68046"/>
          </a:solidFill>
          <a:ln w="9525">
            <a:solidFill>
              <a:srgbClr val="D1A679"/>
            </a:solidFill>
            <a:prstDash val="solid"/>
          </a:ln>
        </p:spPr>
      </p:sp>
      <p:sp>
        <p:nvSpPr>
          <p:cNvPr id="76" name="Text 44"/>
          <p:cNvSpPr/>
          <p:nvPr/>
        </p:nvSpPr>
        <p:spPr>
          <a:xfrm>
            <a:off x="4615994" y="5999440"/>
            <a:ext cx="236399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069" b="1" dirty="0">
                <a:solidFill>
                  <a:srgbClr val="E6D4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69" dirty="0"/>
          </a:p>
        </p:txBody>
      </p:sp>
      <p:sp>
        <p:nvSpPr>
          <p:cNvPr id="77" name="Text 45"/>
          <p:cNvSpPr/>
          <p:nvPr/>
        </p:nvSpPr>
        <p:spPr>
          <a:xfrm>
            <a:off x="5686009" y="6273165"/>
            <a:ext cx="2650153" cy="485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35"/>
              </a:lnSpc>
            </a:pPr>
            <a:r>
              <a:rPr lang="en-US" sz="1163" dirty="0">
                <a:solidFill>
                  <a:srgbClr val="849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설명만으로 정상거래 판단 어려움</a:t>
            </a:r>
            <a:endParaRPr lang="en-US" sz="1163" dirty="0"/>
          </a:p>
          <a:p>
            <a:pPr>
              <a:lnSpc>
                <a:spcPts val="1535"/>
              </a:lnSpc>
            </a:pPr>
            <a:r>
              <a:rPr lang="en-US" sz="1163" dirty="0">
                <a:solidFill>
                  <a:srgbClr val="849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해제 후 추가 피해 위험</a:t>
            </a:r>
            <a:endParaRPr lang="en-US" sz="1163" dirty="0"/>
          </a:p>
        </p:txBody>
      </p:sp>
      <p:sp>
        <p:nvSpPr>
          <p:cNvPr id="78" name="Text 46"/>
          <p:cNvSpPr/>
          <p:nvPr/>
        </p:nvSpPr>
        <p:spPr>
          <a:xfrm>
            <a:off x="5673567" y="5974556"/>
            <a:ext cx="1132225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17"/>
              </a:lnSpc>
            </a:pPr>
            <a:r>
              <a:rPr lang="en-US" sz="1291" dirty="0">
                <a:solidFill>
                  <a:srgbClr val="5B70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 메모</a:t>
            </a:r>
            <a:endParaRPr lang="en-US" sz="1291" dirty="0"/>
          </a:p>
        </p:txBody>
      </p:sp>
      <p:pic>
        <p:nvPicPr>
          <p:cNvPr id="79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54248" y="4916983"/>
            <a:ext cx="4541341" cy="920710"/>
          </a:xfrm>
          <a:prstGeom prst="rect">
            <a:avLst/>
          </a:prstGeom>
        </p:spPr>
      </p:pic>
      <p:pic>
        <p:nvPicPr>
          <p:cNvPr id="80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73567" y="5638622"/>
            <a:ext cx="37326" cy="37326"/>
          </a:xfrm>
          <a:prstGeom prst="rect">
            <a:avLst/>
          </a:prstGeom>
        </p:spPr>
      </p:pic>
      <p:pic>
        <p:nvPicPr>
          <p:cNvPr id="81" name="Image 3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673567" y="5414665"/>
            <a:ext cx="37326" cy="37326"/>
          </a:xfrm>
          <a:prstGeom prst="rect">
            <a:avLst/>
          </a:prstGeom>
        </p:spPr>
      </p:pic>
      <p:pic>
        <p:nvPicPr>
          <p:cNvPr id="82" name="Image 3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47213" y="5016520"/>
            <a:ext cx="186630" cy="211515"/>
          </a:xfrm>
          <a:prstGeom prst="rect">
            <a:avLst/>
          </a:prstGeom>
        </p:spPr>
      </p:pic>
      <p:pic>
        <p:nvPicPr>
          <p:cNvPr id="83" name="Image 3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151001" y="5004078"/>
            <a:ext cx="298609" cy="311051"/>
          </a:xfrm>
          <a:prstGeom prst="rect">
            <a:avLst/>
          </a:prstGeom>
        </p:spPr>
      </p:pic>
      <p:sp>
        <p:nvSpPr>
          <p:cNvPr id="84" name="Shape 47"/>
          <p:cNvSpPr/>
          <p:nvPr/>
        </p:nvSpPr>
        <p:spPr>
          <a:xfrm>
            <a:off x="4566225" y="4979193"/>
            <a:ext cx="323493" cy="273725"/>
          </a:xfrm>
          <a:prstGeom prst="roundRect">
            <a:avLst>
              <a:gd name="adj" fmla="val 26136"/>
            </a:avLst>
          </a:prstGeom>
          <a:solidFill>
            <a:srgbClr val="014BB4"/>
          </a:solidFill>
          <a:ln w="9525">
            <a:solidFill>
              <a:srgbClr val="5A7CCA"/>
            </a:solidFill>
            <a:prstDash val="solid"/>
          </a:ln>
        </p:spPr>
      </p:sp>
      <p:sp>
        <p:nvSpPr>
          <p:cNvPr id="85" name="Text 48"/>
          <p:cNvSpPr/>
          <p:nvPr/>
        </p:nvSpPr>
        <p:spPr>
          <a:xfrm>
            <a:off x="4615993" y="5016520"/>
            <a:ext cx="2239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6"/>
              </a:lnSpc>
            </a:pPr>
            <a:r>
              <a:rPr lang="en-US" sz="1167" dirty="0">
                <a:solidFill>
                  <a:srgbClr val="A6BD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67" dirty="0"/>
          </a:p>
        </p:txBody>
      </p:sp>
      <p:sp>
        <p:nvSpPr>
          <p:cNvPr id="86" name="Text 49"/>
          <p:cNvSpPr/>
          <p:nvPr/>
        </p:nvSpPr>
        <p:spPr>
          <a:xfrm>
            <a:off x="5810429" y="5315129"/>
            <a:ext cx="2115145" cy="43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40"/>
              </a:lnSpc>
            </a:pPr>
            <a:r>
              <a:rPr lang="en-US" sz="1130" dirty="0">
                <a:solidFill>
                  <a:srgbClr val="7F94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2/21 의심계좌 확인</a:t>
            </a:r>
            <a:endParaRPr lang="en-US" sz="1130" dirty="0"/>
          </a:p>
          <a:p>
            <a:pPr>
              <a:lnSpc>
                <a:spcPts val="1540"/>
              </a:lnSpc>
            </a:pPr>
            <a:r>
              <a:rPr lang="en-US" sz="1130" dirty="0">
                <a:solidFill>
                  <a:srgbClr val="7F94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다른 3개 계좌로 추가 송금</a:t>
            </a:r>
            <a:endParaRPr lang="en-US" sz="1130" dirty="0"/>
          </a:p>
        </p:txBody>
      </p:sp>
      <p:sp>
        <p:nvSpPr>
          <p:cNvPr id="87" name="Text 50"/>
          <p:cNvSpPr/>
          <p:nvPr/>
        </p:nvSpPr>
        <p:spPr>
          <a:xfrm>
            <a:off x="5661125" y="4991636"/>
            <a:ext cx="1157109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84"/>
              </a:lnSpc>
            </a:pPr>
            <a:r>
              <a:rPr lang="en-US" sz="1318" dirty="0">
                <a:solidFill>
                  <a:srgbClr val="5A7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조회 결과</a:t>
            </a:r>
            <a:endParaRPr lang="en-US" sz="1318" dirty="0"/>
          </a:p>
        </p:txBody>
      </p:sp>
      <p:pic>
        <p:nvPicPr>
          <p:cNvPr id="88" name="Image 3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441806" y="3934063"/>
            <a:ext cx="4566225" cy="908268"/>
          </a:xfrm>
          <a:prstGeom prst="rect">
            <a:avLst/>
          </a:prstGeom>
        </p:spPr>
      </p:pic>
      <p:pic>
        <p:nvPicPr>
          <p:cNvPr id="89" name="Image 3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673567" y="4655701"/>
            <a:ext cx="37326" cy="37326"/>
          </a:xfrm>
          <a:prstGeom prst="rect">
            <a:avLst/>
          </a:prstGeom>
        </p:spPr>
      </p:pic>
      <p:pic>
        <p:nvPicPr>
          <p:cNvPr id="90" name="Image 3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673567" y="4431745"/>
            <a:ext cx="37326" cy="37326"/>
          </a:xfrm>
          <a:prstGeom prst="rect">
            <a:avLst/>
          </a:prstGeom>
        </p:spPr>
      </p:pic>
      <p:pic>
        <p:nvPicPr>
          <p:cNvPr id="91" name="Image 3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647212" y="4033599"/>
            <a:ext cx="174188" cy="211515"/>
          </a:xfrm>
          <a:prstGeom prst="rect">
            <a:avLst/>
          </a:prstGeom>
        </p:spPr>
      </p:pic>
      <p:pic>
        <p:nvPicPr>
          <p:cNvPr id="92" name="Image 39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151001" y="4021157"/>
            <a:ext cx="273725" cy="311051"/>
          </a:xfrm>
          <a:prstGeom prst="rect">
            <a:avLst/>
          </a:prstGeom>
        </p:spPr>
      </p:pic>
      <p:sp>
        <p:nvSpPr>
          <p:cNvPr id="93" name="Shape 51"/>
          <p:cNvSpPr/>
          <p:nvPr/>
        </p:nvSpPr>
        <p:spPr>
          <a:xfrm>
            <a:off x="4566225" y="3996273"/>
            <a:ext cx="323493" cy="273725"/>
          </a:xfrm>
          <a:prstGeom prst="roundRect">
            <a:avLst>
              <a:gd name="adj" fmla="val 25000"/>
            </a:avLst>
          </a:prstGeom>
          <a:solidFill>
            <a:srgbClr val="01599F"/>
          </a:solidFill>
          <a:ln w="9525">
            <a:solidFill>
              <a:srgbClr val="4E81B3"/>
            </a:solidFill>
            <a:prstDash val="solid"/>
          </a:ln>
        </p:spPr>
      </p:sp>
      <p:sp>
        <p:nvSpPr>
          <p:cNvPr id="94" name="Text 52"/>
          <p:cNvSpPr/>
          <p:nvPr/>
        </p:nvSpPr>
        <p:spPr>
          <a:xfrm>
            <a:off x="4615994" y="4033600"/>
            <a:ext cx="2363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6"/>
              </a:lnSpc>
            </a:pPr>
            <a:r>
              <a:rPr lang="en-US" sz="1167" b="1" dirty="0">
                <a:solidFill>
                  <a:srgbClr val="9AB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67" dirty="0"/>
          </a:p>
        </p:txBody>
      </p:sp>
      <p:sp>
        <p:nvSpPr>
          <p:cNvPr id="95" name="Text 53"/>
          <p:cNvSpPr/>
          <p:nvPr/>
        </p:nvSpPr>
        <p:spPr>
          <a:xfrm>
            <a:off x="5797987" y="4332208"/>
            <a:ext cx="2600385" cy="42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97"/>
              </a:lnSpc>
            </a:pPr>
            <a:r>
              <a:rPr lang="en-US" sz="1118" dirty="0">
                <a:solidFill>
                  <a:srgbClr val="869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설명: '주식 투자 목적'</a:t>
            </a:r>
            <a:endParaRPr lang="en-US" sz="1118" dirty="0"/>
          </a:p>
          <a:p>
            <a:pPr>
              <a:lnSpc>
                <a:spcPts val="1497"/>
              </a:lnSpc>
            </a:pPr>
            <a:r>
              <a:rPr lang="en-US" sz="1118" dirty="0">
                <a:solidFill>
                  <a:srgbClr val="869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경찰서 방문 안내했으나 신뢰 형성 실패</a:t>
            </a:r>
            <a:endParaRPr lang="en-US" sz="1118" dirty="0"/>
          </a:p>
        </p:txBody>
      </p:sp>
      <p:sp>
        <p:nvSpPr>
          <p:cNvPr id="96" name="Text 54"/>
          <p:cNvSpPr/>
          <p:nvPr/>
        </p:nvSpPr>
        <p:spPr>
          <a:xfrm>
            <a:off x="5661125" y="4008715"/>
            <a:ext cx="1157109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3"/>
              </a:lnSpc>
            </a:pPr>
            <a:r>
              <a:rPr lang="en-US" sz="1318" dirty="0">
                <a:solidFill>
                  <a:srgbClr val="536E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확인 요약</a:t>
            </a:r>
            <a:endParaRPr lang="en-US" sz="1318" dirty="0"/>
          </a:p>
        </p:txBody>
      </p:sp>
      <p:pic>
        <p:nvPicPr>
          <p:cNvPr id="97" name="Image 40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441806" y="2801838"/>
            <a:ext cx="4566225" cy="1057573"/>
          </a:xfrm>
          <a:prstGeom prst="rect">
            <a:avLst/>
          </a:prstGeom>
        </p:spPr>
      </p:pic>
      <p:pic>
        <p:nvPicPr>
          <p:cNvPr id="98" name="Image 41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73567" y="3685223"/>
            <a:ext cx="37326" cy="37326"/>
          </a:xfrm>
          <a:prstGeom prst="rect">
            <a:avLst/>
          </a:prstGeom>
        </p:spPr>
      </p:pic>
      <p:pic>
        <p:nvPicPr>
          <p:cNvPr id="99" name="Image 42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673567" y="3486150"/>
            <a:ext cx="37326" cy="37326"/>
          </a:xfrm>
          <a:prstGeom prst="rect">
            <a:avLst/>
          </a:prstGeom>
        </p:spPr>
      </p:pic>
      <p:pic>
        <p:nvPicPr>
          <p:cNvPr id="100" name="Image 43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673567" y="3274636"/>
            <a:ext cx="37326" cy="37326"/>
          </a:xfrm>
          <a:prstGeom prst="rect">
            <a:avLst/>
          </a:prstGeom>
        </p:spPr>
      </p:pic>
      <p:pic>
        <p:nvPicPr>
          <p:cNvPr id="101" name="Image 44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647212" y="2901374"/>
            <a:ext cx="174188" cy="211515"/>
          </a:xfrm>
          <a:prstGeom prst="rect">
            <a:avLst/>
          </a:prstGeom>
        </p:spPr>
      </p:pic>
      <p:pic>
        <p:nvPicPr>
          <p:cNvPr id="102" name="Image 45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51001" y="2901375"/>
            <a:ext cx="273725" cy="335935"/>
          </a:xfrm>
          <a:prstGeom prst="rect">
            <a:avLst/>
          </a:prstGeom>
        </p:spPr>
      </p:pic>
      <p:sp>
        <p:nvSpPr>
          <p:cNvPr id="103" name="Shape 55"/>
          <p:cNvSpPr/>
          <p:nvPr/>
        </p:nvSpPr>
        <p:spPr>
          <a:xfrm>
            <a:off x="4566225" y="2864048"/>
            <a:ext cx="323493" cy="273725"/>
          </a:xfrm>
          <a:prstGeom prst="roundRect">
            <a:avLst>
              <a:gd name="adj" fmla="val 25000"/>
            </a:avLst>
          </a:prstGeom>
          <a:solidFill>
            <a:srgbClr val="0351BC"/>
          </a:solidFill>
          <a:ln w="9525">
            <a:solidFill>
              <a:srgbClr val="104CBC"/>
            </a:solidFill>
            <a:prstDash val="solid"/>
          </a:ln>
        </p:spPr>
      </p:sp>
      <p:sp>
        <p:nvSpPr>
          <p:cNvPr id="104" name="Text 56"/>
          <p:cNvSpPr/>
          <p:nvPr/>
        </p:nvSpPr>
        <p:spPr>
          <a:xfrm>
            <a:off x="4615993" y="2901375"/>
            <a:ext cx="22395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078"/>
              </a:lnSpc>
            </a:pPr>
            <a:r>
              <a:rPr lang="en-US" sz="1069" b="1" dirty="0">
                <a:solidFill>
                  <a:srgbClr val="A0BC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69" dirty="0"/>
          </a:p>
        </p:txBody>
      </p:sp>
      <p:sp>
        <p:nvSpPr>
          <p:cNvPr id="105" name="Text 57"/>
          <p:cNvSpPr/>
          <p:nvPr/>
        </p:nvSpPr>
        <p:spPr>
          <a:xfrm>
            <a:off x="5797987" y="3175099"/>
            <a:ext cx="1269087" cy="60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83"/>
              </a:lnSpc>
            </a:pPr>
            <a:r>
              <a:rPr lang="en-US" sz="1108" dirty="0">
                <a:solidFill>
                  <a:srgbClr val="7F9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2/20 이상거래 탐지</a:t>
            </a:r>
            <a:endParaRPr lang="en-US" sz="1108" dirty="0"/>
          </a:p>
          <a:p>
            <a:pPr>
              <a:lnSpc>
                <a:spcPts val="1583"/>
              </a:lnSpc>
            </a:pPr>
            <a:r>
              <a:rPr lang="en-US" sz="1108" dirty="0">
                <a:solidFill>
                  <a:srgbClr val="7F9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송금4억원</a:t>
            </a:r>
            <a:endParaRPr lang="en-US" sz="1108" dirty="0"/>
          </a:p>
          <a:p>
            <a:pPr>
              <a:lnSpc>
                <a:spcPts val="1583"/>
              </a:lnSpc>
            </a:pPr>
            <a:r>
              <a:rPr lang="en-US" sz="1108" dirty="0">
                <a:solidFill>
                  <a:srgbClr val="7F9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차례 거래 제한</a:t>
            </a:r>
            <a:endParaRPr lang="en-US" sz="1108" dirty="0"/>
          </a:p>
        </p:txBody>
      </p:sp>
      <p:sp>
        <p:nvSpPr>
          <p:cNvPr id="106" name="Text 58"/>
          <p:cNvSpPr/>
          <p:nvPr/>
        </p:nvSpPr>
        <p:spPr>
          <a:xfrm>
            <a:off x="5661125" y="2876490"/>
            <a:ext cx="75896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94"/>
              </a:lnSpc>
            </a:pPr>
            <a:r>
              <a:rPr lang="en-US" sz="1543" dirty="0">
                <a:solidFill>
                  <a:srgbClr val="5471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FDS결과</a:t>
            </a:r>
            <a:endParaRPr lang="en-US" sz="1543" dirty="0"/>
          </a:p>
        </p:txBody>
      </p:sp>
      <p:pic>
        <p:nvPicPr>
          <p:cNvPr id="107" name="Image 46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304944" y="2241947"/>
            <a:ext cx="8025110" cy="485239"/>
          </a:xfrm>
          <a:prstGeom prst="rect">
            <a:avLst/>
          </a:prstGeom>
        </p:spPr>
      </p:pic>
      <p:pic>
        <p:nvPicPr>
          <p:cNvPr id="108" name="Image 47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504016" y="2677418"/>
            <a:ext cx="1007805" cy="24884"/>
          </a:xfrm>
          <a:prstGeom prst="rect">
            <a:avLst/>
          </a:prstGeom>
        </p:spPr>
      </p:pic>
      <p:sp>
        <p:nvSpPr>
          <p:cNvPr id="109" name="Shape 59"/>
          <p:cNvSpPr/>
          <p:nvPr/>
        </p:nvSpPr>
        <p:spPr>
          <a:xfrm>
            <a:off x="9343966" y="2378809"/>
            <a:ext cx="74652" cy="22395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0" name="Shape 60"/>
          <p:cNvSpPr/>
          <p:nvPr/>
        </p:nvSpPr>
        <p:spPr>
          <a:xfrm>
            <a:off x="7975342" y="2378809"/>
            <a:ext cx="74652" cy="223957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11" name="Shape 61"/>
          <p:cNvSpPr/>
          <p:nvPr/>
        </p:nvSpPr>
        <p:spPr>
          <a:xfrm>
            <a:off x="6731139" y="2391251"/>
            <a:ext cx="74652" cy="223957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12" name="Text 62"/>
          <p:cNvSpPr/>
          <p:nvPr/>
        </p:nvSpPr>
        <p:spPr>
          <a:xfrm>
            <a:off x="10936545" y="2366366"/>
            <a:ext cx="69675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1"/>
              </a:lnSpc>
            </a:pPr>
            <a:r>
              <a:rPr lang="en-US" sz="1224" dirty="0">
                <a:solidFill>
                  <a:srgbClr val="849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검토</a:t>
            </a:r>
            <a:endParaRPr lang="en-US" sz="1224" dirty="0"/>
          </a:p>
        </p:txBody>
      </p:sp>
      <p:sp>
        <p:nvSpPr>
          <p:cNvPr id="113" name="Text 63"/>
          <p:cNvSpPr/>
          <p:nvPr/>
        </p:nvSpPr>
        <p:spPr>
          <a:xfrm>
            <a:off x="9655017" y="2366366"/>
            <a:ext cx="709196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19"/>
              </a:lnSpc>
            </a:pPr>
            <a:r>
              <a:rPr lang="en-US" sz="1245" dirty="0">
                <a:solidFill>
                  <a:srgbClr val="8094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메모</a:t>
            </a:r>
            <a:endParaRPr lang="en-US" sz="1245" dirty="0"/>
          </a:p>
        </p:txBody>
      </p:sp>
      <p:sp>
        <p:nvSpPr>
          <p:cNvPr id="114" name="Text 64"/>
          <p:cNvSpPr/>
          <p:nvPr/>
        </p:nvSpPr>
        <p:spPr>
          <a:xfrm>
            <a:off x="8311277" y="2366366"/>
            <a:ext cx="69675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98"/>
              </a:lnSpc>
            </a:pPr>
            <a:r>
              <a:rPr lang="en-US" sz="1224" dirty="0">
                <a:solidFill>
                  <a:srgbClr val="8DA0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조회</a:t>
            </a:r>
            <a:endParaRPr lang="en-US" sz="1224" dirty="0"/>
          </a:p>
        </p:txBody>
      </p:sp>
      <p:sp>
        <p:nvSpPr>
          <p:cNvPr id="115" name="Text 65"/>
          <p:cNvSpPr/>
          <p:nvPr/>
        </p:nvSpPr>
        <p:spPr>
          <a:xfrm>
            <a:off x="7054632" y="2366366"/>
            <a:ext cx="69675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98"/>
              </a:lnSpc>
            </a:pPr>
            <a:r>
              <a:rPr lang="en-US" sz="1224" dirty="0">
                <a:solidFill>
                  <a:srgbClr val="8397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확인</a:t>
            </a:r>
            <a:endParaRPr lang="en-US" sz="1224" dirty="0"/>
          </a:p>
        </p:txBody>
      </p:sp>
      <p:sp>
        <p:nvSpPr>
          <p:cNvPr id="116" name="Text 66"/>
          <p:cNvSpPr/>
          <p:nvPr/>
        </p:nvSpPr>
        <p:spPr>
          <a:xfrm>
            <a:off x="5822871" y="2366366"/>
            <a:ext cx="69675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1"/>
              </a:lnSpc>
            </a:pPr>
            <a:r>
              <a:rPr lang="en-US" sz="1416" dirty="0">
                <a:solidFill>
                  <a:srgbClr val="81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FDS결과</a:t>
            </a:r>
            <a:endParaRPr lang="en-US" sz="1416" dirty="0"/>
          </a:p>
        </p:txBody>
      </p:sp>
      <p:sp>
        <p:nvSpPr>
          <p:cNvPr id="117" name="Text 67"/>
          <p:cNvSpPr/>
          <p:nvPr/>
        </p:nvSpPr>
        <p:spPr>
          <a:xfrm>
            <a:off x="4591109" y="2366366"/>
            <a:ext cx="69675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19"/>
              </a:lnSpc>
            </a:pPr>
            <a:r>
              <a:rPr lang="en-US" sz="1322" dirty="0">
                <a:solidFill>
                  <a:srgbClr val="6A7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종합검토</a:t>
            </a:r>
            <a:endParaRPr lang="en-US" sz="1322" dirty="0"/>
          </a:p>
        </p:txBody>
      </p:sp>
      <p:sp>
        <p:nvSpPr>
          <p:cNvPr id="118" name="Shape 68"/>
          <p:cNvSpPr/>
          <p:nvPr/>
        </p:nvSpPr>
        <p:spPr>
          <a:xfrm>
            <a:off x="4329827" y="1843802"/>
            <a:ext cx="7987784" cy="385703"/>
          </a:xfrm>
          <a:prstGeom prst="roundRect">
            <a:avLst>
              <a:gd name="adj" fmla="val 4839"/>
            </a:avLst>
          </a:prstGeom>
          <a:solidFill>
            <a:srgbClr val="002A68"/>
          </a:solidFill>
          <a:ln w="9525">
            <a:solidFill>
              <a:srgbClr val="415F8C"/>
            </a:solidFill>
            <a:prstDash val="solid"/>
          </a:ln>
        </p:spPr>
      </p:sp>
      <p:sp>
        <p:nvSpPr>
          <p:cNvPr id="119" name="Shape 69"/>
          <p:cNvSpPr/>
          <p:nvPr/>
        </p:nvSpPr>
        <p:spPr>
          <a:xfrm>
            <a:off x="4416922" y="1893570"/>
            <a:ext cx="5909965" cy="286167"/>
          </a:xfrm>
          <a:prstGeom prst="rect">
            <a:avLst/>
          </a:prstGeom>
          <a:solidFill>
            <a:srgbClr val="012D6A"/>
          </a:solidFill>
          <a:ln/>
        </p:spPr>
      </p:sp>
      <p:sp>
        <p:nvSpPr>
          <p:cNvPr id="120" name="Text 70"/>
          <p:cNvSpPr/>
          <p:nvPr/>
        </p:nvSpPr>
        <p:spPr>
          <a:xfrm>
            <a:off x="4491573" y="1906012"/>
            <a:ext cx="5822871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30"/>
              </a:lnSpc>
            </a:pPr>
            <a:r>
              <a:rPr lang="en-US" sz="1494" dirty="0">
                <a:solidFill>
                  <a:srgbClr val="A7B5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검토 화면 예시 (다양한 정보를 종합해 조치를 검토하는 과정)</a:t>
            </a:r>
            <a:endParaRPr lang="en-US" sz="1494" dirty="0"/>
          </a:p>
        </p:txBody>
      </p:sp>
      <p:pic>
        <p:nvPicPr>
          <p:cNvPr id="121" name="Image 48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48841" y="6658868"/>
            <a:ext cx="3956566" cy="2090261"/>
          </a:xfrm>
          <a:prstGeom prst="rect">
            <a:avLst/>
          </a:prstGeom>
        </p:spPr>
      </p:pic>
      <p:pic>
        <p:nvPicPr>
          <p:cNvPr id="122" name="Image 49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22102" y="8102143"/>
            <a:ext cx="286167" cy="298609"/>
          </a:xfrm>
          <a:prstGeom prst="rect">
            <a:avLst/>
          </a:prstGeom>
        </p:spPr>
      </p:pic>
      <p:sp>
        <p:nvSpPr>
          <p:cNvPr id="123" name="Text 71"/>
          <p:cNvSpPr/>
          <p:nvPr/>
        </p:nvSpPr>
        <p:spPr>
          <a:xfrm>
            <a:off x="671871" y="8164354"/>
            <a:ext cx="186630" cy="16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80"/>
              </a:lnSpc>
            </a:pPr>
            <a:r>
              <a:rPr lang="en-US" sz="971" dirty="0">
                <a:solidFill>
                  <a:srgbClr val="9EAF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71" dirty="0"/>
          </a:p>
        </p:txBody>
      </p:sp>
      <p:pic>
        <p:nvPicPr>
          <p:cNvPr id="124" name="Image 50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22102" y="7728882"/>
            <a:ext cx="286167" cy="298609"/>
          </a:xfrm>
          <a:prstGeom prst="rect">
            <a:avLst/>
          </a:prstGeom>
        </p:spPr>
      </p:pic>
      <p:sp>
        <p:nvSpPr>
          <p:cNvPr id="125" name="Text 72"/>
          <p:cNvSpPr/>
          <p:nvPr/>
        </p:nvSpPr>
        <p:spPr>
          <a:xfrm>
            <a:off x="671870" y="7791093"/>
            <a:ext cx="174188" cy="16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52"/>
              </a:lnSpc>
            </a:pPr>
            <a:r>
              <a:rPr lang="en-US" sz="1161" dirty="0">
                <a:solidFill>
                  <a:srgbClr val="A4B2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61" dirty="0"/>
          </a:p>
        </p:txBody>
      </p:sp>
      <p:pic>
        <p:nvPicPr>
          <p:cNvPr id="126" name="Image 51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22101" y="7392947"/>
            <a:ext cx="273725" cy="273725"/>
          </a:xfrm>
          <a:prstGeom prst="rect">
            <a:avLst/>
          </a:prstGeom>
        </p:spPr>
      </p:pic>
      <p:sp>
        <p:nvSpPr>
          <p:cNvPr id="127" name="Text 73"/>
          <p:cNvSpPr/>
          <p:nvPr/>
        </p:nvSpPr>
        <p:spPr>
          <a:xfrm>
            <a:off x="671870" y="7442716"/>
            <a:ext cx="174188" cy="14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30"/>
              </a:lnSpc>
            </a:pPr>
            <a:r>
              <a:rPr lang="en-US" sz="1161" dirty="0">
                <a:solidFill>
                  <a:srgbClr val="A5B6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61" dirty="0"/>
          </a:p>
        </p:txBody>
      </p:sp>
      <p:pic>
        <p:nvPicPr>
          <p:cNvPr id="128" name="Image 52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22101" y="7069455"/>
            <a:ext cx="273725" cy="261283"/>
          </a:xfrm>
          <a:prstGeom prst="rect">
            <a:avLst/>
          </a:prstGeom>
        </p:spPr>
      </p:pic>
      <p:sp>
        <p:nvSpPr>
          <p:cNvPr id="129" name="Text 74"/>
          <p:cNvSpPr/>
          <p:nvPr/>
        </p:nvSpPr>
        <p:spPr>
          <a:xfrm>
            <a:off x="646985" y="7106781"/>
            <a:ext cx="199073" cy="161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6"/>
              </a:lnSpc>
            </a:pPr>
            <a:r>
              <a:rPr lang="en-US" sz="1167" dirty="0">
                <a:solidFill>
                  <a:srgbClr val="A3B3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67" dirty="0"/>
          </a:p>
        </p:txBody>
      </p:sp>
      <p:pic>
        <p:nvPicPr>
          <p:cNvPr id="130" name="Image 53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22102" y="6745962"/>
            <a:ext cx="261283" cy="261283"/>
          </a:xfrm>
          <a:prstGeom prst="rect">
            <a:avLst/>
          </a:prstGeom>
        </p:spPr>
      </p:pic>
      <p:sp>
        <p:nvSpPr>
          <p:cNvPr id="131" name="Text 75"/>
          <p:cNvSpPr/>
          <p:nvPr/>
        </p:nvSpPr>
        <p:spPr>
          <a:xfrm>
            <a:off x="671871" y="6795730"/>
            <a:ext cx="161746" cy="14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822"/>
              </a:lnSpc>
            </a:pPr>
            <a:r>
              <a:rPr lang="en-US" sz="1114" dirty="0">
                <a:solidFill>
                  <a:srgbClr val="9DAE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14" dirty="0"/>
          </a:p>
        </p:txBody>
      </p:sp>
      <p:pic>
        <p:nvPicPr>
          <p:cNvPr id="132" name="Image 54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10588" y="6820615"/>
            <a:ext cx="111978" cy="1704558"/>
          </a:xfrm>
          <a:prstGeom prst="rect">
            <a:avLst/>
          </a:prstGeom>
        </p:spPr>
      </p:pic>
      <p:sp>
        <p:nvSpPr>
          <p:cNvPr id="133" name="Shape 76"/>
          <p:cNvSpPr/>
          <p:nvPr/>
        </p:nvSpPr>
        <p:spPr>
          <a:xfrm>
            <a:off x="261283" y="6260723"/>
            <a:ext cx="3931682" cy="410587"/>
          </a:xfrm>
          <a:prstGeom prst="roundRect">
            <a:avLst>
              <a:gd name="adj" fmla="val 4545"/>
            </a:avLst>
          </a:prstGeom>
          <a:solidFill>
            <a:srgbClr val="012B67"/>
          </a:solidFill>
          <a:ln w="9525">
            <a:solidFill>
              <a:srgbClr val="8498B5"/>
            </a:solidFill>
            <a:prstDash val="solid"/>
          </a:ln>
        </p:spPr>
      </p:sp>
      <p:sp>
        <p:nvSpPr>
          <p:cNvPr id="134" name="Text 77"/>
          <p:cNvSpPr/>
          <p:nvPr/>
        </p:nvSpPr>
        <p:spPr>
          <a:xfrm>
            <a:off x="423029" y="6322933"/>
            <a:ext cx="3135392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90"/>
              </a:lnSpc>
            </a:pPr>
            <a:r>
              <a:rPr lang="en-US" sz="1306" dirty="0">
                <a:solidFill>
                  <a:srgbClr val="A0AE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· 조치 과정에서 확인하는 주요 사항</a:t>
            </a:r>
            <a:endParaRPr lang="en-US" sz="1306" dirty="0"/>
          </a:p>
        </p:txBody>
      </p:sp>
      <p:sp>
        <p:nvSpPr>
          <p:cNvPr id="135" name="Text 78"/>
          <p:cNvSpPr/>
          <p:nvPr/>
        </p:nvSpPr>
        <p:spPr>
          <a:xfrm>
            <a:off x="1057573" y="8114585"/>
            <a:ext cx="296120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88"/>
              </a:lnSpc>
            </a:pPr>
            <a:r>
              <a:rPr lang="en-US" sz="1211" dirty="0">
                <a:solidFill>
                  <a:srgbClr val="778A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제한 유지 · 해제 및 후속조치 필요성</a:t>
            </a:r>
            <a:endParaRPr lang="en-US" sz="1211" dirty="0"/>
          </a:p>
        </p:txBody>
      </p:sp>
      <p:sp>
        <p:nvSpPr>
          <p:cNvPr id="136" name="Text 79"/>
          <p:cNvSpPr/>
          <p:nvPr/>
        </p:nvSpPr>
        <p:spPr>
          <a:xfrm>
            <a:off x="1057573" y="7741325"/>
            <a:ext cx="1430834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66"/>
              </a:lnSpc>
            </a:pPr>
            <a:r>
              <a:rPr lang="en-US" sz="1207" dirty="0">
                <a:solidFill>
                  <a:srgbClr val="7B8D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부서 검토 의견</a:t>
            </a:r>
            <a:endParaRPr lang="en-US" sz="1207" dirty="0"/>
          </a:p>
        </p:txBody>
      </p:sp>
      <p:sp>
        <p:nvSpPr>
          <p:cNvPr id="137" name="Text 80"/>
          <p:cNvSpPr/>
          <p:nvPr/>
        </p:nvSpPr>
        <p:spPr>
          <a:xfrm>
            <a:off x="1070015" y="7405389"/>
            <a:ext cx="2239566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4"/>
              </a:lnSpc>
            </a:pPr>
            <a:r>
              <a:rPr lang="en-US" sz="1187" dirty="0">
                <a:solidFill>
                  <a:srgbClr val="788B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조회 결과와 의심계좌 정보</a:t>
            </a:r>
            <a:endParaRPr lang="en-US" sz="1187" dirty="0"/>
          </a:p>
        </p:txBody>
      </p:sp>
      <p:sp>
        <p:nvSpPr>
          <p:cNvPr id="138" name="Text 81"/>
          <p:cNvSpPr/>
          <p:nvPr/>
        </p:nvSpPr>
        <p:spPr>
          <a:xfrm>
            <a:off x="1057572" y="7069454"/>
            <a:ext cx="1443276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78"/>
              </a:lnSpc>
            </a:pPr>
            <a:r>
              <a:rPr lang="en-US" sz="1217" dirty="0">
                <a:solidFill>
                  <a:srgbClr val="7A8D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확인 결과 요약</a:t>
            </a:r>
            <a:endParaRPr lang="en-US" sz="1217" dirty="0"/>
          </a:p>
        </p:txBody>
      </p:sp>
      <p:sp>
        <p:nvSpPr>
          <p:cNvPr id="139" name="Text 82"/>
          <p:cNvSpPr/>
          <p:nvPr/>
        </p:nvSpPr>
        <p:spPr>
          <a:xfrm>
            <a:off x="1057573" y="6745962"/>
            <a:ext cx="1717000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9"/>
              </a:lnSpc>
            </a:pPr>
            <a:r>
              <a:rPr lang="en-US" sz="1212" dirty="0">
                <a:solidFill>
                  <a:srgbClr val="7587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 탐지 결과와 위험도</a:t>
            </a:r>
            <a:endParaRPr lang="en-US" sz="1212" dirty="0"/>
          </a:p>
        </p:txBody>
      </p:sp>
      <p:sp>
        <p:nvSpPr>
          <p:cNvPr id="140" name="Shape 83"/>
          <p:cNvSpPr/>
          <p:nvPr/>
        </p:nvSpPr>
        <p:spPr>
          <a:xfrm>
            <a:off x="261283" y="1843801"/>
            <a:ext cx="3919240" cy="4329827"/>
          </a:xfrm>
          <a:prstGeom prst="rect">
            <a:avLst/>
          </a:prstGeom>
          <a:solidFill>
            <a:srgbClr val="F6FAFD"/>
          </a:solidFill>
          <a:ln/>
        </p:spPr>
      </p:sp>
      <p:pic>
        <p:nvPicPr>
          <p:cNvPr id="141" name="Image 55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866305" y="5302687"/>
            <a:ext cx="12442" cy="161746"/>
          </a:xfrm>
          <a:prstGeom prst="rect">
            <a:avLst/>
          </a:prstGeom>
        </p:spPr>
      </p:pic>
      <p:pic>
        <p:nvPicPr>
          <p:cNvPr id="142" name="Image 56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35472" y="5240476"/>
            <a:ext cx="286167" cy="298609"/>
          </a:xfrm>
          <a:prstGeom prst="rect">
            <a:avLst/>
          </a:prstGeom>
        </p:spPr>
      </p:pic>
      <p:pic>
        <p:nvPicPr>
          <p:cNvPr id="143" name="Image 57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853863" y="4817448"/>
            <a:ext cx="24884" cy="161746"/>
          </a:xfrm>
          <a:prstGeom prst="rect">
            <a:avLst/>
          </a:prstGeom>
        </p:spPr>
      </p:pic>
      <p:pic>
        <p:nvPicPr>
          <p:cNvPr id="144" name="Image 58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23029" y="4742795"/>
            <a:ext cx="323493" cy="311051"/>
          </a:xfrm>
          <a:prstGeom prst="rect">
            <a:avLst/>
          </a:prstGeom>
        </p:spPr>
      </p:pic>
      <p:pic>
        <p:nvPicPr>
          <p:cNvPr id="145" name="Image 59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853863" y="4344650"/>
            <a:ext cx="24884" cy="174188"/>
          </a:xfrm>
          <a:prstGeom prst="rect">
            <a:avLst/>
          </a:prstGeom>
        </p:spPr>
      </p:pic>
      <p:pic>
        <p:nvPicPr>
          <p:cNvPr id="146" name="Image 60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35471" y="4269997"/>
            <a:ext cx="298609" cy="298609"/>
          </a:xfrm>
          <a:prstGeom prst="rect">
            <a:avLst/>
          </a:prstGeom>
        </p:spPr>
      </p:pic>
      <p:pic>
        <p:nvPicPr>
          <p:cNvPr id="147" name="Image 61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73262" y="4095810"/>
            <a:ext cx="3670399" cy="62210"/>
          </a:xfrm>
          <a:prstGeom prst="rect">
            <a:avLst/>
          </a:prstGeom>
        </p:spPr>
      </p:pic>
      <p:pic>
        <p:nvPicPr>
          <p:cNvPr id="148" name="Image 62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98146" y="2142411"/>
            <a:ext cx="1505486" cy="1853863"/>
          </a:xfrm>
          <a:prstGeom prst="rect">
            <a:avLst/>
          </a:prstGeom>
        </p:spPr>
      </p:pic>
      <p:sp>
        <p:nvSpPr>
          <p:cNvPr id="149" name="Text 84"/>
          <p:cNvSpPr/>
          <p:nvPr/>
        </p:nvSpPr>
        <p:spPr>
          <a:xfrm>
            <a:off x="2040493" y="5265361"/>
            <a:ext cx="1965841" cy="758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13"/>
              </a:lnSpc>
            </a:pPr>
            <a:r>
              <a:rPr lang="en-US" sz="1251" dirty="0">
                <a:solidFill>
                  <a:srgbClr val="748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추가조회 검토/</a:t>
            </a:r>
            <a:endParaRPr lang="en-US" sz="1251" dirty="0"/>
          </a:p>
          <a:p>
            <a:pPr>
              <a:lnSpc>
                <a:spcPts val="1813"/>
              </a:lnSpc>
            </a:pPr>
            <a:r>
              <a:rPr lang="en-US" sz="1251" dirty="0">
                <a:solidFill>
                  <a:srgbClr val="748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관련부서 협의 /</a:t>
            </a:r>
            <a:endParaRPr lang="en-US" sz="1251" dirty="0"/>
          </a:p>
          <a:p>
            <a:pPr>
              <a:lnSpc>
                <a:spcPts val="1813"/>
              </a:lnSpc>
            </a:pPr>
            <a:r>
              <a:rPr lang="en-US" sz="1251" dirty="0">
                <a:solidFill>
                  <a:srgbClr val="748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제한 유지 · 해제 검토</a:t>
            </a:r>
            <a:endParaRPr lang="en-US" sz="1251" dirty="0"/>
          </a:p>
        </p:txBody>
      </p:sp>
      <p:sp>
        <p:nvSpPr>
          <p:cNvPr id="150" name="Text 85"/>
          <p:cNvSpPr/>
          <p:nvPr/>
        </p:nvSpPr>
        <p:spPr>
          <a:xfrm>
            <a:off x="920710" y="5252918"/>
            <a:ext cx="771406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1"/>
              </a:lnSpc>
            </a:pPr>
            <a:r>
              <a:rPr lang="en-US" sz="1474" dirty="0">
                <a:solidFill>
                  <a:srgbClr val="556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</a:t>
            </a:r>
            <a:endParaRPr lang="en-US" sz="1474" dirty="0"/>
          </a:p>
        </p:txBody>
      </p:sp>
      <p:sp>
        <p:nvSpPr>
          <p:cNvPr id="151" name="Text 86"/>
          <p:cNvSpPr/>
          <p:nvPr/>
        </p:nvSpPr>
        <p:spPr>
          <a:xfrm>
            <a:off x="2040494" y="4767679"/>
            <a:ext cx="485239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87"/>
              </a:lnSpc>
            </a:pPr>
            <a:r>
              <a:rPr lang="en-US" sz="1278" dirty="0">
                <a:solidFill>
                  <a:srgbClr val="768A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차</a:t>
            </a:r>
            <a:endParaRPr lang="en-US" sz="1278" dirty="0"/>
          </a:p>
        </p:txBody>
      </p:sp>
      <p:sp>
        <p:nvSpPr>
          <p:cNvPr id="152" name="Text 87"/>
          <p:cNvSpPr/>
          <p:nvPr/>
        </p:nvSpPr>
        <p:spPr>
          <a:xfrm>
            <a:off x="920711" y="4767679"/>
            <a:ext cx="360819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44"/>
              </a:lnSpc>
            </a:pPr>
            <a:r>
              <a:rPr lang="en-US" sz="1378" dirty="0">
                <a:solidFill>
                  <a:srgbClr val="596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</a:t>
            </a:r>
            <a:endParaRPr lang="en-US" sz="1378" dirty="0"/>
          </a:p>
        </p:txBody>
      </p:sp>
      <p:sp>
        <p:nvSpPr>
          <p:cNvPr id="153" name="Text 88"/>
          <p:cNvSpPr/>
          <p:nvPr/>
        </p:nvSpPr>
        <p:spPr>
          <a:xfrm>
            <a:off x="2028052" y="4294882"/>
            <a:ext cx="1505486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98"/>
              </a:lnSpc>
            </a:pPr>
            <a:r>
              <a:rPr lang="en-US" sz="1185" dirty="0">
                <a:solidFill>
                  <a:srgbClr val="7D91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 이상거래 대응팀</a:t>
            </a:r>
            <a:endParaRPr lang="en-US" sz="1185" dirty="0"/>
          </a:p>
        </p:txBody>
      </p:sp>
      <p:sp>
        <p:nvSpPr>
          <p:cNvPr id="154" name="Text 89"/>
          <p:cNvSpPr/>
          <p:nvPr/>
        </p:nvSpPr>
        <p:spPr>
          <a:xfrm>
            <a:off x="920710" y="4294882"/>
            <a:ext cx="373261" cy="23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44"/>
              </a:lnSpc>
            </a:pPr>
            <a:r>
              <a:rPr lang="en-US" sz="1420" dirty="0">
                <a:solidFill>
                  <a:srgbClr val="607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</a:t>
            </a:r>
            <a:endParaRPr lang="en-US" sz="1420" dirty="0"/>
          </a:p>
        </p:txBody>
      </p:sp>
      <p:sp>
        <p:nvSpPr>
          <p:cNvPr id="155" name="Text 90"/>
          <p:cNvSpPr/>
          <p:nvPr/>
        </p:nvSpPr>
        <p:spPr>
          <a:xfrm>
            <a:off x="2077820" y="3237310"/>
            <a:ext cx="2077819" cy="58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76"/>
              </a:lnSpc>
            </a:pPr>
            <a:r>
              <a:rPr lang="en-US" sz="1279" dirty="0">
                <a:solidFill>
                  <a:srgbClr val="7589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어떤 조치를 해야 할지</a:t>
            </a:r>
            <a:endParaRPr lang="en-US" sz="1279" dirty="0"/>
          </a:p>
          <a:p>
            <a:pPr>
              <a:lnSpc>
                <a:spcPts val="1676"/>
              </a:lnSpc>
            </a:pPr>
            <a:r>
              <a:rPr lang="en-US" sz="1279" dirty="0">
                <a:solidFill>
                  <a:srgbClr val="7589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판단합니다.”.</a:t>
            </a:r>
            <a:endParaRPr lang="en-US" sz="1279" dirty="0"/>
          </a:p>
        </p:txBody>
      </p:sp>
      <p:sp>
        <p:nvSpPr>
          <p:cNvPr id="156" name="Text 91"/>
          <p:cNvSpPr/>
          <p:nvPr/>
        </p:nvSpPr>
        <p:spPr>
          <a:xfrm>
            <a:off x="2052935" y="2976026"/>
            <a:ext cx="17170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62"/>
              </a:lnSpc>
            </a:pPr>
            <a:r>
              <a:rPr lang="en-US" sz="1298" dirty="0">
                <a:solidFill>
                  <a:srgbClr val="788C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"들어온 정보를 종합해</a:t>
            </a:r>
            <a:endParaRPr lang="en-US" sz="1298" dirty="0"/>
          </a:p>
        </p:txBody>
      </p:sp>
      <p:sp>
        <p:nvSpPr>
          <p:cNvPr id="157" name="Text 92"/>
          <p:cNvSpPr/>
          <p:nvPr/>
        </p:nvSpPr>
        <p:spPr>
          <a:xfrm>
            <a:off x="2028052" y="2490787"/>
            <a:ext cx="1828979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1"/>
              </a:lnSpc>
            </a:pPr>
            <a:r>
              <a:rPr lang="en-US" sz="1315" dirty="0">
                <a:solidFill>
                  <a:srgbClr val="546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 · 조치 담당자</a:t>
            </a:r>
            <a:endParaRPr lang="en-US" sz="1315" dirty="0"/>
          </a:p>
        </p:txBody>
      </p:sp>
      <p:sp>
        <p:nvSpPr>
          <p:cNvPr id="158" name="Text 93"/>
          <p:cNvSpPr/>
          <p:nvPr/>
        </p:nvSpPr>
        <p:spPr>
          <a:xfrm>
            <a:off x="3309581" y="2154852"/>
            <a:ext cx="485239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15"/>
              </a:lnSpc>
            </a:pPr>
            <a:r>
              <a:rPr lang="en-US" sz="1420" dirty="0">
                <a:solidFill>
                  <a:srgbClr val="7B93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(가명)</a:t>
            </a:r>
            <a:endParaRPr lang="en-US" sz="1420" dirty="0"/>
          </a:p>
        </p:txBody>
      </p:sp>
      <p:sp>
        <p:nvSpPr>
          <p:cNvPr id="159" name="Text 94"/>
          <p:cNvSpPr/>
          <p:nvPr/>
        </p:nvSpPr>
        <p:spPr>
          <a:xfrm>
            <a:off x="2028052" y="2092643"/>
            <a:ext cx="1231761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11"/>
              </a:lnSpc>
            </a:pPr>
            <a:r>
              <a:rPr lang="en-US" sz="1758" dirty="0">
                <a:solidFill>
                  <a:srgbClr val="4B659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이준호 대리</a:t>
            </a:r>
            <a:endParaRPr lang="en-US" sz="1758" dirty="0"/>
          </a:p>
        </p:txBody>
      </p:sp>
      <p:sp>
        <p:nvSpPr>
          <p:cNvPr id="160" name="Shape 95"/>
          <p:cNvSpPr/>
          <p:nvPr/>
        </p:nvSpPr>
        <p:spPr>
          <a:xfrm>
            <a:off x="2028051" y="263664"/>
            <a:ext cx="13686234" cy="12442"/>
          </a:xfrm>
          <a:prstGeom prst="rect">
            <a:avLst/>
          </a:prstGeom>
          <a:solidFill>
            <a:srgbClr val="A4ABC8"/>
          </a:solidFill>
          <a:ln/>
        </p:spPr>
      </p:sp>
      <p:sp>
        <p:nvSpPr>
          <p:cNvPr id="161" name="Text 96"/>
          <p:cNvSpPr/>
          <p:nvPr/>
        </p:nvSpPr>
        <p:spPr>
          <a:xfrm>
            <a:off x="286167" y="1371004"/>
            <a:ext cx="11944350" cy="3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13"/>
              </a:lnSpc>
            </a:pPr>
            <a:r>
              <a:rPr lang="en-US" sz="1855" dirty="0">
                <a:solidFill>
                  <a:srgbClr val="5D6F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확인 결과와 FDS 탐지 결과, 추가 조회 자료를 종합해 거래 제한 유지 ·해제와 후속 조치를 검토하는 사람</a:t>
            </a:r>
            <a:endParaRPr lang="en-US" sz="1855" dirty="0"/>
          </a:p>
        </p:txBody>
      </p:sp>
      <p:sp>
        <p:nvSpPr>
          <p:cNvPr id="162" name="Text 97"/>
          <p:cNvSpPr/>
          <p:nvPr/>
        </p:nvSpPr>
        <p:spPr>
          <a:xfrm>
            <a:off x="273725" y="562273"/>
            <a:ext cx="6332994" cy="758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997"/>
              </a:lnSpc>
            </a:pPr>
            <a:r>
              <a:rPr lang="en-US" sz="5223" b="1" dirty="0">
                <a:solidFill>
                  <a:srgbClr val="183B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</a:t>
            </a:r>
            <a:r>
              <a:rPr lang="en-US" sz="5223" b="1" dirty="0">
                <a:solidFill>
                  <a:srgbClr val="DA21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검토.조치</a:t>
            </a:r>
            <a:r>
              <a:rPr lang="en-US" sz="5223" b="1" dirty="0">
                <a:solidFill>
                  <a:srgbClr val="1F41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5223" dirty="0"/>
          </a:p>
        </p:txBody>
      </p:sp>
      <p:sp>
        <p:nvSpPr>
          <p:cNvPr id="163" name="Text 98"/>
          <p:cNvSpPr/>
          <p:nvPr/>
        </p:nvSpPr>
        <p:spPr>
          <a:xfrm>
            <a:off x="1007805" y="164128"/>
            <a:ext cx="821174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15"/>
              </a:lnSpc>
            </a:pPr>
            <a:r>
              <a:rPr lang="en-US" sz="1569" dirty="0">
                <a:solidFill>
                  <a:srgbClr val="6171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페로소나</a:t>
            </a:r>
            <a:endParaRPr lang="en-US" sz="1569" dirty="0"/>
          </a:p>
        </p:txBody>
      </p:sp>
      <p:sp>
        <p:nvSpPr>
          <p:cNvPr id="164" name="Shape 99"/>
          <p:cNvSpPr/>
          <p:nvPr/>
        </p:nvSpPr>
        <p:spPr>
          <a:xfrm>
            <a:off x="273726" y="126802"/>
            <a:ext cx="584775" cy="360819"/>
          </a:xfrm>
          <a:prstGeom prst="roundRect">
            <a:avLst>
              <a:gd name="adj" fmla="val 18103"/>
            </a:avLst>
          </a:prstGeom>
          <a:solidFill>
            <a:srgbClr val="012E6D"/>
          </a:solidFill>
          <a:ln w="9525">
            <a:solidFill>
              <a:srgbClr val="0A2866"/>
            </a:solidFill>
            <a:prstDash val="solid"/>
          </a:ln>
        </p:spPr>
      </p:sp>
      <p:sp>
        <p:nvSpPr>
          <p:cNvPr id="165" name="Text 100"/>
          <p:cNvSpPr/>
          <p:nvPr/>
        </p:nvSpPr>
        <p:spPr>
          <a:xfrm>
            <a:off x="423029" y="176569"/>
            <a:ext cx="298609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89"/>
              </a:lnSpc>
            </a:pPr>
            <a:r>
              <a:rPr lang="en-US" sz="2055" dirty="0">
                <a:solidFill>
                  <a:srgbClr val="ADB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205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81"/>
            <a:ext cx="15925800" cy="8958263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99" y="7803534"/>
            <a:ext cx="15465445" cy="87094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370" y="8039934"/>
            <a:ext cx="24884" cy="46035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75" y="7927955"/>
            <a:ext cx="696754" cy="6843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17000" y="8002608"/>
            <a:ext cx="13760887" cy="485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94"/>
              </a:lnSpc>
            </a:pPr>
            <a:r>
              <a:rPr lang="en-US" sz="2404" b="1" dirty="0">
                <a:solidFill>
                  <a:srgbClr val="3746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사람을 빼는 것이아니라,</a:t>
            </a:r>
            <a:r>
              <a:rPr lang="en-US" sz="2404" b="1" dirty="0">
                <a:solidFill>
                  <a:srgbClr val="D93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사람이 판단하기 전에 필요한 맥락이 먼저 보이게 만드는 것이다.</a:t>
            </a:r>
            <a:endParaRPr lang="en-US" sz="2404" dirty="0"/>
          </a:p>
        </p:txBody>
      </p:sp>
      <p:sp>
        <p:nvSpPr>
          <p:cNvPr id="7" name="Shape 2"/>
          <p:cNvSpPr/>
          <p:nvPr/>
        </p:nvSpPr>
        <p:spPr>
          <a:xfrm>
            <a:off x="8037553" y="5476874"/>
            <a:ext cx="7602081" cy="2239566"/>
          </a:xfrm>
          <a:prstGeom prst="roundRect">
            <a:avLst>
              <a:gd name="adj" fmla="val 1806"/>
            </a:avLst>
          </a:prstGeom>
          <a:solidFill>
            <a:srgbClr val="F9FBFC"/>
          </a:solidFill>
          <a:ln w="9525">
            <a:solidFill>
              <a:srgbClr val="F1F6FC"/>
            </a:solidFill>
            <a:prstDash val="solid"/>
          </a:ln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2619" y="6733520"/>
            <a:ext cx="261283" cy="21151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3113902" y="6061650"/>
            <a:ext cx="2451080" cy="1617464"/>
          </a:xfrm>
          <a:prstGeom prst="rect">
            <a:avLst/>
          </a:prstGeom>
          <a:solidFill>
            <a:srgbClr val="EDF5FE"/>
          </a:solidFill>
          <a:ln w="57150">
            <a:solidFill>
              <a:srgbClr val="F8FAFD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13238322" y="6223397"/>
            <a:ext cx="2127587" cy="335935"/>
          </a:xfrm>
          <a:prstGeom prst="roundRect">
            <a:avLst>
              <a:gd name="adj" fmla="val 14815"/>
            </a:avLst>
          </a:prstGeom>
          <a:solidFill>
            <a:srgbClr val="D7E8FE"/>
          </a:solidFill>
          <a:ln/>
        </p:spPr>
      </p:sp>
      <p:sp>
        <p:nvSpPr>
          <p:cNvPr id="11" name="Text 5"/>
          <p:cNvSpPr/>
          <p:nvPr/>
        </p:nvSpPr>
        <p:spPr>
          <a:xfrm>
            <a:off x="13387626" y="6248281"/>
            <a:ext cx="1828979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19"/>
              </a:lnSpc>
            </a:pPr>
            <a:r>
              <a:rPr lang="en-US" sz="1390" dirty="0">
                <a:solidFill>
                  <a:srgbClr val="477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바뀌어야 할 점</a:t>
            </a:r>
            <a:endParaRPr lang="en-US" sz="1390" dirty="0"/>
          </a:p>
        </p:txBody>
      </p:sp>
      <p:sp>
        <p:nvSpPr>
          <p:cNvPr id="12" name="Text 6"/>
          <p:cNvSpPr/>
          <p:nvPr/>
        </p:nvSpPr>
        <p:spPr>
          <a:xfrm>
            <a:off x="13312974" y="6633984"/>
            <a:ext cx="2152471" cy="920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56"/>
              </a:lnSpc>
            </a:pPr>
            <a:r>
              <a:rPr lang="en-US" sz="1487" dirty="0">
                <a:solidFill>
                  <a:srgbClr val="596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확인할 핵심 질문과</a:t>
            </a:r>
            <a:endParaRPr lang="en-US" sz="1487" dirty="0"/>
          </a:p>
          <a:p>
            <a:pPr>
              <a:lnSpc>
                <a:spcPts val="1856"/>
              </a:lnSpc>
            </a:pPr>
            <a:r>
              <a:rPr lang="en-US" sz="1487" dirty="0">
                <a:solidFill>
                  <a:srgbClr val="596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조치를 우선순위로</a:t>
            </a:r>
            <a:endParaRPr lang="en-US" sz="1487" dirty="0"/>
          </a:p>
          <a:p>
            <a:pPr>
              <a:lnSpc>
                <a:spcPts val="1856"/>
              </a:lnSpc>
            </a:pPr>
            <a:r>
              <a:rPr lang="en-US" sz="1487" dirty="0">
                <a:solidFill>
                  <a:srgbClr val="596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제시해야 함</a:t>
            </a:r>
            <a:endParaRPr lang="en-US" sz="1487" dirty="0"/>
          </a:p>
        </p:txBody>
      </p:sp>
      <p:sp>
        <p:nvSpPr>
          <p:cNvPr id="13" name="Shape 7"/>
          <p:cNvSpPr/>
          <p:nvPr/>
        </p:nvSpPr>
        <p:spPr>
          <a:xfrm>
            <a:off x="10513517" y="6086535"/>
            <a:ext cx="2301776" cy="1580138"/>
          </a:xfrm>
          <a:prstGeom prst="rect">
            <a:avLst/>
          </a:prstGeom>
          <a:solidFill>
            <a:srgbClr val="FCF4F4"/>
          </a:solidFill>
          <a:ln w="47625">
            <a:solidFill>
              <a:srgbClr val="FAFBFC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10662821" y="6235838"/>
            <a:ext cx="2015609" cy="348377"/>
          </a:xfrm>
          <a:prstGeom prst="roundRect">
            <a:avLst>
              <a:gd name="adj" fmla="val 10714"/>
            </a:avLst>
          </a:prstGeom>
          <a:solidFill>
            <a:srgbClr val="FCE5E7"/>
          </a:solidFill>
          <a:ln/>
        </p:spPr>
      </p:sp>
      <p:sp>
        <p:nvSpPr>
          <p:cNvPr id="15" name="Text 9"/>
          <p:cNvSpPr/>
          <p:nvPr/>
        </p:nvSpPr>
        <p:spPr>
          <a:xfrm>
            <a:off x="10812126" y="6260723"/>
            <a:ext cx="1729442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4"/>
              </a:lnSpc>
            </a:pPr>
            <a:r>
              <a:rPr lang="en-US" sz="1361" dirty="0">
                <a:solidFill>
                  <a:srgbClr val="E450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휴먼에러가 생기나</a:t>
            </a:r>
            <a:endParaRPr lang="en-US" sz="1361" dirty="0"/>
          </a:p>
        </p:txBody>
      </p:sp>
      <p:sp>
        <p:nvSpPr>
          <p:cNvPr id="16" name="Text 10"/>
          <p:cNvSpPr/>
          <p:nvPr/>
        </p:nvSpPr>
        <p:spPr>
          <a:xfrm>
            <a:off x="10712590" y="6633984"/>
            <a:ext cx="2052935" cy="90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1"/>
              </a:lnSpc>
            </a:pPr>
            <a:r>
              <a:rPr lang="en-US" sz="1419" dirty="0">
                <a:solidFill>
                  <a:srgbClr val="7B8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순서와 다음 행동이</a:t>
            </a:r>
            <a:endParaRPr lang="en-US" sz="1419" dirty="0"/>
          </a:p>
          <a:p>
            <a:pPr>
              <a:lnSpc>
                <a:spcPts val="1901"/>
              </a:lnSpc>
            </a:pPr>
            <a:r>
              <a:rPr lang="en-US" sz="1419" dirty="0">
                <a:solidFill>
                  <a:srgbClr val="7B8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명확하지 않아 사람마다</a:t>
            </a:r>
            <a:endParaRPr lang="en-US" sz="1419" dirty="0"/>
          </a:p>
          <a:p>
            <a:pPr>
              <a:lnSpc>
                <a:spcPts val="1901"/>
              </a:lnSpc>
            </a:pPr>
            <a:r>
              <a:rPr lang="en-US" sz="1419" dirty="0">
                <a:solidFill>
                  <a:srgbClr val="7B8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품질이 달라짐</a:t>
            </a:r>
            <a:endParaRPr lang="en-US" sz="1419" dirty="0"/>
          </a:p>
        </p:txBody>
      </p:sp>
      <p:sp>
        <p:nvSpPr>
          <p:cNvPr id="17" name="Shape 11"/>
          <p:cNvSpPr/>
          <p:nvPr/>
        </p:nvSpPr>
        <p:spPr>
          <a:xfrm>
            <a:off x="8137088" y="6148744"/>
            <a:ext cx="2363986" cy="1517928"/>
          </a:xfrm>
          <a:prstGeom prst="rect">
            <a:avLst/>
          </a:prstGeom>
          <a:solidFill>
            <a:srgbClr val="FBF5F5"/>
          </a:solidFill>
          <a:ln/>
        </p:spPr>
      </p:sp>
      <p:sp>
        <p:nvSpPr>
          <p:cNvPr id="18" name="Shape 12"/>
          <p:cNvSpPr/>
          <p:nvPr/>
        </p:nvSpPr>
        <p:spPr>
          <a:xfrm>
            <a:off x="8298835" y="6235838"/>
            <a:ext cx="2040493" cy="348377"/>
          </a:xfrm>
          <a:prstGeom prst="roundRect">
            <a:avLst>
              <a:gd name="adj" fmla="val 8929"/>
            </a:avLst>
          </a:prstGeom>
          <a:solidFill>
            <a:srgbClr val="FCE6E8"/>
          </a:solidFill>
          <a:ln/>
        </p:spPr>
      </p:sp>
      <p:sp>
        <p:nvSpPr>
          <p:cNvPr id="19" name="Text 13"/>
          <p:cNvSpPr/>
          <p:nvPr/>
        </p:nvSpPr>
        <p:spPr>
          <a:xfrm>
            <a:off x="8460581" y="6273164"/>
            <a:ext cx="1741884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16"/>
              </a:lnSpc>
            </a:pPr>
            <a:r>
              <a:rPr lang="en-US" sz="1372" dirty="0">
                <a:solidFill>
                  <a:srgbClr val="E45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뉴스에서 드러난 장면</a:t>
            </a:r>
            <a:endParaRPr lang="en-US" sz="1372" dirty="0"/>
          </a:p>
        </p:txBody>
      </p:sp>
      <p:sp>
        <p:nvSpPr>
          <p:cNvPr id="20" name="Text 14"/>
          <p:cNvSpPr/>
          <p:nvPr/>
        </p:nvSpPr>
        <p:spPr>
          <a:xfrm>
            <a:off x="8323720" y="6633984"/>
            <a:ext cx="2077819" cy="90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93"/>
              </a:lnSpc>
            </a:pPr>
            <a:r>
              <a:rPr lang="en-US" sz="1432" dirty="0">
                <a:solidFill>
                  <a:srgbClr val="7E85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더 확언해야</a:t>
            </a:r>
            <a:endParaRPr lang="en-US" sz="1432" dirty="0"/>
          </a:p>
          <a:p>
            <a:pPr>
              <a:lnSpc>
                <a:spcPts val="1893"/>
              </a:lnSpc>
            </a:pPr>
            <a:r>
              <a:rPr lang="en-US" sz="1432" dirty="0">
                <a:solidFill>
                  <a:srgbClr val="7E85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하는지 담당자가 직접</a:t>
            </a:r>
            <a:endParaRPr lang="en-US" sz="1432" dirty="0"/>
          </a:p>
          <a:p>
            <a:pPr>
              <a:lnSpc>
                <a:spcPts val="1893"/>
              </a:lnSpc>
            </a:pPr>
            <a:r>
              <a:rPr lang="en-US" sz="1432" dirty="0">
                <a:solidFill>
                  <a:srgbClr val="7E85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정리하고 넘겨야 함</a:t>
            </a:r>
            <a:endParaRPr lang="en-US" sz="1432" dirty="0"/>
          </a:p>
        </p:txBody>
      </p:sp>
      <p:sp>
        <p:nvSpPr>
          <p:cNvPr id="21" name="Shape 15"/>
          <p:cNvSpPr/>
          <p:nvPr/>
        </p:nvSpPr>
        <p:spPr>
          <a:xfrm>
            <a:off x="8249067" y="5576411"/>
            <a:ext cx="572333" cy="522565"/>
          </a:xfrm>
          <a:prstGeom prst="roundRect">
            <a:avLst>
              <a:gd name="adj" fmla="val 50446"/>
            </a:avLst>
          </a:prstGeom>
          <a:solidFill>
            <a:srgbClr val="011E4B"/>
          </a:solidFill>
          <a:ln w="9525">
            <a:solidFill>
              <a:srgbClr val="091D4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348604" y="5688390"/>
            <a:ext cx="385703" cy="286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2362" b="1" dirty="0">
                <a:solidFill>
                  <a:srgbClr val="B9BF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362" dirty="0"/>
          </a:p>
        </p:txBody>
      </p:sp>
      <p:sp>
        <p:nvSpPr>
          <p:cNvPr id="23" name="Text 17"/>
          <p:cNvSpPr/>
          <p:nvPr/>
        </p:nvSpPr>
        <p:spPr>
          <a:xfrm>
            <a:off x="9082683" y="5626179"/>
            <a:ext cx="222712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41"/>
              </a:lnSpc>
            </a:pPr>
            <a:r>
              <a:rPr lang="en-US" sz="2209" b="1" dirty="0">
                <a:solidFill>
                  <a:srgbClr val="3346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판단 부담</a:t>
            </a:r>
            <a:endParaRPr lang="en-US" sz="2209" dirty="0"/>
          </a:p>
        </p:txBody>
      </p:sp>
      <p:sp>
        <p:nvSpPr>
          <p:cNvPr id="24" name="Shape 18"/>
          <p:cNvSpPr/>
          <p:nvPr/>
        </p:nvSpPr>
        <p:spPr>
          <a:xfrm>
            <a:off x="311051" y="5476875"/>
            <a:ext cx="7589639" cy="2252008"/>
          </a:xfrm>
          <a:prstGeom prst="rect">
            <a:avLst/>
          </a:prstGeom>
          <a:solidFill>
            <a:srgbClr val="FBFBFD"/>
          </a:solidFill>
          <a:ln w="9525">
            <a:solidFill>
              <a:srgbClr val="F7FAFD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6117" y="6733520"/>
            <a:ext cx="261283" cy="21151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412284" y="6136303"/>
            <a:ext cx="2351544" cy="1480602"/>
          </a:xfrm>
          <a:prstGeom prst="roundRect">
            <a:avLst>
              <a:gd name="adj" fmla="val 3361"/>
            </a:avLst>
          </a:prstGeom>
          <a:solidFill>
            <a:srgbClr val="ECF4FE"/>
          </a:solidFill>
          <a:ln/>
        </p:spPr>
      </p:sp>
      <p:sp>
        <p:nvSpPr>
          <p:cNvPr id="27" name="Shape 20"/>
          <p:cNvSpPr/>
          <p:nvPr/>
        </p:nvSpPr>
        <p:spPr>
          <a:xfrm>
            <a:off x="5499378" y="6223397"/>
            <a:ext cx="2090261" cy="335935"/>
          </a:xfrm>
          <a:prstGeom prst="roundRect">
            <a:avLst>
              <a:gd name="adj" fmla="val 9259"/>
            </a:avLst>
          </a:prstGeom>
          <a:solidFill>
            <a:srgbClr val="D7E8FE"/>
          </a:solidFill>
          <a:ln/>
        </p:spPr>
      </p:sp>
      <p:sp>
        <p:nvSpPr>
          <p:cNvPr id="28" name="Text 21"/>
          <p:cNvSpPr/>
          <p:nvPr/>
        </p:nvSpPr>
        <p:spPr>
          <a:xfrm>
            <a:off x="5661125" y="6248280"/>
            <a:ext cx="177921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89"/>
              </a:lnSpc>
            </a:pPr>
            <a:r>
              <a:rPr lang="en-US" sz="1352" dirty="0">
                <a:solidFill>
                  <a:srgbClr val="4770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바뀌어야 할 점</a:t>
            </a:r>
            <a:endParaRPr lang="en-US" sz="1352" dirty="0"/>
          </a:p>
        </p:txBody>
      </p:sp>
      <p:sp>
        <p:nvSpPr>
          <p:cNvPr id="29" name="Text 22"/>
          <p:cNvSpPr/>
          <p:nvPr/>
        </p:nvSpPr>
        <p:spPr>
          <a:xfrm>
            <a:off x="5598914" y="6621542"/>
            <a:ext cx="2065377" cy="920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12"/>
              </a:lnSpc>
            </a:pPr>
            <a:r>
              <a:rPr lang="en-US" sz="1536" dirty="0">
                <a:solidFill>
                  <a:srgbClr val="5A6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이후의 추가 송금.</a:t>
            </a:r>
            <a:endParaRPr lang="en-US" sz="1536" dirty="0"/>
          </a:p>
          <a:p>
            <a:pPr>
              <a:lnSpc>
                <a:spcPts val="1912"/>
              </a:lnSpc>
            </a:pPr>
            <a:r>
              <a:rPr lang="en-US" sz="1536" dirty="0">
                <a:solidFill>
                  <a:srgbClr val="5A6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변화도 연속해서</a:t>
            </a:r>
            <a:endParaRPr lang="en-US" sz="1536" dirty="0"/>
          </a:p>
          <a:p>
            <a:pPr>
              <a:lnSpc>
                <a:spcPts val="1912"/>
              </a:lnSpc>
            </a:pPr>
            <a:r>
              <a:rPr lang="en-US" sz="1536" dirty="0">
                <a:solidFill>
                  <a:srgbClr val="5A6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추적해야함</a:t>
            </a:r>
            <a:endParaRPr lang="en-US" sz="1536" dirty="0"/>
          </a:p>
        </p:txBody>
      </p:sp>
      <p:sp>
        <p:nvSpPr>
          <p:cNvPr id="30" name="Shape 23"/>
          <p:cNvSpPr/>
          <p:nvPr/>
        </p:nvSpPr>
        <p:spPr>
          <a:xfrm>
            <a:off x="2849226" y="6148744"/>
            <a:ext cx="2227124" cy="1468160"/>
          </a:xfrm>
          <a:prstGeom prst="roundRect">
            <a:avLst>
              <a:gd name="adj" fmla="val 2119"/>
            </a:avLst>
          </a:prstGeom>
          <a:solidFill>
            <a:srgbClr val="FCF3F4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6320" y="6235838"/>
            <a:ext cx="2028051" cy="34837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09581" y="6273164"/>
            <a:ext cx="153037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45"/>
              </a:lnSpc>
            </a:pPr>
            <a:r>
              <a:rPr lang="en-US" sz="1400" dirty="0">
                <a:solidFill>
                  <a:srgbClr val="E352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휴먼에러가 생기나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010972" y="6646426"/>
            <a:ext cx="2040493" cy="88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29"/>
              </a:lnSpc>
            </a:pPr>
            <a:r>
              <a:rPr lang="en-US" sz="1383" dirty="0">
                <a:solidFill>
                  <a:srgbClr val="7B8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사건이 끝난 것으로 보고,</a:t>
            </a:r>
            <a:endParaRPr lang="en-US" sz="1383" dirty="0"/>
          </a:p>
          <a:p>
            <a:pPr>
              <a:lnSpc>
                <a:spcPts val="1829"/>
              </a:lnSpc>
            </a:pPr>
            <a:r>
              <a:rPr lang="en-US" sz="1383" dirty="0">
                <a:solidFill>
                  <a:srgbClr val="7B8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변화와 추가 위험을</a:t>
            </a:r>
            <a:endParaRPr lang="en-US" sz="1383" dirty="0"/>
          </a:p>
          <a:p>
            <a:pPr>
              <a:lnSpc>
                <a:spcPts val="1829"/>
              </a:lnSpc>
            </a:pPr>
            <a:r>
              <a:rPr lang="en-US" sz="1383" dirty="0">
                <a:solidFill>
                  <a:srgbClr val="7B8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추적하지 못함</a:t>
            </a:r>
            <a:endParaRPr lang="en-US" sz="1383" dirty="0"/>
          </a:p>
        </p:txBody>
      </p:sp>
      <p:sp>
        <p:nvSpPr>
          <p:cNvPr id="34" name="Shape 26"/>
          <p:cNvSpPr/>
          <p:nvPr/>
        </p:nvSpPr>
        <p:spPr>
          <a:xfrm>
            <a:off x="385703" y="6136303"/>
            <a:ext cx="2388870" cy="1480602"/>
          </a:xfrm>
          <a:prstGeom prst="rect">
            <a:avLst/>
          </a:prstGeom>
          <a:solidFill>
            <a:srgbClr val="FCF4F5"/>
          </a:solidFill>
          <a:ln w="28575">
            <a:solidFill>
              <a:srgbClr val="FCF9F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84776" y="6646426"/>
            <a:ext cx="2090261" cy="88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27"/>
              </a:lnSpc>
            </a:pPr>
            <a:r>
              <a:rPr lang="en-US" sz="1400" dirty="0">
                <a:solidFill>
                  <a:srgbClr val="7D85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해제 뒤 다른 계좌로</a:t>
            </a:r>
            <a:endParaRPr lang="en-US" sz="1400" dirty="0"/>
          </a:p>
          <a:p>
            <a:pPr>
              <a:lnSpc>
                <a:spcPts val="1927"/>
              </a:lnSpc>
            </a:pPr>
            <a:r>
              <a:rPr lang="en-US" sz="1400" dirty="0">
                <a:solidFill>
                  <a:srgbClr val="7D85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송금이 이어져</a:t>
            </a:r>
            <a:endParaRPr lang="en-US" sz="1400" dirty="0"/>
          </a:p>
          <a:p>
            <a:pPr>
              <a:lnSpc>
                <a:spcPts val="1927"/>
              </a:lnSpc>
            </a:pPr>
            <a:r>
              <a:rPr lang="en-US" sz="1400" dirty="0">
                <a:solidFill>
                  <a:srgbClr val="7D85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피해가 커짐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522566" y="6235838"/>
            <a:ext cx="2052935" cy="348377"/>
          </a:xfrm>
          <a:prstGeom prst="roundRect">
            <a:avLst>
              <a:gd name="adj" fmla="val 14286"/>
            </a:avLst>
          </a:prstGeom>
          <a:solidFill>
            <a:srgbClr val="FCE5E7"/>
          </a:solidFill>
          <a:ln/>
        </p:spPr>
      </p:sp>
      <p:sp>
        <p:nvSpPr>
          <p:cNvPr id="37" name="Text 29"/>
          <p:cNvSpPr/>
          <p:nvPr/>
        </p:nvSpPr>
        <p:spPr>
          <a:xfrm>
            <a:off x="671871" y="6273164"/>
            <a:ext cx="1754326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8"/>
              </a:lnSpc>
            </a:pPr>
            <a:r>
              <a:rPr lang="en-US" sz="1381" dirty="0">
                <a:solidFill>
                  <a:srgbClr val="E35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뉴스에서 드러난 장면</a:t>
            </a:r>
            <a:endParaRPr lang="en-US" sz="1381" dirty="0"/>
          </a:p>
        </p:txBody>
      </p:sp>
      <p:sp>
        <p:nvSpPr>
          <p:cNvPr id="38" name="Shape 30"/>
          <p:cNvSpPr/>
          <p:nvPr/>
        </p:nvSpPr>
        <p:spPr>
          <a:xfrm>
            <a:off x="485240" y="5563970"/>
            <a:ext cx="559891" cy="535007"/>
          </a:xfrm>
          <a:prstGeom prst="roundRect">
            <a:avLst>
              <a:gd name="adj" fmla="val 49419"/>
            </a:avLst>
          </a:prstGeom>
          <a:solidFill>
            <a:srgbClr val="021E4C"/>
          </a:solidFill>
          <a:ln w="9525">
            <a:solidFill>
              <a:srgbClr val="0B1D4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84775" y="5688389"/>
            <a:ext cx="373261" cy="273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66"/>
              </a:lnSpc>
            </a:pPr>
            <a:r>
              <a:rPr lang="en-US" sz="2362" b="1" dirty="0">
                <a:solidFill>
                  <a:srgbClr val="B3BA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362" dirty="0"/>
          </a:p>
        </p:txBody>
      </p:sp>
      <p:sp>
        <p:nvSpPr>
          <p:cNvPr id="40" name="Text 32"/>
          <p:cNvSpPr/>
          <p:nvPr/>
        </p:nvSpPr>
        <p:spPr>
          <a:xfrm>
            <a:off x="1281529" y="5626179"/>
            <a:ext cx="194095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76"/>
              </a:lnSpc>
            </a:pPr>
            <a:r>
              <a:rPr lang="en-US" sz="2472" b="1" dirty="0">
                <a:solidFill>
                  <a:srgbClr val="324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상황변화놓침</a:t>
            </a:r>
            <a:endParaRPr lang="en-US" sz="2472" dirty="0"/>
          </a:p>
        </p:txBody>
      </p:sp>
      <p:sp>
        <p:nvSpPr>
          <p:cNvPr id="41" name="Shape 33"/>
          <p:cNvSpPr/>
          <p:nvPr/>
        </p:nvSpPr>
        <p:spPr>
          <a:xfrm>
            <a:off x="8037553" y="2926258"/>
            <a:ext cx="7602081" cy="2438638"/>
          </a:xfrm>
          <a:prstGeom prst="roundRect">
            <a:avLst>
              <a:gd name="adj" fmla="val 3061"/>
            </a:avLst>
          </a:prstGeom>
          <a:solidFill>
            <a:srgbClr val="F9FBFD"/>
          </a:solidFill>
          <a:ln w="19050">
            <a:solidFill>
              <a:srgbClr val="EBF2FB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3089017" y="3511034"/>
            <a:ext cx="2463522" cy="1779210"/>
          </a:xfrm>
          <a:prstGeom prst="rect">
            <a:avLst/>
          </a:prstGeom>
          <a:solidFill>
            <a:srgbClr val="EAF3FD"/>
          </a:solidFill>
          <a:ln w="57150">
            <a:solidFill>
              <a:srgbClr val="F9FBFD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3213438" y="3660338"/>
            <a:ext cx="2127587" cy="348377"/>
          </a:xfrm>
          <a:prstGeom prst="roundRect">
            <a:avLst>
              <a:gd name="adj" fmla="val 14286"/>
            </a:avLst>
          </a:prstGeom>
          <a:solidFill>
            <a:srgbClr val="D7E8FD"/>
          </a:solidFill>
          <a:ln/>
        </p:spPr>
      </p:sp>
      <p:sp>
        <p:nvSpPr>
          <p:cNvPr id="44" name="Text 36"/>
          <p:cNvSpPr/>
          <p:nvPr/>
        </p:nvSpPr>
        <p:spPr>
          <a:xfrm>
            <a:off x="13362742" y="3685222"/>
            <a:ext cx="1828979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87"/>
              </a:lnSpc>
            </a:pPr>
            <a:r>
              <a:rPr lang="en-US" sz="1440" dirty="0">
                <a:solidFill>
                  <a:srgbClr val="4C78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바뀌어야 할점</a:t>
            </a:r>
            <a:endParaRPr lang="en-US" sz="1440" dirty="0"/>
          </a:p>
        </p:txBody>
      </p:sp>
      <p:sp>
        <p:nvSpPr>
          <p:cNvPr id="45" name="Text 37"/>
          <p:cNvSpPr/>
          <p:nvPr/>
        </p:nvSpPr>
        <p:spPr>
          <a:xfrm>
            <a:off x="13288090" y="4108252"/>
            <a:ext cx="2077819" cy="95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31"/>
              </a:lnSpc>
            </a:pPr>
            <a:r>
              <a:rPr lang="en-US" sz="1632" dirty="0">
                <a:solidFill>
                  <a:srgbClr val="566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설명과 총돌하는</a:t>
            </a:r>
            <a:endParaRPr lang="en-US" sz="1632" dirty="0"/>
          </a:p>
          <a:p>
            <a:pPr>
              <a:lnSpc>
                <a:spcPts val="2131"/>
              </a:lnSpc>
            </a:pPr>
            <a:r>
              <a:rPr lang="en-US" sz="1632" dirty="0">
                <a:solidFill>
                  <a:srgbClr val="566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신호를 함꺼</a:t>
            </a:r>
            <a:endParaRPr lang="en-US" sz="1632" dirty="0"/>
          </a:p>
          <a:p>
            <a:pPr>
              <a:lnSpc>
                <a:spcPts val="2131"/>
              </a:lnSpc>
            </a:pPr>
            <a:r>
              <a:rPr lang="en-US" sz="1632" dirty="0">
                <a:solidFill>
                  <a:srgbClr val="566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비교하며 판단해야 함</a:t>
            </a:r>
            <a:endParaRPr lang="en-US" sz="1632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15293" y="4220229"/>
            <a:ext cx="286167" cy="223957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10501074" y="3523476"/>
            <a:ext cx="2264450" cy="1741884"/>
          </a:xfrm>
          <a:prstGeom prst="rect">
            <a:avLst/>
          </a:prstGeom>
          <a:solidFill>
            <a:srgbClr val="FCF4F4"/>
          </a:solidFill>
          <a:ln w="57150">
            <a:solidFill>
              <a:srgbClr val="FAFBFD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10637937" y="3672780"/>
            <a:ext cx="2028051" cy="348377"/>
          </a:xfrm>
          <a:prstGeom prst="roundRect">
            <a:avLst>
              <a:gd name="adj" fmla="val 14286"/>
            </a:avLst>
          </a:prstGeom>
          <a:solidFill>
            <a:srgbClr val="FCE3E6"/>
          </a:solidFill>
          <a:ln/>
        </p:spPr>
      </p:sp>
      <p:sp>
        <p:nvSpPr>
          <p:cNvPr id="49" name="Text 40"/>
          <p:cNvSpPr/>
          <p:nvPr/>
        </p:nvSpPr>
        <p:spPr>
          <a:xfrm>
            <a:off x="10774799" y="3710106"/>
            <a:ext cx="1766768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36"/>
              </a:lnSpc>
            </a:pPr>
            <a:r>
              <a:rPr lang="en-US" sz="1391" dirty="0">
                <a:solidFill>
                  <a:srgbClr val="E751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휴먼에러가 생기나</a:t>
            </a:r>
            <a:endParaRPr lang="en-US" sz="1391" dirty="0"/>
          </a:p>
        </p:txBody>
      </p:sp>
      <p:sp>
        <p:nvSpPr>
          <p:cNvPr id="50" name="Text 41"/>
          <p:cNvSpPr/>
          <p:nvPr/>
        </p:nvSpPr>
        <p:spPr>
          <a:xfrm>
            <a:off x="10712589" y="4108252"/>
            <a:ext cx="1940957" cy="90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20"/>
              </a:lnSpc>
            </a:pPr>
            <a:r>
              <a:rPr lang="en-US" sz="1528" dirty="0">
                <a:solidFill>
                  <a:srgbClr val="7C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고객 설명을</a:t>
            </a:r>
            <a:endParaRPr lang="en-US" sz="1528" dirty="0"/>
          </a:p>
          <a:p>
            <a:pPr>
              <a:lnSpc>
                <a:spcPts val="2020"/>
              </a:lnSpc>
            </a:pPr>
            <a:r>
              <a:rPr lang="en-US" sz="1528" dirty="0">
                <a:solidFill>
                  <a:srgbClr val="7C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근거와 맥락을</a:t>
            </a:r>
            <a:endParaRPr lang="en-US" sz="1528" dirty="0"/>
          </a:p>
          <a:p>
            <a:pPr>
              <a:lnSpc>
                <a:spcPts val="2020"/>
              </a:lnSpc>
            </a:pPr>
            <a:r>
              <a:rPr lang="en-US" sz="1528" dirty="0">
                <a:solidFill>
                  <a:srgbClr val="7C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보지 못함</a:t>
            </a:r>
            <a:endParaRPr lang="en-US" sz="1528" dirty="0"/>
          </a:p>
        </p:txBody>
      </p:sp>
      <p:sp>
        <p:nvSpPr>
          <p:cNvPr id="51" name="Shape 42"/>
          <p:cNvSpPr/>
          <p:nvPr/>
        </p:nvSpPr>
        <p:spPr>
          <a:xfrm>
            <a:off x="8112204" y="3573245"/>
            <a:ext cx="2388870" cy="1704558"/>
          </a:xfrm>
          <a:prstGeom prst="rect">
            <a:avLst/>
          </a:prstGeom>
          <a:solidFill>
            <a:srgbClr val="FCF5F5"/>
          </a:solidFill>
          <a:ln w="19050">
            <a:solidFill>
              <a:srgbClr val="FAFCFD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8286394" y="3672780"/>
            <a:ext cx="2028051" cy="348377"/>
          </a:xfrm>
          <a:prstGeom prst="roundRect">
            <a:avLst>
              <a:gd name="adj" fmla="val 9821"/>
            </a:avLst>
          </a:prstGeom>
          <a:solidFill>
            <a:srgbClr val="FCE5E7"/>
          </a:solidFill>
          <a:ln/>
        </p:spPr>
      </p:sp>
      <p:sp>
        <p:nvSpPr>
          <p:cNvPr id="53" name="Text 44"/>
          <p:cNvSpPr/>
          <p:nvPr/>
        </p:nvSpPr>
        <p:spPr>
          <a:xfrm>
            <a:off x="8435698" y="3710106"/>
            <a:ext cx="1729442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6"/>
              </a:lnSpc>
            </a:pPr>
            <a:r>
              <a:rPr lang="en-US" sz="1361" dirty="0">
                <a:solidFill>
                  <a:srgbClr val="E65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뉴스에서 드러난 장면</a:t>
            </a:r>
            <a:endParaRPr lang="en-US" sz="1361" dirty="0"/>
          </a:p>
        </p:txBody>
      </p:sp>
      <p:sp>
        <p:nvSpPr>
          <p:cNvPr id="54" name="Text 45"/>
          <p:cNvSpPr/>
          <p:nvPr/>
        </p:nvSpPr>
        <p:spPr>
          <a:xfrm>
            <a:off x="8311278" y="4108252"/>
            <a:ext cx="2077819" cy="90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24"/>
              </a:lnSpc>
            </a:pPr>
            <a:r>
              <a:rPr lang="en-US" sz="1436" dirty="0">
                <a:solidFill>
                  <a:srgbClr val="7E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고객이'투자 목적'이라고</a:t>
            </a:r>
            <a:endParaRPr lang="en-US" sz="1436" dirty="0"/>
          </a:p>
          <a:p>
            <a:pPr>
              <a:lnSpc>
                <a:spcPts val="1924"/>
              </a:lnSpc>
            </a:pPr>
            <a:r>
              <a:rPr lang="en-US" sz="1436" dirty="0">
                <a:solidFill>
                  <a:srgbClr val="7E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설명하자 추가 확인 없이</a:t>
            </a:r>
            <a:endParaRPr lang="en-US" sz="1436" dirty="0"/>
          </a:p>
          <a:p>
            <a:pPr>
              <a:lnSpc>
                <a:spcPts val="1924"/>
              </a:lnSpc>
            </a:pPr>
            <a:r>
              <a:rPr lang="en-US" sz="1436" dirty="0">
                <a:solidFill>
                  <a:srgbClr val="7E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조치가 해제됨</a:t>
            </a:r>
            <a:endParaRPr lang="en-US" sz="1436" dirty="0"/>
          </a:p>
        </p:txBody>
      </p:sp>
      <p:sp>
        <p:nvSpPr>
          <p:cNvPr id="55" name="Shape 46"/>
          <p:cNvSpPr/>
          <p:nvPr/>
        </p:nvSpPr>
        <p:spPr>
          <a:xfrm>
            <a:off x="8249067" y="3013353"/>
            <a:ext cx="572333" cy="535007"/>
          </a:xfrm>
          <a:prstGeom prst="roundRect">
            <a:avLst>
              <a:gd name="adj" fmla="val 52326"/>
            </a:avLst>
          </a:prstGeom>
          <a:solidFill>
            <a:srgbClr val="011E4F"/>
          </a:solidFill>
          <a:ln w="9525">
            <a:solidFill>
              <a:srgbClr val="071750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8348604" y="3125330"/>
            <a:ext cx="385703" cy="29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66"/>
              </a:lnSpc>
            </a:pPr>
            <a:r>
              <a:rPr lang="en-US" sz="1635" b="1" dirty="0">
                <a:solidFill>
                  <a:srgbClr val="B5BB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35" dirty="0"/>
          </a:p>
        </p:txBody>
      </p:sp>
      <p:sp>
        <p:nvSpPr>
          <p:cNvPr id="57" name="Text 48"/>
          <p:cNvSpPr/>
          <p:nvPr/>
        </p:nvSpPr>
        <p:spPr>
          <a:xfrm>
            <a:off x="9082684" y="3063121"/>
            <a:ext cx="2525732" cy="38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148"/>
              </a:lnSpc>
            </a:pPr>
            <a:r>
              <a:rPr lang="en-US" sz="2217" b="1" dirty="0">
                <a:solidFill>
                  <a:srgbClr val="384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말만으로 판단</a:t>
            </a:r>
            <a:endParaRPr lang="en-US" sz="2217" dirty="0"/>
          </a:p>
        </p:txBody>
      </p:sp>
      <p:sp>
        <p:nvSpPr>
          <p:cNvPr id="58" name="Shape 49"/>
          <p:cNvSpPr/>
          <p:nvPr/>
        </p:nvSpPr>
        <p:spPr>
          <a:xfrm>
            <a:off x="298609" y="2926258"/>
            <a:ext cx="7602081" cy="2438638"/>
          </a:xfrm>
          <a:prstGeom prst="roundRect">
            <a:avLst>
              <a:gd name="adj" fmla="val 3571"/>
            </a:avLst>
          </a:prstGeom>
          <a:solidFill>
            <a:srgbClr val="FAFBFC"/>
          </a:solidFill>
          <a:ln w="19050">
            <a:solidFill>
              <a:srgbClr val="ECF3FB"/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1233" y="4220229"/>
            <a:ext cx="273725" cy="223957"/>
          </a:xfrm>
          <a:prstGeom prst="rect">
            <a:avLst/>
          </a:prstGeom>
        </p:spPr>
      </p:pic>
      <p:sp>
        <p:nvSpPr>
          <p:cNvPr id="60" name="Shape 50"/>
          <p:cNvSpPr/>
          <p:nvPr/>
        </p:nvSpPr>
        <p:spPr>
          <a:xfrm>
            <a:off x="5374958" y="3511034"/>
            <a:ext cx="2451080" cy="1779210"/>
          </a:xfrm>
          <a:prstGeom prst="rect">
            <a:avLst/>
          </a:prstGeom>
          <a:solidFill>
            <a:srgbClr val="EAF3FE"/>
          </a:solidFill>
          <a:ln w="57150">
            <a:solidFill>
              <a:srgbClr val="F9FBFD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5486937" y="3660338"/>
            <a:ext cx="2102703" cy="348377"/>
          </a:xfrm>
          <a:prstGeom prst="roundRect">
            <a:avLst>
              <a:gd name="adj" fmla="val 7143"/>
            </a:avLst>
          </a:prstGeom>
          <a:solidFill>
            <a:srgbClr val="D6E8FE"/>
          </a:solidFill>
          <a:ln/>
        </p:spPr>
      </p:sp>
      <p:sp>
        <p:nvSpPr>
          <p:cNvPr id="62" name="Text 52"/>
          <p:cNvSpPr/>
          <p:nvPr/>
        </p:nvSpPr>
        <p:spPr>
          <a:xfrm>
            <a:off x="5636241" y="3685222"/>
            <a:ext cx="1804095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15"/>
              </a:lnSpc>
            </a:pPr>
            <a:r>
              <a:rPr lang="en-US" sz="1370" dirty="0">
                <a:solidFill>
                  <a:srgbClr val="4E78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바뀌어야 할 점</a:t>
            </a:r>
            <a:endParaRPr lang="en-US" sz="1370" dirty="0"/>
          </a:p>
        </p:txBody>
      </p:sp>
      <p:sp>
        <p:nvSpPr>
          <p:cNvPr id="63" name="Text 53"/>
          <p:cNvSpPr/>
          <p:nvPr/>
        </p:nvSpPr>
        <p:spPr>
          <a:xfrm>
            <a:off x="5586472" y="4083368"/>
            <a:ext cx="2115145" cy="93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72"/>
              </a:lnSpc>
            </a:pPr>
            <a:r>
              <a:rPr lang="en-US" sz="1462" dirty="0">
                <a:solidFill>
                  <a:srgbClr val="536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정보, 통화 내용</a:t>
            </a:r>
            <a:endParaRPr lang="en-US" sz="1462" dirty="0"/>
          </a:p>
          <a:p>
            <a:pPr>
              <a:lnSpc>
                <a:spcPts val="1872"/>
              </a:lnSpc>
            </a:pPr>
            <a:r>
              <a:rPr lang="en-US" sz="1462" dirty="0">
                <a:solidFill>
                  <a:srgbClr val="536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변화가 한 화면에서</a:t>
            </a:r>
            <a:endParaRPr lang="en-US" sz="1462" dirty="0"/>
          </a:p>
          <a:p>
            <a:pPr>
              <a:lnSpc>
                <a:spcPts val="1872"/>
              </a:lnSpc>
            </a:pPr>
            <a:r>
              <a:rPr lang="en-US" sz="1462" dirty="0">
                <a:solidFill>
                  <a:srgbClr val="5361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연결되이 보여야 함</a:t>
            </a:r>
            <a:endParaRPr lang="en-US" sz="1462" dirty="0"/>
          </a:p>
        </p:txBody>
      </p:sp>
      <p:sp>
        <p:nvSpPr>
          <p:cNvPr id="64" name="Shape 54"/>
          <p:cNvSpPr/>
          <p:nvPr/>
        </p:nvSpPr>
        <p:spPr>
          <a:xfrm>
            <a:off x="2836784" y="3523476"/>
            <a:ext cx="2227124" cy="1766768"/>
          </a:xfrm>
          <a:prstGeom prst="rect">
            <a:avLst/>
          </a:prstGeom>
          <a:solidFill>
            <a:srgbClr val="FCF4F4"/>
          </a:solidFill>
          <a:ln w="47625">
            <a:solidFill>
              <a:srgbClr val="FBFBFC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3035856" y="4058483"/>
            <a:ext cx="1903631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7"/>
              </a:lnSpc>
            </a:pPr>
            <a:r>
              <a:rPr lang="en-US" sz="1416" dirty="0">
                <a:solidFill>
                  <a:srgbClr val="7C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결과와 이후 행동,</a:t>
            </a:r>
            <a:endParaRPr lang="en-US" sz="1416" dirty="0"/>
          </a:p>
          <a:p>
            <a:pPr>
              <a:lnSpc>
                <a:spcPts val="1767"/>
              </a:lnSpc>
            </a:pPr>
            <a:r>
              <a:rPr lang="en-US" sz="1416" dirty="0">
                <a:solidFill>
                  <a:srgbClr val="7C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송금 흐름이</a:t>
            </a:r>
            <a:endParaRPr lang="en-US" sz="1416" dirty="0"/>
          </a:p>
          <a:p>
            <a:pPr>
              <a:lnSpc>
                <a:spcPts val="1767"/>
              </a:lnSpc>
            </a:pPr>
            <a:r>
              <a:rPr lang="en-US" sz="1416" dirty="0">
                <a:solidFill>
                  <a:srgbClr val="7C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사건으로 이어져</a:t>
            </a:r>
            <a:endParaRPr lang="en-US" sz="1416" dirty="0"/>
          </a:p>
          <a:p>
            <a:pPr>
              <a:lnSpc>
                <a:spcPts val="1767"/>
              </a:lnSpc>
            </a:pPr>
            <a:r>
              <a:rPr lang="en-US" sz="1416" dirty="0">
                <a:solidFill>
                  <a:srgbClr val="7C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보이지 않음</a:t>
            </a:r>
            <a:endParaRPr lang="en-US" sz="1416" dirty="0"/>
          </a:p>
        </p:txBody>
      </p:sp>
      <p:sp>
        <p:nvSpPr>
          <p:cNvPr id="66" name="Shape 56"/>
          <p:cNvSpPr/>
          <p:nvPr/>
        </p:nvSpPr>
        <p:spPr>
          <a:xfrm>
            <a:off x="2923877" y="3660338"/>
            <a:ext cx="2040493" cy="348377"/>
          </a:xfrm>
          <a:prstGeom prst="roundRect">
            <a:avLst>
              <a:gd name="adj" fmla="val 10714"/>
            </a:avLst>
          </a:prstGeom>
          <a:solidFill>
            <a:srgbClr val="FCE3E5"/>
          </a:solidFill>
          <a:ln/>
        </p:spPr>
      </p:sp>
      <p:sp>
        <p:nvSpPr>
          <p:cNvPr id="67" name="Text 57"/>
          <p:cNvSpPr/>
          <p:nvPr/>
        </p:nvSpPr>
        <p:spPr>
          <a:xfrm>
            <a:off x="3060739" y="3697664"/>
            <a:ext cx="179165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57"/>
              </a:lnSpc>
            </a:pPr>
            <a:r>
              <a:rPr lang="en-US" sz="1411" dirty="0">
                <a:solidFill>
                  <a:srgbClr val="E550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휴먼에러가 생기나</a:t>
            </a:r>
            <a:endParaRPr lang="en-US" sz="1411" dirty="0"/>
          </a:p>
        </p:txBody>
      </p:sp>
      <p:sp>
        <p:nvSpPr>
          <p:cNvPr id="68" name="Shape 58"/>
          <p:cNvSpPr/>
          <p:nvPr/>
        </p:nvSpPr>
        <p:spPr>
          <a:xfrm>
            <a:off x="385704" y="3573244"/>
            <a:ext cx="2401312" cy="1717000"/>
          </a:xfrm>
          <a:prstGeom prst="rect">
            <a:avLst/>
          </a:prstGeom>
          <a:solidFill>
            <a:srgbClr val="FCF5F5"/>
          </a:solidFill>
          <a:ln w="19050">
            <a:solidFill>
              <a:srgbClr val="FCFBFC"/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522565" y="3672781"/>
            <a:ext cx="2040493" cy="335935"/>
          </a:xfrm>
          <a:prstGeom prst="roundRect">
            <a:avLst>
              <a:gd name="adj" fmla="val 10185"/>
            </a:avLst>
          </a:prstGeom>
          <a:solidFill>
            <a:srgbClr val="FCE4E6"/>
          </a:solidFill>
          <a:ln/>
        </p:spPr>
      </p:sp>
      <p:sp>
        <p:nvSpPr>
          <p:cNvPr id="70" name="Text 60"/>
          <p:cNvSpPr/>
          <p:nvPr/>
        </p:nvSpPr>
        <p:spPr>
          <a:xfrm>
            <a:off x="671871" y="3697664"/>
            <a:ext cx="1754326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26"/>
              </a:lnSpc>
            </a:pPr>
            <a:r>
              <a:rPr lang="en-US" sz="1381" dirty="0">
                <a:solidFill>
                  <a:srgbClr val="E550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뉴스에서 드러난 장면</a:t>
            </a:r>
            <a:endParaRPr lang="en-US" sz="1381" dirty="0"/>
          </a:p>
        </p:txBody>
      </p:sp>
      <p:sp>
        <p:nvSpPr>
          <p:cNvPr id="71" name="Text 61"/>
          <p:cNvSpPr/>
          <p:nvPr/>
        </p:nvSpPr>
        <p:spPr>
          <a:xfrm>
            <a:off x="572333" y="4058483"/>
            <a:ext cx="2214682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16"/>
              </a:lnSpc>
            </a:pPr>
            <a:r>
              <a:rPr lang="en-US" sz="1378" dirty="0">
                <a:solidFill>
                  <a:srgbClr val="7B8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이상거래 탐지 · 전화 안내</a:t>
            </a:r>
            <a:endParaRPr lang="en-US" sz="1378" dirty="0"/>
          </a:p>
          <a:p>
            <a:pPr>
              <a:lnSpc>
                <a:spcPts val="1816"/>
              </a:lnSpc>
            </a:pPr>
            <a:r>
              <a:rPr lang="en-US" sz="1378" dirty="0">
                <a:solidFill>
                  <a:srgbClr val="7B8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요청· 거래 중지가</a:t>
            </a:r>
            <a:endParaRPr lang="en-US" sz="1378" dirty="0"/>
          </a:p>
          <a:p>
            <a:pPr>
              <a:lnSpc>
                <a:spcPts val="1816"/>
              </a:lnSpc>
            </a:pPr>
            <a:r>
              <a:rPr lang="en-US" sz="1378" dirty="0">
                <a:solidFill>
                  <a:srgbClr val="7B8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있었지만, 이후 고객 설명만</a:t>
            </a:r>
            <a:endParaRPr lang="en-US" sz="1378" dirty="0"/>
          </a:p>
          <a:p>
            <a:pPr>
              <a:lnSpc>
                <a:spcPts val="1816"/>
              </a:lnSpc>
            </a:pPr>
            <a:r>
              <a:rPr lang="en-US" sz="1378" dirty="0">
                <a:solidFill>
                  <a:srgbClr val="7B83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믿고 제한이 플림</a:t>
            </a:r>
            <a:endParaRPr lang="en-US" sz="1378" dirty="0"/>
          </a:p>
        </p:txBody>
      </p:sp>
      <p:sp>
        <p:nvSpPr>
          <p:cNvPr id="72" name="Shape 62"/>
          <p:cNvSpPr/>
          <p:nvPr/>
        </p:nvSpPr>
        <p:spPr>
          <a:xfrm>
            <a:off x="485240" y="3013353"/>
            <a:ext cx="559891" cy="535007"/>
          </a:xfrm>
          <a:prstGeom prst="roundRect">
            <a:avLst>
              <a:gd name="adj" fmla="val 51163"/>
            </a:avLst>
          </a:prstGeom>
          <a:solidFill>
            <a:srgbClr val="001D4C"/>
          </a:solidFill>
          <a:ln w="9525">
            <a:solidFill>
              <a:srgbClr val="0D1D50"/>
            </a:solidFill>
            <a:prstDash val="solid"/>
          </a:ln>
        </p:spPr>
      </p:sp>
      <p:sp>
        <p:nvSpPr>
          <p:cNvPr id="73" name="Text 63"/>
          <p:cNvSpPr/>
          <p:nvPr/>
        </p:nvSpPr>
        <p:spPr>
          <a:xfrm>
            <a:off x="597217" y="3125331"/>
            <a:ext cx="323493" cy="286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58"/>
              </a:lnSpc>
            </a:pPr>
            <a:r>
              <a:rPr lang="en-US" sz="2094" b="1" dirty="0">
                <a:solidFill>
                  <a:srgbClr val="B3BA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94" dirty="0"/>
          </a:p>
        </p:txBody>
      </p:sp>
      <p:sp>
        <p:nvSpPr>
          <p:cNvPr id="74" name="Text 64"/>
          <p:cNvSpPr/>
          <p:nvPr/>
        </p:nvSpPr>
        <p:spPr>
          <a:xfrm>
            <a:off x="1281530" y="3075563"/>
            <a:ext cx="1804095" cy="3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9"/>
              </a:lnSpc>
            </a:pPr>
            <a:r>
              <a:rPr lang="en-US" sz="2298" b="1" dirty="0">
                <a:solidFill>
                  <a:srgbClr val="314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정보가흩어짐</a:t>
            </a:r>
            <a:endParaRPr lang="en-US" sz="2298" dirty="0"/>
          </a:p>
        </p:txBody>
      </p:sp>
      <p:sp>
        <p:nvSpPr>
          <p:cNvPr id="75" name="Text 65"/>
          <p:cNvSpPr/>
          <p:nvPr/>
        </p:nvSpPr>
        <p:spPr>
          <a:xfrm>
            <a:off x="323493" y="2378809"/>
            <a:ext cx="15328583" cy="360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42"/>
              </a:lnSpc>
            </a:pPr>
            <a:r>
              <a:rPr lang="en-US" sz="1907" dirty="0">
                <a:solidFill>
                  <a:srgbClr val="6F79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YTN 2026.02.23 사례와 앞서 정리한 업무 흐름· 페르소나 분석을 바탕으로, 탐지 이후 대응 단계에서 반복적으로 드러난 문제를 정리했다.</a:t>
            </a:r>
            <a:endParaRPr lang="en-US" sz="1907" dirty="0"/>
          </a:p>
        </p:txBody>
      </p:sp>
      <p:sp>
        <p:nvSpPr>
          <p:cNvPr id="76" name="Text 66"/>
          <p:cNvSpPr/>
          <p:nvPr/>
        </p:nvSpPr>
        <p:spPr>
          <a:xfrm>
            <a:off x="360820" y="736461"/>
            <a:ext cx="9966067" cy="1592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312"/>
              </a:lnSpc>
            </a:pPr>
            <a:r>
              <a:rPr lang="en-US" sz="4858" b="1" dirty="0">
                <a:solidFill>
                  <a:srgbClr val="1C3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사례와 업무 분석을 종합하면,
</a:t>
            </a:r>
            <a:r>
              <a:rPr lang="en-US" sz="4858" b="1" dirty="0">
                <a:solidFill>
                  <a:srgbClr val="C81B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휴먼에러가 반복된다</a:t>
            </a:r>
            <a:endParaRPr lang="en-US" sz="4858" dirty="0"/>
          </a:p>
        </p:txBody>
      </p:sp>
      <p:sp>
        <p:nvSpPr>
          <p:cNvPr id="77" name="Shape 67"/>
          <p:cNvSpPr/>
          <p:nvPr/>
        </p:nvSpPr>
        <p:spPr>
          <a:xfrm>
            <a:off x="2438639" y="325874"/>
            <a:ext cx="13200995" cy="12442"/>
          </a:xfrm>
          <a:prstGeom prst="rect">
            <a:avLst/>
          </a:prstGeom>
          <a:solidFill>
            <a:srgbClr val="97A9C1"/>
          </a:solidFill>
          <a:ln/>
        </p:spPr>
      </p:sp>
      <p:sp>
        <p:nvSpPr>
          <p:cNvPr id="78" name="Shape 68"/>
          <p:cNvSpPr/>
          <p:nvPr/>
        </p:nvSpPr>
        <p:spPr>
          <a:xfrm>
            <a:off x="273725" y="114359"/>
            <a:ext cx="771406" cy="423029"/>
          </a:xfrm>
          <a:prstGeom prst="roundRect">
            <a:avLst>
              <a:gd name="adj" fmla="val 7353"/>
            </a:avLst>
          </a:prstGeom>
          <a:solidFill>
            <a:srgbClr val="001E50"/>
          </a:solidFill>
          <a:ln w="9525">
            <a:solidFill>
              <a:srgbClr val="081746"/>
            </a:solidFill>
            <a:prstDash val="solid"/>
          </a:ln>
        </p:spPr>
      </p:sp>
      <p:sp>
        <p:nvSpPr>
          <p:cNvPr id="79" name="Text 69"/>
          <p:cNvSpPr/>
          <p:nvPr/>
        </p:nvSpPr>
        <p:spPr>
          <a:xfrm>
            <a:off x="510123" y="176570"/>
            <a:ext cx="323493" cy="261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2"/>
              </a:lnSpc>
            </a:pPr>
            <a:r>
              <a:rPr lang="en-US" sz="1852" b="1" dirty="0">
                <a:solidFill>
                  <a:srgbClr val="B1B9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852" dirty="0"/>
          </a:p>
        </p:txBody>
      </p:sp>
      <p:sp>
        <p:nvSpPr>
          <p:cNvPr id="80" name="Text 70"/>
          <p:cNvSpPr/>
          <p:nvPr/>
        </p:nvSpPr>
        <p:spPr>
          <a:xfrm>
            <a:off x="9107567" y="8674476"/>
            <a:ext cx="6519624" cy="22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43"/>
              </a:lnSpc>
            </a:pPr>
            <a:r>
              <a:rPr lang="en-US" sz="1063" dirty="0">
                <a:solidFill>
                  <a:srgbClr val="9EA4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YTN 2026.02.23 보도 사례 + 앞서 정리한 FDS 알림 한계, 사실확인 통화, 내부 검토 흐름 분석 종합</a:t>
            </a:r>
            <a:endParaRPr lang="en-US" sz="1063" dirty="0"/>
          </a:p>
        </p:txBody>
      </p:sp>
      <p:sp>
        <p:nvSpPr>
          <p:cNvPr id="81" name="Text 71"/>
          <p:cNvSpPr/>
          <p:nvPr/>
        </p:nvSpPr>
        <p:spPr>
          <a:xfrm>
            <a:off x="1256646" y="164127"/>
            <a:ext cx="982920" cy="29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64"/>
              </a:lnSpc>
            </a:pPr>
            <a:r>
              <a:rPr lang="en-US" sz="1822" dirty="0">
                <a:solidFill>
                  <a:srgbClr val="5C68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해결방향</a:t>
            </a:r>
            <a:endParaRPr lang="en-US" sz="182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그림 1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84" y="141"/>
            <a:ext cx="15917833" cy="896274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508DD6D-0EE7-4D1D-9ACD-CF5C86A6F474}"/>
              </a:ext>
            </a:extLst>
          </p:cNvPr>
          <p:cNvSpPr>
            <a:spLocks noGrp="1"/>
          </p:cNvSpPr>
          <p:nvPr/>
        </p:nvSpPr>
        <p:spPr>
          <a:xfrm>
            <a:off x="159338" y="55908"/>
            <a:ext cx="485980" cy="30274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109" lnSpcReduction="20000"/>
          </a:bodyPr>
          <a:lstStyle/>
          <a:p>
            <a: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19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C418B2-0051-4291-9D74-FEA8DF259E48}"/>
              </a:ext>
            </a:extLst>
          </p:cNvPr>
          <p:cNvSpPr>
            <a:spLocks noGrp="1"/>
          </p:cNvSpPr>
          <p:nvPr/>
        </p:nvSpPr>
        <p:spPr>
          <a:xfrm>
            <a:off x="852458" y="55909"/>
            <a:ext cx="1139264" cy="32664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436" lnSpcReduction="10000"/>
          </a:bodyPr>
          <a:lstStyle/>
          <a:p>
            <a:pPr algn="l">
              <a:defRPr sz="21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819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우리 서비스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F7C7EF-A6D3-466A-BCD4-AACBFDDDB03E}"/>
              </a:ext>
            </a:extLst>
          </p:cNvPr>
          <p:cNvSpPr>
            <a:spLocks noGrp="1"/>
          </p:cNvSpPr>
          <p:nvPr/>
        </p:nvSpPr>
        <p:spPr>
          <a:xfrm>
            <a:off x="159338" y="462220"/>
            <a:ext cx="2071390" cy="7249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95" lnSpcReduction="10000"/>
          </a:bodyPr>
          <a:lstStyle/>
          <a:p>
            <a:pPr algn="l">
              <a:defRPr sz="57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4830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CSR은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DAB2E7-5E79-45E0-9D5D-D0B71022F7E2}"/>
              </a:ext>
            </a:extLst>
          </p:cNvPr>
          <p:cNvSpPr>
            <a:spLocks noGrp="1"/>
          </p:cNvSpPr>
          <p:nvPr/>
        </p:nvSpPr>
        <p:spPr>
          <a:xfrm>
            <a:off x="2230728" y="462220"/>
            <a:ext cx="3425760" cy="7249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95" lnSpcReduction="10000"/>
          </a:bodyPr>
          <a:lstStyle/>
          <a:p>
            <a:pPr algn="l">
              <a:defRPr sz="577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4830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어떻게 대응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1AA8DC-CB30-4E49-97A6-1EC41F5DC700}"/>
              </a:ext>
            </a:extLst>
          </p:cNvPr>
          <p:cNvSpPr>
            <a:spLocks noGrp="1"/>
          </p:cNvSpPr>
          <p:nvPr/>
        </p:nvSpPr>
        <p:spPr>
          <a:xfrm>
            <a:off x="5640554" y="462220"/>
            <a:ext cx="3377959" cy="7249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95" lnSpcReduction="10000"/>
          </a:bodyPr>
          <a:lstStyle/>
          <a:p>
            <a:pPr algn="l">
              <a:defRPr sz="57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4830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을 돕는가?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0F9F42-A833-45FA-94F8-D519A03A18B9}"/>
              </a:ext>
            </a:extLst>
          </p:cNvPr>
          <p:cNvSpPr>
            <a:spLocks noGrp="1"/>
          </p:cNvSpPr>
          <p:nvPr/>
        </p:nvSpPr>
        <p:spPr>
          <a:xfrm>
            <a:off x="191206" y="1219074"/>
            <a:ext cx="12508007" cy="40631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l">
              <a:defRPr sz="2700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2258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고객과의 채팅을 중심으로 정보를 모으고, AI가 사건 맥락을 정리해 은행 직원의 판단을 돕는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82B72D-A82A-4D07-9C25-485988B1C550}"/>
              </a:ext>
            </a:extLst>
          </p:cNvPr>
          <p:cNvSpPr>
            <a:spLocks noGrp="1"/>
          </p:cNvSpPr>
          <p:nvPr/>
        </p:nvSpPr>
        <p:spPr>
          <a:xfrm>
            <a:off x="231041" y="1824557"/>
            <a:ext cx="581582" cy="50191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6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2196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1CFAC2-239F-4666-A959-A3D4C0A6FD5D}"/>
              </a:ext>
            </a:extLst>
          </p:cNvPr>
          <p:cNvSpPr>
            <a:spLocks noGrp="1"/>
          </p:cNvSpPr>
          <p:nvPr/>
        </p:nvSpPr>
        <p:spPr>
          <a:xfrm>
            <a:off x="987894" y="1840491"/>
            <a:ext cx="3608998" cy="46207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2258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통화·FDS 정보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568AF2-CDFF-4BAA-AC11-B2165E03D8C0}"/>
              </a:ext>
            </a:extLst>
          </p:cNvPr>
          <p:cNvSpPr>
            <a:spLocks noGrp="1"/>
          </p:cNvSpPr>
          <p:nvPr/>
        </p:nvSpPr>
        <p:spPr>
          <a:xfrm>
            <a:off x="4955402" y="1824557"/>
            <a:ext cx="597516" cy="50191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6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2196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52804E-2365-4B03-B545-6BEBFCE98F8F}"/>
              </a:ext>
            </a:extLst>
          </p:cNvPr>
          <p:cNvSpPr>
            <a:spLocks noGrp="1"/>
          </p:cNvSpPr>
          <p:nvPr/>
        </p:nvSpPr>
        <p:spPr>
          <a:xfrm>
            <a:off x="5752090" y="1840491"/>
            <a:ext cx="3091151" cy="46207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2258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사건 생성 및 공유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5D1133-CB91-4485-9648-D7D6A4BC206B}"/>
              </a:ext>
            </a:extLst>
          </p:cNvPr>
          <p:cNvSpPr>
            <a:spLocks noGrp="1"/>
          </p:cNvSpPr>
          <p:nvPr/>
        </p:nvSpPr>
        <p:spPr>
          <a:xfrm>
            <a:off x="9337188" y="1824557"/>
            <a:ext cx="669218" cy="50191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6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2196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BDCED84-6E5C-419B-B8C9-B95F5FC800F7}"/>
              </a:ext>
            </a:extLst>
          </p:cNvPr>
          <p:cNvSpPr>
            <a:spLocks noGrp="1"/>
          </p:cNvSpPr>
          <p:nvPr/>
        </p:nvSpPr>
        <p:spPr>
          <a:xfrm>
            <a:off x="10157777" y="1840491"/>
            <a:ext cx="5258143" cy="46207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3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채팅 중심 대응 + AI 맥락 정리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CDE539-8E9E-4828-B683-BBD49D3D0400}"/>
              </a:ext>
            </a:extLst>
          </p:cNvPr>
          <p:cNvSpPr>
            <a:spLocks noGrp="1"/>
          </p:cNvSpPr>
          <p:nvPr/>
        </p:nvSpPr>
        <p:spPr>
          <a:xfrm>
            <a:off x="637351" y="2485809"/>
            <a:ext cx="1434039" cy="1832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 lnSpcReduction="20000"/>
          </a:bodyPr>
          <a:lstStyle/>
          <a:p>
            <a:pPr algn="l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CSR | Case Share Room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ABD82A-C492-427F-9184-055E2558E1F8}"/>
              </a:ext>
            </a:extLst>
          </p:cNvPr>
          <p:cNvSpPr>
            <a:spLocks noGrp="1"/>
          </p:cNvSpPr>
          <p:nvPr/>
        </p:nvSpPr>
        <p:spPr>
          <a:xfrm>
            <a:off x="637351" y="2653113"/>
            <a:ext cx="1999688" cy="13543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561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보이스피싱 영향 상담 · 대응 플랫폼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524937-6EDD-4ED5-B776-153473404433}"/>
              </a:ext>
            </a:extLst>
          </p:cNvPr>
          <p:cNvSpPr>
            <a:spLocks noGrp="1"/>
          </p:cNvSpPr>
          <p:nvPr/>
        </p:nvSpPr>
        <p:spPr>
          <a:xfrm>
            <a:off x="334610" y="3011623"/>
            <a:ext cx="1489807" cy="1513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8452" lnSpcReduction="20000"/>
          </a:bodyPr>
          <a:lstStyle/>
          <a:p>
            <a:pPr algn="l">
              <a:defRPr sz="1050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CSR | Case Share Room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2CEF77-8E51-4176-A130-9F62344D01B4}"/>
              </a:ext>
            </a:extLst>
          </p:cNvPr>
          <p:cNvSpPr>
            <a:spLocks noGrp="1"/>
          </p:cNvSpPr>
          <p:nvPr/>
        </p:nvSpPr>
        <p:spPr>
          <a:xfrm>
            <a:off x="326643" y="3186894"/>
            <a:ext cx="1760681" cy="59751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898" lnSpcReduction="10000"/>
          </a:bodyPr>
          <a:lstStyle/>
          <a:p>
            <a:pPr algn="l">
              <a:defRPr sz="21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819" b="1" dirty="0" err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보이스피싱을</a:t>
            </a:r>
            <a:endParaRPr sz="1819" b="1" dirty="0">
              <a:solidFill>
                <a:srgbClr val="061F51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21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819" b="1" dirty="0" err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빠르게</a:t>
            </a:r>
            <a:r>
              <a:rPr sz="1819" b="1" dirty="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19" b="1" dirty="0" err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대응하세요</a:t>
            </a:r>
            <a:r>
              <a:rPr sz="1819" b="1" dirty="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B900DC-08AA-43D0-946F-D3537F193D33}"/>
              </a:ext>
            </a:extLst>
          </p:cNvPr>
          <p:cNvSpPr>
            <a:spLocks noGrp="1"/>
          </p:cNvSpPr>
          <p:nvPr/>
        </p:nvSpPr>
        <p:spPr>
          <a:xfrm>
            <a:off x="493947" y="3919847"/>
            <a:ext cx="1641178" cy="36647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61" lnSpcReduction="10000"/>
          </a:bodyPr>
          <a:lstStyle/>
          <a:p>
            <a:pPr algn="l">
              <a:defRPr sz="10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AI가 보이스피싱 통화의 주요 정황을</a:t>
            </a:r>
          </a:p>
          <a:p>
            <a:pPr algn="l">
              <a:defRPr sz="10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정리하고 업무를 지원합니다.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7B80B0-FF95-47F2-B4D7-FEC9541E8833}"/>
              </a:ext>
            </a:extLst>
          </p:cNvPr>
          <p:cNvSpPr>
            <a:spLocks noGrp="1"/>
          </p:cNvSpPr>
          <p:nvPr/>
        </p:nvSpPr>
        <p:spPr>
          <a:xfrm>
            <a:off x="493947" y="4381926"/>
            <a:ext cx="1673046" cy="36647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261" lnSpcReduction="20000"/>
          </a:bodyPr>
          <a:lstStyle/>
          <a:p>
            <a:pPr algn="l">
              <a:defRPr sz="10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은행과 고객이 빠르게 소통하며 필요한</a:t>
            </a:r>
          </a:p>
          <a:p>
            <a:pPr algn="l">
              <a:defRPr sz="10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정보를 확인하고 안내합니다.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2361AC-123F-427D-8FE4-02A4790DD541}"/>
              </a:ext>
            </a:extLst>
          </p:cNvPr>
          <p:cNvSpPr>
            <a:spLocks noGrp="1"/>
          </p:cNvSpPr>
          <p:nvPr/>
        </p:nvSpPr>
        <p:spPr>
          <a:xfrm>
            <a:off x="493948" y="4828072"/>
            <a:ext cx="1633211" cy="35851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082" lnSpcReduction="10000"/>
          </a:bodyPr>
          <a:lstStyle/>
          <a:p>
            <a:pPr algn="l">
              <a:defRPr sz="10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업무 관계자를 빠르게 소집해 함께</a:t>
            </a:r>
          </a:p>
          <a:p>
            <a:pPr algn="l">
              <a:defRPr sz="10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재대응합니다.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9DC65A-0A78-4B5A-8FB2-3B63B5333CBE}"/>
              </a:ext>
            </a:extLst>
          </p:cNvPr>
          <p:cNvSpPr>
            <a:spLocks noGrp="1"/>
          </p:cNvSpPr>
          <p:nvPr/>
        </p:nvSpPr>
        <p:spPr>
          <a:xfrm>
            <a:off x="589550" y="5688495"/>
            <a:ext cx="1497774" cy="2708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5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 통화 분석하기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712036-F25B-4C5A-BE8F-1C613B5A4015}"/>
              </a:ext>
            </a:extLst>
          </p:cNvPr>
          <p:cNvSpPr>
            <a:spLocks noGrp="1"/>
          </p:cNvSpPr>
          <p:nvPr/>
        </p:nvSpPr>
        <p:spPr>
          <a:xfrm>
            <a:off x="573616" y="6158541"/>
            <a:ext cx="1497774" cy="2868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9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은행 담당자 관리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1984D9-10F3-4602-9B26-2A7FADD37629}"/>
              </a:ext>
            </a:extLst>
          </p:cNvPr>
          <p:cNvSpPr>
            <a:spLocks noGrp="1"/>
          </p:cNvSpPr>
          <p:nvPr/>
        </p:nvSpPr>
        <p:spPr>
          <a:xfrm>
            <a:off x="2358198" y="3011622"/>
            <a:ext cx="2015622" cy="14340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8333" lnSpcReduction="20000"/>
          </a:bodyPr>
          <a:lstStyle/>
          <a:p>
            <a:pPr algn="l">
              <a:defRPr sz="900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753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NEW SHARED CASE · DEMO ADAPTER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776733-3E45-47FA-884C-5E2B28AD2B17}"/>
              </a:ext>
            </a:extLst>
          </p:cNvPr>
          <p:cNvSpPr>
            <a:spLocks noGrp="1"/>
          </p:cNvSpPr>
          <p:nvPr/>
        </p:nvSpPr>
        <p:spPr>
          <a:xfrm>
            <a:off x="2342265" y="3162993"/>
            <a:ext cx="2047489" cy="30274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568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새 통화 분석하기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C66664-9F7F-44D0-BC0C-A0057FCE8621}"/>
              </a:ext>
            </a:extLst>
          </p:cNvPr>
          <p:cNvSpPr>
            <a:spLocks noGrp="1"/>
          </p:cNvSpPr>
          <p:nvPr/>
        </p:nvSpPr>
        <p:spPr>
          <a:xfrm>
            <a:off x="2350231" y="3417934"/>
            <a:ext cx="2127158" cy="3983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711" lnSpcReduction="20000"/>
          </a:bodyPr>
          <a:lstStyle/>
          <a:p>
            <a:pPr algn="l">
              <a:defRPr sz="10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AI가 통화 내용을 분석한 뒤, 확인된 정보와</a:t>
            </a:r>
          </a:p>
          <a:p>
            <a:pPr algn="l">
              <a:defRPr sz="10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대화 원문을 분리해 Case로 정리합니다.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08A6F86-C50E-45FF-8EDC-2D252E71491B}"/>
              </a:ext>
            </a:extLst>
          </p:cNvPr>
          <p:cNvSpPr>
            <a:spLocks noGrp="1"/>
          </p:cNvSpPr>
          <p:nvPr/>
        </p:nvSpPr>
        <p:spPr>
          <a:xfrm>
            <a:off x="2358198" y="3872046"/>
            <a:ext cx="2103257" cy="20713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 lnSpcReduction="20000"/>
          </a:bodyPr>
          <a:lstStyle/>
          <a:p>
            <a:pPr algn="l">
              <a:defRPr sz="120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1004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온디바이스 분석 데모 입력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1006594-A815-484B-80D3-C9AD86B924A6}"/>
              </a:ext>
            </a:extLst>
          </p:cNvPr>
          <p:cNvSpPr>
            <a:spLocks noGrp="1"/>
          </p:cNvSpPr>
          <p:nvPr/>
        </p:nvSpPr>
        <p:spPr>
          <a:xfrm>
            <a:off x="2437867" y="4111052"/>
            <a:ext cx="1067562" cy="22307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96"/>
          </a:bodyPr>
          <a:lstStyle/>
          <a:p>
            <a:pPr algn="ctr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보이스피싱 사례 샘플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77011F6-2B8A-4317-B712-5F071CB6CA82}"/>
              </a:ext>
            </a:extLst>
          </p:cNvPr>
          <p:cNvSpPr>
            <a:spLocks noGrp="1"/>
          </p:cNvSpPr>
          <p:nvPr/>
        </p:nvSpPr>
        <p:spPr>
          <a:xfrm>
            <a:off x="3664767" y="4111052"/>
            <a:ext cx="669218" cy="22307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773" lnSpcReduction="20000"/>
          </a:bodyPr>
          <a:lstStyle/>
          <a:p>
            <a:pPr algn="ctr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일상 통화 샘플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C100F87-AF0D-45C4-B6AC-312F84D500C7}"/>
              </a:ext>
            </a:extLst>
          </p:cNvPr>
          <p:cNvSpPr>
            <a:spLocks noGrp="1"/>
          </p:cNvSpPr>
          <p:nvPr/>
        </p:nvSpPr>
        <p:spPr>
          <a:xfrm>
            <a:off x="2437867" y="4477529"/>
            <a:ext cx="2031555" cy="133843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112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2/20 은행이 이상거래를 탐지하여</a:t>
            </a:r>
          </a:p>
          <a:p>
            <a:pPr algn="l">
              <a:defRPr sz="112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거래를 제한하자, 고객이 ‘주식 투자</a:t>
            </a:r>
          </a:p>
          <a:p>
            <a:pPr algn="l">
              <a:defRPr sz="112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목적’이라고 설명.</a:t>
            </a:r>
          </a:p>
          <a:p>
            <a:pPr algn="l">
              <a:defRPr sz="112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추가 확인 없이 조치 해제 이후</a:t>
            </a:r>
          </a:p>
          <a:p>
            <a:pPr algn="l">
              <a:defRPr sz="112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다른 계좌로 추가 송금이 이어짐.</a:t>
            </a:r>
          </a:p>
          <a:p>
            <a:pPr algn="l">
              <a:defRPr sz="112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통화 내용과 문자 안내, 거래 중지 이력까지</a:t>
            </a:r>
          </a:p>
          <a:p>
            <a:pPr algn="l">
              <a:defRPr sz="112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함께 입력합니다.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3D8D871-23AF-4F06-9AD2-D70191860816}"/>
              </a:ext>
            </a:extLst>
          </p:cNvPr>
          <p:cNvSpPr>
            <a:spLocks noGrp="1"/>
          </p:cNvSpPr>
          <p:nvPr/>
        </p:nvSpPr>
        <p:spPr>
          <a:xfrm>
            <a:off x="3959541" y="5903601"/>
            <a:ext cx="509881" cy="1752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135" lnSpcReduction="20000"/>
          </a:bodyPr>
          <a:lstStyle/>
          <a:p>
            <a:pPr algn="r">
              <a:defRPr sz="97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0/50,000자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B208AD-5B8A-4D70-8524-8468FB83A895}"/>
              </a:ext>
            </a:extLst>
          </p:cNvPr>
          <p:cNvSpPr>
            <a:spLocks noGrp="1"/>
          </p:cNvSpPr>
          <p:nvPr/>
        </p:nvSpPr>
        <p:spPr>
          <a:xfrm>
            <a:off x="2453801" y="6222276"/>
            <a:ext cx="390377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216" lnSpcReduction="10000"/>
          </a:bodyPr>
          <a:lstStyle/>
          <a:p>
            <a:pPr algn="ctr">
              <a:defRPr sz="120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1004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취소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70B13A6-47F0-4554-8B32-72C5B5D8CBB5}"/>
              </a:ext>
            </a:extLst>
          </p:cNvPr>
          <p:cNvSpPr>
            <a:spLocks noGrp="1"/>
          </p:cNvSpPr>
          <p:nvPr/>
        </p:nvSpPr>
        <p:spPr>
          <a:xfrm>
            <a:off x="3051317" y="6198376"/>
            <a:ext cx="1418105" cy="27884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9766" lnSpcReduction="2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0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데모 분석하고 Case 만들기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E7E963-F41D-49B9-81BB-48215F9D4B15}"/>
              </a:ext>
            </a:extLst>
          </p:cNvPr>
          <p:cNvSpPr>
            <a:spLocks noGrp="1"/>
          </p:cNvSpPr>
          <p:nvPr/>
        </p:nvSpPr>
        <p:spPr>
          <a:xfrm>
            <a:off x="5385614" y="2493775"/>
            <a:ext cx="1442006" cy="16730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077" lnSpcReduction="20000"/>
          </a:bodyPr>
          <a:lstStyle/>
          <a:p>
            <a:pPr algn="l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CSR | Case Share Room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C5EFFC-267C-4648-84C2-B22D35717CDD}"/>
              </a:ext>
            </a:extLst>
          </p:cNvPr>
          <p:cNvSpPr>
            <a:spLocks noGrp="1"/>
          </p:cNvSpPr>
          <p:nvPr/>
        </p:nvSpPr>
        <p:spPr>
          <a:xfrm>
            <a:off x="5377647" y="2661080"/>
            <a:ext cx="2039522" cy="14340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보이스피싱 영향 상담 · 대응 플랫폼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F73A05F-82B1-45AF-9F1C-7F0DAABA50C7}"/>
              </a:ext>
            </a:extLst>
          </p:cNvPr>
          <p:cNvSpPr>
            <a:spLocks noGrp="1"/>
          </p:cNvSpPr>
          <p:nvPr/>
        </p:nvSpPr>
        <p:spPr>
          <a:xfrm>
            <a:off x="5074906" y="2923987"/>
            <a:ext cx="1744747" cy="2629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636" lnSpcReduction="10000"/>
          </a:bodyPr>
          <a:lstStyle/>
          <a:p>
            <a:pPr algn="l">
              <a:defRPr sz="1650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현재 대응 사건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57C24B9-2C36-4248-8CAA-B6AED1138563}"/>
              </a:ext>
            </a:extLst>
          </p:cNvPr>
          <p:cNvSpPr>
            <a:spLocks noGrp="1"/>
          </p:cNvSpPr>
          <p:nvPr/>
        </p:nvSpPr>
        <p:spPr>
          <a:xfrm>
            <a:off x="5170508" y="3234696"/>
            <a:ext cx="1418105" cy="2151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94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⌕  사건 검색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39A4903-B109-40FF-80FA-8305F32C3A1D}"/>
              </a:ext>
            </a:extLst>
          </p:cNvPr>
          <p:cNvSpPr>
            <a:spLocks noGrp="1"/>
          </p:cNvSpPr>
          <p:nvPr/>
        </p:nvSpPr>
        <p:spPr>
          <a:xfrm>
            <a:off x="5329845" y="3617106"/>
            <a:ext cx="414278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20000"/>
          </a:bodyPr>
          <a:lstStyle/>
          <a:p>
            <a:pPr algn="ctr">
              <a:defRPr sz="105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전체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EFBCF7E-149D-4216-9AAB-8C60497BBDD8}"/>
              </a:ext>
            </a:extLst>
          </p:cNvPr>
          <p:cNvSpPr>
            <a:spLocks noGrp="1"/>
          </p:cNvSpPr>
          <p:nvPr/>
        </p:nvSpPr>
        <p:spPr>
          <a:xfrm>
            <a:off x="6118567" y="3617106"/>
            <a:ext cx="717020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218"/>
          </a:bodyPr>
          <a:lstStyle/>
          <a:p>
            <a:pPr algn="l">
              <a:defRPr sz="97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피해 발생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0C01C48-7DDA-47D3-8812-9C39D948D123}"/>
              </a:ext>
            </a:extLst>
          </p:cNvPr>
          <p:cNvSpPr>
            <a:spLocks noGrp="1"/>
          </p:cNvSpPr>
          <p:nvPr/>
        </p:nvSpPr>
        <p:spPr>
          <a:xfrm>
            <a:off x="7233931" y="3617106"/>
            <a:ext cx="50191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218"/>
          </a:bodyPr>
          <a:lstStyle/>
          <a:p>
            <a:pPr algn="l">
              <a:defRPr sz="97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의심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A41865B-E399-46A3-9393-A574B868EA21}"/>
              </a:ext>
            </a:extLst>
          </p:cNvPr>
          <p:cNvSpPr>
            <a:spLocks noGrp="1"/>
          </p:cNvSpPr>
          <p:nvPr/>
        </p:nvSpPr>
        <p:spPr>
          <a:xfrm>
            <a:off x="8205890" y="3617106"/>
            <a:ext cx="493947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218"/>
          </a:bodyPr>
          <a:lstStyle/>
          <a:p>
            <a:pPr algn="l">
              <a:defRPr sz="97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AA376B-A031-4FD2-9D0F-399E139F0C52}"/>
              </a:ext>
            </a:extLst>
          </p:cNvPr>
          <p:cNvSpPr>
            <a:spLocks noGrp="1"/>
          </p:cNvSpPr>
          <p:nvPr/>
        </p:nvSpPr>
        <p:spPr>
          <a:xfrm>
            <a:off x="5058971" y="3935781"/>
            <a:ext cx="557682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650" lnSpcReduction="20000"/>
          </a:bodyPr>
          <a:lstStyle/>
          <a:p>
            <a:pPr algn="l">
              <a:defRPr sz="97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업무 상태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F8BF520-B162-4472-989E-18D62B6A1158}"/>
              </a:ext>
            </a:extLst>
          </p:cNvPr>
          <p:cNvSpPr>
            <a:spLocks noGrp="1"/>
          </p:cNvSpPr>
          <p:nvPr/>
        </p:nvSpPr>
        <p:spPr>
          <a:xfrm>
            <a:off x="5696322" y="3943748"/>
            <a:ext cx="828556" cy="1832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 lnSpcReduction="20000"/>
          </a:bodyPr>
          <a:lstStyle/>
          <a:p>
            <a:pPr algn="l">
              <a:defRPr sz="97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전체 상태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6F4DCAE-F2B3-419B-AE9A-28CE16C1E73D}"/>
              </a:ext>
            </a:extLst>
          </p:cNvPr>
          <p:cNvSpPr>
            <a:spLocks noGrp="1"/>
          </p:cNvSpPr>
          <p:nvPr/>
        </p:nvSpPr>
        <p:spPr>
          <a:xfrm>
            <a:off x="6596580" y="3935781"/>
            <a:ext cx="358510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218" lnSpcReduction="20000"/>
          </a:bodyPr>
          <a:lstStyle/>
          <a:p>
            <a:pPr algn="l">
              <a:defRPr sz="97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정렬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A7D1DE2-8DC8-4B5F-B54F-4164D7846D4F}"/>
              </a:ext>
            </a:extLst>
          </p:cNvPr>
          <p:cNvSpPr>
            <a:spLocks noGrp="1"/>
          </p:cNvSpPr>
          <p:nvPr/>
        </p:nvSpPr>
        <p:spPr>
          <a:xfrm>
            <a:off x="6971024" y="3943748"/>
            <a:ext cx="1274701" cy="1832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 lnSpcReduction="20000"/>
          </a:bodyPr>
          <a:lstStyle/>
          <a:p>
            <a:pPr algn="l">
              <a:defRPr sz="97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최신 업데이트 시간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FB982E0-9EDA-46B1-9392-84044205B9BA}"/>
              </a:ext>
            </a:extLst>
          </p:cNvPr>
          <p:cNvSpPr>
            <a:spLocks noGrp="1"/>
          </p:cNvSpPr>
          <p:nvPr/>
        </p:nvSpPr>
        <p:spPr>
          <a:xfrm>
            <a:off x="8317427" y="3943748"/>
            <a:ext cx="669218" cy="1832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 lnSpcReduction="20000"/>
          </a:bodyPr>
          <a:lstStyle/>
          <a:p>
            <a:pPr algn="l">
              <a:defRPr sz="97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↓ 내림차순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999304D-9418-4E4A-AEF2-DEFF52C854BB}"/>
              </a:ext>
            </a:extLst>
          </p:cNvPr>
          <p:cNvSpPr>
            <a:spLocks noGrp="1"/>
          </p:cNvSpPr>
          <p:nvPr/>
        </p:nvSpPr>
        <p:spPr>
          <a:xfrm>
            <a:off x="5066938" y="4342092"/>
            <a:ext cx="39834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9350" lnSpcReduction="20000"/>
          </a:bodyPr>
          <a:lstStyle/>
          <a:p>
            <a:pPr algn="l">
              <a:defRPr sz="82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사건 ID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28480CE-736F-4C18-8257-164F0DEE35C9}"/>
              </a:ext>
            </a:extLst>
          </p:cNvPr>
          <p:cNvSpPr>
            <a:spLocks noGrp="1"/>
          </p:cNvSpPr>
          <p:nvPr/>
        </p:nvSpPr>
        <p:spPr>
          <a:xfrm>
            <a:off x="5544951" y="4342092"/>
            <a:ext cx="557682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사건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83432A9-F99A-4F9C-BA82-F1B5262AB7E1}"/>
              </a:ext>
            </a:extLst>
          </p:cNvPr>
          <p:cNvSpPr>
            <a:spLocks noGrp="1"/>
          </p:cNvSpPr>
          <p:nvPr/>
        </p:nvSpPr>
        <p:spPr>
          <a:xfrm>
            <a:off x="6285872" y="4342092"/>
            <a:ext cx="549715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l">
              <a:defRPr sz="82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업무 상태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9F746A3-CF3A-4F12-A54B-3913AFE595E1}"/>
              </a:ext>
            </a:extLst>
          </p:cNvPr>
          <p:cNvSpPr>
            <a:spLocks noGrp="1"/>
          </p:cNvSpPr>
          <p:nvPr/>
        </p:nvSpPr>
        <p:spPr>
          <a:xfrm>
            <a:off x="6684216" y="4342092"/>
            <a:ext cx="75685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최초 생성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6F944D5-6446-443A-B9D3-DEB65B575910}"/>
              </a:ext>
            </a:extLst>
          </p:cNvPr>
          <p:cNvSpPr>
            <a:spLocks noGrp="1"/>
          </p:cNvSpPr>
          <p:nvPr/>
        </p:nvSpPr>
        <p:spPr>
          <a:xfrm>
            <a:off x="7512772" y="4342092"/>
            <a:ext cx="900258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최근 업데이트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5BEA557-56ED-4B40-83F2-7750379B512D}"/>
              </a:ext>
            </a:extLst>
          </p:cNvPr>
          <p:cNvSpPr>
            <a:spLocks noGrp="1"/>
          </p:cNvSpPr>
          <p:nvPr/>
        </p:nvSpPr>
        <p:spPr>
          <a:xfrm>
            <a:off x="8301493" y="4342092"/>
            <a:ext cx="804655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상태·편집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26CB00C-D8A1-41F3-9085-F141177445BD}"/>
              </a:ext>
            </a:extLst>
          </p:cNvPr>
          <p:cNvSpPr>
            <a:spLocks noGrp="1"/>
          </p:cNvSpPr>
          <p:nvPr/>
        </p:nvSpPr>
        <p:spPr>
          <a:xfrm>
            <a:off x="5074905" y="4636866"/>
            <a:ext cx="39834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397" lnSpcReduction="20000"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VP-2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100EC73-B2A6-4B99-886E-E03E5F7E482F}"/>
              </a:ext>
            </a:extLst>
          </p:cNvPr>
          <p:cNvSpPr>
            <a:spLocks noGrp="1"/>
          </p:cNvSpPr>
          <p:nvPr/>
        </p:nvSpPr>
        <p:spPr>
          <a:xfrm>
            <a:off x="5536984" y="4636866"/>
            <a:ext cx="71702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사기 의심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51B7B7C-904C-47F9-B8AC-60D35D444613}"/>
              </a:ext>
            </a:extLst>
          </p:cNvPr>
          <p:cNvSpPr>
            <a:spLocks noGrp="1"/>
          </p:cNvSpPr>
          <p:nvPr/>
        </p:nvSpPr>
        <p:spPr>
          <a:xfrm>
            <a:off x="6285872" y="4636866"/>
            <a:ext cx="38241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59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F65FB81-8547-4253-813B-1ED1FA9496AE}"/>
              </a:ext>
            </a:extLst>
          </p:cNvPr>
          <p:cNvSpPr>
            <a:spLocks noGrp="1"/>
          </p:cNvSpPr>
          <p:nvPr/>
        </p:nvSpPr>
        <p:spPr>
          <a:xfrm>
            <a:off x="6684216" y="4636866"/>
            <a:ext cx="75685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35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20. 09:24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2245224-FCFC-482B-81A0-C9082022925C}"/>
              </a:ext>
            </a:extLst>
          </p:cNvPr>
          <p:cNvSpPr>
            <a:spLocks noGrp="1"/>
          </p:cNvSpPr>
          <p:nvPr/>
        </p:nvSpPr>
        <p:spPr>
          <a:xfrm>
            <a:off x="7520739" y="4636866"/>
            <a:ext cx="796688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75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23. 11:40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188595E-F522-44D0-B504-3F1015390235}"/>
              </a:ext>
            </a:extLst>
          </p:cNvPr>
          <p:cNvSpPr>
            <a:spLocks noGrp="1"/>
          </p:cNvSpPr>
          <p:nvPr/>
        </p:nvSpPr>
        <p:spPr>
          <a:xfrm>
            <a:off x="8317427" y="4652801"/>
            <a:ext cx="52581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ctr">
              <a:defRPr sz="8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피해 발생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5FBB3C6-277C-4614-A1D7-049CDC472E00}"/>
              </a:ext>
            </a:extLst>
          </p:cNvPr>
          <p:cNvSpPr>
            <a:spLocks noGrp="1"/>
          </p:cNvSpPr>
          <p:nvPr/>
        </p:nvSpPr>
        <p:spPr>
          <a:xfrm>
            <a:off x="5074905" y="4963509"/>
            <a:ext cx="39834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397" lnSpcReduction="20000"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VP-4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8A71FE6-30F3-419A-9CB2-67974FEEEB16}"/>
              </a:ext>
            </a:extLst>
          </p:cNvPr>
          <p:cNvSpPr>
            <a:spLocks noGrp="1"/>
          </p:cNvSpPr>
          <p:nvPr/>
        </p:nvSpPr>
        <p:spPr>
          <a:xfrm>
            <a:off x="5536984" y="4963509"/>
            <a:ext cx="71702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사칭 사건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5CF3F27-0BB9-4A58-A010-86C63F7E1732}"/>
              </a:ext>
            </a:extLst>
          </p:cNvPr>
          <p:cNvSpPr>
            <a:spLocks noGrp="1"/>
          </p:cNvSpPr>
          <p:nvPr/>
        </p:nvSpPr>
        <p:spPr>
          <a:xfrm>
            <a:off x="6285872" y="4963509"/>
            <a:ext cx="38241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59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8F3098F-107C-4BA1-81BD-52CB5E8E1495}"/>
              </a:ext>
            </a:extLst>
          </p:cNvPr>
          <p:cNvSpPr>
            <a:spLocks noGrp="1"/>
          </p:cNvSpPr>
          <p:nvPr/>
        </p:nvSpPr>
        <p:spPr>
          <a:xfrm>
            <a:off x="6684216" y="4963509"/>
            <a:ext cx="75685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35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20. 10:12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DBEF522-36FF-422D-8548-08E3585FDE2C}"/>
              </a:ext>
            </a:extLst>
          </p:cNvPr>
          <p:cNvSpPr>
            <a:spLocks noGrp="1"/>
          </p:cNvSpPr>
          <p:nvPr/>
        </p:nvSpPr>
        <p:spPr>
          <a:xfrm>
            <a:off x="7520739" y="4963509"/>
            <a:ext cx="796688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75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23. 10:57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FC1150C-3565-40C2-A7EA-BC02C01F6EA9}"/>
              </a:ext>
            </a:extLst>
          </p:cNvPr>
          <p:cNvSpPr>
            <a:spLocks noGrp="1"/>
          </p:cNvSpPr>
          <p:nvPr/>
        </p:nvSpPr>
        <p:spPr>
          <a:xfrm>
            <a:off x="8317427" y="4979443"/>
            <a:ext cx="52581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ctr">
              <a:defRPr sz="8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피해 발생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8B7A643-1B21-4347-BBB0-42A6C1ABB165}"/>
              </a:ext>
            </a:extLst>
          </p:cNvPr>
          <p:cNvSpPr>
            <a:spLocks noGrp="1"/>
          </p:cNvSpPr>
          <p:nvPr/>
        </p:nvSpPr>
        <p:spPr>
          <a:xfrm>
            <a:off x="5074905" y="5290151"/>
            <a:ext cx="39834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397" lnSpcReduction="20000"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VP-3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DF64AD7-BB80-444E-BFA3-B449D9C1F7A4}"/>
              </a:ext>
            </a:extLst>
          </p:cNvPr>
          <p:cNvSpPr>
            <a:spLocks noGrp="1"/>
          </p:cNvSpPr>
          <p:nvPr/>
        </p:nvSpPr>
        <p:spPr>
          <a:xfrm>
            <a:off x="5536984" y="5290151"/>
            <a:ext cx="71702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사칭 사건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FADE8B0-A3A5-47DA-9544-9A4A2B0516F9}"/>
              </a:ext>
            </a:extLst>
          </p:cNvPr>
          <p:cNvSpPr>
            <a:spLocks noGrp="1"/>
          </p:cNvSpPr>
          <p:nvPr/>
        </p:nvSpPr>
        <p:spPr>
          <a:xfrm>
            <a:off x="6285872" y="5290151"/>
            <a:ext cx="38241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59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38AAB35-B4DD-4D9C-A8D0-CCAEBEA7BC43}"/>
              </a:ext>
            </a:extLst>
          </p:cNvPr>
          <p:cNvSpPr>
            <a:spLocks noGrp="1"/>
          </p:cNvSpPr>
          <p:nvPr/>
        </p:nvSpPr>
        <p:spPr>
          <a:xfrm>
            <a:off x="6684216" y="5290151"/>
            <a:ext cx="75685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35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20. 09:18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B643539-5E7E-4D07-A812-1E90B925B883}"/>
              </a:ext>
            </a:extLst>
          </p:cNvPr>
          <p:cNvSpPr>
            <a:spLocks noGrp="1"/>
          </p:cNvSpPr>
          <p:nvPr/>
        </p:nvSpPr>
        <p:spPr>
          <a:xfrm>
            <a:off x="7520739" y="5290151"/>
            <a:ext cx="796688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75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23. 09:42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5D62CDF-0E0B-401E-BA5B-578B15E4335A}"/>
              </a:ext>
            </a:extLst>
          </p:cNvPr>
          <p:cNvSpPr>
            <a:spLocks noGrp="1"/>
          </p:cNvSpPr>
          <p:nvPr/>
        </p:nvSpPr>
        <p:spPr>
          <a:xfrm>
            <a:off x="8317427" y="5306085"/>
            <a:ext cx="52581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ctr">
              <a:defRPr sz="8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피해 발생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B6F0A64-7169-4F34-83DA-D6B2AD294BB0}"/>
              </a:ext>
            </a:extLst>
          </p:cNvPr>
          <p:cNvSpPr>
            <a:spLocks noGrp="1"/>
          </p:cNvSpPr>
          <p:nvPr/>
        </p:nvSpPr>
        <p:spPr>
          <a:xfrm>
            <a:off x="5074905" y="5616793"/>
            <a:ext cx="39834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397" lnSpcReduction="20000"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VP-5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50B3C80-CB85-442B-BDA0-091BC1E39950}"/>
              </a:ext>
            </a:extLst>
          </p:cNvPr>
          <p:cNvSpPr>
            <a:spLocks noGrp="1"/>
          </p:cNvSpPr>
          <p:nvPr/>
        </p:nvSpPr>
        <p:spPr>
          <a:xfrm>
            <a:off x="5536984" y="5616793"/>
            <a:ext cx="71702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사칭 사건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DB052A7-C8DD-4CCF-808E-9DBBF4803B37}"/>
              </a:ext>
            </a:extLst>
          </p:cNvPr>
          <p:cNvSpPr>
            <a:spLocks noGrp="1"/>
          </p:cNvSpPr>
          <p:nvPr/>
        </p:nvSpPr>
        <p:spPr>
          <a:xfrm>
            <a:off x="6285872" y="5616793"/>
            <a:ext cx="38241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59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3D59A01-98FB-4A72-B2FB-08236CBD4572}"/>
              </a:ext>
            </a:extLst>
          </p:cNvPr>
          <p:cNvSpPr>
            <a:spLocks noGrp="1"/>
          </p:cNvSpPr>
          <p:nvPr/>
        </p:nvSpPr>
        <p:spPr>
          <a:xfrm>
            <a:off x="6684216" y="5616793"/>
            <a:ext cx="75685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35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20. 10:03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18BC611-2CDF-486E-8145-47B59BD73C39}"/>
              </a:ext>
            </a:extLst>
          </p:cNvPr>
          <p:cNvSpPr>
            <a:spLocks noGrp="1"/>
          </p:cNvSpPr>
          <p:nvPr/>
        </p:nvSpPr>
        <p:spPr>
          <a:xfrm>
            <a:off x="7520739" y="5616793"/>
            <a:ext cx="796688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75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23. 09:42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E220A52-1ACC-49FE-B5D4-3069CEFEB98E}"/>
              </a:ext>
            </a:extLst>
          </p:cNvPr>
          <p:cNvSpPr>
            <a:spLocks noGrp="1"/>
          </p:cNvSpPr>
          <p:nvPr/>
        </p:nvSpPr>
        <p:spPr>
          <a:xfrm>
            <a:off x="8317427" y="5632728"/>
            <a:ext cx="52581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ctr">
              <a:defRPr sz="8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피해 발생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1C3172A-099D-4AE8-96DF-7C159DC90274}"/>
              </a:ext>
            </a:extLst>
          </p:cNvPr>
          <p:cNvSpPr>
            <a:spLocks noGrp="1"/>
          </p:cNvSpPr>
          <p:nvPr/>
        </p:nvSpPr>
        <p:spPr>
          <a:xfrm>
            <a:off x="5074905" y="5943435"/>
            <a:ext cx="39834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397" lnSpcReduction="20000"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VP-6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4C0FC8A-C146-41F7-9A0E-08DCE2EFD6E3}"/>
              </a:ext>
            </a:extLst>
          </p:cNvPr>
          <p:cNvSpPr>
            <a:spLocks noGrp="1"/>
          </p:cNvSpPr>
          <p:nvPr/>
        </p:nvSpPr>
        <p:spPr>
          <a:xfrm>
            <a:off x="5536984" y="5943435"/>
            <a:ext cx="71702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사칭 사건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684FA02-EC6A-47A8-86C5-70D053F72FE4}"/>
              </a:ext>
            </a:extLst>
          </p:cNvPr>
          <p:cNvSpPr>
            <a:spLocks noGrp="1"/>
          </p:cNvSpPr>
          <p:nvPr/>
        </p:nvSpPr>
        <p:spPr>
          <a:xfrm>
            <a:off x="6285872" y="5943435"/>
            <a:ext cx="38241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59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B0F2776-7869-491D-AF46-6CBAC4EDB08C}"/>
              </a:ext>
            </a:extLst>
          </p:cNvPr>
          <p:cNvSpPr>
            <a:spLocks noGrp="1"/>
          </p:cNvSpPr>
          <p:nvPr/>
        </p:nvSpPr>
        <p:spPr>
          <a:xfrm>
            <a:off x="6684216" y="5943435"/>
            <a:ext cx="75685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35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20. 10:15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2A44406-B419-4ABD-954A-86C2C553119C}"/>
              </a:ext>
            </a:extLst>
          </p:cNvPr>
          <p:cNvSpPr>
            <a:spLocks noGrp="1"/>
          </p:cNvSpPr>
          <p:nvPr/>
        </p:nvSpPr>
        <p:spPr>
          <a:xfrm>
            <a:off x="7520739" y="5943435"/>
            <a:ext cx="796688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75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23. 09:42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5FFD795-C8D1-4693-8D33-6755CC7BE35C}"/>
              </a:ext>
            </a:extLst>
          </p:cNvPr>
          <p:cNvSpPr>
            <a:spLocks noGrp="1"/>
          </p:cNvSpPr>
          <p:nvPr/>
        </p:nvSpPr>
        <p:spPr>
          <a:xfrm>
            <a:off x="8317427" y="5959370"/>
            <a:ext cx="52581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ctr">
              <a:defRPr sz="8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피해 발생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556469D-F591-441C-BA71-BE4789C910EB}"/>
              </a:ext>
            </a:extLst>
          </p:cNvPr>
          <p:cNvSpPr>
            <a:spLocks noGrp="1"/>
          </p:cNvSpPr>
          <p:nvPr/>
        </p:nvSpPr>
        <p:spPr>
          <a:xfrm>
            <a:off x="5074905" y="6270078"/>
            <a:ext cx="39834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397" lnSpcReduction="20000"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VP-1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DD7B2C7-25DA-4F41-88B7-F9FAB2492D87}"/>
              </a:ext>
            </a:extLst>
          </p:cNvPr>
          <p:cNvSpPr>
            <a:spLocks noGrp="1"/>
          </p:cNvSpPr>
          <p:nvPr/>
        </p:nvSpPr>
        <p:spPr>
          <a:xfrm>
            <a:off x="5536984" y="6270078"/>
            <a:ext cx="71702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337" lnSpcReduction="20000"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사칭 및 심리 조작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CAFA4A-B3E9-46B5-A9EB-53E8739DFCB5}"/>
              </a:ext>
            </a:extLst>
          </p:cNvPr>
          <p:cNvSpPr>
            <a:spLocks noGrp="1"/>
          </p:cNvSpPr>
          <p:nvPr/>
        </p:nvSpPr>
        <p:spPr>
          <a:xfrm>
            <a:off x="6285872" y="6270078"/>
            <a:ext cx="382410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59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71E44E8-6501-4C8D-8253-1DB183C0F1DC}"/>
              </a:ext>
            </a:extLst>
          </p:cNvPr>
          <p:cNvSpPr>
            <a:spLocks noGrp="1"/>
          </p:cNvSpPr>
          <p:nvPr/>
        </p:nvSpPr>
        <p:spPr>
          <a:xfrm>
            <a:off x="6684216" y="6270078"/>
            <a:ext cx="75685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35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20. 08:55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F040A8F-0564-4EF4-A72F-DD3FBBEC73AA}"/>
              </a:ext>
            </a:extLst>
          </p:cNvPr>
          <p:cNvSpPr>
            <a:spLocks noGrp="1"/>
          </p:cNvSpPr>
          <p:nvPr/>
        </p:nvSpPr>
        <p:spPr>
          <a:xfrm>
            <a:off x="7520739" y="6270078"/>
            <a:ext cx="796688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875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2026. 02. 22. 14:36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C7C3C0A4-D779-463B-83B0-7D0F3F1D4855}"/>
              </a:ext>
            </a:extLst>
          </p:cNvPr>
          <p:cNvSpPr>
            <a:spLocks noGrp="1"/>
          </p:cNvSpPr>
          <p:nvPr/>
        </p:nvSpPr>
        <p:spPr>
          <a:xfrm>
            <a:off x="8317427" y="6286012"/>
            <a:ext cx="52581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ctr">
              <a:defRPr sz="825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피해 발생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57F21376-88AE-41D0-AC1F-E1C480F5156F}"/>
              </a:ext>
            </a:extLst>
          </p:cNvPr>
          <p:cNvSpPr>
            <a:spLocks noGrp="1"/>
          </p:cNvSpPr>
          <p:nvPr/>
        </p:nvSpPr>
        <p:spPr>
          <a:xfrm>
            <a:off x="9799268" y="2414107"/>
            <a:ext cx="1888151" cy="1832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897" lnSpcReduction="20000"/>
          </a:bodyPr>
          <a:lstStyle/>
          <a:p>
            <a:pPr algn="l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CSR | Case Share Room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5219F00-582A-43E1-9942-6DC692716C36}"/>
              </a:ext>
            </a:extLst>
          </p:cNvPr>
          <p:cNvSpPr>
            <a:spLocks noGrp="1"/>
          </p:cNvSpPr>
          <p:nvPr/>
        </p:nvSpPr>
        <p:spPr>
          <a:xfrm>
            <a:off x="9807234" y="2557510"/>
            <a:ext cx="2151059" cy="1513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712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보이스피싱 영향 상담 · 대응 플랫폼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D8E6053-52E0-40D8-9872-BC2A4D892901}"/>
              </a:ext>
            </a:extLst>
          </p:cNvPr>
          <p:cNvSpPr>
            <a:spLocks noGrp="1"/>
          </p:cNvSpPr>
          <p:nvPr/>
        </p:nvSpPr>
        <p:spPr>
          <a:xfrm>
            <a:off x="12635477" y="2430040"/>
            <a:ext cx="1115364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고객 화면 체험하기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D33AF8A-3EEE-4D45-B0C8-D53A21D0CF91}"/>
              </a:ext>
            </a:extLst>
          </p:cNvPr>
          <p:cNvSpPr>
            <a:spLocks noGrp="1"/>
          </p:cNvSpPr>
          <p:nvPr/>
        </p:nvSpPr>
        <p:spPr>
          <a:xfrm>
            <a:off x="13742874" y="2430040"/>
            <a:ext cx="732953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683" lnSpcReduction="20000"/>
          </a:bodyPr>
          <a:lstStyle/>
          <a:p>
            <a:pPr algn="l">
              <a:defRPr sz="67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565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고객 화면을 새 탭으로 볼 수 있습니다.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B3A7F22-388D-415E-A64F-EDEB760DF137}"/>
              </a:ext>
            </a:extLst>
          </p:cNvPr>
          <p:cNvSpPr>
            <a:spLocks noGrp="1"/>
          </p:cNvSpPr>
          <p:nvPr/>
        </p:nvSpPr>
        <p:spPr>
          <a:xfrm>
            <a:off x="14675000" y="2430040"/>
            <a:ext cx="701086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사건 보드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62367A1-AA6E-423A-9558-752842B781B8}"/>
              </a:ext>
            </a:extLst>
          </p:cNvPr>
          <p:cNvSpPr>
            <a:spLocks noGrp="1"/>
          </p:cNvSpPr>
          <p:nvPr/>
        </p:nvSpPr>
        <p:spPr>
          <a:xfrm>
            <a:off x="9568227" y="2772616"/>
            <a:ext cx="1513708" cy="2151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625" lnSpcReduction="10000"/>
          </a:bodyPr>
          <a:lstStyle/>
          <a:p>
            <a:pPr algn="l">
              <a:defRPr sz="120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1004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VP-2   사기 의심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6B1A825-B38B-4559-9C51-B0536FD5A0F3}"/>
              </a:ext>
            </a:extLst>
          </p:cNvPr>
          <p:cNvSpPr>
            <a:spLocks noGrp="1"/>
          </p:cNvSpPr>
          <p:nvPr/>
        </p:nvSpPr>
        <p:spPr>
          <a:xfrm>
            <a:off x="9568228" y="2955854"/>
            <a:ext cx="1808483" cy="14340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3636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진행 중   ·   주 담당자 이현정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6F89A92A-8977-4EC0-B057-ABD79C2685A0}"/>
              </a:ext>
            </a:extLst>
          </p:cNvPr>
          <p:cNvSpPr>
            <a:spLocks noGrp="1"/>
          </p:cNvSpPr>
          <p:nvPr/>
        </p:nvSpPr>
        <p:spPr>
          <a:xfrm>
            <a:off x="9687731" y="3178927"/>
            <a:ext cx="836523" cy="1752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 lnSpcReduction="10000"/>
          </a:bodyPr>
          <a:lstStyle/>
          <a:p>
            <a:pPr algn="l">
              <a:defRPr sz="975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고객 소통용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A81E0CF1-A3F9-4EA9-A39C-81540CD8FDC4}"/>
              </a:ext>
            </a:extLst>
          </p:cNvPr>
          <p:cNvSpPr>
            <a:spLocks noGrp="1"/>
          </p:cNvSpPr>
          <p:nvPr/>
        </p:nvSpPr>
        <p:spPr>
          <a:xfrm>
            <a:off x="10364916" y="3178927"/>
            <a:ext cx="876357" cy="1752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595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고객에게 공개되는 대화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8F61807-FEDD-4DED-A275-6F96796E9A90}"/>
              </a:ext>
            </a:extLst>
          </p:cNvPr>
          <p:cNvSpPr>
            <a:spLocks noGrp="1"/>
          </p:cNvSpPr>
          <p:nvPr/>
        </p:nvSpPr>
        <p:spPr>
          <a:xfrm>
            <a:off x="11392644" y="3178927"/>
            <a:ext cx="1011794" cy="1752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 lnSpcReduction="10000"/>
          </a:bodyPr>
          <a:lstStyle/>
          <a:p>
            <a:pPr algn="l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은행 내부 소통용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8074EC1-E535-49E1-AAC9-24E64328982A}"/>
              </a:ext>
            </a:extLst>
          </p:cNvPr>
          <p:cNvSpPr>
            <a:spLocks noGrp="1"/>
          </p:cNvSpPr>
          <p:nvPr/>
        </p:nvSpPr>
        <p:spPr>
          <a:xfrm>
            <a:off x="12436306" y="3178927"/>
            <a:ext cx="1067562" cy="1752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 lnSpcReduction="1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은행 담당자만 보는 대화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6624788-4425-46D1-812B-219BE66A1500}"/>
              </a:ext>
            </a:extLst>
          </p:cNvPr>
          <p:cNvSpPr>
            <a:spLocks noGrp="1"/>
          </p:cNvSpPr>
          <p:nvPr/>
        </p:nvSpPr>
        <p:spPr>
          <a:xfrm>
            <a:off x="9847069" y="3457768"/>
            <a:ext cx="438179" cy="1593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20000"/>
          </a:bodyPr>
          <a:lstStyle/>
          <a:p>
            <a:pPr algn="l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BF39DFC-60A5-41BB-98A9-64ED735EEC1C}"/>
              </a:ext>
            </a:extLst>
          </p:cNvPr>
          <p:cNvSpPr>
            <a:spLocks noGrp="1"/>
          </p:cNvSpPr>
          <p:nvPr/>
        </p:nvSpPr>
        <p:spPr>
          <a:xfrm>
            <a:off x="9863002" y="3656941"/>
            <a:ext cx="1322503" cy="39037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12" lnSpcReduction="10000"/>
          </a:bodyPr>
          <a:lstStyle/>
          <a:p>
            <a:pPr algn="l">
              <a:defRPr sz="90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753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주식 투자하려고 송금한 건데요.</a:t>
            </a:r>
          </a:p>
          <a:p>
            <a:pPr algn="l">
              <a:defRPr sz="90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753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정상 거래입니다.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C04FAEB-214A-4F5D-95C0-DEFE7BD812A7}"/>
              </a:ext>
            </a:extLst>
          </p:cNvPr>
          <p:cNvSpPr>
            <a:spLocks noGrp="1"/>
          </p:cNvSpPr>
          <p:nvPr/>
        </p:nvSpPr>
        <p:spPr>
          <a:xfrm>
            <a:off x="9847069" y="4079185"/>
            <a:ext cx="772788" cy="12747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485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오전 09:21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4910CF0-11D5-47C2-AE4E-5884BAEA42A3}"/>
              </a:ext>
            </a:extLst>
          </p:cNvPr>
          <p:cNvSpPr>
            <a:spLocks noGrp="1"/>
          </p:cNvSpPr>
          <p:nvPr/>
        </p:nvSpPr>
        <p:spPr>
          <a:xfrm>
            <a:off x="9847069" y="4302257"/>
            <a:ext cx="438179" cy="1593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20000"/>
          </a:bodyPr>
          <a:lstStyle/>
          <a:p>
            <a:pPr algn="l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4A461A6-EA96-490D-A41D-2770AD033552}"/>
              </a:ext>
            </a:extLst>
          </p:cNvPr>
          <p:cNvSpPr>
            <a:spLocks noGrp="1"/>
          </p:cNvSpPr>
          <p:nvPr/>
        </p:nvSpPr>
        <p:spPr>
          <a:xfrm>
            <a:off x="9863002" y="4501429"/>
            <a:ext cx="1322503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596" lnSpcReduction="20000"/>
          </a:bodyPr>
          <a:lstStyle/>
          <a:p>
            <a:pPr algn="l">
              <a:defRPr sz="90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753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제가 전문가의 도움을 받고 있어요.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18A7F3B-C5AE-42F0-BE9F-DFFB7B0CA2CB}"/>
              </a:ext>
            </a:extLst>
          </p:cNvPr>
          <p:cNvSpPr>
            <a:spLocks noGrp="1"/>
          </p:cNvSpPr>
          <p:nvPr/>
        </p:nvSpPr>
        <p:spPr>
          <a:xfrm>
            <a:off x="9847069" y="4772304"/>
            <a:ext cx="772788" cy="12747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485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오전 09:24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CD99F92-FC9D-4D2D-A3F5-2CEAA9645D1C}"/>
              </a:ext>
            </a:extLst>
          </p:cNvPr>
          <p:cNvSpPr>
            <a:spLocks noGrp="1"/>
          </p:cNvSpPr>
          <p:nvPr/>
        </p:nvSpPr>
        <p:spPr>
          <a:xfrm>
            <a:off x="9847069" y="5035211"/>
            <a:ext cx="438179" cy="1593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20000"/>
          </a:bodyPr>
          <a:lstStyle/>
          <a:p>
            <a:pPr algn="l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753B4F0-F595-4A11-BBD4-2E8846CB1841}"/>
              </a:ext>
            </a:extLst>
          </p:cNvPr>
          <p:cNvSpPr>
            <a:spLocks noGrp="1"/>
          </p:cNvSpPr>
          <p:nvPr/>
        </p:nvSpPr>
        <p:spPr>
          <a:xfrm>
            <a:off x="9863002" y="5234383"/>
            <a:ext cx="1322503" cy="2390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604" lnSpcReduction="20000"/>
          </a:bodyPr>
          <a:lstStyle/>
          <a:p>
            <a:pPr algn="l">
              <a:defRPr sz="90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753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추가로 5천만원을 더 보내야 합니다.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400712B-F375-4A29-AE98-69A1E5745899}"/>
              </a:ext>
            </a:extLst>
          </p:cNvPr>
          <p:cNvSpPr>
            <a:spLocks noGrp="1"/>
          </p:cNvSpPr>
          <p:nvPr/>
        </p:nvSpPr>
        <p:spPr>
          <a:xfrm>
            <a:off x="9847069" y="5505257"/>
            <a:ext cx="772788" cy="12747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485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오전 09:30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06C6EB74-CC1A-4A8B-B183-ECC825B2273E}"/>
              </a:ext>
            </a:extLst>
          </p:cNvPr>
          <p:cNvSpPr>
            <a:spLocks noGrp="1"/>
          </p:cNvSpPr>
          <p:nvPr/>
        </p:nvSpPr>
        <p:spPr>
          <a:xfrm>
            <a:off x="9847069" y="5728330"/>
            <a:ext cx="438179" cy="1593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20000"/>
          </a:bodyPr>
          <a:lstStyle/>
          <a:p>
            <a:pPr algn="l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E77A55F-42BB-4AAC-8AD9-CBC4C59F51DE}"/>
              </a:ext>
            </a:extLst>
          </p:cNvPr>
          <p:cNvSpPr>
            <a:spLocks noGrp="1"/>
          </p:cNvSpPr>
          <p:nvPr/>
        </p:nvSpPr>
        <p:spPr>
          <a:xfrm>
            <a:off x="9863002" y="5927502"/>
            <a:ext cx="1322503" cy="39037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753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이제는 안전하다고 합니다.</a:t>
            </a:r>
          </a:p>
          <a:p>
            <a:pPr algn="l">
              <a:defRPr sz="90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753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다시 한번 확인해 주세요.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86CD2A6-6D29-4F8E-BC4C-8B6B8243D455}"/>
              </a:ext>
            </a:extLst>
          </p:cNvPr>
          <p:cNvSpPr>
            <a:spLocks noGrp="1"/>
          </p:cNvSpPr>
          <p:nvPr/>
        </p:nvSpPr>
        <p:spPr>
          <a:xfrm>
            <a:off x="9847069" y="6349747"/>
            <a:ext cx="772788" cy="12747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485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오전 09:33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9D5F71B6-A416-495A-85A2-F66869D86337}"/>
              </a:ext>
            </a:extLst>
          </p:cNvPr>
          <p:cNvSpPr>
            <a:spLocks noGrp="1"/>
          </p:cNvSpPr>
          <p:nvPr/>
        </p:nvSpPr>
        <p:spPr>
          <a:xfrm>
            <a:off x="9472625" y="6421449"/>
            <a:ext cx="1752714" cy="2549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고객에게 보낼 메시지를 입력하세요.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C9B30A2-6BC0-4F0B-8A25-F795FE77DA0F}"/>
              </a:ext>
            </a:extLst>
          </p:cNvPr>
          <p:cNvSpPr>
            <a:spLocks noGrp="1"/>
          </p:cNvSpPr>
          <p:nvPr/>
        </p:nvSpPr>
        <p:spPr>
          <a:xfrm>
            <a:off x="9472625" y="6740124"/>
            <a:ext cx="1744747" cy="13543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4167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Enter 전송 · Shift+Enter 줄바꿈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E57BFA46-6BA7-491D-9D51-0C5C2292BB05}"/>
              </a:ext>
            </a:extLst>
          </p:cNvPr>
          <p:cNvSpPr>
            <a:spLocks noGrp="1"/>
          </p:cNvSpPr>
          <p:nvPr/>
        </p:nvSpPr>
        <p:spPr>
          <a:xfrm>
            <a:off x="11687419" y="3465735"/>
            <a:ext cx="1234867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20000"/>
          </a:bodyPr>
          <a:lstStyle/>
          <a:p>
            <a:pPr algn="l">
              <a:defRPr sz="105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고객 확인 요청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76F1772-28DE-43EB-A208-C411D5DE93F0}"/>
              </a:ext>
            </a:extLst>
          </p:cNvPr>
          <p:cNvSpPr>
            <a:spLocks noGrp="1"/>
          </p:cNvSpPr>
          <p:nvPr/>
        </p:nvSpPr>
        <p:spPr>
          <a:xfrm>
            <a:off x="12946186" y="3489635"/>
            <a:ext cx="493947" cy="1593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20000"/>
          </a:bodyPr>
          <a:lstStyle/>
          <a:p>
            <a:pPr algn="r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오전 09:19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ECF6557-39DD-4A10-899F-FB133D7B17FF}"/>
              </a:ext>
            </a:extLst>
          </p:cNvPr>
          <p:cNvSpPr>
            <a:spLocks noGrp="1"/>
          </p:cNvSpPr>
          <p:nvPr/>
        </p:nvSpPr>
        <p:spPr>
          <a:xfrm>
            <a:off x="11687419" y="3680841"/>
            <a:ext cx="1688979" cy="41427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598" lnSpcReduction="20000"/>
          </a:bodyPr>
          <a:lstStyle/>
          <a:p>
            <a:pPr algn="l">
              <a:defRPr sz="97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고객이 “주식 투자 목적”으로 송금했다</a:t>
            </a:r>
          </a:p>
          <a:p>
            <a:pPr algn="l">
              <a:defRPr sz="97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고 설명합니다. 추가 확인이 필요합니다.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81C4803-EF02-4701-ACE8-249B78A322FF}"/>
              </a:ext>
            </a:extLst>
          </p:cNvPr>
          <p:cNvSpPr>
            <a:spLocks noGrp="1"/>
          </p:cNvSpPr>
          <p:nvPr/>
        </p:nvSpPr>
        <p:spPr>
          <a:xfrm>
            <a:off x="11687419" y="4302258"/>
            <a:ext cx="1298602" cy="20713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19" lnSpcReduction="10000"/>
          </a:bodyPr>
          <a:lstStyle/>
          <a:p>
            <a:pPr algn="l">
              <a:defRPr sz="105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피해규제 단계 확인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0DB7800-EA4A-4DC5-A051-64B030003346}"/>
              </a:ext>
            </a:extLst>
          </p:cNvPr>
          <p:cNvSpPr>
            <a:spLocks noGrp="1"/>
          </p:cNvSpPr>
          <p:nvPr/>
        </p:nvSpPr>
        <p:spPr>
          <a:xfrm>
            <a:off x="12946186" y="4326159"/>
            <a:ext cx="493947" cy="1513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833" lnSpcReduction="20000"/>
          </a:bodyPr>
          <a:lstStyle/>
          <a:p>
            <a:pPr algn="r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오전 11:39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60533EED-5EC5-48EC-BEE4-02B97194F7B0}"/>
              </a:ext>
            </a:extLst>
          </p:cNvPr>
          <p:cNvSpPr>
            <a:spLocks noGrp="1"/>
          </p:cNvSpPr>
          <p:nvPr/>
        </p:nvSpPr>
        <p:spPr>
          <a:xfrm>
            <a:off x="11687418" y="4525331"/>
            <a:ext cx="1673046" cy="40631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algn="l">
              <a:defRPr sz="97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조치 해제 이후 추가 송금이 발생한</a:t>
            </a:r>
          </a:p>
          <a:p>
            <a:pPr algn="l">
              <a:defRPr sz="97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것으로 확인됩니다.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738035C-2B2F-45B7-8841-F2AB1F7A7C4C}"/>
              </a:ext>
            </a:extLst>
          </p:cNvPr>
          <p:cNvSpPr>
            <a:spLocks noGrp="1"/>
          </p:cNvSpPr>
          <p:nvPr/>
        </p:nvSpPr>
        <p:spPr>
          <a:xfrm>
            <a:off x="11687418" y="5098946"/>
            <a:ext cx="1179099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20000"/>
          </a:bodyPr>
          <a:lstStyle/>
          <a:p>
            <a:pPr algn="l">
              <a:defRPr sz="105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신고 접수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D2D8910-AD95-4B87-9A17-B0728AF8B457}"/>
              </a:ext>
            </a:extLst>
          </p:cNvPr>
          <p:cNvSpPr>
            <a:spLocks noGrp="1"/>
          </p:cNvSpPr>
          <p:nvPr/>
        </p:nvSpPr>
        <p:spPr>
          <a:xfrm>
            <a:off x="12946186" y="5122847"/>
            <a:ext cx="493947" cy="1513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833" lnSpcReduction="20000"/>
          </a:bodyPr>
          <a:lstStyle/>
          <a:p>
            <a:pPr algn="r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오전 11:40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15287902-5065-490C-98A7-E8492E39363E}"/>
              </a:ext>
            </a:extLst>
          </p:cNvPr>
          <p:cNvSpPr>
            <a:spLocks noGrp="1"/>
          </p:cNvSpPr>
          <p:nvPr/>
        </p:nvSpPr>
        <p:spPr>
          <a:xfrm>
            <a:off x="11687419" y="5322019"/>
            <a:ext cx="1665079" cy="38241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l">
              <a:defRPr sz="97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다른 계좌로 추가 송금이 이어져</a:t>
            </a:r>
          </a:p>
          <a:p>
            <a:pPr algn="l">
              <a:defRPr sz="97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피해 발생이 의심됩니다.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5FD64F6D-DE85-421F-85BE-06DAAFBD896D}"/>
              </a:ext>
            </a:extLst>
          </p:cNvPr>
          <p:cNvSpPr>
            <a:spLocks noGrp="1"/>
          </p:cNvSpPr>
          <p:nvPr/>
        </p:nvSpPr>
        <p:spPr>
          <a:xfrm>
            <a:off x="11567915" y="5983270"/>
            <a:ext cx="764821" cy="2708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335" lnSpcReduction="20000"/>
          </a:bodyPr>
          <a:lstStyle/>
          <a:p>
            <a:pPr algn="ctr">
              <a:defRPr sz="975" b="1">
                <a:solidFill>
                  <a:srgbClr val="6F3DEA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6F3DEA"/>
                </a:solidFill>
                <a:latin typeface="Malgun Gothic"/>
                <a:ea typeface="Malgun Gothic"/>
                <a:cs typeface="Malgun Gothic"/>
              </a:rPr>
              <a:t>AI에게 물어보기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E4C5101-8A87-4042-B605-79AC7F77B27F}"/>
              </a:ext>
            </a:extLst>
          </p:cNvPr>
          <p:cNvSpPr>
            <a:spLocks noGrp="1"/>
          </p:cNvSpPr>
          <p:nvPr/>
        </p:nvSpPr>
        <p:spPr>
          <a:xfrm>
            <a:off x="12484107" y="5983270"/>
            <a:ext cx="613450" cy="2708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10000"/>
          </a:bodyPr>
          <a:lstStyle/>
          <a:p>
            <a:pPr algn="ctr">
              <a:defRPr sz="9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사건 정리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9E8A5DC-25C9-45C8-9C00-A6B12115DE93}"/>
              </a:ext>
            </a:extLst>
          </p:cNvPr>
          <p:cNvSpPr>
            <a:spLocks noGrp="1"/>
          </p:cNvSpPr>
          <p:nvPr/>
        </p:nvSpPr>
        <p:spPr>
          <a:xfrm>
            <a:off x="11408578" y="6413482"/>
            <a:ext cx="1808483" cy="294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은행 내부 메시지 또는 @AI 요청사항을</a:t>
            </a:r>
          </a:p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입력하세요.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09332CE-6FC4-412B-B326-F92F51CA4A83}"/>
              </a:ext>
            </a:extLst>
          </p:cNvPr>
          <p:cNvSpPr>
            <a:spLocks noGrp="1"/>
          </p:cNvSpPr>
          <p:nvPr/>
        </p:nvSpPr>
        <p:spPr>
          <a:xfrm>
            <a:off x="11392644" y="6740124"/>
            <a:ext cx="1840350" cy="14340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Enter 전송 · Shift+Enter 줄바꿈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C08083E-7234-4E3B-94B5-9FF2C47DDD5F}"/>
              </a:ext>
            </a:extLst>
          </p:cNvPr>
          <p:cNvSpPr>
            <a:spLocks noGrp="1"/>
          </p:cNvSpPr>
          <p:nvPr/>
        </p:nvSpPr>
        <p:spPr>
          <a:xfrm>
            <a:off x="13679139" y="2820417"/>
            <a:ext cx="1210966" cy="2549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 lnSpcReduction="20000"/>
          </a:bodyPr>
          <a:lstStyle/>
          <a:p>
            <a:pPr algn="l">
              <a:defRPr sz="157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사건 현황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556C821-BE5D-46E0-97C9-C4348309EC67}"/>
              </a:ext>
            </a:extLst>
          </p:cNvPr>
          <p:cNvSpPr>
            <a:spLocks noGrp="1"/>
          </p:cNvSpPr>
          <p:nvPr/>
        </p:nvSpPr>
        <p:spPr>
          <a:xfrm>
            <a:off x="13679139" y="3051457"/>
            <a:ext cx="1800516" cy="1593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 lnSpcReduction="20000"/>
          </a:bodyPr>
          <a:lstStyle/>
          <a:p>
            <a:pPr algn="l">
              <a:defRPr sz="900" b="1">
                <a:solidFill>
                  <a:srgbClr val="07866E"/>
                </a:solidFill>
                <a:latin typeface="Malgun Gothic"/>
                <a:ea typeface="Malgun Gothic"/>
                <a:cs typeface="Malgun Gothic"/>
              </a:defRPr>
            </a:pPr>
            <a:r>
              <a:rPr sz="753" b="1">
                <a:solidFill>
                  <a:srgbClr val="07866E"/>
                </a:solidFill>
                <a:latin typeface="Malgun Gothic"/>
                <a:ea typeface="Malgun Gothic"/>
                <a:cs typeface="Malgun Gothic"/>
              </a:rPr>
              <a:t>업데이트 : 2026. 02. 23. 오전 11:40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09EF8DE8-BB40-4111-AB93-60B01E08F657}"/>
              </a:ext>
            </a:extLst>
          </p:cNvPr>
          <p:cNvSpPr>
            <a:spLocks noGrp="1"/>
          </p:cNvSpPr>
          <p:nvPr/>
        </p:nvSpPr>
        <p:spPr>
          <a:xfrm>
            <a:off x="13742875" y="3346232"/>
            <a:ext cx="1075529" cy="20713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 lnSpcReduction="20000"/>
          </a:bodyPr>
          <a:lstStyle/>
          <a:p>
            <a:pPr algn="l">
              <a:defRPr sz="1200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1004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현재 사건 요약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1BF8AE4B-4376-42D0-8C4A-7FC047C8F308}"/>
              </a:ext>
            </a:extLst>
          </p:cNvPr>
          <p:cNvSpPr>
            <a:spLocks noGrp="1"/>
          </p:cNvSpPr>
          <p:nvPr/>
        </p:nvSpPr>
        <p:spPr>
          <a:xfrm>
            <a:off x="13798642" y="3529470"/>
            <a:ext cx="1784582" cy="66125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02"/>
          </a:bodyPr>
          <a:lstStyle/>
          <a:p>
            <a:pPr algn="l">
              <a:defRPr sz="97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2/20 이상거래 탐지 후 거래 제한.</a:t>
            </a:r>
          </a:p>
          <a:p>
            <a:pPr algn="l">
              <a:defRPr sz="97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고객은 ‘주식 투자 목적’이라고 설명하여</a:t>
            </a:r>
          </a:p>
          <a:p>
            <a:pPr algn="l">
              <a:defRPr sz="97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조치 해제. 이후 다른 계좌로 추가 송금이</a:t>
            </a:r>
          </a:p>
          <a:p>
            <a:pPr algn="l">
              <a:defRPr sz="975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15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이어져 피해가 발생한 사건입니다.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1B579B84-DD6C-40C3-8D29-9A3A902F4E6B}"/>
              </a:ext>
            </a:extLst>
          </p:cNvPr>
          <p:cNvSpPr>
            <a:spLocks noGrp="1"/>
          </p:cNvSpPr>
          <p:nvPr/>
        </p:nvSpPr>
        <p:spPr>
          <a:xfrm>
            <a:off x="13782709" y="4150887"/>
            <a:ext cx="1202999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218"/>
          </a:bodyPr>
          <a:lstStyle/>
          <a:p>
            <a:pPr algn="l">
              <a:defRPr sz="975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세부 정황 보기 ⌄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4EAA6428-7D9B-4F7D-9E4B-3917822D2E33}"/>
              </a:ext>
            </a:extLst>
          </p:cNvPr>
          <p:cNvSpPr>
            <a:spLocks noGrp="1"/>
          </p:cNvSpPr>
          <p:nvPr/>
        </p:nvSpPr>
        <p:spPr>
          <a:xfrm>
            <a:off x="13718974" y="4445661"/>
            <a:ext cx="1617277" cy="20713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 lnSpcReduction="20000"/>
          </a:bodyPr>
          <a:lstStyle/>
          <a:p>
            <a:pPr algn="l">
              <a:defRPr sz="120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1004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1. 은행 직원 대응 가이드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6A357EB3-88A4-4400-8EDB-049B559F18D4}"/>
              </a:ext>
            </a:extLst>
          </p:cNvPr>
          <p:cNvSpPr>
            <a:spLocks noGrp="1"/>
          </p:cNvSpPr>
          <p:nvPr/>
        </p:nvSpPr>
        <p:spPr>
          <a:xfrm>
            <a:off x="13942047" y="4772304"/>
            <a:ext cx="860423" cy="19120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20000"/>
          </a:bodyPr>
          <a:lstStyle/>
          <a:p>
            <a:pPr algn="l">
              <a:defRPr sz="1050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수행 추천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E1E11A0-4346-416F-AF45-48FEB7C93318}"/>
              </a:ext>
            </a:extLst>
          </p:cNvPr>
          <p:cNvSpPr>
            <a:spLocks noGrp="1"/>
          </p:cNvSpPr>
          <p:nvPr/>
        </p:nvSpPr>
        <p:spPr>
          <a:xfrm>
            <a:off x="15001642" y="4772304"/>
            <a:ext cx="294775" cy="16730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864" lnSpcReduction="1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3건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C76C9A77-19D8-4B07-9197-1FB419F88A2E}"/>
              </a:ext>
            </a:extLst>
          </p:cNvPr>
          <p:cNvSpPr>
            <a:spLocks noGrp="1"/>
          </p:cNvSpPr>
          <p:nvPr/>
        </p:nvSpPr>
        <p:spPr>
          <a:xfrm>
            <a:off x="13806610" y="5059112"/>
            <a:ext cx="1569476" cy="1752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 lnSpcReduction="10000"/>
          </a:bodyPr>
          <a:lstStyle/>
          <a:p>
            <a:pPr algn="l">
              <a:defRPr sz="975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defRPr>
            </a:pPr>
            <a:r>
              <a:rPr sz="815" b="1">
                <a:solidFill>
                  <a:srgbClr val="0B61E8"/>
                </a:solidFill>
                <a:latin typeface="Malgun Gothic"/>
                <a:ea typeface="Malgun Gothic"/>
                <a:cs typeface="Malgun Gothic"/>
              </a:rPr>
              <a:t>⌄  기관·소속 공식 여부 확인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ADA2FBA-BCE1-4AB0-AF29-2D1A50BC4F8D}"/>
              </a:ext>
            </a:extLst>
          </p:cNvPr>
          <p:cNvSpPr>
            <a:spLocks noGrp="1"/>
          </p:cNvSpPr>
          <p:nvPr/>
        </p:nvSpPr>
        <p:spPr>
          <a:xfrm>
            <a:off x="15097245" y="5067078"/>
            <a:ext cx="246973" cy="14340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000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0/3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1CA509A-67E8-4655-A75E-661E6279E2C0}"/>
              </a:ext>
            </a:extLst>
          </p:cNvPr>
          <p:cNvSpPr>
            <a:spLocks noGrp="1"/>
          </p:cNvSpPr>
          <p:nvPr/>
        </p:nvSpPr>
        <p:spPr>
          <a:xfrm>
            <a:off x="13718974" y="5377787"/>
            <a:ext cx="1561509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208" lnSpcReduction="20000"/>
          </a:bodyPr>
          <a:lstStyle/>
          <a:p>
            <a:pPr algn="l">
              <a:defRPr sz="1200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1004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2. 주요 보이스피싱 정황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5155824-9AC3-4F22-89F1-DA0BD736F700}"/>
              </a:ext>
            </a:extLst>
          </p:cNvPr>
          <p:cNvSpPr>
            <a:spLocks noGrp="1"/>
          </p:cNvSpPr>
          <p:nvPr/>
        </p:nvSpPr>
        <p:spPr>
          <a:xfrm>
            <a:off x="15153013" y="5393721"/>
            <a:ext cx="462079" cy="13543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755" lnSpcReduction="20000"/>
          </a:bodyPr>
          <a:lstStyle/>
          <a:p>
            <a:pPr algn="l">
              <a:defRPr sz="750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27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AI와 담당자의 정리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EC36DEAE-EAED-4FE6-BF84-1BAD3E12193F}"/>
              </a:ext>
            </a:extLst>
          </p:cNvPr>
          <p:cNvSpPr>
            <a:spLocks noGrp="1"/>
          </p:cNvSpPr>
          <p:nvPr/>
        </p:nvSpPr>
        <p:spPr>
          <a:xfrm>
            <a:off x="13798643" y="5760198"/>
            <a:ext cx="1139264" cy="1991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20000"/>
          </a:bodyPr>
          <a:lstStyle/>
          <a:p>
            <a:pPr algn="l">
              <a:defRPr sz="1125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941" b="1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⌃  신분·관계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ACC3F8E6-04AA-41C8-99F4-E35323FE493E}"/>
              </a:ext>
            </a:extLst>
          </p:cNvPr>
          <p:cNvSpPr>
            <a:spLocks noGrp="1"/>
          </p:cNvSpPr>
          <p:nvPr/>
        </p:nvSpPr>
        <p:spPr>
          <a:xfrm>
            <a:off x="14802470" y="5752231"/>
            <a:ext cx="239007" cy="16730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0341" lnSpcReduction="20000"/>
          </a:bodyPr>
          <a:lstStyle/>
          <a:p>
            <a:pPr algn="l">
              <a:defRPr sz="825" b="0">
                <a:solidFill>
                  <a:srgbClr val="7787A4"/>
                </a:solidFill>
                <a:latin typeface="Malgun Gothic"/>
                <a:ea typeface="Malgun Gothic"/>
                <a:cs typeface="Malgun Gothic"/>
              </a:defRPr>
            </a:pPr>
            <a:r>
              <a:rPr sz="690">
                <a:solidFill>
                  <a:srgbClr val="7787A4"/>
                </a:solidFill>
                <a:latin typeface="Malgun Gothic"/>
                <a:ea typeface="Malgun Gothic"/>
                <a:cs typeface="Malgun Gothic"/>
              </a:rPr>
              <a:t>3건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F8030176-EE75-4D13-8095-B80EF40C9C87}"/>
              </a:ext>
            </a:extLst>
          </p:cNvPr>
          <p:cNvSpPr>
            <a:spLocks noGrp="1"/>
          </p:cNvSpPr>
          <p:nvPr/>
        </p:nvSpPr>
        <p:spPr>
          <a:xfrm>
            <a:off x="13957980" y="6047005"/>
            <a:ext cx="1274701" cy="20713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19" lnSpcReduction="10000"/>
          </a:bodyPr>
          <a:lstStyle/>
          <a:p>
            <a:pPr algn="l">
              <a:defRPr sz="105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권한 없는 결제 주장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3D36DB7-6130-4EDF-A10E-FBD73B613F52}"/>
              </a:ext>
            </a:extLst>
          </p:cNvPr>
          <p:cNvSpPr>
            <a:spLocks noGrp="1"/>
          </p:cNvSpPr>
          <p:nvPr/>
        </p:nvSpPr>
        <p:spPr>
          <a:xfrm>
            <a:off x="13957980" y="6333813"/>
            <a:ext cx="1274701" cy="20713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19" lnSpcReduction="10000"/>
          </a:bodyPr>
          <a:lstStyle/>
          <a:p>
            <a:pPr algn="l">
              <a:defRPr sz="105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계좌 검증 주장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146281C7-C6DD-415F-B7E8-DE59637733B2}"/>
              </a:ext>
            </a:extLst>
          </p:cNvPr>
          <p:cNvSpPr>
            <a:spLocks noGrp="1"/>
          </p:cNvSpPr>
          <p:nvPr/>
        </p:nvSpPr>
        <p:spPr>
          <a:xfrm>
            <a:off x="13957981" y="6612654"/>
            <a:ext cx="1505741" cy="19120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 lnSpcReduction="20000"/>
          </a:bodyPr>
          <a:lstStyle/>
          <a:p>
            <a:pPr algn="l">
              <a:defRPr sz="1050" b="0">
                <a:solidFill>
                  <a:srgbClr val="162C57"/>
                </a:solidFill>
                <a:latin typeface="Malgun Gothic"/>
                <a:ea typeface="Malgun Gothic"/>
                <a:cs typeface="Malgun Gothic"/>
              </a:defRPr>
            </a:pPr>
            <a:r>
              <a:rPr sz="878">
                <a:solidFill>
                  <a:srgbClr val="162C57"/>
                </a:solidFill>
                <a:latin typeface="Malgun Gothic"/>
                <a:ea typeface="Malgun Gothic"/>
                <a:cs typeface="Malgun Gothic"/>
              </a:rPr>
              <a:t>경찰 사칭 소속이라고 주장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BCA1FC7-5B75-4304-A429-902901DBB683}"/>
              </a:ext>
            </a:extLst>
          </p:cNvPr>
          <p:cNvSpPr>
            <a:spLocks noGrp="1"/>
          </p:cNvSpPr>
          <p:nvPr/>
        </p:nvSpPr>
        <p:spPr>
          <a:xfrm>
            <a:off x="717020" y="6971164"/>
            <a:ext cx="3704601" cy="2708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06" lnSpcReduction="10000"/>
          </a:bodyPr>
          <a:lstStyle/>
          <a:p>
            <a:pPr algn="l">
              <a:defRPr sz="1725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443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FDS 탐지 내용과 고객 통화 내용을 텍스트로 입력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FCAD025-30C0-40A2-A07D-524C572EAE6B}"/>
              </a:ext>
            </a:extLst>
          </p:cNvPr>
          <p:cNvSpPr>
            <a:spLocks noGrp="1"/>
          </p:cNvSpPr>
          <p:nvPr/>
        </p:nvSpPr>
        <p:spPr>
          <a:xfrm>
            <a:off x="717020" y="7313740"/>
            <a:ext cx="3824104" cy="47004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561" lnSpcReduction="10000"/>
          </a:bodyPr>
          <a:lstStyle/>
          <a:p>
            <a:pPr algn="l">
              <a:defRPr sz="1650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YTN 사례의 시작 정보 반영: 2/20 이상거래 탐지,</a:t>
            </a:r>
          </a:p>
          <a:p>
            <a:pPr algn="l">
              <a:defRPr sz="1650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고객은 ‘주식 투자 목적’이라고 설명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D5E52E0B-EA8A-439A-BD34-8E51982BE383}"/>
              </a:ext>
            </a:extLst>
          </p:cNvPr>
          <p:cNvSpPr>
            <a:spLocks noGrp="1"/>
          </p:cNvSpPr>
          <p:nvPr/>
        </p:nvSpPr>
        <p:spPr>
          <a:xfrm>
            <a:off x="717020" y="7871421"/>
            <a:ext cx="3919707" cy="2708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424" lnSpcReduction="20000"/>
          </a:bodyPr>
          <a:lstStyle/>
          <a:p>
            <a:pPr algn="l">
              <a:defRPr sz="1650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전화 안내·문자 요청·거래 중지 이력까지 함께 입력 시작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16DB95EE-E745-4DFD-B943-BF3D1D6EA868}"/>
              </a:ext>
            </a:extLst>
          </p:cNvPr>
          <p:cNvSpPr>
            <a:spLocks noGrp="1"/>
          </p:cNvSpPr>
          <p:nvPr/>
        </p:nvSpPr>
        <p:spPr>
          <a:xfrm>
            <a:off x="5441382" y="6979131"/>
            <a:ext cx="3481528" cy="262907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83" lnSpcReduction="10000"/>
          </a:bodyPr>
          <a:lstStyle/>
          <a:p>
            <a:pPr algn="l">
              <a:defRPr sz="1725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443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입력된 내용이 하나의 Shared Case로 정리됨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331417FF-ABFD-42E4-8F87-340A02AA2BB1}"/>
              </a:ext>
            </a:extLst>
          </p:cNvPr>
          <p:cNvSpPr>
            <a:spLocks noGrp="1"/>
          </p:cNvSpPr>
          <p:nvPr/>
        </p:nvSpPr>
        <p:spPr>
          <a:xfrm>
            <a:off x="5441382" y="7305773"/>
            <a:ext cx="3577131" cy="4859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416" lnSpcReduction="10000"/>
          </a:bodyPr>
          <a:lstStyle/>
          <a:p>
            <a:pPr algn="l">
              <a:defRPr sz="1650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탐지 → 고객 설명 → 조치 해제 → 추가 송금 흐름이</a:t>
            </a:r>
          </a:p>
          <a:p>
            <a:pPr algn="l">
              <a:defRPr sz="1650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사건 단위로 연결됨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5EDDA83A-81D2-4763-95D3-3CE8AE0AD4BF}"/>
              </a:ext>
            </a:extLst>
          </p:cNvPr>
          <p:cNvSpPr>
            <a:spLocks noGrp="1"/>
          </p:cNvSpPr>
          <p:nvPr/>
        </p:nvSpPr>
        <p:spPr>
          <a:xfrm>
            <a:off x="5441382" y="7863454"/>
            <a:ext cx="3601031" cy="2708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924" lnSpcReduction="10000"/>
          </a:bodyPr>
          <a:lstStyle/>
          <a:p>
            <a:pPr algn="l">
              <a:defRPr sz="1650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은행 담당자는 현재 대응 사건을 목록으로 관리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25FF8CEA-691F-4DC7-86D9-D83977413407}"/>
              </a:ext>
            </a:extLst>
          </p:cNvPr>
          <p:cNvSpPr>
            <a:spLocks noGrp="1"/>
          </p:cNvSpPr>
          <p:nvPr/>
        </p:nvSpPr>
        <p:spPr>
          <a:xfrm>
            <a:off x="9799267" y="6979131"/>
            <a:ext cx="3744435" cy="2549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59" lnSpcReduction="20000"/>
          </a:bodyPr>
          <a:lstStyle/>
          <a:p>
            <a:pPr algn="l">
              <a:defRPr sz="1725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443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고객 채팅에서 부족한 정보를 추가 확인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6A51A28F-B889-4050-938D-9664147E486F}"/>
              </a:ext>
            </a:extLst>
          </p:cNvPr>
          <p:cNvSpPr>
            <a:spLocks noGrp="1"/>
          </p:cNvSpPr>
          <p:nvPr/>
        </p:nvSpPr>
        <p:spPr>
          <a:xfrm>
            <a:off x="9799267" y="7297806"/>
            <a:ext cx="3903773" cy="2549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159" lnSpcReduction="20000"/>
          </a:bodyPr>
          <a:lstStyle/>
          <a:p>
            <a:pPr algn="l">
              <a:defRPr sz="1725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443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은행 내부 대화와 고객 대화를 분리해 관리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821422A6-5E3E-407B-BECE-83FFEE53663F}"/>
              </a:ext>
            </a:extLst>
          </p:cNvPr>
          <p:cNvSpPr>
            <a:spLocks noGrp="1"/>
          </p:cNvSpPr>
          <p:nvPr/>
        </p:nvSpPr>
        <p:spPr>
          <a:xfrm>
            <a:off x="9799268" y="7592581"/>
            <a:ext cx="5505116" cy="24697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561" lnSpcReduction="20000"/>
          </a:bodyPr>
          <a:lstStyle/>
          <a:p>
            <a:pPr algn="l">
              <a:defRPr sz="1650" b="0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오른쪽 패널에서 사건 요약, 주요 정황, 다음 확인사항을 한눈에 파악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F4D9E396-5B21-4642-8C24-2418DA5D56FD}"/>
              </a:ext>
            </a:extLst>
          </p:cNvPr>
          <p:cNvSpPr>
            <a:spLocks noGrp="1"/>
          </p:cNvSpPr>
          <p:nvPr/>
        </p:nvSpPr>
        <p:spPr>
          <a:xfrm>
            <a:off x="9560261" y="7903289"/>
            <a:ext cx="5791924" cy="231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333" lnSpcReduction="20000"/>
          </a:bodyPr>
          <a:lstStyle/>
          <a:p>
            <a:pPr algn="l">
              <a:defRPr sz="1500" b="0">
                <a:solidFill>
                  <a:srgbClr val="D90028"/>
                </a:solidFill>
                <a:latin typeface="Malgun Gothic"/>
                <a:ea typeface="Malgun Gothic"/>
                <a:cs typeface="Malgun Gothic"/>
              </a:defRPr>
            </a:pPr>
            <a:r>
              <a:rPr sz="1255">
                <a:solidFill>
                  <a:srgbClr val="D90028"/>
                </a:solidFill>
                <a:latin typeface="Malgun Gothic"/>
                <a:ea typeface="Malgun Gothic"/>
                <a:cs typeface="Malgun Gothic"/>
              </a:rPr>
              <a:t>예: ‘왜 송금했는가’, ‘누구의 설명을 들었는가’, ‘추가 송금이 이어졌는가’를 바로 확인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4294A8A0-3B7C-45B1-A639-C76795BB640C}"/>
              </a:ext>
            </a:extLst>
          </p:cNvPr>
          <p:cNvSpPr>
            <a:spLocks noGrp="1"/>
          </p:cNvSpPr>
          <p:nvPr/>
        </p:nvSpPr>
        <p:spPr>
          <a:xfrm>
            <a:off x="836524" y="8389269"/>
            <a:ext cx="2939780" cy="3983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838" lnSpcReduction="10000"/>
          </a:bodyPr>
          <a:lstStyle/>
          <a:p>
            <a:pPr algn="l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7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구조가 줄여주는 어려움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4D601CB-BCF7-4F1A-88D9-73B0D6517736}"/>
              </a:ext>
            </a:extLst>
          </p:cNvPr>
          <p:cNvSpPr>
            <a:spLocks noGrp="1"/>
          </p:cNvSpPr>
          <p:nvPr/>
        </p:nvSpPr>
        <p:spPr>
          <a:xfrm>
            <a:off x="4979303" y="8397236"/>
            <a:ext cx="1553542" cy="45411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048" lnSpcReduction="10000"/>
          </a:bodyPr>
          <a:lstStyle/>
          <a:p>
            <a:pPr algn="l">
              <a:defRPr sz="15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정보가 흩어져</a:t>
            </a:r>
          </a:p>
          <a:p>
            <a:pPr algn="l">
              <a:defRPr sz="15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맥락이 끊기는 문제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0B78727C-6695-4841-ACEE-A505485CC116}"/>
              </a:ext>
            </a:extLst>
          </p:cNvPr>
          <p:cNvSpPr>
            <a:spLocks noGrp="1"/>
          </p:cNvSpPr>
          <p:nvPr/>
        </p:nvSpPr>
        <p:spPr>
          <a:xfrm>
            <a:off x="7592441" y="8397236"/>
            <a:ext cx="2095290" cy="45411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548"/>
          </a:bodyPr>
          <a:lstStyle/>
          <a:p>
            <a:pPr algn="l">
              <a:defRPr sz="15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고객 말만으로 조치 해제되는</a:t>
            </a:r>
          </a:p>
          <a:p>
            <a:pPr algn="l">
              <a:defRPr sz="15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판단 위험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68B527CD-065C-4E8D-9EC4-386C2FAC8D42}"/>
              </a:ext>
            </a:extLst>
          </p:cNvPr>
          <p:cNvSpPr>
            <a:spLocks noGrp="1"/>
          </p:cNvSpPr>
          <p:nvPr/>
        </p:nvSpPr>
        <p:spPr>
          <a:xfrm>
            <a:off x="10699525" y="8397236"/>
            <a:ext cx="1912052" cy="45411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048" lnSpcReduction="10000"/>
          </a:bodyPr>
          <a:lstStyle/>
          <a:p>
            <a:pPr algn="l">
              <a:defRPr sz="15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추가 송금 변화를</a:t>
            </a:r>
          </a:p>
          <a:p>
            <a:pPr algn="l">
              <a:defRPr sz="15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놓치는 문제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68437AE4-C801-4B55-BFC1-F923BBCF044F}"/>
              </a:ext>
            </a:extLst>
          </p:cNvPr>
          <p:cNvSpPr>
            <a:spLocks noGrp="1"/>
          </p:cNvSpPr>
          <p:nvPr/>
        </p:nvSpPr>
        <p:spPr>
          <a:xfrm>
            <a:off x="13623371" y="8397236"/>
            <a:ext cx="2143092" cy="45411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048" lnSpcReduction="10000"/>
          </a:bodyPr>
          <a:lstStyle/>
          <a:p>
            <a:pPr algn="l">
              <a:defRPr sz="15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고객 대화와 내부 판단이</a:t>
            </a:r>
          </a:p>
          <a:p>
            <a:pPr algn="l">
              <a:defRPr sz="1575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defRPr>
            </a:pPr>
            <a:r>
              <a:rPr sz="1317" b="1">
                <a:solidFill>
                  <a:srgbClr val="061F51"/>
                </a:solidFill>
                <a:latin typeface="Malgun Gothic"/>
                <a:ea typeface="Malgun Gothic"/>
                <a:cs typeface="Malgun Gothic"/>
              </a:rPr>
              <a:t>분리되는 문제</a:t>
            </a:r>
          </a:p>
        </p:txBody>
      </p:sp>
    </p:spTree>
    <p:extLst>
      <p:ext uri="{BB962C8B-B14F-4D97-AF65-F5344CB8AC3E}">
        <p14:creationId xmlns:p14="http://schemas.microsoft.com/office/powerpoint/2010/main" val="109031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92" y="-1"/>
            <a:ext cx="15921818" cy="8963025"/>
          </a:xfrm>
          <a:prstGeom prst="rect">
            <a:avLst/>
          </a:prstGeom>
          <a:solidFill>
            <a:srgbClr val="FDFD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8" y="8203658"/>
            <a:ext cx="15448769" cy="65977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727" y="8402835"/>
            <a:ext cx="12449" cy="29876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14" y="8353042"/>
            <a:ext cx="385908" cy="3859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6635" y="8365490"/>
            <a:ext cx="9485868" cy="36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76"/>
              </a:lnSpc>
            </a:pPr>
            <a:r>
              <a:rPr lang="en-US" sz="1805" dirty="0">
                <a:solidFill>
                  <a:srgbClr val="B2BA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기대 효과: 고객은 더 빨리 멈추고, 은행은 더 빨리 파악해, </a:t>
            </a:r>
            <a:r>
              <a:rPr lang="en-US" sz="1805" dirty="0">
                <a:solidFill>
                  <a:srgbClr val="B93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피해를 줄일 수 있다.</a:t>
            </a:r>
            <a:endParaRPr lang="en-US" sz="1805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3341" y="161832"/>
            <a:ext cx="4892318" cy="779285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91805" y="7319803"/>
            <a:ext cx="622432" cy="423254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1355157" y="7332253"/>
            <a:ext cx="3174405" cy="410805"/>
          </a:xfrm>
          <a:prstGeom prst="roundRect">
            <a:avLst>
              <a:gd name="adj" fmla="val 18182"/>
            </a:avLst>
          </a:prstGeom>
          <a:solidFill>
            <a:srgbClr val="FDFDFD"/>
          </a:solidFill>
          <a:ln w="9525">
            <a:solidFill>
              <a:srgbClr val="EDF0F4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11467194" y="7394496"/>
            <a:ext cx="1344454" cy="2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05"/>
              </a:lnSpc>
            </a:pPr>
            <a:r>
              <a:rPr lang="en-US" sz="941" dirty="0">
                <a:solidFill>
                  <a:srgbClr val="C1C5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내용을 입력하세요.</a:t>
            </a:r>
            <a:endParaRPr lang="en-US" sz="941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7211" y="7319803"/>
            <a:ext cx="423254" cy="423254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0481" y="7157972"/>
            <a:ext cx="4705588" cy="62243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1317811" y="6996138"/>
            <a:ext cx="597535" cy="14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68"/>
              </a:lnSpc>
            </a:pPr>
            <a:r>
              <a:rPr lang="en-US" sz="1027" dirty="0">
                <a:solidFill>
                  <a:srgbClr val="CAC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오후09:04</a:t>
            </a:r>
            <a:endParaRPr lang="en-US" sz="1027" dirty="0"/>
          </a:p>
        </p:txBody>
      </p:sp>
      <p:sp>
        <p:nvSpPr>
          <p:cNvPr id="14" name="Shape 5"/>
          <p:cNvSpPr/>
          <p:nvPr/>
        </p:nvSpPr>
        <p:spPr>
          <a:xfrm>
            <a:off x="11305362" y="5278226"/>
            <a:ext cx="3510518" cy="1705464"/>
          </a:xfrm>
          <a:prstGeom prst="roundRect">
            <a:avLst>
              <a:gd name="adj" fmla="val 7299"/>
            </a:avLst>
          </a:prstGeom>
          <a:solidFill>
            <a:srgbClr val="FCFDFD"/>
          </a:solidFill>
          <a:ln w="9525">
            <a:solidFill>
              <a:srgbClr val="EBEEF2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11479643" y="5303122"/>
            <a:ext cx="2763599" cy="159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24"/>
              </a:lnSpc>
            </a:pPr>
            <a:r>
              <a:rPr lang="en-US" sz="1090" dirty="0">
                <a:solidFill>
                  <a:srgbClr val="969C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피해를 막기 위해 바로 이렇게 하세요.</a:t>
            </a:r>
            <a:endParaRPr lang="en-US" sz="1090" dirty="0"/>
          </a:p>
          <a:p>
            <a:pPr>
              <a:lnSpc>
                <a:spcPts val="1824"/>
              </a:lnSpc>
            </a:pPr>
            <a:r>
              <a:rPr lang="en-US" sz="1090" dirty="0">
                <a:solidFill>
                  <a:srgbClr val="969C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추가 송금 중단</a:t>
            </a:r>
            <a:endParaRPr lang="en-US" sz="1090" dirty="0"/>
          </a:p>
          <a:p>
            <a:pPr>
              <a:lnSpc>
                <a:spcPts val="1824"/>
              </a:lnSpc>
            </a:pPr>
            <a:r>
              <a:rPr lang="en-US" sz="1090" dirty="0">
                <a:solidFill>
                  <a:srgbClr val="969C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상대와의 통화.문자 중단</a:t>
            </a:r>
            <a:endParaRPr lang="en-US" sz="1090" dirty="0"/>
          </a:p>
          <a:p>
            <a:pPr>
              <a:lnSpc>
                <a:spcPts val="1824"/>
              </a:lnSpc>
            </a:pPr>
            <a:r>
              <a:rPr lang="en-US" sz="1090" dirty="0">
                <a:solidFill>
                  <a:srgbClr val="969C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문자.통화 기록과 계좌번호 보관</a:t>
            </a:r>
            <a:endParaRPr lang="en-US" sz="1090" dirty="0"/>
          </a:p>
          <a:p>
            <a:pPr>
              <a:lnSpc>
                <a:spcPts val="1824"/>
              </a:lnSpc>
            </a:pPr>
            <a:r>
              <a:rPr lang="en-US" sz="1090" dirty="0">
                <a:solidFill>
                  <a:srgbClr val="969C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거래 은행 공식 고객센터 확인</a:t>
            </a:r>
            <a:endParaRPr lang="en-US" sz="1090" dirty="0"/>
          </a:p>
          <a:p>
            <a:pPr>
              <a:lnSpc>
                <a:spcPts val="1824"/>
              </a:lnSpc>
            </a:pPr>
            <a:r>
              <a:rPr lang="en-US" sz="1090" dirty="0">
                <a:solidFill>
                  <a:srgbClr val="969C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필요 시 112 신고</a:t>
            </a:r>
            <a:endParaRPr lang="en-US" sz="109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26973" y="5041702"/>
            <a:ext cx="124486" cy="161832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1330260" y="5016804"/>
            <a:ext cx="684676" cy="17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0"/>
              </a:lnSpc>
            </a:pPr>
            <a:r>
              <a:rPr lang="en-US" sz="933" dirty="0">
                <a:solidFill>
                  <a:srgbClr val="A6A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상담 Al</a:t>
            </a:r>
            <a:endParaRPr lang="en-US" sz="933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7211" y="5029252"/>
            <a:ext cx="398357" cy="398357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78123" y="4257437"/>
            <a:ext cx="398357" cy="410805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12799200" y="4294782"/>
            <a:ext cx="2004232" cy="448151"/>
          </a:xfrm>
          <a:prstGeom prst="roundRect">
            <a:avLst>
              <a:gd name="adj" fmla="val 27778"/>
            </a:avLst>
          </a:prstGeom>
          <a:solidFill>
            <a:srgbClr val="1A62F7"/>
          </a:solidFill>
          <a:ln w="9525">
            <a:solidFill>
              <a:srgbClr val="4E85F8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12948583" y="4394371"/>
            <a:ext cx="1717913" cy="22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74"/>
              </a:lnSpc>
            </a:pPr>
            <a:r>
              <a:rPr lang="en-US" sz="1038" dirty="0">
                <a:solidFill>
                  <a:srgbClr val="8DB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4억원은 이미 보냈어요</a:t>
            </a:r>
            <a:endParaRPr lang="en-US" sz="1038" dirty="0"/>
          </a:p>
        </p:txBody>
      </p:sp>
      <p:sp>
        <p:nvSpPr>
          <p:cNvPr id="22" name="Shape 10"/>
          <p:cNvSpPr/>
          <p:nvPr/>
        </p:nvSpPr>
        <p:spPr>
          <a:xfrm>
            <a:off x="11305362" y="3062366"/>
            <a:ext cx="3510518" cy="946097"/>
          </a:xfrm>
          <a:prstGeom prst="roundRect">
            <a:avLst>
              <a:gd name="adj" fmla="val 11842"/>
            </a:avLst>
          </a:prstGeom>
          <a:solidFill>
            <a:srgbClr val="FCFDFD"/>
          </a:solidFill>
          <a:ln w="9525">
            <a:solidFill>
              <a:srgbClr val="ECEFF3"/>
            </a:solidFill>
            <a:prstDash val="solid"/>
          </a:ln>
        </p:spPr>
      </p:sp>
      <p:sp>
        <p:nvSpPr>
          <p:cNvPr id="23" name="Text 11"/>
          <p:cNvSpPr/>
          <p:nvPr/>
        </p:nvSpPr>
        <p:spPr>
          <a:xfrm>
            <a:off x="11479644" y="3124610"/>
            <a:ext cx="3124610" cy="77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33"/>
              </a:lnSpc>
            </a:pPr>
            <a:r>
              <a:rPr lang="en-US" sz="1069" dirty="0">
                <a:solidFill>
                  <a:srgbClr val="979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송금 요구는 고위험 신호입니다.</a:t>
            </a:r>
            <a:endParaRPr lang="en-US" sz="1069" dirty="0"/>
          </a:p>
          <a:p>
            <a:pPr>
              <a:lnSpc>
                <a:spcPts val="1333"/>
              </a:lnSpc>
            </a:pPr>
            <a:r>
              <a:rPr lang="en-US" sz="1069" dirty="0">
                <a:solidFill>
                  <a:srgbClr val="979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송금을 멈추고, 상대가 알려준 번호가 아닌</a:t>
            </a:r>
            <a:endParaRPr lang="en-US" sz="1069" dirty="0"/>
          </a:p>
          <a:p>
            <a:pPr>
              <a:lnSpc>
                <a:spcPts val="1333"/>
              </a:lnSpc>
            </a:pPr>
            <a:r>
              <a:rPr lang="en-US" sz="1069" dirty="0">
                <a:solidFill>
                  <a:srgbClr val="979C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은행의 공식 채널로 확안해 주세요.</a:t>
            </a:r>
            <a:endParaRPr lang="en-US" sz="1069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26973" y="2813393"/>
            <a:ext cx="124486" cy="174281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11330260" y="2800945"/>
            <a:ext cx="684676" cy="17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0"/>
              </a:lnSpc>
            </a:pPr>
            <a:r>
              <a:rPr lang="en-US" sz="933" dirty="0">
                <a:solidFill>
                  <a:srgbClr val="A6AC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상담 Al</a:t>
            </a:r>
            <a:endParaRPr lang="en-US" sz="933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7211" y="2813393"/>
            <a:ext cx="398357" cy="398357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878123" y="2029130"/>
            <a:ext cx="398357" cy="410805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12251460" y="2066475"/>
            <a:ext cx="2551972" cy="448151"/>
          </a:xfrm>
          <a:prstGeom prst="roundRect">
            <a:avLst>
              <a:gd name="adj" fmla="val 25000"/>
            </a:avLst>
          </a:prstGeom>
          <a:solidFill>
            <a:srgbClr val="1A63F7"/>
          </a:solidFill>
          <a:ln w="9525">
            <a:solidFill>
              <a:srgbClr val="3D7AF7"/>
            </a:solidFill>
            <a:prstDash val="solid"/>
          </a:ln>
        </p:spPr>
      </p:sp>
      <p:sp>
        <p:nvSpPr>
          <p:cNvPr id="29" name="Text 14"/>
          <p:cNvSpPr/>
          <p:nvPr/>
        </p:nvSpPr>
        <p:spPr>
          <a:xfrm>
            <a:off x="12388394" y="2166064"/>
            <a:ext cx="2290551" cy="22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83"/>
              </a:lnSpc>
            </a:pPr>
            <a:r>
              <a:rPr lang="en-US" sz="1012" dirty="0">
                <a:solidFill>
                  <a:srgbClr val="8CB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상대가 오늘 5억원을 더 보내라고 해요</a:t>
            </a:r>
            <a:endParaRPr lang="en-US" sz="1012" dirty="0"/>
          </a:p>
        </p:txBody>
      </p:sp>
      <p:sp>
        <p:nvSpPr>
          <p:cNvPr id="30" name="Shape 15"/>
          <p:cNvSpPr/>
          <p:nvPr/>
        </p:nvSpPr>
        <p:spPr>
          <a:xfrm>
            <a:off x="10869659" y="1120378"/>
            <a:ext cx="4332129" cy="784265"/>
          </a:xfrm>
          <a:prstGeom prst="roundRect">
            <a:avLst>
              <a:gd name="adj" fmla="val 14286"/>
            </a:avLst>
          </a:prstGeom>
          <a:solidFill>
            <a:srgbClr val="FDF4F5"/>
          </a:solidFill>
          <a:ln w="9525">
            <a:solidFill>
              <a:srgbClr val="FCCCCF"/>
            </a:solidFill>
            <a:prstDash val="solid"/>
          </a:ln>
        </p:spPr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56389" y="1332005"/>
            <a:ext cx="298768" cy="261422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11492092" y="1593426"/>
            <a:ext cx="3610107" cy="17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08"/>
              </a:lnSpc>
            </a:pPr>
            <a:r>
              <a:rPr lang="en-US" sz="727" dirty="0">
                <a:solidFill>
                  <a:srgbClr val="EC8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보이스피싱 의심 정향이 있습니다. 다는 개좌로 더 보내라는 요구는 위휩합니다.</a:t>
            </a:r>
            <a:endParaRPr lang="en-US" sz="727" dirty="0"/>
          </a:p>
        </p:txBody>
      </p:sp>
      <p:sp>
        <p:nvSpPr>
          <p:cNvPr id="33" name="Text 17"/>
          <p:cNvSpPr/>
          <p:nvPr/>
        </p:nvSpPr>
        <p:spPr>
          <a:xfrm>
            <a:off x="11504540" y="1294659"/>
            <a:ext cx="2390140" cy="24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61"/>
              </a:lnSpc>
            </a:pPr>
            <a:r>
              <a:rPr lang="en-US" sz="1278" dirty="0">
                <a:solidFill>
                  <a:srgbClr val="E654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추가 송금을 멈춰주세요.</a:t>
            </a:r>
            <a:endParaRPr lang="en-US" sz="1278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70482" y="995891"/>
            <a:ext cx="4718037" cy="49795"/>
          </a:xfrm>
          <a:prstGeom prst="rect">
            <a:avLst/>
          </a:prstGeom>
        </p:spPr>
      </p:pic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790983" y="485497"/>
            <a:ext cx="423254" cy="410805"/>
          </a:xfrm>
          <a:prstGeom prst="rect">
            <a:avLst/>
          </a:prstGeom>
        </p:spPr>
      </p:pic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280588" y="485497"/>
            <a:ext cx="423254" cy="410805"/>
          </a:xfrm>
          <a:prstGeom prst="rect">
            <a:avLst/>
          </a:prstGeom>
        </p:spPr>
      </p:pic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782643" y="485497"/>
            <a:ext cx="423254" cy="410805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11342708" y="497945"/>
            <a:ext cx="1717913" cy="398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66"/>
              </a:lnSpc>
            </a:pPr>
            <a:r>
              <a:rPr lang="en-US" sz="1157" b="1" dirty="0">
                <a:solidFill>
                  <a:srgbClr val="646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CSR|Case Share Room
</a:t>
            </a:r>
            <a:r>
              <a:rPr lang="en-US" sz="1157" b="1" dirty="0">
                <a:solidFill>
                  <a:srgbClr val="C9CC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고객 안전 상담</a:t>
            </a:r>
            <a:endParaRPr lang="en-US" sz="1157" dirty="0"/>
          </a:p>
        </p:txBody>
      </p:sp>
      <p:pic>
        <p:nvPicPr>
          <p:cNvPr id="39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57211" y="485497"/>
            <a:ext cx="423254" cy="410805"/>
          </a:xfrm>
          <a:prstGeom prst="rect">
            <a:avLst/>
          </a:prstGeom>
        </p:spPr>
      </p:pic>
      <p:sp>
        <p:nvSpPr>
          <p:cNvPr id="40" name="Text 19"/>
          <p:cNvSpPr/>
          <p:nvPr/>
        </p:nvSpPr>
        <p:spPr>
          <a:xfrm>
            <a:off x="14193448" y="4780280"/>
            <a:ext cx="609984" cy="16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10"/>
              </a:lnSpc>
            </a:pPr>
            <a:r>
              <a:rPr lang="en-US" sz="964" dirty="0">
                <a:solidFill>
                  <a:srgbClr val="CCCE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09:04</a:t>
            </a:r>
            <a:endParaRPr lang="en-US" sz="964" dirty="0"/>
          </a:p>
        </p:txBody>
      </p:sp>
      <p:sp>
        <p:nvSpPr>
          <p:cNvPr id="41" name="Text 20"/>
          <p:cNvSpPr/>
          <p:nvPr/>
        </p:nvSpPr>
        <p:spPr>
          <a:xfrm>
            <a:off x="11317811" y="4045809"/>
            <a:ext cx="622432" cy="17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80"/>
              </a:lnSpc>
            </a:pPr>
            <a:r>
              <a:rPr lang="en-US" sz="1039" dirty="0">
                <a:solidFill>
                  <a:srgbClr val="CBCC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오후09:03</a:t>
            </a:r>
            <a:endParaRPr lang="en-US" sz="1039" dirty="0"/>
          </a:p>
        </p:txBody>
      </p:sp>
      <p:sp>
        <p:nvSpPr>
          <p:cNvPr id="42" name="Text 21"/>
          <p:cNvSpPr/>
          <p:nvPr/>
        </p:nvSpPr>
        <p:spPr>
          <a:xfrm>
            <a:off x="14193448" y="2564421"/>
            <a:ext cx="609984" cy="16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10"/>
              </a:lnSpc>
            </a:pPr>
            <a:r>
              <a:rPr lang="en-US" sz="964" dirty="0">
                <a:solidFill>
                  <a:srgbClr val="CDC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09:03</a:t>
            </a:r>
            <a:endParaRPr lang="en-US" sz="964" dirty="0"/>
          </a:p>
        </p:txBody>
      </p:sp>
      <p:sp>
        <p:nvSpPr>
          <p:cNvPr id="43" name="Shape 22"/>
          <p:cNvSpPr/>
          <p:nvPr/>
        </p:nvSpPr>
        <p:spPr>
          <a:xfrm>
            <a:off x="7035476" y="5813518"/>
            <a:ext cx="3137059" cy="2103821"/>
          </a:xfrm>
          <a:prstGeom prst="roundRect">
            <a:avLst>
              <a:gd name="adj" fmla="val 4142"/>
            </a:avLst>
          </a:prstGeom>
          <a:solidFill>
            <a:srgbClr val="FDFEFE"/>
          </a:solidFill>
          <a:ln w="19050">
            <a:solidFill>
              <a:srgbClr val="F0F3F7"/>
            </a:solidFill>
            <a:prstDash val="solid"/>
          </a:ln>
        </p:spPr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47104" y="5987799"/>
            <a:ext cx="709573" cy="709573"/>
          </a:xfrm>
          <a:prstGeom prst="rect">
            <a:avLst/>
          </a:prstGeom>
        </p:spPr>
      </p:pic>
      <p:sp>
        <p:nvSpPr>
          <p:cNvPr id="45" name="Text 23"/>
          <p:cNvSpPr/>
          <p:nvPr/>
        </p:nvSpPr>
        <p:spPr>
          <a:xfrm>
            <a:off x="7384039" y="6759615"/>
            <a:ext cx="2477281" cy="95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91"/>
              </a:lnSpc>
            </a:pPr>
            <a:r>
              <a:rPr lang="en-US" sz="1448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안내와 대옹 기록을 남겨</a:t>
            </a:r>
            <a:endParaRPr lang="en-US" sz="1448" dirty="0"/>
          </a:p>
          <a:p>
            <a:pPr>
              <a:lnSpc>
                <a:spcPts val="2091"/>
              </a:lnSpc>
            </a:pPr>
            <a:r>
              <a:rPr lang="en-US" sz="1448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형식적 대옹과 설명 부족으로</a:t>
            </a:r>
            <a:endParaRPr lang="en-US" sz="1448" dirty="0"/>
          </a:p>
          <a:p>
            <a:pPr>
              <a:lnSpc>
                <a:spcPts val="2091"/>
              </a:lnSpc>
            </a:pPr>
            <a:r>
              <a:rPr lang="en-US" sz="1448" dirty="0">
                <a:solidFill>
                  <a:srgbClr val="8A93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생기는 공백을 줄입니다.</a:t>
            </a:r>
            <a:endParaRPr lang="en-US" sz="1448" dirty="0"/>
          </a:p>
        </p:txBody>
      </p:sp>
      <p:sp>
        <p:nvSpPr>
          <p:cNvPr id="46" name="Text 24"/>
          <p:cNvSpPr/>
          <p:nvPr/>
        </p:nvSpPr>
        <p:spPr>
          <a:xfrm>
            <a:off x="8093612" y="6162079"/>
            <a:ext cx="1854848" cy="29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79"/>
              </a:lnSpc>
            </a:pPr>
            <a:r>
              <a:rPr lang="en-US" sz="1533" dirty="0">
                <a:solidFill>
                  <a:srgbClr val="5561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분쟁.책임리스크완화</a:t>
            </a:r>
            <a:endParaRPr lang="en-US" sz="1533" dirty="0"/>
          </a:p>
        </p:txBody>
      </p:sp>
      <p:sp>
        <p:nvSpPr>
          <p:cNvPr id="47" name="Shape 25"/>
          <p:cNvSpPr/>
          <p:nvPr/>
        </p:nvSpPr>
        <p:spPr>
          <a:xfrm>
            <a:off x="3773932" y="5813518"/>
            <a:ext cx="3124610" cy="2103821"/>
          </a:xfrm>
          <a:prstGeom prst="roundRect">
            <a:avLst>
              <a:gd name="adj" fmla="val 5325"/>
            </a:avLst>
          </a:prstGeom>
          <a:solidFill>
            <a:srgbClr val="FDFEFE"/>
          </a:solidFill>
          <a:ln w="19050">
            <a:solidFill>
              <a:srgbClr val="EFF2F6"/>
            </a:solidFill>
            <a:prstDash val="solid"/>
          </a:ln>
        </p:spPr>
      </p:sp>
      <p:pic>
        <p:nvPicPr>
          <p:cNvPr id="48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5559" y="5987799"/>
            <a:ext cx="722021" cy="709573"/>
          </a:xfrm>
          <a:prstGeom prst="rect">
            <a:avLst/>
          </a:prstGeom>
        </p:spPr>
      </p:pic>
      <p:sp>
        <p:nvSpPr>
          <p:cNvPr id="49" name="Text 26"/>
          <p:cNvSpPr/>
          <p:nvPr/>
        </p:nvSpPr>
        <p:spPr>
          <a:xfrm>
            <a:off x="4010456" y="6759615"/>
            <a:ext cx="2489729" cy="95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41"/>
              </a:lnSpc>
            </a:pPr>
            <a:r>
              <a:rPr lang="en-US" sz="1457" dirty="0">
                <a:solidFill>
                  <a:srgbClr val="8891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먼저 해야 하는지</a:t>
            </a:r>
            <a:endParaRPr lang="en-US" sz="1457" dirty="0"/>
          </a:p>
          <a:p>
            <a:pPr>
              <a:lnSpc>
                <a:spcPts val="2041"/>
              </a:lnSpc>
            </a:pPr>
            <a:r>
              <a:rPr lang="en-US" sz="1457" dirty="0">
                <a:solidFill>
                  <a:srgbClr val="8891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알려주어 고객이 멈추고</a:t>
            </a:r>
            <a:endParaRPr lang="en-US" sz="1457" dirty="0"/>
          </a:p>
          <a:p>
            <a:pPr>
              <a:lnSpc>
                <a:spcPts val="2041"/>
              </a:lnSpc>
            </a:pPr>
            <a:r>
              <a:rPr lang="en-US" sz="1457" dirty="0">
                <a:solidFill>
                  <a:srgbClr val="8891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확인하도록 돕습니다.</a:t>
            </a:r>
            <a:endParaRPr lang="en-US" sz="1457" dirty="0"/>
          </a:p>
        </p:txBody>
      </p:sp>
      <p:sp>
        <p:nvSpPr>
          <p:cNvPr id="50" name="Text 27"/>
          <p:cNvSpPr/>
          <p:nvPr/>
        </p:nvSpPr>
        <p:spPr>
          <a:xfrm>
            <a:off x="4832067" y="6162080"/>
            <a:ext cx="1307108" cy="28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96"/>
              </a:lnSpc>
            </a:pPr>
            <a:r>
              <a:rPr lang="en-US" sz="1490" dirty="0">
                <a:solidFill>
                  <a:srgbClr val="5662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행동 안내</a:t>
            </a:r>
            <a:endParaRPr lang="en-US" sz="1490" dirty="0"/>
          </a:p>
        </p:txBody>
      </p:sp>
      <p:sp>
        <p:nvSpPr>
          <p:cNvPr id="51" name="Shape 28"/>
          <p:cNvSpPr/>
          <p:nvPr/>
        </p:nvSpPr>
        <p:spPr>
          <a:xfrm>
            <a:off x="499937" y="5813518"/>
            <a:ext cx="3137059" cy="2103821"/>
          </a:xfrm>
          <a:prstGeom prst="roundRect">
            <a:avLst>
              <a:gd name="adj" fmla="val 5325"/>
            </a:avLst>
          </a:prstGeom>
          <a:solidFill>
            <a:srgbClr val="FDFEFE"/>
          </a:solidFill>
          <a:ln w="19050">
            <a:solidFill>
              <a:srgbClr val="F0F2F7"/>
            </a:solidFill>
            <a:prstDash val="solid"/>
          </a:ln>
        </p:spPr>
      </p:sp>
      <p:pic>
        <p:nvPicPr>
          <p:cNvPr id="52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1565" y="5987799"/>
            <a:ext cx="722021" cy="709573"/>
          </a:xfrm>
          <a:prstGeom prst="rect">
            <a:avLst/>
          </a:prstGeom>
        </p:spPr>
      </p:pic>
      <p:sp>
        <p:nvSpPr>
          <p:cNvPr id="53" name="Text 29"/>
          <p:cNvSpPr/>
          <p:nvPr/>
        </p:nvSpPr>
        <p:spPr>
          <a:xfrm>
            <a:off x="748911" y="6759615"/>
            <a:ext cx="2477281" cy="95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66"/>
              </a:lnSpc>
            </a:pPr>
            <a:r>
              <a:rPr lang="en-US" sz="1411" dirty="0">
                <a:solidFill>
                  <a:srgbClr val="8A9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더 보내기 전에 경고와</a:t>
            </a:r>
            <a:endParaRPr lang="en-US" sz="1411" dirty="0"/>
          </a:p>
          <a:p>
            <a:pPr>
              <a:lnSpc>
                <a:spcPts val="2066"/>
              </a:lnSpc>
            </a:pPr>
            <a:r>
              <a:rPr lang="en-US" sz="1411" dirty="0">
                <a:solidFill>
                  <a:srgbClr val="8A9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가이드를 제공해 추가</a:t>
            </a:r>
            <a:endParaRPr lang="en-US" sz="1411" dirty="0"/>
          </a:p>
          <a:p>
            <a:pPr>
              <a:lnSpc>
                <a:spcPts val="2066"/>
              </a:lnSpc>
            </a:pPr>
            <a:r>
              <a:rPr lang="en-US" sz="1411" dirty="0">
                <a:solidFill>
                  <a:srgbClr val="8A92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 확산을 출입니다.</a:t>
            </a:r>
            <a:endParaRPr lang="en-US" sz="1411" dirty="0"/>
          </a:p>
        </p:txBody>
      </p:sp>
      <p:sp>
        <p:nvSpPr>
          <p:cNvPr id="54" name="Text 30"/>
          <p:cNvSpPr/>
          <p:nvPr/>
        </p:nvSpPr>
        <p:spPr>
          <a:xfrm>
            <a:off x="1545624" y="6174528"/>
            <a:ext cx="1680567" cy="28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16"/>
              </a:lnSpc>
            </a:pPr>
            <a:r>
              <a:rPr lang="en-US" sz="1418" dirty="0">
                <a:solidFill>
                  <a:srgbClr val="586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송금 차단 유도</a:t>
            </a:r>
            <a:endParaRPr lang="en-US" sz="1418" dirty="0"/>
          </a:p>
        </p:txBody>
      </p:sp>
      <p:sp>
        <p:nvSpPr>
          <p:cNvPr id="55" name="Shape 31"/>
          <p:cNvSpPr/>
          <p:nvPr/>
        </p:nvSpPr>
        <p:spPr>
          <a:xfrm>
            <a:off x="400349" y="2664010"/>
            <a:ext cx="9846879" cy="3000124"/>
          </a:xfrm>
          <a:prstGeom prst="rect">
            <a:avLst/>
          </a:prstGeom>
          <a:solidFill>
            <a:srgbClr val="FEF1F2"/>
          </a:solidFill>
          <a:ln/>
        </p:spPr>
      </p:sp>
      <p:pic>
        <p:nvPicPr>
          <p:cNvPr id="56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3398" y="5066599"/>
            <a:ext cx="385908" cy="385908"/>
          </a:xfrm>
          <a:prstGeom prst="rect">
            <a:avLst/>
          </a:prstGeom>
        </p:spPr>
      </p:pic>
      <p:sp>
        <p:nvSpPr>
          <p:cNvPr id="57" name="Text 32"/>
          <p:cNvSpPr/>
          <p:nvPr/>
        </p:nvSpPr>
        <p:spPr>
          <a:xfrm>
            <a:off x="997884" y="5141291"/>
            <a:ext cx="136935" cy="2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76"/>
              </a:lnSpc>
            </a:pPr>
            <a:r>
              <a:rPr lang="en-US" sz="1804" dirty="0">
                <a:solidFill>
                  <a:srgbClr val="F7B9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4" dirty="0"/>
          </a:p>
        </p:txBody>
      </p:sp>
      <p:sp>
        <p:nvSpPr>
          <p:cNvPr id="58" name="Shape 33"/>
          <p:cNvSpPr/>
          <p:nvPr/>
        </p:nvSpPr>
        <p:spPr>
          <a:xfrm>
            <a:off x="873397" y="4605999"/>
            <a:ext cx="373459" cy="385908"/>
          </a:xfrm>
          <a:prstGeom prst="roundRect">
            <a:avLst>
              <a:gd name="adj" fmla="val 50833"/>
            </a:avLst>
          </a:prstGeom>
          <a:solidFill>
            <a:srgbClr val="F13740"/>
          </a:solidFill>
          <a:ln w="9525">
            <a:solidFill>
              <a:srgbClr val="F8565B"/>
            </a:solidFill>
            <a:prstDash val="solid"/>
          </a:ln>
        </p:spPr>
      </p:sp>
      <p:sp>
        <p:nvSpPr>
          <p:cNvPr id="59" name="Text 34"/>
          <p:cNvSpPr/>
          <p:nvPr/>
        </p:nvSpPr>
        <p:spPr>
          <a:xfrm>
            <a:off x="997884" y="4680691"/>
            <a:ext cx="136935" cy="2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74"/>
              </a:lnSpc>
            </a:pPr>
            <a:r>
              <a:rPr lang="en-US" sz="1636" dirty="0">
                <a:solidFill>
                  <a:srgbClr val="F7BE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36" dirty="0"/>
          </a:p>
        </p:txBody>
      </p:sp>
      <p:sp>
        <p:nvSpPr>
          <p:cNvPr id="60" name="Shape 35"/>
          <p:cNvSpPr/>
          <p:nvPr/>
        </p:nvSpPr>
        <p:spPr>
          <a:xfrm>
            <a:off x="873397" y="4132951"/>
            <a:ext cx="373459" cy="385908"/>
          </a:xfrm>
          <a:prstGeom prst="roundRect">
            <a:avLst>
              <a:gd name="adj" fmla="val 50833"/>
            </a:avLst>
          </a:prstGeom>
          <a:solidFill>
            <a:srgbClr val="F03841"/>
          </a:solidFill>
          <a:ln w="9525">
            <a:solidFill>
              <a:srgbClr val="F8595E"/>
            </a:solidFill>
            <a:prstDash val="solid"/>
          </a:ln>
        </p:spPr>
      </p:sp>
      <p:sp>
        <p:nvSpPr>
          <p:cNvPr id="61" name="Text 36"/>
          <p:cNvSpPr/>
          <p:nvPr/>
        </p:nvSpPr>
        <p:spPr>
          <a:xfrm>
            <a:off x="997884" y="4207642"/>
            <a:ext cx="136935" cy="211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45"/>
              </a:lnSpc>
            </a:pPr>
            <a:r>
              <a:rPr lang="en-US" sz="1885" dirty="0">
                <a:solidFill>
                  <a:srgbClr val="F7B9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85" dirty="0"/>
          </a:p>
        </p:txBody>
      </p:sp>
      <p:sp>
        <p:nvSpPr>
          <p:cNvPr id="62" name="Shape 37"/>
          <p:cNvSpPr/>
          <p:nvPr/>
        </p:nvSpPr>
        <p:spPr>
          <a:xfrm>
            <a:off x="873398" y="3659902"/>
            <a:ext cx="385908" cy="385908"/>
          </a:xfrm>
          <a:prstGeom prst="roundRect">
            <a:avLst>
              <a:gd name="adj" fmla="val 49194"/>
            </a:avLst>
          </a:prstGeom>
          <a:solidFill>
            <a:srgbClr val="EF3740"/>
          </a:solidFill>
          <a:ln w="9525">
            <a:solidFill>
              <a:srgbClr val="F7585D"/>
            </a:solidFill>
            <a:prstDash val="solid"/>
          </a:ln>
        </p:spPr>
      </p:sp>
      <p:sp>
        <p:nvSpPr>
          <p:cNvPr id="63" name="Text 38"/>
          <p:cNvSpPr/>
          <p:nvPr/>
        </p:nvSpPr>
        <p:spPr>
          <a:xfrm>
            <a:off x="1010332" y="3734593"/>
            <a:ext cx="124486" cy="224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972"/>
              </a:lnSpc>
            </a:pPr>
            <a:r>
              <a:rPr lang="en-US" sz="1713" dirty="0">
                <a:solidFill>
                  <a:srgbClr val="F7BD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13" dirty="0"/>
          </a:p>
        </p:txBody>
      </p:sp>
      <p:pic>
        <p:nvPicPr>
          <p:cNvPr id="64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3602" y="3448275"/>
            <a:ext cx="8987922" cy="87141"/>
          </a:xfrm>
          <a:prstGeom prst="rect">
            <a:avLst/>
          </a:prstGeom>
        </p:spPr>
      </p:pic>
      <p:pic>
        <p:nvPicPr>
          <p:cNvPr id="65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3397" y="2962777"/>
            <a:ext cx="348562" cy="373459"/>
          </a:xfrm>
          <a:prstGeom prst="rect">
            <a:avLst/>
          </a:prstGeom>
        </p:spPr>
      </p:pic>
      <p:sp>
        <p:nvSpPr>
          <p:cNvPr id="66" name="Text 39"/>
          <p:cNvSpPr/>
          <p:nvPr/>
        </p:nvSpPr>
        <p:spPr>
          <a:xfrm>
            <a:off x="1483381" y="5103945"/>
            <a:ext cx="4419269" cy="31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57"/>
              </a:lnSpc>
            </a:pPr>
            <a:r>
              <a:rPr lang="en-US" sz="1764" dirty="0">
                <a:solidFill>
                  <a:srgbClr val="7E8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1심:</a:t>
            </a:r>
            <a:r>
              <a:rPr lang="en-US" sz="1764" dirty="0">
                <a:solidFill>
                  <a:srgbClr val="E957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은행30% 과실, 4억 6천만 원 배상</a:t>
            </a:r>
            <a:r>
              <a:rPr lang="en-US" sz="1764" dirty="0">
                <a:solidFill>
                  <a:srgbClr val="7C8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판결</a:t>
            </a:r>
            <a:endParaRPr lang="en-US" sz="1764" dirty="0"/>
          </a:p>
        </p:txBody>
      </p:sp>
      <p:sp>
        <p:nvSpPr>
          <p:cNvPr id="67" name="Text 40"/>
          <p:cNvSpPr/>
          <p:nvPr/>
        </p:nvSpPr>
        <p:spPr>
          <a:xfrm>
            <a:off x="1483381" y="4643345"/>
            <a:ext cx="3323788" cy="28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66"/>
              </a:lnSpc>
            </a:pPr>
            <a:r>
              <a:rPr lang="en-US" sz="1768" dirty="0">
                <a:solidFill>
                  <a:srgbClr val="7C81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피해</a:t>
            </a:r>
            <a:r>
              <a:rPr lang="en-US" sz="1768" dirty="0">
                <a:solidFill>
                  <a:srgbClr val="E951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15억6천만원</a:t>
            </a:r>
            <a:r>
              <a:rPr lang="en-US" sz="1768" dirty="0">
                <a:solidFill>
                  <a:srgbClr val="7C81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확대</a:t>
            </a:r>
            <a:endParaRPr lang="en-US" sz="1768" dirty="0"/>
          </a:p>
        </p:txBody>
      </p:sp>
      <p:sp>
        <p:nvSpPr>
          <p:cNvPr id="68" name="Text 41"/>
          <p:cNvSpPr/>
          <p:nvPr/>
        </p:nvSpPr>
        <p:spPr>
          <a:xfrm>
            <a:off x="1483380" y="4170296"/>
            <a:ext cx="3734594" cy="28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37"/>
              </a:lnSpc>
            </a:pPr>
            <a:r>
              <a:rPr lang="en-US" sz="1719" dirty="0">
                <a:solidFill>
                  <a:srgbClr val="858A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r>
              <a:rPr lang="en-US" sz="1719" dirty="0">
                <a:solidFill>
                  <a:srgbClr val="E955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사흘간</a:t>
            </a:r>
            <a:r>
              <a:rPr lang="en-US" sz="1719" dirty="0">
                <a:solidFill>
                  <a:srgbClr val="787D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sz="1719" dirty="0">
                <a:solidFill>
                  <a:srgbClr val="E74C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계좌</a:t>
            </a:r>
            <a:r>
              <a:rPr lang="en-US" sz="1719" dirty="0">
                <a:solidFill>
                  <a:srgbClr val="787D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추가 송금</a:t>
            </a:r>
            <a:endParaRPr lang="en-US" sz="1719" dirty="0"/>
          </a:p>
        </p:txBody>
      </p:sp>
      <p:sp>
        <p:nvSpPr>
          <p:cNvPr id="69" name="Text 42"/>
          <p:cNvSpPr/>
          <p:nvPr/>
        </p:nvSpPr>
        <p:spPr>
          <a:xfrm>
            <a:off x="1470933" y="3684799"/>
            <a:ext cx="4693139" cy="31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8"/>
              </a:lnSpc>
            </a:pPr>
            <a:r>
              <a:rPr lang="en-US" sz="1732" dirty="0">
                <a:solidFill>
                  <a:srgbClr val="787E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피해자는 예금</a:t>
            </a:r>
            <a:r>
              <a:rPr lang="en-US" sz="1732" dirty="0">
                <a:solidFill>
                  <a:srgbClr val="EB5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16억 원을 해지</a:t>
            </a:r>
            <a:r>
              <a:rPr lang="en-US" sz="1732" dirty="0">
                <a:solidFill>
                  <a:srgbClr val="787E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</a:t>
            </a:r>
            <a:r>
              <a:rPr lang="en-US" sz="1732" dirty="0">
                <a:solidFill>
                  <a:srgbClr val="E956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4억원</a:t>
            </a:r>
            <a:r>
              <a:rPr lang="en-US" sz="1732" dirty="0">
                <a:solidFill>
                  <a:srgbClr val="787E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을송금</a:t>
            </a:r>
            <a:endParaRPr lang="en-US" sz="1732" dirty="0"/>
          </a:p>
        </p:txBody>
      </p:sp>
      <p:sp>
        <p:nvSpPr>
          <p:cNvPr id="70" name="Text 43"/>
          <p:cNvSpPr/>
          <p:nvPr/>
        </p:nvSpPr>
        <p:spPr>
          <a:xfrm>
            <a:off x="1446034" y="2975227"/>
            <a:ext cx="1593427" cy="336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22"/>
              </a:lnSpc>
            </a:pPr>
            <a:r>
              <a:rPr lang="en-US" sz="1813" dirty="0">
                <a:solidFill>
                  <a:srgbClr val="414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사례 기준</a:t>
            </a:r>
            <a:endParaRPr lang="en-US" sz="1813" dirty="0"/>
          </a:p>
        </p:txBody>
      </p:sp>
      <p:sp>
        <p:nvSpPr>
          <p:cNvPr id="71" name="Text 44"/>
          <p:cNvSpPr/>
          <p:nvPr/>
        </p:nvSpPr>
        <p:spPr>
          <a:xfrm>
            <a:off x="499937" y="1755259"/>
            <a:ext cx="9037717" cy="77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300"/>
              </a:lnSpc>
            </a:pPr>
            <a:r>
              <a:rPr lang="en-US" sz="1721" dirty="0">
                <a:solidFill>
                  <a:srgbClr val="838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YTN 보도 사례처럼 탐지 이후 대응이 충분하지 않으면 피해가 커질 수 있습니다.</a:t>
            </a:r>
            <a:endParaRPr lang="en-US" sz="1721" dirty="0"/>
          </a:p>
          <a:p>
            <a:pPr>
              <a:lnSpc>
                <a:spcPts val="2300"/>
              </a:lnSpc>
            </a:pPr>
            <a:r>
              <a:rPr lang="en-US" sz="1721" dirty="0">
                <a:solidFill>
                  <a:srgbClr val="838B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CSR은 고객 앱에서 즉시 행동을 유도하고, 은행이 더 빠르게 상황을 파악하도록 돕습니다.</a:t>
            </a:r>
            <a:endParaRPr lang="en-US" sz="1721" dirty="0"/>
          </a:p>
        </p:txBody>
      </p:sp>
      <p:sp>
        <p:nvSpPr>
          <p:cNvPr id="72" name="Text 45"/>
          <p:cNvSpPr/>
          <p:nvPr/>
        </p:nvSpPr>
        <p:spPr>
          <a:xfrm>
            <a:off x="512387" y="908751"/>
            <a:ext cx="9697495" cy="784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829"/>
              </a:lnSpc>
            </a:pPr>
            <a:r>
              <a:rPr lang="en-US" sz="4625" b="1" dirty="0">
                <a:solidFill>
                  <a:srgbClr val="1B2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CSR은 어떻게</a:t>
            </a:r>
            <a:r>
              <a:rPr lang="en-US" sz="4625" b="1" dirty="0">
                <a:solidFill>
                  <a:srgbClr val="DF1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추가피해</a:t>
            </a:r>
            <a:r>
              <a:rPr lang="en-US" sz="4625" b="1" dirty="0">
                <a:solidFill>
                  <a:srgbClr val="1B2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줄이는가?</a:t>
            </a:r>
            <a:endParaRPr lang="en-US" sz="4625" dirty="0"/>
          </a:p>
        </p:txBody>
      </p:sp>
      <p:sp>
        <p:nvSpPr>
          <p:cNvPr id="73" name="Shape 46"/>
          <p:cNvSpPr/>
          <p:nvPr/>
        </p:nvSpPr>
        <p:spPr>
          <a:xfrm>
            <a:off x="462592" y="261421"/>
            <a:ext cx="1618324" cy="448151"/>
          </a:xfrm>
          <a:prstGeom prst="roundRect">
            <a:avLst>
              <a:gd name="adj" fmla="val 11111"/>
            </a:avLst>
          </a:prstGeom>
          <a:solidFill>
            <a:srgbClr val="0F264E"/>
          </a:solidFill>
          <a:ln w="9525">
            <a:solidFill>
              <a:srgbClr val="263B5F"/>
            </a:solidFill>
            <a:prstDash val="solid"/>
          </a:ln>
        </p:spPr>
      </p:sp>
      <p:sp>
        <p:nvSpPr>
          <p:cNvPr id="74" name="Text 47"/>
          <p:cNvSpPr/>
          <p:nvPr/>
        </p:nvSpPr>
        <p:spPr>
          <a:xfrm>
            <a:off x="649321" y="336113"/>
            <a:ext cx="1219967" cy="273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52"/>
              </a:lnSpc>
            </a:pPr>
            <a:r>
              <a:rPr lang="en-US" sz="1606" dirty="0">
                <a:solidFill>
                  <a:srgbClr val="A8B1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기대 효과</a:t>
            </a:r>
            <a:endParaRPr lang="en-US" sz="1606" dirty="0"/>
          </a:p>
        </p:txBody>
      </p:sp>
      <p:sp>
        <p:nvSpPr>
          <p:cNvPr id="75" name="Text 48"/>
          <p:cNvSpPr/>
          <p:nvPr/>
        </p:nvSpPr>
        <p:spPr>
          <a:xfrm>
            <a:off x="12276357" y="7954685"/>
            <a:ext cx="1232416" cy="18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66"/>
              </a:lnSpc>
            </a:pPr>
            <a:r>
              <a:rPr lang="en-US" sz="1040" dirty="0">
                <a:solidFill>
                  <a:srgbClr val="828F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앱 상담 예시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2866</Words>
  <Application>Microsoft Office PowerPoint</Application>
  <PresentationFormat>Custom</PresentationFormat>
  <Paragraphs>715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Microsoft YaHei</vt:lpstr>
      <vt:lpstr>Arial</vt:lpstr>
      <vt:lpstr>Times New Roman</vt:lpstr>
      <vt:lpstr>맑은 고딕</vt:lpstr>
      <vt:lpstr>페이퍼로지 5 Medium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mbc</cp:lastModifiedBy>
  <cp:revision>21</cp:revision>
  <dcterms:created xsi:type="dcterms:W3CDTF">2026-09-28T13:40:33Z</dcterms:created>
  <dcterms:modified xsi:type="dcterms:W3CDTF">2026-09-30T09:06:33Z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