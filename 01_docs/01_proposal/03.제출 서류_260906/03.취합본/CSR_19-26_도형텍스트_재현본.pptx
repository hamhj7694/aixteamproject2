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68580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Aptos"/>
              </a:rPr>
              <a:t>차별성 · 시스템 포지셔닝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Aptos"/>
              </a:rPr>
              <a:t>기존 체계 위에 얹는, 탐지 이후의 Context &amp; Verification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0642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Aptos"/>
              </a:rPr>
              <a:t>탐지·공유·금융조치 시스템을 대체하지 않고, 그 사이에 남아 있는 사건 파악 · 진위 확인 · 고객 설득 구간을 담당합니다.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56248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① 이미 작동하고 있는 탐지 · 공유 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3375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337560" cy="45720"/>
          </a:xfrm>
          <a:prstGeom prst="rect">
            <a:avLst/>
          </a:prstGeom>
          <a:solidFill>
            <a:srgbClr val="91A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19072"/>
            <a:ext cx="300837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통신사 · 스마트폰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93391"/>
            <a:ext cx="3008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677A94"/>
                </a:solidFill>
                <a:latin typeface="Aptos"/>
              </a:rPr>
              <a:t>“이 통화가 위험한가?”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49424"/>
            <a:ext cx="3008376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실시간 통화분석 · 고객 경고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60320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3375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337560" cy="45720"/>
          </a:xfrm>
          <a:prstGeom prst="rect">
            <a:avLst/>
          </a:prstGeom>
          <a:solidFill>
            <a:srgbClr val="91A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719072"/>
            <a:ext cx="300837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ASAP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993391"/>
            <a:ext cx="3008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677A94"/>
                </a:solidFill>
                <a:latin typeface="Aptos"/>
              </a:rPr>
              <a:t>“기관 간 공유할 위험정보가 있는가?”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49424"/>
            <a:ext cx="3008376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표준 위험정보 공유 ·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60320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554480"/>
            <a:ext cx="33375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554480"/>
            <a:ext cx="3337560" cy="45720"/>
          </a:xfrm>
          <a:prstGeom prst="rect">
            <a:avLst/>
          </a:prstGeom>
          <a:solidFill>
            <a:srgbClr val="91A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719072"/>
            <a:ext cx="300837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은행 FDS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993391"/>
            <a:ext cx="3008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677A94"/>
                </a:solidFill>
                <a:latin typeface="Aptos"/>
              </a:rPr>
              <a:t>“이 거래가 이상한가?”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249424"/>
            <a:ext cx="3008376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거래 · 계좌 위험탐지와 금융조치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560320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61488"/>
            <a:ext cx="11018520" cy="1353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907792"/>
            <a:ext cx="4572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■  CSR | Case Share Room  ·  Context &amp; Verification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3310128"/>
            <a:ext cx="2514600" cy="576072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374136"/>
            <a:ext cx="224028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74A6FF"/>
                </a:solidFill>
                <a:latin typeface="Aptos"/>
              </a:rPr>
              <a:t>CLAIM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52958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ptos"/>
              </a:rPr>
              <a:t>범죄자가 무엇을
주장하고 요구했는가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3310128"/>
            <a:ext cx="2514600" cy="576072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2736" y="3374136"/>
            <a:ext cx="224028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74A6FF"/>
                </a:solidFill>
                <a:latin typeface="Aptos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352958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ptos"/>
              </a:rPr>
              <a:t>무엇을 누구에게
확인해야 하는가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3310128"/>
            <a:ext cx="2514600" cy="576072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3374136"/>
            <a:ext cx="224028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74A6FF"/>
                </a:solidFill>
                <a:latin typeface="Aptos"/>
              </a:rPr>
              <a:t>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352958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ptos"/>
              </a:rPr>
              <a:t>고객에게 무엇을
물어봐야 하는가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3310128"/>
            <a:ext cx="2514600" cy="576072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3374136"/>
            <a:ext cx="224028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74A6FF"/>
                </a:solidFill>
                <a:latin typeface="Aptos"/>
              </a:rPr>
              <a:t>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352958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ptos"/>
              </a:rPr>
              <a:t>은행 직원은 지금
어떤 대응을 해야 하는가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4160520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160520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4160520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617720"/>
            <a:ext cx="3657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② 최종 판단과 실행은 기존 금융 · 공공 체계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828032"/>
            <a:ext cx="33375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828032"/>
            <a:ext cx="3337560" cy="45720"/>
          </a:xfrm>
          <a:prstGeom prst="rect">
            <a:avLst/>
          </a:prstGeom>
          <a:solidFill>
            <a:srgbClr val="2BA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992624"/>
            <a:ext cx="300837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은행 금융조치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5266944"/>
            <a:ext cx="3008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677A94"/>
                </a:solidFill>
                <a:latin typeface="Aptos"/>
              </a:rPr>
              <a:t>지급정지 · 거래차단 · 추가 자금이동 차단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828032"/>
            <a:ext cx="33375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43400" y="4828032"/>
            <a:ext cx="3337560" cy="45720"/>
          </a:xfrm>
          <a:prstGeom prst="rect">
            <a:avLst/>
          </a:prstGeom>
          <a:solidFill>
            <a:srgbClr val="FF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07992" y="4992624"/>
            <a:ext cx="300837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112 · 수사 연계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7992" y="5266944"/>
            <a:ext cx="3008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677A94"/>
                </a:solidFill>
                <a:latin typeface="Aptos"/>
              </a:rPr>
              <a:t>신고 · 사건 접수 지원 · 증거 · 기록 보존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4828032"/>
            <a:ext cx="33375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83879" y="4828032"/>
            <a:ext cx="3337560" cy="45720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8471" y="4992624"/>
            <a:ext cx="300837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피해구제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8471" y="5266944"/>
            <a:ext cx="3008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677A94"/>
                </a:solidFill>
                <a:latin typeface="Aptos"/>
              </a:rPr>
              <a:t>피해구제 절차 안내 · 신청 지원 · 사후 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080760"/>
            <a:ext cx="11109960" cy="512064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6172200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■  탐지 정확도를 다시 겨루는 것이 아니라, 탐지 이후 남아 있는 확인 · 설득 · 조치 구간을 하나의 Case로 연결합니다.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68580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Aptos"/>
              </a:rPr>
              <a:t>서비스 흐름 · 5단계 Case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Aptos"/>
              </a:rPr>
              <a:t>DETECT → CASE → VERIFY → PROTECT →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0642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Aptos"/>
              </a:rPr>
              <a:t>탐지 Event가 들어오면 Case Orchestrator가 Shared Case를 생성하고, 사건 상태에 따라 필요한 AI 역할만 내부적으로 호출합니다.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56248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828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DETECT 입력 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3383280" cy="347472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91056"/>
            <a:ext cx="31638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3469F5"/>
                </a:solidFill>
                <a:latin typeface="Aptos"/>
              </a:rPr>
              <a:t>통신사 · 스마트폰 AI Call Risk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536192"/>
            <a:ext cx="3383280" cy="347472"/>
          </a:xfrm>
          <a:prstGeom prst="rect">
            <a:avLst/>
          </a:prstGeom>
          <a:solidFill>
            <a:srgbClr val="FF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591056"/>
            <a:ext cx="31638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4F2D"/>
                </a:solidFill>
                <a:latin typeface="Aptos"/>
              </a:rPr>
              <a:t>은행 FDS 이상거래 Alert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36192"/>
            <a:ext cx="3383280" cy="347472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1591056"/>
            <a:ext cx="31638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EB9716"/>
                </a:solidFill>
                <a:latin typeface="Aptos"/>
              </a:rPr>
              <a:t>고객 긴급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01952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48840"/>
            <a:ext cx="2057400" cy="960120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13432"/>
            <a:ext cx="2057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78608"/>
            <a:ext cx="187451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통화 위험신호 · FDS Alert
고객 긴급요청 수신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82112"/>
            <a:ext cx="2057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>
                <a:solidFill>
                  <a:srgbClr val="142B48"/>
                </a:solidFill>
                <a:latin typeface="Aptos"/>
              </a:rPr>
              <a:t>위험신호 탐지</a:t>
            </a:r>
          </a:p>
        </p:txBody>
      </p:sp>
      <p:sp>
        <p:nvSpPr>
          <p:cNvPr id="18" name="Chevron 17"/>
          <p:cNvSpPr/>
          <p:nvPr/>
        </p:nvSpPr>
        <p:spPr>
          <a:xfrm>
            <a:off x="2670048" y="2496312"/>
            <a:ext cx="164592" cy="201168"/>
          </a:xfrm>
          <a:prstGeom prst="chevron">
            <a:avLst/>
          </a:prstGeom>
          <a:solidFill>
            <a:srgbClr val="C3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1800" y="2148840"/>
            <a:ext cx="2057400" cy="960120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313432"/>
            <a:ext cx="2057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578608"/>
            <a:ext cx="187451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Case Orchestrator가
Shared Case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182112"/>
            <a:ext cx="2057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>
                <a:solidFill>
                  <a:srgbClr val="142B48"/>
                </a:solidFill>
                <a:latin typeface="Aptos"/>
              </a:rPr>
              <a:t>공유 Case Room 생성</a:t>
            </a:r>
          </a:p>
        </p:txBody>
      </p:sp>
      <p:sp>
        <p:nvSpPr>
          <p:cNvPr id="23" name="Chevron 22"/>
          <p:cNvSpPr/>
          <p:nvPr/>
        </p:nvSpPr>
        <p:spPr>
          <a:xfrm>
            <a:off x="5138928" y="2496312"/>
            <a:ext cx="164592" cy="201168"/>
          </a:xfrm>
          <a:prstGeom prst="chevron">
            <a:avLst/>
          </a:prstGeom>
          <a:solidFill>
            <a:srgbClr val="C3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40680" y="2148840"/>
            <a:ext cx="2057400" cy="960120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313432"/>
            <a:ext cx="2057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578608"/>
            <a:ext cx="187451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사칭기관 · 공식절차 확인
고객 답변 · 정보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182112"/>
            <a:ext cx="2057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>
                <a:solidFill>
                  <a:srgbClr val="142B48"/>
                </a:solidFill>
                <a:latin typeface="Aptos"/>
              </a:rPr>
              <a:t>실시간 공동검증</a:t>
            </a:r>
          </a:p>
        </p:txBody>
      </p:sp>
      <p:sp>
        <p:nvSpPr>
          <p:cNvPr id="28" name="Chevron 27"/>
          <p:cNvSpPr/>
          <p:nvPr/>
        </p:nvSpPr>
        <p:spPr>
          <a:xfrm>
            <a:off x="7607807" y="2496312"/>
            <a:ext cx="164592" cy="201168"/>
          </a:xfrm>
          <a:prstGeom prst="chevron">
            <a:avLst/>
          </a:prstGeom>
          <a:solidFill>
            <a:srgbClr val="C3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2148840"/>
            <a:ext cx="2057400" cy="960120"/>
          </a:xfrm>
          <a:prstGeom prst="rect">
            <a:avLst/>
          </a:prstGeom>
          <a:solidFill>
            <a:srgbClr val="2BA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2313432"/>
            <a:ext cx="2057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PROTECT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578608"/>
            <a:ext cx="187451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고객 설득 · 피해방지
은행 담당자 조치 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182112"/>
            <a:ext cx="2057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>
                <a:solidFill>
                  <a:srgbClr val="142B48"/>
                </a:solidFill>
                <a:latin typeface="Aptos"/>
              </a:rPr>
              <a:t>은행 조치</a:t>
            </a:r>
          </a:p>
        </p:txBody>
      </p:sp>
      <p:sp>
        <p:nvSpPr>
          <p:cNvPr id="33" name="Chevron 32"/>
          <p:cNvSpPr/>
          <p:nvPr/>
        </p:nvSpPr>
        <p:spPr>
          <a:xfrm>
            <a:off x="10076688" y="2496312"/>
            <a:ext cx="164592" cy="201168"/>
          </a:xfrm>
          <a:prstGeom prst="chevron">
            <a:avLst/>
          </a:prstGeom>
          <a:solidFill>
            <a:srgbClr val="C3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12680" y="2148840"/>
            <a:ext cx="1691640" cy="960120"/>
          </a:xfrm>
          <a:prstGeom prst="rect">
            <a:avLst/>
          </a:prstGeom>
          <a:solidFill>
            <a:srgbClr val="FF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2313432"/>
            <a:ext cx="16916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19" y="2578608"/>
            <a:ext cx="1508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112 · 지급정지
피해구제 지원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182112"/>
            <a:ext cx="169164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>
                <a:solidFill>
                  <a:srgbClr val="142B48"/>
                </a:solidFill>
                <a:latin typeface="Aptos"/>
              </a:rPr>
              <a:t>사후 구제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520440"/>
            <a:ext cx="41148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전 단계에서 하나의 Shared Case에 누적되는 정보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730752"/>
            <a:ext cx="11109960" cy="1078992"/>
          </a:xfrm>
          <a:prstGeom prst="rect">
            <a:avLst/>
          </a:prstGeom>
          <a:solidFill>
            <a:srgbClr val="E1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3886200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3922776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Claim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3886200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0" y="3922776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Demand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886200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922776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Context Feature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86200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3922776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Verification Evidence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3886200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8120" y="3922776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Customer Response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3886200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3922776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Transaction Context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4270248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4306824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Risk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4270248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68880" y="4306824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Question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51960" y="4270248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60" y="4306824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Action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270248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4306824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Event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18120" y="4270248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18120" y="4306824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Timeline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0" y="4270248"/>
            <a:ext cx="162763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4306824"/>
            <a:ext cx="162763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142B48"/>
                </a:solidFill>
                <a:latin typeface="Aptos"/>
              </a:rPr>
              <a:t>Live / Final Report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983480"/>
            <a:ext cx="5532120" cy="347472"/>
          </a:xfrm>
          <a:prstGeom prst="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5047488"/>
            <a:ext cx="34747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2BA075"/>
                </a:solidFill>
                <a:latin typeface="Aptos"/>
              </a:rPr>
              <a:t>피해 없음 → 종결 · 보고서화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92040" y="5047488"/>
            <a:ext cx="914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00" b="1">
                <a:solidFill>
                  <a:srgbClr val="2BA075"/>
                </a:solidFill>
                <a:latin typeface="Aptos"/>
              </a:rPr>
              <a:t>CASE CLOSED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4983480"/>
            <a:ext cx="5440680" cy="347472"/>
          </a:xfrm>
          <a:prstGeom prst="rect">
            <a:avLst/>
          </a:prstGeom>
          <a:solidFill>
            <a:srgbClr val="FF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5047488"/>
            <a:ext cx="3200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FF4F2D"/>
                </a:solidFill>
                <a:latin typeface="Aptos"/>
              </a:rPr>
              <a:t>피해 발생 후 → 112 · 구제 지원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5047488"/>
            <a:ext cx="10972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00" b="1">
                <a:solidFill>
                  <a:srgbClr val="FF4F2D"/>
                </a:solidFill>
                <a:latin typeface="Aptos"/>
              </a:rPr>
              <a:t>RECOVERY MODE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6080760"/>
            <a:ext cx="11109960" cy="512064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6172200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■  사건을 다시 설명하고 새로 입력하는 대신, 예방 과정에서 확보한 정보를 그대로 지급정지 · 신고 · 피해구제에 재사용합니다.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68580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Aptos"/>
              </a:rPr>
              <a:t>사용자 관점 · 하나의 Shared Case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Aptos"/>
              </a:rPr>
              <a:t>사용자는 여러 AI를 쓰지 않습니다. 하나의 사건을 사람과 AI가 함께 처리합니다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0642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Aptos"/>
              </a:rPr>
              <a:t>Frontend는 Agent를 각각 별도 서비스로 노출하지 않습니다. 역할 분리는 내부 구조이며, 화면에는 하나의 사건과 그 상태만 보입니다.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56248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1298448"/>
            <a:ext cx="29260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화면에 보이는 것  |  ONE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1508760"/>
            <a:ext cx="557784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1508760"/>
            <a:ext cx="5577840" cy="54864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691640"/>
            <a:ext cx="448056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2B48"/>
                </a:solidFill>
                <a:latin typeface="Aptos"/>
              </a:rPr>
              <a:t>CASE #2026-0418-013 · 기관사칭형 의심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2" y="1691640"/>
            <a:ext cx="594360" cy="228600"/>
          </a:xfrm>
          <a:prstGeom prst="rect">
            <a:avLst/>
          </a:prstGeom>
          <a:solidFill>
            <a:srgbClr val="FF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728216"/>
            <a:ext cx="59436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4F2D"/>
                </a:solidFill>
                <a:latin typeface="Aptos"/>
              </a:rPr>
              <a:t>진행 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011680"/>
            <a:ext cx="5074920" cy="621792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109728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677A94"/>
                </a:solidFill>
                <a:latin typeface="Aptos"/>
              </a:rPr>
              <a:t>CASE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76856"/>
            <a:ext cx="4663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검찰 수사관을 사칭해 “계좌가 범죄에 연루되었다”며 안전계좌 이체를 요구한 통화. 송금 미실행 · 개인정보 일부 노출.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770632"/>
            <a:ext cx="1417320" cy="530352"/>
          </a:xfrm>
          <a:prstGeom prst="rect">
            <a:avLst/>
          </a:prstGeom>
          <a:solidFill>
            <a:srgbClr val="FF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43784"/>
            <a:ext cx="114300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FF4F2D"/>
                </a:solidFill>
                <a:latin typeface="Aptos"/>
              </a:rPr>
              <a:t>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26664"/>
            <a:ext cx="11430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4F2D"/>
                </a:solidFill>
                <a:latin typeface="Aptos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770632"/>
            <a:ext cx="1417320" cy="530352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1408" y="2843784"/>
            <a:ext cx="114300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EB9716"/>
                </a:solidFill>
                <a:latin typeface="Aptos"/>
              </a:rPr>
              <a:t>확인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3026664"/>
            <a:ext cx="11430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EB9716"/>
                </a:solidFill>
                <a:latin typeface="Aptos"/>
              </a:rPr>
              <a:t>3건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5887" y="2770632"/>
            <a:ext cx="1417320" cy="530352"/>
          </a:xfrm>
          <a:prstGeom prst="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5615" y="2843784"/>
            <a:ext cx="114300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2BA075"/>
                </a:solidFill>
                <a:latin typeface="Aptos"/>
              </a:rPr>
              <a:t>확인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5615" y="3026664"/>
            <a:ext cx="11430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2BA075"/>
                </a:solidFill>
                <a:latin typeface="Aptos"/>
              </a:rPr>
              <a:t>5건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93008"/>
            <a:ext cx="489204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1">
                <a:solidFill>
                  <a:srgbClr val="142B48"/>
                </a:solidFill>
                <a:latin typeface="Aptos"/>
              </a:rPr>
              <a:t>▪ 지금 무엇이 위험한가 → 사칭 주장 + 즉시 이체 요구 + 외부 확인 차단 시도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03904"/>
            <a:ext cx="489204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142B48"/>
                </a:solidFill>
                <a:latin typeface="Aptos"/>
              </a:rPr>
              <a:t>▪ 무엇이 확인됐는가 → 해당 기관 공식 절차상 안전계좌 이체 요구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14800"/>
            <a:ext cx="489204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142B48"/>
                </a:solidFill>
                <a:latin typeface="Aptos"/>
              </a:rPr>
              <a:t>▪ 무엇을 더 확인해야 하는가 → 수신 번호 진위 · OTP 제공 여부 · 원격앱 설치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25696"/>
            <a:ext cx="489204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142B48"/>
                </a:solidFill>
                <a:latin typeface="Aptos"/>
              </a:rPr>
              <a:t>▪ 다음에 무엇을 해야 하는가 → 송금 중단 권고 · 고객 확인질문 전달 · 조치 검토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4800600"/>
            <a:ext cx="5074920" cy="53035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82896"/>
            <a:ext cx="210312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7CA9FF"/>
                </a:solidFill>
                <a:latin typeface="Aptos"/>
              </a:rPr>
              <a:t>권고 표현 · AI는 판단을 대신하지 않습니다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4748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ptos"/>
              </a:rPr>
              <a:t>“현재 확인된 정보 기준으로 송금 중단을 권장합니다. 추가 확인이 필요합니다.”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29844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화면 뒤에서 동작하는 것  |  INTERNAL ROLES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1508760"/>
            <a:ext cx="5577840" cy="4069080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1700784"/>
            <a:ext cx="5074920" cy="502920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819656"/>
            <a:ext cx="20116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Case Orchestrator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1819656"/>
            <a:ext cx="24231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B0C7E7"/>
                </a:solidFill>
                <a:latin typeface="Aptos"/>
              </a:rPr>
              <a:t>Event 기준 필요한 역할만 선택 · 병렬 호출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2359152"/>
            <a:ext cx="16002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6208" y="2359152"/>
            <a:ext cx="1600200" cy="45720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2532888"/>
            <a:ext cx="1371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30" b="1">
                <a:solidFill>
                  <a:srgbClr val="142B48"/>
                </a:solidFill>
                <a:latin typeface="Aptos"/>
              </a:rPr>
              <a:t>Customer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2770632"/>
            <a:ext cx="1371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상황 브리핑 · 안전질문
답변 구조화 · 재판단 지원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3568" y="2359152"/>
            <a:ext cx="16002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3568" y="2359152"/>
            <a:ext cx="1600200" cy="45720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83296" y="2532888"/>
            <a:ext cx="1371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30" b="1">
                <a:solidFill>
                  <a:srgbClr val="142B48"/>
                </a:solidFill>
                <a:latin typeface="Aptos"/>
              </a:rPr>
              <a:t>Verification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3296" y="2770632"/>
            <a:ext cx="1371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사칭기관 확인 · 공식절차
Claim 대조 · 상태 판정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0928" y="2359152"/>
            <a:ext cx="16002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10928" y="2359152"/>
            <a:ext cx="1600200" cy="45720"/>
          </a:xfrm>
          <a:prstGeom prst="rect">
            <a:avLst/>
          </a:prstGeom>
          <a:solidFill>
            <a:srgbClr val="2BA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0655" y="2532888"/>
            <a:ext cx="1371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30" b="1">
                <a:solidFill>
                  <a:srgbClr val="142B48"/>
                </a:solidFill>
                <a:latin typeface="Aptos"/>
              </a:rPr>
              <a:t>Bank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0655" y="2770632"/>
            <a:ext cx="1371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통화맥락 분석 · FDS 해석
사건 Brief · 조치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6208" y="3547872"/>
            <a:ext cx="5074920" cy="384048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3639312"/>
            <a:ext cx="47548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60" b="1">
                <a:solidFill>
                  <a:srgbClr val="142B48"/>
                </a:solidFill>
                <a:latin typeface="Aptos"/>
              </a:rPr>
              <a:t>Shared Case Engine · Claim / Demand · Verification Evidence · Event Log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36208" y="4160520"/>
            <a:ext cx="5074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4261104"/>
            <a:ext cx="1828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142B48"/>
                </a:solidFill>
                <a:latin typeface="Aptos"/>
              </a:rPr>
              <a:t>Case Report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261104"/>
            <a:ext cx="1828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LIVE REPORT · FINAL REPORT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4736592"/>
            <a:ext cx="5074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2512" y="4837176"/>
            <a:ext cx="9144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677A94"/>
                </a:solidFill>
                <a:latin typeface="Aptos"/>
              </a:rPr>
              <a:t>노출 원칙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2512" y="5010912"/>
            <a:ext cx="457200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Aptos"/>
              </a:rPr>
              <a:t>Agent 이름 · 호출 구조 · 병렬 처리 과정은 화면에 드러내지 않습니다. 사용자에게는 사건 상태와 그 근거만 보입니다.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080760"/>
            <a:ext cx="11109960" cy="512064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6172200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■  여러 AI를 골라 쓰는 도구가 아니라, 하나의 사건을 함께 처리하는 업무 화면입니다.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68580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Aptos"/>
              </a:rPr>
              <a:t>AI 구조 · 역할별 책임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Aptos"/>
              </a:rPr>
              <a:t>AI는 분석 · 구조화 · 설명 · 근거 제공까지, 최종 금융판단은 사람이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0642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Aptos"/>
              </a:rPr>
              <a:t>세 역할은 같은 Shared Case를 근거로 서로 다른 확인 업무를 동시에 수행하고, 결과는 모두 Case에 기록됩니다.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56248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463040"/>
            <a:ext cx="3657600" cy="288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463040"/>
            <a:ext cx="3657600" cy="54864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089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2B48"/>
                </a:solidFill>
                <a:latin typeface="Aptos"/>
              </a:rPr>
              <a:t>Customer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47672"/>
            <a:ext cx="31089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고객 접점 · 상황 확인과 이해 지원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04288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고객 상황 브리핑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587752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안전 필수 추가 확인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871216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피해 발생 여부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154680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고객 응답 구조화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438144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고객에게 이해하기 쉬운 설명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3721608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재판단 / 설득 지원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3200400" cy="347472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41063"/>
            <a:ext cx="292608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3469F5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59936"/>
            <a:ext cx="288036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Customer Response · 피해 여부 · 노출정보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41648" y="1463040"/>
            <a:ext cx="3657600" cy="288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41648" y="1463040"/>
            <a:ext cx="3657600" cy="54864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1691640"/>
            <a:ext cx="31089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2B48"/>
                </a:solidFill>
                <a:latin typeface="Aptos"/>
              </a:rPr>
              <a:t>Verification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947672"/>
            <a:ext cx="31089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독립검증 · 주장과 공식 절차의 대조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304288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사칭기관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587752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범죄자가 주장한 공식 절차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871216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계좌 · 거래 · 기관 Claim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154680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공식 문서 · 절차와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3886200"/>
            <a:ext cx="3200400" cy="347472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941063"/>
            <a:ext cx="292608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EB9716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059936"/>
            <a:ext cx="288036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확인 중 / 확인 완료 / 불일치 / 확인 불가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6992" y="1463040"/>
            <a:ext cx="3657600" cy="288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36992" y="1463040"/>
            <a:ext cx="3657600" cy="54864"/>
          </a:xfrm>
          <a:prstGeom prst="rect">
            <a:avLst/>
          </a:prstGeom>
          <a:solidFill>
            <a:srgbClr val="2BA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2" y="1691640"/>
            <a:ext cx="31089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2B48"/>
                </a:solidFill>
                <a:latin typeface="Aptos"/>
              </a:rPr>
              <a:t>Bank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1947672"/>
            <a:ext cx="31089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은행 업무 지원 · 사건 파악과 조치 검토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3" y="2304288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통화 맥락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2587752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FDS / 거래정보 해석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3" y="2871216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사건 Brief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3" y="3154680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추가 확인사항 추천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3" y="3438144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조치 후보 추천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3" y="3721608"/>
            <a:ext cx="30175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▪  고객 상담 근거 제공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65592" y="3886200"/>
            <a:ext cx="3200400" cy="347472"/>
          </a:xfrm>
          <a:prstGeom prst="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3941063"/>
            <a:ext cx="292608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2BA075"/>
                </a:solidFill>
                <a:latin typeface="Aptos"/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059936"/>
            <a:ext cx="288036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Case Brief · Question 후보 · Action 후보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" y="4572000"/>
            <a:ext cx="1828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역할 경계 · 표현 원칙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" y="4800600"/>
            <a:ext cx="5532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937760"/>
            <a:ext cx="9144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142B48"/>
                </a:solidFill>
                <a:latin typeface="Aptos"/>
              </a:rPr>
              <a:t>AI가 하는 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5138928"/>
            <a:ext cx="507492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60" b="0">
                <a:solidFill>
                  <a:srgbClr val="677A94"/>
                </a:solidFill>
                <a:latin typeface="Aptos"/>
              </a:rPr>
              <a:t>분석 · 구조화 · 설명 · 근거 제공 · 확인 제안 · 조치 선택 지원까지 수행합니다. 금융조치의 최종 판단과 실행은 담당자 또는 기존 금융 시스템이 담당합니다.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80" y="4800600"/>
            <a:ext cx="5532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08192" y="4919472"/>
            <a:ext cx="49377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4F2D"/>
                </a:solidFill>
                <a:latin typeface="Aptos"/>
              </a:rPr>
              <a:t>피해야 할 표현  —  “AI가 송금을 차단합니다.”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8192" y="5175504"/>
            <a:ext cx="49377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70" b="1">
                <a:solidFill>
                  <a:srgbClr val="2BA075"/>
                </a:solidFill>
                <a:latin typeface="Aptos"/>
              </a:rPr>
              <a:t>권장 표현  —  “현재 확인된 정보 기준으로 송금 중단을 권장합니다.” / “추가 확인이 필요합니다.”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080760"/>
            <a:ext cx="11109960" cy="512064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172200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■  책임 구조가 명확해야 도입할 수 있습니다. AI는 근거를 제공하고, 판단과 실행은 사람과 기존 시스템이 유지합니다.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68580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Aptos"/>
              </a:rPr>
              <a:t>신뢰 설계 · AI 질문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Aptos"/>
              </a:rPr>
              <a:t>AI가 모든 질문을 자유 생성하지 않습니다. 표준 안전질문과 심화질문을 분리합니다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0642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Aptos"/>
              </a:rPr>
              <a:t>P0는 안전을 위해 자동 질문하고, 사건별 심화질문은 은행 담당자의 검토 · 선택 · 편집을 거쳐 고객에게 전달됩니다.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56248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44168"/>
            <a:ext cx="2743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P0  |  표준 안전질문 · 자동 질문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55321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554480"/>
            <a:ext cx="5532120" cy="54864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64792"/>
            <a:ext cx="219456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즉시 안전 확인 4문항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2" y="1719072"/>
            <a:ext cx="594360" cy="2286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764792"/>
            <a:ext cx="59436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3469F5"/>
                </a:solidFill>
                <a:latin typeface="Aptos"/>
              </a:rPr>
              <a:t>AUTO 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03120"/>
            <a:ext cx="4983480" cy="31089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57984"/>
            <a:ext cx="5029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Aptos"/>
              </a:rPr>
              <a:t>P0-1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157984"/>
            <a:ext cx="38404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실제 송금 여부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4983480" cy="31089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42032"/>
            <a:ext cx="5029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Aptos"/>
              </a:rPr>
              <a:t>P0-2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542032"/>
            <a:ext cx="38404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개인정보 제공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871215"/>
            <a:ext cx="4983480" cy="31089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79"/>
            <a:ext cx="5029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Aptos"/>
              </a:rPr>
              <a:t>P0-3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926079"/>
            <a:ext cx="38404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인증정보 / OTP 제공 여부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55263"/>
            <a:ext cx="4983480" cy="31089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10128"/>
            <a:ext cx="5029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Aptos"/>
              </a:rPr>
              <a:t>P0-4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310128"/>
            <a:ext cx="38404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Aptos"/>
              </a:rPr>
              <a:t>원격제어 앱 설치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91440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Aptos"/>
              </a:rPr>
              <a:t>왜 자동인가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피해 확대를 결정하는 네 가지 사실은 담당자 배정을 기다릴 수 없습니다. 답변은 즉시 Case에 구조화되어 위험도와 조치 후보에 반영됩니다.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34416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P1 / P2  |  사건별 심화질문 · 담당자 승인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554480"/>
            <a:ext cx="55321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1554480"/>
            <a:ext cx="5532120" cy="54864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1764792"/>
            <a:ext cx="283464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Question Planner → 담당자 검토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0" y="1719072"/>
            <a:ext cx="960120" cy="228600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1764792"/>
            <a:ext cx="96012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630" b="1">
                <a:solidFill>
                  <a:srgbClr val="EB9716"/>
                </a:solidFill>
                <a:latin typeface="Aptos"/>
              </a:rPr>
              <a:t>HUMAN IN THE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2112264"/>
            <a:ext cx="210312" cy="210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139696"/>
            <a:ext cx="210312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2103120"/>
            <a:ext cx="43891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1">
                <a:solidFill>
                  <a:srgbClr val="677A94"/>
                </a:solidFill>
                <a:latin typeface="Aptos"/>
              </a:rPr>
              <a:t>AI 후보 생성 — 통화 맥락 · Claim · FDS 정보를 근거로 확인이 필요한 질문 후보를 제시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468880"/>
            <a:ext cx="210312" cy="210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2496312"/>
            <a:ext cx="210312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2459736"/>
            <a:ext cx="43891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>
                <a:solidFill>
                  <a:srgbClr val="677A94"/>
                </a:solidFill>
                <a:latin typeface="Aptos"/>
              </a:rPr>
              <a:t>담당자 검토 · 선택 — 필요한 질문만 선택하고 표현을 편집. 근거는 함께 표시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8" y="2825496"/>
            <a:ext cx="210312" cy="210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2852928"/>
            <a:ext cx="210312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2816352"/>
            <a:ext cx="43891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>
                <a:solidFill>
                  <a:srgbClr val="677A94"/>
                </a:solidFill>
                <a:latin typeface="Aptos"/>
              </a:rPr>
              <a:t>고객 전달 — 승인된 질문만 고객 화면에 전달, 선택지 A / B / C 형태로 제시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8" y="3182112"/>
            <a:ext cx="210312" cy="210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3209544"/>
            <a:ext cx="210312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3172968"/>
            <a:ext cx="43891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>
                <a:solidFill>
                  <a:srgbClr val="677A94"/>
                </a:solidFill>
                <a:latin typeface="Aptos"/>
              </a:rPr>
              <a:t>Case 반영 — 답변은 구조화되어 Verification · Risk · Report에 즉시 반영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3767328"/>
            <a:ext cx="4983480" cy="411480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840480"/>
            <a:ext cx="4480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Aptos"/>
              </a:rPr>
              <a:t>예시 · P1
“상대방이 알려준 사건번호와 담당 검사 이름을 그대로 말씀해 주실 수 있나요?”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4617720"/>
            <a:ext cx="3429000" cy="749808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736592"/>
            <a:ext cx="292608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97B9FF"/>
                </a:solidFill>
                <a:latin typeface="Aptos"/>
              </a:rPr>
              <a:t>질문 범위 통제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96519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40" b="1">
                <a:solidFill>
                  <a:srgbClr val="FFFFFF"/>
                </a:solidFill>
                <a:latin typeface="Aptos"/>
              </a:rPr>
              <a:t>표준 문항 외 자유 생성 질문은 담당자 승인 없이 고객에게 전달되지 않습니다.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41648" y="4617720"/>
            <a:ext cx="3429000" cy="749808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70248" y="4736592"/>
            <a:ext cx="292608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97B9FF"/>
                </a:solidFill>
                <a:latin typeface="Aptos"/>
              </a:rPr>
              <a:t>정확한 값의 출처 분리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496519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40" b="1">
                <a:solidFill>
                  <a:srgbClr val="FFFFFF"/>
                </a:solidFill>
                <a:latin typeface="Aptos"/>
              </a:rPr>
              <a:t>공식 전화번호 · URL은 LLM이 생성하지 않고 official_contacts에서 조회합니다.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9560" y="4617720"/>
            <a:ext cx="3429000" cy="749808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4736592"/>
            <a:ext cx="292608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97B9FF"/>
                </a:solidFill>
                <a:latin typeface="Aptos"/>
              </a:rPr>
              <a:t>최종 판단의 소재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96519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40" b="1">
                <a:solidFill>
                  <a:srgbClr val="FFFFFF"/>
                </a:solidFill>
                <a:latin typeface="Aptos"/>
              </a:rPr>
              <a:t>최종 금융 판단 및 조치는 AI가 수행하지 않습니다. 담당자가 결정합니다.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5596128"/>
            <a:ext cx="11155680" cy="438912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687568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142B48"/>
                </a:solidFill>
                <a:latin typeface="Aptos"/>
              </a:rPr>
              <a:t>■  질문의 범위 · 순서 · 승인 주체를 미리 정해 두는 것이 금융기관 도입의 전제 조건입니다.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68580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Aptos"/>
              </a:rPr>
              <a:t>Case Report AI · LIVE &amp; FINAL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Aptos"/>
              </a:rPr>
              <a:t>보고서를 다시 쓰지 않습니다. 영향받은 Section만 갱신합니다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0642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Aptos"/>
              </a:rPr>
              <a:t>통화 분석 · 고객 답변 · 은행 질문 · Verification · Action · Timeline을 종합하되, LIVE Report는 Section 단위로 부분 갱신합니다.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56248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325880"/>
            <a:ext cx="21945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종합 대상 · Case 누적 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536192"/>
            <a:ext cx="29718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1536192"/>
            <a:ext cx="2971800" cy="54864"/>
          </a:xfrm>
          <a:prstGeom prst="rect">
            <a:avLst/>
          </a:prstGeom>
          <a:solidFill>
            <a:srgbClr val="91A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783080"/>
            <a:ext cx="2514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677A94"/>
                </a:solidFill>
                <a:latin typeface="Aptos"/>
              </a:rPr>
              <a:t>▪  통화 분석 · Context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093976"/>
            <a:ext cx="2514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677A94"/>
                </a:solidFill>
                <a:latin typeface="Aptos"/>
              </a:rPr>
              <a:t>▪  Claim /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404872"/>
            <a:ext cx="2514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677A94"/>
                </a:solidFill>
                <a:latin typeface="Aptos"/>
              </a:rPr>
              <a:t>▪  고객 답변 (Customer 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715768"/>
            <a:ext cx="2514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677A94"/>
                </a:solidFill>
                <a:latin typeface="Aptos"/>
              </a:rPr>
              <a:t>▪  은행 질문 · 담당자 선택 이력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026664"/>
            <a:ext cx="2514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677A94"/>
                </a:solidFill>
                <a:latin typeface="Aptos"/>
              </a:rPr>
              <a:t>▪  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337560"/>
            <a:ext cx="2514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677A94"/>
                </a:solidFill>
                <a:latin typeface="Aptos"/>
              </a:rPr>
              <a:t>▪  Transaction Context · FDS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648456"/>
            <a:ext cx="2514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677A94"/>
                </a:solidFill>
                <a:latin typeface="Aptos"/>
              </a:rPr>
              <a:t>▪  Action · 조치 이력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959352"/>
            <a:ext cx="2514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0">
                <a:solidFill>
                  <a:srgbClr val="677A94"/>
                </a:solidFill>
                <a:latin typeface="Aptos"/>
              </a:rPr>
              <a:t>▪  Timeline · Event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4160520"/>
            <a:ext cx="2514600" cy="347472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42816"/>
            <a:ext cx="21945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모든 항목은 발생 시점과 근거를 함께 기록</a:t>
            </a:r>
          </a:p>
        </p:txBody>
      </p:sp>
      <p:sp>
        <p:nvSpPr>
          <p:cNvPr id="19" name="Chevron 18"/>
          <p:cNvSpPr/>
          <p:nvPr/>
        </p:nvSpPr>
        <p:spPr>
          <a:xfrm>
            <a:off x="3246120" y="2907792"/>
            <a:ext cx="228600" cy="274320"/>
          </a:xfrm>
          <a:prstGeom prst="chevron">
            <a:avLst/>
          </a:prstGeom>
          <a:solidFill>
            <a:srgbClr val="C3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325880"/>
            <a:ext cx="32918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LIVE REPORT · Section 단위 부분 갱신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1536192"/>
            <a:ext cx="43434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1536192"/>
            <a:ext cx="4343400" cy="54864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1764792"/>
            <a:ext cx="20116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8개 Section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719072"/>
            <a:ext cx="1508760" cy="2286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764792"/>
            <a:ext cx="150876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650" b="1">
                <a:solidFill>
                  <a:srgbClr val="3469F5"/>
                </a:solidFill>
                <a:latin typeface="Aptos"/>
              </a:rPr>
              <a:t>REPORT_SECTION_UPDATED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30752" y="2084831"/>
            <a:ext cx="1783080" cy="40233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2148839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1">
                <a:solidFill>
                  <a:srgbClr val="142B48"/>
                </a:solidFill>
                <a:latin typeface="Aptos"/>
              </a:rPr>
              <a:t>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295144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사건 한 줄 요약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084831"/>
            <a:ext cx="1783080" cy="40233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2148839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1">
                <a:solidFill>
                  <a:srgbClr val="142B48"/>
                </a:solidFill>
                <a:latin typeface="Aptos"/>
              </a:rPr>
              <a:t>risk_context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295144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위험 판단 근거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30752" y="2587752"/>
            <a:ext cx="1783080" cy="40233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2651760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1">
                <a:solidFill>
                  <a:srgbClr val="142B48"/>
                </a:solidFill>
                <a:latin typeface="Aptos"/>
              </a:rPr>
              <a:t>transfer_status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798064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송금 · 이체 상태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6712" y="2587752"/>
            <a:ext cx="1783080" cy="40233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2651760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1">
                <a:solidFill>
                  <a:srgbClr val="142B48"/>
                </a:solidFill>
                <a:latin typeface="Aptos"/>
              </a:rPr>
              <a:t>exposure_status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798064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정보 노출 범위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30752" y="3090672"/>
            <a:ext cx="1783080" cy="40233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3154679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1">
                <a:solidFill>
                  <a:srgbClr val="142B48"/>
                </a:solidFill>
                <a:latin typeface="Aptos"/>
              </a:rPr>
              <a:t>verification_status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300984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확인 진행 상태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96712" y="3090672"/>
            <a:ext cx="1783080" cy="40233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3154679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1">
                <a:solidFill>
                  <a:srgbClr val="142B48"/>
                </a:solidFill>
                <a:latin typeface="Aptos"/>
              </a:rPr>
              <a:t>current_actions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3300984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진행 중 조치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30752" y="3593591"/>
            <a:ext cx="1783080" cy="40233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3657599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1">
                <a:solidFill>
                  <a:srgbClr val="142B48"/>
                </a:solidFill>
                <a:latin typeface="Aptos"/>
              </a:rPr>
              <a:t>unresolved_items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803904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미확인 항목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96712" y="3593591"/>
            <a:ext cx="1783080" cy="40233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3657599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1">
                <a:solidFill>
                  <a:srgbClr val="142B48"/>
                </a:solidFill>
                <a:latin typeface="Aptos"/>
              </a:rPr>
              <a:t>next_checks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3803904"/>
            <a:ext cx="155448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다음 확인 항목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30752" y="4261104"/>
            <a:ext cx="3657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20" b="0">
                <a:solidFill>
                  <a:srgbClr val="3469F5"/>
                </a:solidFill>
                <a:latin typeface="Aptos"/>
              </a:rPr>
              <a:t>고객 답변 1건 수신 → 영향 표시된 3개 Section만 갱신</a:t>
            </a:r>
          </a:p>
        </p:txBody>
      </p:sp>
      <p:sp>
        <p:nvSpPr>
          <p:cNvPr id="51" name="Chevron 50"/>
          <p:cNvSpPr/>
          <p:nvPr/>
        </p:nvSpPr>
        <p:spPr>
          <a:xfrm>
            <a:off x="8028431" y="2907792"/>
            <a:ext cx="228600" cy="274320"/>
          </a:xfrm>
          <a:prstGeom prst="chevron">
            <a:avLst/>
          </a:prstGeom>
          <a:solidFill>
            <a:srgbClr val="C3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1325880"/>
            <a:ext cx="1828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산출물 · 2종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1536192"/>
            <a:ext cx="3246120" cy="1417320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85632" y="1755648"/>
            <a:ext cx="25603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■  LIVE 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2075688"/>
            <a:ext cx="26974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ptos"/>
              </a:rPr>
              <a:t>현재 사건 상태를 계속 갱신하는 실시간 보고서. 담당자가 화면을 새로 열지 않아도 변경된 Section만 즉시 반영됩니다.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3182112"/>
            <a:ext cx="3246120" cy="1417320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85632" y="3401568"/>
            <a:ext cx="25603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■  FINAL REPORT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3721608"/>
            <a:ext cx="26974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ptos"/>
              </a:rPr>
              <a:t>사건 종료 시 전체 Case 이력을 종합한 최종 사건 보고서. 지급정지 · 신고 · 피해구제 문서 작성에 그대로 재사용됩니다.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" y="4846320"/>
            <a:ext cx="1828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부분 갱신을 택한 이유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5047488"/>
            <a:ext cx="3611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8328" y="5138928"/>
            <a:ext cx="109728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142B48"/>
                </a:solidFill>
                <a:latin typeface="Aptos"/>
              </a:rPr>
              <a:t>응답 속도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" y="5321808"/>
            <a:ext cx="3154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전체 재생성 없이 변경 Section만 처리해 통화 중에도 지연 없이 갱신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41648" y="5047488"/>
            <a:ext cx="3611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42816" y="5138928"/>
            <a:ext cx="109728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142B48"/>
                </a:solidFill>
                <a:latin typeface="Aptos"/>
              </a:rPr>
              <a:t>서술 일관성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42816" y="5321808"/>
            <a:ext cx="3154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확정된 사실 서술이 재생성마다 흔들리지 않아 담당자 판단 기준이 유지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36992" y="5047488"/>
            <a:ext cx="3611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38160" y="5138928"/>
            <a:ext cx="109728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142B48"/>
                </a:solidFill>
                <a:latin typeface="Aptos"/>
              </a:rPr>
              <a:t>감사 추적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5321808"/>
            <a:ext cx="3154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어느 Event가 어느 Section을 바꿨는지 기록되어 사후 검증이 가능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6080760"/>
            <a:ext cx="11109960" cy="512064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6172200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■  사건 종료 시점에 보고서를 새로 쓰는 일이 없습니다. 대응 과정이 그대로 최종 보고서가 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68580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Aptos"/>
              </a:rPr>
              <a:t>시스템 구조 · Backend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Aptos"/>
              </a:rPr>
              <a:t>Frontend는 하나의 Backend만 호출하고, 정확한 값과 생성된 문장을 분리합니다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0642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Aptos"/>
              </a:rPr>
              <a:t>General Backend는 단순 CRUD 서버가 아니라 Frontend ↔ AI API ↔ MySQL ↔ Vector DB ↔ Realtime을 연결하는 통합 · 조정 계층입니다.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56248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" y="1280160"/>
            <a:ext cx="11201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1280160"/>
            <a:ext cx="54864" cy="438912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99032"/>
            <a:ext cx="9144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4846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Shared Case Workspace · 은행 담당자 화면 · 고객 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399032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3469F5"/>
                </a:solidFill>
                <a:latin typeface="Aptos"/>
              </a:rPr>
              <a:t>General Backend API만 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746504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1993392"/>
            <a:ext cx="11201400" cy="1143000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76272"/>
            <a:ext cx="29260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General Backend · 통합 · 조정 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76272"/>
            <a:ext cx="2560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B0C7E7"/>
                </a:solidFill>
                <a:latin typeface="Aptos"/>
              </a:rPr>
              <a:t>Frontend ↔ AI API ↔ MySQL ↔ Vector DB ↔ Realtime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87168"/>
            <a:ext cx="2514600" cy="438912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210312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Case 생성 /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61488"/>
            <a:ext cx="210312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50" b="0">
                <a:solidFill>
                  <a:srgbClr val="B7CBE6"/>
                </a:solidFill>
                <a:latin typeface="Aptos"/>
              </a:rPr>
              <a:t>사용자 · 역할 권한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39" y="2487168"/>
            <a:ext cx="2514600" cy="438912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8999" y="2578608"/>
            <a:ext cx="210312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AI API 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8999" y="2761488"/>
            <a:ext cx="210312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50" b="0">
                <a:solidFill>
                  <a:srgbClr val="B7CBE6"/>
                </a:solidFill>
                <a:latin typeface="Aptos"/>
              </a:rPr>
              <a:t>결과 검증 · 정규화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59" y="2487168"/>
            <a:ext cx="2514600" cy="438912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578608"/>
            <a:ext cx="210312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MySQL 저장 · Event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61488"/>
            <a:ext cx="210312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50" b="0">
                <a:solidFill>
                  <a:srgbClr val="B7CBE6"/>
                </a:solidFill>
                <a:latin typeface="Aptos"/>
              </a:rPr>
              <a:t>Voice Session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487168"/>
            <a:ext cx="2514600" cy="438912"/>
          </a:xfrm>
          <a:prstGeom prst="rect">
            <a:avLst/>
          </a:prstGeom>
          <a:solidFill>
            <a:srgbClr val="2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578608"/>
            <a:ext cx="210312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SSE / WebSocket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761488"/>
            <a:ext cx="210312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50" b="0">
                <a:solidFill>
                  <a:srgbClr val="B7CBE6"/>
                </a:solidFill>
                <a:latin typeface="Aptos"/>
              </a:rPr>
              <a:t>실시간 Delta 전달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3172968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3172968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172968"/>
            <a:ext cx="2286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C3D2E5"/>
                </a:solidFill>
                <a:latin typeface="Aptos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" y="3401568"/>
            <a:ext cx="35661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" y="3401568"/>
            <a:ext cx="3566160" cy="54864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361188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AI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3858768"/>
            <a:ext cx="2971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분석 · 생성 전담 · 상태를 갖지 않음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1605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전체 통화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3891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Window / 부분 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6177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Context Feature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8463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ML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41605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Case Report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43891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Question Planner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46177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Verification · RAG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48463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STT · 음성상담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13632" y="3401568"/>
            <a:ext cx="35661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13632" y="3401568"/>
            <a:ext cx="3566160" cy="54864"/>
          </a:xfrm>
          <a:prstGeom prst="rect">
            <a:avLst/>
          </a:prstGeom>
          <a:solidFill>
            <a:srgbClr val="2BA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42232" y="361188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MySQL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3858768"/>
            <a:ext cx="2971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정확한 Case 상태와 업무 데이터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9664" y="41605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Case · Feature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9664" y="43891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Question · Message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9664" y="46177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Verification · 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9664" y="48463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Timeline / Event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9864" y="41605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Live / Final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9864" y="43891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official_contacts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9864" y="46177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사용자 · 권한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9864" y="48463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Voice Session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17536" y="3401568"/>
            <a:ext cx="35661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17536" y="3401568"/>
            <a:ext cx="3566160" cy="54864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46136" y="361188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Aptos"/>
              </a:rPr>
              <a:t>Vector DB &amp; RAG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46136" y="3858768"/>
            <a:ext cx="29718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공식 절차 근거 검색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73567" y="41605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공식기관 문서 · 절차 Chunk / Embedding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73567" y="43891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피해구제 안내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73567" y="4617720"/>
            <a:ext cx="1417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80" b="0">
                <a:solidFill>
                  <a:srgbClr val="677A94"/>
                </a:solidFill>
                <a:latin typeface="Aptos"/>
              </a:rPr>
              <a:t>▪ 현재 Case 관련 공식절차 근거 검색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46136" y="4709160"/>
            <a:ext cx="3063240" cy="256032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5008" y="4754880"/>
            <a:ext cx="2788920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0">
                <a:solidFill>
                  <a:srgbClr val="EB9716"/>
                </a:solidFill>
                <a:latin typeface="Aptos"/>
              </a:rPr>
              <a:t>공식 번호 · URL은 RAG가 생성하지 않고 MySQL 조회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" y="5285232"/>
            <a:ext cx="3657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Realtime 원칙 · 최초 Bundle 조회 후 Fragment / Delta만 갱신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728" y="5504688"/>
            <a:ext cx="1755648" cy="246888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" y="5559552"/>
            <a:ext cx="175564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590" b="1">
                <a:solidFill>
                  <a:srgbClr val="3469F5"/>
                </a:solidFill>
                <a:latin typeface="Aptos"/>
              </a:rPr>
              <a:t>REPORT_SECTION_UPDATED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75104" y="5504688"/>
            <a:ext cx="1755648" cy="246888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75104" y="5559552"/>
            <a:ext cx="175564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590" b="1">
                <a:solidFill>
                  <a:srgbClr val="3469F5"/>
                </a:solidFill>
                <a:latin typeface="Aptos"/>
              </a:rPr>
              <a:t>QUESTION_UPDATED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0" y="5504688"/>
            <a:ext cx="1755648" cy="246888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40480" y="5559552"/>
            <a:ext cx="175564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590" b="1">
                <a:solidFill>
                  <a:srgbClr val="3469F5"/>
                </a:solidFill>
                <a:latin typeface="Aptos"/>
              </a:rPr>
              <a:t>QUESTION_OPTIONS_UPDATED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05856" y="5504688"/>
            <a:ext cx="1755648" cy="246888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05856" y="5559552"/>
            <a:ext cx="175564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590" b="1">
                <a:solidFill>
                  <a:srgbClr val="3469F5"/>
                </a:solidFill>
                <a:latin typeface="Aptos"/>
              </a:rPr>
              <a:t>PROGRESS_ITEM_UPDATED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71231" y="5504688"/>
            <a:ext cx="1755648" cy="246888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71231" y="5559552"/>
            <a:ext cx="175564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590" b="1">
                <a:solidFill>
                  <a:srgbClr val="3469F5"/>
                </a:solidFill>
                <a:latin typeface="Aptos"/>
              </a:rPr>
              <a:t>TIMELINE_EVENT_APPENDED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36607" y="5504688"/>
            <a:ext cx="1755648" cy="246888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36607" y="5559552"/>
            <a:ext cx="175564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590" b="1">
                <a:solidFill>
                  <a:srgbClr val="3469F5"/>
                </a:solidFill>
                <a:latin typeface="Aptos"/>
              </a:rPr>
              <a:t>TRANSCRIPT_SEGMENT_ADDED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" y="5870448"/>
            <a:ext cx="107899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677A94"/>
                </a:solidFill>
                <a:latin typeface="Aptos"/>
              </a:rPr>
              <a:t>화면 전체를 다시 로드하지 않고 질문 1건 · 선택지 · Report Section 1개 · Timeline 1줄 · Verification Task 1개 · STT Segment 단위로 갱신합니다.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68580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Aptos"/>
              </a:rPr>
              <a:t>Frontend 핵심 UX · 5 / 10 / 30초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Aptos"/>
              </a:rPr>
              <a:t>사건을 연 순간부터 30초 안에 확인과 조치까지 도달해야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0642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Aptos"/>
              </a:rPr>
              <a:t>통화가 진행 중인 상황에서는 화면 탐색 시간이 곧 피해 금액입니다. 화면 위계를 시간 기준으로 설계했습니다.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56248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Aptos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46304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3657600" cy="54864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719072"/>
            <a:ext cx="5029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3469F5"/>
                </a:solidFill>
                <a:latin typeface="Aptos"/>
              </a:rPr>
              <a:t>5초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55648"/>
            <a:ext cx="164592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677A94"/>
                </a:solidFill>
                <a:latin typeface="Aptos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084831"/>
            <a:ext cx="32004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42B48"/>
                </a:solidFill>
                <a:latin typeface="Aptos"/>
              </a:rPr>
              <a:t>“무슨 사건인가?”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45059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Case 번호 · 사건 유형 · 진행 상태 · 요약 3줄을 화면 최상단 고정 영역에 배치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2816352"/>
            <a:ext cx="3154680" cy="438912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907792"/>
            <a:ext cx="283464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677A94"/>
                </a:solidFill>
                <a:latin typeface="Aptos"/>
              </a:rPr>
              <a:t>화면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054096"/>
            <a:ext cx="2834640" cy="1280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0">
                <a:solidFill>
                  <a:srgbClr val="677A94"/>
                </a:solidFill>
                <a:latin typeface="Aptos"/>
              </a:rPr>
              <a:t>Case Header · summary Section · 위험등급 뱃지 · 통화 진행 여부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41648" y="146304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1648" y="1463040"/>
            <a:ext cx="3657600" cy="54864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719072"/>
            <a:ext cx="5029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EB9716"/>
                </a:solidFill>
                <a:latin typeface="Aptos"/>
              </a:rPr>
              <a:t>10초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755648"/>
            <a:ext cx="164592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677A94"/>
                </a:solidFill>
                <a:latin typeface="Aptos"/>
              </a:rPr>
              <a:t>WHAT MATTERS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084831"/>
            <a:ext cx="32004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42B48"/>
                </a:solidFill>
                <a:latin typeface="Aptos"/>
              </a:rPr>
              <a:t>“무엇이 위험한가 · 무엇이 확인됐는가 · 다음에 무엇을 해야 하는가”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45059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Aptos"/>
              </a:rPr>
              <a:t>세 질문을 각각 하나의 Section으로 고정 배치하고 상태색으로 구분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2907792"/>
            <a:ext cx="914400" cy="347472"/>
          </a:xfrm>
          <a:prstGeom prst="rect">
            <a:avLst/>
          </a:prstGeom>
          <a:solidFill>
            <a:srgbClr val="FF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953512"/>
            <a:ext cx="77724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1">
                <a:solidFill>
                  <a:srgbClr val="FF4F2D"/>
                </a:solidFill>
                <a:latin typeface="Aptos"/>
              </a:rPr>
              <a:t>위험 · 긴급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099816"/>
            <a:ext cx="777240" cy="1005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580" b="0">
                <a:solidFill>
                  <a:srgbClr val="677A94"/>
                </a:solidFill>
                <a:latin typeface="Aptos"/>
              </a:rPr>
              <a:t>risk_context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94376" y="2907792"/>
            <a:ext cx="914400" cy="347472"/>
          </a:xfrm>
          <a:prstGeom prst="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7528" y="2953512"/>
            <a:ext cx="77724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1">
                <a:solidFill>
                  <a:srgbClr val="2BA075"/>
                </a:solidFill>
                <a:latin typeface="Aptos"/>
              </a:rPr>
              <a:t>확인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099816"/>
            <a:ext cx="777240" cy="1005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580" b="0">
                <a:solidFill>
                  <a:srgbClr val="677A94"/>
                </a:solidFill>
                <a:latin typeface="Aptos"/>
              </a:rPr>
              <a:t>verification_status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18504" y="2907792"/>
            <a:ext cx="914400" cy="347472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2953512"/>
            <a:ext cx="777240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1">
                <a:solidFill>
                  <a:srgbClr val="EB9716"/>
                </a:solidFill>
                <a:latin typeface="Aptos"/>
              </a:rPr>
              <a:t>확인 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099816"/>
            <a:ext cx="777240" cy="1005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580" b="0">
                <a:solidFill>
                  <a:srgbClr val="677A94"/>
                </a:solidFill>
                <a:latin typeface="Aptos"/>
              </a:rPr>
              <a:t>next_checks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463040"/>
            <a:ext cx="3520440" cy="1965960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1719072"/>
            <a:ext cx="594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30초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1755648"/>
            <a:ext cx="164592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97B9FF"/>
                </a:solidFill>
                <a:latin typeface="Aptos"/>
              </a:rPr>
              <a:t>WHAT I CAN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084831"/>
            <a:ext cx="29260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D2DFF2"/>
                </a:solidFill>
                <a:latin typeface="Aptos"/>
              </a:rPr>
              <a:t>화면 이동 없이 다섯 가지 행동이 사건 화면에서 직접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377440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404872"/>
            <a:ext cx="36576" cy="109728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2386584"/>
            <a:ext cx="251460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Aptos"/>
              </a:rPr>
              <a:t>고객에게 질문 전달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587752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2615184"/>
            <a:ext cx="36576" cy="109728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2596896"/>
            <a:ext cx="251460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Aptos"/>
              </a:rPr>
              <a:t>AI에게 사건 관련 질문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798064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2825496"/>
            <a:ext cx="36576" cy="109728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5904" y="2807208"/>
            <a:ext cx="251460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Aptos"/>
              </a:rPr>
              <a:t>기관 확인 요청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008376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3035808"/>
            <a:ext cx="36576" cy="109728"/>
          </a:xfrm>
          <a:prstGeom prst="rect">
            <a:avLst/>
          </a:prstGeom>
          <a:solidFill>
            <a:srgbClr val="2BA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75904" y="3017520"/>
            <a:ext cx="251460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Aptos"/>
              </a:rPr>
              <a:t>확인 결과 조회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218688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3246120"/>
            <a:ext cx="36576" cy="109728"/>
          </a:xfrm>
          <a:prstGeom prst="rect">
            <a:avLst/>
          </a:prstGeom>
          <a:solidFill>
            <a:srgbClr val="FF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227832"/>
            <a:ext cx="2514600" cy="137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Aptos"/>
              </a:rPr>
              <a:t>필요한 조치 확인 · 실행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" y="3703320"/>
            <a:ext cx="2743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Aptos"/>
              </a:rPr>
              <a:t>화면 구성 원칙 · 은행 업무도구로서의 요건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393192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133087"/>
            <a:ext cx="21488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Aptos"/>
              </a:rPr>
              <a:t>정보 위치 고정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416552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Aptos"/>
              </a:rPr>
              <a:t>사건이 진행되어도 Section 위치가 바뀌지 않습니다. 담당자가 매번 화면을 다시 읽지 않도록 위치로 의미를 기억하게 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393192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4408" y="4133087"/>
            <a:ext cx="21488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Aptos"/>
              </a:rPr>
              <a:t>상태색 4종만 사용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64408" y="4416552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Aptos"/>
              </a:rPr>
              <a:t>색은 장식이 아니라 상태 표기 수단입니다.
■ 기본 · 정보   ■ 확인 필요
■ 확인 완료     ■ 피해 · 긴급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393192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4133087"/>
            <a:ext cx="21488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Aptos"/>
              </a:rPr>
              <a:t>Delta 갱신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3055" y="4416552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Aptos"/>
              </a:rPr>
              <a:t>화면 전체를 새로 로드하지 않습니다. 질문 1개 · Section 1개 · Timeline 1줄 단위로 바뀐 부분만 갱신되어 원래 위치를 잃지 않습니다.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51392" y="393192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560" y="4133087"/>
            <a:ext cx="21488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Aptos"/>
              </a:rPr>
              <a:t>근거 동반 표시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4416552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Aptos"/>
              </a:rPr>
              <a:t>모든 권고 옆에 판단 근거와 확인 상태를 함께 표시합니다. 담당자가 결과가 아니라 근거로 판단합니다.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6080760"/>
            <a:ext cx="11109960" cy="512064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6172200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■  읽는 시간이 아니라 조치까지 걸리는 시간을 기준으로 설계한 은행 업무 화면입니다.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