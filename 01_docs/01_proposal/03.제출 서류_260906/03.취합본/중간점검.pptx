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8" r:id="rId2"/>
    <p:sldId id="329" r:id="rId3"/>
    <p:sldId id="324" r:id="rId4"/>
    <p:sldId id="332" r:id="rId5"/>
    <p:sldId id="330" r:id="rId6"/>
    <p:sldId id="260" r:id="rId7"/>
    <p:sldId id="32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D73EF-AAC6-4F4D-9D03-D72A144DC90A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E0284-2F22-4C30-A379-996E5D956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41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76F97-1B4A-425C-AB0A-813760743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A8976-D31C-47DB-8E24-1220C3A01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13AE9-FA72-413B-BA8F-8A98867C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54795-9E4F-4A8E-BCAE-291088616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28F06-688D-45E0-B825-1F23BFB51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5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4CFE-48A8-4365-87B6-C62265F5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5DBFF-E0EC-431E-9846-3AFC238A7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C26A9-A76C-459E-84F1-490E21FF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13608-D321-4B77-8409-3F91019F0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E498-80A0-4475-B068-7B50E660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661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F39D2-D95D-4BB0-A0E4-5A23E6438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F9FDC-6D1B-461C-BA8E-56450A689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62A-9CEA-4BAD-BBD2-FB4502F4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E2E13-416D-40B6-B1A0-0EDE342CF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1AD97-15DB-4124-8AF3-BD74C0B3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409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86C87-F9AC-4F11-A3F4-2CDDD7CE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A3290-E98B-499D-8FC9-E245CD3AD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5F8B2-3094-4EEF-858A-3516CB96A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1B875-7AEE-447F-9A46-ABD9D3AC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000D1-B595-4AAA-9644-4453049D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AD579-8073-4B64-B321-BC83DB91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18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3CC9-E0B8-4A1F-A4DB-179F243ED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B2A0-E1BD-4258-A16C-756391B97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ADFF2-ABE1-43AF-BCDA-DF28D0D7D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51EA0-0913-47AD-BFBF-76EBFC910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5D216-2B98-48C6-B932-0257376A6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F32F9-4203-49E6-B0A1-961750BAC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B0D30D-7F1C-4681-A183-562C121A2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A6BDEA-C604-4782-8AC5-6BE88765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37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0D4A7-4FDF-458E-8FA4-40476D13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1758C6-DA99-4EBB-BFB7-6A5736EF7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1DAC2-56D7-4E32-B420-D55DD0E3F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7B22E-B1A2-4430-A26A-49F1F829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90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6395D0-3F66-4003-8353-10F1A74C8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EEF641-488F-4155-AAE2-4E293138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D6623-137E-4E76-9D66-9D07B015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12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8792C-BB8A-410F-810D-B2EE2355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C16B1-735E-424F-9BC2-F00DA115C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9E56C-9FBE-4D1E-982E-723AB97B4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BA699-E3F4-49CC-B46C-40835BAB2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6A780-8668-4C7D-AFF3-C9633F13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B8875-1120-46D0-BDE9-C5165E51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280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B71A-612A-4847-884B-2B33E024D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D2607C-7457-4D6C-B049-D2826BF70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971D4-0FDF-41B6-B75F-2202404BC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91081-1381-49EB-826A-CD0442FE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C1390-B4A2-4A66-B7BC-13D8CE93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C480A-21CF-48B1-B2D0-4F705D89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80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DFBC-154A-4C04-AAB2-39FC0D727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F3809-BC32-4564-BFE2-673825303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34B76-0FBD-4D85-B6D2-0AF0195C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19809-60A8-44D3-9B2A-591D1F14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2B05C-4826-4AB5-972F-4FBFD87E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70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181404-9B8F-4E46-AAF7-F0D1C5524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BDAF8-3243-4607-8CC9-7321EAD73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8313B-9AD6-4E03-A165-9789828A6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48E17-5E06-4693-BDCA-18F9D166F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99DC3-423C-488D-AB6B-86C2A008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106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>
            <a:extLst>
              <a:ext uri="{FF2B5EF4-FFF2-40B4-BE49-F238E27FC236}">
                <a16:creationId xmlns:a16="http://schemas.microsoft.com/office/drawing/2014/main" id="{456DC784-67F9-4CC0-9ED2-55652D9D360F}"/>
              </a:ext>
            </a:extLst>
          </p:cNvPr>
          <p:cNvSpPr>
            <a:spLocks noGrp="1"/>
          </p:cNvSpPr>
          <p:nvPr>
            <p:ph type="dt" idx="1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l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44" name="PlaceHolder 2">
            <a:extLst>
              <a:ext uri="{FF2B5EF4-FFF2-40B4-BE49-F238E27FC236}">
                <a16:creationId xmlns:a16="http://schemas.microsoft.com/office/drawing/2014/main" id="{14C5E9DA-023A-4F93-A70D-B34EA523C39E}"/>
              </a:ext>
            </a:extLst>
          </p:cNvPr>
          <p:cNvSpPr>
            <a:spLocks noGrp="1"/>
          </p:cNvSpPr>
          <p:nvPr>
            <p:ph type="ftr" idx="1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5" name="PlaceHolder 3">
            <a:extLst>
              <a:ext uri="{FF2B5EF4-FFF2-40B4-BE49-F238E27FC236}">
                <a16:creationId xmlns:a16="http://schemas.microsoft.com/office/drawing/2014/main" id="{F9DBA960-9744-4414-ADB1-C730E9738CA8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0701332-0D58-4080-AB1A-D2DC8CF2CE4F}" type="slidenum">
              <a:rPr sz="1200" b="0" u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4">
            <a:extLst>
              <a:ext uri="{FF2B5EF4-FFF2-40B4-BE49-F238E27FC236}">
                <a16:creationId xmlns:a16="http://schemas.microsoft.com/office/drawing/2014/main" id="{F2E9438E-E98F-4CA0-9154-92ED5881C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47" name="PlaceHolder 5">
            <a:extLst>
              <a:ext uri="{FF2B5EF4-FFF2-40B4-BE49-F238E27FC236}">
                <a16:creationId xmlns:a16="http://schemas.microsoft.com/office/drawing/2014/main" id="{D18E440A-6B09-4412-A88E-6C643C62885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313518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BE34FD-1063-42FE-A6F8-E1C17DCE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A7810-A03E-410A-AE3A-61BADBE7E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491AB-5F29-42E1-A9CE-FC1EA1896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4EC11-C19C-4783-BEBE-4B2432E775C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BD786-B6BA-4B11-B2DD-D0ACFDDC5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81F92-9DE4-4E51-AC3D-4E0694832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14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2" name="Google Shape;1178;p22"/>
          <p:cNvCxnSpPr>
            <a:cxnSpLocks/>
          </p:cNvCxnSpPr>
          <p:nvPr/>
        </p:nvCxnSpPr>
        <p:spPr>
          <a:xfrm>
            <a:off x="8129260" y="2233722"/>
            <a:ext cx="1024936" cy="0"/>
          </a:xfrm>
          <a:prstGeom prst="straightConnector1">
            <a:avLst/>
          </a:prstGeom>
          <a:ln w="17775">
            <a:solidFill>
              <a:srgbClr val="D9E3EF"/>
            </a:solidFill>
            <a:miter/>
          </a:ln>
        </p:spPr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0285DC9E-3CE6-429A-8B42-128C85C5FE45}"/>
              </a:ext>
            </a:extLst>
          </p:cNvPr>
          <p:cNvSpPr/>
          <p:nvPr/>
        </p:nvSpPr>
        <p:spPr>
          <a:xfrm>
            <a:off x="530280" y="5609601"/>
            <a:ext cx="11109960" cy="634801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2" name="Google Shape;1068;p16">
            <a:extLst>
              <a:ext uri="{FF2B5EF4-FFF2-40B4-BE49-F238E27FC236}">
                <a16:creationId xmlns:a16="http://schemas.microsoft.com/office/drawing/2014/main" id="{A93EEDC6-CF55-4FCB-8110-475EF99B2395}"/>
              </a:ext>
            </a:extLst>
          </p:cNvPr>
          <p:cNvSpPr>
            <a:spLocks noGrp="1"/>
          </p:cNvSpPr>
          <p:nvPr/>
        </p:nvSpPr>
        <p:spPr>
          <a:xfrm>
            <a:off x="530280" y="920124"/>
            <a:ext cx="10698120" cy="199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b="0" u="none">
                <a:solidFill>
                  <a:srgbClr val="66768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고객과 은행이 확인한 정보를 같은 </a:t>
            </a:r>
            <a:r>
              <a:rPr lang="en-US" altLang="ko-KR" sz="1100" b="0" u="none">
                <a:solidFill>
                  <a:srgbClr val="66768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</a:t>
            </a:r>
            <a:r>
              <a:rPr lang="ko-KR" altLang="en-US" sz="1100" b="0" u="none">
                <a:solidFill>
                  <a:srgbClr val="66768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에 축적해</a:t>
            </a:r>
            <a:r>
              <a:rPr lang="en-US" altLang="ko-KR" sz="1100" b="0" u="none">
                <a:solidFill>
                  <a:srgbClr val="66768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 </a:t>
            </a:r>
            <a:r>
              <a:rPr lang="ko-KR" altLang="en-US" sz="1100" b="0" u="none">
                <a:solidFill>
                  <a:srgbClr val="66768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예방 단계에서 확보한 정보를 피해 발생 이후 대응에도 이어서 활용합니다</a:t>
            </a:r>
            <a:r>
              <a:rPr lang="en-US" altLang="ko-KR" sz="1100" b="0" u="none">
                <a:solidFill>
                  <a:srgbClr val="66768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.</a:t>
            </a:r>
            <a:endParaRPr lang="en-US" altLang="ko-KR" sz="1100" b="0" u="none" dirty="0">
              <a:solidFill>
                <a:srgbClr val="66768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90" name="Google Shape;969;p15">
            <a:extLst>
              <a:ext uri="{FF2B5EF4-FFF2-40B4-BE49-F238E27FC236}">
                <a16:creationId xmlns:a16="http://schemas.microsoft.com/office/drawing/2014/main" id="{CAA2EB86-7B9E-45B9-A6B2-DF3C158A13A6}"/>
              </a:ext>
            </a:extLst>
          </p:cNvPr>
          <p:cNvSpPr>
            <a:spLocks noGrp="1"/>
          </p:cNvSpPr>
          <p:nvPr/>
        </p:nvSpPr>
        <p:spPr>
          <a:xfrm>
            <a:off x="530280" y="530280"/>
            <a:ext cx="11396580" cy="361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2200" dirty="0">
                <a:latin typeface="페이퍼로지 7 Bold" pitchFamily="2" charset="-127"/>
                <a:ea typeface="페이퍼로지 7 Bold" pitchFamily="2" charset="-127"/>
              </a:rPr>
              <a:t>하나의 사건은 탐지부터 피해복구까지</a:t>
            </a:r>
            <a:r>
              <a:rPr lang="en-US" altLang="ko-KR" sz="2200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200" dirty="0">
                <a:latin typeface="페이퍼로지 7 Bold" pitchFamily="2" charset="-127"/>
                <a:ea typeface="페이퍼로지 7 Bold" pitchFamily="2" charset="-127"/>
              </a:rPr>
              <a:t>같은 </a:t>
            </a:r>
            <a:r>
              <a:rPr lang="en-US" altLang="ko-KR" sz="2200" dirty="0">
                <a:latin typeface="페이퍼로지 7 Bold" pitchFamily="2" charset="-127"/>
                <a:ea typeface="페이퍼로지 7 Bold" pitchFamily="2" charset="-127"/>
              </a:rPr>
              <a:t>Case </a:t>
            </a:r>
            <a:r>
              <a:rPr lang="ko-KR" altLang="en-US" sz="2200" dirty="0">
                <a:latin typeface="페이퍼로지 7 Bold" pitchFamily="2" charset="-127"/>
                <a:ea typeface="페이퍼로지 7 Bold" pitchFamily="2" charset="-127"/>
              </a:rPr>
              <a:t>안에서 이어집니다</a:t>
            </a:r>
          </a:p>
        </p:txBody>
      </p:sp>
      <p:sp>
        <p:nvSpPr>
          <p:cNvPr id="88" name="Google Shape;1066;p16">
            <a:extLst>
              <a:ext uri="{FF2B5EF4-FFF2-40B4-BE49-F238E27FC236}">
                <a16:creationId xmlns:a16="http://schemas.microsoft.com/office/drawing/2014/main" id="{B7FABA24-CC83-4D21-808C-D74CA1DAF9B7}"/>
              </a:ext>
            </a:extLst>
          </p:cNvPr>
          <p:cNvSpPr>
            <a:spLocks noGrp="1"/>
          </p:cNvSpPr>
          <p:nvPr/>
        </p:nvSpPr>
        <p:spPr>
          <a:xfrm>
            <a:off x="530280" y="302381"/>
            <a:ext cx="4062040" cy="1770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950" b="1" u="none" dirty="0">
                <a:latin typeface="페이퍼로지 7 Bold" pitchFamily="2" charset="-127"/>
                <a:ea typeface="페이퍼로지 7 Bold" pitchFamily="2" charset="-127"/>
                <a:cs typeface="Arial"/>
              </a:rPr>
              <a:t>실서비스 적용 시 전체 대응 흐름</a:t>
            </a:r>
          </a:p>
        </p:txBody>
      </p:sp>
      <p:sp>
        <p:nvSpPr>
          <p:cNvPr id="82" name="Google Shape;1104;p16">
            <a:extLst>
              <a:ext uri="{FF2B5EF4-FFF2-40B4-BE49-F238E27FC236}">
                <a16:creationId xmlns:a16="http://schemas.microsoft.com/office/drawing/2014/main" id="{83FE2A31-C351-4088-B3CE-D64C8503A598}"/>
              </a:ext>
            </a:extLst>
          </p:cNvPr>
          <p:cNvSpPr>
            <a:spLocks noGrp="1"/>
          </p:cNvSpPr>
          <p:nvPr/>
        </p:nvSpPr>
        <p:spPr>
          <a:xfrm>
            <a:off x="1033200" y="5805324"/>
            <a:ext cx="10286640" cy="2433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1400" b="1" u="none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확보한 </a:t>
            </a:r>
            <a:r>
              <a:rPr lang="en-US" altLang="ko-KR" sz="1400" b="1" u="none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 </a:t>
            </a:r>
            <a:r>
              <a:rPr lang="ko-KR" altLang="en-US" sz="1400" b="1" u="none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정보와 기존 대응 맥락을 활용해 피해 이후 필요한 절차를 이어서 안내합니다</a:t>
            </a:r>
            <a:r>
              <a:rPr lang="en-US" altLang="ko-KR" sz="1400" b="1" u="none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.</a:t>
            </a:r>
            <a:endParaRPr lang="ko-KR" altLang="en-US" sz="1400" b="0" u="none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61" name="Google Shape;1156;p22">
            <a:extLst>
              <a:ext uri="{FF2B5EF4-FFF2-40B4-BE49-F238E27FC236}">
                <a16:creationId xmlns:a16="http://schemas.microsoft.com/office/drawing/2014/main" id="{0577E10D-8193-41D3-A8F7-85B9782745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50040"/>
          </a:xfrm>
          <a:prstGeom prst="rect">
            <a:avLst/>
          </a:prstGeom>
          <a:solidFill>
            <a:srgbClr val="2D6BFF"/>
          </a:solidFill>
          <a:ln w="12700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8" name="Google Shape;1163;p22">
            <a:extLst>
              <a:ext uri="{FF2B5EF4-FFF2-40B4-BE49-F238E27FC236}">
                <a16:creationId xmlns:a16="http://schemas.microsoft.com/office/drawing/2014/main" id="{4204B3F0-6E88-4CFC-BFE1-1F8C767D60FF}"/>
              </a:ext>
            </a:extLst>
          </p:cNvPr>
          <p:cNvSpPr>
            <a:spLocks noGrp="1"/>
          </p:cNvSpPr>
          <p:nvPr/>
        </p:nvSpPr>
        <p:spPr>
          <a:xfrm>
            <a:off x="595183" y="1524925"/>
            <a:ext cx="1416154" cy="141615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9" name="Google Shape;1164;p22">
            <a:extLst>
              <a:ext uri="{FF2B5EF4-FFF2-40B4-BE49-F238E27FC236}">
                <a16:creationId xmlns:a16="http://schemas.microsoft.com/office/drawing/2014/main" id="{0AC3A67C-0486-460B-B569-7D58A10228E3}"/>
              </a:ext>
            </a:extLst>
          </p:cNvPr>
          <p:cNvSpPr>
            <a:spLocks noGrp="1"/>
          </p:cNvSpPr>
          <p:nvPr/>
        </p:nvSpPr>
        <p:spPr>
          <a:xfrm>
            <a:off x="705860" y="1885096"/>
            <a:ext cx="1194800" cy="2138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DETEC</a:t>
            </a:r>
            <a:r>
              <a:rPr 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T</a:t>
            </a:r>
          </a:p>
        </p:txBody>
      </p:sp>
      <p:sp>
        <p:nvSpPr>
          <p:cNvPr id="870" name="Google Shape;1165;p22">
            <a:extLst>
              <a:ext uri="{FF2B5EF4-FFF2-40B4-BE49-F238E27FC236}">
                <a16:creationId xmlns:a16="http://schemas.microsoft.com/office/drawing/2014/main" id="{636FC65A-6F1A-452A-8202-863C8E415A4B}"/>
              </a:ext>
            </a:extLst>
          </p:cNvPr>
          <p:cNvSpPr>
            <a:spLocks noGrp="1"/>
          </p:cNvSpPr>
          <p:nvPr/>
        </p:nvSpPr>
        <p:spPr>
          <a:xfrm>
            <a:off x="462280" y="3046822"/>
            <a:ext cx="1681960" cy="1843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000" b="1" u="none" dirty="0" err="1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위험신호</a:t>
            </a:r>
            <a:r>
              <a:rPr lang="en-US" sz="1000" b="1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lang="ko-KR" altLang="en-US" sz="1000" b="1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탐지</a:t>
            </a:r>
            <a:endParaRPr sz="1000" b="0" u="none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71" name="Google Shape;1166;p22">
            <a:extLst>
              <a:ext uri="{FF2B5EF4-FFF2-40B4-BE49-F238E27FC236}">
                <a16:creationId xmlns:a16="http://schemas.microsoft.com/office/drawing/2014/main" id="{F1CD80E9-A880-4519-AF41-C08A3D4409E9}"/>
              </a:ext>
            </a:extLst>
          </p:cNvPr>
          <p:cNvSpPr>
            <a:spLocks noGrp="1"/>
          </p:cNvSpPr>
          <p:nvPr/>
        </p:nvSpPr>
        <p:spPr>
          <a:xfrm>
            <a:off x="2771383" y="1524925"/>
            <a:ext cx="1416154" cy="1416154"/>
          </a:xfrm>
          <a:prstGeom prst="ellipse">
            <a:avLst/>
          </a:prstGeom>
          <a:solidFill>
            <a:srgbClr val="0E2746"/>
          </a:solidFill>
          <a:ln w="57150"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2" name="Google Shape;1167;p22">
            <a:extLst>
              <a:ext uri="{FF2B5EF4-FFF2-40B4-BE49-F238E27FC236}">
                <a16:creationId xmlns:a16="http://schemas.microsoft.com/office/drawing/2014/main" id="{71EF3D83-9B1B-4857-BDDB-580ECD508DCA}"/>
              </a:ext>
            </a:extLst>
          </p:cNvPr>
          <p:cNvSpPr>
            <a:spLocks noGrp="1"/>
          </p:cNvSpPr>
          <p:nvPr/>
        </p:nvSpPr>
        <p:spPr>
          <a:xfrm>
            <a:off x="2882061" y="1774689"/>
            <a:ext cx="1194798" cy="2138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</a:t>
            </a:r>
            <a:endParaRPr sz="1200" b="0" u="none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73" name="Google Shape;1168;p22">
            <a:extLst>
              <a:ext uri="{FF2B5EF4-FFF2-40B4-BE49-F238E27FC236}">
                <a16:creationId xmlns:a16="http://schemas.microsoft.com/office/drawing/2014/main" id="{40C3B88E-393C-4A95-AE7E-3378D25F99BF}"/>
              </a:ext>
            </a:extLst>
          </p:cNvPr>
          <p:cNvSpPr>
            <a:spLocks noGrp="1"/>
          </p:cNvSpPr>
          <p:nvPr/>
        </p:nvSpPr>
        <p:spPr>
          <a:xfrm>
            <a:off x="2638483" y="2986553"/>
            <a:ext cx="1681954" cy="3459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1000" b="1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공유 </a:t>
            </a:r>
            <a:r>
              <a:rPr lang="en-US" altLang="ko-KR" sz="1000" b="1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 Room </a:t>
            </a:r>
            <a:r>
              <a:rPr lang="ko-KR" altLang="en-US" sz="1000" b="1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생성</a:t>
            </a:r>
            <a:endParaRPr lang="en-US" altLang="ko-KR" sz="1000" b="1" u="none" dirty="0">
              <a:solidFill>
                <a:srgbClr val="0E2746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lang="en-US" sz="1000" b="1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(</a:t>
            </a:r>
            <a:r>
              <a:rPr lang="ko-KR" altLang="en-US" sz="1000" b="1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제안 서비스</a:t>
            </a:r>
            <a:r>
              <a:rPr lang="en-US" altLang="ko-KR" sz="1000" b="1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)</a:t>
            </a:r>
            <a:endParaRPr sz="1000" b="1" u="none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74" name="Google Shape;1169;p22">
            <a:extLst>
              <a:ext uri="{FF2B5EF4-FFF2-40B4-BE49-F238E27FC236}">
                <a16:creationId xmlns:a16="http://schemas.microsoft.com/office/drawing/2014/main" id="{1A9B916E-5430-429B-A626-5FA983C4BF2E}"/>
              </a:ext>
            </a:extLst>
          </p:cNvPr>
          <p:cNvSpPr>
            <a:spLocks noGrp="1"/>
          </p:cNvSpPr>
          <p:nvPr/>
        </p:nvSpPr>
        <p:spPr>
          <a:xfrm>
            <a:off x="4947583" y="1524925"/>
            <a:ext cx="1416154" cy="1416154"/>
          </a:xfrm>
          <a:prstGeom prst="ellipse">
            <a:avLst/>
          </a:prstGeom>
          <a:solidFill>
            <a:srgbClr val="E29826"/>
          </a:solidFill>
          <a:ln w="12700">
            <a:solidFill>
              <a:srgbClr val="E2982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5" name="Google Shape;1170;p22">
            <a:extLst>
              <a:ext uri="{FF2B5EF4-FFF2-40B4-BE49-F238E27FC236}">
                <a16:creationId xmlns:a16="http://schemas.microsoft.com/office/drawing/2014/main" id="{75C158CD-48A4-46A2-9050-005345443F15}"/>
              </a:ext>
            </a:extLst>
          </p:cNvPr>
          <p:cNvSpPr>
            <a:spLocks noGrp="1"/>
          </p:cNvSpPr>
          <p:nvPr/>
        </p:nvSpPr>
        <p:spPr>
          <a:xfrm>
            <a:off x="5058261" y="1881693"/>
            <a:ext cx="1194798" cy="2138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VERIFY</a:t>
            </a:r>
            <a:endParaRPr sz="1200" b="0" u="none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76" name="Google Shape;1171;p22">
            <a:extLst>
              <a:ext uri="{FF2B5EF4-FFF2-40B4-BE49-F238E27FC236}">
                <a16:creationId xmlns:a16="http://schemas.microsoft.com/office/drawing/2014/main" id="{A133112A-06A1-47EF-B7C1-C85ADE2DC329}"/>
              </a:ext>
            </a:extLst>
          </p:cNvPr>
          <p:cNvSpPr>
            <a:spLocks noGrp="1"/>
          </p:cNvSpPr>
          <p:nvPr/>
        </p:nvSpPr>
        <p:spPr>
          <a:xfrm>
            <a:off x="4820920" y="3064368"/>
            <a:ext cx="1681960" cy="1843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1000" b="1" u="none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고객 확인 </a:t>
            </a:r>
            <a:r>
              <a:rPr lang="en-US" altLang="ko-KR" sz="1000" b="1" u="none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</a:t>
            </a:r>
            <a:r>
              <a:rPr lang="ko-KR" altLang="en-US" sz="1000" b="1" u="none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담당자 검토형 검증</a:t>
            </a:r>
            <a:endParaRPr sz="1000" b="0" u="none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77" name="Google Shape;1172;p22">
            <a:extLst>
              <a:ext uri="{FF2B5EF4-FFF2-40B4-BE49-F238E27FC236}">
                <a16:creationId xmlns:a16="http://schemas.microsoft.com/office/drawing/2014/main" id="{BE052465-F75F-4E00-90FB-61720E256D4B}"/>
              </a:ext>
            </a:extLst>
          </p:cNvPr>
          <p:cNvSpPr>
            <a:spLocks noGrp="1"/>
          </p:cNvSpPr>
          <p:nvPr/>
        </p:nvSpPr>
        <p:spPr>
          <a:xfrm>
            <a:off x="7123783" y="1524925"/>
            <a:ext cx="1416154" cy="1416154"/>
          </a:xfrm>
          <a:prstGeom prst="ellipse">
            <a:avLst/>
          </a:prstGeom>
          <a:solidFill>
            <a:srgbClr val="2B9D74"/>
          </a:solidFill>
          <a:ln w="12700">
            <a:solidFill>
              <a:srgbClr val="2B9D7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8" name="Google Shape;1173;p22">
            <a:extLst>
              <a:ext uri="{FF2B5EF4-FFF2-40B4-BE49-F238E27FC236}">
                <a16:creationId xmlns:a16="http://schemas.microsoft.com/office/drawing/2014/main" id="{C215162C-91BB-438C-B50D-42A45A7B04CE}"/>
              </a:ext>
            </a:extLst>
          </p:cNvPr>
          <p:cNvSpPr>
            <a:spLocks noGrp="1"/>
          </p:cNvSpPr>
          <p:nvPr/>
        </p:nvSpPr>
        <p:spPr>
          <a:xfrm>
            <a:off x="7234461" y="1881693"/>
            <a:ext cx="1194798" cy="2138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PROTECT</a:t>
            </a:r>
            <a:endParaRPr sz="1200" b="0" u="none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79" name="Google Shape;1174;p22">
            <a:extLst>
              <a:ext uri="{FF2B5EF4-FFF2-40B4-BE49-F238E27FC236}">
                <a16:creationId xmlns:a16="http://schemas.microsoft.com/office/drawing/2014/main" id="{785799FC-546E-442E-8DA6-68628048320D}"/>
              </a:ext>
            </a:extLst>
          </p:cNvPr>
          <p:cNvSpPr>
            <a:spLocks noGrp="1"/>
          </p:cNvSpPr>
          <p:nvPr/>
        </p:nvSpPr>
        <p:spPr>
          <a:xfrm>
            <a:off x="6991240" y="3064368"/>
            <a:ext cx="1681960" cy="1843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1000" b="1" u="none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담당자 판단 </a:t>
            </a:r>
            <a:r>
              <a:rPr lang="en-US" altLang="ko-KR" sz="1000" b="1" u="none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</a:t>
            </a:r>
            <a:r>
              <a:rPr lang="ko-KR" altLang="en-US" sz="1000" b="1" u="none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은행 조치</a:t>
            </a:r>
            <a:endParaRPr sz="1000" b="0" u="none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80" name="Google Shape;1175;p22">
            <a:extLst>
              <a:ext uri="{FF2B5EF4-FFF2-40B4-BE49-F238E27FC236}">
                <a16:creationId xmlns:a16="http://schemas.microsoft.com/office/drawing/2014/main" id="{F67BF938-F5DE-4C96-A9C1-405C34C2C854}"/>
              </a:ext>
            </a:extLst>
          </p:cNvPr>
          <p:cNvSpPr>
            <a:spLocks noGrp="1"/>
          </p:cNvSpPr>
          <p:nvPr/>
        </p:nvSpPr>
        <p:spPr>
          <a:xfrm>
            <a:off x="2143880" y="1988547"/>
            <a:ext cx="494960" cy="39783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B89FF"/>
          </a:solidFill>
          <a:ln w="9525">
            <a:solidFill>
              <a:srgbClr val="4B89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1" name="Google Shape;1176;p22">
            <a:extLst>
              <a:ext uri="{FF2B5EF4-FFF2-40B4-BE49-F238E27FC236}">
                <a16:creationId xmlns:a16="http://schemas.microsoft.com/office/drawing/2014/main" id="{38222563-FCE6-40A1-B18B-3A914B93779D}"/>
              </a:ext>
            </a:extLst>
          </p:cNvPr>
          <p:cNvSpPr>
            <a:spLocks noGrp="1"/>
          </p:cNvSpPr>
          <p:nvPr/>
        </p:nvSpPr>
        <p:spPr>
          <a:xfrm>
            <a:off x="4320080" y="1988547"/>
            <a:ext cx="494960" cy="39783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B89FF"/>
          </a:solidFill>
          <a:ln w="9525">
            <a:solidFill>
              <a:srgbClr val="4B89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2" name="Google Shape;1177;p22">
            <a:extLst>
              <a:ext uri="{FF2B5EF4-FFF2-40B4-BE49-F238E27FC236}">
                <a16:creationId xmlns:a16="http://schemas.microsoft.com/office/drawing/2014/main" id="{DE686029-A85D-4692-808D-8034BC189E50}"/>
              </a:ext>
            </a:extLst>
          </p:cNvPr>
          <p:cNvSpPr>
            <a:spLocks noGrp="1"/>
          </p:cNvSpPr>
          <p:nvPr/>
        </p:nvSpPr>
        <p:spPr>
          <a:xfrm>
            <a:off x="6496280" y="1988547"/>
            <a:ext cx="494960" cy="39783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B89FF"/>
          </a:solidFill>
          <a:ln w="9525">
            <a:solidFill>
              <a:srgbClr val="4B89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63" name="Google Shape;1179;p22"/>
          <p:cNvCxnSpPr>
            <a:cxnSpLocks/>
          </p:cNvCxnSpPr>
          <p:nvPr/>
        </p:nvCxnSpPr>
        <p:spPr>
          <a:xfrm>
            <a:off x="9426980" y="2233722"/>
            <a:ext cx="398" cy="71233"/>
          </a:xfrm>
          <a:prstGeom prst="straightConnector1">
            <a:avLst/>
          </a:prstGeom>
          <a:ln w="17775">
            <a:solidFill>
              <a:srgbClr val="D9E3EF"/>
            </a:solidFill>
            <a:miter/>
          </a:ln>
        </p:spPr>
      </p:cxnSp>
      <p:cxnSp>
        <p:nvCxnSpPr>
          <p:cNvPr id="1064" name="Google Shape;1180;p22"/>
          <p:cNvCxnSpPr>
            <a:cxnSpLocks/>
          </p:cNvCxnSpPr>
          <p:nvPr/>
        </p:nvCxnSpPr>
        <p:spPr>
          <a:xfrm>
            <a:off x="9160995" y="1480118"/>
            <a:ext cx="0" cy="1501239"/>
          </a:xfrm>
          <a:prstGeom prst="straightConnector1">
            <a:avLst/>
          </a:prstGeom>
          <a:ln w="17775">
            <a:solidFill>
              <a:srgbClr val="D9E3EF"/>
            </a:solidFill>
            <a:miter/>
          </a:ln>
        </p:spPr>
      </p:cxnSp>
      <p:sp>
        <p:nvSpPr>
          <p:cNvPr id="886" name="Google Shape;1181;p22">
            <a:extLst>
              <a:ext uri="{FF2B5EF4-FFF2-40B4-BE49-F238E27FC236}">
                <a16:creationId xmlns:a16="http://schemas.microsoft.com/office/drawing/2014/main" id="{0EA255E8-0082-4DEB-BF1F-F039AC0D5666}"/>
              </a:ext>
            </a:extLst>
          </p:cNvPr>
          <p:cNvSpPr>
            <a:spLocks noGrp="1"/>
          </p:cNvSpPr>
          <p:nvPr/>
        </p:nvSpPr>
        <p:spPr>
          <a:xfrm>
            <a:off x="9344439" y="1154471"/>
            <a:ext cx="2213122" cy="840542"/>
          </a:xfrm>
          <a:prstGeom prst="roundRect">
            <a:avLst>
              <a:gd name="adj" fmla="val 8000"/>
            </a:avLst>
          </a:prstGeom>
          <a:solidFill>
            <a:srgbClr val="E8F8F1"/>
          </a:solidFill>
          <a:ln w="12700">
            <a:solidFill>
              <a:srgbClr val="E8F8F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87" name="Google Shape;1182;p22">
            <a:extLst>
              <a:ext uri="{FF2B5EF4-FFF2-40B4-BE49-F238E27FC236}">
                <a16:creationId xmlns:a16="http://schemas.microsoft.com/office/drawing/2014/main" id="{A68EA654-7295-4235-BBE6-ACD74D6F8CEC}"/>
              </a:ext>
            </a:extLst>
          </p:cNvPr>
          <p:cNvSpPr>
            <a:spLocks noGrp="1"/>
          </p:cNvSpPr>
          <p:nvPr/>
        </p:nvSpPr>
        <p:spPr>
          <a:xfrm>
            <a:off x="9521750" y="1394851"/>
            <a:ext cx="1858860" cy="1843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000" b="1" u="none" dirty="0" err="1">
                <a:solidFill>
                  <a:srgbClr val="2B9D74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피해</a:t>
            </a:r>
            <a:r>
              <a:rPr sz="1000" b="1" u="none" dirty="0">
                <a:solidFill>
                  <a:srgbClr val="2B9D74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lang="ko-KR" altLang="en-US" sz="1000" b="1" u="none" dirty="0">
                <a:solidFill>
                  <a:srgbClr val="2B9D74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없음 → 종결</a:t>
            </a:r>
            <a:r>
              <a:rPr lang="en-US" altLang="ko-KR" sz="1000" b="1" u="none" dirty="0">
                <a:solidFill>
                  <a:srgbClr val="2B9D74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 </a:t>
            </a:r>
            <a:r>
              <a:rPr lang="ko-KR" altLang="en-US" sz="1000" b="1" u="none" dirty="0">
                <a:solidFill>
                  <a:srgbClr val="2B9D74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보고서화</a:t>
            </a:r>
            <a:endParaRPr sz="1000" b="0" u="none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88" name="Google Shape;1183;p22">
            <a:extLst>
              <a:ext uri="{FF2B5EF4-FFF2-40B4-BE49-F238E27FC236}">
                <a16:creationId xmlns:a16="http://schemas.microsoft.com/office/drawing/2014/main" id="{D0B070CA-BD6B-4BD4-8E05-5E5A55D34C12}"/>
              </a:ext>
            </a:extLst>
          </p:cNvPr>
          <p:cNvSpPr>
            <a:spLocks noGrp="1"/>
          </p:cNvSpPr>
          <p:nvPr/>
        </p:nvSpPr>
        <p:spPr>
          <a:xfrm>
            <a:off x="9521746" y="1621719"/>
            <a:ext cx="1858868" cy="1843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 CLOSED</a:t>
            </a:r>
            <a:endParaRPr sz="1000" b="0" u="none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89" name="Google Shape;1184;p22">
            <a:extLst>
              <a:ext uri="{FF2B5EF4-FFF2-40B4-BE49-F238E27FC236}">
                <a16:creationId xmlns:a16="http://schemas.microsoft.com/office/drawing/2014/main" id="{026643AE-828C-40E5-A2AF-66217FB66BF7}"/>
              </a:ext>
            </a:extLst>
          </p:cNvPr>
          <p:cNvSpPr>
            <a:spLocks noGrp="1"/>
          </p:cNvSpPr>
          <p:nvPr/>
        </p:nvSpPr>
        <p:spPr>
          <a:xfrm>
            <a:off x="9344439" y="2501917"/>
            <a:ext cx="2213122" cy="907210"/>
          </a:xfrm>
          <a:prstGeom prst="roundRect">
            <a:avLst>
              <a:gd name="adj" fmla="val 8000"/>
            </a:avLst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90" name="Google Shape;1185;p22">
            <a:extLst>
              <a:ext uri="{FF2B5EF4-FFF2-40B4-BE49-F238E27FC236}">
                <a16:creationId xmlns:a16="http://schemas.microsoft.com/office/drawing/2014/main" id="{3AA23518-CF82-45C5-B35A-0EBD9EB8D83E}"/>
              </a:ext>
            </a:extLst>
          </p:cNvPr>
          <p:cNvSpPr>
            <a:spLocks noGrp="1"/>
          </p:cNvSpPr>
          <p:nvPr/>
        </p:nvSpPr>
        <p:spPr>
          <a:xfrm>
            <a:off x="9521750" y="2757091"/>
            <a:ext cx="1858860" cy="1843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000" b="1" u="none" dirty="0" err="1">
                <a:solidFill>
                  <a:srgbClr val="DE4444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피해</a:t>
            </a:r>
            <a:r>
              <a:rPr sz="1000" b="1" u="none" dirty="0">
                <a:solidFill>
                  <a:srgbClr val="DE4444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sz="1000" b="1" u="none" dirty="0" err="1">
                <a:solidFill>
                  <a:srgbClr val="DE4444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발생</a:t>
            </a:r>
            <a:r>
              <a:rPr lang="en-US" sz="1000" b="1" u="none" dirty="0">
                <a:solidFill>
                  <a:srgbClr val="DE4444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lang="ko-KR" altLang="en-US" sz="1000" b="1" u="none" dirty="0">
                <a:solidFill>
                  <a:srgbClr val="DE4444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후 → </a:t>
            </a:r>
            <a:r>
              <a:rPr lang="en-US" altLang="ko-KR" sz="1000" b="1" u="none" dirty="0">
                <a:solidFill>
                  <a:srgbClr val="DE4444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112, </a:t>
            </a:r>
            <a:r>
              <a:rPr lang="ko-KR" altLang="en-US" sz="1000" b="1" u="none" dirty="0">
                <a:solidFill>
                  <a:srgbClr val="DE4444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구제 지원</a:t>
            </a:r>
            <a:endParaRPr sz="1000" b="0" u="none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91" name="Google Shape;1186;p22">
            <a:extLst>
              <a:ext uri="{FF2B5EF4-FFF2-40B4-BE49-F238E27FC236}">
                <a16:creationId xmlns:a16="http://schemas.microsoft.com/office/drawing/2014/main" id="{F4811D0B-EC6C-4678-B264-0EBC3C7A3ED6}"/>
              </a:ext>
            </a:extLst>
          </p:cNvPr>
          <p:cNvSpPr>
            <a:spLocks noGrp="1"/>
          </p:cNvSpPr>
          <p:nvPr/>
        </p:nvSpPr>
        <p:spPr>
          <a:xfrm>
            <a:off x="9521746" y="3002679"/>
            <a:ext cx="1858868" cy="1843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000" b="1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RECOVERY MODE</a:t>
            </a:r>
            <a:endParaRPr sz="1000" b="0" u="none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92" name="Google Shape;1187;p22">
            <a:extLst>
              <a:ext uri="{FF2B5EF4-FFF2-40B4-BE49-F238E27FC236}">
                <a16:creationId xmlns:a16="http://schemas.microsoft.com/office/drawing/2014/main" id="{CA6B10C2-D50E-4227-84D6-1E427EFC6BE4}"/>
              </a:ext>
            </a:extLst>
          </p:cNvPr>
          <p:cNvSpPr>
            <a:spLocks noGrp="1"/>
          </p:cNvSpPr>
          <p:nvPr/>
        </p:nvSpPr>
        <p:spPr>
          <a:xfrm>
            <a:off x="627040" y="3687868"/>
            <a:ext cx="5376240" cy="1616190"/>
          </a:xfrm>
          <a:prstGeom prst="roundRect">
            <a:avLst>
              <a:gd name="adj" fmla="val 8000"/>
            </a:avLst>
          </a:prstGeom>
          <a:solidFill>
            <a:srgbClr val="113052"/>
          </a:solidFill>
          <a:ln w="12700">
            <a:solidFill>
              <a:srgbClr val="D9E3E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93" name="Google Shape;1188;p22">
            <a:extLst>
              <a:ext uri="{FF2B5EF4-FFF2-40B4-BE49-F238E27FC236}">
                <a16:creationId xmlns:a16="http://schemas.microsoft.com/office/drawing/2014/main" id="{D7EAC76C-8636-48CB-B04F-5CDEA9BF9390}"/>
              </a:ext>
            </a:extLst>
          </p:cNvPr>
          <p:cNvSpPr>
            <a:spLocks noGrp="1"/>
          </p:cNvSpPr>
          <p:nvPr/>
        </p:nvSpPr>
        <p:spPr>
          <a:xfrm>
            <a:off x="846280" y="3869758"/>
            <a:ext cx="1005480" cy="310680"/>
          </a:xfrm>
          <a:prstGeom prst="roundRect">
            <a:avLst>
              <a:gd name="adj" fmla="val 8000"/>
            </a:avLst>
          </a:prstGeom>
          <a:solidFill>
            <a:srgbClr val="EEF6FF"/>
          </a:solidFill>
          <a:ln w="12700">
            <a:solidFill>
              <a:srgbClr val="EEF6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94" name="Google Shape;1189;p22">
            <a:extLst>
              <a:ext uri="{FF2B5EF4-FFF2-40B4-BE49-F238E27FC236}">
                <a16:creationId xmlns:a16="http://schemas.microsoft.com/office/drawing/2014/main" id="{5303C889-C7E3-47AD-823E-69C5F6F8B76F}"/>
              </a:ext>
            </a:extLst>
          </p:cNvPr>
          <p:cNvSpPr>
            <a:spLocks noGrp="1"/>
          </p:cNvSpPr>
          <p:nvPr/>
        </p:nvSpPr>
        <p:spPr>
          <a:xfrm>
            <a:off x="846280" y="3959065"/>
            <a:ext cx="1005480" cy="1520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780" b="1" u="none" dirty="0">
                <a:solidFill>
                  <a:srgbClr val="2D6B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PREVENT</a:t>
            </a:r>
            <a:endParaRPr sz="780" b="0" u="none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95" name="Google Shape;1190;p22">
            <a:extLst>
              <a:ext uri="{FF2B5EF4-FFF2-40B4-BE49-F238E27FC236}">
                <a16:creationId xmlns:a16="http://schemas.microsoft.com/office/drawing/2014/main" id="{7D85169B-4C6D-483B-B80A-8DE00D0698C0}"/>
              </a:ext>
            </a:extLst>
          </p:cNvPr>
          <p:cNvSpPr>
            <a:spLocks noGrp="1"/>
          </p:cNvSpPr>
          <p:nvPr/>
        </p:nvSpPr>
        <p:spPr>
          <a:xfrm>
            <a:off x="864640" y="4327948"/>
            <a:ext cx="164160" cy="191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•</a:t>
            </a:r>
            <a:endParaRPr sz="1050" b="0" u="none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96" name="Google Shape;1191;p22">
            <a:extLst>
              <a:ext uri="{FF2B5EF4-FFF2-40B4-BE49-F238E27FC236}">
                <a16:creationId xmlns:a16="http://schemas.microsoft.com/office/drawing/2014/main" id="{6E99AE45-569C-4D15-8228-27D1196A6838}"/>
              </a:ext>
            </a:extLst>
          </p:cNvPr>
          <p:cNvSpPr>
            <a:spLocks noGrp="1"/>
          </p:cNvSpPr>
          <p:nvPr/>
        </p:nvSpPr>
        <p:spPr>
          <a:xfrm>
            <a:off x="1074880" y="4327948"/>
            <a:ext cx="1728360" cy="190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송금</a:t>
            </a:r>
            <a:r>
              <a:rPr lang="en-US" altLang="ko-KR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이체 중단 및 추가 확인</a:t>
            </a:r>
          </a:p>
        </p:txBody>
      </p:sp>
      <p:sp>
        <p:nvSpPr>
          <p:cNvPr id="897" name="Google Shape;1192;p22">
            <a:extLst>
              <a:ext uri="{FF2B5EF4-FFF2-40B4-BE49-F238E27FC236}">
                <a16:creationId xmlns:a16="http://schemas.microsoft.com/office/drawing/2014/main" id="{27D94740-B7DC-4775-B745-256B91621404}"/>
              </a:ext>
            </a:extLst>
          </p:cNvPr>
          <p:cNvSpPr>
            <a:spLocks noGrp="1"/>
          </p:cNvSpPr>
          <p:nvPr/>
        </p:nvSpPr>
        <p:spPr>
          <a:xfrm>
            <a:off x="864640" y="4611628"/>
            <a:ext cx="164160" cy="191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•</a:t>
            </a:r>
            <a:endParaRPr sz="1050" b="0" u="none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98" name="Google Shape;1193;p22">
            <a:extLst>
              <a:ext uri="{FF2B5EF4-FFF2-40B4-BE49-F238E27FC236}">
                <a16:creationId xmlns:a16="http://schemas.microsoft.com/office/drawing/2014/main" id="{2650DC5D-B8EF-497E-9C3B-F822A1EB55ED}"/>
              </a:ext>
            </a:extLst>
          </p:cNvPr>
          <p:cNvSpPr>
            <a:spLocks noGrp="1"/>
          </p:cNvSpPr>
          <p:nvPr/>
        </p:nvSpPr>
        <p:spPr>
          <a:xfrm>
            <a:off x="1074880" y="4611628"/>
            <a:ext cx="1728360" cy="190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고객 상황</a:t>
            </a:r>
            <a:r>
              <a:rPr lang="en-US" altLang="ko-KR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통화 맥락 확인</a:t>
            </a:r>
            <a:endParaRPr sz="10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899" name="Google Shape;1194;p22">
            <a:extLst>
              <a:ext uri="{FF2B5EF4-FFF2-40B4-BE49-F238E27FC236}">
                <a16:creationId xmlns:a16="http://schemas.microsoft.com/office/drawing/2014/main" id="{B9E377BA-86B8-46E7-A875-12BFB97DE8BF}"/>
              </a:ext>
            </a:extLst>
          </p:cNvPr>
          <p:cNvSpPr>
            <a:spLocks noGrp="1"/>
          </p:cNvSpPr>
          <p:nvPr/>
        </p:nvSpPr>
        <p:spPr>
          <a:xfrm>
            <a:off x="864640" y="4894948"/>
            <a:ext cx="164160" cy="191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•</a:t>
            </a:r>
            <a:endParaRPr sz="1050" b="0" u="none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900" name="Google Shape;1195;p22">
            <a:extLst>
              <a:ext uri="{FF2B5EF4-FFF2-40B4-BE49-F238E27FC236}">
                <a16:creationId xmlns:a16="http://schemas.microsoft.com/office/drawing/2014/main" id="{CF3384D2-DA9A-4CAF-AA6F-B304C212AA51}"/>
              </a:ext>
            </a:extLst>
          </p:cNvPr>
          <p:cNvSpPr>
            <a:spLocks noGrp="1"/>
          </p:cNvSpPr>
          <p:nvPr/>
        </p:nvSpPr>
        <p:spPr>
          <a:xfrm>
            <a:off x="1074880" y="4894948"/>
            <a:ext cx="1728360" cy="190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altLang="en-US" sz="1000" b="0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고객 설득 및 안전행동 안내</a:t>
            </a:r>
            <a:endParaRPr lang="ko-KR" altLang="en-US" sz="10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901" name="Google Shape;1196;p22">
            <a:extLst>
              <a:ext uri="{FF2B5EF4-FFF2-40B4-BE49-F238E27FC236}">
                <a16:creationId xmlns:a16="http://schemas.microsoft.com/office/drawing/2014/main" id="{6CD36DB3-56E9-4565-92B2-2AD349910790}"/>
              </a:ext>
            </a:extLst>
          </p:cNvPr>
          <p:cNvSpPr>
            <a:spLocks noGrp="1"/>
          </p:cNvSpPr>
          <p:nvPr/>
        </p:nvSpPr>
        <p:spPr>
          <a:xfrm>
            <a:off x="6190000" y="3695994"/>
            <a:ext cx="5312160" cy="1616190"/>
          </a:xfrm>
          <a:prstGeom prst="roundRect">
            <a:avLst>
              <a:gd name="adj" fmla="val 8000"/>
            </a:avLst>
          </a:prstGeom>
          <a:solidFill>
            <a:srgbClr val="113052"/>
          </a:solidFill>
          <a:ln w="12700">
            <a:solidFill>
              <a:srgbClr val="D9E3E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902" name="Google Shape;1197;p22">
            <a:extLst>
              <a:ext uri="{FF2B5EF4-FFF2-40B4-BE49-F238E27FC236}">
                <a16:creationId xmlns:a16="http://schemas.microsoft.com/office/drawing/2014/main" id="{9B64ED68-DED7-4653-8AC1-67508613C783}"/>
              </a:ext>
            </a:extLst>
          </p:cNvPr>
          <p:cNvSpPr>
            <a:spLocks noGrp="1"/>
          </p:cNvSpPr>
          <p:nvPr/>
        </p:nvSpPr>
        <p:spPr>
          <a:xfrm>
            <a:off x="6451840" y="3869758"/>
            <a:ext cx="1096920" cy="310680"/>
          </a:xfrm>
          <a:prstGeom prst="roundRect">
            <a:avLst>
              <a:gd name="adj" fmla="val 8000"/>
            </a:avLst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903" name="Google Shape;1198;p22">
            <a:extLst>
              <a:ext uri="{FF2B5EF4-FFF2-40B4-BE49-F238E27FC236}">
                <a16:creationId xmlns:a16="http://schemas.microsoft.com/office/drawing/2014/main" id="{EAD70A4B-746D-4BD8-8886-2225E3EAD234}"/>
              </a:ext>
            </a:extLst>
          </p:cNvPr>
          <p:cNvSpPr>
            <a:spLocks noGrp="1"/>
          </p:cNvSpPr>
          <p:nvPr/>
        </p:nvSpPr>
        <p:spPr>
          <a:xfrm>
            <a:off x="6451840" y="3959065"/>
            <a:ext cx="1096920" cy="1520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780" b="1" u="none" dirty="0">
                <a:solidFill>
                  <a:srgbClr val="DE4444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RECOVERY</a:t>
            </a:r>
            <a:endParaRPr sz="780" b="0" u="none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904" name="Google Shape;1199;p22">
            <a:extLst>
              <a:ext uri="{FF2B5EF4-FFF2-40B4-BE49-F238E27FC236}">
                <a16:creationId xmlns:a16="http://schemas.microsoft.com/office/drawing/2014/main" id="{E8B41C23-B1E1-44A3-B129-85FB8FFD5A8F}"/>
              </a:ext>
            </a:extLst>
          </p:cNvPr>
          <p:cNvSpPr>
            <a:spLocks noGrp="1"/>
          </p:cNvSpPr>
          <p:nvPr/>
        </p:nvSpPr>
        <p:spPr>
          <a:xfrm>
            <a:off x="6469840" y="4327948"/>
            <a:ext cx="164160" cy="191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•</a:t>
            </a:r>
            <a:endParaRPr sz="1050" b="0" u="none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905" name="Google Shape;1200;p22">
            <a:extLst>
              <a:ext uri="{FF2B5EF4-FFF2-40B4-BE49-F238E27FC236}">
                <a16:creationId xmlns:a16="http://schemas.microsoft.com/office/drawing/2014/main" id="{EF8B63FD-F896-484D-9268-045508BCD91F}"/>
              </a:ext>
            </a:extLst>
          </p:cNvPr>
          <p:cNvSpPr>
            <a:spLocks noGrp="1"/>
          </p:cNvSpPr>
          <p:nvPr/>
        </p:nvSpPr>
        <p:spPr>
          <a:xfrm>
            <a:off x="6680440" y="4327948"/>
            <a:ext cx="1903523" cy="190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altLang="en-US" sz="1000" b="0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지급정지</a:t>
            </a:r>
            <a:r>
              <a:rPr lang="en-US" altLang="ko-KR" sz="1000" b="0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000" b="0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추가 자금이동 차단</a:t>
            </a:r>
            <a:endParaRPr sz="10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906" name="Google Shape;1201;p22">
            <a:extLst>
              <a:ext uri="{FF2B5EF4-FFF2-40B4-BE49-F238E27FC236}">
                <a16:creationId xmlns:a16="http://schemas.microsoft.com/office/drawing/2014/main" id="{FBDB43CA-A2EF-4C14-ACCA-8E55AA632A75}"/>
              </a:ext>
            </a:extLst>
          </p:cNvPr>
          <p:cNvSpPr>
            <a:spLocks noGrp="1"/>
          </p:cNvSpPr>
          <p:nvPr/>
        </p:nvSpPr>
        <p:spPr>
          <a:xfrm>
            <a:off x="6469840" y="4611628"/>
            <a:ext cx="164160" cy="191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•</a:t>
            </a:r>
            <a:endParaRPr sz="1050" b="0" u="none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907" name="Google Shape;1202;p22">
            <a:extLst>
              <a:ext uri="{FF2B5EF4-FFF2-40B4-BE49-F238E27FC236}">
                <a16:creationId xmlns:a16="http://schemas.microsoft.com/office/drawing/2014/main" id="{F047C2BE-EAB4-4DC5-A4AC-4B8DA81A0559}"/>
              </a:ext>
            </a:extLst>
          </p:cNvPr>
          <p:cNvSpPr>
            <a:spLocks noGrp="1"/>
          </p:cNvSpPr>
          <p:nvPr/>
        </p:nvSpPr>
        <p:spPr>
          <a:xfrm>
            <a:off x="6680440" y="4611628"/>
            <a:ext cx="1903523" cy="190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ko-KR" sz="1000" b="0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112 </a:t>
            </a:r>
            <a:r>
              <a:rPr lang="ko-KR" altLang="en-US" sz="1000" b="0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신고 및 사건 접수 지원</a:t>
            </a:r>
            <a:endParaRPr sz="10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908" name="Google Shape;1203;p22">
            <a:extLst>
              <a:ext uri="{FF2B5EF4-FFF2-40B4-BE49-F238E27FC236}">
                <a16:creationId xmlns:a16="http://schemas.microsoft.com/office/drawing/2014/main" id="{D2F2128F-BBCE-485A-B1A6-3D8C71731811}"/>
              </a:ext>
            </a:extLst>
          </p:cNvPr>
          <p:cNvSpPr>
            <a:spLocks noGrp="1"/>
          </p:cNvSpPr>
          <p:nvPr/>
        </p:nvSpPr>
        <p:spPr>
          <a:xfrm>
            <a:off x="6469840" y="4894948"/>
            <a:ext cx="164160" cy="191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•</a:t>
            </a:r>
            <a:endParaRPr sz="1050" b="0" u="none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909" name="Google Shape;1204;p22">
            <a:extLst>
              <a:ext uri="{FF2B5EF4-FFF2-40B4-BE49-F238E27FC236}">
                <a16:creationId xmlns:a16="http://schemas.microsoft.com/office/drawing/2014/main" id="{796CF3EB-BE98-4103-A73C-8DC313B7FE83}"/>
              </a:ext>
            </a:extLst>
          </p:cNvPr>
          <p:cNvSpPr>
            <a:spLocks noGrp="1"/>
          </p:cNvSpPr>
          <p:nvPr/>
        </p:nvSpPr>
        <p:spPr>
          <a:xfrm>
            <a:off x="6680440" y="4894948"/>
            <a:ext cx="1903523" cy="190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altLang="en-US" sz="1000" b="0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피해구제 절차 안내</a:t>
            </a:r>
            <a:r>
              <a:rPr lang="en-US" altLang="ko-KR" sz="1000" b="0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000" b="0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신청 지원</a:t>
            </a:r>
            <a:endParaRPr sz="1000" b="0" u="none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58" name="Google Shape;1164;p22">
            <a:extLst>
              <a:ext uri="{FF2B5EF4-FFF2-40B4-BE49-F238E27FC236}">
                <a16:creationId xmlns:a16="http://schemas.microsoft.com/office/drawing/2014/main" id="{90DE528D-A9A8-4F2E-AE1F-E6FF9460E4FC}"/>
              </a:ext>
            </a:extLst>
          </p:cNvPr>
          <p:cNvSpPr>
            <a:spLocks noGrp="1"/>
          </p:cNvSpPr>
          <p:nvPr/>
        </p:nvSpPr>
        <p:spPr>
          <a:xfrm>
            <a:off x="705861" y="2176045"/>
            <a:ext cx="1194798" cy="5075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tabLst>
                <a:tab pos="0" algn="l"/>
              </a:tabLst>
            </a:pP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통화 위험신호</a:t>
            </a:r>
            <a:endParaRPr lang="en-US" altLang="ko-KR" sz="1000" u="none" dirty="0">
              <a:solidFill>
                <a:srgbClr val="FFFFFF"/>
              </a:solidFill>
              <a:latin typeface="페이퍼로지 4 Regular" pitchFamily="2" charset="-127"/>
              <a:ea typeface="페이퍼로지 4 Regular" pitchFamily="2" charset="-127"/>
              <a:cs typeface="Arial"/>
            </a:endParaRPr>
          </a:p>
          <a:p>
            <a:pPr algn="ctr">
              <a:lnSpc>
                <a:spcPct val="105000"/>
              </a:lnSpc>
              <a:tabLst>
                <a:tab pos="0" algn="l"/>
              </a:tabLst>
            </a:pP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고객 긴급요청</a:t>
            </a:r>
            <a:endParaRPr lang="en-US" altLang="ko-KR" sz="1000" u="none" dirty="0">
              <a:solidFill>
                <a:srgbClr val="FFFFFF"/>
              </a:solidFill>
              <a:latin typeface="페이퍼로지 4 Regular" pitchFamily="2" charset="-127"/>
              <a:ea typeface="페이퍼로지 4 Regular" pitchFamily="2" charset="-127"/>
              <a:cs typeface="Arial"/>
            </a:endParaRPr>
          </a:p>
          <a:p>
            <a:pPr algn="ctr">
              <a:lnSpc>
                <a:spcPct val="105000"/>
              </a:lnSpc>
              <a:tabLst>
                <a:tab pos="0" algn="l"/>
              </a:tabLst>
            </a:pPr>
            <a:r>
              <a:rPr lang="en-US" altLang="ko-KR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FDS Alert</a:t>
            </a:r>
          </a:p>
        </p:txBody>
      </p:sp>
      <p:sp>
        <p:nvSpPr>
          <p:cNvPr id="61" name="Google Shape;1164;p22">
            <a:extLst>
              <a:ext uri="{FF2B5EF4-FFF2-40B4-BE49-F238E27FC236}">
                <a16:creationId xmlns:a16="http://schemas.microsoft.com/office/drawing/2014/main" id="{9925E005-3EEE-4A5B-9E20-14F38E7F1EE2}"/>
              </a:ext>
            </a:extLst>
          </p:cNvPr>
          <p:cNvSpPr>
            <a:spLocks noGrp="1"/>
          </p:cNvSpPr>
          <p:nvPr/>
        </p:nvSpPr>
        <p:spPr>
          <a:xfrm>
            <a:off x="5058261" y="2176045"/>
            <a:ext cx="1194798" cy="5075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tabLst>
                <a:tab pos="0" algn="l"/>
              </a:tabLst>
            </a:pP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직원용 </a:t>
            </a:r>
            <a:r>
              <a:rPr lang="en-US" altLang="ko-KR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AI </a:t>
            </a: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브리프</a:t>
            </a:r>
            <a:endParaRPr lang="en-US" altLang="ko-KR" sz="1000" u="none" dirty="0">
              <a:solidFill>
                <a:srgbClr val="FFFFFF"/>
              </a:solidFill>
              <a:latin typeface="페이퍼로지 4 Regular" pitchFamily="2" charset="-127"/>
              <a:ea typeface="페이퍼로지 4 Regular" pitchFamily="2" charset="-127"/>
              <a:cs typeface="Arial"/>
            </a:endParaRPr>
          </a:p>
          <a:p>
            <a:pPr algn="ctr">
              <a:lnSpc>
                <a:spcPct val="105000"/>
              </a:lnSpc>
              <a:tabLst>
                <a:tab pos="0" algn="l"/>
              </a:tabLst>
            </a:pP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고객용 </a:t>
            </a:r>
            <a:r>
              <a:rPr lang="en-US" altLang="ko-KR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AI </a:t>
            </a: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챗봇</a:t>
            </a:r>
          </a:p>
          <a:p>
            <a:pPr algn="ctr">
              <a:lnSpc>
                <a:spcPct val="105000"/>
              </a:lnSpc>
              <a:tabLst>
                <a:tab pos="0" algn="l"/>
              </a:tabLst>
            </a:pP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정보 확인</a:t>
            </a:r>
            <a:r>
              <a:rPr lang="en-US" altLang="ko-KR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/</a:t>
            </a: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검증</a:t>
            </a:r>
            <a:endParaRPr lang="en-US" altLang="ko-KR" sz="1000" u="none" dirty="0">
              <a:solidFill>
                <a:srgbClr val="FFFFFF"/>
              </a:solidFill>
              <a:latin typeface="페이퍼로지 4 Regular" pitchFamily="2" charset="-127"/>
              <a:ea typeface="페이퍼로지 4 Regular" pitchFamily="2" charset="-127"/>
              <a:cs typeface="Arial"/>
            </a:endParaRPr>
          </a:p>
        </p:txBody>
      </p:sp>
      <p:sp>
        <p:nvSpPr>
          <p:cNvPr id="64" name="Google Shape;1164;p22">
            <a:extLst>
              <a:ext uri="{FF2B5EF4-FFF2-40B4-BE49-F238E27FC236}">
                <a16:creationId xmlns:a16="http://schemas.microsoft.com/office/drawing/2014/main" id="{D7B94862-FC46-4B17-A746-247232A47404}"/>
              </a:ext>
            </a:extLst>
          </p:cNvPr>
          <p:cNvSpPr>
            <a:spLocks noGrp="1"/>
          </p:cNvSpPr>
          <p:nvPr/>
        </p:nvSpPr>
        <p:spPr>
          <a:xfrm>
            <a:off x="2891061" y="2057058"/>
            <a:ext cx="1194798" cy="669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tabLst>
                <a:tab pos="0" algn="l"/>
              </a:tabLst>
            </a:pP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고객</a:t>
            </a:r>
            <a:r>
              <a:rPr lang="en-US" altLang="ko-KR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·</a:t>
            </a: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은행 공동</a:t>
            </a:r>
            <a:endParaRPr lang="en-US" altLang="ko-KR" sz="1000" u="none" dirty="0">
              <a:solidFill>
                <a:srgbClr val="FFFFFF"/>
              </a:solidFill>
              <a:latin typeface="페이퍼로지 4 Regular" pitchFamily="2" charset="-127"/>
              <a:ea typeface="페이퍼로지 4 Regular" pitchFamily="2" charset="-127"/>
              <a:cs typeface="Arial"/>
            </a:endParaRPr>
          </a:p>
          <a:p>
            <a:pPr algn="ctr">
              <a:lnSpc>
                <a:spcPct val="105000"/>
              </a:lnSpc>
              <a:tabLst>
                <a:tab pos="0" algn="l"/>
              </a:tabLst>
            </a:pPr>
            <a:r>
              <a:rPr lang="en-US" altLang="ko-KR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Case Room</a:t>
            </a:r>
          </a:p>
          <a:p>
            <a:pPr algn="ctr">
              <a:lnSpc>
                <a:spcPct val="105000"/>
              </a:lnSpc>
              <a:tabLst>
                <a:tab pos="0" algn="l"/>
              </a:tabLst>
            </a:pP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확인 정보</a:t>
            </a:r>
            <a:r>
              <a:rPr lang="en-US" altLang="ko-KR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·</a:t>
            </a: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대응</a:t>
            </a:r>
            <a:endParaRPr lang="en-US" altLang="ko-KR" sz="1000" u="none" dirty="0">
              <a:solidFill>
                <a:srgbClr val="FFFFFF"/>
              </a:solidFill>
              <a:latin typeface="페이퍼로지 4 Regular" pitchFamily="2" charset="-127"/>
              <a:ea typeface="페이퍼로지 4 Regular" pitchFamily="2" charset="-127"/>
              <a:cs typeface="Arial"/>
            </a:endParaRPr>
          </a:p>
          <a:p>
            <a:pPr algn="ctr">
              <a:lnSpc>
                <a:spcPct val="105000"/>
              </a:lnSpc>
              <a:tabLst>
                <a:tab pos="0" algn="l"/>
              </a:tabLst>
            </a:pP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기록 축적</a:t>
            </a:r>
            <a:endParaRPr lang="en-US" altLang="ko-KR" sz="1000" u="none" dirty="0">
              <a:solidFill>
                <a:srgbClr val="FFFFFF"/>
              </a:solidFill>
              <a:latin typeface="페이퍼로지 4 Regular" pitchFamily="2" charset="-127"/>
              <a:ea typeface="페이퍼로지 4 Regular" pitchFamily="2" charset="-127"/>
              <a:cs typeface="Arial"/>
            </a:endParaRPr>
          </a:p>
        </p:txBody>
      </p:sp>
      <p:sp>
        <p:nvSpPr>
          <p:cNvPr id="65" name="Google Shape;1164;p22">
            <a:extLst>
              <a:ext uri="{FF2B5EF4-FFF2-40B4-BE49-F238E27FC236}">
                <a16:creationId xmlns:a16="http://schemas.microsoft.com/office/drawing/2014/main" id="{83E435F4-2754-4C49-847D-5EA529C41978}"/>
              </a:ext>
            </a:extLst>
          </p:cNvPr>
          <p:cNvSpPr>
            <a:spLocks noGrp="1"/>
          </p:cNvSpPr>
          <p:nvPr/>
        </p:nvSpPr>
        <p:spPr>
          <a:xfrm>
            <a:off x="7234461" y="2176045"/>
            <a:ext cx="1194798" cy="5075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tabLst>
                <a:tab pos="0" algn="l"/>
              </a:tabLst>
            </a:pP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고객 설득</a:t>
            </a:r>
            <a:r>
              <a:rPr lang="en-US" altLang="ko-KR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, </a:t>
            </a: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피해방지</a:t>
            </a:r>
            <a:endParaRPr lang="en-US" altLang="ko-KR" sz="1000" u="none" dirty="0">
              <a:solidFill>
                <a:srgbClr val="FFFFFF"/>
              </a:solidFill>
              <a:latin typeface="페이퍼로지 4 Regular" pitchFamily="2" charset="-127"/>
              <a:ea typeface="페이퍼로지 4 Regular" pitchFamily="2" charset="-127"/>
              <a:cs typeface="Arial"/>
            </a:endParaRPr>
          </a:p>
          <a:p>
            <a:pPr algn="ctr">
              <a:lnSpc>
                <a:spcPct val="105000"/>
              </a:lnSpc>
              <a:tabLst>
                <a:tab pos="0" algn="l"/>
              </a:tabLst>
            </a:pP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경찰 수사 요청</a:t>
            </a:r>
            <a:endParaRPr lang="en-US" altLang="ko-KR" sz="1000" dirty="0">
              <a:solidFill>
                <a:srgbClr val="FFFFFF"/>
              </a:solidFill>
              <a:latin typeface="페이퍼로지 4 Regular" pitchFamily="2" charset="-127"/>
              <a:ea typeface="페이퍼로지 4 Regular" pitchFamily="2" charset="-127"/>
              <a:cs typeface="Arial"/>
            </a:endParaRPr>
          </a:p>
          <a:p>
            <a:pPr algn="ctr">
              <a:lnSpc>
                <a:spcPct val="105000"/>
              </a:lnSpc>
              <a:tabLst>
                <a:tab pos="0" algn="l"/>
              </a:tabLst>
            </a:pPr>
            <a:r>
              <a:rPr lang="ko-KR" altLang="en-US" sz="1000" u="none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사후 지원</a:t>
            </a:r>
            <a:endParaRPr lang="en-US" altLang="ko-KR" sz="1000" u="none" dirty="0">
              <a:solidFill>
                <a:srgbClr val="FFFFFF"/>
              </a:solidFill>
              <a:latin typeface="페이퍼로지 4 Regular" pitchFamily="2" charset="-127"/>
              <a:ea typeface="페이퍼로지 4 Regular" pitchFamily="2" charset="-127"/>
              <a:cs typeface="Arial"/>
            </a:endParaRPr>
          </a:p>
        </p:txBody>
      </p:sp>
      <p:sp>
        <p:nvSpPr>
          <p:cNvPr id="66" name="Google Shape;1190;p22">
            <a:extLst>
              <a:ext uri="{FF2B5EF4-FFF2-40B4-BE49-F238E27FC236}">
                <a16:creationId xmlns:a16="http://schemas.microsoft.com/office/drawing/2014/main" id="{505C995C-C9B6-49D0-9288-E62DDADF945B}"/>
              </a:ext>
            </a:extLst>
          </p:cNvPr>
          <p:cNvSpPr>
            <a:spLocks noGrp="1"/>
          </p:cNvSpPr>
          <p:nvPr/>
        </p:nvSpPr>
        <p:spPr>
          <a:xfrm>
            <a:off x="3211060" y="4327948"/>
            <a:ext cx="164160" cy="191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•</a:t>
            </a:r>
            <a:endParaRPr sz="1050" b="0" u="none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7" name="Google Shape;1191;p22">
            <a:extLst>
              <a:ext uri="{FF2B5EF4-FFF2-40B4-BE49-F238E27FC236}">
                <a16:creationId xmlns:a16="http://schemas.microsoft.com/office/drawing/2014/main" id="{DB276941-731E-4016-A94A-3B8B9CF67D19}"/>
              </a:ext>
            </a:extLst>
          </p:cNvPr>
          <p:cNvSpPr>
            <a:spLocks noGrp="1"/>
          </p:cNvSpPr>
          <p:nvPr/>
        </p:nvSpPr>
        <p:spPr>
          <a:xfrm>
            <a:off x="3421299" y="4327948"/>
            <a:ext cx="2132137" cy="190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사칭 주체</a:t>
            </a:r>
            <a:r>
              <a:rPr lang="en-US" altLang="ko-KR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요구사항 진위 확인</a:t>
            </a:r>
          </a:p>
        </p:txBody>
      </p:sp>
      <p:sp>
        <p:nvSpPr>
          <p:cNvPr id="68" name="Google Shape;1192;p22">
            <a:extLst>
              <a:ext uri="{FF2B5EF4-FFF2-40B4-BE49-F238E27FC236}">
                <a16:creationId xmlns:a16="http://schemas.microsoft.com/office/drawing/2014/main" id="{B4559317-70AA-47CF-956E-83053D9A6854}"/>
              </a:ext>
            </a:extLst>
          </p:cNvPr>
          <p:cNvSpPr>
            <a:spLocks noGrp="1"/>
          </p:cNvSpPr>
          <p:nvPr/>
        </p:nvSpPr>
        <p:spPr>
          <a:xfrm>
            <a:off x="3211060" y="4611628"/>
            <a:ext cx="164160" cy="191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•</a:t>
            </a:r>
            <a:endParaRPr sz="1050" b="0" u="none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" name="Google Shape;1193;p22">
            <a:extLst>
              <a:ext uri="{FF2B5EF4-FFF2-40B4-BE49-F238E27FC236}">
                <a16:creationId xmlns:a16="http://schemas.microsoft.com/office/drawing/2014/main" id="{6AE1D7D8-5A5F-45B4-8FCF-A528DE2EC2D6}"/>
              </a:ext>
            </a:extLst>
          </p:cNvPr>
          <p:cNvSpPr>
            <a:spLocks noGrp="1"/>
          </p:cNvSpPr>
          <p:nvPr/>
        </p:nvSpPr>
        <p:spPr>
          <a:xfrm>
            <a:off x="3421299" y="4611628"/>
            <a:ext cx="2132137" cy="190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altLang="en-US" sz="1000" b="0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추가 피해 행동 차단</a:t>
            </a:r>
            <a:endParaRPr sz="10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0" name="Google Shape;1194;p22">
            <a:extLst>
              <a:ext uri="{FF2B5EF4-FFF2-40B4-BE49-F238E27FC236}">
                <a16:creationId xmlns:a16="http://schemas.microsoft.com/office/drawing/2014/main" id="{9B1AC9DA-7375-4CAA-B3D1-70902E6F7240}"/>
              </a:ext>
            </a:extLst>
          </p:cNvPr>
          <p:cNvSpPr>
            <a:spLocks noGrp="1"/>
          </p:cNvSpPr>
          <p:nvPr/>
        </p:nvSpPr>
        <p:spPr>
          <a:xfrm>
            <a:off x="3211060" y="4894948"/>
            <a:ext cx="164160" cy="191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•</a:t>
            </a:r>
            <a:endParaRPr sz="1050" b="0" u="none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1" name="Google Shape;1195;p22">
            <a:extLst>
              <a:ext uri="{FF2B5EF4-FFF2-40B4-BE49-F238E27FC236}">
                <a16:creationId xmlns:a16="http://schemas.microsoft.com/office/drawing/2014/main" id="{8048A230-DAFE-4EFD-A1E1-EF1835F1E4FF}"/>
              </a:ext>
            </a:extLst>
          </p:cNvPr>
          <p:cNvSpPr>
            <a:spLocks noGrp="1"/>
          </p:cNvSpPr>
          <p:nvPr/>
        </p:nvSpPr>
        <p:spPr>
          <a:xfrm>
            <a:off x="3421299" y="4894948"/>
            <a:ext cx="2132137" cy="190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은행</a:t>
            </a:r>
            <a:r>
              <a:rPr lang="en-US" altLang="ko-KR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기관 간 확인 및 보호조치 연계</a:t>
            </a:r>
            <a:endParaRPr sz="10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2" name="Google Shape;1199;p22">
            <a:extLst>
              <a:ext uri="{FF2B5EF4-FFF2-40B4-BE49-F238E27FC236}">
                <a16:creationId xmlns:a16="http://schemas.microsoft.com/office/drawing/2014/main" id="{2A6591D8-5B27-4B96-BE14-8FBD9273B0B8}"/>
              </a:ext>
            </a:extLst>
          </p:cNvPr>
          <p:cNvSpPr>
            <a:spLocks noGrp="1"/>
          </p:cNvSpPr>
          <p:nvPr/>
        </p:nvSpPr>
        <p:spPr>
          <a:xfrm>
            <a:off x="8940197" y="4318530"/>
            <a:ext cx="164160" cy="191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•</a:t>
            </a:r>
            <a:endParaRPr sz="1050" b="0" u="none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3" name="Google Shape;1200;p22">
            <a:extLst>
              <a:ext uri="{FF2B5EF4-FFF2-40B4-BE49-F238E27FC236}">
                <a16:creationId xmlns:a16="http://schemas.microsoft.com/office/drawing/2014/main" id="{4486FD80-CFAF-42B5-A851-A0909A891095}"/>
              </a:ext>
            </a:extLst>
          </p:cNvPr>
          <p:cNvSpPr>
            <a:spLocks noGrp="1"/>
          </p:cNvSpPr>
          <p:nvPr/>
        </p:nvSpPr>
        <p:spPr>
          <a:xfrm>
            <a:off x="9150797" y="4318530"/>
            <a:ext cx="1903523" cy="190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증거</a:t>
            </a:r>
            <a:r>
              <a:rPr lang="en-US" altLang="ko-KR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기록 보존</a:t>
            </a:r>
            <a:endParaRPr sz="10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4" name="Google Shape;1201;p22">
            <a:extLst>
              <a:ext uri="{FF2B5EF4-FFF2-40B4-BE49-F238E27FC236}">
                <a16:creationId xmlns:a16="http://schemas.microsoft.com/office/drawing/2014/main" id="{F652B360-EDE8-459A-8118-F21B996FA54C}"/>
              </a:ext>
            </a:extLst>
          </p:cNvPr>
          <p:cNvSpPr>
            <a:spLocks noGrp="1"/>
          </p:cNvSpPr>
          <p:nvPr/>
        </p:nvSpPr>
        <p:spPr>
          <a:xfrm>
            <a:off x="8940197" y="4602210"/>
            <a:ext cx="164160" cy="191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•</a:t>
            </a:r>
            <a:endParaRPr sz="1050" b="0" u="none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5" name="Google Shape;1202;p22">
            <a:extLst>
              <a:ext uri="{FF2B5EF4-FFF2-40B4-BE49-F238E27FC236}">
                <a16:creationId xmlns:a16="http://schemas.microsoft.com/office/drawing/2014/main" id="{7ABF1E09-6F75-489A-96A9-80737C58A64D}"/>
              </a:ext>
            </a:extLst>
          </p:cNvPr>
          <p:cNvSpPr>
            <a:spLocks noGrp="1"/>
          </p:cNvSpPr>
          <p:nvPr/>
        </p:nvSpPr>
        <p:spPr>
          <a:xfrm>
            <a:off x="9150797" y="4602210"/>
            <a:ext cx="1903523" cy="190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계정</a:t>
            </a:r>
            <a:r>
              <a:rPr lang="en-US" altLang="ko-KR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기기</a:t>
            </a:r>
            <a:r>
              <a:rPr lang="en-US" altLang="ko-KR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금융보안 복구</a:t>
            </a:r>
            <a:endParaRPr sz="10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6" name="Google Shape;1203;p22">
            <a:extLst>
              <a:ext uri="{FF2B5EF4-FFF2-40B4-BE49-F238E27FC236}">
                <a16:creationId xmlns:a16="http://schemas.microsoft.com/office/drawing/2014/main" id="{58ED8BF3-717C-470D-9A35-24E8F8C5ED15}"/>
              </a:ext>
            </a:extLst>
          </p:cNvPr>
          <p:cNvSpPr>
            <a:spLocks noGrp="1"/>
          </p:cNvSpPr>
          <p:nvPr/>
        </p:nvSpPr>
        <p:spPr>
          <a:xfrm>
            <a:off x="8940197" y="4885530"/>
            <a:ext cx="164160" cy="1918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•</a:t>
            </a:r>
            <a:endParaRPr sz="1050" b="0" u="none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7" name="Google Shape;1204;p22">
            <a:extLst>
              <a:ext uri="{FF2B5EF4-FFF2-40B4-BE49-F238E27FC236}">
                <a16:creationId xmlns:a16="http://schemas.microsoft.com/office/drawing/2014/main" id="{DE9F367B-051A-4D86-BCCF-98D28929D538}"/>
              </a:ext>
            </a:extLst>
          </p:cNvPr>
          <p:cNvSpPr>
            <a:spLocks noGrp="1"/>
          </p:cNvSpPr>
          <p:nvPr/>
        </p:nvSpPr>
        <p:spPr>
          <a:xfrm>
            <a:off x="9150797" y="4885530"/>
            <a:ext cx="1903523" cy="190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후속 모니터링 및 </a:t>
            </a:r>
            <a:r>
              <a:rPr lang="en-US" altLang="ko-KR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 </a:t>
            </a:r>
            <a:r>
              <a:rPr lang="ko-KR" altLang="en-US" sz="10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관리</a:t>
            </a:r>
            <a:endParaRPr sz="10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44C58B7-5D01-4DD2-A7DC-1F1C80E1E4AC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18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98E1E97-3912-4F98-AC72-8C6EF181AC21}"/>
              </a:ext>
            </a:extLst>
          </p:cNvPr>
          <p:cNvSpPr txBox="1"/>
          <p:nvPr/>
        </p:nvSpPr>
        <p:spPr>
          <a:xfrm>
            <a:off x="566928" y="6531269"/>
            <a:ext cx="2042226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향후 실제 도입 시 서비스 흐름 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통신사 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AI, ASAP </a:t>
            </a:r>
            <a:endParaRPr lang="ko-KR" altLang="en-US" sz="800" b="0" dirty="0">
              <a:solidFill>
                <a:srgbClr val="6E8097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2292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DFB72E-7965-42E6-ADF7-EE8F78442BA6}"/>
              </a:ext>
            </a:extLst>
          </p:cNvPr>
          <p:cNvSpPr/>
          <p:nvPr/>
        </p:nvSpPr>
        <p:spPr>
          <a:xfrm>
            <a:off x="0" y="4482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chemeClr val="tx1"/>
              </a:gs>
              <a:gs pos="0">
                <a:srgbClr val="0E2746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6" name="Google Shape;1068;p16">
            <a:extLst>
              <a:ext uri="{FF2B5EF4-FFF2-40B4-BE49-F238E27FC236}">
                <a16:creationId xmlns:a16="http://schemas.microsoft.com/office/drawing/2014/main" id="{254A3EA0-25C7-4F87-AF55-7BD2037608BC}"/>
              </a:ext>
            </a:extLst>
          </p:cNvPr>
          <p:cNvSpPr>
            <a:spLocks noGrp="1"/>
          </p:cNvSpPr>
          <p:nvPr/>
        </p:nvSpPr>
        <p:spPr>
          <a:xfrm>
            <a:off x="478584" y="2056545"/>
            <a:ext cx="4392727" cy="5545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MVP | 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통화 원문 입력 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통화 텍스트 직접 입력 → 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AI·ML Feature 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추출 → 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Shared Case 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생성</a:t>
            </a:r>
            <a:endParaRPr lang="en-US" altLang="ko-KR" sz="11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CD8399F-A8F6-4FB6-BA24-209E3FC29A3D}"/>
              </a:ext>
            </a:extLst>
          </p:cNvPr>
          <p:cNvSpPr/>
          <p:nvPr/>
        </p:nvSpPr>
        <p:spPr>
          <a:xfrm>
            <a:off x="5745280" y="3801009"/>
            <a:ext cx="251012" cy="313765"/>
          </a:xfrm>
          <a:prstGeom prst="rightArrow">
            <a:avLst/>
          </a:prstGeom>
          <a:solidFill>
            <a:schemeClr val="bg1"/>
          </a:solidFill>
          <a:ln>
            <a:solidFill>
              <a:srgbClr val="050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A5C848-809B-49C2-961A-901EC4B634C1}"/>
              </a:ext>
            </a:extLst>
          </p:cNvPr>
          <p:cNvSpPr/>
          <p:nvPr/>
        </p:nvSpPr>
        <p:spPr>
          <a:xfrm>
            <a:off x="5996292" y="4448238"/>
            <a:ext cx="2510118" cy="295836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i="0" dirty="0">
                <a:solidFill>
                  <a:schemeClr val="bg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기관 또는 다른 사람의 신분을 내세운 정황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1025008-D53E-40C3-B979-70E16C23B24E}"/>
              </a:ext>
            </a:extLst>
          </p:cNvPr>
          <p:cNvSpPr/>
          <p:nvPr/>
        </p:nvSpPr>
        <p:spPr>
          <a:xfrm>
            <a:off x="6180069" y="3852146"/>
            <a:ext cx="2142565" cy="295836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i="0">
                <a:solidFill>
                  <a:schemeClr val="bg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상대방이 특정 행동을 요구한 정황</a:t>
            </a:r>
            <a:endParaRPr lang="ko-KR" altLang="en-US" sz="1000" b="1" i="0" dirty="0">
              <a:solidFill>
                <a:schemeClr val="bg1"/>
              </a:solidFill>
              <a:effectLst/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A667F2-294F-43DE-AF47-A4D0CADDDCB3}"/>
              </a:ext>
            </a:extLst>
          </p:cNvPr>
          <p:cNvSpPr/>
          <p:nvPr/>
        </p:nvSpPr>
        <p:spPr>
          <a:xfrm>
            <a:off x="6198411" y="2842612"/>
            <a:ext cx="1380565" cy="295836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i="0" dirty="0">
                <a:solidFill>
                  <a:schemeClr val="bg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민감 개인정보 요구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681B3B0-7ECB-4E48-A5D0-235A403C8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84" y="2649645"/>
            <a:ext cx="5137852" cy="2590800"/>
          </a:xfrm>
          <a:prstGeom prst="rect">
            <a:avLst/>
          </a:prstGeom>
        </p:spPr>
      </p:pic>
      <p:sp>
        <p:nvSpPr>
          <p:cNvPr id="27" name="Google Shape;1068;p16">
            <a:extLst>
              <a:ext uri="{FF2B5EF4-FFF2-40B4-BE49-F238E27FC236}">
                <a16:creationId xmlns:a16="http://schemas.microsoft.com/office/drawing/2014/main" id="{9BE77620-3862-415B-8D16-A2E40C2C8DF5}"/>
              </a:ext>
            </a:extLst>
          </p:cNvPr>
          <p:cNvSpPr>
            <a:spLocks noGrp="1"/>
          </p:cNvSpPr>
          <p:nvPr/>
        </p:nvSpPr>
        <p:spPr>
          <a:xfrm>
            <a:off x="689142" y="3677952"/>
            <a:ext cx="3970488" cy="729576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r>
              <a:rPr lang="ko-KR" altLang="en-US" sz="900" dirty="0">
                <a:latin typeface="페이퍼로지 7 Bold" pitchFamily="2" charset="-127"/>
                <a:ea typeface="페이퍼로지 7 Bold" pitchFamily="2" charset="-127"/>
              </a:rPr>
              <a:t>저금리 대환대출 승인 담당자입니다</a:t>
            </a:r>
            <a:r>
              <a:rPr lang="en-US" altLang="ko-KR" sz="900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r>
              <a:rPr lang="ko-KR" altLang="en-US" sz="900" dirty="0">
                <a:latin typeface="페이퍼로지 7 Bold" pitchFamily="2" charset="-127"/>
                <a:ea typeface="페이퍼로지 7 Bold" pitchFamily="2" charset="-127"/>
              </a:rPr>
              <a:t>기존 대출을 먼저 상환해야 신규 대출금이 지급됩니다</a:t>
            </a:r>
            <a:r>
              <a:rPr lang="en-US" altLang="ko-KR" sz="900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r>
              <a:rPr lang="ko-KR" altLang="en-US" sz="900" dirty="0">
                <a:latin typeface="페이퍼로지 7 Bold" pitchFamily="2" charset="-127"/>
                <a:ea typeface="페이퍼로지 7 Bold" pitchFamily="2" charset="-127"/>
              </a:rPr>
              <a:t>상환금은 지금 알려드리는 개인 명의 계좌로 보내시면 됩니다</a:t>
            </a:r>
            <a:r>
              <a:rPr lang="en-US" altLang="ko-KR" sz="900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r>
              <a:rPr lang="ko-KR" altLang="en-US" sz="900" dirty="0">
                <a:latin typeface="페이퍼로지 7 Bold" pitchFamily="2" charset="-127"/>
                <a:ea typeface="페이퍼로지 7 Bold" pitchFamily="2" charset="-127"/>
              </a:rPr>
              <a:t>신용점수 보호를 위해 원격제어 앱을 설치해 주세요</a:t>
            </a:r>
            <a:r>
              <a:rPr lang="en-US" altLang="ko-KR" sz="900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r>
              <a:rPr lang="ko-KR" altLang="en-US" sz="900" dirty="0">
                <a:latin typeface="페이퍼로지 7 Bold" pitchFamily="2" charset="-127"/>
                <a:ea typeface="페이퍼로지 7 Bold" pitchFamily="2" charset="-127"/>
              </a:rPr>
              <a:t>오늘 입금하지 않으면 승인 건이 자동 취소됩니다</a:t>
            </a:r>
            <a:r>
              <a:rPr lang="en-US" altLang="ko-KR" sz="900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9B3BBF-A7DD-4A7C-8FC3-758C1433EE00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20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2" name="Google Shape;1160;p22">
            <a:extLst>
              <a:ext uri="{FF2B5EF4-FFF2-40B4-BE49-F238E27FC236}">
                <a16:creationId xmlns:a16="http://schemas.microsoft.com/office/drawing/2014/main" id="{EBAAF648-5626-4C78-BA33-9F97249155E4}"/>
              </a:ext>
            </a:extLst>
          </p:cNvPr>
          <p:cNvSpPr>
            <a:spLocks noGrp="1"/>
          </p:cNvSpPr>
          <p:nvPr/>
        </p:nvSpPr>
        <p:spPr>
          <a:xfrm>
            <a:off x="530280" y="439305"/>
            <a:ext cx="10698120" cy="716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MVP</a:t>
            </a: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는 통화 원문을 입력하면 위험 신호를 뽑아서 </a:t>
            </a:r>
            <a:r>
              <a:rPr lang="en-US" altLang="ko-KR" sz="2200" b="0" u="none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CaseRoom</a:t>
            </a: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을 만들고</a:t>
            </a:r>
          </a:p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실제 서비스는 </a:t>
            </a:r>
            <a:r>
              <a:rPr lang="ko-KR" altLang="en-US" sz="22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통신사 </a:t>
            </a:r>
            <a:r>
              <a:rPr lang="en-US" altLang="ko-KR" sz="22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AI</a:t>
            </a:r>
            <a:r>
              <a:rPr lang="ko-KR" altLang="en-US" sz="22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에서 </a:t>
            </a: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구조화된 </a:t>
            </a:r>
            <a:r>
              <a:rPr lang="ko-KR" altLang="en-US" sz="22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위험 신호를 받아 </a:t>
            </a:r>
            <a:r>
              <a:rPr lang="en-US" altLang="ko-KR" sz="2200" b="0" u="none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CaseRoom</a:t>
            </a:r>
            <a:r>
              <a:rPr lang="ko-KR" altLang="en-US" sz="22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을 생성합니다</a:t>
            </a:r>
          </a:p>
        </p:txBody>
      </p:sp>
      <p:sp>
        <p:nvSpPr>
          <p:cNvPr id="33" name="Google Shape;1066;p16">
            <a:extLst>
              <a:ext uri="{FF2B5EF4-FFF2-40B4-BE49-F238E27FC236}">
                <a16:creationId xmlns:a16="http://schemas.microsoft.com/office/drawing/2014/main" id="{4B906E5E-782C-469A-84AF-2F063E55EBEA}"/>
              </a:ext>
            </a:extLst>
          </p:cNvPr>
          <p:cNvSpPr>
            <a:spLocks noGrp="1"/>
          </p:cNvSpPr>
          <p:nvPr/>
        </p:nvSpPr>
        <p:spPr>
          <a:xfrm>
            <a:off x="530280" y="235833"/>
            <a:ext cx="2468520" cy="1770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950" b="1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서비스 구현 </a:t>
            </a:r>
            <a:r>
              <a:rPr lang="en-US" altLang="ko-KR" sz="950" b="1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MVP</a:t>
            </a:r>
            <a:r>
              <a:rPr lang="ko-KR" altLang="en-US" sz="950" b="1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와 실제 적용</a:t>
            </a:r>
          </a:p>
        </p:txBody>
      </p:sp>
      <p:sp>
        <p:nvSpPr>
          <p:cNvPr id="34" name="Google Shape;1068;p16">
            <a:extLst>
              <a:ext uri="{FF2B5EF4-FFF2-40B4-BE49-F238E27FC236}">
                <a16:creationId xmlns:a16="http://schemas.microsoft.com/office/drawing/2014/main" id="{0C135944-2477-40D2-8A53-D882766BF5E7}"/>
              </a:ext>
            </a:extLst>
          </p:cNvPr>
          <p:cNvSpPr>
            <a:spLocks noGrp="1"/>
          </p:cNvSpPr>
          <p:nvPr/>
        </p:nvSpPr>
        <p:spPr>
          <a:xfrm>
            <a:off x="521726" y="1205627"/>
            <a:ext cx="10698120" cy="3768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공모전 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MVP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에서는 통신사 연동을 대신해 통화 텍스트를 직접 입력합니다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.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실제 도입 시에는 통신사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스마트폰 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AI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가 추출한 최소 맥락 피처를 받아 동일한 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Shared Case 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생성 구조를 사용할 수 있습니다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.</a:t>
            </a:r>
          </a:p>
        </p:txBody>
      </p:sp>
      <p:sp>
        <p:nvSpPr>
          <p:cNvPr id="35" name="Google Shape;1068;p16">
            <a:extLst>
              <a:ext uri="{FF2B5EF4-FFF2-40B4-BE49-F238E27FC236}">
                <a16:creationId xmlns:a16="http://schemas.microsoft.com/office/drawing/2014/main" id="{185992C9-5DFC-48E7-98C0-0630AA8F2F97}"/>
              </a:ext>
            </a:extLst>
          </p:cNvPr>
          <p:cNvSpPr>
            <a:spLocks noGrp="1"/>
          </p:cNvSpPr>
          <p:nvPr/>
        </p:nvSpPr>
        <p:spPr>
          <a:xfrm>
            <a:off x="5996292" y="2056545"/>
            <a:ext cx="2842727" cy="5545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Context Feature 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추출</a:t>
            </a:r>
            <a:endParaRPr lang="en-US" altLang="ko-KR" sz="11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원문을 그대로 넘기는 것이 아니라</a:t>
            </a:r>
            <a:r>
              <a:rPr lang="en-US" altLang="ko-KR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사건 대응에 필요한 최소 맥락 정보로 구조화</a:t>
            </a:r>
            <a:endParaRPr lang="en-US" altLang="ko-KR" sz="11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5DAF4CC-C83C-4CF7-8947-13AFF40A59FD}"/>
              </a:ext>
            </a:extLst>
          </p:cNvPr>
          <p:cNvSpPr/>
          <p:nvPr/>
        </p:nvSpPr>
        <p:spPr>
          <a:xfrm>
            <a:off x="7125845" y="3309852"/>
            <a:ext cx="1380565" cy="295836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i="0" dirty="0">
                <a:solidFill>
                  <a:schemeClr val="bg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처벌</a:t>
            </a:r>
            <a:r>
              <a:rPr lang="en-US" altLang="ko-KR" sz="1000" b="1" i="0" dirty="0">
                <a:solidFill>
                  <a:schemeClr val="bg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000" b="1" i="0" dirty="0">
                <a:solidFill>
                  <a:schemeClr val="bg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피해 불안 조성</a:t>
            </a:r>
          </a:p>
        </p:txBody>
      </p:sp>
      <p:sp>
        <p:nvSpPr>
          <p:cNvPr id="37" name="Google Shape;1068;p16">
            <a:extLst>
              <a:ext uri="{FF2B5EF4-FFF2-40B4-BE49-F238E27FC236}">
                <a16:creationId xmlns:a16="http://schemas.microsoft.com/office/drawing/2014/main" id="{3432FD2B-A015-4BA1-90D9-04DF946EA6D7}"/>
              </a:ext>
            </a:extLst>
          </p:cNvPr>
          <p:cNvSpPr>
            <a:spLocks noGrp="1"/>
          </p:cNvSpPr>
          <p:nvPr/>
        </p:nvSpPr>
        <p:spPr>
          <a:xfrm>
            <a:off x="9368877" y="2375220"/>
            <a:ext cx="2557984" cy="28652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Shared Case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로 재구성</a:t>
            </a:r>
            <a:endParaRPr lang="en-US" altLang="ko-KR" sz="11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endParaRPr lang="en-US" altLang="ko-KR" sz="11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사건 유형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검찰 사칭 </a:t>
            </a:r>
            <a:r>
              <a:rPr lang="en-US" altLang="ko-KR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</a:t>
            </a: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안전계좌 요구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endParaRPr lang="ko-KR" altLang="en-US" sz="11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범죄자 주장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본인 계좌가 범죄에 연루되었다고 주장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endParaRPr lang="ko-KR" altLang="en-US" sz="11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범죄자 요구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안전계좌 명목의 송금 요구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endParaRPr lang="ko-KR" altLang="en-US" sz="11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추가 확인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실제 송금 여부 </a:t>
            </a:r>
            <a:r>
              <a:rPr lang="en-US" altLang="ko-KR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</a:t>
            </a: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개인정보 노출 여부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endParaRPr lang="ko-KR" altLang="en-US" sz="11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초기 대응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송금 중단 안내 </a:t>
            </a:r>
            <a:r>
              <a:rPr lang="en-US" altLang="ko-KR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</a:t>
            </a:r>
            <a:r>
              <a:rPr lang="ko-KR" altLang="en-US" sz="11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기관 확인 필요</a:t>
            </a:r>
            <a:endParaRPr lang="en-US" altLang="ko-KR" sz="11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ABD12DE3-5749-4D19-9751-E404C84DE3D0}"/>
              </a:ext>
            </a:extLst>
          </p:cNvPr>
          <p:cNvSpPr/>
          <p:nvPr/>
        </p:nvSpPr>
        <p:spPr>
          <a:xfrm>
            <a:off x="8756112" y="3801009"/>
            <a:ext cx="251012" cy="313765"/>
          </a:xfrm>
          <a:prstGeom prst="rightArrow">
            <a:avLst/>
          </a:prstGeom>
          <a:solidFill>
            <a:schemeClr val="bg1"/>
          </a:solidFill>
          <a:ln>
            <a:solidFill>
              <a:srgbClr val="050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Google Shape;1068;p16">
            <a:extLst>
              <a:ext uri="{FF2B5EF4-FFF2-40B4-BE49-F238E27FC236}">
                <a16:creationId xmlns:a16="http://schemas.microsoft.com/office/drawing/2014/main" id="{9AB3AEB2-F27C-4A29-A6E1-8BB1821926AD}"/>
              </a:ext>
            </a:extLst>
          </p:cNvPr>
          <p:cNvSpPr>
            <a:spLocks noGrp="1"/>
          </p:cNvSpPr>
          <p:nvPr/>
        </p:nvSpPr>
        <p:spPr>
          <a:xfrm>
            <a:off x="478584" y="5939159"/>
            <a:ext cx="7844050" cy="554593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실제 도입 </a:t>
            </a:r>
            <a:r>
              <a:rPr lang="en-US" altLang="ko-KR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|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통신사</a:t>
            </a:r>
            <a:r>
              <a:rPr lang="en-US" altLang="ko-KR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스마트폰 </a:t>
            </a:r>
            <a:r>
              <a:rPr lang="en-US" altLang="ko-KR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AI → </a:t>
            </a:r>
            <a:r>
              <a:rPr lang="ko-KR" altLang="en-US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최소 </a:t>
            </a:r>
            <a:r>
              <a:rPr lang="en-US" altLang="ko-KR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Context Feature → CSR API → Shared Case </a:t>
            </a:r>
            <a:r>
              <a:rPr lang="ko-KR" altLang="en-US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자동 생성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실서비스에서는 ‘통화 전체’를 받는 것이 아니라</a:t>
            </a:r>
            <a:r>
              <a:rPr lang="en-US" altLang="ko-KR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 </a:t>
            </a:r>
            <a:r>
              <a:rPr lang="ko-KR" altLang="en-US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통신단에서 추출된 사건 맥락을 받아 은행 대응에 필요한 </a:t>
            </a:r>
            <a:r>
              <a:rPr lang="en-US" altLang="ko-KR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Shared Case</a:t>
            </a:r>
            <a:r>
              <a:rPr lang="ko-KR" altLang="en-US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로 재구성합니다</a:t>
            </a:r>
            <a:r>
              <a:rPr lang="en-US" altLang="ko-KR" sz="1100" b="0" u="none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7335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AE9EB2-E54A-432D-A8F4-D009FE96C3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chemeClr val="tx1"/>
              </a:gs>
              <a:gs pos="0">
                <a:srgbClr val="0E2746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Google Shape;1160;p22">
            <a:extLst>
              <a:ext uri="{FF2B5EF4-FFF2-40B4-BE49-F238E27FC236}">
                <a16:creationId xmlns:a16="http://schemas.microsoft.com/office/drawing/2014/main" id="{6B8F5EAF-7B4D-45F5-9C1D-2A378BC748F0}"/>
              </a:ext>
            </a:extLst>
          </p:cNvPr>
          <p:cNvSpPr>
            <a:spLocks noGrp="1"/>
          </p:cNvSpPr>
          <p:nvPr/>
        </p:nvSpPr>
        <p:spPr>
          <a:xfrm>
            <a:off x="530280" y="412886"/>
            <a:ext cx="10698120" cy="361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하나의 </a:t>
            </a: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Case </a:t>
            </a: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안에서 고객 상담부터 사건 확인</a:t>
            </a: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대응까지 이어집니다</a:t>
            </a:r>
            <a:endParaRPr sz="22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5" name="Google Shape;1066;p16">
            <a:extLst>
              <a:ext uri="{FF2B5EF4-FFF2-40B4-BE49-F238E27FC236}">
                <a16:creationId xmlns:a16="http://schemas.microsoft.com/office/drawing/2014/main" id="{468DEE6D-C39C-498E-80CF-F598D15437EE}"/>
              </a:ext>
            </a:extLst>
          </p:cNvPr>
          <p:cNvSpPr>
            <a:spLocks noGrp="1"/>
          </p:cNvSpPr>
          <p:nvPr/>
        </p:nvSpPr>
        <p:spPr>
          <a:xfrm>
            <a:off x="530280" y="235833"/>
            <a:ext cx="2468520" cy="1770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950" b="1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핵심 화면 ① 은행용 </a:t>
            </a:r>
            <a:r>
              <a:rPr lang="en-US" altLang="ko-KR" sz="950" b="1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CASE ROOM</a:t>
            </a:r>
            <a:endParaRPr lang="ko-KR" altLang="en-US" sz="950" b="1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" name="Google Shape;1068;p16">
            <a:extLst>
              <a:ext uri="{FF2B5EF4-FFF2-40B4-BE49-F238E27FC236}">
                <a16:creationId xmlns:a16="http://schemas.microsoft.com/office/drawing/2014/main" id="{39921101-2C54-4B3A-B68C-8319D85FF8D2}"/>
              </a:ext>
            </a:extLst>
          </p:cNvPr>
          <p:cNvSpPr>
            <a:spLocks noGrp="1"/>
          </p:cNvSpPr>
          <p:nvPr/>
        </p:nvSpPr>
        <p:spPr>
          <a:xfrm>
            <a:off x="530280" y="786061"/>
            <a:ext cx="10698120" cy="199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채팅을 중심으로 고객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·AI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와 상호작용하고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 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확인된 정보와 조치 결과는 동일한 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Shared Case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에 실시간으로 누적됩니다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43463-DA22-4C9B-957A-7B51449DE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36" y="1424180"/>
            <a:ext cx="10685130" cy="509165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C017242-2B9B-43B6-9A33-A3BBF410C160}"/>
              </a:ext>
            </a:extLst>
          </p:cNvPr>
          <p:cNvGrpSpPr/>
          <p:nvPr/>
        </p:nvGrpSpPr>
        <p:grpSpPr>
          <a:xfrm>
            <a:off x="458562" y="1120751"/>
            <a:ext cx="11258846" cy="246221"/>
            <a:chOff x="458562" y="1109866"/>
            <a:chExt cx="11258846" cy="24622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031E58-0B62-4578-A45A-4031FCADB93B}"/>
                </a:ext>
              </a:extLst>
            </p:cNvPr>
            <p:cNvSpPr txBox="1"/>
            <p:nvPr/>
          </p:nvSpPr>
          <p:spPr>
            <a:xfrm>
              <a:off x="458562" y="1109866"/>
              <a:ext cx="30364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①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CASE LIST —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진행 중인 사건과 상태를 한눈에 확인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84FCB5-4DD8-4A1D-B4DD-38B839BA3AB5}"/>
                </a:ext>
              </a:extLst>
            </p:cNvPr>
            <p:cNvSpPr txBox="1"/>
            <p:nvPr/>
          </p:nvSpPr>
          <p:spPr>
            <a:xfrm>
              <a:off x="3746639" y="1109866"/>
              <a:ext cx="3728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②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CASE ROOM —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상담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질문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확인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업무 요청을 채팅 중심으로 수행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0F5E0D-DAAA-411E-B452-0127C3BCE261}"/>
                </a:ext>
              </a:extLst>
            </p:cNvPr>
            <p:cNvSpPr txBox="1"/>
            <p:nvPr/>
          </p:nvSpPr>
          <p:spPr>
            <a:xfrm>
              <a:off x="7743243" y="1109866"/>
              <a:ext cx="397416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③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CASE CONTEXT —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확인된 사실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위험요소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조치상태를 실시간 구조화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7331D12-E5FE-4FE9-9F26-0E1B5C3EEC03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20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7886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5981FA-CF13-48C9-805D-415692FEB9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chemeClr val="tx1"/>
              </a:gs>
              <a:gs pos="0">
                <a:srgbClr val="0E2746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2101FFD-5843-44B2-9EB2-FA0C463DFAB0}"/>
              </a:ext>
            </a:extLst>
          </p:cNvPr>
          <p:cNvGrpSpPr/>
          <p:nvPr/>
        </p:nvGrpSpPr>
        <p:grpSpPr>
          <a:xfrm>
            <a:off x="296206" y="1302040"/>
            <a:ext cx="3976405" cy="3826915"/>
            <a:chOff x="467527" y="1302040"/>
            <a:chExt cx="3976405" cy="382691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0829371-4B0B-456C-9FD9-0C3142363F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0" t="1433" r="1080" b="291"/>
            <a:stretch/>
          </p:blipFill>
          <p:spPr>
            <a:xfrm>
              <a:off x="467527" y="2936836"/>
              <a:ext cx="3976405" cy="219211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D194614-9936-4AE5-A28A-148106612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527" y="2413093"/>
              <a:ext cx="3976405" cy="46897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0906E8-BA68-49D8-841D-3806A5E4E946}"/>
                </a:ext>
              </a:extLst>
            </p:cNvPr>
            <p:cNvSpPr txBox="1"/>
            <p:nvPr/>
          </p:nvSpPr>
          <p:spPr>
            <a:xfrm>
              <a:off x="467527" y="1302040"/>
              <a:ext cx="321594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① 필요한 업무를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AI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에게 요청하고 바로 실행</a:t>
              </a:r>
              <a:endParaRPr lang="en-US" altLang="ko-KR" sz="10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endParaRPr lang="en-US" altLang="ko-KR" sz="10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고객 질문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기관 확인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조치 기록 등 업무별 기능을 호출하고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,</a:t>
              </a:r>
            </a:p>
            <a:p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AI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가 현재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Case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맥락을 기반으로 필요한 내용을 추천합니다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.</a:t>
              </a:r>
            </a:p>
            <a:p>
              <a:endParaRPr lang="en-US" altLang="ko-KR" sz="10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질문 추천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기관 확인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조치 추천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대응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Checklist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연동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BF6A0AE-20D7-4682-A43B-30D3DC76B786}"/>
              </a:ext>
            </a:extLst>
          </p:cNvPr>
          <p:cNvGrpSpPr/>
          <p:nvPr/>
        </p:nvGrpSpPr>
        <p:grpSpPr>
          <a:xfrm>
            <a:off x="4453317" y="1291077"/>
            <a:ext cx="3060362" cy="4786164"/>
            <a:chOff x="4622726" y="1291077"/>
            <a:chExt cx="3060362" cy="478616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80AA0AE-6C2D-46C6-A5B8-580AF9227768}"/>
                </a:ext>
              </a:extLst>
            </p:cNvPr>
            <p:cNvSpPr txBox="1"/>
            <p:nvPr/>
          </p:nvSpPr>
          <p:spPr>
            <a:xfrm>
              <a:off x="4622726" y="1291077"/>
              <a:ext cx="254589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02.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중요한 정보는 개인 메모와 북마크로 관리</a:t>
              </a:r>
              <a:endParaRPr lang="en-US" altLang="ko-KR" sz="10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endParaRPr lang="en-US" altLang="ko-KR" sz="10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업무 중 기억할 내용은 개인 메모에 기록하고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,</a:t>
              </a:r>
            </a:p>
            <a:p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중요 대화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·AI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결과는 북마크해 즉시 이동합니다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.</a:t>
              </a:r>
            </a:p>
            <a:p>
              <a:endParaRPr lang="en-US" altLang="ko-KR" sz="10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개인 메모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중요정보 저장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원문 바로가기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7C817D2-93FF-4A96-9C2A-FF01BF17038B}"/>
                </a:ext>
              </a:extLst>
            </p:cNvPr>
            <p:cNvGrpSpPr/>
            <p:nvPr/>
          </p:nvGrpSpPr>
          <p:grpSpPr>
            <a:xfrm>
              <a:off x="4622726" y="2394873"/>
              <a:ext cx="3060362" cy="3682368"/>
              <a:chOff x="3938572" y="1868837"/>
              <a:chExt cx="3881535" cy="4670443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FA888D26-324F-4A33-806B-1EC804574C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8572" y="4931669"/>
                <a:ext cx="3881535" cy="1607611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6FE05812-E383-4902-B4C0-61391837DA7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2222" t="3374" r="2119" b="1883"/>
              <a:stretch/>
            </p:blipFill>
            <p:spPr>
              <a:xfrm>
                <a:off x="3938572" y="1868837"/>
                <a:ext cx="3881535" cy="3023118"/>
              </a:xfrm>
              <a:prstGeom prst="rect">
                <a:avLst/>
              </a:prstGeom>
            </p:spPr>
          </p:pic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88A166E-7897-4655-BA09-EE53EFB67912}"/>
              </a:ext>
            </a:extLst>
          </p:cNvPr>
          <p:cNvGrpSpPr/>
          <p:nvPr/>
        </p:nvGrpSpPr>
        <p:grpSpPr>
          <a:xfrm>
            <a:off x="7694385" y="1302040"/>
            <a:ext cx="4201409" cy="3760980"/>
            <a:chOff x="7865706" y="1302040"/>
            <a:chExt cx="4201409" cy="376098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9D34CED-F89C-4E22-907A-E594B83A42B2}"/>
                </a:ext>
              </a:extLst>
            </p:cNvPr>
            <p:cNvSpPr txBox="1"/>
            <p:nvPr/>
          </p:nvSpPr>
          <p:spPr>
            <a:xfrm>
              <a:off x="7865706" y="1302040"/>
              <a:ext cx="373050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03.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대응 과정이 실시간 보고서로 누적</a:t>
              </a:r>
              <a:endParaRPr lang="en-US" altLang="ko-KR" sz="10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endParaRPr lang="en-US" altLang="ko-KR" sz="10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고객 답변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확인 결과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은행 조치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·Timeline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을 종합해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LIVE Report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를</a:t>
              </a:r>
              <a:endParaRPr lang="en-US" altLang="ko-KR" sz="10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갱신하고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사건 종료 시 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Final Report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로 전환합니다</a:t>
              </a:r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.</a:t>
              </a:r>
            </a:p>
            <a:p>
              <a:endParaRPr lang="en-US" altLang="ko-KR" sz="10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r>
                <a: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LIVE REPORT · FINAL REPORT · PDF/Word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9949E9C-E53D-467F-874C-BF3E2A64E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65706" y="2393826"/>
              <a:ext cx="4201409" cy="2669194"/>
            </a:xfrm>
            <a:prstGeom prst="rect">
              <a:avLst/>
            </a:prstGeom>
          </p:spPr>
        </p:pic>
      </p:grpSp>
      <p:sp>
        <p:nvSpPr>
          <p:cNvPr id="39" name="Google Shape;1068;p16">
            <a:extLst>
              <a:ext uri="{FF2B5EF4-FFF2-40B4-BE49-F238E27FC236}">
                <a16:creationId xmlns:a16="http://schemas.microsoft.com/office/drawing/2014/main" id="{4CDE317E-2FC7-4814-9128-9765F775F506}"/>
              </a:ext>
            </a:extLst>
          </p:cNvPr>
          <p:cNvSpPr>
            <a:spLocks noGrp="1"/>
          </p:cNvSpPr>
          <p:nvPr/>
        </p:nvSpPr>
        <p:spPr>
          <a:xfrm>
            <a:off x="530280" y="6329618"/>
            <a:ext cx="10698120" cy="2433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4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질문 → 확인 → 조치 → 기록 → 보고가 분리되지 않고</a:t>
            </a:r>
            <a:r>
              <a:rPr lang="en-US" altLang="ko-KR" sz="14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 </a:t>
            </a:r>
            <a:r>
              <a:rPr lang="ko-KR" altLang="en-US" sz="14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하나의 </a:t>
            </a:r>
            <a:r>
              <a:rPr lang="en-US" altLang="ko-KR" sz="14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Shared Case </a:t>
            </a:r>
            <a:r>
              <a:rPr lang="ko-KR" altLang="en-US" sz="14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안에서 이어집니다</a:t>
            </a:r>
            <a:r>
              <a:rPr lang="en-US" altLang="ko-KR" sz="14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C4A3E6-3952-4EB0-973E-3C0430FDDDDD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21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6" name="Google Shape;1160;p22">
            <a:extLst>
              <a:ext uri="{FF2B5EF4-FFF2-40B4-BE49-F238E27FC236}">
                <a16:creationId xmlns:a16="http://schemas.microsoft.com/office/drawing/2014/main" id="{0EC86544-C23C-48F3-9C35-5BC097338B4A}"/>
              </a:ext>
            </a:extLst>
          </p:cNvPr>
          <p:cNvSpPr>
            <a:spLocks noGrp="1"/>
          </p:cNvSpPr>
          <p:nvPr/>
        </p:nvSpPr>
        <p:spPr>
          <a:xfrm>
            <a:off x="530280" y="405266"/>
            <a:ext cx="10698120" cy="361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여기는 다시 입려ㅑㄱ해야허ㅏㄴㅁ러</a:t>
            </a: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;’</a:t>
            </a: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해ㅗㄱ쟈대ㅔㅏㅡ배</a:t>
            </a: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[</a:t>
            </a: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ㅈㄷㄱ</a:t>
            </a: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＇</a:t>
            </a: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ㅙㅑㅕ</a:t>
            </a: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[</a:t>
            </a: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ㅗㅓㄱ랴ㅐㅓㅗㄴ차</a:t>
            </a:r>
            <a:endParaRPr sz="22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47" name="Google Shape;1066;p16">
            <a:extLst>
              <a:ext uri="{FF2B5EF4-FFF2-40B4-BE49-F238E27FC236}">
                <a16:creationId xmlns:a16="http://schemas.microsoft.com/office/drawing/2014/main" id="{5636E2D5-62BD-4813-8B9A-928E24B2C5B8}"/>
              </a:ext>
            </a:extLst>
          </p:cNvPr>
          <p:cNvSpPr>
            <a:spLocks noGrp="1"/>
          </p:cNvSpPr>
          <p:nvPr/>
        </p:nvSpPr>
        <p:spPr>
          <a:xfrm>
            <a:off x="530280" y="235833"/>
            <a:ext cx="2468520" cy="1770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950" b="1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핵심 화면 ① 은행용 </a:t>
            </a:r>
            <a:r>
              <a:rPr lang="en-US" altLang="ko-KR" sz="950" b="1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CASE ROOM</a:t>
            </a:r>
            <a:endParaRPr lang="ko-KR" altLang="en-US" sz="950" b="1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48" name="Google Shape;1068;p16">
            <a:extLst>
              <a:ext uri="{FF2B5EF4-FFF2-40B4-BE49-F238E27FC236}">
                <a16:creationId xmlns:a16="http://schemas.microsoft.com/office/drawing/2014/main" id="{409E452E-3D53-4155-89FD-96B9B710EB0A}"/>
              </a:ext>
            </a:extLst>
          </p:cNvPr>
          <p:cNvSpPr>
            <a:spLocks noGrp="1"/>
          </p:cNvSpPr>
          <p:nvPr/>
        </p:nvSpPr>
        <p:spPr>
          <a:xfrm>
            <a:off x="530280" y="778441"/>
            <a:ext cx="10698120" cy="199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다시입ㄹㅅ해ㅑㅇ조하ㅣㅓㄱㅁ네ㅐㅇㄹ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＇;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ㅓ겨ㅐ널이</a:t>
            </a:r>
            <a:endParaRPr lang="en-US" altLang="ko-KR" sz="11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3279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AE9EB2-E54A-432D-A8F4-D009FE96C3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chemeClr val="tx1"/>
              </a:gs>
              <a:gs pos="0">
                <a:srgbClr val="0E2746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13185D-8F4F-4655-A32B-5C9854653D19}"/>
              </a:ext>
            </a:extLst>
          </p:cNvPr>
          <p:cNvGrpSpPr/>
          <p:nvPr/>
        </p:nvGrpSpPr>
        <p:grpSpPr>
          <a:xfrm>
            <a:off x="584999" y="1709337"/>
            <a:ext cx="11022002" cy="4917123"/>
            <a:chOff x="642725" y="1510913"/>
            <a:chExt cx="11090713" cy="494777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1B06262-2093-4674-BFF2-EE97A0785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2725" y="1511219"/>
              <a:ext cx="3403110" cy="494747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0F06836-8101-4919-B8DE-9734BC7C7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99862" y="1510913"/>
              <a:ext cx="7433576" cy="4938226"/>
            </a:xfrm>
            <a:prstGeom prst="rect">
              <a:avLst/>
            </a:prstGeom>
          </p:spPr>
        </p:pic>
      </p:grpSp>
      <p:sp>
        <p:nvSpPr>
          <p:cNvPr id="4" name="Google Shape;1160;p22">
            <a:extLst>
              <a:ext uri="{FF2B5EF4-FFF2-40B4-BE49-F238E27FC236}">
                <a16:creationId xmlns:a16="http://schemas.microsoft.com/office/drawing/2014/main" id="{6B8F5EAF-7B4D-45F5-9C1D-2A378BC748F0}"/>
              </a:ext>
            </a:extLst>
          </p:cNvPr>
          <p:cNvSpPr>
            <a:spLocks noGrp="1"/>
          </p:cNvSpPr>
          <p:nvPr/>
        </p:nvSpPr>
        <p:spPr>
          <a:xfrm>
            <a:off x="530280" y="419067"/>
            <a:ext cx="10698120" cy="361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혼자 판단하기 어려운 순간</a:t>
            </a: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, AI</a:t>
            </a: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와 대화하며 상황을 확인하고 대응할 수 있습니다</a:t>
            </a:r>
            <a:endParaRPr sz="22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5" name="Google Shape;1066;p16">
            <a:extLst>
              <a:ext uri="{FF2B5EF4-FFF2-40B4-BE49-F238E27FC236}">
                <a16:creationId xmlns:a16="http://schemas.microsoft.com/office/drawing/2014/main" id="{468DEE6D-C39C-498E-80CF-F598D15437EE}"/>
              </a:ext>
            </a:extLst>
          </p:cNvPr>
          <p:cNvSpPr>
            <a:spLocks noGrp="1"/>
          </p:cNvSpPr>
          <p:nvPr/>
        </p:nvSpPr>
        <p:spPr>
          <a:xfrm>
            <a:off x="530280" y="235833"/>
            <a:ext cx="4062040" cy="1770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>
              <a:lnSpc>
                <a:spcPct val="105000"/>
              </a:lnSpc>
              <a:buNone/>
              <a:tabLst>
                <a:tab pos="0" algn="l"/>
              </a:tabLst>
            </a:pPr>
            <a:r>
              <a:rPr lang="ko-KR" altLang="en-US" sz="950" b="1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핵심 화면 ② 고객용 </a:t>
            </a:r>
            <a:r>
              <a:rPr lang="en-US" altLang="ko-KR" sz="950" b="1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CUSTOMER CASE CHAT</a:t>
            </a:r>
            <a:endParaRPr lang="ko-KR" altLang="en-US" sz="950" b="1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" name="Google Shape;1068;p16">
            <a:extLst>
              <a:ext uri="{FF2B5EF4-FFF2-40B4-BE49-F238E27FC236}">
                <a16:creationId xmlns:a16="http://schemas.microsoft.com/office/drawing/2014/main" id="{39921101-2C54-4B3A-B68C-8319D85FF8D2}"/>
              </a:ext>
            </a:extLst>
          </p:cNvPr>
          <p:cNvSpPr>
            <a:spLocks noGrp="1"/>
          </p:cNvSpPr>
          <p:nvPr/>
        </p:nvSpPr>
        <p:spPr>
          <a:xfrm>
            <a:off x="530280" y="780759"/>
            <a:ext cx="10698120" cy="199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고객은 복잡한 위험정보를 직접 해석할 필요 없이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 AI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의 질문에 답하며 현재 상황을 확인하고 필요한 안전조치부터 피해구제까지 단계적으로 안내받습니다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125AE62-C86D-42FF-8FE9-AB9949BBEB8B}"/>
              </a:ext>
            </a:extLst>
          </p:cNvPr>
          <p:cNvGrpSpPr/>
          <p:nvPr/>
        </p:nvGrpSpPr>
        <p:grpSpPr>
          <a:xfrm>
            <a:off x="486828" y="1084031"/>
            <a:ext cx="10664571" cy="553998"/>
            <a:chOff x="688346" y="1126777"/>
            <a:chExt cx="10664571" cy="55399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2DA2CA6-4110-4DE0-9A20-7F2CAECF0BEB}"/>
                </a:ext>
              </a:extLst>
            </p:cNvPr>
            <p:cNvGrpSpPr/>
            <p:nvPr/>
          </p:nvGrpSpPr>
          <p:grpSpPr>
            <a:xfrm>
              <a:off x="688346" y="1126777"/>
              <a:ext cx="4848854" cy="553998"/>
              <a:chOff x="29306" y="1027464"/>
              <a:chExt cx="4848854" cy="553998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031E58-0B62-4578-A45A-4031FCADB93B}"/>
                  </a:ext>
                </a:extLst>
              </p:cNvPr>
              <p:cNvSpPr txBox="1"/>
              <p:nvPr/>
            </p:nvSpPr>
            <p:spPr>
              <a:xfrm>
                <a:off x="29306" y="1027464"/>
                <a:ext cx="1585690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01.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상황 이해 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브리핑</a:t>
                </a:r>
                <a:endPara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02.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안전 확인 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정보 수집</a:t>
                </a:r>
                <a:endPara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03.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진위 확인 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재판단 지원</a:t>
                </a:r>
                <a:endPara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B1FF88-F3E3-40C9-9598-633872D520BE}"/>
                  </a:ext>
                </a:extLst>
              </p:cNvPr>
              <p:cNvSpPr txBox="1"/>
              <p:nvPr/>
            </p:nvSpPr>
            <p:spPr>
              <a:xfrm>
                <a:off x="1657407" y="1027464"/>
                <a:ext cx="322075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통화 맥락과 위험요소를 고객이 이해하기 쉽게 설명</a:t>
                </a:r>
                <a:endPara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송금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정보노출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·OTP·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원격앱 등 핵심 사실을 대화로 확인</a:t>
                </a:r>
                <a:endPara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사칭기관의 주장과 공식 절차를 비교해 확인 결과와 근거 제공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D53E49A-A599-4ECA-A8EC-B01EFE843430}"/>
                </a:ext>
              </a:extLst>
            </p:cNvPr>
            <p:cNvGrpSpPr/>
            <p:nvPr/>
          </p:nvGrpSpPr>
          <p:grpSpPr>
            <a:xfrm>
              <a:off x="6577801" y="1126777"/>
              <a:ext cx="4775116" cy="553998"/>
              <a:chOff x="810817" y="1027464"/>
              <a:chExt cx="4775116" cy="553998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DF535FC-0F82-4082-916B-944F10C5430F}"/>
                  </a:ext>
                </a:extLst>
              </p:cNvPr>
              <p:cNvSpPr txBox="1"/>
              <p:nvPr/>
            </p:nvSpPr>
            <p:spPr>
              <a:xfrm>
                <a:off x="810817" y="1027464"/>
                <a:ext cx="154401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04.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즉시 행동 안내</a:t>
                </a:r>
                <a:endPara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05.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은행과 양방향 연결</a:t>
                </a:r>
                <a:endPara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06.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피해 발생 후 구제 지원</a:t>
                </a:r>
                <a:endPara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76F4B6F-BC19-4393-8A91-EA3206240DC4}"/>
                  </a:ext>
                </a:extLst>
              </p:cNvPr>
              <p:cNvSpPr txBox="1"/>
              <p:nvPr/>
            </p:nvSpPr>
            <p:spPr>
              <a:xfrm>
                <a:off x="2438918" y="1027464"/>
                <a:ext cx="314701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현재 상태에 따라 중단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확인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보호조치를 단계별로 안내</a:t>
                </a:r>
                <a:endPara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고객의 답변과 요청을 같은 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Case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에서 은행 담당자와 공유</a:t>
                </a:r>
                <a:endPara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피해 확인 시 신고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지급정지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증거보존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피해구제 절차로 전환</a:t>
                </a:r>
                <a:endParaRPr lang="en-US" altLang="ko-KR" sz="1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C7E9CF3-FF17-4508-9923-9601BF8B40C8}"/>
              </a:ext>
            </a:extLst>
          </p:cNvPr>
          <p:cNvCxnSpPr>
            <a:cxnSpLocks/>
          </p:cNvCxnSpPr>
          <p:nvPr/>
        </p:nvCxnSpPr>
        <p:spPr>
          <a:xfrm>
            <a:off x="557640" y="1033386"/>
            <a:ext cx="11076721" cy="0"/>
          </a:xfrm>
          <a:prstGeom prst="line">
            <a:avLst/>
          </a:prstGeom>
          <a:ln>
            <a:solidFill>
              <a:srgbClr val="6676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19DCE6E-5A86-471E-9B47-5DF36E01CCFD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22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20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04040"/>
            <a:ext cx="6858000" cy="2308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3469F5"/>
                </a:solidFill>
                <a:latin typeface="페이퍼로지 7 Bold" pitchFamily="2" charset="-127"/>
                <a:ea typeface="페이퍼로지 7 Bold" pitchFamily="2" charset="-127"/>
              </a:rPr>
              <a:t>신뢰 설계 · AI 질문 정책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94082"/>
            <a:ext cx="11155680" cy="4462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AI가 모든 질문을 자유 생성하지 않습니다. 표준 안전질문과 심화질문을 분리합니다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0161"/>
            <a:ext cx="1106424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P0는 안전을 위해 자동 질문하고, 사건별 심화질문은 은행 담당자의 검토 · 선택 · 편집을 거쳐 고객에게 전달됩니다.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38517"/>
            <a:ext cx="228600" cy="20005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18742"/>
            <a:ext cx="2743200" cy="2154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P0  |  표준 안전질문 · 자동 질문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553212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880" y="1554480"/>
            <a:ext cx="5532120" cy="54864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1743715"/>
            <a:ext cx="2194560" cy="2616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즉시 안전 확인 4문항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8032" y="1719072"/>
            <a:ext cx="594360" cy="2286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28032" y="1733345"/>
            <a:ext cx="594360" cy="20005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00" b="1">
                <a:solidFill>
                  <a:srgbClr val="3469F5"/>
                </a:solidFill>
                <a:latin typeface="페이퍼로지 7 Bold" pitchFamily="2" charset="-127"/>
                <a:ea typeface="페이퍼로지 7 Bold" pitchFamily="2" charset="-127"/>
              </a:rPr>
              <a:t>AUTO 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03120"/>
            <a:ext cx="4983480" cy="31089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136406"/>
            <a:ext cx="502920" cy="20774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3469F5"/>
                </a:solidFill>
                <a:latin typeface="페이퍼로지 7 Bold" pitchFamily="2" charset="-127"/>
                <a:ea typeface="페이퍼로지 7 Bold" pitchFamily="2" charset="-127"/>
              </a:rPr>
              <a:t>P0-1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132558"/>
            <a:ext cx="3840480" cy="2154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실제 송금 여부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4983480" cy="31089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2520454"/>
            <a:ext cx="502920" cy="20774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3469F5"/>
                </a:solidFill>
                <a:latin typeface="페이퍼로지 7 Bold" pitchFamily="2" charset="-127"/>
                <a:ea typeface="페이퍼로지 7 Bold" pitchFamily="2" charset="-127"/>
              </a:rPr>
              <a:t>P0-2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516606"/>
            <a:ext cx="3840480" cy="2154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개인정보 제공 여부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871215"/>
            <a:ext cx="4983480" cy="31089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2904501"/>
            <a:ext cx="502920" cy="20774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3469F5"/>
                </a:solidFill>
                <a:latin typeface="페이퍼로지 7 Bold" pitchFamily="2" charset="-127"/>
                <a:ea typeface="페이퍼로지 7 Bold" pitchFamily="2" charset="-127"/>
              </a:rPr>
              <a:t>P0-3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900653"/>
            <a:ext cx="3840480" cy="2154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인증정보 / OTP 제공 여부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255263"/>
            <a:ext cx="4983480" cy="310896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3288550"/>
            <a:ext cx="502920" cy="20774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3469F5"/>
                </a:solidFill>
                <a:latin typeface="페이퍼로지 7 Bold" pitchFamily="2" charset="-127"/>
                <a:ea typeface="페이퍼로지 7 Bold" pitchFamily="2" charset="-127"/>
              </a:rPr>
              <a:t>P0-4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284702"/>
            <a:ext cx="3840480" cy="2154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원격제어 앱 설치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72598"/>
            <a:ext cx="914400" cy="20774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50" b="1">
                <a:solidFill>
                  <a:srgbClr val="3469F5"/>
                </a:solidFill>
                <a:latin typeface="페이퍼로지 7 Bold" pitchFamily="2" charset="-127"/>
                <a:ea typeface="페이퍼로지 7 Bold" pitchFamily="2" charset="-127"/>
              </a:rPr>
              <a:t>왜 자동인가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8620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피해 확대를 결정하는 네 가지 사실은 담당자 배정을 기다릴 수 없습니다. 답변은 즉시 Case에 구조화되어 위험도와 조치 후보에 반영됩니다.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318742"/>
            <a:ext cx="3657600" cy="2154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P1 / P2  |  사건별 심화질문 · 담당자 승인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554480"/>
            <a:ext cx="553212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989320" y="1554480"/>
            <a:ext cx="5532120" cy="54864"/>
          </a:xfrm>
          <a:prstGeom prst="rect">
            <a:avLst/>
          </a:prstGeom>
          <a:solidFill>
            <a:srgbClr val="EB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36208" y="1743715"/>
            <a:ext cx="2834640" cy="2616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Question Planner → 담당자 검토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41280" y="1719072"/>
            <a:ext cx="960120" cy="228600"/>
          </a:xfrm>
          <a:prstGeom prst="rect">
            <a:avLst/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241280" y="1690256"/>
            <a:ext cx="960120" cy="286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630" b="1">
                <a:solidFill>
                  <a:srgbClr val="EB9716"/>
                </a:solidFill>
                <a:latin typeface="페이퍼로지 7 Bold" pitchFamily="2" charset="-127"/>
                <a:ea typeface="페이퍼로지 7 Bold" pitchFamily="2" charset="-127"/>
              </a:rPr>
              <a:t>HUMAN IN THE LOOP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8" y="2112264"/>
            <a:ext cx="210312" cy="210312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36208" y="2103677"/>
            <a:ext cx="210312" cy="20005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2114315"/>
            <a:ext cx="4389120" cy="206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1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AI 후보 생성 — 통화 맥락 · Claim · FDS 정보를 근거로 확인이 필요한 질문 후보를 제시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468880"/>
            <a:ext cx="210312" cy="210312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36208" y="2460293"/>
            <a:ext cx="210312" cy="20005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2470931"/>
            <a:ext cx="4389120" cy="206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담당자 검토 · 선택 — 필요한 질문만 선택하고 표현을 편집. 근거는 함께 표시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6208" y="2825496"/>
            <a:ext cx="210312" cy="210312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36208" y="2816909"/>
            <a:ext cx="210312" cy="20005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2827547"/>
            <a:ext cx="4389120" cy="206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고객 전달 — 승인된 질문만 고객 화면에 전달, 선택지 A / B / C 형태로 제시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6208" y="3182112"/>
            <a:ext cx="210312" cy="210312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36208" y="3173525"/>
            <a:ext cx="210312" cy="20005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3184163"/>
            <a:ext cx="4389120" cy="206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Case 반영 — 답변은 구조화되어 Verification · Risk · Report에 즉시 반영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6208" y="3767328"/>
            <a:ext cx="4983480" cy="411480"/>
          </a:xfrm>
          <a:prstGeom prst="rect">
            <a:avLst/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0800" y="3840480"/>
            <a:ext cx="4480560" cy="3139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예시 · P1
“상대방이 알려준 사건번호와 담당 검사 이름을 그대로 말씀해 주실 수 있나요?”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4617720"/>
            <a:ext cx="3429000" cy="749808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11480" y="4702022"/>
            <a:ext cx="2926080" cy="2154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97B9FF"/>
                </a:solidFill>
                <a:latin typeface="페이퍼로지 7 Bold" pitchFamily="2" charset="-127"/>
                <a:ea typeface="페이퍼로지 7 Bold" pitchFamily="2" charset="-127"/>
              </a:rPr>
              <a:t>질문 범위 통제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965192"/>
            <a:ext cx="2926080" cy="2062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40" b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표준 문항 외 자유 생성 질문은 담당자 승인 없이 고객에게 전달되지 않습니다.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41648" y="4617720"/>
            <a:ext cx="3429000" cy="749808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270248" y="4702022"/>
            <a:ext cx="2926080" cy="2154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97B9FF"/>
                </a:solidFill>
                <a:latin typeface="페이퍼로지 7 Bold" pitchFamily="2" charset="-127"/>
                <a:ea typeface="페이퍼로지 7 Bold" pitchFamily="2" charset="-127"/>
              </a:rPr>
              <a:t>정확한 값의 출처 분리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4965192"/>
            <a:ext cx="2926080" cy="320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40" b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공식 전화번호 · URL은 LLM이 생성하지 않고 official_contacts에서 조회합니다.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09560" y="4617720"/>
            <a:ext cx="3429000" cy="749808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138160" y="4702022"/>
            <a:ext cx="2926080" cy="2154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97B9FF"/>
                </a:solidFill>
                <a:latin typeface="페이퍼로지 7 Bold" pitchFamily="2" charset="-127"/>
                <a:ea typeface="페이퍼로지 7 Bold" pitchFamily="2" charset="-127"/>
              </a:rPr>
              <a:t>최종 판단의 소재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4965192"/>
            <a:ext cx="2926080" cy="2062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40" b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최종 금융 판단 및 조치는 AI가 수행하지 않습니다. 담당자가 결정합니다.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5596128"/>
            <a:ext cx="11155680" cy="438912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11480" y="5674910"/>
            <a:ext cx="10515600" cy="2539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■  질문의 범위 · 순서 · 승인 주체를 미리 정해 두는 것이 금융기관 도입의 전제 조건입니다.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04040"/>
            <a:ext cx="6858000" cy="2308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3469F5"/>
                </a:solidFill>
                <a:latin typeface="페이퍼로지 7 Bold" pitchFamily="2" charset="-127"/>
                <a:ea typeface="페이퍼로지 7 Bold" pitchFamily="2" charset="-127"/>
              </a:rPr>
              <a:t>Frontend 핵심 UX · 5 / 10 / 30초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94082"/>
            <a:ext cx="11155680" cy="4462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사건을 연 순간부터 30초 안에 확인과 조치까지 도달해야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0161"/>
            <a:ext cx="1106424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통화가 진행 중인 상황에서는 화면 탐색 시간이 곧 피해 금액입니다. 화면 위계를 시간 기준으로 설계했습니다.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38517"/>
            <a:ext cx="228600" cy="20005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46304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4592" y="1463040"/>
            <a:ext cx="3657600" cy="54864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3192" y="1658074"/>
            <a:ext cx="50292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3469F5"/>
                </a:solidFill>
                <a:latin typeface="페이퍼로지 7 Bold" pitchFamily="2" charset="-127"/>
                <a:ea typeface="페이퍼로지 7 Bold" pitchFamily="2" charset="-127"/>
              </a:rPr>
              <a:t>5초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724201"/>
            <a:ext cx="1645920" cy="20005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WHAT HAPPENED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098880"/>
            <a:ext cx="32004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“무슨 사건인가?”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450592"/>
            <a:ext cx="3154680" cy="20774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Case 번호 · 사건 유형 · 진행 상태 · 요약 3줄을 화면 최상단 고정 영역에 배치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2816352"/>
            <a:ext cx="3154680" cy="438912"/>
          </a:xfrm>
          <a:prstGeom prst="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2064" y="2871773"/>
            <a:ext cx="2834640" cy="20005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화면 요소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021155"/>
            <a:ext cx="2834640" cy="1938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6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Case Header · summary Section · 위험등급 뱃지 · 통화 진행 여부 표시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41648" y="146304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041648" y="1463040"/>
            <a:ext cx="3657600" cy="54864"/>
          </a:xfrm>
          <a:prstGeom prst="rect">
            <a:avLst/>
          </a:prstGeom>
          <a:solidFill>
            <a:srgbClr val="EB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70248" y="1542657"/>
            <a:ext cx="502920" cy="55399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EB9716"/>
                </a:solidFill>
                <a:latin typeface="페이퍼로지 7 Bold" pitchFamily="2" charset="-127"/>
                <a:ea typeface="페이퍼로지 7 Bold" pitchFamily="2" charset="-127"/>
              </a:rPr>
              <a:t>10초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1724201"/>
            <a:ext cx="1645920" cy="20005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WHAT MATTERS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021936"/>
            <a:ext cx="3200400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“무엇이 위험한가 · 무엇이 확인됐는가 · 다음에 무엇을 해야 하는가”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450592"/>
            <a:ext cx="3154680" cy="20774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세 질문을 각각 하나의 Section으로 고정 배치하고 상태색으로 구분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2907792"/>
            <a:ext cx="914400" cy="347472"/>
          </a:xfrm>
          <a:prstGeom prst="rect">
            <a:avLst/>
          </a:prstGeom>
          <a:solidFill>
            <a:srgbClr val="FF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43400" y="2911427"/>
            <a:ext cx="777240" cy="1938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60" b="1">
                <a:solidFill>
                  <a:srgbClr val="FF4F2D"/>
                </a:solidFill>
                <a:latin typeface="페이퍼로지 7 Bold" pitchFamily="2" charset="-127"/>
                <a:ea typeface="페이퍼로지 7 Bold" pitchFamily="2" charset="-127"/>
              </a:rPr>
              <a:t>위험 · 긴급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059314"/>
            <a:ext cx="777240" cy="1815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58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risk_context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94376" y="2907792"/>
            <a:ext cx="914400" cy="347472"/>
          </a:xfrm>
          <a:prstGeom prst="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67528" y="2911427"/>
            <a:ext cx="777240" cy="1938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60" b="1">
                <a:solidFill>
                  <a:srgbClr val="2BA075"/>
                </a:solidFill>
                <a:latin typeface="페이퍼로지 7 Bold" pitchFamily="2" charset="-127"/>
                <a:ea typeface="페이퍼로지 7 Bold" pitchFamily="2" charset="-127"/>
              </a:rPr>
              <a:t>확인 완료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3014687"/>
            <a:ext cx="777240" cy="27084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58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verification_status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18504" y="2907792"/>
            <a:ext cx="914400" cy="347472"/>
          </a:xfrm>
          <a:prstGeom prst="rect">
            <a:avLst/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91656" y="2911427"/>
            <a:ext cx="777240" cy="1938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60" b="1">
                <a:solidFill>
                  <a:srgbClr val="EB9716"/>
                </a:solidFill>
                <a:latin typeface="페이퍼로지 7 Bold" pitchFamily="2" charset="-127"/>
                <a:ea typeface="페이퍼로지 7 Bold" pitchFamily="2" charset="-127"/>
              </a:rPr>
              <a:t>확인 필요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059314"/>
            <a:ext cx="777240" cy="1815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58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next_checks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1463040"/>
            <a:ext cx="3520440" cy="1965960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38160" y="1658074"/>
            <a:ext cx="59436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30초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1724201"/>
            <a:ext cx="1645920" cy="20005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97B9FF"/>
                </a:solidFill>
                <a:latin typeface="페이퍼로지 7 Bold" pitchFamily="2" charset="-127"/>
                <a:ea typeface="페이퍼로지 7 Bold" pitchFamily="2" charset="-127"/>
              </a:rPr>
              <a:t>WHAT I CAN 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076244"/>
            <a:ext cx="2926080" cy="20005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0">
                <a:solidFill>
                  <a:srgbClr val="D2DFF2"/>
                </a:solidFill>
                <a:latin typeface="페이퍼로지 7 Bold" pitchFamily="2" charset="-127"/>
                <a:ea typeface="페이퍼로지 7 Bold" pitchFamily="2" charset="-127"/>
              </a:rPr>
              <a:t>화면 이동 없이 다섯 가지 행동이 사건 화면에서 직접 가능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2377440"/>
            <a:ext cx="2971800" cy="173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229600" y="2404872"/>
            <a:ext cx="36576" cy="109728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75904" y="2357445"/>
            <a:ext cx="2514600" cy="19543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7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고객에게 질문 전달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2587752"/>
            <a:ext cx="2971800" cy="173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229600" y="2615184"/>
            <a:ext cx="36576" cy="109728"/>
          </a:xfrm>
          <a:prstGeom prst="rect">
            <a:avLst/>
          </a:prstGeom>
          <a:solidFill>
            <a:srgbClr val="34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75904" y="2567757"/>
            <a:ext cx="2514600" cy="19543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7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AI에게 사건 관련 질문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2798064"/>
            <a:ext cx="2971800" cy="173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229600" y="2825496"/>
            <a:ext cx="36576" cy="109728"/>
          </a:xfrm>
          <a:prstGeom prst="rect">
            <a:avLst/>
          </a:prstGeom>
          <a:solidFill>
            <a:srgbClr val="EB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75904" y="2778069"/>
            <a:ext cx="2514600" cy="19543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7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기관 확인 요청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008376"/>
            <a:ext cx="2971800" cy="173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229600" y="3035808"/>
            <a:ext cx="36576" cy="109728"/>
          </a:xfrm>
          <a:prstGeom prst="rect">
            <a:avLst/>
          </a:prstGeom>
          <a:solidFill>
            <a:srgbClr val="2BA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375904" y="2988381"/>
            <a:ext cx="2514600" cy="19543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7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확인 결과 조회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218688"/>
            <a:ext cx="2971800" cy="173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229600" y="3246120"/>
            <a:ext cx="36576" cy="109728"/>
          </a:xfrm>
          <a:prstGeom prst="rect">
            <a:avLst/>
          </a:prstGeom>
          <a:solidFill>
            <a:srgbClr val="FF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375904" y="3198693"/>
            <a:ext cx="2514600" cy="19543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67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필요한 조치 확인 · 실행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4592" y="3677894"/>
            <a:ext cx="2743200" cy="2154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화면 구성 원칙 · 은행 업무도구로서의 요건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4592" y="393192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65760" y="4099967"/>
            <a:ext cx="2148840" cy="2308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정보 위치 고정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4416552"/>
            <a:ext cx="2148840" cy="4247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사건이 진행되어도 Section 위치가 바뀌지 않습니다. 담당자가 매번 화면을 다시 읽지 않도록 위치로 의미를 기억하게 합니다.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393192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64408" y="4099967"/>
            <a:ext cx="2148840" cy="2308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상태색 4종만 사용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64408" y="4416552"/>
            <a:ext cx="2148840" cy="4247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색은 장식이 아니라 상태 표기 수단입니다.
■ 기본 · 정보   ■ 확인 필요
■ 확인 완료     ■ 피해 · 긴급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1888" y="393192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163055" y="4099967"/>
            <a:ext cx="2148840" cy="2308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Delta 갱신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63055" y="4416552"/>
            <a:ext cx="2148840" cy="4247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화면 전체를 새로 로드하지 않습니다. 질문 1개 · Section 1개 · Timeline 1줄 단위로 바뀐 부분만 갱신되어 원래 위치를 잃지 않습니다.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51392" y="393192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52560" y="4099967"/>
            <a:ext cx="2148840" cy="2308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142B48"/>
                </a:solidFill>
                <a:latin typeface="페이퍼로지 7 Bold" pitchFamily="2" charset="-127"/>
                <a:ea typeface="페이퍼로지 7 Bold" pitchFamily="2" charset="-127"/>
              </a:rPr>
              <a:t>근거 동반 표시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4416552"/>
            <a:ext cx="2148840" cy="3139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" b="0">
                <a:solidFill>
                  <a:srgbClr val="677A94"/>
                </a:solidFill>
                <a:latin typeface="페이퍼로지 7 Bold" pitchFamily="2" charset="-127"/>
                <a:ea typeface="페이퍼로지 7 Bold" pitchFamily="2" charset="-127"/>
              </a:rPr>
              <a:t>모든 권고 옆에 판단 근거와 확인 상태를 함께 표시합니다. 담당자가 결과가 아니라 근거로 판단합니다.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6080760"/>
            <a:ext cx="11109960" cy="512064"/>
          </a:xfrm>
          <a:prstGeom prst="rect">
            <a:avLst/>
          </a:prstGeom>
          <a:solidFill>
            <a:srgbClr val="11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31520" y="6196843"/>
            <a:ext cx="10607040" cy="2616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■  읽는 시간이 아니라 조치까지 걸리는 시간을 기준으로 설계한 은행 업무 화면입니다.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1373</Words>
  <Application>Microsoft Office PowerPoint</Application>
  <PresentationFormat>Widescreen</PresentationFormat>
  <Paragraphs>218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Malgun Gothic</vt:lpstr>
      <vt:lpstr>Malgun Gothic</vt:lpstr>
      <vt:lpstr>페이퍼로지 4 Regular</vt:lpstr>
      <vt:lpstr>페이퍼로지 7 Bold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mbc</dc:creator>
  <cp:lastModifiedBy>mbc</cp:lastModifiedBy>
  <cp:revision>5</cp:revision>
  <dcterms:created xsi:type="dcterms:W3CDTF">2026-08-31T11:11:23Z</dcterms:created>
  <dcterms:modified xsi:type="dcterms:W3CDTF">2026-09-06T07:36:56Z</dcterms:modified>
</cp:coreProperties>
</file>