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72" r:id="rId2"/>
    <p:sldId id="289" r:id="rId3"/>
    <p:sldId id="307" r:id="rId4"/>
    <p:sldId id="258" r:id="rId5"/>
    <p:sldId id="305" r:id="rId6"/>
    <p:sldId id="286" r:id="rId7"/>
    <p:sldId id="312" r:id="rId8"/>
    <p:sldId id="256" r:id="rId9"/>
    <p:sldId id="257" r:id="rId10"/>
    <p:sldId id="264" r:id="rId11"/>
    <p:sldId id="262" r:id="rId12"/>
    <p:sldId id="321" r:id="rId13"/>
    <p:sldId id="322" r:id="rId14"/>
    <p:sldId id="306" r:id="rId15"/>
    <p:sldId id="263" r:id="rId16"/>
    <p:sldId id="317" r:id="rId17"/>
    <p:sldId id="261" r:id="rId18"/>
    <p:sldId id="323" r:id="rId19"/>
    <p:sldId id="265" r:id="rId20"/>
    <p:sldId id="266" r:id="rId21"/>
    <p:sldId id="267" r:id="rId22"/>
    <p:sldId id="296" r:id="rId23"/>
    <p:sldId id="268" r:id="rId24"/>
    <p:sldId id="271" r:id="rId25"/>
    <p:sldId id="269" r:id="rId26"/>
    <p:sldId id="270" r:id="rId27"/>
    <p:sldId id="302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bc" initials="m" lastIdx="1" clrIdx="0">
    <p:extLst>
      <p:ext uri="{19B8F6BF-5375-455C-9EA6-DF929625EA0E}">
        <p15:presenceInfo xmlns:p15="http://schemas.microsoft.com/office/powerpoint/2012/main" userId="mb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B16"/>
    <a:srgbClr val="E56766"/>
    <a:srgbClr val="0B1F3A"/>
    <a:srgbClr val="E66867"/>
    <a:srgbClr val="49A8FF"/>
    <a:srgbClr val="002060"/>
    <a:srgbClr val="5E85B0"/>
    <a:srgbClr val="2F7CF6"/>
    <a:srgbClr val="10213D"/>
    <a:srgbClr val="0E27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53" autoAdjust="0"/>
    <p:restoredTop sz="94660"/>
  </p:normalViewPr>
  <p:slideViewPr>
    <p:cSldViewPr snapToGrid="0">
      <p:cViewPr>
        <p:scale>
          <a:sx n="100" d="100"/>
          <a:sy n="100" d="100"/>
        </p:scale>
        <p:origin x="912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dPt>
            <c:idx val="9"/>
            <c:marker>
              <c:symbol val="circle"/>
              <c:size val="5"/>
              <c:spPr>
                <a:solidFill>
                  <a:schemeClr val="tx1"/>
                </a:solidFill>
                <a:ln w="9525">
                  <a:solidFill>
                    <a:schemeClr val="tx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4BD-4353-81B5-3CAA4CB197C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rgbClr val="E66867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numRef>
              <c:f>Sheet1!$A$2:$A$11</c:f>
              <c:numCache>
                <c:formatCode>General</c:formatCode>
                <c:ptCount val="10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862</c:v>
                </c:pt>
                <c:pt idx="1">
                  <c:v>1018</c:v>
                </c:pt>
                <c:pt idx="2">
                  <c:v>1184</c:v>
                </c:pt>
                <c:pt idx="3">
                  <c:v>1699</c:v>
                </c:pt>
                <c:pt idx="4">
                  <c:v>2210</c:v>
                </c:pt>
                <c:pt idx="5">
                  <c:v>2500</c:v>
                </c:pt>
                <c:pt idx="6">
                  <c:v>2491</c:v>
                </c:pt>
                <c:pt idx="7">
                  <c:v>2366</c:v>
                </c:pt>
                <c:pt idx="8">
                  <c:v>4100</c:v>
                </c:pt>
                <c:pt idx="9">
                  <c:v>5384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4BD-4353-81B5-3CAA4CB197C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30342624"/>
        <c:axId val="630342952"/>
      </c:lineChart>
      <c:catAx>
        <c:axId val="630342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+mn-cs"/>
              </a:defRPr>
            </a:pPr>
            <a:endParaRPr lang="ko-KR"/>
          </a:p>
        </c:txPr>
        <c:crossAx val="630342952"/>
        <c:crosses val="autoZero"/>
        <c:auto val="1"/>
        <c:lblAlgn val="ctr"/>
        <c:lblOffset val="100"/>
        <c:noMultiLvlLbl val="0"/>
      </c:catAx>
      <c:valAx>
        <c:axId val="630342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+mn-cs"/>
              </a:defRPr>
            </a:pPr>
            <a:endParaRPr lang="ko-KR"/>
          </a:p>
        </c:txPr>
        <c:crossAx val="6303426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>
          <a:latin typeface="나눔스퀘어_ac Bold" panose="020B0600000101010101" pitchFamily="50" charset="-127"/>
          <a:ea typeface="나눔스퀘어_ac Bold" panose="020B0600000101010101" pitchFamily="50" charset="-127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피해금액 (억원)</c:v>
                </c:pt>
              </c:strCache>
            </c:strRef>
          </c:tx>
          <c:spPr>
            <a:solidFill>
              <a:srgbClr val="5E85B0"/>
            </a:solidFill>
            <a:ln>
              <a:noFill/>
            </a:ln>
            <a:effectLst/>
          </c:spPr>
          <c:invertIfNegative val="0"/>
          <c:dPt>
            <c:idx val="9"/>
            <c:invertIfNegative val="0"/>
            <c:bubble3D val="0"/>
            <c:spPr>
              <a:solidFill>
                <a:srgbClr val="E567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C5-4D74-A2C0-0B00A1C835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  <a:cs typeface="+mn-cs"/>
                  </a:defRPr>
                </a:pPr>
                <a:endParaRPr lang="ko-K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1468</c:v>
                </c:pt>
                <c:pt idx="1">
                  <c:v>2470</c:v>
                </c:pt>
                <c:pt idx="2">
                  <c:v>4040</c:v>
                </c:pt>
                <c:pt idx="3">
                  <c:v>6398</c:v>
                </c:pt>
                <c:pt idx="4">
                  <c:v>7000</c:v>
                </c:pt>
                <c:pt idx="5">
                  <c:v>7744</c:v>
                </c:pt>
                <c:pt idx="6">
                  <c:v>5438</c:v>
                </c:pt>
                <c:pt idx="7">
                  <c:v>4472</c:v>
                </c:pt>
                <c:pt idx="8">
                  <c:v>8545</c:v>
                </c:pt>
                <c:pt idx="9">
                  <c:v>12578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C5-4D74-A2C0-0B00A1C835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axId val="252944200"/>
        <c:axId val="25294288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발생건수 (건)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dLbls>
            <c:dLbl>
              <c:idx val="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나눔스퀘어_ac Bold" panose="020B0600000101010101" pitchFamily="50" charset="-127"/>
                      <a:ea typeface="나눔스퀘어_ac Bold" panose="020B0600000101010101" pitchFamily="50" charset="-127"/>
                      <a:cs typeface="+mn-cs"/>
                    </a:defRPr>
                  </a:pPr>
                  <a:endParaRPr lang="ko-K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1BC5-4D74-A2C0-0B00A1C835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17040</c:v>
                </c:pt>
                <c:pt idx="1">
                  <c:v>24259</c:v>
                </c:pt>
                <c:pt idx="2">
                  <c:v>34132</c:v>
                </c:pt>
                <c:pt idx="3">
                  <c:v>37667</c:v>
                </c:pt>
                <c:pt idx="4">
                  <c:v>31681</c:v>
                </c:pt>
                <c:pt idx="5">
                  <c:v>30982</c:v>
                </c:pt>
                <c:pt idx="6">
                  <c:v>21832</c:v>
                </c:pt>
                <c:pt idx="7">
                  <c:v>18902</c:v>
                </c:pt>
                <c:pt idx="8">
                  <c:v>20839</c:v>
                </c:pt>
                <c:pt idx="9">
                  <c:v>23360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BC5-4D74-A2C0-0B00A1C835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33958696"/>
        <c:axId val="833957384"/>
      </c:lineChart>
      <c:catAx>
        <c:axId val="252944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+mn-cs"/>
              </a:defRPr>
            </a:pPr>
            <a:endParaRPr lang="ko-KR"/>
          </a:p>
        </c:txPr>
        <c:crossAx val="252942888"/>
        <c:crosses val="autoZero"/>
        <c:auto val="1"/>
        <c:lblAlgn val="ctr"/>
        <c:lblOffset val="100"/>
        <c:noMultiLvlLbl val="0"/>
      </c:catAx>
      <c:valAx>
        <c:axId val="252942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+mn-cs"/>
              </a:defRPr>
            </a:pPr>
            <a:endParaRPr lang="ko-KR"/>
          </a:p>
        </c:txPr>
        <c:crossAx val="252944200"/>
        <c:crosses val="autoZero"/>
        <c:crossBetween val="between"/>
      </c:valAx>
      <c:valAx>
        <c:axId val="83395738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+mn-cs"/>
              </a:defRPr>
            </a:pPr>
            <a:endParaRPr lang="ko-KR"/>
          </a:p>
        </c:txPr>
        <c:crossAx val="833958696"/>
        <c:crosses val="max"/>
        <c:crossBetween val="between"/>
      </c:valAx>
      <c:catAx>
        <c:axId val="83395869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339573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>
          <a:latin typeface="나눔스퀘어_ac Bold" panose="020B0600000101010101" pitchFamily="50" charset="-127"/>
          <a:ea typeface="나눔스퀘어_ac Bold" panose="020B0600000101010101" pitchFamily="50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9D40B9-442F-4379-B62C-50857005B014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AA1BA-B990-416E-92A8-7DD949855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6655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83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https://news.kbs.co.kr/news/pc/view/view.do?ncd=8591764</a:t>
            </a:r>
          </a:p>
          <a:p>
            <a:r>
              <a:rPr lang="en-US" dirty="0"/>
              <a:t>https://www.yna.co.kr/view/AKR20260527080100055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089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4530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515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5982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
[Sources]
https://news.sktelecom.com/218051
https://news.sktelecom.com/217274
https://news.sktelecom.com/224228
https://www.fsc.go.kr/no010101/87565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
[Sources]
https://news.sktelecom.com/218051
https://news.sktelecom.com/217274
https://news.sktelecom.com/224228
https://news.lguplus.com/20057
https://www.fsc.go.kr/no010101/87565
https://www.fsc.go.kr/no010101/86997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825F1-9B96-434A-8F84-8E13385EE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8E24B-0332-48A5-BE72-7D6D7D5BCF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54645-9418-4B00-808B-DCEA688DC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10861-48B6-481D-92FB-14BBA4611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56A97-60F8-410D-AC45-02B24A7AF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832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A4A16-7AFC-4E56-8116-359F22C15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6CDDD-6F0D-43D5-ACE9-CEE3629D5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E97C0-0245-40CD-B32D-9A0861574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61660-6F35-43EF-AA03-C9BAD6FB6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300E5-7CAF-4E82-8745-DD95AF19E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367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94B64-C4A1-4716-B6AA-9B1CFFB1A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953C3-DC54-4B4F-936F-728ADFFFC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72A36-20C6-4384-9DB7-D8B15FB2C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DDD8A-B8D6-4223-B25E-1D0279614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D1C47-2930-4438-B29E-CB3587BB9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87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5231-41DC-42AC-A996-A58765762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FDF20-D71D-4455-9FB6-D9529AB5AD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2126F5-90A0-49BC-B18A-E120A5B5A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1EDDDC-330C-4B8D-A3A2-D04878B3B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1BFB2-4AEF-4875-B5DD-4B00B66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F090D-5DD0-45A9-A07D-462AFDBB7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2581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60F6A-6F0D-4372-BB37-75AFDBB6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F6076-985E-4AE1-A13D-DB6E53A0C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1903C3-EFE3-4915-98D7-E22FC994D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1897D4-6C75-4354-835C-B88FCF75CA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3F3649-5C4B-4FA7-9082-F0226512E1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4454A8-E9EA-42F6-B46C-170C30CBF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F80141-BAED-4F7F-8403-7075ADB8D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DEE564-FC66-4A86-AF92-DFB136043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6157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1065A-E81B-4517-B4E7-4EC02FF75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36D705-C0B5-4213-A274-07C65FD1F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F75015-697E-45BF-8C33-976681E86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FBA8F-2031-4F60-BBFC-E8758451A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289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832EF1-D7E3-4909-8D32-C27D2E2BD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A86A5-7B94-431F-ADF6-637C10AC5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0DB09-3EFF-4D81-B13F-8437B3913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795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6F734-C3B4-497A-94B3-566C3A207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284BF-856F-48C1-9D83-76115021E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237885-2C0F-46EA-AC64-F71778F37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B7929-0F58-4F77-9E7D-3404B37A4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A31AD-4D8D-49B5-BF0A-E76592F0B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E14CB-8911-447F-84E7-92D96B9B5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228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BFE16-EF20-469F-B4C1-2BB4ADBB5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EEDCF2-7A87-4013-8665-D8A0097743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DF7F6E-DEF1-4591-8CE4-5034CEFDB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3A68D-BD39-409C-85CD-07FE60E79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FA09B-3F3E-43B2-B916-AB2191794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F1E6-7205-4AAA-A142-33EFA8824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1408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6845-87EE-49C4-A54D-4DD88F5DE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F6E6A-4977-4CEC-A8D9-7064A84627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C0440-3E4A-48C3-AACE-31A03175A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55132-9CD7-4D8C-9500-57BA9DAA4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02DDC-0868-49FA-A7B5-3DBED67D5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331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2B7006-E9B3-4984-8A5C-936F1BA9A9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041A9-D43B-4632-BCCA-A9418D8DC2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B6C7C-AFE8-4214-B42F-E7F256617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B8BBB-3BCE-46E4-84F5-006AEA9EF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E7C3B-1CFD-4E17-ABB5-5ABD3B817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997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ARK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6464808"/>
            <a:ext cx="11109960" cy="0"/>
          </a:xfrm>
          <a:prstGeom prst="line">
            <a:avLst/>
          </a:prstGeom>
          <a:noFill/>
          <a:ln w="10160">
            <a:solidFill>
              <a:srgbClr val="24446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86A6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BB4B4F1C-6A2C-42AD-91C2-CF0DFB3D0BC7}"/>
              </a:ext>
            </a:extLst>
          </p:cNvPr>
          <p:cNvSpPr/>
          <p:nvPr userDrawn="1"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232274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ARK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A96E590-9872-4B78-AF25-07765B3C7807}"/>
              </a:ext>
            </a:extLst>
          </p:cNvPr>
          <p:cNvSpPr/>
          <p:nvPr userDrawn="1"/>
        </p:nvSpPr>
        <p:spPr>
          <a:xfrm>
            <a:off x="0" y="73152"/>
            <a:ext cx="12191695" cy="6784848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0" y="6464808"/>
            <a:ext cx="11109960" cy="0"/>
          </a:xfrm>
          <a:prstGeom prst="line">
            <a:avLst/>
          </a:prstGeom>
          <a:noFill/>
          <a:ln w="10160">
            <a:solidFill>
              <a:srgbClr val="24446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D86A6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6F8AB425-CE47-448A-A682-729483C69FDC}"/>
              </a:ext>
            </a:extLst>
          </p:cNvPr>
          <p:cNvSpPr/>
          <p:nvPr userDrawn="1"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00294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IGHT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B9BABCA-8F5D-4C86-A07A-BAECAF610FF4}"/>
              </a:ext>
            </a:extLst>
          </p:cNvPr>
          <p:cNvSpPr/>
          <p:nvPr userDrawn="1"/>
        </p:nvSpPr>
        <p:spPr>
          <a:xfrm>
            <a:off x="0" y="73152"/>
            <a:ext cx="12191695" cy="6784848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64808"/>
            <a:ext cx="11109960" cy="0"/>
          </a:xfrm>
          <a:prstGeom prst="line">
            <a:avLst/>
          </a:prstGeom>
          <a:noFill/>
          <a:ln w="10160">
            <a:solidFill>
              <a:srgbClr val="DCE8F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608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96EEB8-1A5C-44A5-B5C2-7E736071E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C1D718-3418-4B18-B782-CCF9CEDA8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CCEB8-E72F-428B-8B58-F801AD8B6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A2DB2-CDF2-401D-A12A-A35C25BBD6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113C4-3B0A-46FB-A37B-2C939FBD85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1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3" r:id="rId13"/>
    <p:sldLayoutId id="2147483661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C0C0CB8F-415D-407B-8561-941E5B4C4356}"/>
              </a:ext>
            </a:extLst>
          </p:cNvPr>
          <p:cNvSpPr txBox="1"/>
          <p:nvPr/>
        </p:nvSpPr>
        <p:spPr>
          <a:xfrm>
            <a:off x="491798" y="3677109"/>
            <a:ext cx="6104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400" dirty="0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</a:rPr>
              <a:t>독립검증 기반 보이스피싱 금융안전 서비스 제안서</a:t>
            </a:r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1E31A4B3-526D-4E88-A19C-2D7AFA70D160}"/>
              </a:ext>
            </a:extLst>
          </p:cNvPr>
          <p:cNvSpPr txBox="1"/>
          <p:nvPr/>
        </p:nvSpPr>
        <p:spPr>
          <a:xfrm>
            <a:off x="547516" y="650138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altLang="ko-KR" sz="1050" dirty="0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</a:rPr>
              <a:t>Team. </a:t>
            </a:r>
            <a:r>
              <a:rPr lang="ko-KR" altLang="en-US" sz="1050" dirty="0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</a:rPr>
              <a:t>가드레일즈</a:t>
            </a:r>
            <a:endParaRPr lang="en-US" sz="1050" dirty="0">
              <a:solidFill>
                <a:srgbClr val="0E2746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3" name="Shape 0">
            <a:extLst>
              <a:ext uri="{FF2B5EF4-FFF2-40B4-BE49-F238E27FC236}">
                <a16:creationId xmlns:a16="http://schemas.microsoft.com/office/drawing/2014/main" id="{7B1A6ED6-773F-42B8-8ED8-17738C505C8C}"/>
              </a:ext>
            </a:extLst>
          </p:cNvPr>
          <p:cNvSpPr/>
          <p:nvPr/>
        </p:nvSpPr>
        <p:spPr>
          <a:xfrm>
            <a:off x="7051548" y="0"/>
            <a:ext cx="5140452" cy="6858000"/>
          </a:xfrm>
          <a:prstGeom prst="rect">
            <a:avLst/>
          </a:prstGeom>
          <a:solidFill>
            <a:srgbClr val="0E2746"/>
          </a:solidFill>
          <a:ln w="12700">
            <a:solidFill>
              <a:srgbClr val="0E2746"/>
            </a:solidFill>
            <a:prstDash val="solid"/>
          </a:ln>
        </p:spPr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8EE268D-001A-4A65-B643-028EB914480F}"/>
              </a:ext>
            </a:extLst>
          </p:cNvPr>
          <p:cNvGrpSpPr/>
          <p:nvPr/>
        </p:nvGrpSpPr>
        <p:grpSpPr>
          <a:xfrm>
            <a:off x="547517" y="766064"/>
            <a:ext cx="5294484" cy="3352801"/>
            <a:chOff x="550563" y="766064"/>
            <a:chExt cx="5689815" cy="3352801"/>
          </a:xfrm>
        </p:grpSpPr>
        <p:sp>
          <p:nvSpPr>
            <p:cNvPr id="59" name="Shape 9">
              <a:extLst>
                <a:ext uri="{FF2B5EF4-FFF2-40B4-BE49-F238E27FC236}">
                  <a16:creationId xmlns:a16="http://schemas.microsoft.com/office/drawing/2014/main" id="{634C45B3-C238-4E3E-AEED-0B9672BB4F65}"/>
                </a:ext>
              </a:extLst>
            </p:cNvPr>
            <p:cNvSpPr/>
            <p:nvPr/>
          </p:nvSpPr>
          <p:spPr>
            <a:xfrm>
              <a:off x="550563" y="766064"/>
              <a:ext cx="5689815" cy="0"/>
            </a:xfrm>
            <a:prstGeom prst="line">
              <a:avLst/>
            </a:prstGeom>
            <a:noFill/>
            <a:ln w="12700">
              <a:solidFill>
                <a:srgbClr val="2A537D"/>
              </a:solidFill>
              <a:prstDash val="solid"/>
              <a:headEnd type="none"/>
              <a:tailEnd type="none"/>
            </a:ln>
          </p:spPr>
        </p:sp>
        <p:sp>
          <p:nvSpPr>
            <p:cNvPr id="57" name="Shape 9">
              <a:extLst>
                <a:ext uri="{FF2B5EF4-FFF2-40B4-BE49-F238E27FC236}">
                  <a16:creationId xmlns:a16="http://schemas.microsoft.com/office/drawing/2014/main" id="{09CB9E57-402C-4513-8361-0726DA1036CA}"/>
                </a:ext>
              </a:extLst>
            </p:cNvPr>
            <p:cNvSpPr/>
            <p:nvPr/>
          </p:nvSpPr>
          <p:spPr>
            <a:xfrm>
              <a:off x="550563" y="3543131"/>
              <a:ext cx="5689815" cy="0"/>
            </a:xfrm>
            <a:prstGeom prst="line">
              <a:avLst/>
            </a:prstGeom>
            <a:noFill/>
            <a:ln w="12700">
              <a:solidFill>
                <a:srgbClr val="2A537D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8" name="Shape 9">
              <a:extLst>
                <a:ext uri="{FF2B5EF4-FFF2-40B4-BE49-F238E27FC236}">
                  <a16:creationId xmlns:a16="http://schemas.microsoft.com/office/drawing/2014/main" id="{7C5AD97E-4F05-4367-AE0F-6916A16D68BF}"/>
                </a:ext>
              </a:extLst>
            </p:cNvPr>
            <p:cNvSpPr/>
            <p:nvPr/>
          </p:nvSpPr>
          <p:spPr>
            <a:xfrm>
              <a:off x="550563" y="4118865"/>
              <a:ext cx="5689815" cy="0"/>
            </a:xfrm>
            <a:prstGeom prst="line">
              <a:avLst/>
            </a:prstGeom>
            <a:noFill/>
            <a:ln w="12700">
              <a:solidFill>
                <a:srgbClr val="2A537D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72DDACD-5AE2-44C9-8A2E-B51DE4B0AB0E}"/>
              </a:ext>
            </a:extLst>
          </p:cNvPr>
          <p:cNvGrpSpPr/>
          <p:nvPr/>
        </p:nvGrpSpPr>
        <p:grpSpPr>
          <a:xfrm>
            <a:off x="547516" y="593683"/>
            <a:ext cx="6104020" cy="2949448"/>
            <a:chOff x="550564" y="585216"/>
            <a:chExt cx="6104020" cy="2949448"/>
          </a:xfrm>
        </p:grpSpPr>
        <p:sp>
          <p:nvSpPr>
            <p:cNvPr id="7" name="Shape 5"/>
            <p:cNvSpPr/>
            <p:nvPr/>
          </p:nvSpPr>
          <p:spPr>
            <a:xfrm>
              <a:off x="550564" y="585216"/>
              <a:ext cx="2240280" cy="310896"/>
            </a:xfrm>
            <a:prstGeom prst="roundRect">
              <a:avLst>
                <a:gd name="adj" fmla="val 50000"/>
              </a:avLst>
            </a:prstGeom>
            <a:solidFill>
              <a:srgbClr val="18395D"/>
            </a:solidFill>
            <a:ln w="10160">
              <a:solidFill>
                <a:srgbClr val="244F78"/>
              </a:solidFill>
              <a:prstDash val="solid"/>
            </a:ln>
          </p:spPr>
        </p:sp>
        <p:sp>
          <p:nvSpPr>
            <p:cNvPr id="8" name="Text 6"/>
            <p:cNvSpPr txBox="1"/>
            <p:nvPr/>
          </p:nvSpPr>
          <p:spPr>
            <a:xfrm>
              <a:off x="623716" y="621792"/>
              <a:ext cx="209397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50" b="1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2026 </a:t>
              </a:r>
              <a:r>
                <a:rPr lang="ko-KR" altLang="en-US" sz="1050" b="1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금융 </a:t>
              </a:r>
              <a:r>
                <a:rPr lang="en-US" sz="1050" b="1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AI Challenge</a:t>
              </a:r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550564" y="850392"/>
              <a:ext cx="6104020" cy="26842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ko-KR" altLang="en-US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보이스피싱이 만든 혼란</a:t>
              </a:r>
              <a:r>
                <a:rPr lang="en-US" altLang="ko-KR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 </a:t>
              </a:r>
              <a:r>
                <a:rPr lang="ko-KR" altLang="en-US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속에</a:t>
              </a:r>
              <a:endParaRPr lang="en-US" altLang="ko-KR" sz="2800" b="1" dirty="0">
                <a:solidFill>
                  <a:srgbClr val="0E2746"/>
                </a:solidFill>
                <a:latin typeface="페이퍼로지 9 Black" pitchFamily="2" charset="-127"/>
                <a:ea typeface="페이퍼로지 9 Black" pitchFamily="2" charset="-127"/>
                <a:cs typeface="NanumSquare Bold" pitchFamily="34" charset="-120"/>
              </a:endParaRPr>
            </a:p>
            <a:p>
              <a:pPr marL="0" indent="0" algn="l">
                <a:buNone/>
              </a:pPr>
              <a:r>
                <a:rPr lang="ko-KR" altLang="en-US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금융소비자를 혼자 남기지 않도록</a:t>
              </a:r>
              <a:endParaRPr lang="en-US" altLang="ko-KR" sz="2800" b="1" dirty="0">
                <a:solidFill>
                  <a:srgbClr val="0E2746"/>
                </a:solidFill>
                <a:latin typeface="페이퍼로지 9 Black" pitchFamily="2" charset="-127"/>
                <a:ea typeface="페이퍼로지 9 Black" pitchFamily="2" charset="-127"/>
                <a:cs typeface="NanumSquare Bold" pitchFamily="34" charset="-120"/>
              </a:endParaRPr>
            </a:p>
            <a:p>
              <a:pPr marL="0" indent="0" algn="l">
                <a:buNone/>
              </a:pPr>
              <a:endParaRPr lang="en-US" altLang="ko-KR" sz="2800" b="1" dirty="0">
                <a:solidFill>
                  <a:srgbClr val="0E2746"/>
                </a:solidFill>
                <a:latin typeface="페이퍼로지 9 Black" pitchFamily="2" charset="-127"/>
                <a:ea typeface="페이퍼로지 9 Black" pitchFamily="2" charset="-127"/>
                <a:cs typeface="NanumSquare Bold" pitchFamily="34" charset="-120"/>
              </a:endParaRPr>
            </a:p>
            <a:p>
              <a:pPr marL="0" indent="0" algn="l">
                <a:buNone/>
              </a:pPr>
              <a:r>
                <a:rPr lang="ko-KR" altLang="en-US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함께 확인하고</a:t>
              </a:r>
              <a:endParaRPr lang="en-US" altLang="ko-KR" sz="2800" b="1" dirty="0">
                <a:solidFill>
                  <a:srgbClr val="0E2746"/>
                </a:solidFill>
                <a:latin typeface="페이퍼로지 9 Black" pitchFamily="2" charset="-127"/>
                <a:ea typeface="페이퍼로지 9 Black" pitchFamily="2" charset="-127"/>
                <a:cs typeface="NanumSquare Bold" pitchFamily="34" charset="-120"/>
              </a:endParaRPr>
            </a:p>
            <a:p>
              <a:pPr marL="0" indent="0" algn="l">
                <a:buNone/>
              </a:pPr>
              <a:r>
                <a:rPr lang="ko-KR" altLang="en-US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한 번 더 막아주는 </a:t>
              </a:r>
              <a:r>
                <a:rPr lang="en-US" altLang="ko-KR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AI</a:t>
              </a:r>
              <a:r>
                <a:rPr lang="ko-KR" altLang="en-US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솔루션</a:t>
              </a:r>
              <a:endParaRPr lang="en-US" altLang="ko-KR" sz="2800" b="1" dirty="0">
                <a:solidFill>
                  <a:srgbClr val="0E2746"/>
                </a:solidFill>
                <a:latin typeface="페이퍼로지 9 Black" pitchFamily="2" charset="-127"/>
                <a:ea typeface="페이퍼로지 9 Black" pitchFamily="2" charset="-127"/>
                <a:cs typeface="NanumSquare Bold" pitchFamily="34" charset="-120"/>
              </a:endParaRPr>
            </a:p>
          </p:txBody>
        </p:sp>
      </p:grp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684BCE10-6885-4AD1-A68A-60F056C73D54}"/>
              </a:ext>
            </a:extLst>
          </p:cNvPr>
          <p:cNvSpPr/>
          <p:nvPr/>
        </p:nvSpPr>
        <p:spPr>
          <a:xfrm>
            <a:off x="7953865" y="766064"/>
            <a:ext cx="3340100" cy="65183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스마트폰 디바이스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안에 앱 로고</a:t>
            </a:r>
          </a:p>
        </p:txBody>
      </p:sp>
    </p:spTree>
    <p:extLst>
      <p:ext uri="{BB962C8B-B14F-4D97-AF65-F5344CB8AC3E}">
        <p14:creationId xmlns:p14="http://schemas.microsoft.com/office/powerpoint/2010/main" val="2218240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6E8D74D-AC22-40D6-AD00-C60A385F8D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0" r="5720"/>
          <a:stretch/>
        </p:blipFill>
        <p:spPr>
          <a:xfrm>
            <a:off x="0" y="-12700"/>
            <a:ext cx="12192000" cy="6883400"/>
          </a:xfrm>
          <a:prstGeom prst="rect">
            <a:avLst/>
          </a:prstGeom>
        </p:spPr>
      </p:pic>
      <p:sp>
        <p:nvSpPr>
          <p:cNvPr id="13" name="Shape 0">
            <a:extLst>
              <a:ext uri="{FF2B5EF4-FFF2-40B4-BE49-F238E27FC236}">
                <a16:creationId xmlns:a16="http://schemas.microsoft.com/office/drawing/2014/main" id="{513B6724-1F32-4AB3-95A3-5DF13A0497FF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30000"/>
            </a:schemeClr>
          </a:solidFill>
          <a:ln w="12700">
            <a:solidFill>
              <a:srgbClr val="0E2746"/>
            </a:solidFill>
            <a:prstDash val="solid"/>
          </a:ln>
        </p:spPr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1842F57-B99E-45AA-9322-69849BDD5513}"/>
              </a:ext>
            </a:extLst>
          </p:cNvPr>
          <p:cNvGrpSpPr/>
          <p:nvPr/>
        </p:nvGrpSpPr>
        <p:grpSpPr>
          <a:xfrm>
            <a:off x="676209" y="614224"/>
            <a:ext cx="10701275" cy="5835195"/>
            <a:chOff x="676209" y="626924"/>
            <a:chExt cx="10701275" cy="583519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28ADCEB-E50C-42A8-8F4D-A33A939F0E5D}"/>
                </a:ext>
              </a:extLst>
            </p:cNvPr>
            <p:cNvSpPr txBox="1"/>
            <p:nvPr/>
          </p:nvSpPr>
          <p:spPr>
            <a:xfrm>
              <a:off x="3051175" y="626924"/>
              <a:ext cx="6102350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ko-KR" altLang="en-US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사람의 불안과 취약점을 이용해</a:t>
              </a:r>
              <a:endParaRPr lang="en-US" altLang="ko-KR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pPr marL="0" indent="0" algn="ctr">
                <a:buNone/>
              </a:pPr>
              <a:r>
                <a:rPr lang="ko-KR" altLang="en-US" b="1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잘못된 판단을 유도하는 금융 범죄</a:t>
              </a:r>
            </a:p>
            <a:p>
              <a:pPr marL="0" indent="0" algn="ctr">
                <a:buNone/>
              </a:pPr>
              <a:r>
                <a:rPr lang="ko-KR" altLang="en-US" sz="5400" b="1" dirty="0">
                  <a:solidFill>
                    <a:schemeClr val="bg1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보이스피싱</a:t>
              </a:r>
              <a:endParaRPr lang="en-US" altLang="ko-KR" sz="5400" b="1" dirty="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  <a:cs typeface="NanumSquare Bold" pitchFamily="34" charset="-12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82EADBD-3891-42CD-8D93-52D2B87ED37A}"/>
                </a:ext>
              </a:extLst>
            </p:cNvPr>
            <p:cNvSpPr txBox="1"/>
            <p:nvPr/>
          </p:nvSpPr>
          <p:spPr>
            <a:xfrm>
              <a:off x="2749550" y="5261790"/>
              <a:ext cx="6689852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ko-KR" altLang="en-US" sz="1400" dirty="0">
                  <a:solidFill>
                    <a:schemeClr val="bg1"/>
                  </a:solidFill>
                  <a:latin typeface="NanumSquare Bold" panose="020B0600000101010101" pitchFamily="50" charset="-127"/>
                  <a:ea typeface="NanumSquare Bold" panose="020B0600000101010101" pitchFamily="50" charset="-127"/>
                </a:rPr>
                <a:t>딥페이크</a:t>
              </a:r>
              <a:r>
                <a:rPr lang="en-US" altLang="ko-KR" sz="1400" dirty="0">
                  <a:solidFill>
                    <a:schemeClr val="bg1"/>
                  </a:solidFill>
                  <a:latin typeface="NanumSquare Bold" panose="020B0600000101010101" pitchFamily="50" charset="-127"/>
                  <a:ea typeface="NanumSquare Bold" panose="020B0600000101010101" pitchFamily="50" charset="-127"/>
                </a:rPr>
                <a:t>, </a:t>
              </a:r>
              <a:r>
                <a:rPr lang="ko-KR" altLang="en-US" sz="1400" dirty="0">
                  <a:solidFill>
                    <a:schemeClr val="bg1"/>
                  </a:solidFill>
                  <a:latin typeface="NanumSquare Bold" panose="020B0600000101010101" pitchFamily="50" charset="-127"/>
                  <a:ea typeface="NanumSquare Bold" panose="020B0600000101010101" pitchFamily="50" charset="-127"/>
                </a:rPr>
                <a:t>전화 가로채기</a:t>
              </a:r>
              <a:r>
                <a:rPr lang="en-US" altLang="ko-KR" sz="1400" dirty="0">
                  <a:solidFill>
                    <a:schemeClr val="bg1"/>
                  </a:solidFill>
                  <a:latin typeface="NanumSquare Bold" panose="020B0600000101010101" pitchFamily="50" charset="-127"/>
                  <a:ea typeface="NanumSquare Bold" panose="020B0600000101010101" pitchFamily="50" charset="-127"/>
                </a:rPr>
                <a:t>… </a:t>
              </a:r>
              <a:r>
                <a:rPr lang="ko-KR" altLang="en-US" sz="1400" dirty="0">
                  <a:solidFill>
                    <a:schemeClr val="bg1"/>
                  </a:solidFill>
                  <a:latin typeface="NanumSquare Bold" panose="020B0600000101010101" pitchFamily="50" charset="-127"/>
                  <a:ea typeface="NanumSquare Bold" panose="020B0600000101010101" pitchFamily="50" charset="-127"/>
                </a:rPr>
                <a:t>끝없이 발전하는 수법</a:t>
              </a:r>
              <a:endParaRPr lang="en-US" altLang="ko-KR" sz="1400" dirty="0">
                <a:solidFill>
                  <a:schemeClr val="bg1"/>
                </a:solidFill>
                <a:latin typeface="NanumSquare Bold" panose="020B0600000101010101" pitchFamily="50" charset="-127"/>
                <a:ea typeface="NanumSquare Bold" panose="020B0600000101010101" pitchFamily="50" charset="-127"/>
              </a:endParaRPr>
            </a:p>
            <a:p>
              <a:pPr marL="0" indent="0" algn="ctr">
                <a:buNone/>
              </a:pPr>
              <a:r>
                <a:rPr lang="ko-KR" altLang="en-US" sz="1400" dirty="0">
                  <a:solidFill>
                    <a:schemeClr val="bg1"/>
                  </a:solidFill>
                  <a:latin typeface="NanumSquare Bold" panose="020B0600000101010101" pitchFamily="50" charset="-127"/>
                  <a:ea typeface="NanumSquare Bold" panose="020B0600000101010101" pitchFamily="50" charset="-127"/>
                </a:rPr>
                <a:t>피해를 막기위한 정부와 금융 기관의 끝없는 사투</a:t>
              </a:r>
              <a:endParaRPr lang="en-US" altLang="ko-KR" sz="1400" dirty="0">
                <a:solidFill>
                  <a:schemeClr val="bg1"/>
                </a:solidFill>
                <a:latin typeface="NanumSquare Bold" panose="020B0600000101010101" pitchFamily="50" charset="-127"/>
                <a:ea typeface="NanumSquare Bold" panose="020B0600000101010101" pitchFamily="50" charset="-127"/>
              </a:endParaRPr>
            </a:p>
            <a:p>
              <a:pPr marL="0" indent="0" algn="ctr">
                <a:buNone/>
              </a:pPr>
              <a:endParaRPr lang="en-US" altLang="ko-KR" sz="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endParaRPr>
            </a:p>
            <a:p>
              <a:pPr marL="0" indent="0" algn="ctr">
                <a:buNone/>
              </a:pPr>
              <a:r>
                <a:rPr lang="ko-KR" altLang="en-US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단 </a:t>
              </a:r>
              <a:r>
                <a:rPr lang="en-US" altLang="ko-KR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1</a:t>
              </a:r>
              <a:r>
                <a:rPr lang="ko-KR" altLang="en-US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원이라도</a:t>
              </a:r>
              <a:r>
                <a:rPr lang="en-US" altLang="ko-KR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단 </a:t>
              </a:r>
              <a:r>
                <a:rPr lang="en-US" altLang="ko-KR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1</a:t>
              </a:r>
              <a:r>
                <a:rPr lang="ko-KR" altLang="en-US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명이라도</a:t>
              </a:r>
              <a:r>
                <a:rPr lang="en-US" altLang="ko-KR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lang="ko-KR" altLang="en-US" sz="2000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더 지키기 위해</a:t>
              </a:r>
              <a:endParaRPr lang="en-US" altLang="ko-KR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endParaRPr>
            </a:p>
            <a:p>
              <a:pPr marL="0" indent="0" algn="ctr">
                <a:buNone/>
              </a:pPr>
              <a:r>
                <a:rPr lang="ko-KR" altLang="en-US" sz="2000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함께 고민하고 해결해야 할 중대한 사회적 문제</a:t>
              </a:r>
              <a:endParaRPr lang="en-US" altLang="ko-KR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9ADD5DB-927E-4576-9A6F-EF9B87C9EA69}"/>
                </a:ext>
              </a:extLst>
            </p:cNvPr>
            <p:cNvSpPr/>
            <p:nvPr/>
          </p:nvSpPr>
          <p:spPr>
            <a:xfrm>
              <a:off x="676209" y="2568097"/>
              <a:ext cx="3359152" cy="545534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노인들에게 ‘100억원’ 뜯어낸 피싱 일당… 112 신고 전화까지 가로챘다 </a:t>
              </a:r>
              <a:r>
                <a:rPr lang="en-US" altLang="ko-KR" sz="1400" b="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400" b="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매일경제</a:t>
              </a:r>
              <a:r>
                <a:rPr lang="en-US" altLang="ko-KR" sz="1400" b="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14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43EDA0-F05D-4C52-A723-643E3D87EDEC}"/>
                </a:ext>
              </a:extLst>
            </p:cNvPr>
            <p:cNvSpPr/>
            <p:nvPr/>
          </p:nvSpPr>
          <p:spPr>
            <a:xfrm>
              <a:off x="7921497" y="2831050"/>
              <a:ext cx="2936875" cy="545534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보이스피싱 피해액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'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반토막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’… </a:t>
              </a:r>
            </a:p>
            <a:p>
              <a:pPr algn="ctr"/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7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월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337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억원으로 올해 최저</a:t>
              </a:r>
              <a:r>
                <a:rPr lang="ko-KR" altLang="en-US" sz="1400" dirty="0"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400" dirty="0">
                  <a:latin typeface="페이퍼로지 4 Regular" pitchFamily="2" charset="-127"/>
                  <a:ea typeface="페이퍼로지 4 Regular" pitchFamily="2" charset="-127"/>
                </a:rPr>
                <a:t>한국일보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14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43F7C86-A66C-4412-878D-BBA05B9DA175}"/>
                </a:ext>
              </a:extLst>
            </p:cNvPr>
            <p:cNvSpPr/>
            <p:nvPr/>
          </p:nvSpPr>
          <p:spPr>
            <a:xfrm>
              <a:off x="2093784" y="3434794"/>
              <a:ext cx="3214816" cy="545534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"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오늘 소방점검 나가요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" 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전화에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'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덜컥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’..</a:t>
              </a:r>
            </a:p>
            <a:p>
              <a:pPr algn="ctr"/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알고보니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'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노쇼 보이스피싱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’ 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400" dirty="0">
                  <a:latin typeface="페이퍼로지 4 Regular" pitchFamily="2" charset="-127"/>
                  <a:ea typeface="페이퍼로지 4 Regular" pitchFamily="2" charset="-127"/>
                </a:rPr>
                <a:t>제주방송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14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BD81DD3-DA06-47E6-8A81-238A4BEB83AC}"/>
                </a:ext>
              </a:extLst>
            </p:cNvPr>
            <p:cNvSpPr/>
            <p:nvPr/>
          </p:nvSpPr>
          <p:spPr>
            <a:xfrm>
              <a:off x="7402384" y="3991585"/>
              <a:ext cx="3975100" cy="545534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경찰청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-KT, 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협업으로 보이스피싱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구매대행 사기 불법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010 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번호 변작 중계소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115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개소 단속 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400" dirty="0">
                  <a:latin typeface="페이퍼로지 4 Regular" pitchFamily="2" charset="-127"/>
                  <a:ea typeface="페이퍼로지 4 Regular" pitchFamily="2" charset="-127"/>
                </a:rPr>
                <a:t>정책브리핑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14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17E3725-0C33-4292-A88D-07EA5E88446D}"/>
                </a:ext>
              </a:extLst>
            </p:cNvPr>
            <p:cNvSpPr txBox="1"/>
            <p:nvPr/>
          </p:nvSpPr>
          <p:spPr>
            <a:xfrm>
              <a:off x="5421715" y="1945024"/>
              <a:ext cx="13612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범죄 </a:t>
              </a:r>
              <a:r>
                <a:rPr lang="en-US" altLang="ko-KR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vs </a:t>
              </a:r>
              <a:r>
                <a:rPr lang="ko-KR" altLang="en-US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대책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B5F2574-374C-4458-803C-1D887BF70E66}"/>
                </a:ext>
              </a:extLst>
            </p:cNvPr>
            <p:cNvSpPr/>
            <p:nvPr/>
          </p:nvSpPr>
          <p:spPr>
            <a:xfrm>
              <a:off x="1269936" y="4307675"/>
              <a:ext cx="2765425" cy="545534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대출 미끼로 계좌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·OTP 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받아 보이스피싱 자금세탁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…3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명 구속 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400" dirty="0">
                  <a:latin typeface="페이퍼로지 4 Regular" pitchFamily="2" charset="-127"/>
                  <a:ea typeface="페이퍼로지 4 Regular" pitchFamily="2" charset="-127"/>
                </a:rPr>
                <a:t>서울신문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14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2581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D83CD05-1C0E-4A92-8144-C841C3C659DF}"/>
              </a:ext>
            </a:extLst>
          </p:cNvPr>
          <p:cNvGrpSpPr/>
          <p:nvPr/>
        </p:nvGrpSpPr>
        <p:grpSpPr>
          <a:xfrm>
            <a:off x="10844784" y="128016"/>
            <a:ext cx="1188720" cy="1188720"/>
            <a:chOff x="10844784" y="128016"/>
            <a:chExt cx="1188720" cy="1188720"/>
          </a:xfrm>
        </p:grpSpPr>
        <p:sp>
          <p:nvSpPr>
            <p:cNvPr id="53" name="Shape 0">
              <a:extLst>
                <a:ext uri="{FF2B5EF4-FFF2-40B4-BE49-F238E27FC236}">
                  <a16:creationId xmlns:a16="http://schemas.microsoft.com/office/drawing/2014/main" id="{8180EA9B-D86F-480A-827F-E6A6E0D31C69}"/>
                </a:ext>
              </a:extLst>
            </p:cNvPr>
            <p:cNvSpPr/>
            <p:nvPr/>
          </p:nvSpPr>
          <p:spPr>
            <a:xfrm>
              <a:off x="10844784" y="128016"/>
              <a:ext cx="1188720" cy="1188720"/>
            </a:xfrm>
            <a:prstGeom prst="ellipse">
              <a:avLst/>
            </a:prstGeom>
            <a:solidFill>
              <a:srgbClr val="EAF3FF"/>
            </a:solidFill>
            <a:ln w="10160">
              <a:solidFill>
                <a:srgbClr val="EAF3FF"/>
              </a:solidFill>
              <a:prstDash val="solid"/>
            </a:ln>
          </p:spPr>
        </p:sp>
        <p:sp>
          <p:nvSpPr>
            <p:cNvPr id="54" name="Shape 1">
              <a:extLst>
                <a:ext uri="{FF2B5EF4-FFF2-40B4-BE49-F238E27FC236}">
                  <a16:creationId xmlns:a16="http://schemas.microsoft.com/office/drawing/2014/main" id="{A1E94AE9-4178-4DF3-81BE-A4F0E14FB13D}"/>
                </a:ext>
              </a:extLst>
            </p:cNvPr>
            <p:cNvSpPr/>
            <p:nvPr/>
          </p:nvSpPr>
          <p:spPr>
            <a:xfrm>
              <a:off x="11448288" y="292608"/>
              <a:ext cx="310896" cy="310896"/>
            </a:xfrm>
            <a:prstGeom prst="ellipse">
              <a:avLst/>
            </a:prstGeom>
            <a:solidFill>
              <a:srgbClr val="49A8FF"/>
            </a:solidFill>
            <a:ln w="10160">
              <a:solidFill>
                <a:srgbClr val="49A8FF"/>
              </a:solidFill>
              <a:prstDash val="solid"/>
            </a:ln>
          </p:spPr>
        </p:sp>
        <p:sp>
          <p:nvSpPr>
            <p:cNvPr id="55" name="Shape 2">
              <a:extLst>
                <a:ext uri="{FF2B5EF4-FFF2-40B4-BE49-F238E27FC236}">
                  <a16:creationId xmlns:a16="http://schemas.microsoft.com/office/drawing/2014/main" id="{0261E3B0-CF1D-4497-96E2-3E47E2AE44B6}"/>
                </a:ext>
              </a:extLst>
            </p:cNvPr>
            <p:cNvSpPr/>
            <p:nvPr/>
          </p:nvSpPr>
          <p:spPr>
            <a:xfrm>
              <a:off x="10844784" y="1024128"/>
              <a:ext cx="868680" cy="0"/>
            </a:xfrm>
            <a:prstGeom prst="line">
              <a:avLst/>
            </a:prstGeom>
            <a:noFill/>
            <a:ln w="13970">
              <a:solidFill>
                <a:srgbClr val="D6E8FF"/>
              </a:solidFill>
              <a:prstDash val="solid"/>
              <a:headEnd type="none"/>
              <a:tailEnd type="none"/>
            </a:ln>
          </p:spPr>
        </p:sp>
        <p:sp>
          <p:nvSpPr>
            <p:cNvPr id="56" name="Shape 3">
              <a:extLst>
                <a:ext uri="{FF2B5EF4-FFF2-40B4-BE49-F238E27FC236}">
                  <a16:creationId xmlns:a16="http://schemas.microsoft.com/office/drawing/2014/main" id="{77510202-A46B-4098-B6BE-16242DFE16B5}"/>
                </a:ext>
              </a:extLst>
            </p:cNvPr>
            <p:cNvSpPr/>
            <p:nvPr/>
          </p:nvSpPr>
          <p:spPr>
            <a:xfrm>
              <a:off x="11045952" y="1225296"/>
              <a:ext cx="667512" cy="0"/>
            </a:xfrm>
            <a:prstGeom prst="line">
              <a:avLst/>
            </a:prstGeom>
            <a:noFill/>
            <a:ln w="13970">
              <a:solidFill>
                <a:srgbClr val="D6E8FF"/>
              </a:solidFill>
              <a:prstDash val="solid"/>
              <a:headEnd type="none"/>
              <a:tailEnd type="none"/>
            </a:ln>
          </p:spPr>
        </p:sp>
      </p:grpSp>
      <p:sp>
        <p:nvSpPr>
          <p:cNvPr id="57" name="Text 5">
            <a:extLst>
              <a:ext uri="{FF2B5EF4-FFF2-40B4-BE49-F238E27FC236}">
                <a16:creationId xmlns:a16="http://schemas.microsoft.com/office/drawing/2014/main" id="{14DC0ADE-DD2D-4DB4-9ADF-13F891CE62C7}"/>
              </a:ext>
            </a:extLst>
          </p:cNvPr>
          <p:cNvSpPr txBox="1"/>
          <p:nvPr/>
        </p:nvSpPr>
        <p:spPr>
          <a:xfrm>
            <a:off x="-64242" y="162899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현황분석</a:t>
            </a:r>
            <a:endParaRPr lang="en-US" sz="1050" dirty="0">
              <a:solidFill>
                <a:srgbClr val="0E2746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8" name="Text 6">
            <a:extLst>
              <a:ext uri="{FF2B5EF4-FFF2-40B4-BE49-F238E27FC236}">
                <a16:creationId xmlns:a16="http://schemas.microsoft.com/office/drawing/2014/main" id="{A3AB1DBD-1697-472F-9AD7-5B9857EAF0DD}"/>
              </a:ext>
            </a:extLst>
          </p:cNvPr>
          <p:cNvSpPr txBox="1"/>
          <p:nvPr/>
        </p:nvSpPr>
        <p:spPr>
          <a:xfrm>
            <a:off x="594359" y="677610"/>
            <a:ext cx="11016615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ko-KR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2026</a:t>
            </a:r>
            <a:r>
              <a:rPr lang="ko-KR" altLang="en-US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년 이후 동안 보이스피싱 피해 </a:t>
            </a:r>
            <a:r>
              <a:rPr lang="en-US" altLang="ko-KR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260,694</a:t>
            </a:r>
            <a:r>
              <a:rPr lang="ko-KR" altLang="en-US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건</a:t>
            </a:r>
            <a:r>
              <a:rPr lang="en-US" altLang="ko-KR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, </a:t>
            </a:r>
            <a:r>
              <a:rPr lang="ko-KR" altLang="en-US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누적 피해액 </a:t>
            </a:r>
            <a:r>
              <a:rPr lang="en-US" altLang="ko-KR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6</a:t>
            </a:r>
            <a:r>
              <a:rPr lang="ko-KR" altLang="en-US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조</a:t>
            </a:r>
            <a:r>
              <a:rPr lang="en-US" altLang="ko-KR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 153</a:t>
            </a:r>
            <a:r>
              <a:rPr lang="ko-KR" altLang="en-US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억원</a:t>
            </a:r>
            <a:r>
              <a:rPr lang="en-US" altLang="ko-KR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, </a:t>
            </a:r>
            <a:r>
              <a:rPr lang="ko-KR" altLang="en-US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평균 피해액 </a:t>
            </a:r>
            <a:r>
              <a:rPr lang="ko-KR" altLang="en-US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우상향</a:t>
            </a:r>
            <a:r>
              <a:rPr lang="en-US" altLang="ko-KR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…</a:t>
            </a:r>
          </a:p>
          <a:p>
            <a:r>
              <a:rPr lang="ko-KR" altLang="en-US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rPr>
              <a:t>단순 금전적</a:t>
            </a:r>
            <a:r>
              <a:rPr lang="en-US" altLang="ko-KR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rPr>
              <a:t>경제적 손실 뿐 아니라</a:t>
            </a:r>
            <a:r>
              <a:rPr lang="en-US" altLang="ko-KR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</a:rPr>
              <a:t>극단적 선택까지</a:t>
            </a:r>
            <a:r>
              <a:rPr lang="ko-KR" altLang="en-US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rPr>
              <a:t> 이어지는 심각한 상황</a:t>
            </a:r>
            <a:endParaRPr lang="en-US" altLang="ko-KR" sz="2000" dirty="0">
              <a:solidFill>
                <a:srgbClr val="0E2746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9" name="Text 7">
            <a:extLst>
              <a:ext uri="{FF2B5EF4-FFF2-40B4-BE49-F238E27FC236}">
                <a16:creationId xmlns:a16="http://schemas.microsoft.com/office/drawing/2014/main" id="{7CC2DE4C-207C-45EF-9A0E-5F6667FDA2C7}"/>
              </a:ext>
            </a:extLst>
          </p:cNvPr>
          <p:cNvSpPr txBox="1"/>
          <p:nvPr/>
        </p:nvSpPr>
        <p:spPr>
          <a:xfrm>
            <a:off x="594360" y="54664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대한민국은 아직 보이스피싱 범죄와 전쟁중</a:t>
            </a:r>
            <a:r>
              <a:rPr lang="en-US" altLang="ko-KR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…</a:t>
            </a:r>
            <a:endParaRPr lang="en-US" sz="123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1" name="Slide Number Placeholder 0">
            <a:extLst>
              <a:ext uri="{FF2B5EF4-FFF2-40B4-BE49-F238E27FC236}">
                <a16:creationId xmlns:a16="http://schemas.microsoft.com/office/drawing/2014/main" id="{B62526B2-5F3F-4EBB-A2DC-93B7F89FFF3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97" name="Shape 44">
            <a:extLst>
              <a:ext uri="{FF2B5EF4-FFF2-40B4-BE49-F238E27FC236}">
                <a16:creationId xmlns:a16="http://schemas.microsoft.com/office/drawing/2014/main" id="{A76E8C5A-17D3-408B-A296-8675D799E942}"/>
              </a:ext>
            </a:extLst>
          </p:cNvPr>
          <p:cNvSpPr/>
          <p:nvPr/>
        </p:nvSpPr>
        <p:spPr>
          <a:xfrm>
            <a:off x="600456" y="4575007"/>
            <a:ext cx="10991088" cy="1736164"/>
          </a:xfrm>
          <a:prstGeom prst="roundRect">
            <a:avLst>
              <a:gd name="adj" fmla="val 14754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16B820F-AFB7-48E0-9EB6-DDB131DC1B40}"/>
              </a:ext>
            </a:extLst>
          </p:cNvPr>
          <p:cNvGrpSpPr/>
          <p:nvPr/>
        </p:nvGrpSpPr>
        <p:grpSpPr>
          <a:xfrm>
            <a:off x="810836" y="4737420"/>
            <a:ext cx="6480610" cy="1409774"/>
            <a:chOff x="804672" y="4974712"/>
            <a:chExt cx="6480610" cy="1409774"/>
          </a:xfrm>
        </p:grpSpPr>
        <p:sp>
          <p:nvSpPr>
            <p:cNvPr id="98" name="Text 45">
              <a:extLst>
                <a:ext uri="{FF2B5EF4-FFF2-40B4-BE49-F238E27FC236}">
                  <a16:creationId xmlns:a16="http://schemas.microsoft.com/office/drawing/2014/main" id="{4F2E3DE0-CD98-4D61-9489-686484F3DB48}"/>
                </a:ext>
              </a:extLst>
            </p:cNvPr>
            <p:cNvSpPr txBox="1"/>
            <p:nvPr/>
          </p:nvSpPr>
          <p:spPr>
            <a:xfrm>
              <a:off x="804672" y="4987290"/>
              <a:ext cx="53949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endParaRPr lang="en-US" sz="1050" dirty="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1E646E0-5120-4849-9996-97AD67287F74}"/>
                </a:ext>
              </a:extLst>
            </p:cNvPr>
            <p:cNvSpPr txBox="1"/>
            <p:nvPr/>
          </p:nvSpPr>
          <p:spPr>
            <a:xfrm>
              <a:off x="894649" y="5324056"/>
              <a:ext cx="6390633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fontAlgn="base"/>
              <a:r>
                <a:rPr lang="en-US" altLang="ko-KR" sz="1200" b="1" i="0" dirty="0">
                  <a:solidFill>
                    <a:srgbClr val="222222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“</a:t>
              </a:r>
              <a:r>
                <a:rPr lang="ko-KR" altLang="en-US" sz="1200" b="1" i="0" dirty="0">
                  <a:solidFill>
                    <a:srgbClr val="222222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보이스피싱 줄었다지만</a:t>
              </a:r>
              <a:r>
                <a:rPr lang="en-US" altLang="ko-KR" sz="1200" b="1" i="0" dirty="0">
                  <a:solidFill>
                    <a:srgbClr val="222222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…5</a:t>
              </a:r>
              <a:r>
                <a:rPr lang="ko-KR" altLang="en-US" sz="1200" b="1" i="0" dirty="0">
                  <a:solidFill>
                    <a:srgbClr val="222222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천만 원 피해에 </a:t>
              </a:r>
              <a:r>
                <a:rPr lang="en-US" altLang="ko-KR" sz="120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20</a:t>
              </a:r>
              <a:r>
                <a:rPr lang="ko-KR" altLang="en-US" sz="120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대 아들</a:t>
              </a:r>
              <a:r>
                <a:rPr lang="en-US" altLang="ko-KR" sz="120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20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엄마와 함께 숨져</a:t>
              </a:r>
              <a:r>
                <a:rPr lang="en-US" altLang="ko-KR" sz="1200" b="1" i="0" dirty="0">
                  <a:solidFill>
                    <a:srgbClr val="222222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”</a:t>
              </a:r>
              <a:r>
                <a:rPr lang="ko-KR" altLang="en-US" sz="1200" b="1" i="0" dirty="0">
                  <a:solidFill>
                    <a:srgbClr val="222222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200" i="0" dirty="0">
                  <a:solidFill>
                    <a:srgbClr val="222222"/>
                  </a:solidFill>
                  <a:effectLst/>
                  <a:latin typeface="페이퍼로지 4 Regular" pitchFamily="2" charset="-127"/>
                  <a:ea typeface="페이퍼로지 4 Regular" pitchFamily="2" charset="-127"/>
                </a:rPr>
                <a:t>(KBS</a:t>
              </a:r>
              <a:r>
                <a:rPr lang="ko-KR" altLang="en-US" sz="1200" i="0" dirty="0">
                  <a:solidFill>
                    <a:srgbClr val="222222"/>
                  </a:solidFill>
                  <a:effectLst/>
                  <a:latin typeface="페이퍼로지 4 Regular" pitchFamily="2" charset="-127"/>
                  <a:ea typeface="페이퍼로지 4 Regular" pitchFamily="2" charset="-127"/>
                </a:rPr>
                <a:t>뉴스 </a:t>
              </a:r>
              <a:r>
                <a:rPr lang="en-US" altLang="ko-KR" sz="1200" i="0" dirty="0">
                  <a:solidFill>
                    <a:srgbClr val="222222"/>
                  </a:solidFill>
                  <a:effectLst/>
                  <a:latin typeface="페이퍼로지 4 Regular" pitchFamily="2" charset="-127"/>
                  <a:ea typeface="페이퍼로지 4 Regular" pitchFamily="2" charset="-127"/>
                </a:rPr>
                <a:t>2026.06.22)</a:t>
              </a:r>
              <a:endParaRPr lang="ko-KR" altLang="en-US" sz="1200" i="0" dirty="0">
                <a:solidFill>
                  <a:srgbClr val="222222"/>
                </a:solidFill>
                <a:effectLst/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69DBA008-F345-4089-8070-1624E61E661A}"/>
                </a:ext>
              </a:extLst>
            </p:cNvPr>
            <p:cNvSpPr txBox="1"/>
            <p:nvPr/>
          </p:nvSpPr>
          <p:spPr>
            <a:xfrm>
              <a:off x="826725" y="4974712"/>
              <a:ext cx="422807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ko-KR" altLang="en-US" sz="1200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극단적인 선택 까지 이어지는 보이스피싱 범죄의 심각성</a:t>
              </a:r>
              <a:endParaRPr lang="en-US" altLang="ko-KR" sz="12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2F6B1490-F183-46C5-891C-4DF4DDEBC613}"/>
                </a:ext>
              </a:extLst>
            </p:cNvPr>
            <p:cNvSpPr txBox="1"/>
            <p:nvPr/>
          </p:nvSpPr>
          <p:spPr>
            <a:xfrm>
              <a:off x="894649" y="5711305"/>
              <a:ext cx="5918527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fontAlgn="base"/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“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보이스피싱에 속아 </a:t>
              </a:r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3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억원 잃은 </a:t>
              </a:r>
              <a:r>
                <a:rPr lang="ko-KR" altLang="en-US" sz="120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피해자 생 마감</a:t>
              </a:r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…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인출책 징역 </a:t>
              </a:r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1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년</a:t>
              </a:r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”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연합뉴스 </a:t>
              </a:r>
              <a:r>
                <a:rPr lang="en-US" altLang="ko-KR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2026.05.27)</a:t>
              </a:r>
              <a:endParaRPr lang="ko-KR" altLang="en-US" sz="1200" i="0" dirty="0">
                <a:effectLst/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AD6700A-593D-446A-8111-A37932502880}"/>
                </a:ext>
              </a:extLst>
            </p:cNvPr>
            <p:cNvSpPr txBox="1"/>
            <p:nvPr/>
          </p:nvSpPr>
          <p:spPr>
            <a:xfrm>
              <a:off x="894649" y="6107487"/>
              <a:ext cx="6173663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fontAlgn="base"/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“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보이스피싱 피해 비관 </a:t>
              </a:r>
              <a:r>
                <a:rPr lang="ko-KR" altLang="en-US" sz="120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부부 극단선택</a:t>
              </a:r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…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홀로 산 남편 자살방조 처벌</a:t>
              </a:r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”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연합뉴스</a:t>
              </a:r>
              <a:r>
                <a:rPr lang="en-US" altLang="ko-KR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TV</a:t>
              </a:r>
              <a:r>
                <a:rPr lang="ko-KR" altLang="en-US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en-US" altLang="ko-KR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2026.07.26)</a:t>
              </a:r>
              <a:endParaRPr lang="ko-KR" altLang="en-US" sz="1200" i="0" dirty="0">
                <a:effectLst/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15506-C7C5-46AF-97DD-9E8720001060}"/>
              </a:ext>
            </a:extLst>
          </p:cNvPr>
          <p:cNvGrpSpPr/>
          <p:nvPr/>
        </p:nvGrpSpPr>
        <p:grpSpPr>
          <a:xfrm>
            <a:off x="7699811" y="4682175"/>
            <a:ext cx="3656903" cy="1521828"/>
            <a:chOff x="7640448" y="4563464"/>
            <a:chExt cx="3656903" cy="152182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AA21B39-CDD9-416A-94A5-F7D48DFFB9B7}"/>
                </a:ext>
              </a:extLst>
            </p:cNvPr>
            <p:cNvGrpSpPr/>
            <p:nvPr/>
          </p:nvGrpSpPr>
          <p:grpSpPr>
            <a:xfrm>
              <a:off x="7640448" y="4563464"/>
              <a:ext cx="3656903" cy="1521828"/>
              <a:chOff x="7640448" y="4563464"/>
              <a:chExt cx="3656903" cy="1521828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88D801F-1FFC-4DB5-BA05-2750BEE7D95D}"/>
                  </a:ext>
                </a:extLst>
              </p:cNvPr>
              <p:cNvSpPr/>
              <p:nvPr/>
            </p:nvSpPr>
            <p:spPr>
              <a:xfrm>
                <a:off x="7656784" y="4794782"/>
                <a:ext cx="3640567" cy="1290510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5650DA10-F948-4096-918C-238B8CB95A93}"/>
                  </a:ext>
                </a:extLst>
              </p:cNvPr>
              <p:cNvSpPr/>
              <p:nvPr/>
            </p:nvSpPr>
            <p:spPr>
              <a:xfrm>
                <a:off x="7724678" y="4887453"/>
                <a:ext cx="3512773" cy="152226"/>
              </a:xfrm>
              <a:prstGeom prst="rect">
                <a:avLst/>
              </a:prstGeom>
              <a:solidFill>
                <a:srgbClr val="FF4B16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r>
                  <a:rPr lang="ko-KR" altLang="en-US" sz="10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두려움과 분노</a:t>
                </a:r>
                <a:r>
                  <a:rPr lang="en-US" altLang="ko-KR" sz="10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, </a:t>
                </a:r>
                <a:r>
                  <a:rPr lang="ko-KR" altLang="en-US" sz="10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죄책감 느낀다</a:t>
                </a:r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C96D9C1A-8A8D-4FA9-8E69-1BD016277053}"/>
                  </a:ext>
                </a:extLst>
              </p:cNvPr>
              <p:cNvSpPr/>
              <p:nvPr/>
            </p:nvSpPr>
            <p:spPr>
              <a:xfrm>
                <a:off x="7724678" y="5087078"/>
                <a:ext cx="2931106" cy="152226"/>
              </a:xfrm>
              <a:prstGeom prst="rect">
                <a:avLst/>
              </a:prstGeom>
              <a:solidFill>
                <a:srgbClr val="FF4B16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r>
                  <a:rPr lang="ko-KR" altLang="en-US" sz="10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밤에 잠이 잘 안 온다</a:t>
                </a:r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F3D7BAF9-07DE-400A-AC59-9FF748362373}"/>
                  </a:ext>
                </a:extLst>
              </p:cNvPr>
              <p:cNvSpPr/>
              <p:nvPr/>
            </p:nvSpPr>
            <p:spPr>
              <a:xfrm>
                <a:off x="7724678" y="5286703"/>
                <a:ext cx="1993067" cy="152226"/>
              </a:xfrm>
              <a:prstGeom prst="rect">
                <a:avLst/>
              </a:prstGeom>
              <a:solidFill>
                <a:srgbClr val="FF4B16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r>
                  <a:rPr lang="ko-KR" altLang="en-US" sz="10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주변에 대한 과도한 경계심이 생긴다</a:t>
                </a:r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78B5CB79-EE6B-47C6-8864-0A3C9BD3740E}"/>
                  </a:ext>
                </a:extLst>
              </p:cNvPr>
              <p:cNvGrpSpPr/>
              <p:nvPr/>
            </p:nvGrpSpPr>
            <p:grpSpPr>
              <a:xfrm>
                <a:off x="7724678" y="4887453"/>
                <a:ext cx="3512773" cy="751101"/>
                <a:chOff x="7724678" y="4937557"/>
                <a:chExt cx="3512773" cy="751101"/>
              </a:xfrm>
            </p:grpSpPr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AEC622F5-EDC0-4894-A4DF-14A87444EAE9}"/>
                    </a:ext>
                  </a:extLst>
                </p:cNvPr>
                <p:cNvSpPr/>
                <p:nvPr/>
              </p:nvSpPr>
              <p:spPr>
                <a:xfrm>
                  <a:off x="8863296" y="5536432"/>
                  <a:ext cx="2374155" cy="152226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r>
                    <a:rPr lang="ko-KR" altLang="en-US" sz="1000" dirty="0">
                      <a:latin typeface="페이퍼로지 4 Regular" pitchFamily="2" charset="-127"/>
                      <a:ea typeface="페이퍼로지 4 Regular" pitchFamily="2" charset="-127"/>
                    </a:rPr>
                    <a:t>병원에서 우울증 치료 등을 받는다 </a:t>
                  </a:r>
                  <a:r>
                    <a:rPr lang="en-US" altLang="ko-KR" sz="1000" dirty="0">
                      <a:latin typeface="페이퍼로지 7 Bold" pitchFamily="2" charset="-127"/>
                      <a:ea typeface="페이퍼로지 7 Bold" pitchFamily="2" charset="-127"/>
                    </a:rPr>
                    <a:t>25.4%</a:t>
                  </a:r>
                  <a:endParaRPr lang="ko-KR" altLang="en-US" sz="1000" dirty="0"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  <p:sp>
              <p:nvSpPr>
                <p:cNvPr id="140" name="Rectangle 139">
                  <a:extLst>
                    <a:ext uri="{FF2B5EF4-FFF2-40B4-BE49-F238E27FC236}">
                      <a16:creationId xmlns:a16="http://schemas.microsoft.com/office/drawing/2014/main" id="{830D2552-CE5F-4566-9324-CCAA6DE748F6}"/>
                    </a:ext>
                  </a:extLst>
                </p:cNvPr>
                <p:cNvSpPr/>
                <p:nvPr/>
              </p:nvSpPr>
              <p:spPr>
                <a:xfrm>
                  <a:off x="7724678" y="5536432"/>
                  <a:ext cx="1194300" cy="152226"/>
                </a:xfrm>
                <a:prstGeom prst="rect">
                  <a:avLst/>
                </a:prstGeom>
                <a:solidFill>
                  <a:srgbClr val="FF4B16"/>
                </a:solidFill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r"/>
                  <a:endPara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48" name="Rectangle 147">
                  <a:extLst>
                    <a:ext uri="{FF2B5EF4-FFF2-40B4-BE49-F238E27FC236}">
                      <a16:creationId xmlns:a16="http://schemas.microsoft.com/office/drawing/2014/main" id="{67598F49-4387-4F12-AD03-C4CE346ED14C}"/>
                    </a:ext>
                  </a:extLst>
                </p:cNvPr>
                <p:cNvSpPr/>
                <p:nvPr/>
              </p:nvSpPr>
              <p:spPr>
                <a:xfrm>
                  <a:off x="8863297" y="5137182"/>
                  <a:ext cx="1792487" cy="149100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r"/>
                  <a:r>
                    <a:rPr lang="en-US" altLang="ko-KR" sz="10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63.5%</a:t>
                  </a:r>
                  <a:endPara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49" name="Rectangle 148">
                  <a:extLst>
                    <a:ext uri="{FF2B5EF4-FFF2-40B4-BE49-F238E27FC236}">
                      <a16:creationId xmlns:a16="http://schemas.microsoft.com/office/drawing/2014/main" id="{3EE56CF6-75C1-4D6A-8DBB-C3071FCE4454}"/>
                    </a:ext>
                  </a:extLst>
                </p:cNvPr>
                <p:cNvSpPr/>
                <p:nvPr/>
              </p:nvSpPr>
              <p:spPr>
                <a:xfrm>
                  <a:off x="8863296" y="4937557"/>
                  <a:ext cx="2374155" cy="152226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r"/>
                  <a:r>
                    <a:rPr lang="en-US" altLang="ko-KR" sz="10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76.2%</a:t>
                  </a:r>
                  <a:endPara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50" name="Rectangle 149">
                  <a:extLst>
                    <a:ext uri="{FF2B5EF4-FFF2-40B4-BE49-F238E27FC236}">
                      <a16:creationId xmlns:a16="http://schemas.microsoft.com/office/drawing/2014/main" id="{81244667-105A-4A8E-A1ED-B8687ADE3F94}"/>
                    </a:ext>
                  </a:extLst>
                </p:cNvPr>
                <p:cNvSpPr/>
                <p:nvPr/>
              </p:nvSpPr>
              <p:spPr>
                <a:xfrm>
                  <a:off x="8863297" y="5339933"/>
                  <a:ext cx="1423703" cy="149100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r"/>
                  <a:r>
                    <a:rPr lang="en-US" altLang="ko-KR" sz="1000" dirty="0">
                      <a:latin typeface="페이퍼로지 7 Bold" pitchFamily="2" charset="-127"/>
                      <a:ea typeface="페이퍼로지 7 Bold" pitchFamily="2" charset="-127"/>
                    </a:rPr>
                    <a:t>42.9%</a:t>
                  </a:r>
                  <a:endParaRPr lang="ko-KR" altLang="en-US" sz="100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AA0F438C-D494-4FDF-997C-8B697CDADD29}"/>
                  </a:ext>
                </a:extLst>
              </p:cNvPr>
              <p:cNvGrpSpPr/>
              <p:nvPr/>
            </p:nvGrpSpPr>
            <p:grpSpPr>
              <a:xfrm>
                <a:off x="7724680" y="5685954"/>
                <a:ext cx="3512771" cy="152226"/>
                <a:chOff x="7724680" y="5685954"/>
                <a:chExt cx="3512771" cy="152226"/>
              </a:xfrm>
            </p:grpSpPr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153C3079-5F4A-46C5-84EA-640947F7D515}"/>
                    </a:ext>
                  </a:extLst>
                </p:cNvPr>
                <p:cNvSpPr/>
                <p:nvPr/>
              </p:nvSpPr>
              <p:spPr>
                <a:xfrm>
                  <a:off x="7981950" y="5685954"/>
                  <a:ext cx="3255501" cy="152226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r>
                    <a:rPr lang="ko-KR" altLang="en-US" sz="1000" dirty="0">
                      <a:latin typeface="페이퍼로지 4 Regular" pitchFamily="2" charset="-127"/>
                      <a:ea typeface="페이퍼로지 4 Regular" pitchFamily="2" charset="-127"/>
                    </a:rPr>
                    <a:t>극단적인 생각을 한다 </a:t>
                  </a:r>
                  <a:r>
                    <a:rPr lang="en-US" altLang="ko-KR" sz="1000" dirty="0">
                      <a:latin typeface="페이퍼로지 7 Bold" pitchFamily="2" charset="-127"/>
                      <a:ea typeface="페이퍼로지 7 Bold" pitchFamily="2" charset="-127"/>
                    </a:rPr>
                    <a:t>6.3%</a:t>
                  </a:r>
                  <a:endParaRPr lang="ko-KR" altLang="en-US" sz="100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41" name="Rectangle 140">
                  <a:extLst>
                    <a:ext uri="{FF2B5EF4-FFF2-40B4-BE49-F238E27FC236}">
                      <a16:creationId xmlns:a16="http://schemas.microsoft.com/office/drawing/2014/main" id="{33FECE70-51A5-47D3-8535-037BD6E0CE0F}"/>
                    </a:ext>
                  </a:extLst>
                </p:cNvPr>
                <p:cNvSpPr/>
                <p:nvPr/>
              </p:nvSpPr>
              <p:spPr>
                <a:xfrm>
                  <a:off x="7724680" y="5685954"/>
                  <a:ext cx="317705" cy="152226"/>
                </a:xfrm>
                <a:prstGeom prst="rect">
                  <a:avLst/>
                </a:prstGeom>
                <a:solidFill>
                  <a:srgbClr val="FF4B16"/>
                </a:solidFill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r"/>
                  <a:endParaRPr lang="ko-KR" altLang="en-US" sz="100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</p:grp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35A2F2F7-75DB-4643-B439-DAF5D708D01D}"/>
                  </a:ext>
                </a:extLst>
              </p:cNvPr>
              <p:cNvSpPr txBox="1"/>
              <p:nvPr/>
            </p:nvSpPr>
            <p:spPr>
              <a:xfrm>
                <a:off x="7642195" y="5885237"/>
                <a:ext cx="3374034" cy="2000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700" dirty="0">
                    <a:latin typeface="페이퍼로지 4 Regular" pitchFamily="2" charset="-127"/>
                    <a:ea typeface="페이퍼로지 4 Regular" pitchFamily="2" charset="-127"/>
                  </a:rPr>
                  <a:t>*</a:t>
                </a:r>
                <a:r>
                  <a:rPr lang="ko-KR" altLang="en-US" sz="700" dirty="0">
                    <a:latin typeface="페이퍼로지 4 Regular" pitchFamily="2" charset="-127"/>
                    <a:ea typeface="페이퍼로지 4 Regular" pitchFamily="2" charset="-127"/>
                  </a:rPr>
                  <a:t>중앙일보</a:t>
                </a:r>
                <a:r>
                  <a:rPr lang="en-US" altLang="ko-KR" sz="700" dirty="0">
                    <a:latin typeface="페이퍼로지 4 Regular" pitchFamily="2" charset="-127"/>
                    <a:ea typeface="페이퍼로지 4 Regular" pitchFamily="2" charset="-127"/>
                  </a:rPr>
                  <a:t>,</a:t>
                </a:r>
                <a:r>
                  <a:rPr lang="ko-KR" altLang="en-US" sz="700" dirty="0">
                    <a:latin typeface="페이퍼로지 4 Regular" pitchFamily="2" charset="-127"/>
                    <a:ea typeface="페이퍼로지 4 Regular" pitchFamily="2" charset="-127"/>
                  </a:rPr>
                  <a:t> 보이스피싱예방협회 </a:t>
                </a:r>
                <a:r>
                  <a:rPr lang="en-US" altLang="ko-KR" sz="700" dirty="0">
                    <a:latin typeface="페이퍼로지 4 Regular" pitchFamily="2" charset="-127"/>
                    <a:ea typeface="페이퍼로지 4 Regular" pitchFamily="2" charset="-127"/>
                  </a:rPr>
                  <a:t>(2021.10.28 ~ 2021.11. 28)</a:t>
                </a:r>
                <a:endParaRPr lang="ko-KR" altLang="en-US" sz="700" dirty="0"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BA86F9F0-D5C2-4671-AF9B-AA1B1AB15CFD}"/>
                  </a:ext>
                </a:extLst>
              </p:cNvPr>
              <p:cNvSpPr txBox="1"/>
              <p:nvPr/>
            </p:nvSpPr>
            <p:spPr>
              <a:xfrm>
                <a:off x="7640448" y="4563464"/>
                <a:ext cx="359300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000" dirty="0">
                    <a:latin typeface="페이퍼로지 7 Bold" pitchFamily="2" charset="-127"/>
                    <a:ea typeface="페이퍼로지 7 Bold" pitchFamily="2" charset="-127"/>
                  </a:rPr>
                  <a:t>보이스피싱 피해로 인한 정신적 피해 </a:t>
                </a:r>
                <a:r>
                  <a:rPr lang="ko-KR" altLang="en-US" sz="800" dirty="0">
                    <a:latin typeface="페이퍼로지 4 Regular" pitchFamily="2" charset="-127"/>
                    <a:ea typeface="페이퍼로지 4 Regular" pitchFamily="2" charset="-127"/>
                  </a:rPr>
                  <a:t>피해자 </a:t>
                </a:r>
                <a:r>
                  <a:rPr lang="en-US" altLang="ko-KR" sz="800" dirty="0">
                    <a:latin typeface="페이퍼로지 4 Regular" pitchFamily="2" charset="-127"/>
                    <a:ea typeface="페이퍼로지 4 Regular" pitchFamily="2" charset="-127"/>
                  </a:rPr>
                  <a:t>60</a:t>
                </a:r>
                <a:r>
                  <a:rPr lang="ko-KR" altLang="en-US" sz="800" dirty="0">
                    <a:latin typeface="페이퍼로지 4 Regular" pitchFamily="2" charset="-127"/>
                    <a:ea typeface="페이퍼로지 4 Regular" pitchFamily="2" charset="-127"/>
                  </a:rPr>
                  <a:t>명</a:t>
                </a:r>
                <a:r>
                  <a:rPr lang="en-US" altLang="ko-KR" sz="800" dirty="0">
                    <a:latin typeface="페이퍼로지 4 Regular" pitchFamily="2" charset="-127"/>
                    <a:ea typeface="페이퍼로지 4 Regular" pitchFamily="2" charset="-127"/>
                  </a:rPr>
                  <a:t>(</a:t>
                </a:r>
                <a:r>
                  <a:rPr lang="ko-KR" altLang="en-US" sz="800" dirty="0">
                    <a:latin typeface="페이퍼로지 4 Regular" pitchFamily="2" charset="-127"/>
                    <a:ea typeface="페이퍼로지 4 Regular" pitchFamily="2" charset="-127"/>
                  </a:rPr>
                  <a:t>중복응답</a:t>
                </a:r>
                <a:r>
                  <a:rPr lang="en-US" altLang="ko-KR" sz="800" dirty="0">
                    <a:latin typeface="페이퍼로지 4 Regular" pitchFamily="2" charset="-127"/>
                    <a:ea typeface="페이퍼로지 4 Regular" pitchFamily="2" charset="-127"/>
                  </a:rPr>
                  <a:t>, </a:t>
                </a:r>
                <a:r>
                  <a:rPr lang="ko-KR" altLang="en-US" sz="800" dirty="0">
                    <a:latin typeface="페이퍼로지 4 Regular" pitchFamily="2" charset="-127"/>
                    <a:ea typeface="페이퍼로지 4 Regular" pitchFamily="2" charset="-127"/>
                  </a:rPr>
                  <a:t>미응답 </a:t>
                </a:r>
                <a:r>
                  <a:rPr lang="en-US" altLang="ko-KR" sz="800" dirty="0">
                    <a:latin typeface="페이퍼로지 4 Regular" pitchFamily="2" charset="-127"/>
                    <a:ea typeface="페이퍼로지 4 Regular" pitchFamily="2" charset="-127"/>
                  </a:rPr>
                  <a:t>3</a:t>
                </a:r>
                <a:r>
                  <a:rPr lang="ko-KR" altLang="en-US" sz="800" dirty="0">
                    <a:latin typeface="페이퍼로지 4 Regular" pitchFamily="2" charset="-127"/>
                    <a:ea typeface="페이퍼로지 4 Regular" pitchFamily="2" charset="-127"/>
                  </a:rPr>
                  <a:t>명 제외</a:t>
                </a:r>
                <a:r>
                  <a:rPr lang="en-US" altLang="ko-KR" sz="800" dirty="0">
                    <a:latin typeface="페이퍼로지 4 Regular" pitchFamily="2" charset="-127"/>
                    <a:ea typeface="페이퍼로지 4 Regular" pitchFamily="2" charset="-127"/>
                  </a:rPr>
                  <a:t>)</a:t>
                </a:r>
                <a:endParaRPr lang="ko-KR" altLang="en-US" sz="800" dirty="0"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6EEECBB-BB64-41A1-A769-5B4184A6ED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0681" y="5872878"/>
              <a:ext cx="3512773" cy="127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0484559-C80C-4C9F-8C93-F7FCC1E4A777}"/>
              </a:ext>
            </a:extLst>
          </p:cNvPr>
          <p:cNvGrpSpPr/>
          <p:nvPr/>
        </p:nvGrpSpPr>
        <p:grpSpPr>
          <a:xfrm>
            <a:off x="1127834" y="1655222"/>
            <a:ext cx="9936332" cy="2776910"/>
            <a:chOff x="2156114" y="1775283"/>
            <a:chExt cx="9077128" cy="2536789"/>
          </a:xfrm>
        </p:grpSpPr>
        <p:sp>
          <p:nvSpPr>
            <p:cNvPr id="79" name="Shape 8">
              <a:extLst>
                <a:ext uri="{FF2B5EF4-FFF2-40B4-BE49-F238E27FC236}">
                  <a16:creationId xmlns:a16="http://schemas.microsoft.com/office/drawing/2014/main" id="{16834A81-4253-48AC-B97E-FD07265A8D95}"/>
                </a:ext>
              </a:extLst>
            </p:cNvPr>
            <p:cNvSpPr/>
            <p:nvPr/>
          </p:nvSpPr>
          <p:spPr>
            <a:xfrm>
              <a:off x="2156114" y="1775283"/>
              <a:ext cx="4445862" cy="2514600"/>
            </a:xfrm>
            <a:prstGeom prst="roundRect">
              <a:avLst>
                <a:gd name="adj" fmla="val 5818"/>
              </a:avLst>
            </a:prstGeom>
            <a:solidFill>
              <a:srgbClr val="FFFFFF"/>
            </a:solidFill>
            <a:ln w="10160">
              <a:solidFill>
                <a:srgbClr val="DCE8FA"/>
              </a:solidFill>
              <a:prstDash val="solid"/>
            </a:ln>
          </p:spPr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7A855B79-622D-459E-A7F5-4F42EB704F63}"/>
                </a:ext>
              </a:extLst>
            </p:cNvPr>
            <p:cNvSpPr txBox="1"/>
            <p:nvPr/>
          </p:nvSpPr>
          <p:spPr>
            <a:xfrm>
              <a:off x="2635906" y="1849987"/>
              <a:ext cx="3486278" cy="2249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2016~2025 </a:t>
              </a:r>
              <a:r>
                <a:rPr lang="ko-KR" altLang="en-US" sz="10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보이스피싱 피해 발생 수</a:t>
              </a:r>
              <a:r>
                <a:rPr lang="en-US" altLang="ko-KR" sz="10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, </a:t>
              </a:r>
              <a:r>
                <a:rPr lang="ko-KR" altLang="en-US" sz="10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피해액</a:t>
              </a:r>
              <a:endParaRPr lang="ko-KR" altLang="en-US" sz="1000" dirty="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BEED6A9-5F2A-494A-887C-CC454F317B02}"/>
                </a:ext>
              </a:extLst>
            </p:cNvPr>
            <p:cNvGrpSpPr/>
            <p:nvPr/>
          </p:nvGrpSpPr>
          <p:grpSpPr>
            <a:xfrm>
              <a:off x="6787380" y="1775283"/>
              <a:ext cx="4445862" cy="2514600"/>
              <a:chOff x="5826188" y="1775283"/>
              <a:chExt cx="4445862" cy="2514600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39CB2445-6554-4212-901E-9C6B7D7612C4}"/>
                  </a:ext>
                </a:extLst>
              </p:cNvPr>
              <p:cNvGrpSpPr/>
              <p:nvPr/>
            </p:nvGrpSpPr>
            <p:grpSpPr>
              <a:xfrm>
                <a:off x="5826188" y="1775283"/>
                <a:ext cx="4445862" cy="2514600"/>
                <a:chOff x="4630032" y="1775283"/>
                <a:chExt cx="4445862" cy="2514600"/>
              </a:xfrm>
            </p:grpSpPr>
            <p:sp>
              <p:nvSpPr>
                <p:cNvPr id="119" name="Shape 8">
                  <a:extLst>
                    <a:ext uri="{FF2B5EF4-FFF2-40B4-BE49-F238E27FC236}">
                      <a16:creationId xmlns:a16="http://schemas.microsoft.com/office/drawing/2014/main" id="{DFF93096-BD0A-4BBF-8479-B0600EFEC37F}"/>
                    </a:ext>
                  </a:extLst>
                </p:cNvPr>
                <p:cNvSpPr/>
                <p:nvPr/>
              </p:nvSpPr>
              <p:spPr>
                <a:xfrm>
                  <a:off x="4630032" y="1775283"/>
                  <a:ext cx="4445862" cy="2514600"/>
                </a:xfrm>
                <a:prstGeom prst="roundRect">
                  <a:avLst>
                    <a:gd name="adj" fmla="val 5818"/>
                  </a:avLst>
                </a:prstGeom>
                <a:solidFill>
                  <a:srgbClr val="FFFFFF"/>
                </a:solidFill>
                <a:ln w="10160">
                  <a:solidFill>
                    <a:srgbClr val="DCE8FA"/>
                  </a:solidFill>
                  <a:prstDash val="solid"/>
                </a:ln>
              </p:spPr>
            </p:sp>
            <p:graphicFrame>
              <p:nvGraphicFramePr>
                <p:cNvPr id="40" name="Chart 39">
                  <a:extLst>
                    <a:ext uri="{FF2B5EF4-FFF2-40B4-BE49-F238E27FC236}">
                      <a16:creationId xmlns:a16="http://schemas.microsoft.com/office/drawing/2014/main" id="{46FDFEB3-28D8-47BD-9371-4A09F7B17AFE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2681701987"/>
                    </p:ext>
                  </p:extLst>
                </p:nvPr>
              </p:nvGraphicFramePr>
              <p:xfrm>
                <a:off x="4735830" y="2099334"/>
                <a:ext cx="4282782" cy="2105480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3"/>
                </a:graphicData>
              </a:graphic>
            </p:graphicFrame>
          </p:grp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892428CB-C9D5-47A0-80BE-D571E28C0841}"/>
                  </a:ext>
                </a:extLst>
              </p:cNvPr>
              <p:cNvSpPr txBox="1"/>
              <p:nvPr/>
            </p:nvSpPr>
            <p:spPr>
              <a:xfrm>
                <a:off x="6305980" y="1849987"/>
                <a:ext cx="3486278" cy="224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000" b="1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 Bold" pitchFamily="34" charset="-120"/>
                  </a:rPr>
                  <a:t>년도별 </a:t>
                </a:r>
                <a:r>
                  <a:rPr lang="en-US" altLang="ko-KR" sz="1000" b="1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 Bold" pitchFamily="34" charset="-120"/>
                  </a:rPr>
                  <a:t>1</a:t>
                </a:r>
                <a:r>
                  <a:rPr lang="ko-KR" altLang="en-US" sz="1000" b="1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 Bold" pitchFamily="34" charset="-120"/>
                  </a:rPr>
                  <a:t>개 사건 평균 피해액 추이</a:t>
                </a:r>
                <a:endParaRPr lang="ko-KR" altLang="en-US" sz="1000" dirty="0"/>
              </a:p>
            </p:txBody>
          </p:sp>
        </p:grpSp>
        <p:graphicFrame>
          <p:nvGraphicFramePr>
            <p:cNvPr id="22" name="Chart 21">
              <a:extLst>
                <a:ext uri="{FF2B5EF4-FFF2-40B4-BE49-F238E27FC236}">
                  <a16:creationId xmlns:a16="http://schemas.microsoft.com/office/drawing/2014/main" id="{278C99B9-09AF-4A69-9C94-123324403019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197957959"/>
                </p:ext>
              </p:extLst>
            </p:nvPr>
          </p:nvGraphicFramePr>
          <p:xfrm>
            <a:off x="2237232" y="2092640"/>
            <a:ext cx="4277868" cy="221943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</p:grpSp>
      <p:sp>
        <p:nvSpPr>
          <p:cNvPr id="45" name="Text 11">
            <a:extLst>
              <a:ext uri="{FF2B5EF4-FFF2-40B4-BE49-F238E27FC236}">
                <a16:creationId xmlns:a16="http://schemas.microsoft.com/office/drawing/2014/main" id="{041DA88E-E5DF-430D-B96E-E2B22D0D9A56}"/>
              </a:ext>
            </a:extLst>
          </p:cNvPr>
          <p:cNvSpPr txBox="1"/>
          <p:nvPr/>
        </p:nvSpPr>
        <p:spPr>
          <a:xfrm>
            <a:off x="547516" y="650138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*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공공데이터포털 경찰청 보이스피싱 현황 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2025.12.30</a:t>
            </a:r>
            <a:endParaRPr lang="en-US" sz="800" dirty="0">
              <a:solidFill>
                <a:schemeClr val="bg1">
                  <a:lumMod val="6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1021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6">
            <a:extLst>
              <a:ext uri="{FF2B5EF4-FFF2-40B4-BE49-F238E27FC236}">
                <a16:creationId xmlns:a16="http://schemas.microsoft.com/office/drawing/2014/main" id="{26523E4F-4D96-421D-9C85-0DBFC0114F74}"/>
              </a:ext>
            </a:extLst>
          </p:cNvPr>
          <p:cNvSpPr txBox="1"/>
          <p:nvPr/>
        </p:nvSpPr>
        <p:spPr>
          <a:xfrm>
            <a:off x="734130" y="806730"/>
            <a:ext cx="106984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보이스피싱 범죄 피해를 막고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·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줄이고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·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도와줄 수 있는 대책을 마련하기 위해</a:t>
            </a:r>
            <a:endParaRPr lang="en-US" altLang="ko-KR" sz="2200" b="1" dirty="0">
              <a:solidFill>
                <a:srgbClr val="10213D"/>
              </a:solidFill>
              <a:latin typeface="페이퍼로지 7 Bold" pitchFamily="2" charset="-127"/>
              <a:ea typeface="페이퍼로지 7 Bold" pitchFamily="2" charset="-127"/>
              <a:cs typeface="NanumSquare Bold" pitchFamily="34" charset="-120"/>
            </a:endParaRPr>
          </a:p>
          <a:p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금융기관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·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은행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, 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정부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·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공공기관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, 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통신사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·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보안업체가 각자의 자리에서 노력하고 있다</a:t>
            </a:r>
            <a:endParaRPr lang="en-US" altLang="ko-KR" sz="2200" b="1" dirty="0">
              <a:solidFill>
                <a:srgbClr val="10213D"/>
              </a:solidFill>
              <a:latin typeface="페이퍼로지 7 Bold" pitchFamily="2" charset="-127"/>
              <a:ea typeface="페이퍼로지 7 Bold" pitchFamily="2" charset="-127"/>
              <a:cs typeface="NanumSquare Bold" pitchFamily="34" charset="-120"/>
            </a:endParaRPr>
          </a:p>
        </p:txBody>
      </p:sp>
      <p:sp>
        <p:nvSpPr>
          <p:cNvPr id="61" name="Text 7">
            <a:extLst>
              <a:ext uri="{FF2B5EF4-FFF2-40B4-BE49-F238E27FC236}">
                <a16:creationId xmlns:a16="http://schemas.microsoft.com/office/drawing/2014/main" id="{B86AB141-D61D-4F98-88E7-DC95CF56A724}"/>
              </a:ext>
            </a:extLst>
          </p:cNvPr>
          <p:cNvSpPr txBox="1"/>
          <p:nvPr/>
        </p:nvSpPr>
        <p:spPr>
          <a:xfrm>
            <a:off x="729441" y="593195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보이스피싱 범죄로부터 소중한 국민의 재산과 생명을 지키기 위해</a:t>
            </a:r>
            <a:r>
              <a:rPr lang="en-US" altLang="ko-KR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…</a:t>
            </a:r>
            <a:endParaRPr lang="en-US" altLang="ko-KR" sz="123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158065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3078A156-9BD4-4B2C-8818-C873541FE1FE}"/>
              </a:ext>
            </a:extLst>
          </p:cNvPr>
          <p:cNvGrpSpPr/>
          <p:nvPr/>
        </p:nvGrpSpPr>
        <p:grpSpPr>
          <a:xfrm>
            <a:off x="628649" y="5452905"/>
            <a:ext cx="10936817" cy="773508"/>
            <a:chOff x="989537" y="5557693"/>
            <a:chExt cx="10212928" cy="773508"/>
          </a:xfrm>
        </p:grpSpPr>
        <p:sp>
          <p:nvSpPr>
            <p:cNvPr id="46" name="Shape 44"/>
            <p:cNvSpPr/>
            <p:nvPr/>
          </p:nvSpPr>
          <p:spPr>
            <a:xfrm>
              <a:off x="1057656" y="5587831"/>
              <a:ext cx="10076688" cy="713232"/>
            </a:xfrm>
            <a:prstGeom prst="roundRect">
              <a:avLst>
                <a:gd name="adj" fmla="val 20513"/>
              </a:avLst>
            </a:prstGeom>
            <a:solidFill>
              <a:srgbClr val="0B1F3A"/>
            </a:solidFill>
            <a:ln w="10160">
              <a:solidFill>
                <a:srgbClr val="0B1F3A"/>
              </a:solidFill>
              <a:prstDash val="solid"/>
            </a:ln>
          </p:spPr>
        </p:sp>
        <p:sp>
          <p:nvSpPr>
            <p:cNvPr id="47" name="Text 45"/>
            <p:cNvSpPr txBox="1"/>
            <p:nvPr/>
          </p:nvSpPr>
          <p:spPr>
            <a:xfrm>
              <a:off x="989537" y="5557693"/>
              <a:ext cx="10212928" cy="7735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특히</a:t>
              </a: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, </a:t>
              </a:r>
              <a:r>
                <a:rPr lang="ko-KR" altLang="en-US" sz="1520" b="1" dirty="0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인공지능</a:t>
              </a:r>
              <a:r>
                <a:rPr lang="en-US" altLang="ko-KR" sz="1520" b="1" dirty="0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(AI)</a:t>
              </a:r>
              <a:r>
                <a:rPr lang="ko-KR" altLang="en-US" sz="1520" b="1" dirty="0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와 빅데이터 등 최신 기술을 적극 활용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하여 실시간 분석</a:t>
              </a: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·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차단</a:t>
              </a: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·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조치하고 있고</a:t>
              </a: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,</a:t>
              </a:r>
            </a:p>
            <a:p>
              <a:pPr marL="0" indent="0" algn="ctr">
                <a:buNone/>
              </a:pP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유기적인 공동 협업 체계를 구축하며 다양한 </a:t>
              </a:r>
              <a:r>
                <a:rPr lang="en-US" sz="1520" b="1" dirty="0" err="1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안전장치</a:t>
              </a:r>
              <a:r>
                <a:rPr lang="en-US" sz="1520" b="1" dirty="0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 </a:t>
              </a:r>
              <a:r>
                <a:rPr lang="ko-KR" altLang="en-US" sz="1520" b="1" dirty="0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개발과 제도 개선이 활발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하게 이루어지고 있다</a:t>
              </a:r>
              <a:endParaRPr lang="en-US" sz="1520" dirty="0"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18BD87C1-342C-4A32-80E8-3279A30915AE}"/>
              </a:ext>
            </a:extLst>
          </p:cNvPr>
          <p:cNvSpPr txBox="1"/>
          <p:nvPr/>
        </p:nvSpPr>
        <p:spPr>
          <a:xfrm>
            <a:off x="-64242" y="162899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현황분석</a:t>
            </a:r>
            <a:endParaRPr lang="en-US" sz="1050" dirty="0">
              <a:solidFill>
                <a:srgbClr val="0E2746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649D8BAD-1665-4D6F-983B-6C0A73436477}"/>
              </a:ext>
            </a:extLst>
          </p:cNvPr>
          <p:cNvGrpSpPr/>
          <p:nvPr/>
        </p:nvGrpSpPr>
        <p:grpSpPr>
          <a:xfrm>
            <a:off x="729441" y="1791637"/>
            <a:ext cx="10673219" cy="3422455"/>
            <a:chOff x="580527" y="1844623"/>
            <a:chExt cx="10673219" cy="342245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87A687C-E086-49AD-B17E-3AA81A103D3D}"/>
                </a:ext>
              </a:extLst>
            </p:cNvPr>
            <p:cNvGrpSpPr/>
            <p:nvPr/>
          </p:nvGrpSpPr>
          <p:grpSpPr>
            <a:xfrm>
              <a:off x="580527" y="1844623"/>
              <a:ext cx="10673219" cy="3422455"/>
              <a:chOff x="586093" y="1735608"/>
              <a:chExt cx="10673219" cy="3422455"/>
            </a:xfrm>
          </p:grpSpPr>
          <p:sp>
            <p:nvSpPr>
              <p:cNvPr id="10" name="Shape 8"/>
              <p:cNvSpPr/>
              <p:nvPr/>
            </p:nvSpPr>
            <p:spPr>
              <a:xfrm>
                <a:off x="586093" y="1735608"/>
                <a:ext cx="3473843" cy="3422455"/>
              </a:xfrm>
              <a:prstGeom prst="roundRect">
                <a:avLst>
                  <a:gd name="adj" fmla="val 5405"/>
                </a:avLst>
              </a:prstGeom>
              <a:solidFill>
                <a:srgbClr val="FFFFFF"/>
              </a:solidFill>
              <a:ln w="10160">
                <a:solidFill>
                  <a:srgbClr val="DCE8FA"/>
                </a:solidFill>
                <a:prstDash val="solid"/>
              </a:ln>
            </p:spPr>
          </p:sp>
          <p:sp>
            <p:nvSpPr>
              <p:cNvPr id="22" name="Shape 20"/>
              <p:cNvSpPr/>
              <p:nvPr/>
            </p:nvSpPr>
            <p:spPr>
              <a:xfrm>
                <a:off x="4185781" y="1735608"/>
                <a:ext cx="3473843" cy="3422455"/>
              </a:xfrm>
              <a:prstGeom prst="roundRect">
                <a:avLst>
                  <a:gd name="adj" fmla="val 5405"/>
                </a:avLst>
              </a:prstGeom>
              <a:solidFill>
                <a:srgbClr val="FFFFFF"/>
              </a:solidFill>
              <a:ln w="10160">
                <a:solidFill>
                  <a:srgbClr val="DCE8FA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34" name="Shape 32"/>
              <p:cNvSpPr/>
              <p:nvPr/>
            </p:nvSpPr>
            <p:spPr>
              <a:xfrm>
                <a:off x="7785469" y="1735608"/>
                <a:ext cx="3473843" cy="3422455"/>
              </a:xfrm>
              <a:prstGeom prst="roundRect">
                <a:avLst>
                  <a:gd name="adj" fmla="val 5405"/>
                </a:avLst>
              </a:prstGeom>
              <a:solidFill>
                <a:srgbClr val="FFFFFF"/>
              </a:solidFill>
              <a:ln w="10160">
                <a:solidFill>
                  <a:srgbClr val="DCE8FA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88C0B95D-B25B-43EF-A360-B3D890DD9167}"/>
                </a:ext>
              </a:extLst>
            </p:cNvPr>
            <p:cNvGrpSpPr/>
            <p:nvPr/>
          </p:nvGrpSpPr>
          <p:grpSpPr>
            <a:xfrm>
              <a:off x="749968" y="1967786"/>
              <a:ext cx="10094815" cy="475488"/>
              <a:chOff x="749968" y="1967786"/>
              <a:chExt cx="10094815" cy="475488"/>
            </a:xfrm>
          </p:grpSpPr>
          <p:sp>
            <p:nvSpPr>
              <p:cNvPr id="11" name="Shape 9"/>
              <p:cNvSpPr/>
              <p:nvPr/>
            </p:nvSpPr>
            <p:spPr>
              <a:xfrm>
                <a:off x="749968" y="1967786"/>
                <a:ext cx="475488" cy="475488"/>
              </a:xfrm>
              <a:prstGeom prst="ellipse">
                <a:avLst/>
              </a:prstGeom>
              <a:solidFill>
                <a:srgbClr val="EAF3FF"/>
              </a:solidFill>
              <a:ln w="10160">
                <a:solidFill>
                  <a:srgbClr val="D7E7FF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51216B33-CA83-41B7-ABAA-90D9A227C2D0}"/>
                  </a:ext>
                </a:extLst>
              </p:cNvPr>
              <p:cNvGrpSpPr/>
              <p:nvPr/>
            </p:nvGrpSpPr>
            <p:grpSpPr>
              <a:xfrm>
                <a:off x="761283" y="1992590"/>
                <a:ext cx="2503285" cy="448056"/>
                <a:chOff x="725424" y="1999106"/>
                <a:chExt cx="2503285" cy="448056"/>
              </a:xfrm>
            </p:grpSpPr>
            <p:sp>
              <p:nvSpPr>
                <p:cNvPr id="12" name="Text 10"/>
                <p:cNvSpPr txBox="1"/>
                <p:nvPr/>
              </p:nvSpPr>
              <p:spPr>
                <a:xfrm>
                  <a:off x="725424" y="1999106"/>
                  <a:ext cx="475488" cy="44805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1F5EFF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 Bold" pitchFamily="34" charset="-120"/>
                    </a:rPr>
                    <a:t>01</a:t>
                  </a:r>
                  <a:endParaRPr lang="en-US" sz="1600" dirty="0"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  <p:sp>
              <p:nvSpPr>
                <p:cNvPr id="13" name="Text 11"/>
                <p:cNvSpPr txBox="1"/>
                <p:nvPr/>
              </p:nvSpPr>
              <p:spPr>
                <a:xfrm>
                  <a:off x="1326757" y="2007046"/>
                  <a:ext cx="1901952" cy="38404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l">
                    <a:buNone/>
                  </a:pPr>
                  <a:r>
                    <a:rPr lang="en-US" sz="1620" b="1" dirty="0" err="1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 Bold" pitchFamily="34" charset="-120"/>
                    </a:rPr>
                    <a:t>금융기관</a:t>
                  </a:r>
                  <a:r>
                    <a:rPr lang="en-US" altLang="ko-KR" sz="1620" b="1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 Bold" pitchFamily="34" charset="-120"/>
                    </a:rPr>
                    <a:t>·</a:t>
                  </a:r>
                  <a:r>
                    <a:rPr lang="ko-KR" altLang="en-US" sz="1620" b="1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 Bold" pitchFamily="34" charset="-120"/>
                    </a:rPr>
                    <a:t>은행</a:t>
                  </a:r>
                  <a:endParaRPr lang="en-US" sz="162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</p:grpSp>
          <p:sp>
            <p:nvSpPr>
              <p:cNvPr id="57" name="Shape 9">
                <a:extLst>
                  <a:ext uri="{FF2B5EF4-FFF2-40B4-BE49-F238E27FC236}">
                    <a16:creationId xmlns:a16="http://schemas.microsoft.com/office/drawing/2014/main" id="{DD769627-C9E7-41C2-B6FE-22791B7D0B6C}"/>
                  </a:ext>
                </a:extLst>
              </p:cNvPr>
              <p:cNvSpPr/>
              <p:nvPr/>
            </p:nvSpPr>
            <p:spPr>
              <a:xfrm>
                <a:off x="4341329" y="1967786"/>
                <a:ext cx="475488" cy="475488"/>
              </a:xfrm>
              <a:prstGeom prst="ellipse">
                <a:avLst/>
              </a:prstGeom>
              <a:solidFill>
                <a:srgbClr val="EAF3FF"/>
              </a:solidFill>
              <a:ln w="10160">
                <a:solidFill>
                  <a:srgbClr val="D7E7FF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F964D1DB-BDC2-4629-9FE3-BA6C34077CD3}"/>
                  </a:ext>
                </a:extLst>
              </p:cNvPr>
              <p:cNvGrpSpPr/>
              <p:nvPr/>
            </p:nvGrpSpPr>
            <p:grpSpPr>
              <a:xfrm>
                <a:off x="4346001" y="1990054"/>
                <a:ext cx="2509928" cy="448056"/>
                <a:chOff x="718781" y="1994033"/>
                <a:chExt cx="2509928" cy="448056"/>
              </a:xfrm>
            </p:grpSpPr>
            <p:sp>
              <p:nvSpPr>
                <p:cNvPr id="59" name="Text 10">
                  <a:extLst>
                    <a:ext uri="{FF2B5EF4-FFF2-40B4-BE49-F238E27FC236}">
                      <a16:creationId xmlns:a16="http://schemas.microsoft.com/office/drawing/2014/main" id="{27D72A6B-8151-44EC-8DCA-C1F7F0B49680}"/>
                    </a:ext>
                  </a:extLst>
                </p:cNvPr>
                <p:cNvSpPr txBox="1"/>
                <p:nvPr/>
              </p:nvSpPr>
              <p:spPr>
                <a:xfrm>
                  <a:off x="718781" y="1994033"/>
                  <a:ext cx="475488" cy="44805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2F7CF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 Bold" pitchFamily="34" charset="-120"/>
                    </a:rPr>
                    <a:t>0</a:t>
                  </a:r>
                  <a:r>
                    <a:rPr lang="en-US" altLang="ko-KR" sz="1600" b="1" dirty="0">
                      <a:solidFill>
                        <a:srgbClr val="2F7CF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 Bold" pitchFamily="34" charset="-120"/>
                    </a:rPr>
                    <a:t>2</a:t>
                  </a:r>
                  <a:endParaRPr lang="en-US" sz="1600" dirty="0">
                    <a:solidFill>
                      <a:srgbClr val="2F7CF6"/>
                    </a:solidFill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  <p:sp>
              <p:nvSpPr>
                <p:cNvPr id="62" name="Text 11">
                  <a:extLst>
                    <a:ext uri="{FF2B5EF4-FFF2-40B4-BE49-F238E27FC236}">
                      <a16:creationId xmlns:a16="http://schemas.microsoft.com/office/drawing/2014/main" id="{7E39A5C8-EFF4-4D1F-A422-7810807E1826}"/>
                    </a:ext>
                  </a:extLst>
                </p:cNvPr>
                <p:cNvSpPr txBox="1"/>
                <p:nvPr/>
              </p:nvSpPr>
              <p:spPr>
                <a:xfrm>
                  <a:off x="1326757" y="2007046"/>
                  <a:ext cx="1901952" cy="38404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l">
                    <a:buNone/>
                  </a:pPr>
                  <a:r>
                    <a:rPr lang="en-US" altLang="ko-KR" sz="1620" b="1" dirty="0" err="1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 Bold" pitchFamily="34" charset="-120"/>
                    </a:rPr>
                    <a:t>정부·공공기관</a:t>
                  </a:r>
                  <a:endParaRPr lang="en-US" altLang="ko-KR" sz="162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</p:grpSp>
          <p:sp>
            <p:nvSpPr>
              <p:cNvPr id="64" name="Shape 9">
                <a:extLst>
                  <a:ext uri="{FF2B5EF4-FFF2-40B4-BE49-F238E27FC236}">
                    <a16:creationId xmlns:a16="http://schemas.microsoft.com/office/drawing/2014/main" id="{15B61A14-5EDC-428A-A5CA-3FAD34AE93DD}"/>
                  </a:ext>
                </a:extLst>
              </p:cNvPr>
              <p:cNvSpPr/>
              <p:nvPr/>
            </p:nvSpPr>
            <p:spPr>
              <a:xfrm>
                <a:off x="7946853" y="1967786"/>
                <a:ext cx="475488" cy="475488"/>
              </a:xfrm>
              <a:prstGeom prst="ellipse">
                <a:avLst/>
              </a:prstGeom>
              <a:solidFill>
                <a:srgbClr val="EAF3FF"/>
              </a:solidFill>
              <a:ln w="10160">
                <a:solidFill>
                  <a:srgbClr val="D7E7FF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4678AE84-686A-4BAE-A653-546969E73231}"/>
                  </a:ext>
                </a:extLst>
              </p:cNvPr>
              <p:cNvGrpSpPr/>
              <p:nvPr/>
            </p:nvGrpSpPr>
            <p:grpSpPr>
              <a:xfrm>
                <a:off x="7954473" y="1986074"/>
                <a:ext cx="2890310" cy="448056"/>
                <a:chOff x="721729" y="1986074"/>
                <a:chExt cx="2890310" cy="448056"/>
              </a:xfrm>
            </p:grpSpPr>
            <p:sp>
              <p:nvSpPr>
                <p:cNvPr id="66" name="Text 10">
                  <a:extLst>
                    <a:ext uri="{FF2B5EF4-FFF2-40B4-BE49-F238E27FC236}">
                      <a16:creationId xmlns:a16="http://schemas.microsoft.com/office/drawing/2014/main" id="{2F3E720C-B899-4F92-BAA2-ED6FED174CCA}"/>
                    </a:ext>
                  </a:extLst>
                </p:cNvPr>
                <p:cNvSpPr txBox="1"/>
                <p:nvPr/>
              </p:nvSpPr>
              <p:spPr>
                <a:xfrm>
                  <a:off x="721729" y="1986074"/>
                  <a:ext cx="475488" cy="44805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49A8FF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 Bold" pitchFamily="34" charset="-120"/>
                    </a:rPr>
                    <a:t>0</a:t>
                  </a:r>
                  <a:r>
                    <a:rPr lang="en-US" altLang="ko-KR" sz="1600" b="1" dirty="0">
                      <a:solidFill>
                        <a:srgbClr val="49A8FF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 Bold" pitchFamily="34" charset="-120"/>
                    </a:rPr>
                    <a:t>3</a:t>
                  </a:r>
                  <a:endParaRPr lang="en-US" sz="1600" dirty="0">
                    <a:solidFill>
                      <a:srgbClr val="49A8FF"/>
                    </a:solidFill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  <p:sp>
              <p:nvSpPr>
                <p:cNvPr id="67" name="Text 11">
                  <a:extLst>
                    <a:ext uri="{FF2B5EF4-FFF2-40B4-BE49-F238E27FC236}">
                      <a16:creationId xmlns:a16="http://schemas.microsoft.com/office/drawing/2014/main" id="{D1DF7AED-949A-4A37-B186-5B80E15BEB3D}"/>
                    </a:ext>
                  </a:extLst>
                </p:cNvPr>
                <p:cNvSpPr txBox="1"/>
                <p:nvPr/>
              </p:nvSpPr>
              <p:spPr>
                <a:xfrm>
                  <a:off x="1326756" y="2007046"/>
                  <a:ext cx="2285283" cy="38404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r>
                    <a:rPr lang="en-US" sz="1620" b="1" dirty="0" err="1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 Bold" pitchFamily="34" charset="-120"/>
                    </a:rPr>
                    <a:t>금융</a:t>
                  </a:r>
                  <a:r>
                    <a:rPr lang="en-US" altLang="ko-KR" sz="1620" b="1" dirty="0" err="1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 Bold" pitchFamily="34" charset="-120"/>
                    </a:rPr>
                    <a:t>통신사·보안업체</a:t>
                  </a:r>
                  <a:endParaRPr lang="en-US" altLang="ko-KR" sz="162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</p:grp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035F51FC-ACBE-4B66-A3AB-2CA6FF47C992}"/>
                </a:ext>
              </a:extLst>
            </p:cNvPr>
            <p:cNvGrpSpPr/>
            <p:nvPr/>
          </p:nvGrpSpPr>
          <p:grpSpPr>
            <a:xfrm>
              <a:off x="796565" y="2585446"/>
              <a:ext cx="2888053" cy="614349"/>
              <a:chOff x="796565" y="2491362"/>
              <a:chExt cx="2888053" cy="614349"/>
            </a:xfrm>
          </p:grpSpPr>
          <p:sp>
            <p:nvSpPr>
              <p:cNvPr id="14" name="Shape 12"/>
              <p:cNvSpPr/>
              <p:nvPr/>
            </p:nvSpPr>
            <p:spPr>
              <a:xfrm>
                <a:off x="796565" y="2601090"/>
                <a:ext cx="109728" cy="109728"/>
              </a:xfrm>
              <a:prstGeom prst="ellipse">
                <a:avLst/>
              </a:prstGeom>
              <a:solidFill>
                <a:srgbClr val="1F5EFF"/>
              </a:solidFill>
              <a:ln w="10160">
                <a:solidFill>
                  <a:srgbClr val="1F5EFF"/>
                </a:solidFill>
                <a:prstDash val="solid"/>
              </a:ln>
            </p:spPr>
          </p:sp>
          <p:sp>
            <p:nvSpPr>
              <p:cNvPr id="15" name="Text 13"/>
              <p:cNvSpPr txBox="1"/>
              <p:nvPr/>
            </p:nvSpPr>
            <p:spPr>
              <a:xfrm>
                <a:off x="997733" y="2491362"/>
                <a:ext cx="228600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r>
                  <a:rPr lang="en-US" altLang="ko-KR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ASAP </a:t>
                </a:r>
                <a:r>
                  <a:rPr lang="ko-KR" altLang="en-US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플랫폼 </a:t>
                </a:r>
                <a:endParaRPr lang="en-US" altLang="ko-KR" sz="1000" dirty="0"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303F7BDC-0128-43C0-AF3E-34FEEE94B193}"/>
                  </a:ext>
                </a:extLst>
              </p:cNvPr>
              <p:cNvSpPr txBox="1"/>
              <p:nvPr/>
            </p:nvSpPr>
            <p:spPr>
              <a:xfrm>
                <a:off x="906293" y="2736379"/>
                <a:ext cx="27783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금융회사</a:t>
                </a:r>
                <a:r>
                  <a:rPr lang="en-US" altLang="ko-KR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, </a:t>
                </a:r>
                <a:r>
                  <a:rPr lang="ko-KR" altLang="en-US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통신사</a:t>
                </a:r>
                <a:r>
                  <a:rPr lang="en-US" altLang="ko-KR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,</a:t>
                </a:r>
                <a:r>
                  <a:rPr lang="ko-KR" altLang="en-US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수사기관이 보이스피싱과 관련된 </a:t>
                </a:r>
                <a:r>
                  <a:rPr lang="ko-KR" altLang="en-US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외부</a:t>
                </a:r>
                <a:endParaRPr lang="en-US" altLang="ko-KR" sz="900" dirty="0">
                  <a:solidFill>
                    <a:srgbClr val="FF4B16"/>
                  </a:solidFill>
                  <a:latin typeface="페이퍼로지 4 Regular" pitchFamily="2" charset="-127"/>
                  <a:ea typeface="페이퍼로지 4 Regular" pitchFamily="2" charset="-127"/>
                  <a:cs typeface="NanumSquare" pitchFamily="34" charset="-120"/>
                </a:endParaRPr>
              </a:p>
              <a:p>
                <a:r>
                  <a:rPr lang="ko-KR" altLang="en-US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위험 정보를 실시간으로 공유</a:t>
                </a:r>
                <a:r>
                  <a:rPr lang="ko-KR" altLang="en-US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하고 </a:t>
                </a:r>
                <a:r>
                  <a:rPr lang="ko-KR" altLang="en-US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차단하는 </a:t>
                </a:r>
                <a:r>
                  <a:rPr lang="en-US" altLang="ko-KR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AI</a:t>
                </a:r>
                <a:r>
                  <a:rPr lang="ko-KR" altLang="en-US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기반 플랫폼</a:t>
                </a:r>
                <a:endParaRPr lang="ko-KR" altLang="en-US" sz="900" dirty="0">
                  <a:solidFill>
                    <a:srgbClr val="FF4B16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20FD6DE2-A11F-468B-A7D3-0184BDCBF15F}"/>
                </a:ext>
              </a:extLst>
            </p:cNvPr>
            <p:cNvGrpSpPr/>
            <p:nvPr/>
          </p:nvGrpSpPr>
          <p:grpSpPr>
            <a:xfrm>
              <a:off x="796565" y="3212531"/>
              <a:ext cx="3047142" cy="752848"/>
              <a:chOff x="796565" y="2491362"/>
              <a:chExt cx="3047142" cy="752848"/>
            </a:xfrm>
          </p:grpSpPr>
          <p:sp>
            <p:nvSpPr>
              <p:cNvPr id="99" name="Shape 12">
                <a:extLst>
                  <a:ext uri="{FF2B5EF4-FFF2-40B4-BE49-F238E27FC236}">
                    <a16:creationId xmlns:a16="http://schemas.microsoft.com/office/drawing/2014/main" id="{EB72D09C-0131-4404-96B0-C5C1D23AD146}"/>
                  </a:ext>
                </a:extLst>
              </p:cNvPr>
              <p:cNvSpPr/>
              <p:nvPr/>
            </p:nvSpPr>
            <p:spPr>
              <a:xfrm>
                <a:off x="796565" y="2601090"/>
                <a:ext cx="109728" cy="109728"/>
              </a:xfrm>
              <a:prstGeom prst="ellipse">
                <a:avLst/>
              </a:prstGeom>
              <a:solidFill>
                <a:srgbClr val="1F5EFF"/>
              </a:solidFill>
              <a:ln w="10160">
                <a:solidFill>
                  <a:srgbClr val="1F5EFF"/>
                </a:solidFill>
                <a:prstDash val="solid"/>
              </a:ln>
            </p:spPr>
          </p:sp>
          <p:sp>
            <p:nvSpPr>
              <p:cNvPr id="100" name="Text 13">
                <a:extLst>
                  <a:ext uri="{FF2B5EF4-FFF2-40B4-BE49-F238E27FC236}">
                    <a16:creationId xmlns:a16="http://schemas.microsoft.com/office/drawing/2014/main" id="{2D5D472E-D64B-44B1-82B1-A1FB676BD43D}"/>
                  </a:ext>
                </a:extLst>
              </p:cNvPr>
              <p:cNvSpPr txBox="1"/>
              <p:nvPr/>
            </p:nvSpPr>
            <p:spPr>
              <a:xfrm>
                <a:off x="997733" y="2491362"/>
                <a:ext cx="228600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r>
                  <a:rPr lang="en-US" altLang="ko-KR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FDS </a:t>
                </a:r>
                <a:r>
                  <a:rPr lang="ko-KR" altLang="en-US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이상거래 탐지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211D9CDD-CB64-457D-8AF7-8D86970B0A84}"/>
                  </a:ext>
                </a:extLst>
              </p:cNvPr>
              <p:cNvSpPr txBox="1"/>
              <p:nvPr/>
            </p:nvSpPr>
            <p:spPr>
              <a:xfrm>
                <a:off x="906293" y="2736379"/>
                <a:ext cx="2937414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전자금융거래 시 단말기 정보</a:t>
                </a:r>
                <a:r>
                  <a:rPr lang="en-US" altLang="ko-KR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, </a:t>
                </a:r>
                <a:r>
                  <a:rPr lang="ko-KR" altLang="en-US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접속위치</a:t>
                </a:r>
                <a:r>
                  <a:rPr lang="en-US" altLang="ko-KR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, </a:t>
                </a:r>
                <a:r>
                  <a:rPr lang="ko-KR" altLang="en-US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평소 거래 패턴등을 </a:t>
                </a:r>
                <a:r>
                  <a:rPr lang="ko-KR" altLang="en-US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실시간으로 분석</a:t>
                </a:r>
                <a:r>
                  <a:rPr lang="ko-KR" altLang="en-US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하여 의심스러운 부정 거래를 </a:t>
                </a:r>
                <a:r>
                  <a:rPr lang="ko-KR" altLang="en-US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탐치하고 차단</a:t>
                </a:r>
                <a:r>
                  <a:rPr lang="ko-KR" altLang="en-US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하는 이상거래 탐지 시스템</a:t>
                </a:r>
                <a:endParaRPr lang="ko-KR" altLang="en-US" sz="900" dirty="0"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7BBF2746-B58F-4409-86F5-702788857728}"/>
                </a:ext>
              </a:extLst>
            </p:cNvPr>
            <p:cNvGrpSpPr/>
            <p:nvPr/>
          </p:nvGrpSpPr>
          <p:grpSpPr>
            <a:xfrm>
              <a:off x="796565" y="3990937"/>
              <a:ext cx="3129846" cy="1168347"/>
              <a:chOff x="796565" y="2491362"/>
              <a:chExt cx="3129846" cy="1168347"/>
            </a:xfrm>
          </p:grpSpPr>
          <p:sp>
            <p:nvSpPr>
              <p:cNvPr id="103" name="Shape 12">
                <a:extLst>
                  <a:ext uri="{FF2B5EF4-FFF2-40B4-BE49-F238E27FC236}">
                    <a16:creationId xmlns:a16="http://schemas.microsoft.com/office/drawing/2014/main" id="{2AE99B93-85EF-4941-90DF-B14B33B660FF}"/>
                  </a:ext>
                </a:extLst>
              </p:cNvPr>
              <p:cNvSpPr/>
              <p:nvPr/>
            </p:nvSpPr>
            <p:spPr>
              <a:xfrm>
                <a:off x="796565" y="2601090"/>
                <a:ext cx="109728" cy="109728"/>
              </a:xfrm>
              <a:prstGeom prst="ellipse">
                <a:avLst/>
              </a:prstGeom>
              <a:solidFill>
                <a:srgbClr val="1F5EFF"/>
              </a:solidFill>
              <a:ln w="10160">
                <a:solidFill>
                  <a:srgbClr val="1F5EFF"/>
                </a:solidFill>
                <a:prstDash val="solid"/>
              </a:ln>
            </p:spPr>
          </p:sp>
          <p:sp>
            <p:nvSpPr>
              <p:cNvPr id="104" name="Text 13">
                <a:extLst>
                  <a:ext uri="{FF2B5EF4-FFF2-40B4-BE49-F238E27FC236}">
                    <a16:creationId xmlns:a16="http://schemas.microsoft.com/office/drawing/2014/main" id="{91F752C7-787F-40FB-A79F-7F58594334DD}"/>
                  </a:ext>
                </a:extLst>
              </p:cNvPr>
              <p:cNvSpPr txBox="1"/>
              <p:nvPr/>
            </p:nvSpPr>
            <p:spPr>
              <a:xfrm>
                <a:off x="997732" y="2491362"/>
                <a:ext cx="2686885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r>
                  <a:rPr lang="ko-KR" altLang="en-US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지연이체</a:t>
                </a:r>
                <a:r>
                  <a:rPr lang="en-US" altLang="ko-KR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·</a:t>
                </a:r>
                <a:r>
                  <a:rPr lang="ko-KR" altLang="en-US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지급정지</a:t>
                </a:r>
                <a:r>
                  <a:rPr lang="en-US" altLang="ko-KR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·</a:t>
                </a:r>
                <a:r>
                  <a:rPr lang="ko-KR" altLang="en-US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전자금융사기 예방서비스 </a:t>
                </a: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D89F6C0A-CE7D-4377-99D3-E82568841B16}"/>
                  </a:ext>
                </a:extLst>
              </p:cNvPr>
              <p:cNvSpPr txBox="1"/>
              <p:nvPr/>
            </p:nvSpPr>
            <p:spPr>
              <a:xfrm>
                <a:off x="870154" y="2736379"/>
                <a:ext cx="305625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 dirty="0">
                    <a:solidFill>
                      <a:srgbClr val="0B1F3A"/>
                    </a:solidFill>
                    <a:latin typeface="페이퍼로지 9 Black" pitchFamily="2" charset="-127"/>
                    <a:ea typeface="페이퍼로지 9 Black" pitchFamily="2" charset="-127"/>
                    <a:cs typeface="NanumSquare" pitchFamily="34" charset="-120"/>
                  </a:rPr>
                  <a:t>지연이체</a:t>
                </a:r>
                <a:r>
                  <a:rPr lang="en-US" altLang="ko-KR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:</a:t>
                </a:r>
                <a:r>
                  <a:rPr lang="ko-KR" altLang="en-US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 이체 시 수취인 계좌에 일정시간</a:t>
                </a:r>
                <a:r>
                  <a:rPr lang="en-US" altLang="ko-KR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(</a:t>
                </a:r>
                <a:r>
                  <a:rPr lang="ko-KR" altLang="en-US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최소 </a:t>
                </a:r>
                <a:r>
                  <a:rPr lang="en-US" altLang="ko-KR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3</a:t>
                </a:r>
                <a:r>
                  <a:rPr lang="ko-KR" altLang="en-US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시간</a:t>
                </a:r>
                <a:r>
                  <a:rPr lang="en-US" altLang="ko-KR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)</a:t>
                </a:r>
                <a:r>
                  <a:rPr lang="ko-KR" altLang="en-US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경과 후 입금되도록 하는 서비스</a:t>
                </a:r>
                <a:endParaRPr lang="en-US" altLang="ko-KR" sz="900" dirty="0">
                  <a:solidFill>
                    <a:srgbClr val="0B1F3A"/>
                  </a:solidFill>
                  <a:latin typeface="페이퍼로지 4 Regular" pitchFamily="2" charset="-127"/>
                  <a:ea typeface="페이퍼로지 4 Regular" pitchFamily="2" charset="-127"/>
                  <a:cs typeface="NanumSquare" pitchFamily="34" charset="-12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 dirty="0">
                    <a:solidFill>
                      <a:srgbClr val="0B1F3A"/>
                    </a:solidFill>
                    <a:latin typeface="페이퍼로지 9 Black" pitchFamily="2" charset="-127"/>
                    <a:ea typeface="페이퍼로지 9 Black" pitchFamily="2" charset="-127"/>
                    <a:cs typeface="NanumSquare" pitchFamily="34" charset="-120"/>
                  </a:rPr>
                  <a:t>지급정지</a:t>
                </a:r>
                <a:r>
                  <a:rPr lang="en-US" altLang="ko-KR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: </a:t>
                </a:r>
                <a:r>
                  <a:rPr lang="ko-KR" altLang="en-US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전자금융범죄 등의 피해가 발생했을 때</a:t>
                </a:r>
                <a:r>
                  <a:rPr lang="en-US" altLang="ko-KR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, </a:t>
                </a:r>
                <a:r>
                  <a:rPr lang="ko-KR" altLang="en-US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범죄자가 계좌에서 돈을 빼가지 못하도록 은행이 해당 계좌의 입출금 및 </a:t>
                </a:r>
                <a:r>
                  <a:rPr lang="ko-KR" altLang="en-US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이체 거래를 즉시 차단</a:t>
                </a:r>
                <a:r>
                  <a:rPr lang="en-US" altLang="ko-KR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(</a:t>
                </a:r>
                <a:r>
                  <a:rPr lang="ko-KR" altLang="en-US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동결</a:t>
                </a:r>
                <a:r>
                  <a:rPr lang="en-US" altLang="ko-KR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)</a:t>
                </a:r>
                <a:r>
                  <a:rPr lang="ko-KR" altLang="en-US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하는 긴급 법적 조치</a:t>
                </a:r>
                <a:endParaRPr lang="en-US" altLang="ko-KR" sz="900" dirty="0">
                  <a:solidFill>
                    <a:srgbClr val="0B1F3A"/>
                  </a:solidFill>
                  <a:latin typeface="페이퍼로지 4 Regular" pitchFamily="2" charset="-127"/>
                  <a:ea typeface="페이퍼로지 4 Regular" pitchFamily="2" charset="-127"/>
                  <a:cs typeface="NanumSquare" pitchFamily="34" charset="-12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금융자산을 보호하기 위해 본인확인 절차를 강화하는 서비스</a:t>
                </a:r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4E2107FB-F873-4983-BE64-7F11CCE295C3}"/>
                </a:ext>
              </a:extLst>
            </p:cNvPr>
            <p:cNvGrpSpPr/>
            <p:nvPr/>
          </p:nvGrpSpPr>
          <p:grpSpPr>
            <a:xfrm>
              <a:off x="4384972" y="2585446"/>
              <a:ext cx="2766786" cy="614349"/>
              <a:chOff x="4384972" y="2585446"/>
              <a:chExt cx="2766786" cy="614349"/>
            </a:xfrm>
          </p:grpSpPr>
          <p:sp>
            <p:nvSpPr>
              <p:cNvPr id="26" name="Shape 24"/>
              <p:cNvSpPr/>
              <p:nvPr/>
            </p:nvSpPr>
            <p:spPr>
              <a:xfrm>
                <a:off x="4384972" y="2695174"/>
                <a:ext cx="109728" cy="109728"/>
              </a:xfrm>
              <a:prstGeom prst="ellipse">
                <a:avLst/>
              </a:prstGeom>
              <a:solidFill>
                <a:srgbClr val="2F7CF6"/>
              </a:solidFill>
              <a:ln w="10160">
                <a:solidFill>
                  <a:srgbClr val="2F7CF6"/>
                </a:solidFill>
                <a:prstDash val="solid"/>
              </a:ln>
            </p:spPr>
          </p: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CE3EB3BF-9ECC-4A3B-9952-516B4C2FC656}"/>
                  </a:ext>
                </a:extLst>
              </p:cNvPr>
              <p:cNvGrpSpPr/>
              <p:nvPr/>
            </p:nvGrpSpPr>
            <p:grpSpPr>
              <a:xfrm>
                <a:off x="4490452" y="2585446"/>
                <a:ext cx="2661306" cy="614349"/>
                <a:chOff x="906293" y="2491362"/>
                <a:chExt cx="2661306" cy="614349"/>
              </a:xfrm>
            </p:grpSpPr>
            <p:sp>
              <p:nvSpPr>
                <p:cNvPr id="109" name="Text 13">
                  <a:extLst>
                    <a:ext uri="{FF2B5EF4-FFF2-40B4-BE49-F238E27FC236}">
                      <a16:creationId xmlns:a16="http://schemas.microsoft.com/office/drawing/2014/main" id="{C18901BD-E1CC-4FFE-894F-775B066395DD}"/>
                    </a:ext>
                  </a:extLst>
                </p:cNvPr>
                <p:cNvSpPr txBox="1"/>
                <p:nvPr/>
              </p:nvSpPr>
              <p:spPr>
                <a:xfrm>
                  <a:off x="997733" y="2491362"/>
                  <a:ext cx="2286000" cy="31089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신고</a:t>
                  </a:r>
                  <a:r>
                    <a:rPr lang="en-US" altLang="ko-KR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·</a:t>
                  </a:r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피해구제 제도 및 체계 개선</a:t>
                  </a:r>
                  <a:endParaRPr lang="en-US" altLang="ko-KR" sz="100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5D1A5D58-7F3B-45EF-917A-954C9192C90B}"/>
                    </a:ext>
                  </a:extLst>
                </p:cNvPr>
                <p:cNvSpPr txBox="1"/>
                <p:nvPr/>
              </p:nvSpPr>
              <p:spPr>
                <a:xfrm>
                  <a:off x="906293" y="2736379"/>
                  <a:ext cx="26613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원스톱 신고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 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단계별 피해 구제 절차 등</a:t>
                  </a:r>
                  <a:endParaRPr lang="en-US" altLang="ko-KR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endParaRPr>
                </a:p>
                <a:p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</a:rPr>
                    <a:t>보이스피싱 피해구제 제도와 계좌 지급정지 접근성 강화</a:t>
                  </a:r>
                </a:p>
              </p:txBody>
            </p:sp>
          </p:grpSp>
        </p:grp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1FA11A45-E01D-4438-A224-C9D990430FBE}"/>
                </a:ext>
              </a:extLst>
            </p:cNvPr>
            <p:cNvGrpSpPr/>
            <p:nvPr/>
          </p:nvGrpSpPr>
          <p:grpSpPr>
            <a:xfrm>
              <a:off x="4384972" y="3212531"/>
              <a:ext cx="2543968" cy="614349"/>
              <a:chOff x="4384972" y="2585446"/>
              <a:chExt cx="2543968" cy="614349"/>
            </a:xfrm>
          </p:grpSpPr>
          <p:sp>
            <p:nvSpPr>
              <p:cNvPr id="113" name="Shape 24">
                <a:extLst>
                  <a:ext uri="{FF2B5EF4-FFF2-40B4-BE49-F238E27FC236}">
                    <a16:creationId xmlns:a16="http://schemas.microsoft.com/office/drawing/2014/main" id="{78311CB7-38E7-41C6-86B5-0BEB525459FB}"/>
                  </a:ext>
                </a:extLst>
              </p:cNvPr>
              <p:cNvSpPr/>
              <p:nvPr/>
            </p:nvSpPr>
            <p:spPr>
              <a:xfrm>
                <a:off x="4384972" y="2695174"/>
                <a:ext cx="109728" cy="109728"/>
              </a:xfrm>
              <a:prstGeom prst="ellipse">
                <a:avLst/>
              </a:prstGeom>
              <a:solidFill>
                <a:srgbClr val="2F7CF6"/>
              </a:solidFill>
              <a:ln w="10160">
                <a:solidFill>
                  <a:srgbClr val="2F7CF6"/>
                </a:solidFill>
                <a:prstDash val="solid"/>
              </a:ln>
            </p:spPr>
          </p:sp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653BE3CF-3381-4032-BE64-B1AD59E3A731}"/>
                  </a:ext>
                </a:extLst>
              </p:cNvPr>
              <p:cNvGrpSpPr/>
              <p:nvPr/>
            </p:nvGrpSpPr>
            <p:grpSpPr>
              <a:xfrm>
                <a:off x="4490452" y="2585446"/>
                <a:ext cx="2438488" cy="614349"/>
                <a:chOff x="906293" y="2491362"/>
                <a:chExt cx="2438488" cy="614349"/>
              </a:xfrm>
            </p:grpSpPr>
            <p:sp>
              <p:nvSpPr>
                <p:cNvPr id="115" name="Text 13">
                  <a:extLst>
                    <a:ext uri="{FF2B5EF4-FFF2-40B4-BE49-F238E27FC236}">
                      <a16:creationId xmlns:a16="http://schemas.microsoft.com/office/drawing/2014/main" id="{C619FD46-F5E9-4160-8AC1-3828DE5A7294}"/>
                    </a:ext>
                  </a:extLst>
                </p:cNvPr>
                <p:cNvSpPr txBox="1"/>
                <p:nvPr/>
              </p:nvSpPr>
              <p:spPr>
                <a:xfrm>
                  <a:off x="997733" y="2491362"/>
                  <a:ext cx="2286000" cy="31089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예방교육 </a:t>
                  </a:r>
                  <a:r>
                    <a:rPr lang="en-US" altLang="ko-KR" sz="100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· </a:t>
                  </a:r>
                  <a:r>
                    <a:rPr lang="ko-KR" altLang="en-US" sz="100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홍보</a:t>
                  </a:r>
                  <a:endParaRPr lang="ko-KR" altLang="en-US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endParaRPr>
                </a:p>
              </p:txBody>
            </p:sp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FB13986B-82BF-46A0-BC9D-2E44EE978B10}"/>
                    </a:ext>
                  </a:extLst>
                </p:cNvPr>
                <p:cNvSpPr txBox="1"/>
                <p:nvPr/>
              </p:nvSpPr>
              <p:spPr>
                <a:xfrm>
                  <a:off x="906293" y="2736379"/>
                  <a:ext cx="24384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범정부 대응 및 콘텐츠 배포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 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생활 밀착형 현장홍보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</a:t>
                  </a:r>
                </a:p>
                <a:p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찾아가는 현장교육</a:t>
                  </a:r>
                  <a:endParaRPr lang="ko-KR" altLang="en-US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</p:grpSp>
        </p:grp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B38A1977-7C20-4B32-9C0E-CD5436D48C75}"/>
                </a:ext>
              </a:extLst>
            </p:cNvPr>
            <p:cNvGrpSpPr/>
            <p:nvPr/>
          </p:nvGrpSpPr>
          <p:grpSpPr>
            <a:xfrm>
              <a:off x="4384972" y="3882182"/>
              <a:ext cx="3093799" cy="614349"/>
              <a:chOff x="4384972" y="2585446"/>
              <a:chExt cx="3093799" cy="614349"/>
            </a:xfrm>
          </p:grpSpPr>
          <p:sp>
            <p:nvSpPr>
              <p:cNvPr id="119" name="Shape 24">
                <a:extLst>
                  <a:ext uri="{FF2B5EF4-FFF2-40B4-BE49-F238E27FC236}">
                    <a16:creationId xmlns:a16="http://schemas.microsoft.com/office/drawing/2014/main" id="{4541929F-BB7D-4D3A-BF63-55E2FCC62316}"/>
                  </a:ext>
                </a:extLst>
              </p:cNvPr>
              <p:cNvSpPr/>
              <p:nvPr/>
            </p:nvSpPr>
            <p:spPr>
              <a:xfrm>
                <a:off x="4384972" y="2695174"/>
                <a:ext cx="109728" cy="109728"/>
              </a:xfrm>
              <a:prstGeom prst="ellipse">
                <a:avLst/>
              </a:prstGeom>
              <a:solidFill>
                <a:srgbClr val="2F7CF6"/>
              </a:solidFill>
              <a:ln w="10160">
                <a:solidFill>
                  <a:srgbClr val="2F7CF6"/>
                </a:solidFill>
                <a:prstDash val="solid"/>
              </a:ln>
            </p:spPr>
          </p: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20FAF6DA-F591-4D8E-BE73-CC99AA1640D5}"/>
                  </a:ext>
                </a:extLst>
              </p:cNvPr>
              <p:cNvGrpSpPr/>
              <p:nvPr/>
            </p:nvGrpSpPr>
            <p:grpSpPr>
              <a:xfrm>
                <a:off x="4490452" y="2585446"/>
                <a:ext cx="2988319" cy="614349"/>
                <a:chOff x="906293" y="2491362"/>
                <a:chExt cx="2988319" cy="614349"/>
              </a:xfrm>
            </p:grpSpPr>
            <p:sp>
              <p:nvSpPr>
                <p:cNvPr id="121" name="Text 13">
                  <a:extLst>
                    <a:ext uri="{FF2B5EF4-FFF2-40B4-BE49-F238E27FC236}">
                      <a16:creationId xmlns:a16="http://schemas.microsoft.com/office/drawing/2014/main" id="{DEC6BCC0-173F-4F90-854F-D1F3BF4AA74E}"/>
                    </a:ext>
                  </a:extLst>
                </p:cNvPr>
                <p:cNvSpPr txBox="1"/>
                <p:nvPr/>
              </p:nvSpPr>
              <p:spPr>
                <a:xfrm>
                  <a:off x="997733" y="2491362"/>
                  <a:ext cx="2286000" cy="31089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공식기관 확인 채널</a:t>
                  </a:r>
                </a:p>
              </p:txBody>
            </p:sp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ABFD11CC-A553-4181-8FD5-7191E4D18FCD}"/>
                    </a:ext>
                  </a:extLst>
                </p:cNvPr>
                <p:cNvSpPr txBox="1"/>
                <p:nvPr/>
              </p:nvSpPr>
              <p:spPr>
                <a:xfrm>
                  <a:off x="906293" y="2736379"/>
                  <a:ext cx="298831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서류의 진위여부를 실시간으로 확인할 수 있는 공식채널 운영</a:t>
                  </a:r>
                  <a:b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</a:b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콜센터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 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카카오톡 오픈채팅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 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운영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(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검찰 찐센터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 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KISA 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보호나라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)</a:t>
                  </a:r>
                  <a:endParaRPr lang="ko-KR" altLang="en-US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</p:grp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61261165-349A-4EFC-B7EA-A255EA6AD00D}"/>
                </a:ext>
              </a:extLst>
            </p:cNvPr>
            <p:cNvGrpSpPr/>
            <p:nvPr/>
          </p:nvGrpSpPr>
          <p:grpSpPr>
            <a:xfrm>
              <a:off x="4559618" y="4589897"/>
              <a:ext cx="2749676" cy="524166"/>
              <a:chOff x="5435730" y="4579898"/>
              <a:chExt cx="1359538" cy="249846"/>
            </a:xfrm>
          </p:grpSpPr>
          <p:pic>
            <p:nvPicPr>
              <p:cNvPr id="123" name="그림 7">
                <a:extLst>
                  <a:ext uri="{FF2B5EF4-FFF2-40B4-BE49-F238E27FC236}">
                    <a16:creationId xmlns:a16="http://schemas.microsoft.com/office/drawing/2014/main" id="{551562FA-CF08-4976-9E26-E2576CD6036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7198" t="5136" r="17871" b="88464"/>
              <a:stretch/>
            </p:blipFill>
            <p:spPr>
              <a:xfrm>
                <a:off x="6389981" y="4627592"/>
                <a:ext cx="405287" cy="148890"/>
              </a:xfrm>
              <a:prstGeom prst="rect">
                <a:avLst/>
              </a:prstGeom>
            </p:spPr>
          </p:pic>
          <p:pic>
            <p:nvPicPr>
              <p:cNvPr id="124" name="그림 7">
                <a:extLst>
                  <a:ext uri="{FF2B5EF4-FFF2-40B4-BE49-F238E27FC236}">
                    <a16:creationId xmlns:a16="http://schemas.microsoft.com/office/drawing/2014/main" id="{CE3306C8-485E-4D4B-A9B4-1F7029797B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4004" t="3308" r="61422" b="85951"/>
              <a:stretch/>
            </p:blipFill>
            <p:spPr>
              <a:xfrm>
                <a:off x="5435730" y="4579898"/>
                <a:ext cx="938445" cy="249846"/>
              </a:xfrm>
              <a:prstGeom prst="rect">
                <a:avLst/>
              </a:prstGeom>
            </p:spPr>
          </p:pic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F0298854-A292-42A7-98D2-719628F27749}"/>
                </a:ext>
              </a:extLst>
            </p:cNvPr>
            <p:cNvGrpSpPr/>
            <p:nvPr/>
          </p:nvGrpSpPr>
          <p:grpSpPr>
            <a:xfrm>
              <a:off x="8014716" y="2585446"/>
              <a:ext cx="2896629" cy="891348"/>
              <a:chOff x="4384972" y="2585446"/>
              <a:chExt cx="2896629" cy="891348"/>
            </a:xfrm>
          </p:grpSpPr>
          <p:sp>
            <p:nvSpPr>
              <p:cNvPr id="127" name="Shape 24">
                <a:extLst>
                  <a:ext uri="{FF2B5EF4-FFF2-40B4-BE49-F238E27FC236}">
                    <a16:creationId xmlns:a16="http://schemas.microsoft.com/office/drawing/2014/main" id="{CE3B36F3-21BA-452F-A3AB-DAB4970248FF}"/>
                  </a:ext>
                </a:extLst>
              </p:cNvPr>
              <p:cNvSpPr/>
              <p:nvPr/>
            </p:nvSpPr>
            <p:spPr>
              <a:xfrm>
                <a:off x="4384972" y="2695174"/>
                <a:ext cx="109728" cy="109728"/>
              </a:xfrm>
              <a:prstGeom prst="ellipse">
                <a:avLst/>
              </a:prstGeom>
              <a:solidFill>
                <a:srgbClr val="49A8FF"/>
              </a:solidFill>
              <a:ln w="10160">
                <a:solidFill>
                  <a:srgbClr val="49A8FF"/>
                </a:solidFill>
                <a:prstDash val="solid"/>
              </a:ln>
            </p:spPr>
          </p:sp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9615BA18-3CA4-48BB-A642-C29D2E15D9DF}"/>
                  </a:ext>
                </a:extLst>
              </p:cNvPr>
              <p:cNvGrpSpPr/>
              <p:nvPr/>
            </p:nvGrpSpPr>
            <p:grpSpPr>
              <a:xfrm>
                <a:off x="4490452" y="2585446"/>
                <a:ext cx="2791149" cy="891348"/>
                <a:chOff x="906293" y="2491362"/>
                <a:chExt cx="2791149" cy="891348"/>
              </a:xfrm>
            </p:grpSpPr>
            <p:sp>
              <p:nvSpPr>
                <p:cNvPr id="129" name="Text 13">
                  <a:extLst>
                    <a:ext uri="{FF2B5EF4-FFF2-40B4-BE49-F238E27FC236}">
                      <a16:creationId xmlns:a16="http://schemas.microsoft.com/office/drawing/2014/main" id="{09FC5D82-21D2-46DB-93A7-8EC391C1667D}"/>
                    </a:ext>
                  </a:extLst>
                </p:cNvPr>
                <p:cNvSpPr txBox="1"/>
                <p:nvPr/>
              </p:nvSpPr>
              <p:spPr>
                <a:xfrm>
                  <a:off x="997733" y="2491362"/>
                  <a:ext cx="2684964" cy="31089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통신사 </a:t>
                  </a:r>
                  <a:r>
                    <a:rPr lang="en-US" altLang="ko-KR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AI </a:t>
                  </a:r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통화 비서 앱 </a:t>
                  </a:r>
                  <a:r>
                    <a:rPr lang="en-US" altLang="ko-KR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- </a:t>
                  </a:r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스팸번호 탐지</a:t>
                  </a:r>
                  <a:r>
                    <a:rPr lang="en-US" altLang="ko-KR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, </a:t>
                  </a:r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악성 앱 차단</a:t>
                  </a:r>
                </a:p>
              </p:txBody>
            </p:sp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9F9B7EA9-7248-46A7-97E4-CA2D5546080D}"/>
                    </a:ext>
                  </a:extLst>
                </p:cNvPr>
                <p:cNvSpPr txBox="1"/>
                <p:nvPr/>
              </p:nvSpPr>
              <p:spPr>
                <a:xfrm>
                  <a:off x="906293" y="2736379"/>
                  <a:ext cx="2791149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주요 통신사 별 </a:t>
                  </a:r>
                  <a:r>
                    <a:rPr lang="en-US" altLang="ko-KR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AI </a:t>
                  </a:r>
                  <a:r>
                    <a:rPr lang="ko-KR" altLang="en-US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탐지 서비스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(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예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: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 에이닷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익시오 등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)</a:t>
                  </a: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통화 중 실시간으로 보이스피싱을 </a:t>
                  </a:r>
                  <a:r>
                    <a:rPr lang="ko-KR" altLang="en-US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감지하고 차단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하는</a:t>
                  </a:r>
                  <a:b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</a:b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강력한 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AI 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보안 기능을 제공</a:t>
                  </a:r>
                  <a:endParaRPr lang="en-US" altLang="ko-KR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endParaRP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AI 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분석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 경찰청 연계 통해 </a:t>
                  </a:r>
                  <a:r>
                    <a:rPr lang="ko-KR" altLang="en-US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보이스피싱 및 악성 앱 탐지</a:t>
                  </a:r>
                  <a:endParaRPr lang="ko-KR" altLang="en-US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</p:grp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0B9F7FD3-263B-4E20-8ED9-18AECC8E0FC0}"/>
                </a:ext>
              </a:extLst>
            </p:cNvPr>
            <p:cNvGrpSpPr/>
            <p:nvPr/>
          </p:nvGrpSpPr>
          <p:grpSpPr>
            <a:xfrm>
              <a:off x="8014716" y="3518926"/>
              <a:ext cx="3008885" cy="614349"/>
              <a:chOff x="4384972" y="2585446"/>
              <a:chExt cx="3008885" cy="614349"/>
            </a:xfrm>
          </p:grpSpPr>
          <p:sp>
            <p:nvSpPr>
              <p:cNvPr id="142" name="Shape 24">
                <a:extLst>
                  <a:ext uri="{FF2B5EF4-FFF2-40B4-BE49-F238E27FC236}">
                    <a16:creationId xmlns:a16="http://schemas.microsoft.com/office/drawing/2014/main" id="{76902399-4275-49F1-BFFD-DC4226CB7C4D}"/>
                  </a:ext>
                </a:extLst>
              </p:cNvPr>
              <p:cNvSpPr/>
              <p:nvPr/>
            </p:nvSpPr>
            <p:spPr>
              <a:xfrm>
                <a:off x="4384972" y="2695174"/>
                <a:ext cx="109728" cy="109728"/>
              </a:xfrm>
              <a:prstGeom prst="ellipse">
                <a:avLst/>
              </a:prstGeom>
              <a:solidFill>
                <a:srgbClr val="49A8FF"/>
              </a:solidFill>
              <a:ln w="10160">
                <a:solidFill>
                  <a:srgbClr val="49A8FF"/>
                </a:solidFill>
                <a:prstDash val="solid"/>
              </a:ln>
            </p:spPr>
          </p:sp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7253D61C-BA3A-403C-9659-B8290B7FFBD7}"/>
                  </a:ext>
                </a:extLst>
              </p:cNvPr>
              <p:cNvGrpSpPr/>
              <p:nvPr/>
            </p:nvGrpSpPr>
            <p:grpSpPr>
              <a:xfrm>
                <a:off x="4490453" y="2585446"/>
                <a:ext cx="2903404" cy="614349"/>
                <a:chOff x="906294" y="2491362"/>
                <a:chExt cx="2903404" cy="614349"/>
              </a:xfrm>
            </p:grpSpPr>
            <p:sp>
              <p:nvSpPr>
                <p:cNvPr id="144" name="Text 13">
                  <a:extLst>
                    <a:ext uri="{FF2B5EF4-FFF2-40B4-BE49-F238E27FC236}">
                      <a16:creationId xmlns:a16="http://schemas.microsoft.com/office/drawing/2014/main" id="{3ADFD593-0590-4BEE-A48F-E672E9662770}"/>
                    </a:ext>
                  </a:extLst>
                </p:cNvPr>
                <p:cNvSpPr txBox="1"/>
                <p:nvPr/>
              </p:nvSpPr>
              <p:spPr>
                <a:xfrm>
                  <a:off x="997733" y="2491362"/>
                  <a:ext cx="2684964" cy="31089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발신번호 변작 차단</a:t>
                  </a:r>
                </a:p>
              </p:txBody>
            </p: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D55843D0-373E-4604-8EE2-F83BBC98EBF0}"/>
                    </a:ext>
                  </a:extLst>
                </p:cNvPr>
                <p:cNvSpPr txBox="1"/>
                <p:nvPr/>
              </p:nvSpPr>
              <p:spPr>
                <a:xfrm>
                  <a:off x="906294" y="2736379"/>
                  <a:ext cx="290340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보이스피싱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 스미싱 예방을 위해 타인의 번호나 없는 번호로 발신번호를 조작하는 발신번호 </a:t>
                  </a:r>
                  <a:r>
                    <a:rPr lang="ko-KR" altLang="en-US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변작</a:t>
                  </a:r>
                  <a:r>
                    <a:rPr lang="en-US" altLang="ko-KR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(</a:t>
                  </a:r>
                  <a:r>
                    <a:rPr lang="ko-KR" altLang="en-US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거짓표시</a:t>
                  </a:r>
                  <a:r>
                    <a:rPr lang="en-US" altLang="ko-KR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) </a:t>
                  </a:r>
                  <a:r>
                    <a:rPr lang="ko-KR" altLang="en-US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행위 차단</a:t>
                  </a:r>
                  <a:endParaRPr lang="ko-KR" altLang="en-US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</p:grp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7E4731EE-3BF1-4C54-B72C-ED9ED85A04E0}"/>
                </a:ext>
              </a:extLst>
            </p:cNvPr>
            <p:cNvGrpSpPr/>
            <p:nvPr/>
          </p:nvGrpSpPr>
          <p:grpSpPr>
            <a:xfrm>
              <a:off x="8014716" y="4193332"/>
              <a:ext cx="2902547" cy="891348"/>
              <a:chOff x="4384972" y="2558496"/>
              <a:chExt cx="2902547" cy="891348"/>
            </a:xfrm>
          </p:grpSpPr>
          <p:sp>
            <p:nvSpPr>
              <p:cNvPr id="149" name="Shape 24">
                <a:extLst>
                  <a:ext uri="{FF2B5EF4-FFF2-40B4-BE49-F238E27FC236}">
                    <a16:creationId xmlns:a16="http://schemas.microsoft.com/office/drawing/2014/main" id="{014F2127-2028-4391-87BE-9DC38BCA0562}"/>
                  </a:ext>
                </a:extLst>
              </p:cNvPr>
              <p:cNvSpPr/>
              <p:nvPr/>
            </p:nvSpPr>
            <p:spPr>
              <a:xfrm>
                <a:off x="4384972" y="2668224"/>
                <a:ext cx="109728" cy="109728"/>
              </a:xfrm>
              <a:prstGeom prst="ellipse">
                <a:avLst/>
              </a:prstGeom>
              <a:solidFill>
                <a:srgbClr val="49A8FF"/>
              </a:solidFill>
              <a:ln w="10160">
                <a:solidFill>
                  <a:srgbClr val="49A8FF"/>
                </a:solidFill>
                <a:prstDash val="solid"/>
              </a:ln>
            </p:spPr>
          </p:sp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7BEC9321-8467-4AD7-A11F-971C0CD3F188}"/>
                  </a:ext>
                </a:extLst>
              </p:cNvPr>
              <p:cNvGrpSpPr/>
              <p:nvPr/>
            </p:nvGrpSpPr>
            <p:grpSpPr>
              <a:xfrm>
                <a:off x="4490453" y="2558496"/>
                <a:ext cx="2797066" cy="891348"/>
                <a:chOff x="906294" y="2464412"/>
                <a:chExt cx="2797066" cy="891348"/>
              </a:xfrm>
            </p:grpSpPr>
            <p:sp>
              <p:nvSpPr>
                <p:cNvPr id="151" name="Text 13">
                  <a:extLst>
                    <a:ext uri="{FF2B5EF4-FFF2-40B4-BE49-F238E27FC236}">
                      <a16:creationId xmlns:a16="http://schemas.microsoft.com/office/drawing/2014/main" id="{933BE645-218C-4CC1-BFE7-31CE22F0AC28}"/>
                    </a:ext>
                  </a:extLst>
                </p:cNvPr>
                <p:cNvSpPr txBox="1"/>
                <p:nvPr/>
              </p:nvSpPr>
              <p:spPr>
                <a:xfrm>
                  <a:off x="997733" y="2464412"/>
                  <a:ext cx="2684964" cy="31089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발신번호 변작</a:t>
                  </a:r>
                  <a:r>
                    <a:rPr lang="en-US" altLang="ko-KR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(</a:t>
                  </a:r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거짓표시</a:t>
                  </a:r>
                  <a:r>
                    <a:rPr lang="en-US" altLang="ko-KR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) </a:t>
                  </a:r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차단</a:t>
                  </a:r>
                </a:p>
              </p:txBody>
            </p:sp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5C4D6FCC-F66D-400E-8F4D-ECD11D459E5C}"/>
                    </a:ext>
                  </a:extLst>
                </p:cNvPr>
                <p:cNvSpPr txBox="1"/>
                <p:nvPr/>
              </p:nvSpPr>
              <p:spPr>
                <a:xfrm>
                  <a:off x="906294" y="2709429"/>
                  <a:ext cx="2797066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인공지능과 빅데이터를 활용해 통화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/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문자 기반의 </a:t>
                  </a:r>
                  <a:r>
                    <a:rPr lang="ko-KR" altLang="en-US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위험 신호를 실시간으로 감지</a:t>
                  </a:r>
                  <a:r>
                    <a:rPr lang="en-US" altLang="ko-KR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 </a:t>
                  </a:r>
                  <a:r>
                    <a:rPr lang="ko-KR" altLang="en-US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차단</a:t>
                  </a:r>
                  <a:endParaRPr lang="en-US" altLang="ko-KR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endParaRP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음성패턴 분석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 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통화내용 실시간 분석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 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비정상 회선 이용패턴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 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유관기관 실시간 정보 공유</a:t>
                  </a:r>
                  <a:endParaRPr lang="ko-KR" altLang="en-US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7">
            <a:extLst>
              <a:ext uri="{FF2B5EF4-FFF2-40B4-BE49-F238E27FC236}">
                <a16:creationId xmlns:a16="http://schemas.microsoft.com/office/drawing/2014/main" id="{B86AB141-D61D-4F98-88E7-DC95CF56A724}"/>
              </a:ext>
            </a:extLst>
          </p:cNvPr>
          <p:cNvSpPr txBox="1"/>
          <p:nvPr/>
        </p:nvSpPr>
        <p:spPr>
          <a:xfrm>
            <a:off x="599443" y="566284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대표적으로 성과를 내고 있는 </a:t>
            </a:r>
            <a:r>
              <a:rPr lang="en-US" altLang="ko-KR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AI ASAP(</a:t>
            </a:r>
            <a:r>
              <a:rPr lang="ko-KR" altLang="en-US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에이셉</a:t>
            </a:r>
            <a:r>
              <a:rPr lang="en-US" altLang="ko-KR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)</a:t>
            </a:r>
            <a:endParaRPr lang="en-US" altLang="ko-KR" sz="123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18BD87C1-342C-4A32-80E8-3279A30915AE}"/>
              </a:ext>
            </a:extLst>
          </p:cNvPr>
          <p:cNvSpPr txBox="1"/>
          <p:nvPr/>
        </p:nvSpPr>
        <p:spPr>
          <a:xfrm>
            <a:off x="-64242" y="162899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현황분석</a:t>
            </a:r>
            <a:endParaRPr lang="en-US" sz="1050" dirty="0">
              <a:solidFill>
                <a:srgbClr val="0E2746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0" name="Text 6">
            <a:extLst>
              <a:ext uri="{FF2B5EF4-FFF2-40B4-BE49-F238E27FC236}">
                <a16:creationId xmlns:a16="http://schemas.microsoft.com/office/drawing/2014/main" id="{26523E4F-4D96-421D-9C85-0DBFC0114F74}"/>
              </a:ext>
            </a:extLst>
          </p:cNvPr>
          <p:cNvSpPr txBox="1"/>
          <p:nvPr/>
        </p:nvSpPr>
        <p:spPr>
          <a:xfrm>
            <a:off x="580644" y="730471"/>
            <a:ext cx="106984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금융위원회와 금융보안원을 중심으로 체계화된</a:t>
            </a:r>
            <a:r>
              <a:rPr lang="ko-KR" altLang="en-US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 보이스피싱 정보공유</a:t>
            </a:r>
            <a:r>
              <a:rPr lang="en-US" altLang="ko-KR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·</a:t>
            </a:r>
            <a:r>
              <a:rPr lang="ko-KR" altLang="en-US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분석 </a:t>
            </a:r>
            <a:r>
              <a:rPr lang="en-US" altLang="ko-KR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AI </a:t>
            </a:r>
            <a:r>
              <a:rPr lang="ko-KR" altLang="en-US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플랫폼</a:t>
            </a:r>
            <a:r>
              <a:rPr lang="en-US" altLang="ko-KR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 ASAP</a:t>
            </a:r>
          </a:p>
          <a:p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출범 이후 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9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개월 간 </a:t>
            </a:r>
            <a:r>
              <a:rPr lang="en-US" altLang="ko-KR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663</a:t>
            </a:r>
            <a:r>
              <a:rPr lang="ko-KR" altLang="en-US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억</a:t>
            </a:r>
            <a:r>
              <a:rPr lang="en-US" altLang="ko-KR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6000</a:t>
            </a:r>
            <a:r>
              <a:rPr lang="ko-KR" altLang="en-US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만원 규모의 피해를 사전 차단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하는 실제 성과로 이어졌다</a:t>
            </a:r>
            <a:endParaRPr lang="en-US" altLang="ko-KR" sz="2200" b="1" dirty="0">
              <a:solidFill>
                <a:srgbClr val="10213D"/>
              </a:solidFill>
              <a:latin typeface="페이퍼로지 7 Bold" pitchFamily="2" charset="-127"/>
              <a:ea typeface="페이퍼로지 7 Bold" pitchFamily="2" charset="-127"/>
              <a:cs typeface="NanumSquare Bold" pitchFamily="34" charset="-12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10744D3-2F9D-4B31-9CF2-F9C3060180B7}"/>
              </a:ext>
            </a:extLst>
          </p:cNvPr>
          <p:cNvGrpSpPr/>
          <p:nvPr/>
        </p:nvGrpSpPr>
        <p:grpSpPr>
          <a:xfrm>
            <a:off x="534543" y="1737360"/>
            <a:ext cx="5975498" cy="3886691"/>
            <a:chOff x="534543" y="1818173"/>
            <a:chExt cx="5975498" cy="3886691"/>
          </a:xfrm>
        </p:grpSpPr>
        <p:sp>
          <p:nvSpPr>
            <p:cNvPr id="81" name="Shape 8">
              <a:extLst>
                <a:ext uri="{FF2B5EF4-FFF2-40B4-BE49-F238E27FC236}">
                  <a16:creationId xmlns:a16="http://schemas.microsoft.com/office/drawing/2014/main" id="{372E1C90-42E9-4CBF-81B0-76E43E875362}"/>
                </a:ext>
              </a:extLst>
            </p:cNvPr>
            <p:cNvSpPr/>
            <p:nvPr/>
          </p:nvSpPr>
          <p:spPr>
            <a:xfrm>
              <a:off x="534543" y="1818173"/>
              <a:ext cx="5975498" cy="3886691"/>
            </a:xfrm>
            <a:prstGeom prst="roundRect">
              <a:avLst>
                <a:gd name="adj" fmla="val 5818"/>
              </a:avLst>
            </a:prstGeom>
            <a:solidFill>
              <a:srgbClr val="FFFFFF"/>
            </a:solidFill>
            <a:ln w="10160">
              <a:solidFill>
                <a:srgbClr val="DCE8FA"/>
              </a:solidFill>
              <a:prstDash val="solid"/>
            </a:ln>
          </p:spPr>
        </p:sp>
        <p:pic>
          <p:nvPicPr>
            <p:cNvPr id="80" name="그림 7">
              <a:extLst>
                <a:ext uri="{FF2B5EF4-FFF2-40B4-BE49-F238E27FC236}">
                  <a16:creationId xmlns:a16="http://schemas.microsoft.com/office/drawing/2014/main" id="{E668F3AE-32D0-B134-C7D2-A51000B586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006" t="18162" r="3581" b="6222"/>
            <a:stretch/>
          </p:blipFill>
          <p:spPr>
            <a:xfrm>
              <a:off x="804107" y="3439092"/>
              <a:ext cx="5420724" cy="2153462"/>
            </a:xfrm>
            <a:prstGeom prst="rect">
              <a:avLst/>
            </a:prstGeom>
          </p:spPr>
        </p:pic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866EF50-0FEC-4AF4-A807-8A42ED37A943}"/>
                </a:ext>
              </a:extLst>
            </p:cNvPr>
            <p:cNvSpPr txBox="1"/>
            <p:nvPr/>
          </p:nvSpPr>
          <p:spPr>
            <a:xfrm>
              <a:off x="687238" y="1961214"/>
              <a:ext cx="482074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4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보이스피싱 정보공유</a:t>
              </a:r>
              <a:r>
                <a:rPr lang="en-US" altLang="ko-KR" sz="14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·</a:t>
              </a:r>
              <a:r>
                <a:rPr lang="ko-KR" altLang="en-US" sz="14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분석 </a:t>
              </a:r>
              <a:r>
                <a:rPr lang="en-US" altLang="ko-KR" sz="14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AI </a:t>
              </a:r>
              <a:r>
                <a:rPr lang="ko-KR" altLang="en-US" sz="14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플랫폼</a:t>
              </a:r>
              <a:r>
                <a:rPr lang="en-US" altLang="ko-KR" sz="14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(ASAP)</a:t>
              </a:r>
              <a:endParaRPr lang="ko-KR" altLang="en-US" sz="1400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38A72F21-C9A8-43CF-9D50-07139CD417B7}"/>
                </a:ext>
              </a:extLst>
            </p:cNvPr>
            <p:cNvSpPr txBox="1"/>
            <p:nvPr/>
          </p:nvSpPr>
          <p:spPr>
            <a:xfrm>
              <a:off x="687237" y="2300177"/>
              <a:ext cx="5711069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dirty="0">
                  <a:latin typeface="페이퍼로지 7 Bold" pitchFamily="2" charset="-127"/>
                  <a:ea typeface="페이퍼로지 7 Bold" pitchFamily="2" charset="-127"/>
                </a:rPr>
                <a:t>가동 및 법적 기반 </a:t>
              </a:r>
              <a:r>
                <a:rPr lang="en-US" altLang="ko-KR" sz="1000" dirty="0">
                  <a:latin typeface="페이퍼로지 7 Bold" pitchFamily="2" charset="-127"/>
                  <a:ea typeface="페이퍼로지 7 Bold" pitchFamily="2" charset="-127"/>
                </a:rPr>
                <a:t>: 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2025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년 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10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월 출범 이후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, 2026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년 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8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월부터 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'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통신사기피해환급법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'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개정에 따라</a:t>
              </a:r>
              <a:endParaRPr lang="en-US" altLang="ko-KR" sz="1000" dirty="0"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en-US" altLang="ko-KR" sz="1000" dirty="0">
                  <a:solidFill>
                    <a:srgbClr val="FF4B16"/>
                  </a:solidFill>
                  <a:latin typeface="페이퍼로지 4 Regular" pitchFamily="2" charset="-127"/>
                  <a:ea typeface="페이퍼로지 4 Regular" pitchFamily="2" charset="-127"/>
                </a:rPr>
                <a:t>                                 </a:t>
              </a:r>
              <a:r>
                <a:rPr lang="ko-KR" altLang="en-US" sz="1000" dirty="0">
                  <a:solidFill>
                    <a:srgbClr val="FF4B16"/>
                  </a:solidFill>
                  <a:latin typeface="페이퍼로지 4 Regular" pitchFamily="2" charset="-127"/>
                  <a:ea typeface="페이퍼로지 4 Regular" pitchFamily="2" charset="-127"/>
                </a:rPr>
                <a:t>정보 주체의 동의 없이도 관계기관 간 의심 정보 공동 활용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이 본격 시행</a:t>
              </a:r>
              <a:endParaRPr lang="en-US" altLang="ko-KR" sz="1000" dirty="0"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ko-KR" altLang="en-US" sz="1000" dirty="0">
                  <a:latin typeface="페이퍼로지 7 Bold" pitchFamily="2" charset="-127"/>
                  <a:ea typeface="페이퍼로지 7 Bold" pitchFamily="2" charset="-127"/>
                </a:rPr>
                <a:t>참여 기관 </a:t>
              </a:r>
              <a:r>
                <a:rPr lang="en-US" altLang="ko-KR" sz="1000" dirty="0">
                  <a:latin typeface="페이퍼로지 7 Bold" pitchFamily="2" charset="-127"/>
                  <a:ea typeface="페이퍼로지 7 Bold" pitchFamily="2" charset="-127"/>
                </a:rPr>
                <a:t>: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금융위원회와 금융보안원을 중심으로 은행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증권사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제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2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금융권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통신사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수사기관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가상자산거래소 등</a:t>
              </a:r>
              <a:endParaRPr lang="en-US" altLang="ko-KR" sz="1000" dirty="0"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ko-KR" altLang="en-US" sz="1000" dirty="0">
                  <a:latin typeface="페이퍼로지 7 Bold" pitchFamily="2" charset="-127"/>
                  <a:ea typeface="페이퍼로지 7 Bold" pitchFamily="2" charset="-127"/>
                </a:rPr>
                <a:t>공유 정보 </a:t>
              </a:r>
              <a:r>
                <a:rPr lang="en-US" altLang="ko-KR" sz="1000" dirty="0">
                  <a:latin typeface="페이퍼로지 7 Bold" pitchFamily="2" charset="-127"/>
                  <a:ea typeface="페이퍼로지 7 Bold" pitchFamily="2" charset="-127"/>
                </a:rPr>
                <a:t>: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사기 이용 계좌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악성앱 탐지 정보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피싱사이트 접속 이력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의심 및 범죄이용 전화번호 등</a:t>
              </a:r>
              <a:endParaRPr lang="en-US" altLang="ko-KR" sz="1000" dirty="0"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ko-KR" altLang="en-US" sz="1000" dirty="0">
                  <a:latin typeface="페이퍼로지 7 Bold" pitchFamily="2" charset="-127"/>
                  <a:ea typeface="페이퍼로지 7 Bold" pitchFamily="2" charset="-127"/>
                </a:rPr>
                <a:t>기대 효과 </a:t>
              </a:r>
              <a:r>
                <a:rPr lang="en-US" altLang="ko-KR" sz="1000" dirty="0">
                  <a:latin typeface="페이퍼로지 7 Bold" pitchFamily="2" charset="-127"/>
                  <a:ea typeface="페이퍼로지 7 Bold" pitchFamily="2" charset="-127"/>
                </a:rPr>
                <a:t>: </a:t>
              </a:r>
              <a:r>
                <a:rPr lang="ko-KR" altLang="en-US" sz="1000" dirty="0">
                  <a:solidFill>
                    <a:srgbClr val="FF4B16"/>
                  </a:solidFill>
                  <a:latin typeface="페이퍼로지 4 Regular" pitchFamily="2" charset="-127"/>
                  <a:ea typeface="페이퍼로지 4 Regular" pitchFamily="2" charset="-127"/>
                </a:rPr>
                <a:t>각 기관이 분산된 정보를 즉시 공유하여 신속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한 계좌 지급정지 및 비정상 거래 차단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범죄 수사에 활용</a:t>
              </a:r>
              <a:endParaRPr lang="en-US" altLang="ko-KR" sz="1000" dirty="0"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en-US" altLang="ko-KR" sz="1000" dirty="0">
                  <a:latin typeface="페이퍼로지 7 Bold" pitchFamily="2" charset="-127"/>
                  <a:ea typeface="페이퍼로지 7 Bold" pitchFamily="2" charset="-127"/>
                </a:rPr>
                <a:t>FDS </a:t>
              </a:r>
              <a:r>
                <a:rPr lang="ko-KR" altLang="en-US" sz="1000" dirty="0">
                  <a:latin typeface="페이퍼로지 7 Bold" pitchFamily="2" charset="-127"/>
                  <a:ea typeface="페이퍼로지 7 Bold" pitchFamily="2" charset="-127"/>
                </a:rPr>
                <a:t>활용 </a:t>
              </a:r>
              <a:r>
                <a:rPr lang="en-US" altLang="ko-KR" sz="1000" dirty="0">
                  <a:latin typeface="페이퍼로지 7 Bold" pitchFamily="2" charset="-127"/>
                  <a:ea typeface="페이퍼로지 7 Bold" pitchFamily="2" charset="-127"/>
                </a:rPr>
                <a:t>: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금융회사가 운영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평소와 다른 </a:t>
              </a:r>
              <a:r>
                <a:rPr lang="ko-KR" altLang="en-US" sz="1000" dirty="0">
                  <a:solidFill>
                    <a:srgbClr val="FF4B16"/>
                  </a:solidFill>
                  <a:latin typeface="페이퍼로지 4 Regular" pitchFamily="2" charset="-127"/>
                  <a:ea typeface="페이퍼로지 4 Regular" pitchFamily="2" charset="-127"/>
                </a:rPr>
                <a:t>이상한 자금이체나 거래를 자동으로 찾아내는 보안 시스템 </a:t>
              </a:r>
              <a:r>
                <a:rPr lang="en-US" altLang="ko-KR" sz="1000" dirty="0">
                  <a:solidFill>
                    <a:srgbClr val="FF4B16"/>
                  </a:solidFill>
                  <a:latin typeface="페이퍼로지 4 Regular" pitchFamily="2" charset="-127"/>
                  <a:ea typeface="페이퍼로지 4 Regular" pitchFamily="2" charset="-127"/>
                </a:rPr>
                <a:t>FDS </a:t>
              </a:r>
              <a:r>
                <a:rPr lang="ko-KR" altLang="en-US" sz="1000" dirty="0">
                  <a:solidFill>
                    <a:srgbClr val="FF4B16"/>
                  </a:solidFill>
                  <a:latin typeface="페이퍼로지 4 Regular" pitchFamily="2" charset="-127"/>
                  <a:ea typeface="페이퍼로지 4 Regular" pitchFamily="2" charset="-127"/>
                </a:rPr>
                <a:t>활용</a:t>
              </a:r>
            </a:p>
          </p:txBody>
        </p:sp>
      </p:grpSp>
      <p:sp>
        <p:nvSpPr>
          <p:cNvPr id="88" name="Shape 8">
            <a:extLst>
              <a:ext uri="{FF2B5EF4-FFF2-40B4-BE49-F238E27FC236}">
                <a16:creationId xmlns:a16="http://schemas.microsoft.com/office/drawing/2014/main" id="{A6E48D8D-F246-47B4-9FDB-5F1AECC542EB}"/>
              </a:ext>
            </a:extLst>
          </p:cNvPr>
          <p:cNvSpPr/>
          <p:nvPr/>
        </p:nvSpPr>
        <p:spPr>
          <a:xfrm>
            <a:off x="6641273" y="1737360"/>
            <a:ext cx="4931485" cy="3886691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4D85F3B-306F-4E6C-9DCA-8D7C4B0D8278}"/>
              </a:ext>
            </a:extLst>
          </p:cNvPr>
          <p:cNvSpPr txBox="1"/>
          <p:nvPr/>
        </p:nvSpPr>
        <p:spPr>
          <a:xfrm>
            <a:off x="6869594" y="1852046"/>
            <a:ext cx="39797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ASAP </a:t>
            </a:r>
            <a:r>
              <a:rPr lang="ko-KR" altLang="en-US" sz="14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플랫폼의 출범 이후 핵심 성과 </a:t>
            </a:r>
            <a:endParaRPr lang="en-US" altLang="ko-KR" sz="1400" b="1" dirty="0">
              <a:solidFill>
                <a:srgbClr val="10213D"/>
              </a:solidFill>
              <a:latin typeface="페이퍼로지 7 Bold" pitchFamily="2" charset="-127"/>
              <a:ea typeface="페이퍼로지 7 Bold" pitchFamily="2" charset="-127"/>
              <a:cs typeface="NanumSquare Bold" pitchFamily="34" charset="-120"/>
            </a:endParaRP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FB2E5A33-3FFF-4B4C-BD77-28ADFC79B401}"/>
              </a:ext>
            </a:extLst>
          </p:cNvPr>
          <p:cNvGrpSpPr/>
          <p:nvPr/>
        </p:nvGrpSpPr>
        <p:grpSpPr>
          <a:xfrm>
            <a:off x="438150" y="5828116"/>
            <a:ext cx="11274173" cy="538281"/>
            <a:chOff x="989537" y="5557693"/>
            <a:chExt cx="10212928" cy="773508"/>
          </a:xfrm>
        </p:grpSpPr>
        <p:sp>
          <p:nvSpPr>
            <p:cNvPr id="96" name="Shape 44">
              <a:extLst>
                <a:ext uri="{FF2B5EF4-FFF2-40B4-BE49-F238E27FC236}">
                  <a16:creationId xmlns:a16="http://schemas.microsoft.com/office/drawing/2014/main" id="{731F3A17-9EC7-457A-9066-89707FAB988C}"/>
                </a:ext>
              </a:extLst>
            </p:cNvPr>
            <p:cNvSpPr/>
            <p:nvPr/>
          </p:nvSpPr>
          <p:spPr>
            <a:xfrm>
              <a:off x="1057656" y="5587831"/>
              <a:ext cx="10076688" cy="713232"/>
            </a:xfrm>
            <a:prstGeom prst="roundRect">
              <a:avLst>
                <a:gd name="adj" fmla="val 20513"/>
              </a:avLst>
            </a:prstGeom>
            <a:solidFill>
              <a:srgbClr val="0B1F3A"/>
            </a:solidFill>
            <a:ln w="10160">
              <a:solidFill>
                <a:srgbClr val="0B1F3A"/>
              </a:solidFill>
              <a:prstDash val="solid"/>
            </a:ln>
          </p:spPr>
        </p:sp>
        <p:sp>
          <p:nvSpPr>
            <p:cNvPr id="106" name="Text 45">
              <a:extLst>
                <a:ext uri="{FF2B5EF4-FFF2-40B4-BE49-F238E27FC236}">
                  <a16:creationId xmlns:a16="http://schemas.microsoft.com/office/drawing/2014/main" id="{816798D6-68D0-4DF8-A408-120BDDD003E6}"/>
                </a:ext>
              </a:extLst>
            </p:cNvPr>
            <p:cNvSpPr txBox="1"/>
            <p:nvPr/>
          </p:nvSpPr>
          <p:spPr>
            <a:xfrm>
              <a:off x="989537" y="5557693"/>
              <a:ext cx="10212928" cy="7735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AI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와 빅데이터</a:t>
              </a: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진보적인 법률 개정과 협업 체계를 통한 공격적</a:t>
              </a: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선재적 방어  </a:t>
              </a: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sym typeface="Wingdings" panose="05000000000000000000" pitchFamily="2" charset="2"/>
                </a:rPr>
                <a:t> 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 전년 동기 대비 </a:t>
              </a:r>
              <a:r>
                <a:rPr lang="ko-KR" altLang="en-US" sz="1520" b="1" dirty="0">
                  <a:solidFill>
                    <a:srgbClr val="49A8FF"/>
                  </a:solidFill>
                  <a:latin typeface="페이퍼로지 7 Bold" pitchFamily="2" charset="-127"/>
                  <a:ea typeface="페이퍼로지 7 Bold" pitchFamily="2" charset="-127"/>
                </a:rPr>
                <a:t>약 </a:t>
              </a:r>
              <a:r>
                <a:rPr lang="en-US" altLang="ko-KR" sz="1520" b="1" dirty="0">
                  <a:solidFill>
                    <a:srgbClr val="49A8FF"/>
                  </a:solidFill>
                  <a:latin typeface="페이퍼로지 7 Bold" pitchFamily="2" charset="-127"/>
                  <a:ea typeface="페이퍼로지 7 Bold" pitchFamily="2" charset="-127"/>
                </a:rPr>
                <a:t>53% </a:t>
              </a:r>
              <a:r>
                <a:rPr lang="ko-KR" altLang="en-US" sz="1520" b="1" dirty="0">
                  <a:solidFill>
                    <a:srgbClr val="49A8FF"/>
                  </a:solidFill>
                  <a:latin typeface="페이퍼로지 7 Bold" pitchFamily="2" charset="-127"/>
                  <a:ea typeface="페이퍼로지 7 Bold" pitchFamily="2" charset="-127"/>
                </a:rPr>
                <a:t>피해액 방어라는 높은 성과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로 이어졌다</a:t>
              </a:r>
              <a:endParaRPr lang="en-US" sz="1520" dirty="0"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67267692-95D0-4E39-B1AD-313903CC80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67492"/>
              </p:ext>
            </p:extLst>
          </p:nvPr>
        </p:nvGraphicFramePr>
        <p:xfrm>
          <a:off x="6940645" y="2194181"/>
          <a:ext cx="4332741" cy="1112520"/>
        </p:xfrm>
        <a:graphic>
          <a:graphicData uri="http://schemas.openxmlformats.org/drawingml/2006/table">
            <a:tbl>
              <a:tblPr/>
              <a:tblGrid>
                <a:gridCol w="1047786">
                  <a:extLst>
                    <a:ext uri="{9D8B030D-6E8A-4147-A177-3AD203B41FA5}">
                      <a16:colId xmlns:a16="http://schemas.microsoft.com/office/drawing/2014/main" val="1611604226"/>
                    </a:ext>
                  </a:extLst>
                </a:gridCol>
                <a:gridCol w="1548005">
                  <a:extLst>
                    <a:ext uri="{9D8B030D-6E8A-4147-A177-3AD203B41FA5}">
                      <a16:colId xmlns:a16="http://schemas.microsoft.com/office/drawing/2014/main" val="4243154311"/>
                    </a:ext>
                  </a:extLst>
                </a:gridCol>
                <a:gridCol w="1736950">
                  <a:extLst>
                    <a:ext uri="{9D8B030D-6E8A-4147-A177-3AD203B41FA5}">
                      <a16:colId xmlns:a16="http://schemas.microsoft.com/office/drawing/2014/main" val="2761314812"/>
                    </a:ext>
                  </a:extLst>
                </a:gridCol>
              </a:tblGrid>
              <a:tr h="188353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출범 후 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12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주 동안</a:t>
                      </a:r>
                      <a:endParaRPr lang="en-US" altLang="ko-KR" sz="900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  <a:p>
                      <a:pPr algn="ctr" rtl="0"/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(</a:t>
                      </a:r>
                      <a:r>
                        <a:rPr lang="en-US" altLang="ko-KR" sz="800" b="0" dirty="0">
                          <a:solidFill>
                            <a:schemeClr val="bg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2025.10.29 ~ 2026.01.21)</a:t>
                      </a:r>
                      <a:endParaRPr lang="ko-KR" altLang="en-US" sz="800" b="0" dirty="0">
                        <a:solidFill>
                          <a:schemeClr val="bg1"/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출범 후 약 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9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개월 동안</a:t>
                      </a:r>
                      <a:endParaRPr lang="en-US" altLang="ko-KR" sz="900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(</a:t>
                      </a:r>
                      <a:r>
                        <a:rPr lang="en-US" altLang="ko-KR" sz="800" b="0" dirty="0">
                          <a:solidFill>
                            <a:schemeClr val="bg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2025.10 ~ 2026.07</a:t>
                      </a:r>
                      <a:r>
                        <a:rPr lang="ko-KR" altLang="en-US" sz="800" b="0" dirty="0">
                          <a:solidFill>
                            <a:schemeClr val="bg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월 말</a:t>
                      </a:r>
                      <a:r>
                        <a:rPr lang="en-US" altLang="ko-KR" sz="800" b="0" dirty="0">
                          <a:solidFill>
                            <a:schemeClr val="bg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  <a:endParaRPr lang="ko-KR" altLang="en-US" sz="800" b="0" dirty="0">
                        <a:solidFill>
                          <a:schemeClr val="bg1"/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776352"/>
                  </a:ext>
                </a:extLst>
              </a:tr>
              <a:tr h="180163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800" dirty="0">
                          <a:latin typeface="페이퍼로지 7 Bold" pitchFamily="2" charset="-127"/>
                          <a:ea typeface="페이퍼로지 7 Bold" pitchFamily="2" charset="-127"/>
                        </a:rPr>
                        <a:t>은행권 수사기관</a:t>
                      </a:r>
                      <a:endParaRPr lang="en-US" altLang="ko-KR" sz="800" dirty="0"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  <a:p>
                      <a:pPr algn="ctr" rtl="0"/>
                      <a:r>
                        <a:rPr lang="ko-KR" altLang="en-US" sz="800" dirty="0">
                          <a:latin typeface="페이퍼로지 7 Bold" pitchFamily="2" charset="-127"/>
                          <a:ea typeface="페이퍼로지 7 Bold" pitchFamily="2" charset="-127"/>
                        </a:rPr>
                        <a:t>정보 공유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800" b="0" dirty="0">
                          <a:latin typeface="페이퍼로지 7 Bold" pitchFamily="2" charset="-127"/>
                          <a:ea typeface="페이퍼로지 7 Bold" pitchFamily="2" charset="-127"/>
                        </a:rPr>
                        <a:t>14.8</a:t>
                      </a:r>
                      <a:r>
                        <a:rPr lang="ko-KR" altLang="en-US" sz="800" b="0" dirty="0">
                          <a:latin typeface="페이퍼로지 7 Bold" pitchFamily="2" charset="-127"/>
                          <a:ea typeface="페이퍼로지 7 Bold" pitchFamily="2" charset="-127"/>
                        </a:rPr>
                        <a:t>만 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800" b="0" dirty="0">
                          <a:solidFill>
                            <a:srgbClr val="FF4B16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46.3</a:t>
                      </a:r>
                      <a:r>
                        <a:rPr lang="ko-KR" altLang="en-US" sz="800" b="0" dirty="0">
                          <a:solidFill>
                            <a:srgbClr val="FF4B16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만 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872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800">
                          <a:latin typeface="페이퍼로지 7 Bold" pitchFamily="2" charset="-127"/>
                          <a:ea typeface="페이퍼로지 7 Bold" pitchFamily="2" charset="-127"/>
                        </a:rPr>
                        <a:t>계좌 지급정지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800" b="0" dirty="0">
                          <a:latin typeface="페이퍼로지 7 Bold" pitchFamily="2" charset="-127"/>
                          <a:ea typeface="페이퍼로지 7 Bold" pitchFamily="2" charset="-127"/>
                        </a:rPr>
                        <a:t>2,705</a:t>
                      </a:r>
                      <a:r>
                        <a:rPr lang="ko-KR" altLang="en-US" sz="800" b="0" dirty="0">
                          <a:latin typeface="페이퍼로지 7 Bold" pitchFamily="2" charset="-127"/>
                          <a:ea typeface="페이퍼로지 7 Bold" pitchFamily="2" charset="-127"/>
                        </a:rPr>
                        <a:t>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800" b="0" dirty="0">
                          <a:solidFill>
                            <a:srgbClr val="FF4B16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7,009</a:t>
                      </a:r>
                      <a:r>
                        <a:rPr lang="ko-KR" altLang="en-US" sz="800" b="0" dirty="0">
                          <a:solidFill>
                            <a:srgbClr val="FF4B16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9267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800" dirty="0">
                          <a:latin typeface="페이퍼로지 7 Bold" pitchFamily="2" charset="-127"/>
                          <a:ea typeface="페이퍼로지 7 Bold" pitchFamily="2" charset="-127"/>
                        </a:rPr>
                        <a:t>피해 사전 차단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800" b="0" dirty="0">
                          <a:latin typeface="페이퍼로지 7 Bold" pitchFamily="2" charset="-127"/>
                          <a:ea typeface="페이퍼로지 7 Bold" pitchFamily="2" charset="-127"/>
                        </a:rPr>
                        <a:t>186.5</a:t>
                      </a:r>
                      <a:r>
                        <a:rPr lang="ko-KR" altLang="en-US" sz="800" b="0" dirty="0">
                          <a:latin typeface="페이퍼로지 7 Bold" pitchFamily="2" charset="-127"/>
                          <a:ea typeface="페이퍼로지 7 Bold" pitchFamily="2" charset="-127"/>
                        </a:rPr>
                        <a:t>억 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800" b="0" dirty="0">
                          <a:solidFill>
                            <a:srgbClr val="FF4B16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663.6</a:t>
                      </a:r>
                      <a:r>
                        <a:rPr lang="ko-KR" altLang="en-US" sz="800" b="0" dirty="0">
                          <a:solidFill>
                            <a:srgbClr val="FF4B16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억 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1632259"/>
                  </a:ext>
                </a:extLst>
              </a:tr>
            </a:tbl>
          </a:graphicData>
        </a:graphic>
      </p:graphicFrame>
      <p:grpSp>
        <p:nvGrpSpPr>
          <p:cNvPr id="87" name="Group 86">
            <a:extLst>
              <a:ext uri="{FF2B5EF4-FFF2-40B4-BE49-F238E27FC236}">
                <a16:creationId xmlns:a16="http://schemas.microsoft.com/office/drawing/2014/main" id="{C2E3F610-B35F-45DB-BBD3-8EB9FD153FF8}"/>
              </a:ext>
            </a:extLst>
          </p:cNvPr>
          <p:cNvGrpSpPr/>
          <p:nvPr/>
        </p:nvGrpSpPr>
        <p:grpSpPr>
          <a:xfrm>
            <a:off x="6880605" y="3412145"/>
            <a:ext cx="4452820" cy="1508855"/>
            <a:chOff x="6900722" y="3613172"/>
            <a:chExt cx="4452820" cy="1963458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219B5089-3FB1-43A2-9B72-CCD30BF61D8C}"/>
                </a:ext>
              </a:extLst>
            </p:cNvPr>
            <p:cNvGrpSpPr/>
            <p:nvPr/>
          </p:nvGrpSpPr>
          <p:grpSpPr>
            <a:xfrm>
              <a:off x="6907208" y="4589098"/>
              <a:ext cx="4444875" cy="987532"/>
              <a:chOff x="6907208" y="4589098"/>
              <a:chExt cx="4444875" cy="987532"/>
            </a:xfrm>
          </p:grpSpPr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DF1209D8-D9DA-47FD-BEAF-5CDC80460CAD}"/>
                  </a:ext>
                </a:extLst>
              </p:cNvPr>
              <p:cNvGrpSpPr/>
              <p:nvPr/>
            </p:nvGrpSpPr>
            <p:grpSpPr>
              <a:xfrm>
                <a:off x="6909933" y="4589098"/>
                <a:ext cx="4416750" cy="797140"/>
                <a:chOff x="6909933" y="4638806"/>
                <a:chExt cx="4416750" cy="797140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AF035335-5549-4D57-B7A4-921CCE59D407}"/>
                    </a:ext>
                  </a:extLst>
                </p:cNvPr>
                <p:cNvGrpSpPr/>
                <p:nvPr/>
              </p:nvGrpSpPr>
              <p:grpSpPr>
                <a:xfrm>
                  <a:off x="6968542" y="4882176"/>
                  <a:ext cx="4358141" cy="553770"/>
                  <a:chOff x="6968542" y="4744258"/>
                  <a:chExt cx="4358141" cy="413305"/>
                </a:xfrm>
              </p:grpSpPr>
              <p:sp>
                <p:nvSpPr>
                  <p:cNvPr id="139" name="Rectangle 138">
                    <a:extLst>
                      <a:ext uri="{FF2B5EF4-FFF2-40B4-BE49-F238E27FC236}">
                        <a16:creationId xmlns:a16="http://schemas.microsoft.com/office/drawing/2014/main" id="{41AE67AD-B9B8-40DF-9448-F51E5E6EB1AE}"/>
                      </a:ext>
                    </a:extLst>
                  </p:cNvPr>
                  <p:cNvSpPr/>
                  <p:nvPr/>
                </p:nvSpPr>
                <p:spPr>
                  <a:xfrm>
                    <a:off x="6968542" y="4744258"/>
                    <a:ext cx="2141992" cy="413305"/>
                  </a:xfrm>
                  <a:prstGeom prst="rect">
                    <a:avLst/>
                  </a:prstGeom>
                  <a:solidFill>
                    <a:srgbClr val="002060"/>
                  </a:solidFill>
                  <a:ln w="12700">
                    <a:solidFill>
                      <a:schemeClr val="bg1"/>
                    </a:solidFill>
                    <a:prstDash val="solid"/>
                  </a:ln>
                </p:spPr>
                <p:txBody>
                  <a:bodyPr/>
                  <a:lstStyle>
                    <a:lvl1pPr marL="0" indent="0">
                      <a:defRPr sz="1100"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ko-KR" altLang="en-US" sz="800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피해 계좌정보</a:t>
                    </a:r>
                  </a:p>
                  <a:p>
                    <a:pPr algn="ctr"/>
                    <a:r>
                      <a:rPr lang="en-US" altLang="ko-KR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1,328</a:t>
                    </a:r>
                    <a:r>
                      <a:rPr lang="ko-KR" altLang="en-US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건</a:t>
                    </a:r>
                    <a:endParaRPr lang="en-US" altLang="ko-KR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endParaRPr>
                  </a:p>
                  <a:p>
                    <a:pPr algn="ctr"/>
                    <a:r>
                      <a:rPr lang="en-US" altLang="ko-KR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(</a:t>
                    </a:r>
                    <a:r>
                      <a:rPr lang="en-US" altLang="ko-KR" sz="800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49.1%)</a:t>
                    </a:r>
                    <a:endParaRPr lang="ko-KR" altLang="en-US" sz="8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endParaRPr>
                  </a:p>
                </p:txBody>
              </p:sp>
              <p:sp>
                <p:nvSpPr>
                  <p:cNvPr id="140" name="Rectangle 139">
                    <a:extLst>
                      <a:ext uri="{FF2B5EF4-FFF2-40B4-BE49-F238E27FC236}">
                        <a16:creationId xmlns:a16="http://schemas.microsoft.com/office/drawing/2014/main" id="{791CBE85-2624-4CCD-9B03-5B88D0E8C53D}"/>
                      </a:ext>
                    </a:extLst>
                  </p:cNvPr>
                  <p:cNvSpPr/>
                  <p:nvPr/>
                </p:nvSpPr>
                <p:spPr>
                  <a:xfrm>
                    <a:off x="9107358" y="4744258"/>
                    <a:ext cx="2025777" cy="413305"/>
                  </a:xfrm>
                  <a:prstGeom prst="rect">
                    <a:avLst/>
                  </a:prstGeom>
                  <a:solidFill>
                    <a:srgbClr val="5E85B0"/>
                  </a:solidFill>
                  <a:ln w="12700">
                    <a:solidFill>
                      <a:schemeClr val="bg1"/>
                    </a:solidFill>
                    <a:prstDash val="solid"/>
                  </a:ln>
                </p:spPr>
                <p:txBody>
                  <a:bodyPr/>
                  <a:lstStyle>
                    <a:lvl1pPr marL="0" indent="0">
                      <a:defRPr sz="1100"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ko-KR" altLang="en-US" sz="800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피해 계좌정보</a:t>
                    </a:r>
                  </a:p>
                  <a:p>
                    <a:pPr algn="ctr"/>
                    <a:r>
                      <a:rPr lang="en-US" altLang="ko-KR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1,250</a:t>
                    </a:r>
                    <a:r>
                      <a:rPr lang="ko-KR" altLang="en-US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건</a:t>
                    </a:r>
                    <a:endParaRPr lang="en-US" altLang="ko-KR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endParaRPr>
                  </a:p>
                  <a:p>
                    <a:pPr algn="ctr"/>
                    <a:r>
                      <a:rPr lang="en-US" altLang="ko-KR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(</a:t>
                    </a:r>
                    <a:r>
                      <a:rPr lang="en-US" altLang="ko-KR" sz="800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46.2%)</a:t>
                    </a:r>
                    <a:endParaRPr lang="ko-KR" altLang="en-US" sz="8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endParaRPr>
                  </a:p>
                </p:txBody>
              </p:sp>
              <p:sp>
                <p:nvSpPr>
                  <p:cNvPr id="146" name="Rectangle 145">
                    <a:extLst>
                      <a:ext uri="{FF2B5EF4-FFF2-40B4-BE49-F238E27FC236}">
                        <a16:creationId xmlns:a16="http://schemas.microsoft.com/office/drawing/2014/main" id="{80BECE0E-F3C7-4852-96B7-5FDCEE448308}"/>
                      </a:ext>
                    </a:extLst>
                  </p:cNvPr>
                  <p:cNvSpPr/>
                  <p:nvPr/>
                </p:nvSpPr>
                <p:spPr>
                  <a:xfrm>
                    <a:off x="11133136" y="4744258"/>
                    <a:ext cx="98298" cy="413305"/>
                  </a:xfrm>
                  <a:prstGeom prst="rect">
                    <a:avLst/>
                  </a:prstGeom>
                  <a:solidFill>
                    <a:srgbClr val="2F7CF6"/>
                  </a:solidFill>
                  <a:ln w="12700">
                    <a:solidFill>
                      <a:schemeClr val="bg1"/>
                    </a:solidFill>
                    <a:prstDash val="solid"/>
                  </a:ln>
                </p:spPr>
                <p:txBody>
                  <a:bodyPr/>
                  <a:lstStyle>
                    <a:lvl1pPr marL="0" indent="0">
                      <a:defRPr sz="1100"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ko-KR" sz="1000"/>
                  </a:p>
                </p:txBody>
              </p:sp>
              <p:sp>
                <p:nvSpPr>
                  <p:cNvPr id="147" name="Rectangle 146">
                    <a:extLst>
                      <a:ext uri="{FF2B5EF4-FFF2-40B4-BE49-F238E27FC236}">
                        <a16:creationId xmlns:a16="http://schemas.microsoft.com/office/drawing/2014/main" id="{5B45C7CC-4FE9-47B8-A816-C1985FE01E16}"/>
                      </a:ext>
                    </a:extLst>
                  </p:cNvPr>
                  <p:cNvSpPr/>
                  <p:nvPr/>
                </p:nvSpPr>
                <p:spPr>
                  <a:xfrm>
                    <a:off x="11225084" y="4744258"/>
                    <a:ext cx="101599" cy="413305"/>
                  </a:xfrm>
                  <a:prstGeom prst="rect">
                    <a:avLst/>
                  </a:prstGeom>
                  <a:solidFill>
                    <a:srgbClr val="49A8FF"/>
                  </a:solidFill>
                  <a:ln w="12700">
                    <a:solidFill>
                      <a:schemeClr val="bg1"/>
                    </a:solidFill>
                    <a:prstDash val="solid"/>
                  </a:ln>
                </p:spPr>
                <p:txBody>
                  <a:bodyPr/>
                  <a:lstStyle>
                    <a:lvl1pPr marL="0" indent="0">
                      <a:defRPr sz="1100"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ko-KR" sz="1000"/>
                  </a:p>
                </p:txBody>
              </p:sp>
            </p:grpSp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D8D12947-8E65-40B3-A525-5A287ADA8B2A}"/>
                    </a:ext>
                  </a:extLst>
                </p:cNvPr>
                <p:cNvSpPr txBox="1"/>
                <p:nvPr/>
              </p:nvSpPr>
              <p:spPr>
                <a:xfrm>
                  <a:off x="6909933" y="4654579"/>
                  <a:ext cx="2141992" cy="2594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rtl="0"/>
                  <a:r>
                    <a:rPr lang="ko-KR" altLang="en-US" sz="800" dirty="0">
                      <a:latin typeface="페이퍼로지 7 Bold" pitchFamily="2" charset="-127"/>
                      <a:ea typeface="페이퍼로지 7 Bold" pitchFamily="2" charset="-127"/>
                    </a:rPr>
                    <a:t>피해방지 건수 </a:t>
                  </a:r>
                  <a:r>
                    <a:rPr lang="en-US" altLang="ko-KR" sz="800" dirty="0">
                      <a:latin typeface="페이퍼로지 7 Bold" pitchFamily="2" charset="-127"/>
                      <a:ea typeface="페이퍼로지 7 Bold" pitchFamily="2" charset="-127"/>
                    </a:rPr>
                    <a:t>(2,705</a:t>
                  </a:r>
                  <a:r>
                    <a:rPr lang="ko-KR" altLang="en-US" sz="800" dirty="0">
                      <a:latin typeface="페이퍼로지 7 Bold" pitchFamily="2" charset="-127"/>
                      <a:ea typeface="페이퍼로지 7 Bold" pitchFamily="2" charset="-127"/>
                    </a:rPr>
                    <a:t>건</a:t>
                  </a:r>
                  <a:r>
                    <a:rPr lang="en-US" altLang="ko-KR" sz="800" dirty="0">
                      <a:latin typeface="페이퍼로지 7 Bold" pitchFamily="2" charset="-127"/>
                      <a:ea typeface="페이퍼로지 7 Bold" pitchFamily="2" charset="-127"/>
                    </a:rPr>
                    <a:t>)</a:t>
                  </a:r>
                  <a:endParaRPr lang="ko-KR" altLang="en-US" sz="80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A21BDF8A-9CC3-477E-B3E5-B6272F32E405}"/>
                    </a:ext>
                  </a:extLst>
                </p:cNvPr>
                <p:cNvSpPr txBox="1"/>
                <p:nvPr/>
              </p:nvSpPr>
              <p:spPr>
                <a:xfrm>
                  <a:off x="8920162" y="4638806"/>
                  <a:ext cx="2334171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 rtl="0"/>
                  <a:r>
                    <a:rPr lang="ko-KR" altLang="en-US" sz="800" dirty="0">
                      <a:solidFill>
                        <a:srgbClr val="2F7CF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사기이용계좌 정보 </a:t>
                  </a:r>
                  <a:r>
                    <a:rPr lang="en-US" altLang="ko-KR" sz="800" dirty="0">
                      <a:solidFill>
                        <a:srgbClr val="2F7CF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55</a:t>
                  </a:r>
                  <a:r>
                    <a:rPr lang="ko-KR" altLang="en-US" sz="800" dirty="0">
                      <a:solidFill>
                        <a:srgbClr val="2F7CF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건</a:t>
                  </a:r>
                  <a:r>
                    <a:rPr lang="en-US" altLang="ko-KR" sz="800" dirty="0">
                      <a:solidFill>
                        <a:srgbClr val="2F7CF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(2.0%)</a:t>
                  </a:r>
                  <a:endParaRPr lang="ko-KR" altLang="en-US" sz="800" dirty="0">
                    <a:solidFill>
                      <a:srgbClr val="2F7CF6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2081ADE4-E51E-4EB8-8484-15125DE343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230521" y="4657650"/>
                  <a:ext cx="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2AC47B40-FD1A-4F45-8E48-6F005AB3E0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199747" y="4719547"/>
                  <a:ext cx="0" cy="169772"/>
                </a:xfrm>
                <a:prstGeom prst="line">
                  <a:avLst/>
                </a:prstGeom>
                <a:ln w="28575">
                  <a:solidFill>
                    <a:srgbClr val="2F7CF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36555E7C-425E-4079-87B1-C470269898ED}"/>
                  </a:ext>
                </a:extLst>
              </p:cNvPr>
              <p:cNvGrpSpPr/>
              <p:nvPr/>
            </p:nvGrpSpPr>
            <p:grpSpPr>
              <a:xfrm>
                <a:off x="9882317" y="5345667"/>
                <a:ext cx="1469766" cy="230963"/>
                <a:chOff x="9856917" y="5345667"/>
                <a:chExt cx="1469766" cy="230963"/>
              </a:xfrm>
            </p:grpSpPr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9B95F796-2F08-446E-A1DB-01D3A370AA4E}"/>
                    </a:ext>
                  </a:extLst>
                </p:cNvPr>
                <p:cNvSpPr txBox="1"/>
                <p:nvPr/>
              </p:nvSpPr>
              <p:spPr>
                <a:xfrm>
                  <a:off x="9856917" y="5361186"/>
                  <a:ext cx="1469766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 rtl="0"/>
                  <a:r>
                    <a:rPr lang="ko-KR" altLang="en-US" sz="800" dirty="0">
                      <a:solidFill>
                        <a:srgbClr val="49A8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기타 </a:t>
                  </a:r>
                  <a:r>
                    <a:rPr lang="en-US" altLang="ko-KR" sz="800" dirty="0">
                      <a:solidFill>
                        <a:srgbClr val="49A8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72</a:t>
                  </a:r>
                  <a:r>
                    <a:rPr lang="ko-KR" altLang="en-US" sz="800" dirty="0">
                      <a:solidFill>
                        <a:srgbClr val="49A8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건</a:t>
                  </a:r>
                  <a:r>
                    <a:rPr lang="en-US" altLang="ko-KR" sz="800" dirty="0">
                      <a:solidFill>
                        <a:srgbClr val="49A8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(2.7%)</a:t>
                  </a:r>
                  <a:endParaRPr lang="ko-KR" altLang="en-US" sz="800" dirty="0">
                    <a:solidFill>
                      <a:srgbClr val="49A8FF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cxnSp>
              <p:nvCxnSpPr>
                <p:cNvPr id="165" name="Straight Connector 164">
                  <a:extLst>
                    <a:ext uri="{FF2B5EF4-FFF2-40B4-BE49-F238E27FC236}">
                      <a16:creationId xmlns:a16="http://schemas.microsoft.com/office/drawing/2014/main" id="{19B4FE53-15CC-4901-A172-3B82093CC9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275883" y="5345667"/>
                  <a:ext cx="0" cy="200563"/>
                </a:xfrm>
                <a:prstGeom prst="line">
                  <a:avLst/>
                </a:prstGeom>
                <a:ln w="28575">
                  <a:solidFill>
                    <a:srgbClr val="49A8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D5CD0C00-1002-4547-94C5-4857AE291FEA}"/>
                  </a:ext>
                </a:extLst>
              </p:cNvPr>
              <p:cNvSpPr txBox="1"/>
              <p:nvPr/>
            </p:nvSpPr>
            <p:spPr>
              <a:xfrm>
                <a:off x="6907208" y="5373434"/>
                <a:ext cx="122341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altLang="ko-KR" sz="700" dirty="0">
                    <a:solidFill>
                      <a:srgbClr val="002060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*</a:t>
                </a:r>
                <a:r>
                  <a:rPr lang="ko-KR" altLang="en-US" sz="700" dirty="0">
                    <a:solidFill>
                      <a:srgbClr val="002060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기준 기간 출범 후 </a:t>
                </a:r>
                <a:r>
                  <a:rPr lang="en-US" altLang="ko-KR" sz="700" dirty="0">
                    <a:solidFill>
                      <a:srgbClr val="002060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12</a:t>
                </a:r>
                <a:r>
                  <a:rPr lang="ko-KR" altLang="en-US" sz="700" dirty="0">
                    <a:solidFill>
                      <a:srgbClr val="002060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주 동안</a:t>
                </a:r>
                <a:endParaRPr lang="en-US" altLang="ko-KR" sz="700" dirty="0">
                  <a:solidFill>
                    <a:srgbClr val="002060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0F406ED3-91ED-40FA-A5F6-5EB54373632C}"/>
                </a:ext>
              </a:extLst>
            </p:cNvPr>
            <p:cNvGrpSpPr/>
            <p:nvPr/>
          </p:nvGrpSpPr>
          <p:grpSpPr>
            <a:xfrm>
              <a:off x="6900722" y="3613172"/>
              <a:ext cx="4452820" cy="989286"/>
              <a:chOff x="6900722" y="3613172"/>
              <a:chExt cx="4452820" cy="989286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81EC7DBF-425A-4A6D-8C7C-96CE3884C086}"/>
                  </a:ext>
                </a:extLst>
              </p:cNvPr>
              <p:cNvGrpSpPr/>
              <p:nvPr/>
            </p:nvGrpSpPr>
            <p:grpSpPr>
              <a:xfrm>
                <a:off x="6968542" y="3858962"/>
                <a:ext cx="4358141" cy="553770"/>
                <a:chOff x="6968542" y="4034171"/>
                <a:chExt cx="4358141" cy="553770"/>
              </a:xfrm>
            </p:grpSpPr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0C0C6537-ECA2-4D39-9F34-0A75EC4F8FD6}"/>
                    </a:ext>
                  </a:extLst>
                </p:cNvPr>
                <p:cNvSpPr/>
                <p:nvPr/>
              </p:nvSpPr>
              <p:spPr>
                <a:xfrm>
                  <a:off x="6968542" y="4034171"/>
                  <a:ext cx="950212" cy="553770"/>
                </a:xfrm>
                <a:prstGeom prst="rect">
                  <a:avLst/>
                </a:prstGeom>
                <a:solidFill>
                  <a:srgbClr val="002060"/>
                </a:solidFill>
                <a:ln w="12700">
                  <a:solidFill>
                    <a:schemeClr val="bg1"/>
                  </a:solidFill>
                  <a:prstDash val="solid"/>
                </a:ln>
              </p:spPr>
              <p:txBody>
                <a:bodyPr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8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피해 계좌정보</a:t>
                  </a:r>
                </a:p>
                <a:p>
                  <a:pPr algn="ctr"/>
                  <a:r>
                    <a:rPr lang="en-US" altLang="ko-KR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41.0</a:t>
                  </a:r>
                  <a:r>
                    <a:rPr lang="ko-KR" altLang="en-US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억 원</a:t>
                  </a:r>
                </a:p>
                <a:p>
                  <a:pPr algn="ctr"/>
                  <a:r>
                    <a:rPr lang="en-US" altLang="ko-KR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(22</a:t>
                  </a:r>
                  <a:r>
                    <a:rPr lang="en-US" altLang="ko-KR" sz="8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.0%)</a:t>
                  </a:r>
                  <a:endParaRPr lang="ko-KR" altLang="en-US" sz="8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37" name="Rectangle 136">
                  <a:extLst>
                    <a:ext uri="{FF2B5EF4-FFF2-40B4-BE49-F238E27FC236}">
                      <a16:creationId xmlns:a16="http://schemas.microsoft.com/office/drawing/2014/main" id="{0EE53028-AEF5-4508-BF9B-F1FFEBF7F663}"/>
                    </a:ext>
                  </a:extLst>
                </p:cNvPr>
                <p:cNvSpPr/>
                <p:nvPr/>
              </p:nvSpPr>
              <p:spPr>
                <a:xfrm>
                  <a:off x="10625139" y="4034171"/>
                  <a:ext cx="369092" cy="553770"/>
                </a:xfrm>
                <a:prstGeom prst="rect">
                  <a:avLst/>
                </a:prstGeom>
                <a:solidFill>
                  <a:srgbClr val="2F7CF6"/>
                </a:solidFill>
                <a:ln w="12700">
                  <a:solidFill>
                    <a:schemeClr val="bg1"/>
                  </a:solidFill>
                  <a:prstDash val="solid"/>
                </a:ln>
              </p:spPr>
              <p:txBody>
                <a:bodyPr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ko-KR" sz="1000"/>
                </a:p>
              </p:txBody>
            </p:sp>
            <p:sp>
              <p:nvSpPr>
                <p:cNvPr id="136" name="Rectangle 135">
                  <a:extLst>
                    <a:ext uri="{FF2B5EF4-FFF2-40B4-BE49-F238E27FC236}">
                      <a16:creationId xmlns:a16="http://schemas.microsoft.com/office/drawing/2014/main" id="{9640938D-6415-4975-AE42-4A9F6CC71DFD}"/>
                    </a:ext>
                  </a:extLst>
                </p:cNvPr>
                <p:cNvSpPr/>
                <p:nvPr/>
              </p:nvSpPr>
              <p:spPr>
                <a:xfrm>
                  <a:off x="7918755" y="4034171"/>
                  <a:ext cx="2770246" cy="553770"/>
                </a:xfrm>
                <a:prstGeom prst="rect">
                  <a:avLst/>
                </a:prstGeom>
                <a:solidFill>
                  <a:srgbClr val="5E85B0"/>
                </a:solidFill>
                <a:ln w="12700">
                  <a:solidFill>
                    <a:schemeClr val="bg1"/>
                  </a:solidFill>
                  <a:prstDash val="solid"/>
                </a:ln>
              </p:spPr>
              <p:txBody>
                <a:bodyPr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8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피해 계좌정보</a:t>
                  </a:r>
                </a:p>
                <a:p>
                  <a:pPr algn="ctr"/>
                  <a:r>
                    <a:rPr lang="en-US" altLang="ko-KR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118.4</a:t>
                  </a:r>
                  <a:r>
                    <a:rPr lang="ko-KR" altLang="en-US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억 원</a:t>
                  </a:r>
                </a:p>
                <a:p>
                  <a:pPr algn="ctr"/>
                  <a:r>
                    <a:rPr lang="en-US" altLang="ko-KR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(</a:t>
                  </a:r>
                  <a:r>
                    <a:rPr lang="en-US" altLang="ko-KR" sz="8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63.5%)</a:t>
                  </a:r>
                  <a:endParaRPr lang="ko-KR" altLang="en-US" sz="8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9835F2DD-3120-471C-8951-D64FF8D0174D}"/>
                    </a:ext>
                  </a:extLst>
                </p:cNvPr>
                <p:cNvSpPr/>
                <p:nvPr/>
              </p:nvSpPr>
              <p:spPr>
                <a:xfrm>
                  <a:off x="10931968" y="4034171"/>
                  <a:ext cx="394715" cy="553770"/>
                </a:xfrm>
                <a:prstGeom prst="rect">
                  <a:avLst/>
                </a:prstGeom>
                <a:solidFill>
                  <a:srgbClr val="49A8FF"/>
                </a:solidFill>
                <a:ln w="12700">
                  <a:solidFill>
                    <a:schemeClr val="bg1"/>
                  </a:solidFill>
                  <a:prstDash val="solid"/>
                </a:ln>
              </p:spPr>
              <p:txBody>
                <a:bodyPr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ko-KR" sz="1000"/>
                </a:p>
              </p:txBody>
            </p:sp>
          </p:grp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FA77F4D8-08BA-428A-9C85-1616EDB599DB}"/>
                  </a:ext>
                </a:extLst>
              </p:cNvPr>
              <p:cNvSpPr txBox="1"/>
              <p:nvPr/>
            </p:nvSpPr>
            <p:spPr>
              <a:xfrm>
                <a:off x="6900722" y="3622027"/>
                <a:ext cx="2357577" cy="2594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800" dirty="0">
                    <a:latin typeface="페이퍼로지 7 Bold" pitchFamily="2" charset="-127"/>
                    <a:ea typeface="페이퍼로지 7 Bold" pitchFamily="2" charset="-127"/>
                  </a:rPr>
                  <a:t>피해방지 금액</a:t>
                </a:r>
                <a:r>
                  <a:rPr lang="en-US" altLang="ko-KR" sz="800" dirty="0">
                    <a:latin typeface="페이퍼로지 7 Bold" pitchFamily="2" charset="-127"/>
                    <a:ea typeface="페이퍼로지 7 Bold" pitchFamily="2" charset="-127"/>
                  </a:rPr>
                  <a:t>(186.5</a:t>
                </a:r>
                <a:r>
                  <a:rPr lang="ko-KR" altLang="en-US" sz="800" dirty="0">
                    <a:latin typeface="페이퍼로지 7 Bold" pitchFamily="2" charset="-127"/>
                    <a:ea typeface="페이퍼로지 7 Bold" pitchFamily="2" charset="-127"/>
                  </a:rPr>
                  <a:t>억 원</a:t>
                </a:r>
                <a:r>
                  <a:rPr lang="en-US" altLang="ko-KR" sz="800" dirty="0">
                    <a:latin typeface="페이퍼로지 7 Bold" pitchFamily="2" charset="-127"/>
                    <a:ea typeface="페이퍼로지 7 Bold" pitchFamily="2" charset="-127"/>
                  </a:rPr>
                  <a:t>)</a:t>
                </a:r>
                <a:endParaRPr lang="ko-KR" altLang="en-US" sz="800" dirty="0"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919C9AAA-84A7-412C-A96B-CF876CFC3A50}"/>
                  </a:ext>
                </a:extLst>
              </p:cNvPr>
              <p:cNvSpPr txBox="1"/>
              <p:nvPr/>
            </p:nvSpPr>
            <p:spPr>
              <a:xfrm>
                <a:off x="8632959" y="3613172"/>
                <a:ext cx="2334171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0"/>
                <a:r>
                  <a:rPr lang="ko-KR" altLang="en-US" sz="800" dirty="0">
                    <a:solidFill>
                      <a:srgbClr val="2F7CF6"/>
                    </a:solidFill>
                    <a:latin typeface="페이퍼로지 7 Bold" pitchFamily="2" charset="-127"/>
                    <a:ea typeface="페이퍼로지 7 Bold" pitchFamily="2" charset="-127"/>
                  </a:rPr>
                  <a:t>사기이용계좌 정보 </a:t>
                </a:r>
                <a:r>
                  <a:rPr lang="en-US" altLang="ko-KR" sz="800" dirty="0">
                    <a:solidFill>
                      <a:srgbClr val="2F7CF6"/>
                    </a:solidFill>
                    <a:latin typeface="페이퍼로지 7 Bold" pitchFamily="2" charset="-127"/>
                    <a:ea typeface="페이퍼로지 7 Bold" pitchFamily="2" charset="-127"/>
                  </a:rPr>
                  <a:t>9.8</a:t>
                </a:r>
                <a:r>
                  <a:rPr lang="ko-KR" altLang="en-US" sz="800" dirty="0">
                    <a:solidFill>
                      <a:srgbClr val="2F7CF6"/>
                    </a:solidFill>
                    <a:latin typeface="페이퍼로지 7 Bold" pitchFamily="2" charset="-127"/>
                    <a:ea typeface="페이퍼로지 7 Bold" pitchFamily="2" charset="-127"/>
                  </a:rPr>
                  <a:t>억 원</a:t>
                </a:r>
                <a:r>
                  <a:rPr lang="en-US" altLang="ko-KR" sz="800" dirty="0">
                    <a:solidFill>
                      <a:srgbClr val="2F7CF6"/>
                    </a:solidFill>
                    <a:latin typeface="페이퍼로지 7 Bold" pitchFamily="2" charset="-127"/>
                    <a:ea typeface="페이퍼로지 7 Bold" pitchFamily="2" charset="-127"/>
                  </a:rPr>
                  <a:t>(5.3%)</a:t>
                </a:r>
                <a:endParaRPr lang="ko-KR" altLang="en-US" sz="800" dirty="0">
                  <a:solidFill>
                    <a:srgbClr val="2F7CF6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DF6178B5-BA75-4C82-BC94-A57B18CABC6A}"/>
                  </a:ext>
                </a:extLst>
              </p:cNvPr>
              <p:cNvCxnSpPr>
                <a:cxnSpLocks/>
                <a:stCxn id="160" idx="3"/>
                <a:endCxn id="160" idx="3"/>
              </p:cNvCxnSpPr>
              <p:nvPr/>
            </p:nvCxnSpPr>
            <p:spPr>
              <a:xfrm>
                <a:off x="10967130" y="3720894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BB0E1F68-8BCC-4740-8CA7-815A9B21B88B}"/>
                  </a:ext>
                </a:extLst>
              </p:cNvPr>
              <p:cNvCxnSpPr/>
              <p:nvPr/>
            </p:nvCxnSpPr>
            <p:spPr>
              <a:xfrm flipV="1">
                <a:off x="10918894" y="3693912"/>
                <a:ext cx="0" cy="169772"/>
              </a:xfrm>
              <a:prstGeom prst="line">
                <a:avLst/>
              </a:prstGeom>
              <a:ln w="28575">
                <a:solidFill>
                  <a:srgbClr val="2F7CF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B6B30D79-E413-44B8-BECF-21E5D30F94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301283" y="4374959"/>
                <a:ext cx="0" cy="200563"/>
              </a:xfrm>
              <a:prstGeom prst="line">
                <a:avLst/>
              </a:prstGeom>
              <a:ln w="28575">
                <a:solidFill>
                  <a:srgbClr val="49A8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E145FE7-7C8E-4A8C-BEA3-6326FCD0B570}"/>
                  </a:ext>
                </a:extLst>
              </p:cNvPr>
              <p:cNvSpPr txBox="1"/>
              <p:nvPr/>
            </p:nvSpPr>
            <p:spPr>
              <a:xfrm>
                <a:off x="9883776" y="4387014"/>
                <a:ext cx="146976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0"/>
                <a:r>
                  <a:rPr lang="ko-KR" altLang="en-US" sz="800" dirty="0">
                    <a:solidFill>
                      <a:srgbClr val="49A8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기타</a:t>
                </a:r>
                <a:r>
                  <a:rPr lang="en-US" altLang="ko-KR" sz="800" dirty="0">
                    <a:solidFill>
                      <a:srgbClr val="49A8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 17.3</a:t>
                </a:r>
                <a:r>
                  <a:rPr lang="ko-KR" altLang="en-US" sz="800" dirty="0">
                    <a:solidFill>
                      <a:srgbClr val="49A8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억 원</a:t>
                </a:r>
                <a:r>
                  <a:rPr lang="en-US" altLang="ko-KR" sz="800" dirty="0">
                    <a:solidFill>
                      <a:srgbClr val="49A8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(9.3%)</a:t>
                </a:r>
                <a:endParaRPr lang="ko-KR" altLang="en-US" sz="800" dirty="0">
                  <a:solidFill>
                    <a:srgbClr val="49A8FF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525798AE-8A4A-4F3C-A7DB-F37611569B06}"/>
                  </a:ext>
                </a:extLst>
              </p:cNvPr>
              <p:cNvSpPr txBox="1"/>
              <p:nvPr/>
            </p:nvSpPr>
            <p:spPr>
              <a:xfrm>
                <a:off x="6907208" y="4394745"/>
                <a:ext cx="122341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altLang="ko-KR" sz="700" dirty="0">
                    <a:solidFill>
                      <a:srgbClr val="002060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*</a:t>
                </a:r>
                <a:r>
                  <a:rPr lang="ko-KR" altLang="en-US" sz="700" dirty="0">
                    <a:solidFill>
                      <a:srgbClr val="002060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기준 기간 출범 후 </a:t>
                </a:r>
                <a:r>
                  <a:rPr lang="en-US" altLang="ko-KR" sz="700" dirty="0">
                    <a:solidFill>
                      <a:srgbClr val="002060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12</a:t>
                </a:r>
                <a:r>
                  <a:rPr lang="ko-KR" altLang="en-US" sz="700" dirty="0">
                    <a:solidFill>
                      <a:srgbClr val="002060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주 동안</a:t>
                </a:r>
                <a:endParaRPr lang="en-US" altLang="ko-KR" sz="700" dirty="0">
                  <a:solidFill>
                    <a:srgbClr val="002060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</p:grpSp>
      <p:sp>
        <p:nvSpPr>
          <p:cNvPr id="168" name="TextBox 167">
            <a:extLst>
              <a:ext uri="{FF2B5EF4-FFF2-40B4-BE49-F238E27FC236}">
                <a16:creationId xmlns:a16="http://schemas.microsoft.com/office/drawing/2014/main" id="{7688958C-63F5-4BB9-9DD1-8635F1F92C47}"/>
              </a:ext>
            </a:extLst>
          </p:cNvPr>
          <p:cNvSpPr txBox="1"/>
          <p:nvPr/>
        </p:nvSpPr>
        <p:spPr>
          <a:xfrm>
            <a:off x="7405452" y="4996134"/>
            <a:ext cx="3403127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지난해 같은 기간 대비 </a:t>
            </a:r>
            <a:r>
              <a:rPr lang="ko-KR" altLang="en-US" sz="1000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</a:rPr>
              <a:t>발생 건수가 </a:t>
            </a:r>
            <a:r>
              <a:rPr lang="en-US" altLang="ko-KR" sz="1000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</a:rPr>
              <a:t>46%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(14,707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건→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7,940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건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),</a:t>
            </a:r>
          </a:p>
          <a:p>
            <a:pPr algn="ctr"/>
            <a:r>
              <a:rPr lang="ko-KR" altLang="en-US" sz="1000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</a:rPr>
              <a:t>피해액이 </a:t>
            </a:r>
            <a:r>
              <a:rPr lang="en-US" altLang="ko-KR" sz="1000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</a:rPr>
              <a:t>53%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(7,766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억 원→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3,614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억 원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) </a:t>
            </a:r>
            <a:r>
              <a:rPr lang="ko-KR" altLang="en-US" sz="1000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</a:rPr>
              <a:t>감소</a:t>
            </a:r>
            <a:endParaRPr lang="en-US" altLang="ko-KR" sz="1000" dirty="0">
              <a:solidFill>
                <a:srgbClr val="FF4B16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algn="ctr"/>
            <a:r>
              <a:rPr lang="en-US" altLang="ko-KR" sz="8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*</a:t>
            </a:r>
            <a:r>
              <a:rPr lang="ko-KR" altLang="en-US" sz="8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출처</a:t>
            </a:r>
            <a:r>
              <a:rPr lang="en-US" altLang="ko-KR" sz="8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: 7</a:t>
            </a:r>
            <a:r>
              <a:rPr lang="ko-KR" altLang="en-US" sz="8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월 보이스피싱 피해액 올해 최저</a:t>
            </a:r>
            <a:r>
              <a:rPr lang="en-US" altLang="ko-KR" sz="8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8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신종 스캠도 감소세</a:t>
            </a:r>
            <a:r>
              <a:rPr lang="en-US" altLang="ko-KR" sz="8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통합대응단</a:t>
            </a:r>
            <a:r>
              <a:rPr lang="en-US" altLang="ko-KR" sz="8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)</a:t>
            </a:r>
            <a:endParaRPr lang="ko-KR" alt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0816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44784" y="6671892"/>
            <a:ext cx="905256" cy="5486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D86A6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F9ECD888-C723-46E7-903A-7435ADF81B35}"/>
              </a:ext>
            </a:extLst>
          </p:cNvPr>
          <p:cNvSpPr txBox="1"/>
          <p:nvPr/>
        </p:nvSpPr>
        <p:spPr>
          <a:xfrm>
            <a:off x="-64242" y="162899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50" b="1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문제도출</a:t>
            </a:r>
            <a:endParaRPr lang="en-US" sz="1050" dirty="0">
              <a:solidFill>
                <a:schemeClr val="bg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4F0333C0-8C7A-4B84-8F7C-D44D37579789}"/>
              </a:ext>
            </a:extLst>
          </p:cNvPr>
          <p:cNvSpPr txBox="1"/>
          <p:nvPr/>
        </p:nvSpPr>
        <p:spPr>
          <a:xfrm>
            <a:off x="838200" y="527343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23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그런데 잠깐</a:t>
            </a:r>
            <a:r>
              <a:rPr lang="en-US" altLang="ko-KR" sz="123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…</a:t>
            </a:r>
            <a:endParaRPr lang="en-US" altLang="ko-KR" sz="1230" dirty="0">
              <a:solidFill>
                <a:schemeClr val="bg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9E4F4B01-3369-4970-A414-220666C1A0EF}"/>
              </a:ext>
            </a:extLst>
          </p:cNvPr>
          <p:cNvSpPr txBox="1"/>
          <p:nvPr/>
        </p:nvSpPr>
        <p:spPr>
          <a:xfrm>
            <a:off x="746760" y="760788"/>
            <a:ext cx="10698480" cy="1222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2200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이렇게 많은 </a:t>
            </a:r>
            <a:r>
              <a:rPr lang="en-US" altLang="ko-KR" sz="2200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안전장치</a:t>
            </a:r>
            <a:r>
              <a:rPr lang="ko-KR" altLang="en-US" sz="2200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가 존재하고 </a:t>
            </a:r>
            <a:r>
              <a:rPr lang="en-US" altLang="ko-KR" sz="2200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실제</a:t>
            </a:r>
            <a:r>
              <a:rPr lang="en-US" altLang="ko-KR" sz="2200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 </a:t>
            </a:r>
            <a:r>
              <a:rPr lang="ko-KR" altLang="en-US" sz="2200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긍정적 </a:t>
            </a:r>
            <a:r>
              <a:rPr lang="en-US" altLang="ko-KR" sz="2200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효과도</a:t>
            </a:r>
            <a:r>
              <a:rPr lang="en-US" altLang="ko-KR" sz="2200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 </a:t>
            </a:r>
            <a:r>
              <a:rPr lang="en-US" altLang="ko-KR" sz="2200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있는데</a:t>
            </a:r>
            <a:r>
              <a:rPr lang="en-US" altLang="ko-KR" sz="2200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…</a:t>
            </a:r>
          </a:p>
          <a:p>
            <a:pPr marL="0" indent="0" algn="ctr">
              <a:buNone/>
            </a:pPr>
            <a:r>
              <a:rPr lang="ko-KR" altLang="en-US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어째서 여전히 보이스피싱 범죄</a:t>
            </a:r>
            <a:r>
              <a:rPr lang="en-US" altLang="ko-KR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 </a:t>
            </a:r>
            <a:r>
              <a:rPr lang="ko-KR" altLang="en-US" sz="22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피해가 발생하고 있을까</a:t>
            </a:r>
            <a:r>
              <a:rPr lang="en-US" altLang="ko-KR" sz="22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?</a:t>
            </a:r>
          </a:p>
          <a:p>
            <a:pPr marL="0" indent="0" algn="ctr">
              <a:buNone/>
            </a:pPr>
            <a:r>
              <a:rPr lang="ko-KR" altLang="en-US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그리고 </a:t>
            </a:r>
            <a:r>
              <a:rPr lang="en-US" altLang="ko-KR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53%</a:t>
            </a:r>
            <a:r>
              <a:rPr lang="ko-KR" altLang="en-US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의 피해액 감소에 만족하고 </a:t>
            </a:r>
            <a:r>
              <a:rPr lang="ko-KR" altLang="en-US" sz="22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안주해도 되는 걸까</a:t>
            </a:r>
            <a:r>
              <a:rPr lang="en-US" altLang="ko-KR" sz="22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ED55EEA-1212-4000-A6DF-C58A73D5632C}"/>
              </a:ext>
            </a:extLst>
          </p:cNvPr>
          <p:cNvGrpSpPr/>
          <p:nvPr/>
        </p:nvGrpSpPr>
        <p:grpSpPr>
          <a:xfrm>
            <a:off x="1211043" y="2610855"/>
            <a:ext cx="9769914" cy="3092504"/>
            <a:chOff x="1211043" y="2336922"/>
            <a:chExt cx="9769914" cy="309250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5870A41-561B-46D8-872D-2DACE1D28AAF}"/>
                </a:ext>
              </a:extLst>
            </p:cNvPr>
            <p:cNvGrpSpPr/>
            <p:nvPr/>
          </p:nvGrpSpPr>
          <p:grpSpPr>
            <a:xfrm>
              <a:off x="1324750" y="2864843"/>
              <a:ext cx="4413424" cy="2564583"/>
              <a:chOff x="1032549" y="3249240"/>
              <a:chExt cx="4413424" cy="2564583"/>
            </a:xfrm>
          </p:grpSpPr>
          <p:sp>
            <p:nvSpPr>
              <p:cNvPr id="23" name="Shape 8">
                <a:extLst>
                  <a:ext uri="{FF2B5EF4-FFF2-40B4-BE49-F238E27FC236}">
                    <a16:creationId xmlns:a16="http://schemas.microsoft.com/office/drawing/2014/main" id="{1E82256C-508F-4718-BDA2-BC66C83B7F0E}"/>
                  </a:ext>
                </a:extLst>
              </p:cNvPr>
              <p:cNvSpPr/>
              <p:nvPr/>
            </p:nvSpPr>
            <p:spPr>
              <a:xfrm>
                <a:off x="1032549" y="3249240"/>
                <a:ext cx="4413424" cy="2564583"/>
              </a:xfrm>
              <a:prstGeom prst="roundRect">
                <a:avLst>
                  <a:gd name="adj" fmla="val 5818"/>
                </a:avLst>
              </a:prstGeom>
              <a:solidFill>
                <a:srgbClr val="FFFFFF"/>
              </a:solidFill>
              <a:ln w="10160">
                <a:solidFill>
                  <a:srgbClr val="DCE8FA"/>
                </a:solidFill>
                <a:prstDash val="solid"/>
              </a:ln>
            </p:spPr>
          </p:sp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8ADDDFBD-5E3C-4896-BA4F-D0F3EA431CA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8179"/>
              <a:stretch/>
            </p:blipFill>
            <p:spPr>
              <a:xfrm>
                <a:off x="1087294" y="3401279"/>
                <a:ext cx="4303933" cy="2355183"/>
              </a:xfrm>
              <a:prstGeom prst="rect">
                <a:avLst/>
              </a:prstGeom>
            </p:spPr>
          </p:pic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0CE9D502-4A98-4EFF-A464-807AEFFEFAEB}"/>
                  </a:ext>
                </a:extLst>
              </p:cNvPr>
              <p:cNvSpPr/>
              <p:nvPr/>
            </p:nvSpPr>
            <p:spPr>
              <a:xfrm>
                <a:off x="4234875" y="3762257"/>
                <a:ext cx="487664" cy="229054"/>
              </a:xfrm>
              <a:custGeom>
                <a:avLst/>
                <a:gdLst>
                  <a:gd name="connsiteX0" fmla="*/ 50800 w 419100"/>
                  <a:gd name="connsiteY0" fmla="*/ 31750 h 196850"/>
                  <a:gd name="connsiteX1" fmla="*/ 133350 w 419100"/>
                  <a:gd name="connsiteY1" fmla="*/ 0 h 196850"/>
                  <a:gd name="connsiteX2" fmla="*/ 406400 w 419100"/>
                  <a:gd name="connsiteY2" fmla="*/ 0 h 196850"/>
                  <a:gd name="connsiteX3" fmla="*/ 419100 w 419100"/>
                  <a:gd name="connsiteY3" fmla="*/ 196850 h 196850"/>
                  <a:gd name="connsiteX4" fmla="*/ 0 w 419100"/>
                  <a:gd name="connsiteY4" fmla="*/ 152400 h 196850"/>
                  <a:gd name="connsiteX5" fmla="*/ 50800 w 419100"/>
                  <a:gd name="connsiteY5" fmla="*/ 31750 h 196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19100" h="196850">
                    <a:moveTo>
                      <a:pt x="50800" y="31750"/>
                    </a:moveTo>
                    <a:lnTo>
                      <a:pt x="133350" y="0"/>
                    </a:lnTo>
                    <a:lnTo>
                      <a:pt x="406400" y="0"/>
                    </a:lnTo>
                    <a:lnTo>
                      <a:pt x="419100" y="196850"/>
                    </a:lnTo>
                    <a:lnTo>
                      <a:pt x="0" y="152400"/>
                    </a:lnTo>
                    <a:lnTo>
                      <a:pt x="50800" y="31750"/>
                    </a:lnTo>
                    <a:close/>
                  </a:path>
                </a:pathLst>
              </a:custGeom>
              <a:solidFill>
                <a:srgbClr val="E66867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C609C7C8-B81C-4E5A-8DE7-5B7392628E26}"/>
                  </a:ext>
                </a:extLst>
              </p:cNvPr>
              <p:cNvSpPr/>
              <p:nvPr/>
            </p:nvSpPr>
            <p:spPr>
              <a:xfrm>
                <a:off x="2995430" y="4328077"/>
                <a:ext cx="487664" cy="229054"/>
              </a:xfrm>
              <a:custGeom>
                <a:avLst/>
                <a:gdLst>
                  <a:gd name="connsiteX0" fmla="*/ 50800 w 419100"/>
                  <a:gd name="connsiteY0" fmla="*/ 31750 h 196850"/>
                  <a:gd name="connsiteX1" fmla="*/ 133350 w 419100"/>
                  <a:gd name="connsiteY1" fmla="*/ 0 h 196850"/>
                  <a:gd name="connsiteX2" fmla="*/ 406400 w 419100"/>
                  <a:gd name="connsiteY2" fmla="*/ 0 h 196850"/>
                  <a:gd name="connsiteX3" fmla="*/ 419100 w 419100"/>
                  <a:gd name="connsiteY3" fmla="*/ 196850 h 196850"/>
                  <a:gd name="connsiteX4" fmla="*/ 0 w 419100"/>
                  <a:gd name="connsiteY4" fmla="*/ 152400 h 196850"/>
                  <a:gd name="connsiteX5" fmla="*/ 50800 w 419100"/>
                  <a:gd name="connsiteY5" fmla="*/ 31750 h 196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19100" h="196850">
                    <a:moveTo>
                      <a:pt x="50800" y="31750"/>
                    </a:moveTo>
                    <a:lnTo>
                      <a:pt x="133350" y="0"/>
                    </a:lnTo>
                    <a:lnTo>
                      <a:pt x="406400" y="0"/>
                    </a:lnTo>
                    <a:lnTo>
                      <a:pt x="419100" y="196850"/>
                    </a:lnTo>
                    <a:lnTo>
                      <a:pt x="0" y="152400"/>
                    </a:lnTo>
                    <a:lnTo>
                      <a:pt x="50800" y="31750"/>
                    </a:lnTo>
                    <a:close/>
                  </a:path>
                </a:pathLst>
              </a:custGeom>
              <a:solidFill>
                <a:srgbClr val="5E85B0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35A03C30-6B1A-4B88-A823-CDFF6D395EA1}"/>
                  </a:ext>
                </a:extLst>
              </p:cNvPr>
              <p:cNvSpPr/>
              <p:nvPr/>
            </p:nvSpPr>
            <p:spPr>
              <a:xfrm>
                <a:off x="1678927" y="4945044"/>
                <a:ext cx="487664" cy="229054"/>
              </a:xfrm>
              <a:custGeom>
                <a:avLst/>
                <a:gdLst>
                  <a:gd name="connsiteX0" fmla="*/ 50800 w 419100"/>
                  <a:gd name="connsiteY0" fmla="*/ 31750 h 196850"/>
                  <a:gd name="connsiteX1" fmla="*/ 133350 w 419100"/>
                  <a:gd name="connsiteY1" fmla="*/ 0 h 196850"/>
                  <a:gd name="connsiteX2" fmla="*/ 406400 w 419100"/>
                  <a:gd name="connsiteY2" fmla="*/ 0 h 196850"/>
                  <a:gd name="connsiteX3" fmla="*/ 419100 w 419100"/>
                  <a:gd name="connsiteY3" fmla="*/ 196850 h 196850"/>
                  <a:gd name="connsiteX4" fmla="*/ 0 w 419100"/>
                  <a:gd name="connsiteY4" fmla="*/ 152400 h 196850"/>
                  <a:gd name="connsiteX5" fmla="*/ 50800 w 419100"/>
                  <a:gd name="connsiteY5" fmla="*/ 31750 h 196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19100" h="196850">
                    <a:moveTo>
                      <a:pt x="50800" y="31750"/>
                    </a:moveTo>
                    <a:lnTo>
                      <a:pt x="133350" y="0"/>
                    </a:lnTo>
                    <a:lnTo>
                      <a:pt x="406400" y="0"/>
                    </a:lnTo>
                    <a:lnTo>
                      <a:pt x="419100" y="196850"/>
                    </a:lnTo>
                    <a:lnTo>
                      <a:pt x="0" y="152400"/>
                    </a:lnTo>
                    <a:lnTo>
                      <a:pt x="50800" y="31750"/>
                    </a:lnTo>
                    <a:close/>
                  </a:path>
                </a:pathLst>
              </a:custGeom>
              <a:solidFill>
                <a:srgbClr val="5E85B0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4529F90-0D90-4D06-A22A-9BF6736AC066}"/>
                  </a:ext>
                </a:extLst>
              </p:cNvPr>
              <p:cNvSpPr txBox="1"/>
              <p:nvPr/>
            </p:nvSpPr>
            <p:spPr>
              <a:xfrm>
                <a:off x="4075288" y="3779761"/>
                <a:ext cx="821614" cy="2139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1</a:t>
                </a:r>
                <a:r>
                  <a:rPr lang="ko-KR" altLang="en-US" sz="8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조</a:t>
                </a:r>
                <a:r>
                  <a:rPr lang="en-US" altLang="ko-KR" sz="8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2,578</a:t>
                </a:r>
                <a:r>
                  <a:rPr lang="ko-KR" altLang="en-US" sz="8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억원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CE70B62-55EB-473C-BA03-421B1681A667}"/>
                  </a:ext>
                </a:extLst>
              </p:cNvPr>
              <p:cNvSpPr txBox="1"/>
              <p:nvPr/>
            </p:nvSpPr>
            <p:spPr>
              <a:xfrm>
                <a:off x="2907242" y="4328077"/>
                <a:ext cx="664039" cy="2139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8,545</a:t>
                </a:r>
                <a:r>
                  <a:rPr lang="ko-KR" altLang="en-US" sz="8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억원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9E0FC46-BD5A-44EE-96E2-24AA444130B9}"/>
                  </a:ext>
                </a:extLst>
              </p:cNvPr>
              <p:cNvSpPr txBox="1"/>
              <p:nvPr/>
            </p:nvSpPr>
            <p:spPr>
              <a:xfrm>
                <a:off x="1664187" y="4901827"/>
                <a:ext cx="664039" cy="2139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4,472</a:t>
                </a:r>
                <a:r>
                  <a:rPr lang="ko-KR" altLang="en-US" sz="8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억원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5AC449D-63FD-4FAC-BC84-018DCA6B81B3}"/>
                  </a:ext>
                </a:extLst>
              </p:cNvPr>
              <p:cNvSpPr/>
              <p:nvPr/>
            </p:nvSpPr>
            <p:spPr>
              <a:xfrm>
                <a:off x="1848280" y="5567957"/>
                <a:ext cx="2796677" cy="151946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132AA46-7D78-4876-B8DC-07219A1BC210}"/>
                  </a:ext>
                </a:extLst>
              </p:cNvPr>
              <p:cNvSpPr txBox="1"/>
              <p:nvPr/>
            </p:nvSpPr>
            <p:spPr>
              <a:xfrm>
                <a:off x="1767645" y="5536491"/>
                <a:ext cx="457124" cy="2139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>
                    <a:latin typeface="페이퍼로지 7 Bold" pitchFamily="2" charset="-127"/>
                    <a:ea typeface="페이퍼로지 7 Bold" pitchFamily="2" charset="-127"/>
                  </a:rPr>
                  <a:t>2023</a:t>
                </a:r>
                <a:endParaRPr lang="ko-KR" altLang="en-US" sz="800" dirty="0"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F857B92-D8C9-4FA5-A64C-2A057E220F10}"/>
                  </a:ext>
                </a:extLst>
              </p:cNvPr>
              <p:cNvSpPr txBox="1"/>
              <p:nvPr/>
            </p:nvSpPr>
            <p:spPr>
              <a:xfrm>
                <a:off x="3032853" y="5536491"/>
                <a:ext cx="457124" cy="2139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>
                    <a:latin typeface="페이퍼로지 7 Bold" pitchFamily="2" charset="-127"/>
                    <a:ea typeface="페이퍼로지 7 Bold" pitchFamily="2" charset="-127"/>
                  </a:rPr>
                  <a:t>2024</a:t>
                </a:r>
                <a:endParaRPr lang="ko-KR" altLang="en-US" sz="800" dirty="0"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E9A77ED-F1D8-4FC7-808D-E37C404A7CA9}"/>
                  </a:ext>
                </a:extLst>
              </p:cNvPr>
              <p:cNvSpPr txBox="1"/>
              <p:nvPr/>
            </p:nvSpPr>
            <p:spPr>
              <a:xfrm>
                <a:off x="4270268" y="5536491"/>
                <a:ext cx="457124" cy="2139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>
                    <a:latin typeface="페이퍼로지 7 Bold" pitchFamily="2" charset="-127"/>
                    <a:ea typeface="페이퍼로지 7 Bold" pitchFamily="2" charset="-127"/>
                  </a:rPr>
                  <a:t>2025</a:t>
                </a:r>
                <a:endParaRPr lang="ko-KR" altLang="en-US" sz="800" dirty="0"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C42CBDA-FA6E-483F-A7ED-A9D5C8BDA779}"/>
                  </a:ext>
                </a:extLst>
              </p:cNvPr>
              <p:cNvSpPr/>
              <p:nvPr/>
            </p:nvSpPr>
            <p:spPr>
              <a:xfrm>
                <a:off x="4329379" y="3570236"/>
                <a:ext cx="335269" cy="116719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1D129A4D-4056-4EBB-8790-4D787591974D}"/>
                  </a:ext>
                </a:extLst>
              </p:cNvPr>
              <p:cNvSpPr/>
              <p:nvPr/>
            </p:nvSpPr>
            <p:spPr>
              <a:xfrm>
                <a:off x="3104678" y="3738794"/>
                <a:ext cx="272766" cy="139088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D075D39-1E77-4244-A163-8B99D040B560}"/>
                  </a:ext>
                </a:extLst>
              </p:cNvPr>
              <p:cNvSpPr txBox="1"/>
              <p:nvPr/>
            </p:nvSpPr>
            <p:spPr>
              <a:xfrm>
                <a:off x="4175340" y="3517506"/>
                <a:ext cx="643347" cy="2139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>
                    <a:latin typeface="페이퍼로지 7 Bold" pitchFamily="2" charset="-127"/>
                    <a:ea typeface="페이퍼로지 7 Bold" pitchFamily="2" charset="-127"/>
                  </a:rPr>
                  <a:t>23,260</a:t>
                </a:r>
                <a:r>
                  <a:rPr lang="ko-KR" altLang="en-US" sz="800" dirty="0">
                    <a:latin typeface="페이퍼로지 7 Bold" pitchFamily="2" charset="-127"/>
                    <a:ea typeface="페이퍼로지 7 Bold" pitchFamily="2" charset="-127"/>
                  </a:rPr>
                  <a:t>건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1B775FF-A5B9-4BE9-9C1E-81448A4F4AC7}"/>
                  </a:ext>
                </a:extLst>
              </p:cNvPr>
              <p:cNvSpPr txBox="1"/>
              <p:nvPr/>
            </p:nvSpPr>
            <p:spPr>
              <a:xfrm>
                <a:off x="2941649" y="3698945"/>
                <a:ext cx="643347" cy="2139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>
                    <a:latin typeface="페이퍼로지 7 Bold" pitchFamily="2" charset="-127"/>
                    <a:ea typeface="페이퍼로지 7 Bold" pitchFamily="2" charset="-127"/>
                  </a:rPr>
                  <a:t>20,839</a:t>
                </a:r>
                <a:r>
                  <a:rPr lang="ko-KR" altLang="en-US" sz="800" dirty="0">
                    <a:latin typeface="페이퍼로지 7 Bold" pitchFamily="2" charset="-127"/>
                    <a:ea typeface="페이퍼로지 7 Bold" pitchFamily="2" charset="-127"/>
                  </a:rPr>
                  <a:t>건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B1B2856F-FCF3-43A9-B38A-287AF282279A}"/>
                  </a:ext>
                </a:extLst>
              </p:cNvPr>
              <p:cNvSpPr/>
              <p:nvPr/>
            </p:nvSpPr>
            <p:spPr>
              <a:xfrm>
                <a:off x="1850906" y="3933163"/>
                <a:ext cx="272766" cy="8271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3DE967D-3AFC-49E7-808F-C44ED34D584B}"/>
                  </a:ext>
                </a:extLst>
              </p:cNvPr>
              <p:cNvSpPr txBox="1"/>
              <p:nvPr/>
            </p:nvSpPr>
            <p:spPr>
              <a:xfrm>
                <a:off x="1674532" y="3855641"/>
                <a:ext cx="643347" cy="2139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>
                    <a:latin typeface="페이퍼로지 7 Bold" pitchFamily="2" charset="-127"/>
                    <a:ea typeface="페이퍼로지 7 Bold" pitchFamily="2" charset="-127"/>
                  </a:rPr>
                  <a:t>18,902</a:t>
                </a:r>
                <a:r>
                  <a:rPr lang="ko-KR" altLang="en-US" sz="800" dirty="0">
                    <a:latin typeface="페이퍼로지 7 Bold" pitchFamily="2" charset="-127"/>
                    <a:ea typeface="페이퍼로지 7 Bold" pitchFamily="2" charset="-127"/>
                  </a:rPr>
                  <a:t>건</a:t>
                </a:r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129DE3E-630F-4541-AD0C-6DC0DD11F9A8}"/>
                </a:ext>
              </a:extLst>
            </p:cNvPr>
            <p:cNvSpPr txBox="1"/>
            <p:nvPr/>
          </p:nvSpPr>
          <p:spPr>
            <a:xfrm>
              <a:off x="1211043" y="2336922"/>
              <a:ext cx="464083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여전히 발생하고 있는 보이스피싱</a:t>
              </a:r>
              <a:r>
                <a:rPr lang="en-US" altLang="ko-KR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…</a:t>
              </a:r>
            </a:p>
            <a:p>
              <a:pPr algn="ctr"/>
              <a:r>
                <a:rPr lang="ko-KR" altLang="en-US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최근 </a:t>
              </a:r>
              <a:r>
                <a:rPr lang="en-US" altLang="ko-KR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3</a:t>
              </a:r>
              <a:r>
                <a:rPr lang="ko-KR" altLang="en-US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년간 보이스피싱 피해 수</a:t>
              </a:r>
              <a:r>
                <a:rPr lang="en-US" altLang="ko-KR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피해액 증가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8091484-B054-472B-9073-7E4ADF862D87}"/>
                </a:ext>
              </a:extLst>
            </p:cNvPr>
            <p:cNvSpPr txBox="1"/>
            <p:nvPr/>
          </p:nvSpPr>
          <p:spPr>
            <a:xfrm>
              <a:off x="6191101" y="2337865"/>
              <a:ext cx="4789856" cy="116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altLang="ko-KR" sz="1400" dirty="0">
                  <a:solidFill>
                    <a:srgbClr val="FFFFFF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ASAP </a:t>
              </a:r>
              <a:r>
                <a:rPr lang="ko-KR" altLang="en-US" sz="1400" dirty="0">
                  <a:solidFill>
                    <a:srgbClr val="FFFFFF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출범 이후</a:t>
              </a:r>
              <a:r>
                <a:rPr lang="en-US" altLang="ko-KR" sz="1400" dirty="0">
                  <a:solidFill>
                    <a:srgbClr val="FFFFFF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, 25</a:t>
              </a:r>
              <a:r>
                <a:rPr lang="ko-KR" altLang="en-US" sz="1400" dirty="0">
                  <a:solidFill>
                    <a:srgbClr val="FFFFFF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년 동기 대비 </a:t>
              </a:r>
              <a:r>
                <a:rPr lang="en-US" altLang="ko-KR" sz="1400" dirty="0">
                  <a:solidFill>
                    <a:srgbClr val="FFFFFF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26</a:t>
              </a:r>
              <a:r>
                <a:rPr lang="ko-KR" altLang="en-US" sz="1400" dirty="0">
                  <a:solidFill>
                    <a:srgbClr val="FFFFFF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년 피해액 </a:t>
              </a:r>
              <a:r>
                <a:rPr lang="en-US" altLang="ko-KR" sz="1400" dirty="0">
                  <a:solidFill>
                    <a:srgbClr val="FFFFFF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53% </a:t>
              </a:r>
              <a:r>
                <a:rPr lang="ko-KR" altLang="en-US" sz="1400" dirty="0">
                  <a:solidFill>
                    <a:srgbClr val="FFFFFF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감소</a:t>
              </a:r>
              <a:r>
                <a:rPr lang="en-US" altLang="ko-KR" sz="1400" dirty="0">
                  <a:solidFill>
                    <a:srgbClr val="FFFFFF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…</a:t>
              </a:r>
            </a:p>
            <a:p>
              <a:pPr marL="0" indent="0" algn="ctr">
                <a:buNone/>
              </a:pPr>
              <a:r>
                <a:rPr lang="ko-KR" altLang="en-US" sz="1400" dirty="0">
                  <a:solidFill>
                    <a:srgbClr val="FFFFFF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사회의 노력으로 눈에 띄게 줄어든 보이스피싱 피해</a:t>
              </a:r>
              <a:r>
                <a:rPr lang="en-US" altLang="ko-KR" sz="1400" dirty="0">
                  <a:solidFill>
                    <a:srgbClr val="FFFFFF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…</a:t>
              </a:r>
            </a:p>
            <a:p>
              <a:pPr marL="0" indent="0" algn="ctr">
                <a:buNone/>
              </a:pPr>
              <a:endParaRPr lang="en-US" altLang="ko-KR" sz="1400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endParaRPr>
            </a:p>
            <a:p>
              <a:pPr marL="0" indent="0" algn="ctr">
                <a:buNone/>
              </a:pPr>
              <a:r>
                <a:rPr lang="ko-KR" altLang="en-US" sz="1400" dirty="0">
                  <a:solidFill>
                    <a:srgbClr val="FFFFFF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그러나</a:t>
              </a:r>
              <a:r>
                <a:rPr lang="en-US" altLang="ko-KR" sz="1400" dirty="0">
                  <a:solidFill>
                    <a:srgbClr val="FFFFFF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, </a:t>
              </a:r>
              <a:r>
                <a:rPr lang="ko-KR" altLang="en-US" sz="1400" dirty="0">
                  <a:solidFill>
                    <a:srgbClr val="FFFFFF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여전히 발생하고 있는 비극적 사건들</a:t>
              </a:r>
              <a:endParaRPr lang="en-US" altLang="ko-KR" sz="1400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endParaRPr>
            </a:p>
            <a:p>
              <a:pPr marL="0" indent="0" algn="ctr">
                <a:buNone/>
              </a:pPr>
              <a:r>
                <a:rPr lang="en-US" altLang="ko-KR" sz="1400" dirty="0">
                  <a:solidFill>
                    <a:srgbClr val="FFFFFF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…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74392955-62C2-4F31-9B89-F8F7DA1ABA23}"/>
                </a:ext>
              </a:extLst>
            </p:cNvPr>
            <p:cNvGrpSpPr/>
            <p:nvPr/>
          </p:nvGrpSpPr>
          <p:grpSpPr>
            <a:xfrm>
              <a:off x="6410371" y="3628557"/>
              <a:ext cx="4351316" cy="963203"/>
              <a:chOff x="6522760" y="3628258"/>
              <a:chExt cx="4351316" cy="963203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4253C18-8B24-4615-9F41-F80A70148FD5}"/>
                  </a:ext>
                </a:extLst>
              </p:cNvPr>
              <p:cNvSpPr txBox="1"/>
              <p:nvPr/>
            </p:nvSpPr>
            <p:spPr>
              <a:xfrm>
                <a:off x="6522760" y="3628258"/>
                <a:ext cx="4351316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 fontAlgn="base"/>
                <a:r>
                  <a:rPr lang="en-US" altLang="ko-KR" sz="1050" b="1" i="0" dirty="0">
                    <a:solidFill>
                      <a:srgbClr val="222222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“</a:t>
                </a:r>
                <a:r>
                  <a:rPr lang="ko-KR" altLang="en-US" sz="1050" b="1" i="0" dirty="0">
                    <a:solidFill>
                      <a:srgbClr val="222222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보이스피싱 줄었다지만</a:t>
                </a:r>
                <a:r>
                  <a:rPr lang="en-US" altLang="ko-KR" sz="1050" b="1" i="0" dirty="0">
                    <a:solidFill>
                      <a:srgbClr val="222222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…5</a:t>
                </a:r>
                <a:r>
                  <a:rPr lang="ko-KR" altLang="en-US" sz="1050" b="1" i="0" dirty="0">
                    <a:solidFill>
                      <a:srgbClr val="222222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천만 원 피해에 </a:t>
                </a:r>
                <a:r>
                  <a:rPr lang="en-US" altLang="ko-KR" sz="1050" b="1" i="0" dirty="0">
                    <a:solidFill>
                      <a:srgbClr val="FF4B16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20</a:t>
                </a:r>
                <a:r>
                  <a:rPr lang="ko-KR" altLang="en-US" sz="1050" b="1" i="0" dirty="0">
                    <a:solidFill>
                      <a:srgbClr val="FF4B16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대 아들</a:t>
                </a:r>
                <a:r>
                  <a:rPr lang="en-US" altLang="ko-KR" sz="1050" b="1" i="0" dirty="0">
                    <a:solidFill>
                      <a:srgbClr val="FF4B16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, </a:t>
                </a:r>
                <a:r>
                  <a:rPr lang="ko-KR" altLang="en-US" sz="1050" b="1" i="0" dirty="0">
                    <a:solidFill>
                      <a:srgbClr val="FF4B16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엄마와 함께 숨져</a:t>
                </a:r>
                <a:r>
                  <a:rPr lang="en-US" altLang="ko-KR" sz="1050" b="1" i="0" dirty="0">
                    <a:solidFill>
                      <a:srgbClr val="222222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”</a:t>
                </a:r>
                <a:endParaRPr lang="ko-KR" altLang="en-US" sz="1050" i="0" dirty="0">
                  <a:solidFill>
                    <a:srgbClr val="222222"/>
                  </a:solidFill>
                  <a:effectLst/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1804E37-175A-49DF-A1AE-A8E99DC3BFD7}"/>
                  </a:ext>
                </a:extLst>
              </p:cNvPr>
              <p:cNvSpPr txBox="1"/>
              <p:nvPr/>
            </p:nvSpPr>
            <p:spPr>
              <a:xfrm>
                <a:off x="6659400" y="3979054"/>
                <a:ext cx="4049326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 fontAlgn="base"/>
                <a:r>
                  <a:rPr lang="en-US" altLang="ko-KR" sz="1050" b="1" i="0" dirty="0"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“</a:t>
                </a:r>
                <a:r>
                  <a:rPr lang="ko-KR" altLang="en-US" sz="1050" b="1" i="0" dirty="0"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보이스피싱 피해 비관 </a:t>
                </a:r>
                <a:r>
                  <a:rPr lang="ko-KR" altLang="en-US" sz="1050" b="1" i="0" dirty="0">
                    <a:solidFill>
                      <a:srgbClr val="FF4B16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부부 극단선택</a:t>
                </a:r>
                <a:r>
                  <a:rPr lang="en-US" altLang="ko-KR" sz="1050" b="1" i="0" dirty="0"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…</a:t>
                </a:r>
                <a:r>
                  <a:rPr lang="ko-KR" altLang="en-US" sz="1050" b="1" i="0" dirty="0"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홀로 산 남편 자살방조 처벌</a:t>
                </a:r>
                <a:r>
                  <a:rPr lang="en-US" altLang="ko-KR" sz="1050" b="1" i="0" dirty="0"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”</a:t>
                </a:r>
                <a:endParaRPr lang="ko-KR" altLang="en-US" sz="1050" i="0" dirty="0">
                  <a:effectLst/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5293354-2278-488F-89E1-11BB4375AF62}"/>
                  </a:ext>
                </a:extLst>
              </p:cNvPr>
              <p:cNvSpPr txBox="1"/>
              <p:nvPr/>
            </p:nvSpPr>
            <p:spPr>
              <a:xfrm>
                <a:off x="6713037" y="4329851"/>
                <a:ext cx="3942053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 fontAlgn="base"/>
                <a:r>
                  <a:rPr lang="en-US" altLang="ko-KR" sz="1050" b="1" i="0" dirty="0"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“</a:t>
                </a:r>
                <a:r>
                  <a:rPr lang="ko-KR" altLang="en-US" sz="1050" b="1" i="0" dirty="0"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보이스피싱에 속아 </a:t>
                </a:r>
                <a:r>
                  <a:rPr lang="en-US" altLang="ko-KR" sz="1050" b="1" i="0" dirty="0"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3</a:t>
                </a:r>
                <a:r>
                  <a:rPr lang="ko-KR" altLang="en-US" sz="1050" b="1" i="0" dirty="0"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억원 잃은 </a:t>
                </a:r>
                <a:r>
                  <a:rPr lang="ko-KR" altLang="en-US" sz="1050" b="1" i="0" dirty="0">
                    <a:solidFill>
                      <a:srgbClr val="FF4B16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피해자 생 마감</a:t>
                </a:r>
                <a:r>
                  <a:rPr lang="en-US" altLang="ko-KR" sz="1050" b="1" i="0" dirty="0"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…</a:t>
                </a:r>
                <a:r>
                  <a:rPr lang="ko-KR" altLang="en-US" sz="1050" b="1" i="0" dirty="0"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인출책 징역 </a:t>
                </a:r>
                <a:r>
                  <a:rPr lang="en-US" altLang="ko-KR" sz="1050" b="1" i="0" dirty="0"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1</a:t>
                </a:r>
                <a:r>
                  <a:rPr lang="ko-KR" altLang="en-US" sz="1050" b="1" i="0" dirty="0"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년</a:t>
                </a:r>
                <a:r>
                  <a:rPr lang="en-US" altLang="ko-KR" sz="1050" b="1" i="0" dirty="0"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”</a:t>
                </a:r>
                <a:endParaRPr lang="ko-KR" altLang="en-US" sz="1050" i="0" dirty="0">
                  <a:effectLst/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36AF8C4-6F94-45CA-B90B-9260DAC9EFF5}"/>
              </a:ext>
            </a:extLst>
          </p:cNvPr>
          <p:cNvGrpSpPr/>
          <p:nvPr/>
        </p:nvGrpSpPr>
        <p:grpSpPr>
          <a:xfrm>
            <a:off x="2133600" y="6880357"/>
            <a:ext cx="7924800" cy="3913308"/>
            <a:chOff x="2133600" y="2082336"/>
            <a:chExt cx="7924800" cy="3913308"/>
          </a:xfrm>
        </p:grpSpPr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951367D3-D22A-4A21-AE93-600ECD39C339}"/>
                </a:ext>
              </a:extLst>
            </p:cNvPr>
            <p:cNvGrpSpPr/>
            <p:nvPr/>
          </p:nvGrpSpPr>
          <p:grpSpPr>
            <a:xfrm>
              <a:off x="3905250" y="2082336"/>
              <a:ext cx="4381500" cy="2862322"/>
              <a:chOff x="3043767" y="1545238"/>
              <a:chExt cx="6104466" cy="2862322"/>
            </a:xfrm>
          </p:grpSpPr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897F9C73-3CA4-407C-B49B-19DC431C86E3}"/>
                  </a:ext>
                </a:extLst>
              </p:cNvPr>
              <p:cNvSpPr txBox="1"/>
              <p:nvPr/>
            </p:nvSpPr>
            <p:spPr>
              <a:xfrm>
                <a:off x="3043767" y="1545238"/>
                <a:ext cx="6104466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:r>
                  <a:rPr lang="ko-KR" altLang="en-US" sz="1800" b="1" dirty="0">
                    <a:solidFill>
                      <a:srgbClr val="C5D6E8"/>
                    </a:solidFill>
                    <a:latin typeface="NanumSquare Bold" pitchFamily="34" charset="0"/>
                    <a:ea typeface="NanumSquare Bold" pitchFamily="34" charset="-122"/>
                    <a:cs typeface="NanumSquare Bold" pitchFamily="34" charset="-120"/>
                  </a:rPr>
                  <a:t>그 </a:t>
                </a:r>
                <a:r>
                  <a:rPr lang="en-US" altLang="ko-KR" sz="1800" b="1" dirty="0">
                    <a:solidFill>
                      <a:srgbClr val="FF4B16"/>
                    </a:solidFill>
                    <a:latin typeface="NanumSquare Bold" pitchFamily="34" charset="0"/>
                    <a:ea typeface="NanumSquare Bold" pitchFamily="34" charset="-122"/>
                    <a:cs typeface="NanumSquare Bold" pitchFamily="34" charset="-120"/>
                  </a:rPr>
                  <a:t>[</a:t>
                </a:r>
                <a:r>
                  <a:rPr lang="ko-KR" altLang="en-US" sz="1800" b="1" dirty="0">
                    <a:solidFill>
                      <a:srgbClr val="FF4B16"/>
                    </a:solidFill>
                    <a:latin typeface="NanumSquare Bold" pitchFamily="34" charset="0"/>
                    <a:ea typeface="NanumSquare Bold" pitchFamily="34" charset="-122"/>
                    <a:cs typeface="NanumSquare Bold" pitchFamily="34" charset="-120"/>
                  </a:rPr>
                  <a:t>빈틈</a:t>
                </a:r>
                <a:r>
                  <a:rPr lang="en-US" altLang="ko-KR" sz="1800" b="1" dirty="0">
                    <a:solidFill>
                      <a:srgbClr val="FF4B16"/>
                    </a:solidFill>
                    <a:latin typeface="NanumSquare Bold" pitchFamily="34" charset="0"/>
                    <a:ea typeface="NanumSquare Bold" pitchFamily="34" charset="-122"/>
                    <a:cs typeface="NanumSquare Bold" pitchFamily="34" charset="-120"/>
                  </a:rPr>
                  <a:t>]</a:t>
                </a:r>
                <a:r>
                  <a:rPr lang="ko-KR" altLang="en-US" sz="1800" b="1" dirty="0">
                    <a:solidFill>
                      <a:srgbClr val="C5D6E8"/>
                    </a:solidFill>
                    <a:latin typeface="NanumSquare Bold" pitchFamily="34" charset="0"/>
                    <a:ea typeface="NanumSquare Bold" pitchFamily="34" charset="-122"/>
                    <a:cs typeface="NanumSquare Bold" pitchFamily="34" charset="-120"/>
                  </a:rPr>
                  <a:t>이 무엇인지 알기위해서</a:t>
                </a:r>
                <a:endParaRPr lang="en-US" altLang="ko-KR" sz="1800" b="1" dirty="0">
                  <a:solidFill>
                    <a:srgbClr val="C5D6E8"/>
                  </a:solidFill>
                  <a:latin typeface="NanumSquare Bold" pitchFamily="34" charset="0"/>
                  <a:ea typeface="NanumSquare Bold" pitchFamily="34" charset="-122"/>
                  <a:cs typeface="NanumSquare Bold" pitchFamily="34" charset="-120"/>
                </a:endParaRPr>
              </a:p>
              <a:p>
                <a:pPr algn="ctr"/>
                <a:endParaRPr lang="en-US" altLang="ko-KR" sz="1800" b="1" dirty="0">
                  <a:solidFill>
                    <a:srgbClr val="C5D6E8"/>
                  </a:solidFill>
                  <a:latin typeface="NanumSquare Bold" pitchFamily="34" charset="0"/>
                  <a:ea typeface="NanumSquare Bold" pitchFamily="34" charset="-122"/>
                  <a:cs typeface="NanumSquare Bold" pitchFamily="34" charset="-120"/>
                </a:endParaRPr>
              </a:p>
              <a:p>
                <a:pPr algn="ctr"/>
                <a:endParaRPr lang="en-US" altLang="ko-KR" sz="1800" b="1" dirty="0">
                  <a:solidFill>
                    <a:srgbClr val="C5D6E8"/>
                  </a:solidFill>
                  <a:latin typeface="NanumSquare Bold" pitchFamily="34" charset="0"/>
                  <a:ea typeface="NanumSquare Bold" pitchFamily="34" charset="-122"/>
                  <a:cs typeface="NanumSquare Bold" pitchFamily="34" charset="-120"/>
                </a:endParaRPr>
              </a:p>
              <a:p>
                <a:pPr algn="ctr"/>
                <a:endParaRPr lang="en-US" altLang="ko-KR" b="1" dirty="0">
                  <a:solidFill>
                    <a:srgbClr val="C5D6E8"/>
                  </a:solidFill>
                  <a:latin typeface="NanumSquare Bold" pitchFamily="34" charset="0"/>
                  <a:ea typeface="NanumSquare Bold" pitchFamily="34" charset="-122"/>
                  <a:cs typeface="NanumSquare Bold" pitchFamily="34" charset="-120"/>
                </a:endParaRPr>
              </a:p>
              <a:p>
                <a:pPr algn="ctr"/>
                <a:endParaRPr lang="en-US" altLang="ko-KR" sz="1800" b="1" dirty="0">
                  <a:solidFill>
                    <a:srgbClr val="C5D6E8"/>
                  </a:solidFill>
                  <a:latin typeface="NanumSquare Bold" pitchFamily="34" charset="0"/>
                  <a:ea typeface="NanumSquare Bold" pitchFamily="34" charset="-122"/>
                  <a:cs typeface="NanumSquare Bold" pitchFamily="34" charset="-120"/>
                </a:endParaRPr>
              </a:p>
              <a:p>
                <a:pPr algn="ctr"/>
                <a:endParaRPr lang="en-US" altLang="ko-KR" b="1" dirty="0">
                  <a:solidFill>
                    <a:srgbClr val="C5D6E8"/>
                  </a:solidFill>
                  <a:latin typeface="NanumSquare Bold" pitchFamily="34" charset="0"/>
                  <a:ea typeface="NanumSquare Bold" pitchFamily="34" charset="-122"/>
                  <a:cs typeface="NanumSquare Bold" pitchFamily="34" charset="-120"/>
                </a:endParaRPr>
              </a:p>
              <a:p>
                <a:pPr algn="ctr"/>
                <a:endParaRPr lang="en-US" altLang="ko-KR" sz="1800" b="1" dirty="0">
                  <a:solidFill>
                    <a:srgbClr val="C5D6E8"/>
                  </a:solidFill>
                  <a:latin typeface="NanumSquare Bold" pitchFamily="34" charset="0"/>
                  <a:ea typeface="NanumSquare Bold" pitchFamily="34" charset="-122"/>
                  <a:cs typeface="NanumSquare Bold" pitchFamily="34" charset="-120"/>
                </a:endParaRPr>
              </a:p>
              <a:p>
                <a:pPr algn="ctr"/>
                <a:endParaRPr lang="en-US" altLang="ko-KR" b="1" dirty="0">
                  <a:solidFill>
                    <a:srgbClr val="C5D6E8"/>
                  </a:solidFill>
                  <a:latin typeface="NanumSquare Bold" pitchFamily="34" charset="0"/>
                  <a:ea typeface="NanumSquare Bold" pitchFamily="34" charset="-122"/>
                  <a:cs typeface="NanumSquare Bold" pitchFamily="34" charset="-120"/>
                </a:endParaRPr>
              </a:p>
              <a:p>
                <a:pPr algn="ctr"/>
                <a:endParaRPr lang="en-US" altLang="ko-KR" sz="1800" b="1" dirty="0">
                  <a:solidFill>
                    <a:srgbClr val="C5D6E8"/>
                  </a:solidFill>
                  <a:latin typeface="NanumSquare Bold" pitchFamily="34" charset="0"/>
                  <a:ea typeface="NanumSquare Bold" pitchFamily="34" charset="-122"/>
                  <a:cs typeface="NanumSquare Bold" pitchFamily="34" charset="-120"/>
                </a:endParaRPr>
              </a:p>
              <a:p>
                <a:pPr algn="ctr"/>
                <a:r>
                  <a:rPr lang="en-US" altLang="ko-KR" sz="1800" b="1" dirty="0">
                    <a:solidFill>
                      <a:srgbClr val="C5D6E8"/>
                    </a:solidFill>
                    <a:latin typeface="NanumSquare Bold" pitchFamily="34" charset="0"/>
                    <a:ea typeface="NanumSquare Bold" pitchFamily="34" charset="-122"/>
                    <a:cs typeface="NanumSquare Bold" pitchFamily="34" charset="-120"/>
                  </a:rPr>
                  <a:t>3</a:t>
                </a:r>
                <a:r>
                  <a:rPr lang="ko-KR" altLang="en-US" sz="1800" b="1" dirty="0">
                    <a:solidFill>
                      <a:srgbClr val="C5D6E8"/>
                    </a:solidFill>
                    <a:latin typeface="NanumSquare Bold" pitchFamily="34" charset="0"/>
                    <a:ea typeface="NanumSquare Bold" pitchFamily="34" charset="-122"/>
                    <a:cs typeface="NanumSquare Bold" pitchFamily="34" charset="-120"/>
                  </a:rPr>
                  <a:t>가지 관점으로 고민해보았고</a:t>
                </a:r>
                <a:endParaRPr lang="en-US" altLang="ko-KR" sz="1800" b="1" dirty="0">
                  <a:solidFill>
                    <a:srgbClr val="C5D6E8"/>
                  </a:solidFill>
                  <a:latin typeface="NanumSquare Bold" pitchFamily="34" charset="0"/>
                  <a:ea typeface="NanumSquare Bold" pitchFamily="34" charset="-122"/>
                  <a:cs typeface="NanumSquare Bold" pitchFamily="34" charset="-120"/>
                </a:endParaRP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4F90E665-BC0A-479D-9F74-415BFC200293}"/>
                  </a:ext>
                </a:extLst>
              </p:cNvPr>
              <p:cNvSpPr/>
              <p:nvPr/>
            </p:nvSpPr>
            <p:spPr>
              <a:xfrm>
                <a:off x="3256099" y="2099219"/>
                <a:ext cx="5679805" cy="176123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E2746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  <a:r>
                  <a:rPr lang="ko-KR" altLang="en-US" sz="1800" b="1" dirty="0">
                    <a:solidFill>
                      <a:srgbClr val="002060"/>
                    </a:solidFill>
                    <a:latin typeface="NanumSquare Bold" pitchFamily="34" charset="0"/>
                    <a:ea typeface="NanumSquare Bold" pitchFamily="34" charset="-122"/>
                    <a:cs typeface="NanumSquare Bold" pitchFamily="34" charset="-120"/>
                  </a:rPr>
                  <a:t>보이스피싱 범죄 수법</a:t>
                </a:r>
                <a:endParaRPr lang="en-US" altLang="ko-KR" sz="1800" b="1" dirty="0">
                  <a:solidFill>
                    <a:srgbClr val="002060"/>
                  </a:solidFill>
                  <a:latin typeface="NanumSquare Bold" pitchFamily="34" charset="0"/>
                  <a:ea typeface="NanumSquare Bold" pitchFamily="34" charset="-122"/>
                  <a:cs typeface="NanumSquare Bold" pitchFamily="34" charset="-120"/>
                </a:endParaRPr>
              </a:p>
              <a:p>
                <a:pPr algn="ctr"/>
                <a:r>
                  <a:rPr lang="en-US" altLang="ko-KR" b="1" dirty="0">
                    <a:solidFill>
                      <a:srgbClr val="002060"/>
                    </a:solidFill>
                    <a:latin typeface="NanumSquare Bold" pitchFamily="34" charset="0"/>
                    <a:ea typeface="NanumSquare Bold" pitchFamily="34" charset="-122"/>
                    <a:cs typeface="NanumSquare Bold" pitchFamily="34" charset="-120"/>
                  </a:rPr>
                  <a:t>||</a:t>
                </a:r>
                <a:br>
                  <a:rPr lang="en-US" altLang="ko-KR" b="1" dirty="0">
                    <a:solidFill>
                      <a:srgbClr val="002060"/>
                    </a:solidFill>
                    <a:latin typeface="NanumSquare Bold" pitchFamily="34" charset="0"/>
                    <a:ea typeface="NanumSquare Bold" pitchFamily="34" charset="-122"/>
                    <a:cs typeface="NanumSquare Bold" pitchFamily="34" charset="-120"/>
                  </a:rPr>
                </a:br>
                <a:r>
                  <a:rPr lang="ko-KR" altLang="en-US" b="1" dirty="0">
                    <a:solidFill>
                      <a:srgbClr val="002060"/>
                    </a:solidFill>
                    <a:latin typeface="NanumSquare Bold" pitchFamily="34" charset="0"/>
                    <a:ea typeface="NanumSquare Bold" pitchFamily="34" charset="-122"/>
                    <a:cs typeface="NanumSquare Bold" pitchFamily="34" charset="-120"/>
                  </a:rPr>
                  <a:t>금융사용자가 처한 상황</a:t>
                </a:r>
                <a:endParaRPr lang="en-US" altLang="ko-KR" b="1" dirty="0">
                  <a:solidFill>
                    <a:srgbClr val="002060"/>
                  </a:solidFill>
                  <a:latin typeface="NanumSquare Bold" pitchFamily="34" charset="0"/>
                  <a:ea typeface="NanumSquare Bold" pitchFamily="34" charset="-122"/>
                  <a:cs typeface="NanumSquare Bold" pitchFamily="34" charset="-120"/>
                </a:endParaRPr>
              </a:p>
              <a:p>
                <a:pPr algn="ctr"/>
                <a:r>
                  <a:rPr lang="en-US" altLang="ko-KR" b="1" dirty="0">
                    <a:solidFill>
                      <a:srgbClr val="002060"/>
                    </a:solidFill>
                    <a:latin typeface="NanumSquare Bold" pitchFamily="34" charset="0"/>
                    <a:ea typeface="NanumSquare Bold" pitchFamily="34" charset="-122"/>
                    <a:cs typeface="NanumSquare Bold" pitchFamily="34" charset="-120"/>
                  </a:rPr>
                  <a:t>|</a:t>
                </a:r>
                <a:r>
                  <a:rPr lang="en-US" altLang="ko-KR" sz="1800" b="1" dirty="0">
                    <a:solidFill>
                      <a:srgbClr val="002060"/>
                    </a:solidFill>
                    <a:latin typeface="NanumSquare Bold" pitchFamily="34" charset="0"/>
                    <a:ea typeface="NanumSquare Bold" pitchFamily="34" charset="-122"/>
                    <a:cs typeface="NanumSquare Bold" pitchFamily="34" charset="-120"/>
                  </a:rPr>
                  <a:t>|</a:t>
                </a:r>
                <a:br>
                  <a:rPr lang="en-US" altLang="ko-KR" sz="1800" b="1" dirty="0">
                    <a:solidFill>
                      <a:srgbClr val="002060"/>
                    </a:solidFill>
                    <a:latin typeface="NanumSquare Bold" pitchFamily="34" charset="0"/>
                    <a:ea typeface="NanumSquare Bold" pitchFamily="34" charset="-122"/>
                    <a:cs typeface="NanumSquare Bold" pitchFamily="34" charset="-120"/>
                  </a:rPr>
                </a:br>
                <a:r>
                  <a:rPr lang="ko-KR" altLang="en-US" sz="1800" b="1" dirty="0">
                    <a:solidFill>
                      <a:srgbClr val="002060"/>
                    </a:solidFill>
                    <a:latin typeface="NanumSquare Bold" pitchFamily="34" charset="0"/>
                    <a:ea typeface="NanumSquare Bold" pitchFamily="34" charset="-122"/>
                    <a:cs typeface="NanumSquare Bold" pitchFamily="34" charset="-120"/>
                  </a:rPr>
                  <a:t>기존 서비스들의 구조</a:t>
                </a:r>
                <a:endParaRPr lang="en-US" altLang="ko-KR" sz="1800" b="1" dirty="0">
                  <a:solidFill>
                    <a:srgbClr val="002060"/>
                  </a:solidFill>
                  <a:latin typeface="NanumSquare Bold" pitchFamily="34" charset="0"/>
                  <a:ea typeface="NanumSquare Bold" pitchFamily="34" charset="-122"/>
                  <a:cs typeface="NanumSquare Bold" pitchFamily="34" charset="-120"/>
                </a:endParaRPr>
              </a:p>
            </p:txBody>
          </p:sp>
        </p:grpSp>
        <p:sp>
          <p:nvSpPr>
            <p:cNvPr id="92" name="Text 6">
              <a:extLst>
                <a:ext uri="{FF2B5EF4-FFF2-40B4-BE49-F238E27FC236}">
                  <a16:creationId xmlns:a16="http://schemas.microsoft.com/office/drawing/2014/main" id="{C34DFFF6-76BF-45AE-BABA-11BFB608BA20}"/>
                </a:ext>
              </a:extLst>
            </p:cNvPr>
            <p:cNvSpPr txBox="1"/>
            <p:nvPr/>
          </p:nvSpPr>
          <p:spPr>
            <a:xfrm>
              <a:off x="2133600" y="5120555"/>
              <a:ext cx="7924800" cy="8750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24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그 결과 놓치고 있던 </a:t>
              </a:r>
              <a:r>
                <a:rPr lang="en-US" altLang="ko-KR" sz="24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[</a:t>
              </a:r>
              <a:r>
                <a:rPr lang="ko-KR" altLang="en-US" sz="2400" dirty="0">
                  <a:solidFill>
                    <a:srgbClr val="0B1F3A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판단력의 빈틈</a:t>
              </a:r>
              <a:r>
                <a:rPr lang="en-US" altLang="ko-KR" sz="24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]</a:t>
              </a:r>
              <a:r>
                <a:rPr lang="ko-KR" altLang="en-US" sz="24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을 찾을 수 있었습니다</a:t>
              </a:r>
              <a:endPara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endParaRPr>
            </a:p>
          </p:txBody>
        </p:sp>
      </p:grpSp>
      <p:sp>
        <p:nvSpPr>
          <p:cNvPr id="95" name="Shape 8">
            <a:extLst>
              <a:ext uri="{FF2B5EF4-FFF2-40B4-BE49-F238E27FC236}">
                <a16:creationId xmlns:a16="http://schemas.microsoft.com/office/drawing/2014/main" id="{68C2BA43-A16F-4F66-A537-7730674DF8FA}"/>
              </a:ext>
            </a:extLst>
          </p:cNvPr>
          <p:cNvSpPr/>
          <p:nvPr/>
        </p:nvSpPr>
        <p:spPr>
          <a:xfrm>
            <a:off x="6363779" y="5181603"/>
            <a:ext cx="4448726" cy="488848"/>
          </a:xfrm>
          <a:prstGeom prst="roundRect">
            <a:avLst>
              <a:gd name="adj" fmla="val 22222"/>
            </a:avLst>
          </a:prstGeom>
          <a:solidFill>
            <a:srgbClr val="123153"/>
          </a:solidFill>
          <a:ln w="10160">
            <a:solidFill>
              <a:srgbClr val="274F78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400" b="1" dirty="0">
                <a:solidFill>
                  <a:srgbClr val="C5D6E8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우리가</a:t>
            </a:r>
            <a:r>
              <a:rPr lang="en-US" altLang="ko-KR" sz="1400" b="1" dirty="0">
                <a:solidFill>
                  <a:srgbClr val="C5D6E8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 </a:t>
            </a:r>
            <a:r>
              <a:rPr lang="ko-KR" altLang="en-US" sz="1400" b="1" dirty="0">
                <a:solidFill>
                  <a:srgbClr val="C5D6E8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놓치고 있는 </a:t>
            </a:r>
            <a:r>
              <a:rPr lang="en-US" altLang="ko-KR" sz="1400" b="1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[</a:t>
            </a:r>
            <a:r>
              <a:rPr lang="ko-KR" altLang="en-US" sz="1400" b="1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빈틈</a:t>
            </a:r>
            <a:r>
              <a:rPr lang="en-US" altLang="ko-KR" sz="1400" b="1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]</a:t>
            </a:r>
            <a:r>
              <a:rPr lang="ko-KR" altLang="en-US" sz="1400" b="1" dirty="0">
                <a:solidFill>
                  <a:srgbClr val="C5D6E8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이 있는게 아닐까</a:t>
            </a:r>
            <a:r>
              <a:rPr lang="en-US" altLang="ko-KR" sz="1400" b="1" dirty="0">
                <a:solidFill>
                  <a:srgbClr val="C5D6E8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?</a:t>
            </a:r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821E1794-6BFA-400B-A00B-DC2A21C61F47}"/>
              </a:ext>
            </a:extLst>
          </p:cNvPr>
          <p:cNvSpPr txBox="1"/>
          <p:nvPr/>
        </p:nvSpPr>
        <p:spPr>
          <a:xfrm>
            <a:off x="547516" y="6501384"/>
            <a:ext cx="63409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*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공공데이터포털 경찰청 보이스피싱 현황 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2025.12.30 / 7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월 보이스피싱 피해액 올해 최저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신종 스캠도 감소세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통합대응단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70137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AD65BB-8A0D-46D8-B1B7-715D79AC61DE}"/>
              </a:ext>
            </a:extLst>
          </p:cNvPr>
          <p:cNvSpPr txBox="1"/>
          <p:nvPr/>
        </p:nvSpPr>
        <p:spPr>
          <a:xfrm>
            <a:off x="368017" y="548759"/>
            <a:ext cx="67609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0B1F3A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그</a:t>
            </a:r>
            <a:r>
              <a:rPr lang="ko-KR" altLang="en-US" sz="1100" b="1" dirty="0">
                <a:solidFill>
                  <a:srgbClr val="C5D6E8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 </a:t>
            </a:r>
            <a:r>
              <a:rPr lang="en-US" altLang="ko-KR" sz="1100" b="1" dirty="0">
                <a:solidFill>
                  <a:srgbClr val="FF4B16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[</a:t>
            </a:r>
            <a:r>
              <a:rPr lang="ko-KR" altLang="en-US" sz="1100" b="1" dirty="0">
                <a:solidFill>
                  <a:srgbClr val="FF4B16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빈틈</a:t>
            </a:r>
            <a:r>
              <a:rPr lang="en-US" altLang="ko-KR" sz="1100" b="1" dirty="0">
                <a:solidFill>
                  <a:srgbClr val="FF4B16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]</a:t>
            </a:r>
            <a:r>
              <a:rPr lang="ko-KR" altLang="en-US" sz="1100" b="1" dirty="0">
                <a:solidFill>
                  <a:srgbClr val="0B1F3A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이 무엇인지 찾기위해 살펴본 </a:t>
            </a:r>
            <a:r>
              <a:rPr lang="ko-KR" altLang="en-US" sz="1100" b="1" dirty="0">
                <a:solidFill>
                  <a:srgbClr val="FF4B16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보이스피싱 피해자 취약성</a:t>
            </a:r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/</a:t>
            </a:r>
            <a:r>
              <a:rPr lang="ko-KR" altLang="en-US" sz="1100" b="1" dirty="0">
                <a:solidFill>
                  <a:schemeClr val="bg1">
                    <a:lumMod val="65000"/>
                  </a:schemeClr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보이스피싱 범죄 수법</a:t>
            </a:r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/</a:t>
            </a:r>
            <a:r>
              <a:rPr lang="ko-KR" altLang="en-US" sz="1100" b="1" dirty="0">
                <a:solidFill>
                  <a:schemeClr val="bg1">
                    <a:lumMod val="65000"/>
                  </a:schemeClr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기존 서비스의 구조</a:t>
            </a:r>
            <a:endParaRPr lang="ko-KR" altLang="en-US" sz="1100" b="1" dirty="0">
              <a:solidFill>
                <a:srgbClr val="0B1F3A"/>
              </a:solidFill>
              <a:latin typeface="NanumSquare Bold" pitchFamily="34" charset="0"/>
              <a:ea typeface="NanumSquare Bold" pitchFamily="34" charset="-122"/>
              <a:cs typeface="NanumSquare Bold" pitchFamily="34" charset="-120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1648FDD6-F913-47C1-BCA5-EFF28971D737}"/>
              </a:ext>
            </a:extLst>
          </p:cNvPr>
          <p:cNvSpPr txBox="1"/>
          <p:nvPr/>
        </p:nvSpPr>
        <p:spPr>
          <a:xfrm>
            <a:off x="-64242" y="162899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50" b="1" dirty="0">
                <a:solidFill>
                  <a:srgbClr val="0B1F3A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문제도출</a:t>
            </a:r>
            <a:endParaRPr lang="en-US" sz="1050" dirty="0">
              <a:solidFill>
                <a:srgbClr val="0B1F3A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98F033F5-72F0-48F5-B4CD-FEEC97CE269F}"/>
              </a:ext>
            </a:extLst>
          </p:cNvPr>
          <p:cNvSpPr txBox="1"/>
          <p:nvPr/>
        </p:nvSpPr>
        <p:spPr>
          <a:xfrm>
            <a:off x="442381" y="810369"/>
            <a:ext cx="10698480" cy="92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경험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·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경제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·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디지털 환경의 차이가 서로 다른 취약점을 만들지만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,</a:t>
            </a:r>
          </a:p>
          <a:p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모든 취약점은 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‘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오판의 위험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’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과 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‘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송금 피해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’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로 이어질 수 있다</a:t>
            </a:r>
            <a:endParaRPr lang="en-US" altLang="ko-KR" sz="2200" b="1" dirty="0">
              <a:solidFill>
                <a:srgbClr val="10213D"/>
              </a:solidFill>
              <a:latin typeface="페이퍼로지 7 Bold" pitchFamily="2" charset="-127"/>
              <a:ea typeface="페이퍼로지 7 Bold" pitchFamily="2" charset="-127"/>
              <a:cs typeface="NanumSquare Bol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33712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256032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80" b="1">
                <a:solidFill>
                  <a:srgbClr val="2F75CC"/>
                </a:solidFill>
                <a:latin typeface="Pretendard"/>
              </a:rPr>
              <a:t>보이스피싱 피해자 취약성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069848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350" b="1" dirty="0" err="1">
                <a:solidFill>
                  <a:srgbClr val="102A49"/>
                </a:solidFill>
                <a:latin typeface="Pretendard"/>
              </a:rPr>
              <a:t>사람마다</a:t>
            </a:r>
            <a:r>
              <a:rPr sz="2350" b="1" dirty="0">
                <a:solidFill>
                  <a:srgbClr val="102A49"/>
                </a:solidFill>
                <a:latin typeface="Pretendard"/>
              </a:rPr>
              <a:t> </a:t>
            </a:r>
            <a:r>
              <a:rPr sz="2350" b="1" dirty="0" err="1">
                <a:solidFill>
                  <a:srgbClr val="102A49"/>
                </a:solidFill>
                <a:latin typeface="Pretendard"/>
              </a:rPr>
              <a:t>취약한</a:t>
            </a:r>
            <a:r>
              <a:rPr sz="2350" b="1" dirty="0">
                <a:solidFill>
                  <a:srgbClr val="102A49"/>
                </a:solidFill>
                <a:latin typeface="Pretendard"/>
              </a:rPr>
              <a:t> </a:t>
            </a:r>
            <a:r>
              <a:rPr sz="2350" b="1" dirty="0" err="1">
                <a:solidFill>
                  <a:srgbClr val="102A49"/>
                </a:solidFill>
                <a:latin typeface="Pretendard"/>
              </a:rPr>
              <a:t>지점은</a:t>
            </a:r>
            <a:r>
              <a:rPr sz="2350" b="1" dirty="0">
                <a:solidFill>
                  <a:srgbClr val="102A49"/>
                </a:solidFill>
                <a:latin typeface="Pretendard"/>
              </a:rPr>
              <a:t> </a:t>
            </a:r>
            <a:r>
              <a:rPr sz="2350" b="1" dirty="0" err="1">
                <a:solidFill>
                  <a:srgbClr val="102A49"/>
                </a:solidFill>
                <a:latin typeface="Pretendard"/>
              </a:rPr>
              <a:t>다르지만</a:t>
            </a:r>
            <a:r>
              <a:rPr sz="2350" b="1" dirty="0">
                <a:solidFill>
                  <a:srgbClr val="102A49"/>
                </a:solidFill>
                <a:latin typeface="Pretendard"/>
              </a:rPr>
              <a:t>, </a:t>
            </a:r>
            <a:r>
              <a:rPr sz="2350" b="1" dirty="0" err="1">
                <a:solidFill>
                  <a:srgbClr val="102A49"/>
                </a:solidFill>
                <a:latin typeface="Pretendard"/>
              </a:rPr>
              <a:t>결국</a:t>
            </a:r>
            <a:r>
              <a:rPr sz="2350" b="1" dirty="0">
                <a:solidFill>
                  <a:srgbClr val="102A49"/>
                </a:solidFill>
                <a:latin typeface="Pretendard"/>
              </a:rPr>
              <a:t> ‘</a:t>
            </a:r>
            <a:r>
              <a:rPr sz="2350" b="1" dirty="0" err="1">
                <a:solidFill>
                  <a:srgbClr val="102A49"/>
                </a:solidFill>
                <a:latin typeface="Pretendard"/>
              </a:rPr>
              <a:t>오판의</a:t>
            </a:r>
            <a:r>
              <a:rPr sz="2350" b="1" dirty="0">
                <a:solidFill>
                  <a:srgbClr val="102A49"/>
                </a:solidFill>
                <a:latin typeface="Pretendard"/>
              </a:rPr>
              <a:t> </a:t>
            </a:r>
            <a:r>
              <a:rPr sz="2350" b="1" dirty="0" err="1">
                <a:solidFill>
                  <a:srgbClr val="102A49"/>
                </a:solidFill>
                <a:latin typeface="Pretendard"/>
              </a:rPr>
              <a:t>위험’으로</a:t>
            </a:r>
            <a:r>
              <a:rPr sz="2350" b="1" dirty="0">
                <a:solidFill>
                  <a:srgbClr val="102A49"/>
                </a:solidFill>
                <a:latin typeface="Pretendard"/>
              </a:rPr>
              <a:t> </a:t>
            </a:r>
            <a:r>
              <a:rPr sz="2350" b="1" dirty="0" err="1">
                <a:solidFill>
                  <a:srgbClr val="102A49"/>
                </a:solidFill>
                <a:latin typeface="Pretendard"/>
              </a:rPr>
              <a:t>모인다</a:t>
            </a:r>
            <a:endParaRPr sz="2350" b="1" dirty="0">
              <a:solidFill>
                <a:srgbClr val="102A49"/>
              </a:solidFill>
              <a:latin typeface="Pretendar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078992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40" b="0">
                <a:solidFill>
                  <a:srgbClr val="667384"/>
                </a:solidFill>
                <a:latin typeface="Pretendard"/>
              </a:rPr>
              <a:t>연령 자체가 원인이라기보다 경험·금융역량·디지털 검증능력·정서상태·과신 등 서로 다른 취약요인이 특정 상황에서 판단을 흔들 수 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27632"/>
            <a:ext cx="3346704" cy="3319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8096" y="1828800"/>
            <a:ext cx="214884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70" b="1">
                <a:solidFill>
                  <a:srgbClr val="102A49"/>
                </a:solidFill>
                <a:latin typeface="Pretendard"/>
              </a:rPr>
              <a:t>2030 · 사회초년생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2148840"/>
            <a:ext cx="1143000" cy="292608"/>
          </a:xfrm>
          <a:prstGeom prst="roundRect">
            <a:avLst>
              <a:gd name="adj" fmla="val 8000"/>
            </a:avLst>
          </a:prstGeom>
          <a:solidFill>
            <a:srgbClr val="FDF6E4"/>
          </a:solidFill>
          <a:ln>
            <a:solidFill>
              <a:srgbClr val="FD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2167128"/>
            <a:ext cx="114300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40" b="1">
                <a:solidFill>
                  <a:srgbClr val="B47718"/>
                </a:solidFill>
                <a:latin typeface="Pretendard"/>
              </a:rPr>
              <a:t>판단 기준의 공백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560320"/>
            <a:ext cx="2907792" cy="5120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F2C3C"/>
                </a:solidFill>
                <a:latin typeface="Pretendard"/>
              </a:rPr>
              <a:t>낯선 금융·수사·행정 상황에서
‘정상 절차’의 기준점이 충분하지 않을 수 있음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8096" y="3172968"/>
            <a:ext cx="2935224" cy="0"/>
          </a:xfrm>
          <a:prstGeom prst="line">
            <a:avLst/>
          </a:prstGeom>
          <a:ln w="127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68096" y="3300984"/>
            <a:ext cx="11887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1">
                <a:solidFill>
                  <a:srgbClr val="2F75CC"/>
                </a:solidFill>
                <a:latin typeface="Pretendard"/>
              </a:rPr>
              <a:t>보조 근거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566160"/>
            <a:ext cx="2880360" cy="6126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1F2C3C"/>
                </a:solidFill>
                <a:latin typeface="Pretendard"/>
              </a:rPr>
              <a:t>2024 금융이해력 조사에서
20대 금융이해력은 전체 평균보다 낮은 수준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4224528"/>
            <a:ext cx="288036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0" b="0">
                <a:solidFill>
                  <a:srgbClr val="667384"/>
                </a:solidFill>
                <a:latin typeface="Pretendard"/>
              </a:rPr>
              <a:t>※ ‘수사 경험 부족 → 보이스피싱 오판’을
직접 입증한 국내 실증연구는 아직 제한적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4572000"/>
            <a:ext cx="1024128" cy="292608"/>
          </a:xfrm>
          <a:prstGeom prst="roundRect">
            <a:avLst>
              <a:gd name="adj" fmla="val 8000"/>
            </a:avLst>
          </a:prstGeom>
          <a:solidFill>
            <a:srgbClr val="FDF6E4"/>
          </a:solidFill>
          <a:ln>
            <a:solidFill>
              <a:srgbClr val="FD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51760" y="4590288"/>
            <a:ext cx="1024128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40" b="1">
                <a:solidFill>
                  <a:srgbClr val="B47718"/>
                </a:solidFill>
                <a:latin typeface="Pretendard"/>
              </a:rPr>
              <a:t>근거 수준  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23944" y="1627632"/>
            <a:ext cx="3346704" cy="3319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25112" y="1828800"/>
            <a:ext cx="214884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70" b="1">
                <a:solidFill>
                  <a:srgbClr val="102A49"/>
                </a:solidFill>
                <a:latin typeface="Pretendard"/>
              </a:rPr>
              <a:t>청·중년층 포함 전 연령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2148840"/>
            <a:ext cx="1143000" cy="292608"/>
          </a:xfrm>
          <a:prstGeom prst="roundRect">
            <a:avLst>
              <a:gd name="adj" fmla="val 8000"/>
            </a:avLst>
          </a:prstGeom>
          <a:solidFill>
            <a:srgbClr val="E1EFFF"/>
          </a:solidFill>
          <a:ln>
            <a:solidFill>
              <a:srgbClr val="E1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25112" y="2167128"/>
            <a:ext cx="114300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40" b="1">
                <a:solidFill>
                  <a:srgbClr val="2F75CC"/>
                </a:solidFill>
                <a:latin typeface="Pretendard"/>
              </a:rPr>
              <a:t>과신의 공백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2560320"/>
            <a:ext cx="2907792" cy="5120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F2C3C"/>
                </a:solidFill>
                <a:latin typeface="Pretendard"/>
              </a:rPr>
              <a:t>금융지식이 있어도 자신의 판단을 과신하면
사기 예방·재확인 행동을 생략할 수 있음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25112" y="3172968"/>
            <a:ext cx="2935224" cy="0"/>
          </a:xfrm>
          <a:prstGeom prst="line">
            <a:avLst/>
          </a:prstGeom>
          <a:ln w="127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25112" y="3300984"/>
            <a:ext cx="11887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1">
                <a:solidFill>
                  <a:srgbClr val="2F75CC"/>
                </a:solidFill>
                <a:latin typeface="Pretendard"/>
              </a:rPr>
              <a:t>직접 실증 근거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3566160"/>
            <a:ext cx="2880360" cy="6126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1F2C3C"/>
                </a:solidFill>
                <a:latin typeface="Pretendard"/>
              </a:rPr>
              <a:t>성인 2,000명 분석:
자기 금융지식을 매우 높게 평가한 집단은
그렇지 않은 집단보다 금융사기 피해확률이 높음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5112" y="4224528"/>
            <a:ext cx="288036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0" b="0">
                <a:solidFill>
                  <a:srgbClr val="667384"/>
                </a:solidFill>
                <a:latin typeface="Pretendard"/>
              </a:rPr>
              <a:t>금융사기 취약성은 ‘무지’만의 문제가 아니라
정서적 고통·금융역량 부족·불안정 소득 등과도 관련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8775" y="4572000"/>
            <a:ext cx="1024128" cy="292608"/>
          </a:xfrm>
          <a:prstGeom prst="roundRect">
            <a:avLst>
              <a:gd name="adj" fmla="val 8000"/>
            </a:avLst>
          </a:prstGeom>
          <a:solidFill>
            <a:srgbClr val="E7F7F1"/>
          </a:solidFill>
          <a:ln>
            <a:solidFill>
              <a:srgbClr val="E7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08775" y="4590288"/>
            <a:ext cx="1024128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40" b="1">
                <a:solidFill>
                  <a:srgbClr val="2C7F67"/>
                </a:solidFill>
                <a:latin typeface="Pretendard"/>
              </a:rPr>
              <a:t>근거 수준  ◎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0" y="1627632"/>
            <a:ext cx="3346704" cy="3319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82128" y="1828800"/>
            <a:ext cx="214884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70" b="1">
                <a:solidFill>
                  <a:srgbClr val="102A49"/>
                </a:solidFill>
                <a:latin typeface="Pretendard"/>
              </a:rPr>
              <a:t>고령층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82128" y="2148840"/>
            <a:ext cx="1143000" cy="292608"/>
          </a:xfrm>
          <a:prstGeom prst="roundRect">
            <a:avLst>
              <a:gd name="adj" fmla="val 8000"/>
            </a:avLst>
          </a:prstGeom>
          <a:solidFill>
            <a:srgbClr val="E1EFFF"/>
          </a:solidFill>
          <a:ln>
            <a:solidFill>
              <a:srgbClr val="E1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82128" y="2167128"/>
            <a:ext cx="114300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40" b="1">
                <a:solidFill>
                  <a:srgbClr val="2F75CC"/>
                </a:solidFill>
                <a:latin typeface="Pretendard"/>
              </a:rPr>
              <a:t>정보 검증의 공백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2128" y="2560320"/>
            <a:ext cx="2907792" cy="5120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F2C3C"/>
                </a:solidFill>
                <a:latin typeface="Pretendard"/>
              </a:rPr>
              <a:t>디지털 정보를 즉시 탐색·비교·확인하는 역량이
연령 증가와 함께 낮아질 수 있음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82128" y="3172968"/>
            <a:ext cx="2935224" cy="0"/>
          </a:xfrm>
          <a:prstGeom prst="line">
            <a:avLst/>
          </a:prstGeom>
          <a:ln w="127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882128" y="3300984"/>
            <a:ext cx="11887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1">
                <a:solidFill>
                  <a:srgbClr val="2F75CC"/>
                </a:solidFill>
                <a:latin typeface="Pretendard"/>
              </a:rPr>
              <a:t>직접·보조 근거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82128" y="3566160"/>
            <a:ext cx="2880360" cy="6126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1F2C3C"/>
                </a:solidFill>
                <a:latin typeface="Pretendard"/>
              </a:rPr>
              <a:t>2025 고령층 디지털역량 연구:
기술·인지·사회 역량 모두 연령별 유의한 차이,
75세 이후 세 영역 모두 뚜렷한 감소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2128" y="4224528"/>
            <a:ext cx="288036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0" b="0">
                <a:solidFill>
                  <a:srgbClr val="667384"/>
                </a:solidFill>
                <a:latin typeface="Pretendard"/>
              </a:rPr>
              <a:t>2024 금융사기 취약성 연구에서도
고령자는 금융사기 시도 노출 위험요인으로 확인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65792" y="4572000"/>
            <a:ext cx="1024128" cy="292608"/>
          </a:xfrm>
          <a:prstGeom prst="roundRect">
            <a:avLst>
              <a:gd name="adj" fmla="val 8000"/>
            </a:avLst>
          </a:prstGeom>
          <a:solidFill>
            <a:srgbClr val="E7F7F1"/>
          </a:solidFill>
          <a:ln>
            <a:solidFill>
              <a:srgbClr val="E7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765792" y="4590288"/>
            <a:ext cx="1024128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40" b="1">
                <a:solidFill>
                  <a:srgbClr val="2C7F67"/>
                </a:solidFill>
                <a:latin typeface="Pretendard"/>
              </a:rPr>
              <a:t>근거 수준  ◎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240280" y="4956048"/>
            <a:ext cx="0" cy="228600"/>
          </a:xfrm>
          <a:prstGeom prst="line">
            <a:avLst/>
          </a:prstGeom>
          <a:ln w="17780">
            <a:solidFill>
              <a:srgbClr val="2F7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797296" y="4956048"/>
            <a:ext cx="0" cy="228600"/>
          </a:xfrm>
          <a:prstGeom prst="line">
            <a:avLst/>
          </a:prstGeom>
          <a:ln w="17780">
            <a:solidFill>
              <a:srgbClr val="2F7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354312" y="4956048"/>
            <a:ext cx="0" cy="228600"/>
          </a:xfrm>
          <a:prstGeom prst="line">
            <a:avLst/>
          </a:prstGeom>
          <a:ln w="17780">
            <a:solidFill>
              <a:srgbClr val="2F7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240280" y="5184648"/>
            <a:ext cx="7114032" cy="0"/>
          </a:xfrm>
          <a:prstGeom prst="line">
            <a:avLst/>
          </a:prstGeom>
          <a:ln w="17780">
            <a:solidFill>
              <a:srgbClr val="2F7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797296" y="5184648"/>
            <a:ext cx="0" cy="192024"/>
          </a:xfrm>
          <a:prstGeom prst="line">
            <a:avLst/>
          </a:prstGeom>
          <a:ln w="25400">
            <a:solidFill>
              <a:srgbClr val="2F7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50976" y="5340096"/>
            <a:ext cx="10314432" cy="832104"/>
          </a:xfrm>
          <a:prstGeom prst="roundRect">
            <a:avLst>
              <a:gd name="adj" fmla="val 8000"/>
            </a:avLst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207008" y="5513832"/>
            <a:ext cx="100584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1">
                <a:solidFill>
                  <a:srgbClr val="9CCBFF"/>
                </a:solidFill>
                <a:latin typeface="Pretendard"/>
              </a:rPr>
              <a:t>공통 결론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40280" y="5468112"/>
            <a:ext cx="672084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20" b="1">
                <a:solidFill>
                  <a:srgbClr val="FFFFFF"/>
                </a:solidFill>
                <a:latin typeface="Pretendard"/>
              </a:rPr>
              <a:t>취약성의 원인은 달라도, ‘독립적으로 검증하기 어려운 순간’이 생긴다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89136" y="5495544"/>
            <a:ext cx="1737360" cy="438912"/>
          </a:xfrm>
          <a:prstGeom prst="roundRect">
            <a:avLst>
              <a:gd name="adj" fmla="val 8000"/>
            </a:avLst>
          </a:prstGeom>
          <a:solidFill>
            <a:srgbClr val="FDEFEF"/>
          </a:solidFill>
          <a:ln>
            <a:solidFill>
              <a:srgbClr val="FD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089136" y="5550408"/>
            <a:ext cx="1737360" cy="2834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20" b="1">
                <a:solidFill>
                  <a:srgbClr val="C64242"/>
                </a:solidFill>
                <a:latin typeface="Pretendard"/>
              </a:rPr>
              <a:t>오판 가능성 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216" y="6327648"/>
            <a:ext cx="1097280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20" b="0">
                <a:solidFill>
                  <a:srgbClr val="667384"/>
                </a:solidFill>
                <a:latin typeface="Pretendard"/>
              </a:rPr>
              <a:t>핵심 해석  |  피해자를 ‘특정 세대의 낮은 능력’으로 규정하지 않고, 서로 다른 취약요인이 판단·검증의 공백을 만들 수 있다는 구조로 해석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219456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80" b="1">
                <a:solidFill>
                  <a:srgbClr val="2F75CC"/>
                </a:solidFill>
                <a:latin typeface="Pretendard"/>
              </a:rPr>
              <a:t>근거 검증 · SOURCE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051560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102A49"/>
                </a:solidFill>
                <a:latin typeface="Pretendard"/>
              </a:rPr>
              <a:t>이 장표에서 실제로 말할 수 있는 것 / 아직 말하면 안 되는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9848"/>
            <a:ext cx="10607040" cy="3017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19" b="0">
                <a:solidFill>
                  <a:srgbClr val="667384"/>
                </a:solidFill>
                <a:latin typeface="Pretendard"/>
              </a:rPr>
              <a:t>통계·논문이 직접 지지하는 주장과, 해석 수준의 주장을 분리해 심사 질문에 대비합니다.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1045952" cy="832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64207"/>
            <a:ext cx="292608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C7F67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645920"/>
            <a:ext cx="283464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102A49"/>
                </a:solidFill>
                <a:latin typeface="Pretendard"/>
              </a:rPr>
              <a:t>금융사기 취약성은 단일 요인이 아니다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8496" y="1636776"/>
            <a:ext cx="4681728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1F2C3C"/>
                </a:solidFill>
                <a:latin typeface="Pretendard"/>
              </a:rPr>
              <a:t>성인 2,000명 설문 분석: 정서적 고통, 일상 금융역량 부족, 고령, 불안정 소득, 금융지식·과신 등이 관련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05672" y="1673352"/>
            <a:ext cx="1033271" cy="292608"/>
          </a:xfrm>
          <a:prstGeom prst="roundRect">
            <a:avLst>
              <a:gd name="adj" fmla="val 8000"/>
            </a:avLst>
          </a:prstGeom>
          <a:solidFill>
            <a:srgbClr val="E7F7F1"/>
          </a:solidFill>
          <a:ln>
            <a:solidFill>
              <a:srgbClr val="E7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05672" y="1691640"/>
            <a:ext cx="1033271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40" b="1">
                <a:solidFill>
                  <a:srgbClr val="2C7F67"/>
                </a:solidFill>
                <a:latin typeface="Pretendard"/>
              </a:rPr>
              <a:t>직접 지지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1664207"/>
            <a:ext cx="141732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0" b="0">
                <a:solidFill>
                  <a:srgbClr val="667384"/>
                </a:solidFill>
                <a:latin typeface="Pretendard"/>
              </a:rPr>
              <a:t>한진수(2024), 시민교육연구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468880"/>
            <a:ext cx="11045952" cy="832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2578608"/>
            <a:ext cx="292608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C7F67"/>
                </a:solidFill>
                <a:latin typeface="Pretendar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560320"/>
            <a:ext cx="283464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102A49"/>
                </a:solidFill>
                <a:latin typeface="Pretendard"/>
              </a:rPr>
              <a:t>금융지식이 높다고 안전한 것도 아니다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8496" y="2551176"/>
            <a:ext cx="4681728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1F2C3C"/>
                </a:solidFill>
                <a:latin typeface="Pretendard"/>
              </a:rPr>
              <a:t>자기 금융지식을 매우 높게 평가한 사람은 예방 노력을 소홀히 해 금융사기 피해자가 될 확률이 더 높게 나타남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05672" y="2587752"/>
            <a:ext cx="1033271" cy="292608"/>
          </a:xfrm>
          <a:prstGeom prst="roundRect">
            <a:avLst>
              <a:gd name="adj" fmla="val 8000"/>
            </a:avLst>
          </a:prstGeom>
          <a:solidFill>
            <a:srgbClr val="E7F7F1"/>
          </a:solidFill>
          <a:ln>
            <a:solidFill>
              <a:srgbClr val="E7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05672" y="2606040"/>
            <a:ext cx="1033271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40" b="1">
                <a:solidFill>
                  <a:srgbClr val="2C7F67"/>
                </a:solidFill>
                <a:latin typeface="Pretendard"/>
              </a:rPr>
              <a:t>직접 지지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2578608"/>
            <a:ext cx="141732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0" b="0">
                <a:solidFill>
                  <a:srgbClr val="667384"/>
                </a:solidFill>
                <a:latin typeface="Pretendard"/>
              </a:rPr>
              <a:t>한진수(2024)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383280"/>
            <a:ext cx="11045952" cy="832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" y="3493008"/>
            <a:ext cx="292608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C7F67"/>
                </a:solidFill>
                <a:latin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3474720"/>
            <a:ext cx="283464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102A49"/>
                </a:solidFill>
                <a:latin typeface="Pretendard"/>
              </a:rPr>
              <a:t>고령층은 디지털 검증 역량에 차이가 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8496" y="3465576"/>
            <a:ext cx="4681728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1F2C3C"/>
                </a:solidFill>
                <a:latin typeface="Pretendard"/>
              </a:rPr>
              <a:t>고령층 디지털역량의 기술·인지·사회 요인 모두 연령별 유의한 차이, 75세 이후 뚜렷한 감소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05672" y="3502152"/>
            <a:ext cx="1033271" cy="292608"/>
          </a:xfrm>
          <a:prstGeom prst="roundRect">
            <a:avLst>
              <a:gd name="adj" fmla="val 8000"/>
            </a:avLst>
          </a:prstGeom>
          <a:solidFill>
            <a:srgbClr val="E7F7F1"/>
          </a:solidFill>
          <a:ln>
            <a:solidFill>
              <a:srgbClr val="E7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05672" y="3520440"/>
            <a:ext cx="1033271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40" b="1">
                <a:solidFill>
                  <a:srgbClr val="2C7F67"/>
                </a:solidFill>
                <a:latin typeface="Pretendard"/>
              </a:rPr>
              <a:t>직접 지지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3493008"/>
            <a:ext cx="141732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0" b="0">
                <a:solidFill>
                  <a:srgbClr val="667384"/>
                </a:solidFill>
                <a:latin typeface="Pretendard"/>
              </a:rPr>
              <a:t>최미정·유병준(2025)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297680"/>
            <a:ext cx="11045952" cy="832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" y="4407408"/>
            <a:ext cx="292608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B47718"/>
                </a:solidFill>
                <a:latin typeface="Pretendard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4389120"/>
            <a:ext cx="283464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102A49"/>
                </a:solidFill>
                <a:latin typeface="Pretendard"/>
              </a:rPr>
              <a:t>20대의 ‘수사 경험 부족’이 보이스피싱 오판을 만든다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8496" y="4379976"/>
            <a:ext cx="4681728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1F2C3C"/>
                </a:solidFill>
                <a:latin typeface="Pretendard"/>
              </a:rPr>
              <a:t>현재 확보한 국내 자료만으로 이 인과를 직접 입증하기는 어려움. 금융이해력·사회초년생 연구는 보조근거로만 사용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05672" y="4416552"/>
            <a:ext cx="1033271" cy="292608"/>
          </a:xfrm>
          <a:prstGeom prst="roundRect">
            <a:avLst>
              <a:gd name="adj" fmla="val 8000"/>
            </a:avLst>
          </a:prstGeom>
          <a:solidFill>
            <a:srgbClr val="FDF6E4"/>
          </a:solidFill>
          <a:ln>
            <a:solidFill>
              <a:srgbClr val="FD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05672" y="4434840"/>
            <a:ext cx="1033271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40" b="1">
                <a:solidFill>
                  <a:srgbClr val="B47718"/>
                </a:solidFill>
                <a:latin typeface="Pretendard"/>
              </a:rPr>
              <a:t>직접근거 부족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4407408"/>
            <a:ext cx="141732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0" b="0">
                <a:solidFill>
                  <a:srgbClr val="667384"/>
                </a:solidFill>
                <a:latin typeface="Pretendard"/>
              </a:rPr>
              <a:t>한국은행·금감원(2025) 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212080"/>
            <a:ext cx="11045952" cy="832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9808" y="5321808"/>
            <a:ext cx="292608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F75CC"/>
                </a:solidFill>
                <a:latin typeface="Pretendard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" y="5303520"/>
            <a:ext cx="283464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102A49"/>
                </a:solidFill>
                <a:latin typeface="Pretendard"/>
              </a:rPr>
              <a:t>보이스피싱은 피해자를 고립시키고 판단을 흔든다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68496" y="5294376"/>
            <a:ext cx="4681728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1F2C3C"/>
                </a:solidFill>
                <a:latin typeface="Pretendard"/>
              </a:rPr>
              <a:t>실제 수사기관 사칭형 대화 분석에서 사회적 고립·수직관계 강화가 단계적으로 확인됨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05672" y="5330952"/>
            <a:ext cx="1033271" cy="292608"/>
          </a:xfrm>
          <a:prstGeom prst="roundRect">
            <a:avLst>
              <a:gd name="adj" fmla="val 8000"/>
            </a:avLst>
          </a:prstGeom>
          <a:solidFill>
            <a:srgbClr val="E1EFFF"/>
          </a:solidFill>
          <a:ln>
            <a:solidFill>
              <a:srgbClr val="E1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805672" y="5349240"/>
            <a:ext cx="1033271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40" b="1">
                <a:solidFill>
                  <a:srgbClr val="2F75CC"/>
                </a:solidFill>
                <a:latin typeface="Pretendard"/>
              </a:rPr>
              <a:t>다음 페이지용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0" y="5321808"/>
            <a:ext cx="141732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0" b="0">
                <a:solidFill>
                  <a:srgbClr val="667384"/>
                </a:solidFill>
                <a:latin typeface="Pretendard"/>
              </a:rPr>
              <a:t>배승희 외(2023) / 경찰대학 연구(2024)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6245352"/>
            <a:ext cx="11045952" cy="347472"/>
          </a:xfrm>
          <a:prstGeom prst="roundRect">
            <a:avLst>
              <a:gd name="adj" fmla="val 8000"/>
            </a:avLst>
          </a:prstGeom>
          <a:solidFill>
            <a:srgbClr val="FDEFEF"/>
          </a:solidFill>
          <a:ln>
            <a:solidFill>
              <a:srgbClr val="FD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49808" y="6309360"/>
            <a:ext cx="1060704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1">
                <a:solidFill>
                  <a:srgbClr val="C64242"/>
                </a:solidFill>
                <a:latin typeface="Pretendard"/>
              </a:rPr>
              <a:t>PPT 원칙  |  ‘연령 = 원인’으로 단정하지 않고, 연령은 취약성이 나타날 수 있는 대표 맥락으로만 사용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피해자 취약점 분석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핵심은 연령이 아니라, 취약성과 공격방식의 결합이다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20대·고령층을 넘어 일반 금융소비자도 특정 상황에서는 판단이 흔들릴 수 있다는 확장 메시지</a:t>
            </a:r>
            <a:endParaRPr lang="en-US" sz="123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19842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누구나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203704" y="198424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취약해질 수 있는 순간이 있다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13232" y="2807208"/>
            <a:ext cx="2990088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29992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36499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정교한 개인정보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803904"/>
            <a:ext cx="2505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이름·직장·거래정보를 알고 접근</a:t>
            </a:r>
            <a:endParaRPr lang="en-US" sz="1060" dirty="0"/>
          </a:p>
          <a:p>
            <a:pPr marL="0" indent="0" algn="l">
              <a:buNone/>
            </a:pPr>
            <a:r>
              <a:rPr lang="en-US" sz="106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 “진짜 기관 같다”는 신뢰 강화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4059936" y="2807208"/>
            <a:ext cx="2990088" cy="1874520"/>
          </a:xfrm>
          <a:prstGeom prst="roundRect">
            <a:avLst>
              <a:gd name="adj" fmla="val 8780"/>
            </a:avLst>
          </a:prstGeom>
          <a:solidFill>
            <a:srgbClr val="F1F6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61104" y="29992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261104" y="336499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갑작스러운 공포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261104" y="3803904"/>
            <a:ext cx="2505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수사·체포·자산동결 등 위협</a:t>
            </a:r>
            <a:endParaRPr lang="en-US" sz="1060" dirty="0"/>
          </a:p>
          <a:p>
            <a:pPr marL="0" indent="0" algn="l">
              <a:buNone/>
            </a:pPr>
            <a:r>
              <a:rPr lang="en-US" sz="106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 차분한 판단보다 즉시 대응 선택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7406640" y="2807208"/>
            <a:ext cx="2990088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07808" y="29992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607808" y="336499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충분하지 않은 시간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607808" y="3803904"/>
            <a:ext cx="2505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지금 당장 처리해야 한다는 압박</a:t>
            </a:r>
            <a:endParaRPr lang="en-US" sz="1060" dirty="0"/>
          </a:p>
          <a:p>
            <a:pPr marL="0" indent="0" algn="l">
              <a:buNone/>
            </a:pPr>
            <a:r>
              <a:rPr lang="en-US" sz="106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 가족·기관에 확인할 시간을 제거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1353312" y="5102352"/>
            <a:ext cx="9491472" cy="749808"/>
          </a:xfrm>
          <a:prstGeom prst="roundRect">
            <a:avLst>
              <a:gd name="adj" fmla="val 21951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664208" y="5321808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사람마다 취약성은 다르고, 범죄자는 그 취약성과 맞는 공격방식을 선택한다</a:t>
            </a:r>
            <a:endParaRPr lang="en-US" sz="142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10345A"/>
          </a:solidFill>
          <a:ln w="10160">
            <a:solidFill>
              <a:srgbClr val="1034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2B5D8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2B5D8C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18395D"/>
          </a:solidFill>
          <a:ln w="10160">
            <a:solidFill>
              <a:srgbClr val="244F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보이스피싱 전략 분석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보이스피싱은 ‘거짓 정보’뿐 아니라 ‘거짓 판단’을 유도한다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9DB6D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세 가지 전략이 결합해 피해자의 판단 환경 자체를 장악하는 구조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758952" y="2039112"/>
            <a:ext cx="2944368" cy="2331720"/>
          </a:xfrm>
          <a:prstGeom prst="roundRect">
            <a:avLst>
              <a:gd name="adj" fmla="val 7843"/>
            </a:avLst>
          </a:prstGeom>
          <a:solidFill>
            <a:srgbClr val="12375D"/>
          </a:solidFill>
          <a:ln w="10160">
            <a:solidFill>
              <a:srgbClr val="2A588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6696" y="2267712"/>
            <a:ext cx="475488" cy="475488"/>
          </a:xfrm>
          <a:prstGeom prst="ellipse">
            <a:avLst/>
          </a:prstGeom>
          <a:solidFill>
            <a:srgbClr val="173A62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96696" y="2276856"/>
            <a:ext cx="4754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609344" y="22677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정보 우위</a:t>
            </a:r>
            <a:endParaRPr lang="en-US" sz="162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971800"/>
            <a:ext cx="2432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BFD2E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정교한 개인정보·절차 설명으로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BFD2E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“상대가 더 많이 알고 있다”는 인상 형성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4215384" y="2039112"/>
            <a:ext cx="2944368" cy="2331720"/>
          </a:xfrm>
          <a:prstGeom prst="roundRect">
            <a:avLst>
              <a:gd name="adj" fmla="val 7843"/>
            </a:avLst>
          </a:prstGeom>
          <a:solidFill>
            <a:srgbClr val="12375D"/>
          </a:solidFill>
          <a:ln w="10160">
            <a:solidFill>
              <a:srgbClr val="2A58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53128" y="2267712"/>
            <a:ext cx="475488" cy="475488"/>
          </a:xfrm>
          <a:prstGeom prst="ellipse">
            <a:avLst/>
          </a:prstGeom>
          <a:solidFill>
            <a:srgbClr val="173A62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53128" y="2276856"/>
            <a:ext cx="4754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FB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065776" y="22677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심리적 압박</a:t>
            </a:r>
            <a:endParaRPr lang="en-US" sz="1620" dirty="0"/>
          </a:p>
        </p:txBody>
      </p:sp>
      <p:sp>
        <p:nvSpPr>
          <p:cNvPr id="19" name="Text 17"/>
          <p:cNvSpPr txBox="1"/>
          <p:nvPr/>
        </p:nvSpPr>
        <p:spPr>
          <a:xfrm>
            <a:off x="4462272" y="2971800"/>
            <a:ext cx="2432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BFD2E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권위 · 공포 · 긴급성으로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BFD2E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차분하게 비교·검토할 시간을 축소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7671816" y="2039112"/>
            <a:ext cx="2944368" cy="2331720"/>
          </a:xfrm>
          <a:prstGeom prst="roundRect">
            <a:avLst>
              <a:gd name="adj" fmla="val 7843"/>
            </a:avLst>
          </a:prstGeom>
          <a:solidFill>
            <a:srgbClr val="12375D"/>
          </a:solidFill>
          <a:ln w="10160">
            <a:solidFill>
              <a:srgbClr val="2A588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09560" y="2267712"/>
            <a:ext cx="475488" cy="475488"/>
          </a:xfrm>
          <a:prstGeom prst="ellipse">
            <a:avLst/>
          </a:prstGeom>
          <a:solidFill>
            <a:srgbClr val="173A62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09560" y="2276856"/>
            <a:ext cx="4754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CD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522208" y="22677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외부 검증 차단</a:t>
            </a:r>
            <a:endParaRPr lang="en-US" sz="1620" dirty="0"/>
          </a:p>
        </p:txBody>
      </p:sp>
      <p:sp>
        <p:nvSpPr>
          <p:cNvPr id="24" name="Text 22"/>
          <p:cNvSpPr txBox="1"/>
          <p:nvPr/>
        </p:nvSpPr>
        <p:spPr>
          <a:xfrm>
            <a:off x="7918704" y="2971800"/>
            <a:ext cx="2432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BFD2E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비밀유지 · 연락 제한 ·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BFD2E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확인 절차 방해로 독립적 판단을 차단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3639312" y="3218688"/>
            <a:ext cx="402336" cy="0"/>
          </a:xfrm>
          <a:prstGeom prst="line">
            <a:avLst/>
          </a:prstGeom>
          <a:noFill/>
          <a:ln w="25400">
            <a:solidFill>
              <a:srgbClr val="49A8FF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095744" y="3218688"/>
            <a:ext cx="402336" cy="0"/>
          </a:xfrm>
          <a:prstGeom prst="line">
            <a:avLst/>
          </a:prstGeom>
          <a:noFill/>
          <a:ln w="25400">
            <a:solidFill>
              <a:srgbClr val="49A8FF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172968" y="4782312"/>
            <a:ext cx="5833872" cy="850392"/>
          </a:xfrm>
          <a:prstGeom prst="roundRect">
            <a:avLst>
              <a:gd name="adj" fmla="val 19355"/>
            </a:avLst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38144" y="500176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3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세 요소가 결합하면 범죄자는 피해자의 “판단 환경”을 장악한다</a:t>
            </a:r>
            <a:endParaRPr lang="en-US" sz="163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86A6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AD65BB-8A0D-46D8-B1B7-715D79AC61DE}"/>
              </a:ext>
            </a:extLst>
          </p:cNvPr>
          <p:cNvSpPr txBox="1"/>
          <p:nvPr/>
        </p:nvSpPr>
        <p:spPr>
          <a:xfrm>
            <a:off x="368017" y="548759"/>
            <a:ext cx="67609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0B1F3A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그</a:t>
            </a:r>
            <a:r>
              <a:rPr lang="ko-KR" altLang="en-US" sz="1100" b="1" dirty="0">
                <a:solidFill>
                  <a:srgbClr val="C5D6E8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 </a:t>
            </a:r>
            <a:r>
              <a:rPr lang="en-US" altLang="ko-KR" sz="1100" b="1" dirty="0">
                <a:solidFill>
                  <a:srgbClr val="FF4B16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[</a:t>
            </a:r>
            <a:r>
              <a:rPr lang="ko-KR" altLang="en-US" sz="1100" b="1" dirty="0">
                <a:solidFill>
                  <a:srgbClr val="FF4B16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빈틈</a:t>
            </a:r>
            <a:r>
              <a:rPr lang="en-US" altLang="ko-KR" sz="1100" b="1" dirty="0">
                <a:solidFill>
                  <a:srgbClr val="FF4B16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]</a:t>
            </a:r>
            <a:r>
              <a:rPr lang="ko-KR" altLang="en-US" sz="1100" b="1" dirty="0">
                <a:solidFill>
                  <a:srgbClr val="0B1F3A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이 무엇인지 찾기위해 살펴본 </a:t>
            </a:r>
            <a:r>
              <a:rPr lang="ko-KR" altLang="en-US" sz="1100" b="1" dirty="0">
                <a:solidFill>
                  <a:schemeClr val="bg1">
                    <a:lumMod val="65000"/>
                  </a:schemeClr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보이스피싱 피해자 취약성</a:t>
            </a:r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/</a:t>
            </a:r>
            <a:r>
              <a:rPr lang="ko-KR" altLang="en-US" sz="1100" b="1" dirty="0">
                <a:solidFill>
                  <a:srgbClr val="FF4B16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보이스피싱 범죄 수법</a:t>
            </a:r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/</a:t>
            </a:r>
            <a:r>
              <a:rPr lang="ko-KR" altLang="en-US" sz="1100" b="1" dirty="0">
                <a:solidFill>
                  <a:schemeClr val="bg1">
                    <a:lumMod val="65000"/>
                  </a:schemeClr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기존 서비스의 구조</a:t>
            </a:r>
            <a:endParaRPr lang="ko-KR" altLang="en-US" sz="1100" b="1" dirty="0">
              <a:solidFill>
                <a:srgbClr val="0B1F3A"/>
              </a:solidFill>
              <a:latin typeface="NanumSquare Bold" pitchFamily="34" charset="0"/>
              <a:ea typeface="NanumSquare Bold" pitchFamily="34" charset="-122"/>
              <a:cs typeface="NanumSquare Bold" pitchFamily="34" charset="-120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1648FDD6-F913-47C1-BCA5-EFF28971D737}"/>
              </a:ext>
            </a:extLst>
          </p:cNvPr>
          <p:cNvSpPr txBox="1"/>
          <p:nvPr/>
        </p:nvSpPr>
        <p:spPr>
          <a:xfrm>
            <a:off x="-64242" y="162899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50" b="1" dirty="0">
                <a:solidFill>
                  <a:srgbClr val="0B1F3A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문제도출</a:t>
            </a:r>
            <a:endParaRPr lang="en-US" sz="1050" dirty="0">
              <a:solidFill>
                <a:srgbClr val="0B1F3A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98F033F5-72F0-48F5-B4CD-FEEC97CE269F}"/>
              </a:ext>
            </a:extLst>
          </p:cNvPr>
          <p:cNvSpPr txBox="1"/>
          <p:nvPr/>
        </p:nvSpPr>
        <p:spPr>
          <a:xfrm>
            <a:off x="442380" y="810369"/>
            <a:ext cx="11749619" cy="92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보이스피싱 범죄자들은 ㅇ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, 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ㅇ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, 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ㅇ 등</a:t>
            </a:r>
            <a:endParaRPr lang="en-US" altLang="ko-KR" sz="2200" b="1" dirty="0">
              <a:solidFill>
                <a:srgbClr val="10213D"/>
              </a:solidFill>
              <a:latin typeface="페이퍼로지 7 Bold" pitchFamily="2" charset="-127"/>
              <a:ea typeface="페이퍼로지 7 Bold" pitchFamily="2" charset="-127"/>
              <a:cs typeface="NanumSquare Bold" pitchFamily="34" charset="-120"/>
            </a:endParaRPr>
          </a:p>
          <a:p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판단 오류 유발 전략을 활용해서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 --&gt; 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거짓 정보뿐만 아니라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, 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거짓 판단을 유도한다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5801E1-876F-4A97-9E09-5BAE856D4B50}"/>
              </a:ext>
            </a:extLst>
          </p:cNvPr>
          <p:cNvSpPr txBox="1"/>
          <p:nvPr/>
        </p:nvSpPr>
        <p:spPr>
          <a:xfrm>
            <a:off x="282980" y="1513565"/>
            <a:ext cx="116260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solidFill>
                  <a:srgbClr val="FF4B16"/>
                </a:solidFill>
              </a:rPr>
              <a:t>범죄자들이 금융소비자들의 심리적 취약점을 이용해서 </a:t>
            </a:r>
            <a:r>
              <a:rPr lang="en-US" altLang="ko-KR" sz="1400" dirty="0">
                <a:solidFill>
                  <a:srgbClr val="FF4B16"/>
                </a:solidFill>
              </a:rPr>
              <a:t>… </a:t>
            </a:r>
            <a:r>
              <a:rPr lang="ko-KR" altLang="en-US" sz="1400" dirty="0">
                <a:solidFill>
                  <a:srgbClr val="FF4B16"/>
                </a:solidFill>
              </a:rPr>
              <a:t>사칭과 심리장악전략들 사용 </a:t>
            </a:r>
            <a:r>
              <a:rPr lang="en-US" altLang="ko-KR" sz="1400" dirty="0">
                <a:solidFill>
                  <a:srgbClr val="FF4B16"/>
                </a:solidFill>
              </a:rPr>
              <a:t>-&gt;</a:t>
            </a:r>
            <a:r>
              <a:rPr lang="ko-KR" altLang="en-US" sz="1400" dirty="0">
                <a:solidFill>
                  <a:srgbClr val="FF4B16"/>
                </a:solidFill>
              </a:rPr>
              <a:t> 신뢰</a:t>
            </a:r>
            <a:r>
              <a:rPr lang="en-US" altLang="ko-KR" sz="1400" dirty="0">
                <a:solidFill>
                  <a:srgbClr val="FF4B16"/>
                </a:solidFill>
              </a:rPr>
              <a:t>, </a:t>
            </a:r>
            <a:r>
              <a:rPr lang="ko-KR" altLang="en-US" sz="1400" dirty="0">
                <a:solidFill>
                  <a:srgbClr val="FF4B16"/>
                </a:solidFill>
              </a:rPr>
              <a:t>권위 등</a:t>
            </a:r>
            <a:r>
              <a:rPr lang="en-US" altLang="ko-KR" sz="1400" dirty="0">
                <a:solidFill>
                  <a:srgbClr val="FF4B16"/>
                </a:solidFill>
              </a:rPr>
              <a:t>(</a:t>
            </a:r>
            <a:r>
              <a:rPr lang="ko-KR" altLang="en-US" sz="1400" dirty="0">
                <a:solidFill>
                  <a:srgbClr val="FF4B16"/>
                </a:solidFill>
              </a:rPr>
              <a:t>진짜인가</a:t>
            </a:r>
            <a:r>
              <a:rPr lang="en-US" altLang="ko-KR" sz="1400" dirty="0">
                <a:solidFill>
                  <a:srgbClr val="FF4B16"/>
                </a:solidFill>
              </a:rPr>
              <a:t>? </a:t>
            </a:r>
            <a:r>
              <a:rPr lang="ko-KR" altLang="en-US" sz="1400" dirty="0">
                <a:solidFill>
                  <a:srgbClr val="FF4B16"/>
                </a:solidFill>
              </a:rPr>
              <a:t>믿게되는</a:t>
            </a:r>
            <a:r>
              <a:rPr lang="en-US" altLang="ko-KR" sz="1400" dirty="0">
                <a:solidFill>
                  <a:srgbClr val="FF4B16"/>
                </a:solidFill>
              </a:rPr>
              <a:t>…)</a:t>
            </a:r>
            <a:r>
              <a:rPr lang="ko-KR" altLang="en-US" sz="1400" dirty="0">
                <a:solidFill>
                  <a:srgbClr val="FF4B16"/>
                </a:solidFill>
              </a:rPr>
              <a:t> </a:t>
            </a:r>
            <a:r>
              <a:rPr lang="en-US" altLang="ko-KR" sz="1400" dirty="0">
                <a:solidFill>
                  <a:srgbClr val="FF4B16"/>
                </a:solidFill>
              </a:rPr>
              <a:t>-&gt; </a:t>
            </a:r>
            <a:r>
              <a:rPr lang="ko-KR" altLang="en-US" sz="1400" dirty="0">
                <a:solidFill>
                  <a:srgbClr val="FF4B16"/>
                </a:solidFill>
              </a:rPr>
              <a:t>정보비대칭 </a:t>
            </a:r>
            <a:r>
              <a:rPr lang="en-US" altLang="ko-KR" sz="1400" dirty="0">
                <a:solidFill>
                  <a:srgbClr val="FF4B16"/>
                </a:solidFill>
              </a:rPr>
              <a:t>-&gt; </a:t>
            </a:r>
            <a:r>
              <a:rPr lang="ko-KR" altLang="en-US" sz="1400" dirty="0">
                <a:solidFill>
                  <a:srgbClr val="FF4B16"/>
                </a:solidFill>
              </a:rPr>
              <a:t>주도권 가짐 </a:t>
            </a:r>
            <a:r>
              <a:rPr lang="en-US" altLang="ko-KR" sz="1400" dirty="0">
                <a:solidFill>
                  <a:srgbClr val="FF4B16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olidFill>
                  <a:srgbClr val="FF4B16"/>
                </a:solidFill>
              </a:rPr>
              <a:t>판단 오류 유발</a:t>
            </a:r>
            <a:r>
              <a:rPr lang="en-US" altLang="ko-KR" sz="1400" dirty="0">
                <a:solidFill>
                  <a:srgbClr val="FF4B16"/>
                </a:solidFill>
              </a:rPr>
              <a:t> -&gt; </a:t>
            </a:r>
            <a:r>
              <a:rPr lang="ko-KR" altLang="en-US" sz="1400" dirty="0">
                <a:solidFill>
                  <a:srgbClr val="FF4B16"/>
                </a:solidFill>
              </a:rPr>
              <a:t>송금으로 이어짐</a:t>
            </a:r>
            <a:r>
              <a:rPr lang="en-US" altLang="ko-KR" sz="1400" dirty="0">
                <a:solidFill>
                  <a:srgbClr val="FF4B16"/>
                </a:solidFill>
              </a:rPr>
              <a:t>…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53E49CC-01A3-4C12-8115-824B6B93331B}"/>
              </a:ext>
            </a:extLst>
          </p:cNvPr>
          <p:cNvGrpSpPr/>
          <p:nvPr/>
        </p:nvGrpSpPr>
        <p:grpSpPr>
          <a:xfrm>
            <a:off x="1141677" y="2794776"/>
            <a:ext cx="9737946" cy="4021452"/>
            <a:chOff x="176683" y="1817488"/>
            <a:chExt cx="11285265" cy="466044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88FB505-D7D9-4F5E-B6FE-ED7BCC4C71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2390" r="50118"/>
            <a:stretch/>
          </p:blipFill>
          <p:spPr>
            <a:xfrm>
              <a:off x="7341942" y="2135361"/>
              <a:ext cx="3657451" cy="200095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CE14435-203B-46B7-BC9E-EDD4A85145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0185"/>
            <a:stretch/>
          </p:blipFill>
          <p:spPr>
            <a:xfrm>
              <a:off x="3168426" y="1817488"/>
              <a:ext cx="4032049" cy="232446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0D70E39-6514-4AE0-A474-8D6CA0E37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3458" y="4271174"/>
              <a:ext cx="7332133" cy="2000954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CCA7AE-645B-46C2-B48F-63B684B87FE9}"/>
                </a:ext>
              </a:extLst>
            </p:cNvPr>
            <p:cNvGrpSpPr/>
            <p:nvPr/>
          </p:nvGrpSpPr>
          <p:grpSpPr>
            <a:xfrm>
              <a:off x="8025350" y="4414130"/>
              <a:ext cx="3436598" cy="2063802"/>
              <a:chOff x="383814" y="2377815"/>
              <a:chExt cx="3436598" cy="2063802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087B3F6B-9758-42DD-B383-4F7E9306EB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3814" y="2377815"/>
                <a:ext cx="3436598" cy="2063802"/>
              </a:xfrm>
              <a:prstGeom prst="rect">
                <a:avLst/>
              </a:prstGeom>
            </p:spPr>
          </p:pic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1DF5D2A-BAD7-4D50-8B69-04AE70A0FA89}"/>
                  </a:ext>
                </a:extLst>
              </p:cNvPr>
              <p:cNvSpPr/>
              <p:nvPr/>
            </p:nvSpPr>
            <p:spPr>
              <a:xfrm>
                <a:off x="1866617" y="3297338"/>
                <a:ext cx="1797333" cy="82609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rgbClr val="0E2746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  <a:r>
                  <a:rPr lang="en-US" altLang="ko-KR" sz="800" dirty="0"/>
                  <a:t>Top4 </a:t>
                </a:r>
                <a:r>
                  <a:rPr lang="ko-KR" altLang="en-US" sz="800" dirty="0"/>
                  <a:t>은행</a:t>
                </a:r>
                <a:r>
                  <a:rPr lang="en-US" altLang="ko-KR" sz="800" dirty="0"/>
                  <a:t>,</a:t>
                </a:r>
                <a:r>
                  <a:rPr lang="ko-KR" altLang="en-US" sz="800" dirty="0"/>
                  <a:t>검찰</a:t>
                </a:r>
                <a:r>
                  <a:rPr lang="en-US" altLang="ko-KR" sz="800" dirty="0"/>
                  <a:t>,</a:t>
                </a:r>
                <a:r>
                  <a:rPr lang="ko-KR" altLang="en-US" sz="800" dirty="0"/>
                  <a:t>카드사</a:t>
                </a:r>
                <a:r>
                  <a:rPr lang="en-US" altLang="ko-KR" sz="800" dirty="0"/>
                  <a:t>,</a:t>
                </a:r>
                <a:r>
                  <a:rPr lang="ko-KR" altLang="en-US" sz="800" dirty="0"/>
                  <a:t>경찰</a:t>
                </a:r>
                <a:endParaRPr lang="en-US" altLang="ko-KR" sz="800" dirty="0"/>
              </a:p>
              <a:p>
                <a:pPr algn="ctr"/>
                <a:r>
                  <a:rPr lang="en-US" altLang="ko-KR" sz="800" dirty="0"/>
                  <a:t>-&gt; </a:t>
                </a:r>
                <a:r>
                  <a:rPr lang="ko-KR" altLang="en-US" sz="800" dirty="0"/>
                  <a:t>권위와 신뢰 형성</a:t>
                </a:r>
                <a:r>
                  <a:rPr lang="en-US" altLang="ko-KR" sz="800" dirty="0"/>
                  <a:t>…</a:t>
                </a:r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FD8BFC2-1FCC-4DE1-A8D4-A176EB4CFF15}"/>
                </a:ext>
              </a:extLst>
            </p:cNvPr>
            <p:cNvSpPr/>
            <p:nvPr/>
          </p:nvSpPr>
          <p:spPr>
            <a:xfrm>
              <a:off x="4800196" y="2677086"/>
              <a:ext cx="1619671" cy="694428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E2746"/>
              </a:solidFill>
              <a:prstDash val="solid"/>
            </a:ln>
          </p:spPr>
          <p:txBody>
            <a:bodyPr rtlCol="0" anchor="ctr"/>
            <a:lstStyle/>
            <a:p>
              <a:pPr algn="ctr"/>
              <a:r>
                <a:rPr lang="ko-KR" altLang="en-US" sz="800" dirty="0"/>
                <a:t>거의 대부분 이벤트에서</a:t>
              </a:r>
              <a:endParaRPr lang="en-US" altLang="ko-KR" sz="800" dirty="0"/>
            </a:p>
            <a:p>
              <a:pPr algn="ctr"/>
              <a:r>
                <a:rPr lang="ko-KR" altLang="en-US" sz="800" dirty="0"/>
                <a:t>심리 전략 사용</a:t>
              </a:r>
              <a:r>
                <a:rPr lang="en-US" altLang="ko-KR" sz="800" dirty="0"/>
                <a:t>…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241B198-FEB5-4455-991F-3BA93E6F7292}"/>
                </a:ext>
              </a:extLst>
            </p:cNvPr>
            <p:cNvSpPr/>
            <p:nvPr/>
          </p:nvSpPr>
          <p:spPr>
            <a:xfrm>
              <a:off x="9193418" y="3178736"/>
              <a:ext cx="1619671" cy="694428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E2746"/>
              </a:solidFill>
              <a:prstDash val="solid"/>
            </a:ln>
          </p:spPr>
          <p:txBody>
            <a:bodyPr rtlCol="0" anchor="ctr"/>
            <a:lstStyle/>
            <a:p>
              <a:pPr algn="ctr"/>
              <a:r>
                <a:rPr lang="ko-KR" altLang="en-US" sz="800" dirty="0"/>
                <a:t>심리전략은 이런것들을 주로 쓰더라</a:t>
              </a:r>
              <a:endParaRPr lang="en-US" altLang="ko-KR" sz="800" dirty="0"/>
            </a:p>
          </p:txBody>
        </p:sp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F2505A6D-9977-4EA2-87BD-DD2519AC03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683" y="2015551"/>
              <a:ext cx="3237153" cy="19283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A4099F-3CBD-4CF1-B145-CB7AFA40823F}"/>
                </a:ext>
              </a:extLst>
            </p:cNvPr>
            <p:cNvSpPr/>
            <p:nvPr/>
          </p:nvSpPr>
          <p:spPr>
            <a:xfrm>
              <a:off x="1393091" y="4924436"/>
              <a:ext cx="2807973" cy="909895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E2746"/>
              </a:solidFill>
              <a:prstDash val="solid"/>
            </a:ln>
          </p:spPr>
          <p:txBody>
            <a:bodyPr rtlCol="0" anchor="ctr"/>
            <a:lstStyle/>
            <a:p>
              <a:pPr algn="ctr"/>
              <a:r>
                <a:rPr lang="ko-KR" altLang="en-US" sz="800" dirty="0"/>
                <a:t>우리가 선별한 </a:t>
              </a:r>
              <a:r>
                <a:rPr lang="en-US" altLang="ko-KR" sz="800" dirty="0"/>
                <a:t>4</a:t>
              </a:r>
              <a:r>
                <a:rPr lang="ko-KR" altLang="en-US" sz="800" dirty="0"/>
                <a:t>대 이벤트 중에</a:t>
              </a:r>
              <a:endParaRPr lang="en-US" altLang="ko-KR" sz="800" dirty="0"/>
            </a:p>
            <a:p>
              <a:pPr algn="ctr"/>
              <a:r>
                <a:rPr lang="ko-KR" altLang="en-US" sz="800" dirty="0"/>
                <a:t>심리 전략</a:t>
              </a:r>
              <a:r>
                <a:rPr lang="en-US" altLang="ko-KR" sz="800" dirty="0"/>
                <a:t>, </a:t>
              </a:r>
              <a:r>
                <a:rPr lang="ko-KR" altLang="en-US" sz="800" dirty="0"/>
                <a:t>사칭이 다른 이벤트들보다</a:t>
              </a:r>
              <a:endParaRPr lang="en-US" altLang="ko-KR" sz="800" dirty="0"/>
            </a:p>
            <a:p>
              <a:pPr algn="ctr"/>
              <a:r>
                <a:rPr lang="ko-KR" altLang="en-US" sz="800" dirty="0"/>
                <a:t>먼저 나오려고 하는 경향이 있다</a:t>
              </a:r>
              <a:r>
                <a:rPr lang="en-US" altLang="ko-KR" sz="800" dirty="0"/>
                <a:t>.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98C73B9-0997-4F15-9A23-9273C4831821}"/>
                </a:ext>
              </a:extLst>
            </p:cNvPr>
            <p:cNvSpPr/>
            <p:nvPr/>
          </p:nvSpPr>
          <p:spPr>
            <a:xfrm>
              <a:off x="1692648" y="3106252"/>
              <a:ext cx="1637148" cy="515169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E2746"/>
              </a:solidFill>
              <a:prstDash val="solid"/>
            </a:ln>
          </p:spPr>
          <p:txBody>
            <a:bodyPr rtlCol="0" anchor="ctr"/>
            <a:lstStyle/>
            <a:p>
              <a:pPr algn="ctr"/>
              <a:r>
                <a:rPr lang="ko-KR" altLang="en-US" sz="800" dirty="0"/>
                <a:t>우리가 선별한 </a:t>
              </a:r>
              <a:r>
                <a:rPr lang="en-US" altLang="ko-KR" sz="800" dirty="0"/>
                <a:t>4</a:t>
              </a:r>
              <a:r>
                <a:rPr lang="ko-KR" altLang="en-US" sz="800" dirty="0"/>
                <a:t>대 이벤트</a:t>
              </a:r>
              <a:r>
                <a:rPr lang="en-US" altLang="ko-KR" sz="800" dirty="0"/>
                <a:t>…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E5EF006E-D448-479C-9A67-A4466EE5B558}"/>
              </a:ext>
            </a:extLst>
          </p:cNvPr>
          <p:cNvSpPr txBox="1"/>
          <p:nvPr/>
        </p:nvSpPr>
        <p:spPr>
          <a:xfrm>
            <a:off x="368017" y="2097655"/>
            <a:ext cx="8420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판단 환경 장악 신호가 하나라도 나타난 사건 →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67.1%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어떤 방식으로 판단 환경을 장악하는지 → 긴급성 66.4%, 고립 4.3% 등 </a:t>
            </a:r>
          </a:p>
        </p:txBody>
      </p:sp>
    </p:spTree>
    <p:extLst>
      <p:ext uri="{BB962C8B-B14F-4D97-AF65-F5344CB8AC3E}">
        <p14:creationId xmlns:p14="http://schemas.microsoft.com/office/powerpoint/2010/main" val="1302290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AD65BB-8A0D-46D8-B1B7-715D79AC61DE}"/>
              </a:ext>
            </a:extLst>
          </p:cNvPr>
          <p:cNvSpPr txBox="1"/>
          <p:nvPr/>
        </p:nvSpPr>
        <p:spPr>
          <a:xfrm>
            <a:off x="368017" y="548759"/>
            <a:ext cx="67609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0B1F3A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그</a:t>
            </a:r>
            <a:r>
              <a:rPr lang="ko-KR" altLang="en-US" sz="1100" b="1" dirty="0">
                <a:solidFill>
                  <a:srgbClr val="C5D6E8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 </a:t>
            </a:r>
            <a:r>
              <a:rPr lang="en-US" altLang="ko-KR" sz="1100" b="1" dirty="0">
                <a:solidFill>
                  <a:srgbClr val="FF4B16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[</a:t>
            </a:r>
            <a:r>
              <a:rPr lang="ko-KR" altLang="en-US" sz="1100" b="1" dirty="0">
                <a:solidFill>
                  <a:srgbClr val="FF4B16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빈틈</a:t>
            </a:r>
            <a:r>
              <a:rPr lang="en-US" altLang="ko-KR" sz="1100" b="1" dirty="0">
                <a:solidFill>
                  <a:srgbClr val="FF4B16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]</a:t>
            </a:r>
            <a:r>
              <a:rPr lang="ko-KR" altLang="en-US" sz="1100" b="1" dirty="0">
                <a:solidFill>
                  <a:srgbClr val="0B1F3A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이 무엇인지 찾기위해 살펴본 </a:t>
            </a:r>
            <a:r>
              <a:rPr lang="ko-KR" altLang="en-US" sz="1100" b="1" dirty="0">
                <a:solidFill>
                  <a:schemeClr val="bg1">
                    <a:lumMod val="65000"/>
                  </a:schemeClr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보이스피싱 피해자 취약성</a:t>
            </a:r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/</a:t>
            </a:r>
            <a:r>
              <a:rPr lang="ko-KR" altLang="en-US" sz="1100" b="1" dirty="0">
                <a:solidFill>
                  <a:schemeClr val="bg1">
                    <a:lumMod val="65000"/>
                  </a:schemeClr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보이스피싱 범죄 수법</a:t>
            </a:r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/</a:t>
            </a:r>
            <a:r>
              <a:rPr lang="ko-KR" altLang="en-US" sz="1100" b="1" dirty="0">
                <a:solidFill>
                  <a:srgbClr val="FF4B16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기존 서비스의 구조</a:t>
            </a: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1648FDD6-F913-47C1-BCA5-EFF28971D737}"/>
              </a:ext>
            </a:extLst>
          </p:cNvPr>
          <p:cNvSpPr txBox="1"/>
          <p:nvPr/>
        </p:nvSpPr>
        <p:spPr>
          <a:xfrm>
            <a:off x="-64242" y="162899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50" b="1" dirty="0">
                <a:solidFill>
                  <a:srgbClr val="0B1F3A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문제도출</a:t>
            </a:r>
            <a:endParaRPr lang="en-US" sz="1050" dirty="0">
              <a:solidFill>
                <a:srgbClr val="0B1F3A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98F033F5-72F0-48F5-B4CD-FEEC97CE269F}"/>
              </a:ext>
            </a:extLst>
          </p:cNvPr>
          <p:cNvSpPr txBox="1"/>
          <p:nvPr/>
        </p:nvSpPr>
        <p:spPr>
          <a:xfrm>
            <a:off x="442381" y="810369"/>
            <a:ext cx="10698480" cy="92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기존의 장치들은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… 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보호장치가 작동해도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, 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피해자가 상황을 받아들이고 다시 판단해야 하는 순간이 남아 있다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.</a:t>
            </a:r>
          </a:p>
          <a:p>
            <a:endParaRPr lang="en-US" altLang="ko-KR" sz="2200" b="1" dirty="0">
              <a:solidFill>
                <a:srgbClr val="10213D"/>
              </a:solidFill>
              <a:latin typeface="페이퍼로지 7 Bold" pitchFamily="2" charset="-127"/>
              <a:ea typeface="페이퍼로지 7 Bold" pitchFamily="2" charset="-127"/>
              <a:cs typeface="NanumSquare Bold" pitchFamily="34" charset="-12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199838-2682-46EC-A681-052257E1942F}"/>
              </a:ext>
            </a:extLst>
          </p:cNvPr>
          <p:cNvSpPr txBox="1"/>
          <p:nvPr/>
        </p:nvSpPr>
        <p:spPr>
          <a:xfrm>
            <a:off x="368017" y="1648765"/>
            <a:ext cx="11381602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이건 **“모든 기존 서비스가 피해자에게 맡긴다”**는 과장된 주장이 아님.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실제 조사에서는 세 가지가 동시에 확인됐음.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① AI가 위험을 알려줘도 사용자가 판단하는 경우가 있다.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SKT는 에이닷 전화의 역할을 공식적으로 **“사용자의 판단을 돕는 역할”**이라고 설명해. 통화 중 AI가 위험을 감지하면 경고를 표시하지만, 사용자는 경고 팝업에서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보이스피싱 아님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을 선택할 수도 있어. 즉 AI 탐지 결과와 사용자의 최종 인식은 동일하지 않을 수 있어.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② 업계도 ‘혼자 대응하기 어려움’을 실제 문제로 보고 있다.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SKT는 가족 케어를 발표하면서 보이스피싱이 피해자를 심리적으로 압박해 **“혼자 대응하기 어렵다는 특성”**이 있다고 설명했고, 그래서 보호자에게 위험 상황을 알리고 신속한 개입을 유도한다고 밝혔어. 이건 우리가 임의로 만든 문제의식이 아니라 실제 서비스 사업자도 명시한 문제야.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③ 실제로 피해자가 송금 직전까지 사기를 믿었던 사례도 있다.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금융위원회가 공개한 실제 탐지사례 기반 예시에서 A씨는 검찰 사칭범의 요구를 따라 원격제어 앱 설치, 신규 휴대폰 개통까지 하고 ‘안전계좌’ 송금을 시도했어. 은행이 여러 위험정보를 확인해 이체를 중단하고 설명한 뒤에야 A씨가 자신이 속았다는 사실을 인지했어.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여기에 FDS 사례에서도 70세 고객의 거래가 지연된 뒤 금융회사 담당자가 직접 접촉해 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검찰사칭 보이스피싱을 인지시킨 사례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가 확인.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 세 가지를 합치면 우리가 증명할 수 있는 건 충분히 명확.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86E24F-FBD6-4632-AFAB-6C60AE7729BB}"/>
              </a:ext>
            </a:extLst>
          </p:cNvPr>
          <p:cNvSpPr txBox="1"/>
          <p:nvPr/>
        </p:nvSpPr>
        <p:spPr>
          <a:xfrm>
            <a:off x="368017" y="4368701"/>
            <a:ext cx="1013805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판단 지원</a:t>
            </a:r>
            <a:endParaRPr kumimoji="0" lang="ko-KR" altLang="ko-K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AI는 위험을 탐지하고 경고해 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사용자의 판단을 돕는다.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판단 흔들림</a:t>
            </a:r>
            <a:endParaRPr kumimoji="0" lang="ko-KR" altLang="ko-K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보이스피싱의 심리적 압박으로 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혼자 대응하기 어려운 상황이 실제로 존재한다.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재판단</a:t>
            </a:r>
            <a:endParaRPr kumimoji="0" lang="ko-KR" altLang="ko-K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피해자가 이미 사기범의 설명을 믿은 상황에서도 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외부 개입 이후 판단이 바뀐 실제 사례가 있다.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여기서 저는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혼자 판단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보다 **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재판단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**이라는 단어를 넣는 걸 추천.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왜냐하면 조사 결과 기존 시스템도 적극 개입하니까,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피해자는 항상 혼자 판단한다.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보다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피해자는 보호 과정에서도 경고를 받아들이고 상황을 재판단해야 하는 순간이 존재한다.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007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7">
            <a:extLst>
              <a:ext uri="{FF2B5EF4-FFF2-40B4-BE49-F238E27FC236}">
                <a16:creationId xmlns:a16="http://schemas.microsoft.com/office/drawing/2014/main" id="{B86AB141-D61D-4F98-88E7-DC95CF56A724}"/>
              </a:ext>
            </a:extLst>
          </p:cNvPr>
          <p:cNvSpPr txBox="1"/>
          <p:nvPr/>
        </p:nvSpPr>
        <p:spPr>
          <a:xfrm>
            <a:off x="599443" y="643651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</a:rPr>
              <a:t>보이스피싱 범죄에 노출된 금융소비자의 여정 속</a:t>
            </a:r>
            <a:r>
              <a:rPr lang="en-US" altLang="ko-KR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</a:rPr>
              <a:t>… ASAP, FDS</a:t>
            </a:r>
            <a:r>
              <a:rPr lang="ko-KR" altLang="en-US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</a:rPr>
              <a:t>를 비롯한 다양한 안정장치들</a:t>
            </a:r>
            <a:r>
              <a:rPr lang="en-US" altLang="ko-KR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</a:rPr>
              <a:t>…</a:t>
            </a:r>
            <a:endParaRPr lang="en-US" altLang="ko-KR" sz="123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18BD87C1-342C-4A32-80E8-3279A30915AE}"/>
              </a:ext>
            </a:extLst>
          </p:cNvPr>
          <p:cNvSpPr txBox="1"/>
          <p:nvPr/>
        </p:nvSpPr>
        <p:spPr>
          <a:xfrm>
            <a:off x="-64242" y="162899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현황분석</a:t>
            </a:r>
            <a:endParaRPr lang="en-US" sz="1050" dirty="0">
              <a:solidFill>
                <a:srgbClr val="0E2746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0" name="Text 6">
            <a:extLst>
              <a:ext uri="{FF2B5EF4-FFF2-40B4-BE49-F238E27FC236}">
                <a16:creationId xmlns:a16="http://schemas.microsoft.com/office/drawing/2014/main" id="{26523E4F-4D96-421D-9C85-0DBFC0114F74}"/>
              </a:ext>
            </a:extLst>
          </p:cNvPr>
          <p:cNvSpPr txBox="1"/>
          <p:nvPr/>
        </p:nvSpPr>
        <p:spPr>
          <a:xfrm>
            <a:off x="580644" y="857186"/>
            <a:ext cx="106984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헤드라인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…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33DAD100-AA45-4F56-B2C4-2B207E7BD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648704"/>
              </p:ext>
            </p:extLst>
          </p:nvPr>
        </p:nvGraphicFramePr>
        <p:xfrm>
          <a:off x="456819" y="2047875"/>
          <a:ext cx="7883008" cy="4340077"/>
        </p:xfrm>
        <a:graphic>
          <a:graphicData uri="http://schemas.openxmlformats.org/drawingml/2006/table">
            <a:tbl>
              <a:tblPr/>
              <a:tblGrid>
                <a:gridCol w="1202780">
                  <a:extLst>
                    <a:ext uri="{9D8B030D-6E8A-4147-A177-3AD203B41FA5}">
                      <a16:colId xmlns:a16="http://schemas.microsoft.com/office/drawing/2014/main" val="4137408631"/>
                    </a:ext>
                  </a:extLst>
                </a:gridCol>
                <a:gridCol w="1753643">
                  <a:extLst>
                    <a:ext uri="{9D8B030D-6E8A-4147-A177-3AD203B41FA5}">
                      <a16:colId xmlns:a16="http://schemas.microsoft.com/office/drawing/2014/main" val="2117270076"/>
                    </a:ext>
                  </a:extLst>
                </a:gridCol>
                <a:gridCol w="1950493">
                  <a:extLst>
                    <a:ext uri="{9D8B030D-6E8A-4147-A177-3AD203B41FA5}">
                      <a16:colId xmlns:a16="http://schemas.microsoft.com/office/drawing/2014/main" val="860866038"/>
                    </a:ext>
                  </a:extLst>
                </a:gridCol>
                <a:gridCol w="1412330">
                  <a:extLst>
                    <a:ext uri="{9D8B030D-6E8A-4147-A177-3AD203B41FA5}">
                      <a16:colId xmlns:a16="http://schemas.microsoft.com/office/drawing/2014/main" val="3299205817"/>
                    </a:ext>
                  </a:extLst>
                </a:gridCol>
                <a:gridCol w="1563762">
                  <a:extLst>
                    <a:ext uri="{9D8B030D-6E8A-4147-A177-3AD203B41FA5}">
                      <a16:colId xmlns:a16="http://schemas.microsoft.com/office/drawing/2014/main" val="197934767"/>
                    </a:ext>
                  </a:extLst>
                </a:gridCol>
              </a:tblGrid>
              <a:tr h="449779"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피해 단계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대표 대응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주요 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Trigger / 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정보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주요 조치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상태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088968"/>
                  </a:ext>
                </a:extLst>
              </a:tr>
              <a:tr h="449779"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전화 수신 전</a:t>
                      </a:r>
                      <a:endParaRPr lang="ko-KR" altLang="en-US" sz="10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위험번호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·AI 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안심차단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번호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신고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통신 위험정보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차단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사전경고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상용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273225"/>
                  </a:ext>
                </a:extLst>
              </a:tr>
              <a:tr h="449779"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통화 중</a:t>
                      </a:r>
                      <a:endParaRPr lang="ko-KR" altLang="en-US" sz="1000" dirty="0">
                        <a:highlight>
                          <a:srgbClr val="FFFF00"/>
                        </a:highlight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000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SKT </a:t>
                      </a:r>
                      <a:r>
                        <a:rPr lang="ko-KR" altLang="en-US" sz="1000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에이닷 </a:t>
                      </a:r>
                      <a:r>
                        <a:rPr lang="en-US" altLang="ko-KR" sz="1000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/ LG U+ </a:t>
                      </a:r>
                      <a:r>
                        <a:rPr lang="ko-KR" altLang="en-US" sz="1000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익시오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통화내용</a:t>
                      </a:r>
                      <a:r>
                        <a:rPr lang="en-US" altLang="ko-KR" sz="1000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키워드</a:t>
                      </a:r>
                      <a:r>
                        <a:rPr lang="en-US" altLang="ko-KR" sz="1000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대화패턴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실시간 위험경고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상용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523604"/>
                  </a:ext>
                </a:extLst>
              </a:tr>
              <a:tr h="449779"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통화 </a:t>
                      </a:r>
                      <a:r>
                        <a:rPr lang="ko-KR" altLang="en-US" sz="1000" b="0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중</a:t>
                      </a:r>
                      <a:r>
                        <a:rPr lang="ko-KR" altLang="en-US" sz="1000" b="1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 제</a:t>
                      </a:r>
                      <a:r>
                        <a:rPr lang="en-US" altLang="ko-KR" sz="1000" b="1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3</a:t>
                      </a:r>
                      <a:r>
                        <a:rPr lang="ko-KR" altLang="en-US" sz="1000" b="1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자</a:t>
                      </a:r>
                      <a:endParaRPr lang="ko-KR" altLang="en-US" sz="1000" dirty="0">
                        <a:highlight>
                          <a:srgbClr val="FFFF00"/>
                        </a:highlight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SKT </a:t>
                      </a:r>
                      <a:r>
                        <a:rPr lang="ko-KR" altLang="en-US" sz="1000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가족 케어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000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AI </a:t>
                      </a:r>
                      <a:r>
                        <a:rPr lang="ko-KR" altLang="en-US" sz="1000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보이스피싱 탐지 결과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가족</a:t>
                      </a:r>
                      <a:r>
                        <a:rPr lang="en-US" altLang="ko-KR" sz="1000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지인 알림</a:t>
                      </a:r>
                      <a:endParaRPr lang="en-US" altLang="ko-KR" sz="1000" dirty="0">
                        <a:highlight>
                          <a:srgbClr val="FFFF00"/>
                        </a:highlight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  <a:p>
                      <a:pPr rtl="0"/>
                      <a:r>
                        <a:rPr lang="en-US" altLang="ko-KR" sz="1000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-&gt; </a:t>
                      </a:r>
                      <a:r>
                        <a:rPr lang="ko-KR" altLang="en-US" sz="1000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통화중인 당사자의 판단이 그대로 피해로 이어지는 구간은 여전</a:t>
                      </a:r>
                      <a:r>
                        <a:rPr lang="en-US" altLang="ko-KR" sz="1000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…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상용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571845"/>
                  </a:ext>
                </a:extLst>
              </a:tr>
              <a:tr h="257017"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음성</a:t>
                      </a:r>
                      <a:r>
                        <a:rPr lang="en-US" altLang="ko-KR" sz="1000" b="1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b="1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성문 탐지</a:t>
                      </a:r>
                      <a:endParaRPr lang="ko-KR" altLang="en-US" sz="1000" dirty="0">
                        <a:highlight>
                          <a:srgbClr val="FFFF00"/>
                        </a:highlight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LG U+·KT </a:t>
                      </a:r>
                      <a:r>
                        <a:rPr lang="ko-KR" altLang="en-US" sz="1000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등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성문</a:t>
                      </a:r>
                      <a:r>
                        <a:rPr lang="en-US" altLang="ko-KR" sz="1000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음성 유사도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탐지 정확도 보조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실증</a:t>
                      </a:r>
                      <a:r>
                        <a:rPr lang="en-US" altLang="ko-KR" sz="1000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highlight>
                            <a:srgbClr val="FFFF00"/>
                          </a:highlight>
                          <a:latin typeface="페이퍼로지 4 Regular" pitchFamily="2" charset="-127"/>
                          <a:ea typeface="페이퍼로지 4 Regular" pitchFamily="2" charset="-127"/>
                        </a:rPr>
                        <a:t>고도화 포함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506201"/>
                  </a:ext>
                </a:extLst>
              </a:tr>
              <a:tr h="449779"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통신 → 금융 연계</a:t>
                      </a:r>
                      <a:endParaRPr lang="ko-KR" altLang="en-US" sz="10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LG U+ × KB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국민은행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피싱 의심정보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악성앱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위험 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URL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금융보호 시스템 연계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업무협약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추진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979364"/>
                  </a:ext>
                </a:extLst>
              </a:tr>
              <a:tr h="449779"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금융거래</a:t>
                      </a:r>
                      <a:endParaRPr lang="ko-KR" altLang="en-US" sz="10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FDS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접속정보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거래내역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이상패턴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탐지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거래제한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운영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679651"/>
                  </a:ext>
                </a:extLst>
              </a:tr>
              <a:tr h="449779"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위험정보 공유</a:t>
                      </a:r>
                      <a:endParaRPr lang="ko-KR" altLang="en-US" sz="10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ASAP + FDS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금융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통신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수사 위험정보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지급정지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거래개입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운영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고도화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591523"/>
                  </a:ext>
                </a:extLst>
              </a:tr>
              <a:tr h="449779"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>
                          <a:latin typeface="페이퍼로지 4 Regular" pitchFamily="2" charset="-127"/>
                          <a:ea typeface="페이퍼로지 4 Regular" pitchFamily="2" charset="-127"/>
                        </a:rPr>
                        <a:t>송금 단계</a:t>
                      </a:r>
                      <a:endParaRPr lang="ko-KR" altLang="en-US" sz="100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지연이체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FDS Rule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사전 설정 또는 위험정보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거래지연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중단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>
                          <a:latin typeface="페이퍼로지 4 Regular" pitchFamily="2" charset="-127"/>
                          <a:ea typeface="페이퍼로지 4 Regular" pitchFamily="2" charset="-127"/>
                        </a:rPr>
                        <a:t>운영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597177"/>
                  </a:ext>
                </a:extLst>
              </a:tr>
              <a:tr h="257017"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피해 이후</a:t>
                      </a:r>
                      <a:endParaRPr lang="ko-KR" altLang="en-US" sz="10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지급정지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피해환급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피해신고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사후 피해구제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운영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75689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69250FB-21EB-481E-8E37-E1DB3FD01FE7}"/>
              </a:ext>
            </a:extLst>
          </p:cNvPr>
          <p:cNvSpPr/>
          <p:nvPr/>
        </p:nvSpPr>
        <p:spPr>
          <a:xfrm>
            <a:off x="8448294" y="2047875"/>
            <a:ext cx="3400806" cy="4340076"/>
          </a:xfrm>
          <a:prstGeom prst="rect">
            <a:avLst/>
          </a:prstGeom>
          <a:solidFill>
            <a:schemeClr val="bg1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전화 수신 전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페이퍼로지 7 Bold" pitchFamily="2" charset="-127"/>
              <a:ea typeface="페이퍼로지 7 Bold" pitchFamily="2" charset="-127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위험번호 / AI 안심차단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↓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번호·통신 위험정보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↓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통화 중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페이퍼로지 7 Bold" pitchFamily="2" charset="-127"/>
              <a:ea typeface="페이퍼로지 7 Bold" pitchFamily="2" charset="-127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SKT 에이닷 / LG U+ 익시오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↓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통화내용·대화패턴 AI 분석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↓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사용자 경고 / 일부 가족·지인 알림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↓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페이퍼로지 7 Bold" pitchFamily="2" charset="-127"/>
              <a:ea typeface="페이퍼로지 7 Bold" pitchFamily="2" charset="-127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━━━━━━━━━━━━━━━━━━━━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dirty="0">
                <a:solidFill>
                  <a:srgbClr val="FF4B16"/>
                </a:solidFill>
                <a:latin typeface="Arial" panose="020B0604020202020204" pitchFamily="34" charset="0"/>
                <a:ea typeface="페이퍼로지 7 Bold" pitchFamily="2" charset="-127"/>
              </a:rPr>
              <a:t>피해자의 재판단</a:t>
            </a:r>
            <a:endParaRPr lang="en-US" altLang="ko-KR" sz="1200" dirty="0">
              <a:solidFill>
                <a:srgbClr val="FF4B16"/>
              </a:solidFill>
              <a:latin typeface="Arial" panose="020B0604020202020204" pitchFamily="34" charset="0"/>
              <a:ea typeface="페이퍼로지 7 Bold" pitchFamily="2" charset="-127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━━━━━━━━━━━━━━━━━━━━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페이퍼로지 7 Bold" pitchFamily="2" charset="-127"/>
              <a:ea typeface="페이퍼로지 7 Bold" pitchFamily="2" charset="-127"/>
            </a:endParaRPr>
          </a:p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↓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페이퍼로지 7 Bold" pitchFamily="2" charset="-127"/>
              <a:ea typeface="페이퍼로지 7 Bold" pitchFamily="2" charset="-127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금융행동·송금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페이퍼로지 7 Bold" pitchFamily="2" charset="-127"/>
              <a:ea typeface="페이퍼로지 7 Bold" pitchFamily="2" charset="-127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ASAP + FDS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↓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계좌·거래·통신·수사 Risk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↓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추가확인 / 거래지연 / 지급정지 / 거래중단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↓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피해 이후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페이퍼로지 7 Bold" pitchFamily="2" charset="-127"/>
              <a:ea typeface="페이퍼로지 7 Bold" pitchFamily="2" charset="-127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신고 / 지급정지 / 피해환급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88EB88-DB0A-466C-9B94-80BDD4D750EB}"/>
              </a:ext>
            </a:extLst>
          </p:cNvPr>
          <p:cNvSpPr/>
          <p:nvPr/>
        </p:nvSpPr>
        <p:spPr>
          <a:xfrm>
            <a:off x="13084302" y="3332384"/>
            <a:ext cx="2762250" cy="2611567"/>
          </a:xfrm>
          <a:prstGeom prst="rect">
            <a:avLst/>
          </a:prstGeom>
          <a:solidFill>
            <a:srgbClr val="FF0000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ko-KR" altLang="en-US" dirty="0"/>
              <a:t>수정 필요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045D07-90C5-4805-8AE0-7FFBCCEA0E9D}"/>
              </a:ext>
            </a:extLst>
          </p:cNvPr>
          <p:cNvSpPr/>
          <p:nvPr/>
        </p:nvSpPr>
        <p:spPr>
          <a:xfrm>
            <a:off x="2523066" y="-1033098"/>
            <a:ext cx="7281334" cy="1439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3. </a:t>
            </a:r>
            <a:r>
              <a:rPr lang="ko-KR" altLang="en-US" dirty="0"/>
              <a:t>현재 솔루션 </a:t>
            </a:r>
            <a:r>
              <a:rPr lang="en-US" altLang="ko-KR" dirty="0"/>
              <a:t>= </a:t>
            </a:r>
            <a:r>
              <a:rPr lang="ko-KR" altLang="en-US" dirty="0"/>
              <a:t>서비스들의 구조</a:t>
            </a:r>
            <a:endParaRPr lang="en-US" altLang="ko-KR" dirty="0"/>
          </a:p>
          <a:p>
            <a:pPr algn="ctr"/>
            <a:r>
              <a:rPr lang="ko-KR" altLang="en-US" dirty="0"/>
              <a:t>최종 판단을 당사자가 직접하게 하는 부분들이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1558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7CFCB84-7209-4241-9D79-99F2D845833A}"/>
              </a:ext>
            </a:extLst>
          </p:cNvPr>
          <p:cNvSpPr>
            <a:spLocks noGrp="1"/>
          </p:cNvSpPr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DF0B674-4F8E-45E7-BF23-745EB2AABF39}"/>
              </a:ext>
            </a:extLst>
          </p:cNvPr>
          <p:cNvSpPr>
            <a:spLocks noGrp="1"/>
          </p:cNvSpPr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E860FD7-7E9A-44BF-BEDD-C68D0240E3B9}"/>
              </a:ext>
            </a:extLst>
          </p:cNvPr>
          <p:cNvSpPr>
            <a:spLocks noGrp="1"/>
          </p:cNvSpPr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B3C3913-103A-4142-90CC-D2E23A8BFCAD}"/>
              </a:ext>
            </a:extLst>
          </p:cNvPr>
          <p:cNvSpPr>
            <a:spLocks noGrp="1"/>
          </p:cNvSpPr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669E2DA-3C9E-4592-9674-2E5B611F8E69}"/>
              </a:ext>
            </a:extLst>
          </p:cNvPr>
          <p:cNvSpPr>
            <a:spLocks noGrp="1"/>
          </p:cNvSpPr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9A70ABB-1D51-4F4A-9D7B-5C616EDFDE70}"/>
              </a:ext>
            </a:extLst>
          </p:cNvPr>
          <p:cNvSpPr>
            <a:spLocks noGrp="1"/>
          </p:cNvSpPr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1F5EFF"/>
                </a:solidFill>
                <a:latin typeface="NanumSquare Bold"/>
                <a:ea typeface="NanumSquare Bold"/>
                <a:cs typeface="NanumSquare Bold"/>
              </a:rPr>
              <a:t>문제도출</a:t>
            </a:r>
            <a:endParaRPr sz="105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92F1803-B6B6-467E-A229-C138E3795835}"/>
              </a:ext>
            </a:extLst>
          </p:cNvPr>
          <p:cNvSpPr>
            <a:spLocks noGrp="1"/>
          </p:cNvSpPr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  <a:defRPr sz="2800" b="1">
                <a:solidFill>
                  <a:srgbClr val="10213D"/>
                </a:solidFill>
                <a:latin typeface="NanumSquare Bold"/>
                <a:ea typeface="NanumSquare Bold"/>
                <a:cs typeface="NanumSquare Bold"/>
              </a:defRPr>
            </a:pPr>
            <a:r>
              <a:rPr sz="2800" b="1">
                <a:solidFill>
                  <a:srgbClr val="10213D"/>
                </a:solidFill>
                <a:latin typeface="NanumSquare Bold"/>
                <a:ea typeface="NanumSquare Bold"/>
                <a:cs typeface="NanumSquare Bold"/>
              </a:rPr>
              <a:t>보호장치는 작동한다. 그러나 ‘재판단’의 순간은 남는다</a:t>
            </a:r>
            <a:endParaRPr sz="28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E44DAA5-10C0-46AA-8053-EBCDAE0BFEE8}"/>
              </a:ext>
            </a:extLst>
          </p:cNvPr>
          <p:cNvSpPr>
            <a:spLocks noGrp="1"/>
          </p:cNvSpPr>
          <p:nvPr/>
        </p:nvSpPr>
        <p:spPr>
          <a:xfrm>
            <a:off x="585216" y="6019800"/>
            <a:ext cx="10515600" cy="22860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marL="0" indent="0" algn="l">
              <a:buNone/>
              <a:defRPr sz="1065">
                <a:solidFill>
                  <a:srgbClr val="66768F"/>
                </a:solidFill>
                <a:latin typeface="NanumSquare"/>
                <a:ea typeface="NanumSquare"/>
                <a:cs typeface="NanumSquare"/>
              </a:defRPr>
            </a:pPr>
            <a:r>
              <a:rPr sz="1065">
                <a:solidFill>
                  <a:srgbClr val="66768F"/>
                </a:solidFill>
                <a:latin typeface="NanumSquare"/>
                <a:ea typeface="NanumSquare"/>
                <a:cs typeface="NanumSquare"/>
              </a:rPr>
              <a:t>출처: news.sktelecom.com/218051·217274·224228 / fsc.go.kr/no010101/87565</a:t>
            </a:r>
            <a:endParaRPr sz="123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1D41809-62C1-4765-9C92-3C7A4E6C2833}"/>
              </a:ext>
            </a:extLst>
          </p:cNvPr>
          <p:cNvSpPr>
            <a:spLocks noGrp="1"/>
          </p:cNvSpPr>
          <p:nvPr/>
        </p:nvSpPr>
        <p:spPr>
          <a:xfrm>
            <a:off x="694944" y="1984248"/>
            <a:ext cx="3429000" cy="475488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marL="0" indent="0" algn="l">
              <a:buNone/>
              <a:defRPr sz="2250" b="1">
                <a:solidFill>
                  <a:srgbClr val="1F5EFF"/>
                </a:solidFill>
                <a:latin typeface="NanumSquare Bold"/>
                <a:ea typeface="NanumSquare Bold"/>
                <a:cs typeface="NanumSquare Bold"/>
              </a:defRPr>
            </a:pPr>
            <a:r>
              <a:rPr sz="2250" b="1">
                <a:solidFill>
                  <a:srgbClr val="1F5EFF"/>
                </a:solidFill>
                <a:latin typeface="NanumSquare Bold"/>
                <a:ea typeface="NanumSquare Bold"/>
                <a:cs typeface="NanumSquare Bold"/>
              </a:rPr>
              <a:t>공식자료에서 확인된</a:t>
            </a:r>
            <a:endParaRPr sz="28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729120C-40A9-4397-993C-BAA7099B0152}"/>
              </a:ext>
            </a:extLst>
          </p:cNvPr>
          <p:cNvSpPr>
            <a:spLocks noGrp="1"/>
          </p:cNvSpPr>
          <p:nvPr/>
        </p:nvSpPr>
        <p:spPr>
          <a:xfrm>
            <a:off x="4171950" y="1984248"/>
            <a:ext cx="5810250" cy="475488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marL="0" indent="0" algn="l">
              <a:buNone/>
              <a:defRPr sz="2250" b="1">
                <a:solidFill>
                  <a:srgbClr val="10213D"/>
                </a:solidFill>
                <a:latin typeface="NanumSquare Bold"/>
                <a:ea typeface="NanumSquare Bold"/>
                <a:cs typeface="NanumSquare Bold"/>
              </a:defRPr>
            </a:pPr>
            <a:r>
              <a:rPr sz="2250" b="1">
                <a:solidFill>
                  <a:srgbClr val="10213D"/>
                </a:solidFill>
                <a:latin typeface="NanumSquare Bold"/>
                <a:ea typeface="NanumSquare Bold"/>
                <a:cs typeface="NanumSquare Bold"/>
              </a:rPr>
              <a:t>판단·재판단의 세 장면</a:t>
            </a:r>
            <a:endParaRPr sz="28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343E6EE-7E5D-41A4-A754-FAE3A3347B8F}"/>
              </a:ext>
            </a:extLst>
          </p:cNvPr>
          <p:cNvSpPr>
            <a:spLocks noGrp="1"/>
          </p:cNvSpPr>
          <p:nvPr/>
        </p:nvSpPr>
        <p:spPr>
          <a:xfrm>
            <a:off x="713232" y="2807208"/>
            <a:ext cx="2990088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D23FCE3-48B4-4700-BD8A-0DA0EA1FCCEC}"/>
              </a:ext>
            </a:extLst>
          </p:cNvPr>
          <p:cNvSpPr>
            <a:spLocks noGrp="1"/>
          </p:cNvSpPr>
          <p:nvPr/>
        </p:nvSpPr>
        <p:spPr>
          <a:xfrm>
            <a:off x="914400" y="299923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100" b="1">
                <a:solidFill>
                  <a:srgbClr val="1F5EFF"/>
                </a:solidFill>
                <a:latin typeface="NanumSquare Bold"/>
                <a:ea typeface="NanumSquare Bold"/>
                <a:cs typeface="NanumSquare Bold"/>
              </a:rPr>
              <a:t>01</a:t>
            </a:r>
            <a:endParaRPr sz="11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4F8F473-9E50-4FEC-BCDA-44BFC7AF5CC3}"/>
              </a:ext>
            </a:extLst>
          </p:cNvPr>
          <p:cNvSpPr>
            <a:spLocks noGrp="1"/>
          </p:cNvSpPr>
          <p:nvPr/>
        </p:nvSpPr>
        <p:spPr>
          <a:xfrm>
            <a:off x="914400" y="3364992"/>
            <a:ext cx="2514600" cy="310896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marL="0" indent="0" algn="l">
              <a:buNone/>
              <a:defRPr sz="1500" b="1">
                <a:solidFill>
                  <a:srgbClr val="10213D"/>
                </a:solidFill>
                <a:latin typeface="NanumSquare Bold"/>
                <a:ea typeface="NanumSquare Bold"/>
                <a:cs typeface="NanumSquare Bold"/>
              </a:defRPr>
            </a:pPr>
            <a:r>
              <a:rPr sz="1500" b="1">
                <a:solidFill>
                  <a:srgbClr val="10213D"/>
                </a:solidFill>
                <a:latin typeface="NanumSquare Bold"/>
                <a:ea typeface="NanumSquare Bold"/>
                <a:cs typeface="NanumSquare Bold"/>
              </a:rPr>
              <a:t>AI는 위험을 ‘알려준다’</a:t>
            </a:r>
            <a:endParaRPr sz="15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9B71583-3DB7-4083-8C63-B50284EBE895}"/>
              </a:ext>
            </a:extLst>
          </p:cNvPr>
          <p:cNvSpPr>
            <a:spLocks noGrp="1"/>
          </p:cNvSpPr>
          <p:nvPr/>
        </p:nvSpPr>
        <p:spPr>
          <a:xfrm>
            <a:off x="914400" y="3724275"/>
            <a:ext cx="2505456" cy="819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defRPr sz="1060">
                <a:solidFill>
                  <a:srgbClr val="66768F"/>
                </a:solidFill>
                <a:latin typeface="NanumSquare"/>
                <a:ea typeface="NanumSquare"/>
                <a:cs typeface="NanumSquare"/>
              </a:defRPr>
            </a:pPr>
            <a:r>
              <a:rPr sz="1060" b="1">
                <a:solidFill>
                  <a:srgbClr val="66768F"/>
                </a:solidFill>
                <a:latin typeface="NanumSquare"/>
                <a:ea typeface="NanumSquare"/>
                <a:cs typeface="NanumSquare"/>
              </a:rPr>
              <a:t>SKT 에이닷 전화</a:t>
            </a:r>
          </a:p>
          <a:p>
            <a:pPr algn="l">
              <a:defRPr sz="1060">
                <a:solidFill>
                  <a:srgbClr val="66768F"/>
                </a:solidFill>
                <a:latin typeface="NanumSquare"/>
                <a:ea typeface="NanumSquare"/>
                <a:cs typeface="NanumSquare"/>
              </a:defRPr>
            </a:pPr>
            <a:r>
              <a:rPr sz="1060">
                <a:solidFill>
                  <a:srgbClr val="66768F"/>
                </a:solidFill>
                <a:latin typeface="NanumSquare"/>
                <a:ea typeface="NanumSquare"/>
                <a:cs typeface="NanumSquare"/>
              </a:rPr>
              <a:t>AI 위험탐지 → 사용자 경고</a:t>
            </a:r>
          </a:p>
          <a:p>
            <a:pPr algn="l">
              <a:defRPr sz="1060">
                <a:solidFill>
                  <a:srgbClr val="66768F"/>
                </a:solidFill>
                <a:latin typeface="NanumSquare"/>
                <a:ea typeface="NanumSquare"/>
                <a:cs typeface="NanumSquare"/>
              </a:defRPr>
            </a:pPr>
            <a:r>
              <a:rPr sz="1060" b="1">
                <a:solidFill>
                  <a:srgbClr val="66768F"/>
                </a:solidFill>
                <a:latin typeface="NanumSquare"/>
                <a:ea typeface="NanumSquare"/>
                <a:cs typeface="NanumSquare"/>
              </a:rPr>
              <a:t>→ 사용자의 판단 지원</a:t>
            </a:r>
          </a:p>
          <a:p>
            <a:pPr algn="l">
              <a:defRPr sz="1060">
                <a:solidFill>
                  <a:srgbClr val="66768F"/>
                </a:solidFill>
                <a:latin typeface="NanumSquare"/>
                <a:ea typeface="NanumSquare"/>
                <a:cs typeface="NanumSquare"/>
              </a:defRPr>
            </a:pPr>
            <a:r>
              <a:rPr sz="1060" b="1">
                <a:solidFill>
                  <a:srgbClr val="66768F"/>
                </a:solidFill>
                <a:latin typeface="NanumSquare"/>
                <a:ea typeface="NanumSquare"/>
                <a:cs typeface="NanumSquare"/>
              </a:rPr>
              <a:t>“사용자의 판단을 돕는 역할”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BE2ED29-330E-4205-8254-A0BACDB85897}"/>
              </a:ext>
            </a:extLst>
          </p:cNvPr>
          <p:cNvSpPr>
            <a:spLocks noGrp="1"/>
          </p:cNvSpPr>
          <p:nvPr/>
        </p:nvSpPr>
        <p:spPr>
          <a:xfrm>
            <a:off x="4059936" y="2807208"/>
            <a:ext cx="2990088" cy="1874520"/>
          </a:xfrm>
          <a:prstGeom prst="roundRect">
            <a:avLst>
              <a:gd name="adj" fmla="val 8780"/>
            </a:avLst>
          </a:prstGeom>
          <a:solidFill>
            <a:srgbClr val="F1F6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EC62DA6-C932-4065-86B0-936043B03B9D}"/>
              </a:ext>
            </a:extLst>
          </p:cNvPr>
          <p:cNvSpPr>
            <a:spLocks noGrp="1"/>
          </p:cNvSpPr>
          <p:nvPr/>
        </p:nvSpPr>
        <p:spPr>
          <a:xfrm>
            <a:off x="4261104" y="299923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100" b="1">
                <a:solidFill>
                  <a:srgbClr val="1F5EFF"/>
                </a:solidFill>
                <a:latin typeface="NanumSquare Bold"/>
                <a:ea typeface="NanumSquare Bold"/>
                <a:cs typeface="NanumSquare Bold"/>
              </a:rPr>
              <a:t>02</a:t>
            </a:r>
            <a:endParaRPr sz="11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5996104-6747-40F2-A86E-959B5C17ABEE}"/>
              </a:ext>
            </a:extLst>
          </p:cNvPr>
          <p:cNvSpPr>
            <a:spLocks noGrp="1"/>
          </p:cNvSpPr>
          <p:nvPr/>
        </p:nvSpPr>
        <p:spPr>
          <a:xfrm>
            <a:off x="4261104" y="3364992"/>
            <a:ext cx="2514600" cy="310896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marL="0" indent="0" algn="l">
              <a:buNone/>
              <a:defRPr sz="1500" b="1">
                <a:solidFill>
                  <a:srgbClr val="10213D"/>
                </a:solidFill>
                <a:latin typeface="NanumSquare Bold"/>
                <a:ea typeface="NanumSquare Bold"/>
                <a:cs typeface="NanumSquare Bold"/>
              </a:defRPr>
            </a:pPr>
            <a:r>
              <a:rPr sz="1500" b="1">
                <a:solidFill>
                  <a:srgbClr val="10213D"/>
                </a:solidFill>
                <a:latin typeface="NanumSquare Bold"/>
                <a:ea typeface="NanumSquare Bold"/>
                <a:cs typeface="NanumSquare Bold"/>
              </a:rPr>
              <a:t>혼자 대응하기 어렵다</a:t>
            </a:r>
            <a:endParaRPr sz="15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3D57AC5-13A5-42D4-BF3B-7B343CE1C362}"/>
              </a:ext>
            </a:extLst>
          </p:cNvPr>
          <p:cNvSpPr>
            <a:spLocks noGrp="1"/>
          </p:cNvSpPr>
          <p:nvPr/>
        </p:nvSpPr>
        <p:spPr>
          <a:xfrm>
            <a:off x="4261104" y="3724275"/>
            <a:ext cx="2505456" cy="819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defRPr sz="1060">
                <a:solidFill>
                  <a:srgbClr val="66768F"/>
                </a:solidFill>
                <a:latin typeface="NanumSquare"/>
                <a:ea typeface="NanumSquare"/>
                <a:cs typeface="NanumSquare"/>
              </a:defRPr>
            </a:pPr>
            <a:r>
              <a:rPr sz="1060" b="1">
                <a:solidFill>
                  <a:srgbClr val="66768F"/>
                </a:solidFill>
                <a:latin typeface="NanumSquare"/>
                <a:ea typeface="NanumSquare"/>
                <a:cs typeface="NanumSquare"/>
              </a:rPr>
              <a:t>SKT 에이닷 가족 케어</a:t>
            </a:r>
          </a:p>
          <a:p>
            <a:pPr algn="l">
              <a:defRPr sz="1060">
                <a:solidFill>
                  <a:srgbClr val="66768F"/>
                </a:solidFill>
                <a:latin typeface="NanumSquare"/>
                <a:ea typeface="NanumSquare"/>
                <a:cs typeface="NanumSquare"/>
              </a:defRPr>
            </a:pPr>
            <a:r>
              <a:rPr sz="1060">
                <a:solidFill>
                  <a:srgbClr val="66768F"/>
                </a:solidFill>
                <a:latin typeface="NanumSquare"/>
                <a:ea typeface="NanumSquare"/>
                <a:cs typeface="NanumSquare"/>
              </a:rPr>
              <a:t>AI 위험탐지 → 보호자 알림</a:t>
            </a:r>
          </a:p>
          <a:p>
            <a:pPr algn="l">
              <a:defRPr sz="1060">
                <a:solidFill>
                  <a:srgbClr val="66768F"/>
                </a:solidFill>
                <a:latin typeface="NanumSquare"/>
                <a:ea typeface="NanumSquare"/>
                <a:cs typeface="NanumSquare"/>
              </a:defRPr>
            </a:pPr>
            <a:r>
              <a:rPr sz="1060" b="1">
                <a:solidFill>
                  <a:srgbClr val="66768F"/>
                </a:solidFill>
                <a:latin typeface="NanumSquare"/>
                <a:ea typeface="NanumSquare"/>
                <a:cs typeface="NanumSquare"/>
              </a:rPr>
              <a:t>→ 외부 개입 유도</a:t>
            </a:r>
          </a:p>
          <a:p>
            <a:pPr algn="l">
              <a:defRPr sz="1060">
                <a:solidFill>
                  <a:srgbClr val="66768F"/>
                </a:solidFill>
                <a:latin typeface="NanumSquare"/>
                <a:ea typeface="NanumSquare"/>
                <a:cs typeface="NanumSquare"/>
              </a:defRPr>
            </a:pPr>
            <a:r>
              <a:rPr sz="1060" b="1">
                <a:solidFill>
                  <a:srgbClr val="66768F"/>
                </a:solidFill>
                <a:latin typeface="NanumSquare"/>
                <a:ea typeface="NanumSquare"/>
                <a:cs typeface="NanumSquare"/>
              </a:rPr>
              <a:t>“혼자 대응하기 어렵다”</a:t>
            </a: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F984B20-D3B1-47B8-ABA0-90551461682A}"/>
              </a:ext>
            </a:extLst>
          </p:cNvPr>
          <p:cNvSpPr>
            <a:spLocks noGrp="1"/>
          </p:cNvSpPr>
          <p:nvPr/>
        </p:nvSpPr>
        <p:spPr>
          <a:xfrm>
            <a:off x="7406640" y="2807208"/>
            <a:ext cx="2990088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5E3CF3B-9E52-41F0-8768-F2042EB591EB}"/>
              </a:ext>
            </a:extLst>
          </p:cNvPr>
          <p:cNvSpPr>
            <a:spLocks noGrp="1"/>
          </p:cNvSpPr>
          <p:nvPr/>
        </p:nvSpPr>
        <p:spPr>
          <a:xfrm>
            <a:off x="7607808" y="299923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100" b="1">
                <a:solidFill>
                  <a:srgbClr val="1F5EFF"/>
                </a:solidFill>
                <a:latin typeface="NanumSquare Bold"/>
                <a:ea typeface="NanumSquare Bold"/>
                <a:cs typeface="NanumSquare Bold"/>
              </a:rPr>
              <a:t>03</a:t>
            </a:r>
            <a:endParaRPr sz="11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8E1DDC6-3C91-479B-964A-545D55BBAA13}"/>
              </a:ext>
            </a:extLst>
          </p:cNvPr>
          <p:cNvSpPr>
            <a:spLocks noGrp="1"/>
          </p:cNvSpPr>
          <p:nvPr/>
        </p:nvSpPr>
        <p:spPr>
          <a:xfrm>
            <a:off x="7607808" y="3364992"/>
            <a:ext cx="2514600" cy="310896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marL="0" indent="0" algn="l">
              <a:buNone/>
              <a:defRPr sz="1500" b="1">
                <a:solidFill>
                  <a:srgbClr val="10213D"/>
                </a:solidFill>
                <a:latin typeface="NanumSquare Bold"/>
                <a:ea typeface="NanumSquare Bold"/>
                <a:cs typeface="NanumSquare Bold"/>
              </a:defRPr>
            </a:pPr>
            <a:r>
              <a:rPr sz="1500" b="1">
                <a:solidFill>
                  <a:srgbClr val="10213D"/>
                </a:solidFill>
                <a:latin typeface="NanumSquare Bold"/>
                <a:ea typeface="NanumSquare Bold"/>
                <a:cs typeface="NanumSquare Bold"/>
              </a:rPr>
              <a:t>잘못된 판단 → 송금 시도</a:t>
            </a:r>
            <a:endParaRPr sz="15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3415E91-F111-43C7-9406-5F8855949565}"/>
              </a:ext>
            </a:extLst>
          </p:cNvPr>
          <p:cNvSpPr>
            <a:spLocks noGrp="1"/>
          </p:cNvSpPr>
          <p:nvPr/>
        </p:nvSpPr>
        <p:spPr>
          <a:xfrm>
            <a:off x="7607808" y="3724275"/>
            <a:ext cx="2505456" cy="819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defRPr sz="1060">
                <a:solidFill>
                  <a:srgbClr val="66768F"/>
                </a:solidFill>
                <a:latin typeface="NanumSquare"/>
                <a:ea typeface="NanumSquare"/>
                <a:cs typeface="NanumSquare"/>
              </a:defRPr>
            </a:pPr>
            <a:r>
              <a:rPr sz="1060" b="1">
                <a:solidFill>
                  <a:srgbClr val="66768F"/>
                </a:solidFill>
                <a:latin typeface="NanumSquare"/>
                <a:ea typeface="NanumSquare"/>
                <a:cs typeface="NanumSquare"/>
              </a:rPr>
              <a:t>금융위 ASAP·FDS 사례</a:t>
            </a:r>
          </a:p>
          <a:p>
            <a:pPr algn="l">
              <a:defRPr sz="1060">
                <a:solidFill>
                  <a:srgbClr val="66768F"/>
                </a:solidFill>
                <a:latin typeface="NanumSquare"/>
                <a:ea typeface="NanumSquare"/>
                <a:cs typeface="NanumSquare"/>
              </a:defRPr>
            </a:pPr>
            <a:r>
              <a:rPr sz="1060">
                <a:solidFill>
                  <a:srgbClr val="66768F"/>
                </a:solidFill>
                <a:latin typeface="NanumSquare"/>
                <a:ea typeface="NanumSquare"/>
                <a:cs typeface="NanumSquare"/>
              </a:rPr>
              <a:t>검찰 사칭 신뢰 → 송금 시도</a:t>
            </a:r>
          </a:p>
          <a:p>
            <a:pPr algn="l">
              <a:defRPr sz="1060">
                <a:solidFill>
                  <a:srgbClr val="66768F"/>
                </a:solidFill>
                <a:latin typeface="NanumSquare"/>
                <a:ea typeface="NanumSquare"/>
                <a:cs typeface="NanumSquare"/>
              </a:defRPr>
            </a:pPr>
            <a:r>
              <a:rPr sz="1060" b="1">
                <a:solidFill>
                  <a:srgbClr val="66768F"/>
                </a:solidFill>
                <a:latin typeface="NanumSquare"/>
                <a:ea typeface="NanumSquare"/>
                <a:cs typeface="NanumSquare"/>
              </a:rPr>
              <a:t>→ 은행 이체중단·연락</a:t>
            </a:r>
          </a:p>
          <a:p>
            <a:pPr algn="l">
              <a:defRPr sz="1060">
                <a:solidFill>
                  <a:srgbClr val="66768F"/>
                </a:solidFill>
                <a:latin typeface="NanumSquare"/>
                <a:ea typeface="NanumSquare"/>
                <a:cs typeface="NanumSquare"/>
              </a:defRPr>
            </a:pPr>
            <a:r>
              <a:rPr sz="1060" b="1">
                <a:solidFill>
                  <a:srgbClr val="66768F"/>
                </a:solidFill>
                <a:latin typeface="NanumSquare"/>
                <a:ea typeface="NanumSquare"/>
                <a:cs typeface="NanumSquare"/>
              </a:rPr>
              <a:t>→ 피해 인지</a:t>
            </a: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80DA29C7-6AD7-4462-BC6F-9BAFE420FEA0}"/>
              </a:ext>
            </a:extLst>
          </p:cNvPr>
          <p:cNvSpPr>
            <a:spLocks noGrp="1"/>
          </p:cNvSpPr>
          <p:nvPr/>
        </p:nvSpPr>
        <p:spPr>
          <a:xfrm>
            <a:off x="1353312" y="5102352"/>
            <a:ext cx="9491472" cy="749808"/>
          </a:xfrm>
          <a:prstGeom prst="roundRect">
            <a:avLst>
              <a:gd name="adj" fmla="val 21951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51C8CEB-E56F-401C-AF34-8E13AEBEFDA0}"/>
              </a:ext>
            </a:extLst>
          </p:cNvPr>
          <p:cNvSpPr>
            <a:spLocks noGrp="1"/>
          </p:cNvSpPr>
          <p:nvPr/>
        </p:nvSpPr>
        <p:spPr>
          <a:xfrm>
            <a:off x="1664208" y="5321808"/>
            <a:ext cx="8869680" cy="292608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marL="0" indent="0" algn="ctr">
              <a:buNone/>
              <a:defRPr sz="1365" b="1">
                <a:solidFill>
                  <a:srgbClr val="FFFFFF"/>
                </a:solidFill>
                <a:latin typeface="NanumSquare Bold"/>
                <a:ea typeface="NanumSquare Bold"/>
                <a:cs typeface="NanumSquare Bold"/>
              </a:defRPr>
            </a:pPr>
            <a:r>
              <a:rPr sz="1365" b="1">
                <a:solidFill>
                  <a:srgbClr val="FFFFFF"/>
                </a:solidFill>
                <a:latin typeface="NanumSquare Bold"/>
                <a:ea typeface="NanumSquare Bold"/>
                <a:cs typeface="NanumSquare Bold"/>
              </a:rPr>
              <a:t>위험을 탐지하는 것과, 피해자가 그 위험을 믿고 올바르게 판단하는 것은 같은 문제가 아니다.</a:t>
            </a:r>
            <a:endParaRPr sz="1420"/>
          </a:p>
        </p:txBody>
      </p:sp>
      <p:sp>
        <p:nvSpPr>
          <p:cNvPr id="26" name="Slide Number Placeholder 0">
            <a:extLst>
              <a:ext uri="{FF2B5EF4-FFF2-40B4-BE49-F238E27FC236}">
                <a16:creationId xmlns:a16="http://schemas.microsoft.com/office/drawing/2014/main" id="{F0F46329-7F7F-4535-AB81-41198DD83CEB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</p:spPr>
        <p:txBody>
          <a:bodyPr/>
          <a:lstStyle>
            <a:lvl1pPr>
              <a:buNone/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7868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D49AFBD-73FE-4BAC-9012-5F58F42510BC}"/>
              </a:ext>
            </a:extLst>
          </p:cNvPr>
          <p:cNvSpPr>
            <a:spLocks noGrp="1"/>
          </p:cNvSpPr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8AA3FC5-3B5F-4DB8-8754-9E3B47DF49A9}"/>
              </a:ext>
            </a:extLst>
          </p:cNvPr>
          <p:cNvSpPr>
            <a:spLocks noGrp="1"/>
          </p:cNvSpPr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CC597F7-A3D9-41CF-8778-2D937DA93A5C}"/>
              </a:ext>
            </a:extLst>
          </p:cNvPr>
          <p:cNvSpPr>
            <a:spLocks noGrp="1"/>
          </p:cNvSpPr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540E840-6E5D-484D-8944-8230B06EE8AD}"/>
              </a:ext>
            </a:extLst>
          </p:cNvPr>
          <p:cNvSpPr>
            <a:spLocks noGrp="1"/>
          </p:cNvSpPr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0AB7CCE-B4B8-4CEC-B5EF-C0BF045AC18B}"/>
              </a:ext>
            </a:extLst>
          </p:cNvPr>
          <p:cNvSpPr>
            <a:spLocks noGrp="1"/>
          </p:cNvSpPr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E7AD2D4-98E7-4694-ABEA-3196B99A2946}"/>
              </a:ext>
            </a:extLst>
          </p:cNvPr>
          <p:cNvSpPr>
            <a:spLocks noGrp="1"/>
          </p:cNvSpPr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1F5EFF"/>
                </a:solidFill>
                <a:latin typeface="NanumSquare Bold"/>
                <a:ea typeface="NanumSquare Bold"/>
                <a:cs typeface="NanumSquare Bold"/>
              </a:rPr>
              <a:t>공식근거</a:t>
            </a:r>
            <a:endParaRPr sz="105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44C8C88-47E4-4FE6-8BF6-5987BA96B4C0}"/>
              </a:ext>
            </a:extLst>
          </p:cNvPr>
          <p:cNvSpPr>
            <a:spLocks noGrp="1"/>
          </p:cNvSpPr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marL="0" indent="0" algn="l">
              <a:buNone/>
              <a:defRPr sz="2800" b="1">
                <a:solidFill>
                  <a:srgbClr val="10213D"/>
                </a:solidFill>
                <a:latin typeface="NanumSquare Bold"/>
                <a:ea typeface="NanumSquare Bold"/>
                <a:cs typeface="NanumSquare Bold"/>
              </a:defRPr>
            </a:pPr>
            <a:r>
              <a:rPr sz="2800" b="1">
                <a:solidFill>
                  <a:srgbClr val="10213D"/>
                </a:solidFill>
                <a:latin typeface="NanumSquare Bold"/>
                <a:ea typeface="NanumSquare Bold"/>
                <a:cs typeface="NanumSquare Bold"/>
              </a:rPr>
              <a:t>8P 핵심 주장 — 공식자료 교차검증</a:t>
            </a:r>
            <a:endParaRPr sz="28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D8611A7-F0F2-4519-A19A-757B5C13BF2C}"/>
              </a:ext>
            </a:extLst>
          </p:cNvPr>
          <p:cNvSpPr>
            <a:spLocks noGrp="1"/>
          </p:cNvSpPr>
          <p:nvPr/>
        </p:nvSpPr>
        <p:spPr>
          <a:xfrm>
            <a:off x="585216" y="5724525"/>
            <a:ext cx="10515600" cy="63817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defRPr sz="840">
                <a:solidFill>
                  <a:srgbClr val="66768F"/>
                </a:solidFill>
                <a:latin typeface="NanumSquare"/>
                <a:ea typeface="NanumSquare"/>
                <a:cs typeface="NanumSquare"/>
              </a:defRPr>
            </a:pPr>
            <a:r>
              <a:rPr sz="840">
                <a:solidFill>
                  <a:srgbClr val="66768F"/>
                </a:solidFill>
                <a:latin typeface="NanumSquare"/>
                <a:ea typeface="NanumSquare"/>
                <a:cs typeface="NanumSquare"/>
              </a:rPr>
              <a:t>※ 기존 보호체계 전체가 사용자 판단에만 의존한다는 의미가 아닙니다. 금융기관·시스템이 직접 거래에 개입하는 보호수단도 존재합니다.</a:t>
            </a:r>
          </a:p>
          <a:p>
            <a:pPr algn="l">
              <a:defRPr sz="840">
                <a:solidFill>
                  <a:srgbClr val="66768F"/>
                </a:solidFill>
                <a:latin typeface="NanumSquare"/>
                <a:ea typeface="NanumSquare"/>
                <a:cs typeface="NanumSquare"/>
              </a:defRPr>
            </a:pPr>
            <a:r>
              <a:rPr sz="840">
                <a:solidFill>
                  <a:srgbClr val="66768F"/>
                </a:solidFill>
                <a:latin typeface="NanumSquare"/>
                <a:ea typeface="NanumSquare"/>
                <a:cs typeface="NanumSquare"/>
              </a:rPr>
              <a:t>본 분석은 보호 과정에서 사용자의 판단·재판단이 요구되는 순간이 실제 존재하는지를 확인한 것입니다.</a:t>
            </a:r>
          </a:p>
          <a:p>
            <a:pPr algn="l">
              <a:defRPr sz="840">
                <a:solidFill>
                  <a:srgbClr val="66768F"/>
                </a:solidFill>
                <a:latin typeface="NanumSquare"/>
                <a:ea typeface="NanumSquare"/>
                <a:cs typeface="NanumSquare"/>
              </a:defRPr>
            </a:pPr>
            <a:r>
              <a:rPr sz="840" b="1">
                <a:solidFill>
                  <a:srgbClr val="66768F"/>
                </a:solidFill>
                <a:latin typeface="NanumSquare"/>
                <a:ea typeface="NanumSquare"/>
                <a:cs typeface="NanumSquare"/>
              </a:rPr>
              <a:t>출처: SKT 뉴스룸 218051·217274·224228 / LG유플러스 뉴스룸 20057 / 금융위원회 87565·86997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122F877-AB78-49EF-AEC1-E9E110619584}"/>
              </a:ext>
            </a:extLst>
          </p:cNvPr>
          <p:cNvSpPr>
            <a:spLocks noGrp="1"/>
          </p:cNvSpPr>
          <p:nvPr/>
        </p:nvSpPr>
        <p:spPr>
          <a:xfrm>
            <a:off x="713232" y="1847088"/>
            <a:ext cx="1444752" cy="493776"/>
          </a:xfrm>
          <a:prstGeom prst="roundRect">
            <a:avLst>
              <a:gd name="adj" fmla="val 11111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2BB749C-5C48-4F67-9227-3312842502FD}"/>
              </a:ext>
            </a:extLst>
          </p:cNvPr>
          <p:cNvSpPr>
            <a:spLocks noGrp="1"/>
          </p:cNvSpPr>
          <p:nvPr/>
        </p:nvSpPr>
        <p:spPr>
          <a:xfrm>
            <a:off x="786384" y="1947672"/>
            <a:ext cx="129844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 sz="1150" b="1">
                <a:solidFill>
                  <a:srgbClr val="FFFFFF"/>
                </a:solidFill>
                <a:latin typeface="NanumSquare Bold"/>
                <a:ea typeface="NanumSquare Bold"/>
                <a:cs typeface="NanumSquare Bold"/>
              </a:defRPr>
            </a:pPr>
            <a:r>
              <a:rPr sz="1150" b="1">
                <a:solidFill>
                  <a:srgbClr val="FFFFFF"/>
                </a:solidFill>
                <a:latin typeface="NanumSquare Bold"/>
                <a:ea typeface="NanumSquare Bold"/>
                <a:cs typeface="NanumSquare Bold"/>
              </a:rPr>
              <a:t>대응수단</a:t>
            </a:r>
            <a:endParaRPr sz="11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8888E65-3D74-4017-9461-55F7DCFE7347}"/>
              </a:ext>
            </a:extLst>
          </p:cNvPr>
          <p:cNvSpPr>
            <a:spLocks noGrp="1"/>
          </p:cNvSpPr>
          <p:nvPr/>
        </p:nvSpPr>
        <p:spPr>
          <a:xfrm>
            <a:off x="2240280" y="1847088"/>
            <a:ext cx="4023360" cy="493776"/>
          </a:xfrm>
          <a:prstGeom prst="roundRect">
            <a:avLst>
              <a:gd name="adj" fmla="val 11111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4A7381E-FD6D-44D6-BE1B-6B2639955825}"/>
              </a:ext>
            </a:extLst>
          </p:cNvPr>
          <p:cNvSpPr>
            <a:spLocks noGrp="1"/>
          </p:cNvSpPr>
          <p:nvPr/>
        </p:nvSpPr>
        <p:spPr>
          <a:xfrm>
            <a:off x="2313432" y="1947672"/>
            <a:ext cx="3877056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 sz="1150" b="1">
                <a:solidFill>
                  <a:srgbClr val="FFFFFF"/>
                </a:solidFill>
                <a:latin typeface="NanumSquare Bold"/>
                <a:ea typeface="NanumSquare Bold"/>
                <a:cs typeface="NanumSquare Bold"/>
              </a:defRPr>
            </a:pPr>
            <a:r>
              <a:rPr sz="1150" b="1">
                <a:solidFill>
                  <a:srgbClr val="FFFFFF"/>
                </a:solidFill>
                <a:latin typeface="NanumSquare Bold"/>
                <a:ea typeface="NanumSquare Bold"/>
                <a:cs typeface="NanumSquare Bold"/>
              </a:rPr>
              <a:t>공식자료에서 확인된 조치</a:t>
            </a:r>
            <a:endParaRPr sz="11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3E28DAE-6913-4A34-AED0-1386CC9950BA}"/>
              </a:ext>
            </a:extLst>
          </p:cNvPr>
          <p:cNvSpPr>
            <a:spLocks noGrp="1"/>
          </p:cNvSpPr>
          <p:nvPr/>
        </p:nvSpPr>
        <p:spPr>
          <a:xfrm>
            <a:off x="6382512" y="1847088"/>
            <a:ext cx="2697480" cy="493776"/>
          </a:xfrm>
          <a:prstGeom prst="roundRect">
            <a:avLst>
              <a:gd name="adj" fmla="val 11111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BF9B225-F4EA-4A36-9900-CB2368590B75}"/>
              </a:ext>
            </a:extLst>
          </p:cNvPr>
          <p:cNvSpPr>
            <a:spLocks noGrp="1"/>
          </p:cNvSpPr>
          <p:nvPr/>
        </p:nvSpPr>
        <p:spPr>
          <a:xfrm>
            <a:off x="6455664" y="1947672"/>
            <a:ext cx="2551176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 sz="1150" b="1">
                <a:solidFill>
                  <a:srgbClr val="FFFFFF"/>
                </a:solidFill>
                <a:latin typeface="NanumSquare Bold"/>
                <a:ea typeface="NanumSquare Bold"/>
                <a:cs typeface="NanumSquare Bold"/>
              </a:defRPr>
            </a:pPr>
            <a:r>
              <a:rPr sz="1150" b="1">
                <a:solidFill>
                  <a:srgbClr val="FFFFFF"/>
                </a:solidFill>
                <a:latin typeface="NanumSquare Bold"/>
                <a:ea typeface="NanumSquare Bold"/>
                <a:cs typeface="NanumSquare Bold"/>
              </a:rPr>
              <a:t>주요 판단·개입 주체</a:t>
            </a:r>
            <a:endParaRPr sz="11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D9B1BA7-892F-45F3-A8DF-187C564DC9A7}"/>
              </a:ext>
            </a:extLst>
          </p:cNvPr>
          <p:cNvSpPr>
            <a:spLocks noGrp="1"/>
          </p:cNvSpPr>
          <p:nvPr/>
        </p:nvSpPr>
        <p:spPr>
          <a:xfrm>
            <a:off x="9189720" y="1847088"/>
            <a:ext cx="2267712" cy="493776"/>
          </a:xfrm>
          <a:prstGeom prst="roundRect">
            <a:avLst>
              <a:gd name="adj" fmla="val 11111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1014EF1-2781-4403-A368-D3532FA3E1DE}"/>
              </a:ext>
            </a:extLst>
          </p:cNvPr>
          <p:cNvSpPr>
            <a:spLocks noGrp="1"/>
          </p:cNvSpPr>
          <p:nvPr/>
        </p:nvSpPr>
        <p:spPr>
          <a:xfrm>
            <a:off x="9262872" y="1947672"/>
            <a:ext cx="212140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 sz="1150" b="1">
                <a:solidFill>
                  <a:srgbClr val="FFFFFF"/>
                </a:solidFill>
                <a:latin typeface="NanumSquare Bold"/>
                <a:ea typeface="NanumSquare Bold"/>
                <a:cs typeface="NanumSquare Bold"/>
              </a:defRPr>
            </a:pPr>
            <a:r>
              <a:rPr sz="1150" b="1">
                <a:solidFill>
                  <a:srgbClr val="FFFFFF"/>
                </a:solidFill>
                <a:latin typeface="NanumSquare Bold"/>
                <a:ea typeface="NanumSquare Bold"/>
                <a:cs typeface="NanumSquare Bold"/>
              </a:rPr>
              <a:t>해석</a:t>
            </a:r>
            <a:endParaRPr sz="11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45A1911-9333-4412-8D92-BDF9A2BC4200}"/>
              </a:ext>
            </a:extLst>
          </p:cNvPr>
          <p:cNvSpPr>
            <a:spLocks noGrp="1"/>
          </p:cNvSpPr>
          <p:nvPr/>
        </p:nvSpPr>
        <p:spPr>
          <a:xfrm>
            <a:off x="713232" y="2414016"/>
            <a:ext cx="1444752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ADFA9A0-8427-4041-8C62-937B00967252}"/>
              </a:ext>
            </a:extLst>
          </p:cNvPr>
          <p:cNvSpPr>
            <a:spLocks noGrp="1"/>
          </p:cNvSpPr>
          <p:nvPr/>
        </p:nvSpPr>
        <p:spPr>
          <a:xfrm>
            <a:off x="804672" y="2523744"/>
            <a:ext cx="1261872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 sz="1125" b="1">
                <a:solidFill>
                  <a:srgbClr val="1F5EFF"/>
                </a:solidFill>
                <a:latin typeface="NanumSquare Bold"/>
                <a:ea typeface="NanumSquare Bold"/>
                <a:cs typeface="NanumSquare Bold"/>
              </a:defRPr>
            </a:pPr>
            <a:r>
              <a:rPr sz="1125" b="1">
                <a:solidFill>
                  <a:srgbClr val="1F5EFF"/>
                </a:solidFill>
                <a:latin typeface="NanumSquare Bold"/>
                <a:ea typeface="NanumSquare Bold"/>
                <a:cs typeface="NanumSquare Bold"/>
              </a:rPr>
              <a:t>SKT 에이닷</a:t>
            </a:r>
            <a:endParaRPr sz="1200"/>
          </a:p>
          <a:p>
            <a:pPr marL="0" indent="0" algn="ctr">
              <a:buNone/>
              <a:defRPr sz="1125" b="1">
                <a:solidFill>
                  <a:srgbClr val="1F5EFF"/>
                </a:solidFill>
                <a:latin typeface="NanumSquare Bold"/>
                <a:ea typeface="NanumSquare Bold"/>
                <a:cs typeface="NanumSquare Bold"/>
              </a:defRPr>
            </a:pPr>
            <a:r>
              <a:rPr sz="1125" b="1">
                <a:solidFill>
                  <a:srgbClr val="1F5EFF"/>
                </a:solidFill>
                <a:latin typeface="NanumSquare Bold"/>
                <a:ea typeface="NanumSquare Bold"/>
                <a:cs typeface="NanumSquare Bold"/>
              </a:rPr>
              <a:t>통화 AI</a:t>
            </a:r>
            <a:endParaRPr sz="12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3719916-CBBE-4ADC-BB09-CFD3DFF58353}"/>
              </a:ext>
            </a:extLst>
          </p:cNvPr>
          <p:cNvSpPr>
            <a:spLocks noGrp="1"/>
          </p:cNvSpPr>
          <p:nvPr/>
        </p:nvSpPr>
        <p:spPr>
          <a:xfrm>
            <a:off x="2240280" y="2414016"/>
            <a:ext cx="402336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4DA8E51-8E02-463D-9030-6E60FF1D2BD4}"/>
              </a:ext>
            </a:extLst>
          </p:cNvPr>
          <p:cNvSpPr>
            <a:spLocks noGrp="1"/>
          </p:cNvSpPr>
          <p:nvPr/>
        </p:nvSpPr>
        <p:spPr>
          <a:xfrm>
            <a:off x="2331720" y="2523744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  <a:defRPr sz="1058">
                <a:solidFill>
                  <a:srgbClr val="10213D"/>
                </a:solidFill>
                <a:latin typeface="NanumSquare"/>
                <a:ea typeface="NanumSquare"/>
                <a:cs typeface="NanumSquare"/>
              </a:defRPr>
            </a:pPr>
            <a:r>
              <a:rPr sz="1058">
                <a:solidFill>
                  <a:srgbClr val="10213D"/>
                </a:solidFill>
                <a:latin typeface="NanumSquare"/>
                <a:ea typeface="NanumSquare"/>
                <a:cs typeface="NanumSquare"/>
              </a:rPr>
              <a:t>AI 위험탐지·사용자 경고</a:t>
            </a:r>
            <a:endParaRPr sz="107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41D2F9F-897E-4CAD-915A-1BC3BA3C8FA7}"/>
              </a:ext>
            </a:extLst>
          </p:cNvPr>
          <p:cNvSpPr>
            <a:spLocks noGrp="1"/>
          </p:cNvSpPr>
          <p:nvPr/>
        </p:nvSpPr>
        <p:spPr>
          <a:xfrm>
            <a:off x="6382512" y="2414016"/>
            <a:ext cx="269748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B8E26E0-1BB9-4DC6-9FF8-522C615A8FBB}"/>
              </a:ext>
            </a:extLst>
          </p:cNvPr>
          <p:cNvSpPr>
            <a:spLocks noGrp="1"/>
          </p:cNvSpPr>
          <p:nvPr/>
        </p:nvSpPr>
        <p:spPr>
          <a:xfrm>
            <a:off x="6473952" y="2523744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 sz="1058">
                <a:solidFill>
                  <a:srgbClr val="10213D"/>
                </a:solidFill>
                <a:latin typeface="NanumSquare"/>
                <a:ea typeface="NanumSquare"/>
                <a:cs typeface="NanumSquare"/>
              </a:defRPr>
            </a:pPr>
            <a:r>
              <a:rPr sz="1058">
                <a:solidFill>
                  <a:srgbClr val="10213D"/>
                </a:solidFill>
                <a:latin typeface="NanumSquare"/>
                <a:ea typeface="NanumSquare"/>
                <a:cs typeface="NanumSquare"/>
              </a:rPr>
              <a:t>사용자</a:t>
            </a:r>
            <a:endParaRPr sz="107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05BD7FB1-FBEE-4C9A-8740-C49CA47BDB3A}"/>
              </a:ext>
            </a:extLst>
          </p:cNvPr>
          <p:cNvSpPr>
            <a:spLocks noGrp="1"/>
          </p:cNvSpPr>
          <p:nvPr/>
        </p:nvSpPr>
        <p:spPr>
          <a:xfrm>
            <a:off x="9189720" y="2414016"/>
            <a:ext cx="2267712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7C1455A-CECB-42DD-9E24-B490EA976BCC}"/>
              </a:ext>
            </a:extLst>
          </p:cNvPr>
          <p:cNvSpPr>
            <a:spLocks noGrp="1"/>
          </p:cNvSpPr>
          <p:nvPr/>
        </p:nvSpPr>
        <p:spPr>
          <a:xfrm>
            <a:off x="9281160" y="2523744"/>
            <a:ext cx="2084832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 sz="1058" b="1">
                <a:solidFill>
                  <a:srgbClr val="10213D"/>
                </a:solidFill>
                <a:latin typeface="NanumSquare Bold"/>
                <a:ea typeface="NanumSquare Bold"/>
                <a:cs typeface="NanumSquare Bold"/>
              </a:defRPr>
            </a:pPr>
            <a:r>
              <a:rPr sz="1058" b="1">
                <a:solidFill>
                  <a:srgbClr val="10213D"/>
                </a:solidFill>
                <a:latin typeface="NanumSquare Bold"/>
                <a:ea typeface="NanumSquare Bold"/>
                <a:cs typeface="NanumSquare Bold"/>
              </a:rPr>
              <a:t>판단 지원형</a:t>
            </a:r>
            <a:endParaRPr sz="107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5FB870D-F185-4CA8-9527-EE60C88EA90B}"/>
              </a:ext>
            </a:extLst>
          </p:cNvPr>
          <p:cNvSpPr>
            <a:spLocks noGrp="1"/>
          </p:cNvSpPr>
          <p:nvPr/>
        </p:nvSpPr>
        <p:spPr>
          <a:xfrm>
            <a:off x="713232" y="3127248"/>
            <a:ext cx="1444752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19E3188-B97A-4FA3-8FC9-8A0724FA5888}"/>
              </a:ext>
            </a:extLst>
          </p:cNvPr>
          <p:cNvSpPr>
            <a:spLocks noGrp="1"/>
          </p:cNvSpPr>
          <p:nvPr/>
        </p:nvSpPr>
        <p:spPr>
          <a:xfrm>
            <a:off x="804672" y="3236976"/>
            <a:ext cx="1261872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 sz="1125" b="1">
                <a:solidFill>
                  <a:srgbClr val="1F5EFF"/>
                </a:solidFill>
                <a:latin typeface="NanumSquare Bold"/>
                <a:ea typeface="NanumSquare Bold"/>
                <a:cs typeface="NanumSquare Bold"/>
              </a:defRPr>
            </a:pPr>
            <a:r>
              <a:rPr sz="1125" b="1">
                <a:solidFill>
                  <a:srgbClr val="1F5EFF"/>
                </a:solidFill>
                <a:latin typeface="NanumSquare Bold"/>
                <a:ea typeface="NanumSquare Bold"/>
                <a:cs typeface="NanumSquare Bold"/>
              </a:rPr>
              <a:t>LG U+ 익시오</a:t>
            </a:r>
            <a:endParaRPr sz="120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0E157AFF-98EE-4DF8-A338-4A9A3A55D4EC}"/>
              </a:ext>
            </a:extLst>
          </p:cNvPr>
          <p:cNvSpPr>
            <a:spLocks noGrp="1"/>
          </p:cNvSpPr>
          <p:nvPr/>
        </p:nvSpPr>
        <p:spPr>
          <a:xfrm>
            <a:off x="2240280" y="3127248"/>
            <a:ext cx="4023360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EA327357-1102-42EB-BE59-ECB3D859FC7F}"/>
              </a:ext>
            </a:extLst>
          </p:cNvPr>
          <p:cNvSpPr>
            <a:spLocks noGrp="1"/>
          </p:cNvSpPr>
          <p:nvPr/>
        </p:nvSpPr>
        <p:spPr>
          <a:xfrm>
            <a:off x="2331720" y="3236976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  <a:defRPr sz="1058">
                <a:solidFill>
                  <a:srgbClr val="10213D"/>
                </a:solidFill>
                <a:latin typeface="NanumSquare"/>
                <a:ea typeface="NanumSquare"/>
                <a:cs typeface="NanumSquare"/>
              </a:defRPr>
            </a:pPr>
            <a:r>
              <a:rPr sz="1058">
                <a:solidFill>
                  <a:srgbClr val="10213D"/>
                </a:solidFill>
                <a:latin typeface="NanumSquare"/>
                <a:ea typeface="NanumSquare"/>
                <a:cs typeface="NanumSquare"/>
              </a:rPr>
              <a:t>통화패턴 분석·사용자 알림</a:t>
            </a:r>
            <a:endParaRPr sz="107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E69FF6C4-DE6A-4126-B012-56E23A31A0EC}"/>
              </a:ext>
            </a:extLst>
          </p:cNvPr>
          <p:cNvSpPr>
            <a:spLocks noGrp="1"/>
          </p:cNvSpPr>
          <p:nvPr/>
        </p:nvSpPr>
        <p:spPr>
          <a:xfrm>
            <a:off x="6382512" y="3127248"/>
            <a:ext cx="2697480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A6332BE5-4E2D-4B13-9271-294A8B776B09}"/>
              </a:ext>
            </a:extLst>
          </p:cNvPr>
          <p:cNvSpPr>
            <a:spLocks noGrp="1"/>
          </p:cNvSpPr>
          <p:nvPr/>
        </p:nvSpPr>
        <p:spPr>
          <a:xfrm>
            <a:off x="6473952" y="3236976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 sz="1058">
                <a:solidFill>
                  <a:srgbClr val="10213D"/>
                </a:solidFill>
                <a:latin typeface="NanumSquare"/>
                <a:ea typeface="NanumSquare"/>
                <a:cs typeface="NanumSquare"/>
              </a:defRPr>
            </a:pPr>
            <a:r>
              <a:rPr sz="1058">
                <a:solidFill>
                  <a:srgbClr val="10213D"/>
                </a:solidFill>
                <a:latin typeface="NanumSquare"/>
                <a:ea typeface="NanumSquare"/>
                <a:cs typeface="NanumSquare"/>
              </a:rPr>
              <a:t>사용자</a:t>
            </a:r>
            <a:endParaRPr sz="107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494A6870-7D83-47C4-9EB2-EA36C1903B0F}"/>
              </a:ext>
            </a:extLst>
          </p:cNvPr>
          <p:cNvSpPr>
            <a:spLocks noGrp="1"/>
          </p:cNvSpPr>
          <p:nvPr/>
        </p:nvSpPr>
        <p:spPr>
          <a:xfrm>
            <a:off x="9189720" y="3127248"/>
            <a:ext cx="2267712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33E326D3-0C9A-4D9A-BF6E-749DE9612B56}"/>
              </a:ext>
            </a:extLst>
          </p:cNvPr>
          <p:cNvSpPr>
            <a:spLocks noGrp="1"/>
          </p:cNvSpPr>
          <p:nvPr/>
        </p:nvSpPr>
        <p:spPr>
          <a:xfrm>
            <a:off x="9281160" y="3236976"/>
            <a:ext cx="2084832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 sz="1058" b="1">
                <a:solidFill>
                  <a:srgbClr val="10213D"/>
                </a:solidFill>
                <a:latin typeface="NanumSquare Bold"/>
                <a:ea typeface="NanumSquare Bold"/>
                <a:cs typeface="NanumSquare Bold"/>
              </a:defRPr>
            </a:pPr>
            <a:r>
              <a:rPr sz="1058" b="1">
                <a:solidFill>
                  <a:srgbClr val="10213D"/>
                </a:solidFill>
                <a:latin typeface="NanumSquare Bold"/>
                <a:ea typeface="NanumSquare Bold"/>
                <a:cs typeface="NanumSquare Bold"/>
              </a:rPr>
              <a:t>판단 지원형</a:t>
            </a:r>
            <a:endParaRPr sz="107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A32C8EE9-F625-43E1-BA61-DAF559B3DC60}"/>
              </a:ext>
            </a:extLst>
          </p:cNvPr>
          <p:cNvSpPr>
            <a:spLocks noGrp="1"/>
          </p:cNvSpPr>
          <p:nvPr/>
        </p:nvSpPr>
        <p:spPr>
          <a:xfrm>
            <a:off x="713232" y="3840480"/>
            <a:ext cx="1444752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BD63279A-A705-455F-9D26-129F4E8F2171}"/>
              </a:ext>
            </a:extLst>
          </p:cNvPr>
          <p:cNvSpPr>
            <a:spLocks noGrp="1"/>
          </p:cNvSpPr>
          <p:nvPr/>
        </p:nvSpPr>
        <p:spPr>
          <a:xfrm>
            <a:off x="804672" y="3950208"/>
            <a:ext cx="1261872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 sz="1125" b="1">
                <a:solidFill>
                  <a:srgbClr val="1F5EFF"/>
                </a:solidFill>
                <a:latin typeface="NanumSquare Bold"/>
                <a:ea typeface="NanumSquare Bold"/>
                <a:cs typeface="NanumSquare Bold"/>
              </a:defRPr>
            </a:pPr>
            <a:r>
              <a:rPr sz="1125" b="1">
                <a:solidFill>
                  <a:srgbClr val="1F5EFF"/>
                </a:solidFill>
                <a:latin typeface="NanumSquare Bold"/>
                <a:ea typeface="NanumSquare Bold"/>
                <a:cs typeface="NanumSquare Bold"/>
              </a:rPr>
              <a:t>SKT 가족 케어</a:t>
            </a:r>
            <a:endParaRPr sz="120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DCD11698-456D-4A95-A404-59B22458653C}"/>
              </a:ext>
            </a:extLst>
          </p:cNvPr>
          <p:cNvSpPr>
            <a:spLocks noGrp="1"/>
          </p:cNvSpPr>
          <p:nvPr/>
        </p:nvSpPr>
        <p:spPr>
          <a:xfrm>
            <a:off x="2240280" y="3840480"/>
            <a:ext cx="402336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855552BB-F6D5-407C-A9C6-91FA7715513D}"/>
              </a:ext>
            </a:extLst>
          </p:cNvPr>
          <p:cNvSpPr>
            <a:spLocks noGrp="1"/>
          </p:cNvSpPr>
          <p:nvPr/>
        </p:nvSpPr>
        <p:spPr>
          <a:xfrm>
            <a:off x="2331720" y="3950208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  <a:defRPr sz="1058">
                <a:solidFill>
                  <a:srgbClr val="10213D"/>
                </a:solidFill>
                <a:latin typeface="NanumSquare"/>
                <a:ea typeface="NanumSquare"/>
                <a:cs typeface="NanumSquare"/>
              </a:defRPr>
            </a:pPr>
            <a:r>
              <a:rPr sz="1058">
                <a:solidFill>
                  <a:srgbClr val="10213D"/>
                </a:solidFill>
                <a:latin typeface="NanumSquare"/>
                <a:ea typeface="NanumSquare"/>
                <a:cs typeface="NanumSquare"/>
              </a:rPr>
              <a:t>보호자에게 위험 알림</a:t>
            </a:r>
            <a:endParaRPr sz="107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1E6D2081-E012-4BAD-88AB-94B49F497034}"/>
              </a:ext>
            </a:extLst>
          </p:cNvPr>
          <p:cNvSpPr>
            <a:spLocks noGrp="1"/>
          </p:cNvSpPr>
          <p:nvPr/>
        </p:nvSpPr>
        <p:spPr>
          <a:xfrm>
            <a:off x="6382512" y="3840480"/>
            <a:ext cx="269748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C617F04C-1AB7-4677-A05E-20DA8C05E790}"/>
              </a:ext>
            </a:extLst>
          </p:cNvPr>
          <p:cNvSpPr>
            <a:spLocks noGrp="1"/>
          </p:cNvSpPr>
          <p:nvPr/>
        </p:nvSpPr>
        <p:spPr>
          <a:xfrm>
            <a:off x="6473952" y="3950208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 sz="1058">
                <a:solidFill>
                  <a:srgbClr val="10213D"/>
                </a:solidFill>
                <a:latin typeface="NanumSquare"/>
                <a:ea typeface="NanumSquare"/>
                <a:cs typeface="NanumSquare"/>
              </a:defRPr>
            </a:pPr>
            <a:r>
              <a:rPr sz="1058">
                <a:solidFill>
                  <a:srgbClr val="10213D"/>
                </a:solidFill>
                <a:latin typeface="NanumSquare"/>
                <a:ea typeface="NanumSquare"/>
                <a:cs typeface="NanumSquare"/>
              </a:rPr>
              <a:t>사용자 + 보호자</a:t>
            </a:r>
            <a:endParaRPr sz="107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8B1014B2-B8CB-4257-BCFD-03E5653AC3C3}"/>
              </a:ext>
            </a:extLst>
          </p:cNvPr>
          <p:cNvSpPr>
            <a:spLocks noGrp="1"/>
          </p:cNvSpPr>
          <p:nvPr/>
        </p:nvSpPr>
        <p:spPr>
          <a:xfrm>
            <a:off x="9189720" y="3840480"/>
            <a:ext cx="2267712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7D91B494-3646-425B-994C-7ADA09EBD9C9}"/>
              </a:ext>
            </a:extLst>
          </p:cNvPr>
          <p:cNvSpPr>
            <a:spLocks noGrp="1"/>
          </p:cNvSpPr>
          <p:nvPr/>
        </p:nvSpPr>
        <p:spPr>
          <a:xfrm>
            <a:off x="9281160" y="3950208"/>
            <a:ext cx="2084832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 sz="1058" b="1">
                <a:solidFill>
                  <a:srgbClr val="10213D"/>
                </a:solidFill>
                <a:latin typeface="NanumSquare Bold"/>
                <a:ea typeface="NanumSquare Bold"/>
                <a:cs typeface="NanumSquare Bold"/>
              </a:defRPr>
            </a:pPr>
            <a:r>
              <a:rPr sz="1058" b="1">
                <a:solidFill>
                  <a:srgbClr val="10213D"/>
                </a:solidFill>
                <a:latin typeface="NanumSquare Bold"/>
                <a:ea typeface="NanumSquare Bold"/>
                <a:cs typeface="NanumSquare Bold"/>
              </a:rPr>
              <a:t>제3자 알림형</a:t>
            </a:r>
            <a:endParaRPr sz="107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0A63935A-98D5-4E81-BDCA-5006E8EBB82D}"/>
              </a:ext>
            </a:extLst>
          </p:cNvPr>
          <p:cNvSpPr>
            <a:spLocks noGrp="1"/>
          </p:cNvSpPr>
          <p:nvPr/>
        </p:nvSpPr>
        <p:spPr>
          <a:xfrm>
            <a:off x="713232" y="4553712"/>
            <a:ext cx="1444752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7B9F5E64-BAAF-416F-833B-5C881C0EE485}"/>
              </a:ext>
            </a:extLst>
          </p:cNvPr>
          <p:cNvSpPr>
            <a:spLocks noGrp="1"/>
          </p:cNvSpPr>
          <p:nvPr/>
        </p:nvSpPr>
        <p:spPr>
          <a:xfrm>
            <a:off x="804672" y="4663440"/>
            <a:ext cx="1261872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 sz="1125" b="1">
                <a:solidFill>
                  <a:srgbClr val="1F5EFF"/>
                </a:solidFill>
                <a:latin typeface="NanumSquare Bold"/>
                <a:ea typeface="NanumSquare Bold"/>
                <a:cs typeface="NanumSquare Bold"/>
              </a:defRPr>
            </a:pPr>
            <a:r>
              <a:rPr sz="1125" b="1">
                <a:solidFill>
                  <a:srgbClr val="1F5EFF"/>
                </a:solidFill>
                <a:latin typeface="NanumSquare Bold"/>
                <a:ea typeface="NanumSquare Bold"/>
                <a:cs typeface="NanumSquare Bold"/>
              </a:rPr>
              <a:t>FDS Rule</a:t>
            </a:r>
            <a:endParaRPr sz="120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205068F4-30D9-4216-BF19-0105B899EDA6}"/>
              </a:ext>
            </a:extLst>
          </p:cNvPr>
          <p:cNvSpPr>
            <a:spLocks noGrp="1"/>
          </p:cNvSpPr>
          <p:nvPr/>
        </p:nvSpPr>
        <p:spPr>
          <a:xfrm>
            <a:off x="2240280" y="4553712"/>
            <a:ext cx="4023360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A2D41BF6-AF06-4808-8B43-88EBA2A122F5}"/>
              </a:ext>
            </a:extLst>
          </p:cNvPr>
          <p:cNvSpPr>
            <a:spLocks noGrp="1"/>
          </p:cNvSpPr>
          <p:nvPr/>
        </p:nvSpPr>
        <p:spPr>
          <a:xfrm>
            <a:off x="2331720" y="466344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  <a:defRPr sz="1058">
                <a:solidFill>
                  <a:srgbClr val="10213D"/>
                </a:solidFill>
                <a:latin typeface="NanumSquare"/>
                <a:ea typeface="NanumSquare"/>
                <a:cs typeface="NanumSquare"/>
              </a:defRPr>
            </a:pPr>
            <a:r>
              <a:rPr sz="1058">
                <a:solidFill>
                  <a:srgbClr val="10213D"/>
                </a:solidFill>
                <a:latin typeface="NanumSquare"/>
                <a:ea typeface="NanumSquare"/>
                <a:cs typeface="NanumSquare"/>
              </a:rPr>
              <a:t>자동 거래지연 + 금융회사 직원 확인</a:t>
            </a:r>
            <a:endParaRPr sz="107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2308691C-ACF0-47D9-B485-4FE01B0B6900}"/>
              </a:ext>
            </a:extLst>
          </p:cNvPr>
          <p:cNvSpPr>
            <a:spLocks noGrp="1"/>
          </p:cNvSpPr>
          <p:nvPr/>
        </p:nvSpPr>
        <p:spPr>
          <a:xfrm>
            <a:off x="6382512" y="4553712"/>
            <a:ext cx="2697480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068BD231-4E3D-43C2-8A59-97C19908C33A}"/>
              </a:ext>
            </a:extLst>
          </p:cNvPr>
          <p:cNvSpPr>
            <a:spLocks noGrp="1"/>
          </p:cNvSpPr>
          <p:nvPr/>
        </p:nvSpPr>
        <p:spPr>
          <a:xfrm>
            <a:off x="6473952" y="466344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 sz="1058">
                <a:solidFill>
                  <a:srgbClr val="10213D"/>
                </a:solidFill>
                <a:latin typeface="NanumSquare"/>
                <a:ea typeface="NanumSquare"/>
                <a:cs typeface="NanumSquare"/>
              </a:defRPr>
            </a:pPr>
            <a:r>
              <a:rPr sz="1058">
                <a:solidFill>
                  <a:srgbClr val="10213D"/>
                </a:solidFill>
                <a:latin typeface="NanumSquare"/>
                <a:ea typeface="NanumSquare"/>
                <a:cs typeface="NanumSquare"/>
              </a:rPr>
              <a:t>시스템 + 금융기관</a:t>
            </a:r>
            <a:endParaRPr sz="107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07B35C6C-CEF0-44EA-B223-ADCA160C53BB}"/>
              </a:ext>
            </a:extLst>
          </p:cNvPr>
          <p:cNvSpPr>
            <a:spLocks noGrp="1"/>
          </p:cNvSpPr>
          <p:nvPr/>
        </p:nvSpPr>
        <p:spPr>
          <a:xfrm>
            <a:off x="9189720" y="4553712"/>
            <a:ext cx="2267712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9AA227CB-075E-4FF9-ACCC-0D0BB2B6D030}"/>
              </a:ext>
            </a:extLst>
          </p:cNvPr>
          <p:cNvSpPr>
            <a:spLocks noGrp="1"/>
          </p:cNvSpPr>
          <p:nvPr/>
        </p:nvSpPr>
        <p:spPr>
          <a:xfrm>
            <a:off x="9281160" y="4663440"/>
            <a:ext cx="2084832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 sz="1058" b="1">
                <a:solidFill>
                  <a:srgbClr val="10213D"/>
                </a:solidFill>
                <a:latin typeface="NanumSquare Bold"/>
                <a:ea typeface="NanumSquare Bold"/>
                <a:cs typeface="NanumSquare Bold"/>
              </a:defRPr>
            </a:pPr>
            <a:r>
              <a:rPr sz="1058" b="1">
                <a:solidFill>
                  <a:srgbClr val="10213D"/>
                </a:solidFill>
                <a:latin typeface="NanumSquare Bold"/>
                <a:ea typeface="NanumSquare Bold"/>
                <a:cs typeface="NanumSquare Bold"/>
              </a:rPr>
              <a:t>외부 개입형</a:t>
            </a:r>
            <a:endParaRPr sz="107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A0F558F9-2905-432A-A2AB-FDFDF2F47E97}"/>
              </a:ext>
            </a:extLst>
          </p:cNvPr>
          <p:cNvSpPr>
            <a:spLocks noGrp="1"/>
          </p:cNvSpPr>
          <p:nvPr/>
        </p:nvSpPr>
        <p:spPr>
          <a:xfrm>
            <a:off x="713232" y="5276850"/>
            <a:ext cx="10744200" cy="381000"/>
          </a:xfrm>
          <a:prstGeom prst="roundRect">
            <a:avLst>
              <a:gd name="adj" fmla="val 28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300942A9-E0B4-48C0-B3B7-8A3F60461001}"/>
              </a:ext>
            </a:extLst>
          </p:cNvPr>
          <p:cNvSpPr>
            <a:spLocks noGrp="1"/>
          </p:cNvSpPr>
          <p:nvPr/>
        </p:nvSpPr>
        <p:spPr>
          <a:xfrm>
            <a:off x="941832" y="5343525"/>
            <a:ext cx="10259568" cy="24765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marL="0" indent="0" algn="ctr">
              <a:buNone/>
              <a:defRPr sz="1065" b="1">
                <a:solidFill>
                  <a:srgbClr val="1F5EFF"/>
                </a:solidFill>
                <a:latin typeface="NanumSquare Bold"/>
                <a:ea typeface="NanumSquare Bold"/>
                <a:cs typeface="NanumSquare Bold"/>
              </a:defRPr>
            </a:pPr>
            <a:r>
              <a:rPr sz="1065" b="1">
                <a:solidFill>
                  <a:srgbClr val="1F5EFF"/>
                </a:solidFill>
                <a:latin typeface="NanumSquare Bold"/>
                <a:ea typeface="NanumSquare Bold"/>
                <a:cs typeface="NanumSquare Bold"/>
              </a:rPr>
              <a:t>ASAP + FDS  │  위험정보 확인 후 이체중단  │  시스템 + 금융기관  │  외부 개입형</a:t>
            </a:r>
            <a:endParaRPr sz="1180"/>
          </a:p>
        </p:txBody>
      </p:sp>
      <p:sp>
        <p:nvSpPr>
          <p:cNvPr id="52" name="Slide Number Placeholder 0">
            <a:extLst>
              <a:ext uri="{FF2B5EF4-FFF2-40B4-BE49-F238E27FC236}">
                <a16:creationId xmlns:a16="http://schemas.microsoft.com/office/drawing/2014/main" id="{6419BB4B-BA04-49F1-9788-02A0C54B3CCB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</p:spPr>
        <p:txBody>
          <a:bodyPr/>
          <a:lstStyle>
            <a:lvl1pPr>
              <a:buNone/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3201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문제도출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기존 보호체계가 개입하는 구간과, 통화 중 판단 공백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보이스피싱 진행 흐름을 시간축으로 놓고 기존 기능의 트리거·개입 시점을 구조적으로 보여주는 페이지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804672" y="2761488"/>
            <a:ext cx="10479024" cy="0"/>
          </a:xfrm>
          <a:prstGeom prst="line">
            <a:avLst/>
          </a:prstGeom>
          <a:noFill/>
          <a:ln w="40640">
            <a:solidFill>
              <a:srgbClr val="AFC7E7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005840" y="2587752"/>
            <a:ext cx="347472" cy="347472"/>
          </a:xfrm>
          <a:prstGeom prst="ellipse">
            <a:avLst/>
          </a:prstGeom>
          <a:solidFill>
            <a:srgbClr val="2F7CF6"/>
          </a:solidFill>
          <a:ln w="10160">
            <a:solidFill>
              <a:srgbClr val="2F7C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309067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통화 전</a:t>
            </a:r>
            <a:endParaRPr lang="en-US" sz="1240" dirty="0"/>
          </a:p>
        </p:txBody>
      </p:sp>
      <p:sp>
        <p:nvSpPr>
          <p:cNvPr id="13" name="Text 11"/>
          <p:cNvSpPr txBox="1"/>
          <p:nvPr/>
        </p:nvSpPr>
        <p:spPr>
          <a:xfrm>
            <a:off x="429768" y="3474720"/>
            <a:ext cx="1499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예방교육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스팸 차단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82112" y="2587752"/>
            <a:ext cx="347472" cy="347472"/>
          </a:xfrm>
          <a:prstGeom prst="ellipse">
            <a:avLst/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98064" y="309067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접촉 단계</a:t>
            </a:r>
            <a:endParaRPr lang="en-US" sz="1240" dirty="0"/>
          </a:p>
        </p:txBody>
      </p:sp>
      <p:sp>
        <p:nvSpPr>
          <p:cNvPr id="16" name="Text 14"/>
          <p:cNvSpPr txBox="1"/>
          <p:nvPr/>
        </p:nvSpPr>
        <p:spPr>
          <a:xfrm>
            <a:off x="2606040" y="3474720"/>
            <a:ext cx="1499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위험번호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악성앱 탐지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04688" y="2587752"/>
            <a:ext cx="347472" cy="347472"/>
          </a:xfrm>
          <a:prstGeom prst="ellipse">
            <a:avLst/>
          </a:prstGeom>
          <a:solidFill>
            <a:srgbClr val="FF6478"/>
          </a:solidFill>
          <a:ln w="10160">
            <a:solidFill>
              <a:srgbClr val="FF647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20640" y="309067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통화 중</a:t>
            </a:r>
            <a:endParaRPr lang="en-US" sz="1240" dirty="0"/>
          </a:p>
        </p:txBody>
      </p:sp>
      <p:sp>
        <p:nvSpPr>
          <p:cNvPr id="19" name="Text 17"/>
          <p:cNvSpPr txBox="1"/>
          <p:nvPr/>
        </p:nvSpPr>
        <p:spPr>
          <a:xfrm>
            <a:off x="4928616" y="3474720"/>
            <a:ext cx="1499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판단 형성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심리적 압박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45552" y="2587752"/>
            <a:ext cx="347472" cy="347472"/>
          </a:xfrm>
          <a:prstGeom prst="ellipse">
            <a:avLst/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61504" y="309067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송금 시도</a:t>
            </a:r>
            <a:endParaRPr lang="en-US" sz="124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3474720"/>
            <a:ext cx="1499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FDS · ASAP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추가확인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104120" y="2587752"/>
            <a:ext cx="347472" cy="347472"/>
          </a:xfrm>
          <a:prstGeom prst="ellipse">
            <a:avLst/>
          </a:prstGeom>
          <a:solidFill>
            <a:srgbClr val="102B4E"/>
          </a:solidFill>
          <a:ln w="10160">
            <a:solidFill>
              <a:srgbClr val="102B4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720072" y="309067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거래 후</a:t>
            </a:r>
            <a:endParaRPr lang="en-US" sz="1240" dirty="0"/>
          </a:p>
        </p:txBody>
      </p:sp>
      <p:sp>
        <p:nvSpPr>
          <p:cNvPr id="25" name="Text 23"/>
          <p:cNvSpPr txBox="1"/>
          <p:nvPr/>
        </p:nvSpPr>
        <p:spPr>
          <a:xfrm>
            <a:off x="9528048" y="3474720"/>
            <a:ext cx="1499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지급정지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피해구제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34840" y="1901952"/>
            <a:ext cx="2505456" cy="2670048"/>
          </a:xfrm>
          <a:prstGeom prst="roundRect">
            <a:avLst>
              <a:gd name="adj" fmla="val 7299"/>
            </a:avLst>
          </a:prstGeom>
          <a:solidFill>
            <a:srgbClr val="FFF6F7"/>
          </a:solidFill>
          <a:ln w="10160">
            <a:solidFill>
              <a:srgbClr val="FFD3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10912" y="2112264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84064" y="213969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 공백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736592" y="2660904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33E4E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통화 내용이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A33E4E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피해자의 판단을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A33E4E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바꾸는 순간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4562856" y="3739896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7E536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기존 장치가 존재해도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7E536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“상황의 진위”를 즉시 검증하기 어렵다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4672" y="5285232"/>
            <a:ext cx="10625328" cy="566928"/>
          </a:xfrm>
          <a:prstGeom prst="roundRect">
            <a:avLst>
              <a:gd name="adj" fmla="val 22581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2416" y="543153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핵심: 보호장치 사이의 빈 구간은 ‘통화 속 판단이 형성되는 시간’에 존재할 수 있다.</a:t>
            </a:r>
            <a:endParaRPr lang="en-US" sz="132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>
            <a:extLst>
              <a:ext uri="{FF2B5EF4-FFF2-40B4-BE49-F238E27FC236}">
                <a16:creationId xmlns:a16="http://schemas.microsoft.com/office/drawing/2014/main" id="{2570377A-9C9C-4F93-AA5D-8C790DB41170}"/>
              </a:ext>
            </a:extLst>
          </p:cNvPr>
          <p:cNvSpPr txBox="1"/>
          <p:nvPr/>
        </p:nvSpPr>
        <p:spPr>
          <a:xfrm>
            <a:off x="451906" y="1000868"/>
            <a:ext cx="10698480" cy="4333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r>
              <a:rPr lang="ko-KR" altLang="en-US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그 위의 </a:t>
            </a:r>
            <a:r>
              <a:rPr lang="en-US" altLang="ko-KR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3</a:t>
            </a:r>
            <a:r>
              <a:rPr lang="ko-KR" altLang="en-US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가지</a:t>
            </a:r>
            <a:r>
              <a:rPr lang="en-US" altLang="ko-KR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(</a:t>
            </a:r>
            <a:r>
              <a:rPr lang="ko-KR" altLang="en-US" sz="2400" b="1" dirty="0">
                <a:solidFill>
                  <a:srgbClr val="FF0000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보이스피싱 피해자 취약성</a:t>
            </a:r>
            <a:r>
              <a:rPr lang="en-US" altLang="ko-KR" sz="2400" b="1" dirty="0">
                <a:solidFill>
                  <a:srgbClr val="FF0000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/</a:t>
            </a:r>
            <a:r>
              <a:rPr lang="ko-KR" altLang="en-US" sz="2400" b="1" dirty="0">
                <a:solidFill>
                  <a:srgbClr val="FF0000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보이스피싱 범죄 수법</a:t>
            </a:r>
            <a:r>
              <a:rPr lang="en-US" altLang="ko-KR" sz="2400" b="1" dirty="0">
                <a:solidFill>
                  <a:srgbClr val="FF0000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/</a:t>
            </a:r>
            <a:r>
              <a:rPr lang="ko-KR" altLang="en-US" sz="2400" b="1" dirty="0">
                <a:solidFill>
                  <a:srgbClr val="FF0000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기존 서비스의 구조</a:t>
            </a:r>
            <a:r>
              <a:rPr lang="en-US" altLang="ko-KR" sz="2400" b="1" dirty="0">
                <a:solidFill>
                  <a:srgbClr val="FF0000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)</a:t>
            </a:r>
            <a:r>
              <a:rPr lang="ko-KR" altLang="en-US" sz="2400" b="1" dirty="0">
                <a:solidFill>
                  <a:srgbClr val="FF0000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를</a:t>
            </a:r>
            <a:r>
              <a:rPr lang="ko-KR" altLang="en-US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 살펴봤을 때</a:t>
            </a:r>
            <a:r>
              <a:rPr lang="en-US" altLang="ko-KR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!</a:t>
            </a:r>
          </a:p>
          <a:p>
            <a:r>
              <a:rPr lang="ko-KR" altLang="en-US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종합적으로</a:t>
            </a:r>
            <a:r>
              <a:rPr lang="en-US" altLang="ko-KR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!</a:t>
            </a:r>
          </a:p>
          <a:p>
            <a:endParaRPr lang="en-US" altLang="ko-KR" sz="2200" b="1" dirty="0">
              <a:solidFill>
                <a:srgbClr val="FF0000"/>
              </a:solidFill>
              <a:latin typeface="페이퍼로지 7 Bold" pitchFamily="2" charset="-127"/>
              <a:ea typeface="페이퍼로지 7 Bold" pitchFamily="2" charset="-127"/>
              <a:cs typeface="NanumSquare Bold" pitchFamily="34" charset="-120"/>
            </a:endParaRPr>
          </a:p>
          <a:p>
            <a:endParaRPr lang="en-US" altLang="ko-KR" sz="2200" b="1" dirty="0">
              <a:solidFill>
                <a:srgbClr val="FF0000"/>
              </a:solidFill>
              <a:latin typeface="페이퍼로지 7 Bold" pitchFamily="2" charset="-127"/>
              <a:ea typeface="페이퍼로지 7 Bold" pitchFamily="2" charset="-127"/>
              <a:cs typeface="NanumSquare Bold" pitchFamily="34" charset="-120"/>
            </a:endParaRPr>
          </a:p>
          <a:p>
            <a:r>
              <a:rPr lang="ko-KR" altLang="en-US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이렇게 판단 오류의 취약성 </a:t>
            </a:r>
            <a:r>
              <a:rPr lang="en-US" altLang="ko-KR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+ </a:t>
            </a:r>
            <a:r>
              <a:rPr lang="ko-KR" altLang="en-US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범죄자들의 판단 오류 유발 전략 </a:t>
            </a:r>
            <a:r>
              <a:rPr lang="en-US" altLang="ko-KR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+ </a:t>
            </a:r>
            <a:r>
              <a:rPr lang="ko-KR" altLang="en-US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현재의 서비스 구조적 빈틈</a:t>
            </a:r>
            <a:endParaRPr lang="en-US" altLang="ko-KR" sz="2200" b="1" dirty="0">
              <a:solidFill>
                <a:srgbClr val="FF0000"/>
              </a:solidFill>
              <a:latin typeface="페이퍼로지 7 Bold" pitchFamily="2" charset="-127"/>
              <a:ea typeface="페이퍼로지 7 Bold" pitchFamily="2" charset="-127"/>
              <a:cs typeface="NanumSquare Bold" pitchFamily="34" charset="-120"/>
            </a:endParaRPr>
          </a:p>
          <a:p>
            <a:endParaRPr lang="en-US" altLang="ko-KR" sz="2200" b="1" dirty="0">
              <a:solidFill>
                <a:srgbClr val="FF0000"/>
              </a:solidFill>
              <a:latin typeface="페이퍼로지 7 Bold" pitchFamily="2" charset="-127"/>
              <a:ea typeface="페이퍼로지 7 Bold" pitchFamily="2" charset="-127"/>
              <a:cs typeface="NanumSquare Bold" pitchFamily="34" charset="-120"/>
            </a:endParaRP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ko-KR" altLang="en-US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이러한 </a:t>
            </a:r>
            <a:r>
              <a:rPr lang="en-US" altLang="ko-KR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3</a:t>
            </a:r>
            <a:r>
              <a:rPr lang="ko-KR" altLang="en-US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가지를 종합적으로 볼 때 뽑아낼 수 있는 인사이트</a:t>
            </a:r>
            <a:br>
              <a:rPr lang="en-US" altLang="ko-KR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</a:br>
            <a:r>
              <a:rPr lang="en-US" altLang="ko-KR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= </a:t>
            </a:r>
            <a:r>
              <a:rPr lang="ko-KR" altLang="en-US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보이스피싱 통화 등 환경에 노출된 당사자가 직접 판단하게 하면 안된다</a:t>
            </a:r>
            <a:r>
              <a:rPr lang="en-US" altLang="ko-KR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..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endParaRPr lang="en-US" altLang="ko-KR" sz="2200" b="1" dirty="0">
              <a:solidFill>
                <a:srgbClr val="FF0000"/>
              </a:solidFill>
              <a:latin typeface="페이퍼로지 7 Bold" pitchFamily="2" charset="-127"/>
              <a:ea typeface="페이퍼로지 7 Bold" pitchFamily="2" charset="-127"/>
              <a:cs typeface="NanumSquare Bold" pitchFamily="34" charset="-120"/>
            </a:endParaRP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altLang="ko-KR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(</a:t>
            </a:r>
            <a:r>
              <a:rPr lang="ko-KR" altLang="en-US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우리 서비스 방향</a:t>
            </a:r>
            <a:r>
              <a:rPr lang="en-US" altLang="ko-KR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)</a:t>
            </a:r>
            <a:br>
              <a:rPr lang="en-US" altLang="ko-KR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</a:br>
            <a:r>
              <a:rPr lang="ko-KR" altLang="en-US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보조적인 경고보다는</a:t>
            </a:r>
            <a:r>
              <a:rPr lang="en-US" altLang="ko-KR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… </a:t>
            </a:r>
            <a:r>
              <a:rPr lang="ko-KR" altLang="en-US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선재적 차단과 제</a:t>
            </a:r>
            <a:r>
              <a:rPr lang="en-US" altLang="ko-KR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3</a:t>
            </a:r>
            <a:r>
              <a:rPr lang="ko-KR" altLang="en-US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자</a:t>
            </a:r>
            <a:r>
              <a:rPr lang="en-US" altLang="ko-KR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(</a:t>
            </a:r>
            <a:r>
              <a:rPr lang="ko-KR" altLang="en-US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타인 </a:t>
            </a:r>
            <a:r>
              <a:rPr lang="en-US" altLang="ko-KR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= </a:t>
            </a:r>
            <a:r>
              <a:rPr lang="ko-KR" altLang="en-US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송금 승인에 대한 </a:t>
            </a:r>
            <a:r>
              <a:rPr lang="en-US" altLang="ko-KR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2</a:t>
            </a:r>
            <a:r>
              <a:rPr lang="ko-KR" altLang="en-US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차 검증하는 신뢰인</a:t>
            </a:r>
            <a:r>
              <a:rPr lang="en-US" altLang="ko-KR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, </a:t>
            </a:r>
            <a:r>
              <a:rPr lang="ko-KR" altLang="en-US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의심되는 정황이 정리된 </a:t>
            </a:r>
            <a:r>
              <a:rPr lang="en-US" altLang="ko-KR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LLM </a:t>
            </a:r>
            <a:r>
              <a:rPr lang="ko-KR" altLang="en-US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레포트를 받아보고 조치 취할 수 있는 은행직원 등</a:t>
            </a:r>
            <a:r>
              <a:rPr lang="en-US" altLang="ko-KR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)</a:t>
            </a:r>
            <a:r>
              <a:rPr lang="ko-KR" altLang="en-US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의 개입</a:t>
            </a:r>
            <a:r>
              <a:rPr lang="en-US" altLang="ko-KR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 </a:t>
            </a:r>
            <a:r>
              <a:rPr lang="ko-KR" altLang="en-US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및 지원</a:t>
            </a:r>
            <a:r>
              <a:rPr lang="en-US" altLang="ko-KR" sz="2200" b="1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!!!</a:t>
            </a:r>
          </a:p>
        </p:txBody>
      </p:sp>
    </p:spTree>
    <p:extLst>
      <p:ext uri="{BB962C8B-B14F-4D97-AF65-F5344CB8AC3E}">
        <p14:creationId xmlns:p14="http://schemas.microsoft.com/office/powerpoint/2010/main" val="892806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문제정리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보이스피싱 피해가 발생하는 구조를 종합하면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범죄자의 전략 × 피해자의 취약성 × 외부 검증 제한이 결합해 잘못된 판단과 송금으로 이어지는 구조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749808" y="2212848"/>
            <a:ext cx="2514600" cy="1426464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" y="2414016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01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7432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범죄자의 전략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3127248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정보비대칭 · 권위 · 공포 · 긴급성</a:t>
            </a:r>
            <a:endParaRPr lang="en-US" sz="1020" dirty="0"/>
          </a:p>
        </p:txBody>
      </p:sp>
      <p:sp>
        <p:nvSpPr>
          <p:cNvPr id="14" name="Text 12"/>
          <p:cNvSpPr txBox="1"/>
          <p:nvPr/>
        </p:nvSpPr>
        <p:spPr>
          <a:xfrm>
            <a:off x="3374136" y="2633472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×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3730752" y="2212848"/>
            <a:ext cx="2514600" cy="1426464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13632" y="2414016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913632" y="27432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피해자의 취약성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3913632" y="3127248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경험 부족 · 정보격차 · 순간 부담</a:t>
            </a:r>
            <a:endParaRPr lang="en-US" sz="102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633472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×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6711696" y="2212848"/>
            <a:ext cx="2514600" cy="1426464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94576" y="2414016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894576" y="27432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외부 검증 제한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894576" y="3127248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시간압박 · 비밀유지 · 확인 방해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9381744" y="2926080"/>
            <a:ext cx="694944" cy="0"/>
          </a:xfrm>
          <a:prstGeom prst="line">
            <a:avLst/>
          </a:prstGeom>
          <a:noFill/>
          <a:ln w="27940">
            <a:solidFill>
              <a:srgbClr val="1F5EF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149840" y="2331720"/>
            <a:ext cx="1426464" cy="1143000"/>
          </a:xfrm>
          <a:prstGeom prst="roundRect">
            <a:avLst>
              <a:gd name="adj" fmla="val 14400"/>
            </a:avLst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268712" y="253288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환경 붕괴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0853928" y="3694176"/>
            <a:ext cx="0" cy="658368"/>
          </a:xfrm>
          <a:prstGeom prst="line">
            <a:avLst/>
          </a:prstGeom>
          <a:noFill/>
          <a:ln w="27940">
            <a:solidFill>
              <a:srgbClr val="1F5EF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613648" y="4526280"/>
            <a:ext cx="2907792" cy="996696"/>
          </a:xfrm>
          <a:prstGeom prst="roundRect">
            <a:avLst>
              <a:gd name="adj" fmla="val 16514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778240" y="483717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잘못된 판단 → 송금 → 실제 피해</a:t>
            </a:r>
            <a:endParaRPr lang="en-US" sz="1340" dirty="0"/>
          </a:p>
        </p:txBody>
      </p:sp>
      <p:sp>
        <p:nvSpPr>
          <p:cNvPr id="30" name="Shape 28"/>
          <p:cNvSpPr/>
          <p:nvPr/>
        </p:nvSpPr>
        <p:spPr>
          <a:xfrm>
            <a:off x="749808" y="4315968"/>
            <a:ext cx="7223760" cy="1197864"/>
          </a:xfrm>
          <a:prstGeom prst="roundRect">
            <a:avLst>
              <a:gd name="adj" fmla="val 1374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87552" y="45262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핵심 문제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011680" y="4480560"/>
            <a:ext cx="5650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3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현재 상황이 정상인지 보이스피싱인지</a:t>
            </a:r>
            <a:endParaRPr lang="en-US" sz="1630" dirty="0"/>
          </a:p>
          <a:p>
            <a:pPr marL="0" indent="0" algn="l">
              <a:buNone/>
            </a:pPr>
            <a:r>
              <a:rPr lang="en-US" sz="163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스스로 검증하기 어려워지는 순간이 존재한다</a:t>
            </a:r>
            <a:endParaRPr lang="en-US" sz="163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문제정의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조작된 상황에서도 피해자는 혼자 판단한다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문제의 본질을 “정보 부족”이 아니라 “판단과 금융행동의 개인 의존성”으로 정의</a:t>
            </a:r>
            <a:endParaRPr lang="en-US" sz="123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92938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보이스피싱의 핵심 문제</a:t>
            </a:r>
            <a:endParaRPr lang="en-US" sz="112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304288"/>
            <a:ext cx="5212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최종 판단과 금융행동이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피해자 개인에게 크게 의존한다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758952" y="3886200"/>
            <a:ext cx="1444752" cy="1005840"/>
          </a:xfrm>
          <a:prstGeom prst="roundRect">
            <a:avLst>
              <a:gd name="adj" fmla="val 16364"/>
            </a:avLst>
          </a:prstGeom>
          <a:solidFill>
            <a:srgbClr val="102B4E"/>
          </a:solidFill>
          <a:ln w="10160">
            <a:solidFill>
              <a:srgbClr val="102B4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" y="405993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범죄자의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조작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2286000" y="4389120"/>
            <a:ext cx="475488" cy="0"/>
          </a:xfrm>
          <a:prstGeom prst="line">
            <a:avLst/>
          </a:prstGeom>
          <a:noFill/>
          <a:ln w="25400">
            <a:solidFill>
              <a:srgbClr val="DDE7F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944368" y="3886200"/>
            <a:ext cx="1444752" cy="1005840"/>
          </a:xfrm>
          <a:prstGeom prst="roundRect">
            <a:avLst>
              <a:gd name="adj" fmla="val 16364"/>
            </a:avLst>
          </a:prstGeom>
          <a:solidFill>
            <a:srgbClr val="2F7CF6"/>
          </a:solidFill>
          <a:ln w="10160">
            <a:solidFill>
              <a:srgbClr val="2F7C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072384" y="405993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흔들림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471416" y="4389120"/>
            <a:ext cx="475488" cy="0"/>
          </a:xfrm>
          <a:prstGeom prst="line">
            <a:avLst/>
          </a:prstGeom>
          <a:noFill/>
          <a:ln w="25400">
            <a:solidFill>
              <a:srgbClr val="DDE7F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29784" y="3886200"/>
            <a:ext cx="1444752" cy="1005840"/>
          </a:xfrm>
          <a:prstGeom prst="roundRect">
            <a:avLst>
              <a:gd name="adj" fmla="val 16364"/>
            </a:avLst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57800" y="405993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혼자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656832" y="4389120"/>
            <a:ext cx="475488" cy="0"/>
          </a:xfrm>
          <a:prstGeom prst="line">
            <a:avLst/>
          </a:prstGeom>
          <a:noFill/>
          <a:ln w="25400">
            <a:solidFill>
              <a:srgbClr val="DDE7F3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15200" y="3886200"/>
            <a:ext cx="1444752" cy="1005840"/>
          </a:xfrm>
          <a:prstGeom prst="roundRect">
            <a:avLst>
              <a:gd name="adj" fmla="val 16364"/>
            </a:avLst>
          </a:prstGeom>
          <a:solidFill>
            <a:srgbClr val="2C6FE7"/>
          </a:solidFill>
          <a:ln w="10160">
            <a:solidFill>
              <a:srgbClr val="2C6F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43216" y="405993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송금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842248" y="4389120"/>
            <a:ext cx="475488" cy="0"/>
          </a:xfrm>
          <a:prstGeom prst="line">
            <a:avLst/>
          </a:prstGeom>
          <a:noFill/>
          <a:ln w="25400">
            <a:solidFill>
              <a:srgbClr val="DDE7F3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500616" y="3886200"/>
            <a:ext cx="1444752" cy="1005840"/>
          </a:xfrm>
          <a:prstGeom prst="roundRect">
            <a:avLst>
              <a:gd name="adj" fmla="val 16364"/>
            </a:avLst>
          </a:prstGeom>
          <a:solidFill>
            <a:srgbClr val="FF6478"/>
          </a:solidFill>
          <a:ln w="10160">
            <a:solidFill>
              <a:srgbClr val="FF6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28632" y="405993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6528816" y="3456432"/>
            <a:ext cx="0" cy="1920240"/>
          </a:xfrm>
          <a:prstGeom prst="line">
            <a:avLst/>
          </a:prstGeom>
          <a:noFill/>
          <a:ln w="20320">
            <a:solidFill>
              <a:srgbClr val="1F5EFF"/>
            </a:solidFill>
            <a:prstDash val="dash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5742432" y="3063240"/>
            <a:ext cx="1572768" cy="438912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16168" y="3163824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외부 검증?</a:t>
            </a:r>
            <a:endParaRPr lang="en-US" sz="1160" dirty="0"/>
          </a:p>
        </p:txBody>
      </p:sp>
      <p:sp>
        <p:nvSpPr>
          <p:cNvPr id="29" name="Shape 27"/>
          <p:cNvSpPr/>
          <p:nvPr/>
        </p:nvSpPr>
        <p:spPr>
          <a:xfrm>
            <a:off x="2560320" y="5422392"/>
            <a:ext cx="7040880" cy="521208"/>
          </a:xfrm>
          <a:prstGeom prst="roundRect">
            <a:avLst>
              <a:gd name="adj" fmla="val 24561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70632" y="5550408"/>
            <a:ext cx="6629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이 과정에 객관적인 제3자의 판단을 개입시킬 수 있다면?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인사이트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세 가지 인사이트가 하나의 방향을 가리킨다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예방정보를 더 주는 것보다, 판단이 흔들리는 순간에 독립 검증과 금융행동 지연을 결합해야 한다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713232" y="1901952"/>
            <a:ext cx="10716768" cy="859536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2093976"/>
            <a:ext cx="438912" cy="438912"/>
          </a:xfrm>
          <a:prstGeom prst="ellipse">
            <a:avLst/>
          </a:prstGeom>
          <a:solidFill>
            <a:srgbClr val="102B4E"/>
          </a:solidFill>
          <a:ln w="10160">
            <a:solidFill>
              <a:srgbClr val="102B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213055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01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572768" y="2057400"/>
            <a:ext cx="4315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53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보이스피싱은 피해자의 판단 환경 자체를 조작한다</a:t>
            </a:r>
            <a:endParaRPr lang="en-US" altLang="ko-KR" sz="1530" b="1" dirty="0">
              <a:solidFill>
                <a:srgbClr val="10213D"/>
              </a:solidFill>
              <a:latin typeface="NanumSquare Bold" pitchFamily="34" charset="0"/>
              <a:ea typeface="NanumSquare Bold" pitchFamily="34" charset="-122"/>
              <a:cs typeface="NanumSquare Bold" pitchFamily="34" charset="-12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641848" y="1988820"/>
            <a:ext cx="5367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ko-KR" altLang="en-US" sz="11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판단을 돕는 역할을 하는 </a:t>
            </a:r>
            <a:r>
              <a:rPr lang="en-US" altLang="ko-KR" sz="11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</a:t>
            </a:r>
            <a:r>
              <a:rPr lang="ko-KR" altLang="en-US" sz="11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솔루션들이 많지만</a:t>
            </a:r>
            <a:r>
              <a:rPr lang="en-US" altLang="ko-KR" sz="11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, </a:t>
            </a:r>
            <a:r>
              <a:rPr lang="ko-KR" altLang="en-US" sz="11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</a:rPr>
              <a:t>실제적</a:t>
            </a:r>
            <a:r>
              <a:rPr lang="en-US" altLang="ko-KR" sz="11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</a:rPr>
              <a:t>·</a:t>
            </a:r>
            <a:r>
              <a:rPr lang="ko-KR" altLang="en-US" sz="11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</a:rPr>
              <a:t>최종 판단은 개인이 해야 했다</a:t>
            </a:r>
            <a:r>
              <a:rPr lang="en-US" altLang="ko-KR" sz="11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</a:rPr>
              <a:t>.</a:t>
            </a:r>
          </a:p>
          <a:p>
            <a:pPr marL="0" indent="0" algn="r">
              <a:buNone/>
            </a:pPr>
            <a:r>
              <a:rPr lang="ko-KR" altLang="en-US" sz="11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</a:rPr>
              <a:t>그런데 보이스피싱 범죄자가 피해자의 판단 환경 자체를 조작하여</a:t>
            </a:r>
            <a:r>
              <a:rPr lang="en-US" altLang="ko-KR" sz="11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</a:rPr>
              <a:t>, </a:t>
            </a:r>
            <a:r>
              <a:rPr lang="ko-KR" altLang="en-US" sz="11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</a:rPr>
              <a:t>판단력에 균열을 만든다</a:t>
            </a:r>
            <a:r>
              <a:rPr lang="en-US" altLang="ko-KR" sz="11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</a:rPr>
              <a:t>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3232" y="2999232"/>
            <a:ext cx="10716768" cy="859536"/>
          </a:xfrm>
          <a:prstGeom prst="roundRect">
            <a:avLst>
              <a:gd name="adj" fmla="val 17021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" y="3191256"/>
            <a:ext cx="438912" cy="438912"/>
          </a:xfrm>
          <a:prstGeom prst="ellipse">
            <a:avLst/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88" y="322783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02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572768" y="3154680"/>
            <a:ext cx="4315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30" b="1" dirty="0" err="1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피해자</a:t>
            </a:r>
            <a:r>
              <a:rPr lang="ko-KR" altLang="en-US" sz="153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가</a:t>
            </a:r>
            <a:r>
              <a:rPr lang="en-US" sz="153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 혼자 판단하게 두어서는 안 된다</a:t>
            </a:r>
            <a:endParaRPr lang="en-US" sz="1530" dirty="0"/>
          </a:p>
        </p:txBody>
      </p:sp>
      <p:sp>
        <p:nvSpPr>
          <p:cNvPr id="19" name="Text 17"/>
          <p:cNvSpPr txBox="1"/>
          <p:nvPr/>
        </p:nvSpPr>
        <p:spPr>
          <a:xfrm>
            <a:off x="5641848" y="3291840"/>
            <a:ext cx="5367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ko-KR" altLang="en-US" sz="1150" dirty="0">
                <a:solidFill>
                  <a:srgbClr val="FF4B1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판단력이 흐려진 피해자가 직접 판단하게 해서는 안된다</a:t>
            </a:r>
            <a:r>
              <a:rPr lang="en-US" altLang="ko-KR" sz="1150" dirty="0">
                <a:solidFill>
                  <a:srgbClr val="FF4B1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.</a:t>
            </a:r>
          </a:p>
          <a:p>
            <a:pPr marL="0" indent="0" algn="r">
              <a:buNone/>
            </a:pPr>
            <a:r>
              <a:rPr lang="en-US" sz="1150" dirty="0" err="1">
                <a:solidFill>
                  <a:srgbClr val="FF4B1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상황</a:t>
            </a:r>
            <a:r>
              <a:rPr lang="en-US" sz="1150" dirty="0">
                <a:solidFill>
                  <a:srgbClr val="FF4B1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밖에서 보는 독립적인 제3자의 검토가 필요하다.</a:t>
            </a:r>
            <a:endParaRPr lang="en-US" sz="1150" dirty="0">
              <a:solidFill>
                <a:srgbClr val="FF4B16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13232" y="4096512"/>
            <a:ext cx="10716768" cy="859536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" y="4288536"/>
            <a:ext cx="438912" cy="438912"/>
          </a:xfrm>
          <a:prstGeom prst="ellipse">
            <a:avLst/>
          </a:prstGeom>
          <a:solidFill>
            <a:srgbClr val="102B4E"/>
          </a:solidFill>
          <a:ln w="10160">
            <a:solidFill>
              <a:srgbClr val="102B4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2688" y="432511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03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572767" y="4251960"/>
            <a:ext cx="54460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ko-KR" altLang="en-US" sz="153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피해자가 직접 판단하기 어려운 상황에 제 </a:t>
            </a:r>
            <a:r>
              <a:rPr lang="en-US" altLang="ko-KR" sz="153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3</a:t>
            </a:r>
            <a:r>
              <a:rPr lang="ko-KR" altLang="en-US" sz="153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자의 도움이 필요할 수 있다</a:t>
            </a:r>
            <a:endParaRPr lang="en-US" sz="1530" dirty="0"/>
          </a:p>
        </p:txBody>
      </p:sp>
      <p:sp>
        <p:nvSpPr>
          <p:cNvPr id="24" name="Text 22"/>
          <p:cNvSpPr txBox="1"/>
          <p:nvPr/>
        </p:nvSpPr>
        <p:spPr>
          <a:xfrm>
            <a:off x="5641848" y="4261104"/>
            <a:ext cx="5367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외부 검증이 끝날 때까지 금융행동을 잠시 멈출 수 있어야 한다.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874520" y="5358384"/>
            <a:ext cx="8412480" cy="603504"/>
          </a:xfrm>
          <a:prstGeom prst="roundRect">
            <a:avLst>
              <a:gd name="adj" fmla="val 24242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157984" y="5522976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새로운 정보 하나가 아니라, “상황 밖에서 바라보는 독립적 외부 검증”이 필요하다</a:t>
            </a:r>
            <a:endParaRPr lang="en-US" sz="134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B6B84D-C629-453D-B32A-D4910AE72E07}"/>
              </a:ext>
            </a:extLst>
          </p:cNvPr>
          <p:cNvSpPr txBox="1"/>
          <p:nvPr/>
        </p:nvSpPr>
        <p:spPr>
          <a:xfrm>
            <a:off x="235712" y="892584"/>
            <a:ext cx="3382433" cy="56323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전화 수신 전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위험번호 / AI 안심차단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번호·통신 위험정보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통화 중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SKT 에이닷 / LG U+ 익시오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통화내용·대화패턴 AI 분석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사용자 경고 / 일부 가족·지인 알림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━━━━━━━━━━━━━━━━━━━━</a:t>
            </a:r>
            <a:endParaRPr kumimoji="0" lang="ko-KR" altLang="ko-K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추가 검증이 필요한 영역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“상대방이 말하는 사건·기관·송금 이유·절차가 실제로 맞는가?”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/>
              </a:rPr>
              <a:t>주장 구조화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/>
              </a:rPr>
              <a:t>공식 기준과 진위검증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/>
              </a:rPr>
              <a:t>특정 거래 외부 공동검토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━━━━━━━━━━━━━━━━━━━━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금융행동·송금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ASAP + FDS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계좌·거래·통신·수사 Risk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추가확인 / 거래지연 / 지급정지 / 거래중단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피해 이후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신고 / 지급정지 / 피해환급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E0BBD20A-B242-41B2-9CEB-B184632CF2C0}"/>
              </a:ext>
            </a:extLst>
          </p:cNvPr>
          <p:cNvSpPr/>
          <p:nvPr/>
        </p:nvSpPr>
        <p:spPr>
          <a:xfrm rot="10800000">
            <a:off x="3724275" y="2971799"/>
            <a:ext cx="4849582" cy="1819275"/>
          </a:xfrm>
          <a:prstGeom prst="rightArrow">
            <a:avLst/>
          </a:prstGeom>
          <a:solidFill>
            <a:schemeClr val="tx1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67C892E0-E69A-4682-8466-018C236F383E}"/>
              </a:ext>
            </a:extLst>
          </p:cNvPr>
          <p:cNvSpPr txBox="1"/>
          <p:nvPr/>
        </p:nvSpPr>
        <p:spPr>
          <a:xfrm>
            <a:off x="8833906" y="3708739"/>
            <a:ext cx="3015194" cy="646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ko-KR" altLang="en-US" sz="2200" b="1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여기에 우리가 들어가겠다</a:t>
            </a:r>
            <a:endParaRPr lang="en-US" altLang="ko-KR" sz="2200" b="1" dirty="0">
              <a:solidFill>
                <a:srgbClr val="FF0000"/>
              </a:solidFill>
              <a:latin typeface="페이퍼로지 7 Bold" pitchFamily="2" charset="-127"/>
              <a:ea typeface="페이퍼로지 7 Bold" pitchFamily="2" charset="-127"/>
              <a:cs typeface="NanumSquare Bol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868640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해결방안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판단과 송금 사이에 ‘금융 방지턱’을 만든다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잘못된 판단이 즉시 금융피해로 이어지지 않도록 한 번 더 멈춰 세우는 보호구간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749808" y="1911096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1938528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기존 구조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68096" y="2743200"/>
            <a:ext cx="111556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29260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조작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1947672" y="3072384"/>
            <a:ext cx="228600" cy="0"/>
          </a:xfrm>
          <a:prstGeom prst="line">
            <a:avLst/>
          </a:prstGeom>
          <a:noFill/>
          <a:ln w="20320">
            <a:solidFill>
              <a:srgbClr val="AFC7E7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194560" y="2743200"/>
            <a:ext cx="111556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67712" y="29260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 흔들림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3374136" y="3072384"/>
            <a:ext cx="228600" cy="0"/>
          </a:xfrm>
          <a:prstGeom prst="line">
            <a:avLst/>
          </a:prstGeom>
          <a:noFill/>
          <a:ln w="20320">
            <a:solidFill>
              <a:srgbClr val="AFC7E7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986784" y="2743200"/>
            <a:ext cx="111556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59936" y="29260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송금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5166360" y="3072384"/>
            <a:ext cx="228600" cy="0"/>
          </a:xfrm>
          <a:prstGeom prst="line">
            <a:avLst/>
          </a:prstGeom>
          <a:noFill/>
          <a:ln w="20320">
            <a:solidFill>
              <a:srgbClr val="AFC7E7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13248" y="2743200"/>
            <a:ext cx="1115568" cy="658368"/>
          </a:xfrm>
          <a:prstGeom prst="roundRect">
            <a:avLst>
              <a:gd name="adj" fmla="val 19444"/>
            </a:avLst>
          </a:prstGeom>
          <a:solidFill>
            <a:srgbClr val="FFF1F3"/>
          </a:solidFill>
          <a:ln w="10160">
            <a:solidFill>
              <a:srgbClr val="FFD1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0" y="29260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A53F4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749808" y="3913632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3941064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제안 구조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68096" y="4608576"/>
            <a:ext cx="1463040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1248" y="4828032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조작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304288" y="5001768"/>
            <a:ext cx="219456" cy="0"/>
          </a:xfrm>
          <a:prstGeom prst="line">
            <a:avLst/>
          </a:prstGeom>
          <a:noFill/>
          <a:ln w="21590">
            <a:solidFill>
              <a:srgbClr val="1F5EF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194560" y="4608576"/>
            <a:ext cx="1463040" cy="786384"/>
          </a:xfrm>
          <a:prstGeom prst="roundRect">
            <a:avLst>
              <a:gd name="adj" fmla="val 16279"/>
            </a:avLst>
          </a:prstGeom>
          <a:solidFill>
            <a:srgbClr val="EAF3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267712" y="4828032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AI 위험탐지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730752" y="5001768"/>
            <a:ext cx="219456" cy="0"/>
          </a:xfrm>
          <a:prstGeom prst="line">
            <a:avLst/>
          </a:prstGeom>
          <a:noFill/>
          <a:ln w="21590">
            <a:solidFill>
              <a:srgbClr val="1F5EFF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913632" y="4608576"/>
            <a:ext cx="1463040" cy="786384"/>
          </a:xfrm>
          <a:prstGeom prst="roundRect">
            <a:avLst>
              <a:gd name="adj" fmla="val 16279"/>
            </a:avLst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986784" y="4828032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금융 방지턱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49824" y="5001768"/>
            <a:ext cx="219456" cy="0"/>
          </a:xfrm>
          <a:prstGeom prst="line">
            <a:avLst/>
          </a:prstGeom>
          <a:noFill/>
          <a:ln w="21590">
            <a:solidFill>
              <a:srgbClr val="1F5EFF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742432" y="4608576"/>
            <a:ext cx="1463040" cy="786384"/>
          </a:xfrm>
          <a:prstGeom prst="roundRect">
            <a:avLst>
              <a:gd name="adj" fmla="val 16279"/>
            </a:avLst>
          </a:prstGeom>
          <a:solidFill>
            <a:srgbClr val="EAF3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815584" y="4828032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외부 독립검증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278624" y="5001768"/>
            <a:ext cx="219456" cy="0"/>
          </a:xfrm>
          <a:prstGeom prst="line">
            <a:avLst/>
          </a:prstGeom>
          <a:noFill/>
          <a:ln w="21590">
            <a:solidFill>
              <a:srgbClr val="1F5EFF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790688" y="4608576"/>
            <a:ext cx="1463040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863840" y="4828032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안전한 재판단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710928" y="1911096"/>
            <a:ext cx="1828800" cy="3483864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976104" y="21854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핵심 역할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9948672" y="2743200"/>
            <a:ext cx="13533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판단을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대신하지 않고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0040112" y="3657600"/>
            <a:ext cx="1188720" cy="0"/>
          </a:xfrm>
          <a:prstGeom prst="line">
            <a:avLst/>
          </a:prstGeom>
          <a:noFill/>
          <a:ln w="12700">
            <a:solidFill>
              <a:srgbClr val="315B84"/>
            </a:solidFill>
            <a:prstDash val="solid"/>
            <a:headEnd type="none"/>
            <a:tailEnd type="none"/>
          </a:ln>
        </p:spPr>
      </p:sp>
      <p:sp>
        <p:nvSpPr>
          <p:cNvPr id="43" name="Text 41"/>
          <p:cNvSpPr txBox="1"/>
          <p:nvPr/>
        </p:nvSpPr>
        <p:spPr>
          <a:xfrm>
            <a:off x="9902952" y="391363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D8E8F7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피해로 연결되기 전에</a:t>
            </a:r>
            <a:endParaRPr lang="en-US" sz="1330" dirty="0"/>
          </a:p>
          <a:p>
            <a:pPr marL="0" indent="0" algn="ctr">
              <a:buNone/>
            </a:pPr>
            <a:r>
              <a:rPr lang="en-US" sz="1330" b="1" dirty="0">
                <a:solidFill>
                  <a:srgbClr val="D8E8F7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한 번 더 멈춘다</a:t>
            </a:r>
            <a:endParaRPr lang="en-US" sz="133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10345A"/>
          </a:solidFill>
          <a:ln w="10160">
            <a:solidFill>
              <a:srgbClr val="1034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2B5D8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2B5D8C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58368" y="585216"/>
            <a:ext cx="1133856" cy="310896"/>
          </a:xfrm>
          <a:prstGeom prst="roundRect">
            <a:avLst>
              <a:gd name="adj" fmla="val 50000"/>
            </a:avLst>
          </a:prstGeom>
          <a:solidFill>
            <a:srgbClr val="18395D"/>
          </a:solidFill>
          <a:ln w="10160">
            <a:solidFill>
              <a:srgbClr val="244F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612648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CLOSING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157276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판단을 대신하지 않는다.</a:t>
            </a:r>
            <a:endParaRPr lang="en-US" sz="310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2258568"/>
            <a:ext cx="74980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피해로 연결되기 전에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한 번 더 멈춘다.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776472"/>
            <a:ext cx="7086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BDD0E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AI가 위험을 탐지하고, 외부의 독립적인 주체가 상황을 검증하며,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BDD0E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검증이 끝날 때까지 위험한 금융거래를 잠시 보류하는 구조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339328" y="1353312"/>
            <a:ext cx="2962656" cy="4005072"/>
          </a:xfrm>
          <a:prstGeom prst="roundRect">
            <a:avLst>
              <a:gd name="adj" fmla="val 7407"/>
            </a:avLst>
          </a:prstGeom>
          <a:solidFill>
            <a:srgbClr val="103256"/>
          </a:solidFill>
          <a:ln w="10160">
            <a:solidFill>
              <a:srgbClr val="2A5A8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68512" y="184708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AI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308592" y="2020824"/>
            <a:ext cx="502920" cy="0"/>
          </a:xfrm>
          <a:prstGeom prst="line">
            <a:avLst/>
          </a:prstGeom>
          <a:noFill/>
          <a:ln w="21590">
            <a:solidFill>
              <a:srgbClr val="49A8FF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9893808" y="1847088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검증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040112" y="2386584"/>
            <a:ext cx="0" cy="548640"/>
          </a:xfrm>
          <a:prstGeom prst="line">
            <a:avLst/>
          </a:prstGeom>
          <a:noFill/>
          <a:ln w="21590">
            <a:solidFill>
              <a:srgbClr val="49A8FF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9217152" y="3081528"/>
            <a:ext cx="13167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송금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방지턱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732520" y="4325112"/>
            <a:ext cx="2139696" cy="0"/>
          </a:xfrm>
          <a:prstGeom prst="line">
            <a:avLst/>
          </a:prstGeom>
          <a:noFill/>
          <a:ln w="12700">
            <a:solidFill>
              <a:srgbClr val="315C85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8814816" y="4590288"/>
            <a:ext cx="1975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C8DAEB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AI 독립검증형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C8DAEB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송금방지턱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59070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84A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BLUE PROPOSAL TEMPLATE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86A6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10345A"/>
          </a:solidFill>
          <a:ln w="10160">
            <a:solidFill>
              <a:srgbClr val="1034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2B5D8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2B5D8C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18395D"/>
          </a:solidFill>
          <a:ln w="10160">
            <a:solidFill>
              <a:srgbClr val="244F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서비스 제안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AI 독립검증형 송금방지턱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9DB6D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통화 위험 탐지부터 다중검증까지 연결되는 5단계 금융안전 구조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685800" y="2176272"/>
            <a:ext cx="1764792" cy="2962656"/>
          </a:xfrm>
          <a:prstGeom prst="roundRect">
            <a:avLst>
              <a:gd name="adj" fmla="val 10363"/>
            </a:avLst>
          </a:prstGeom>
          <a:solidFill>
            <a:srgbClr val="12375D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2386584"/>
            <a:ext cx="420624" cy="420624"/>
          </a:xfrm>
          <a:prstGeom prst="ellipse">
            <a:avLst/>
          </a:prstGeom>
          <a:solidFill>
            <a:srgbClr val="173F68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9536" y="245059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01</a:t>
            </a:r>
            <a:endParaRPr lang="en-US" sz="1020" dirty="0"/>
          </a:p>
        </p:txBody>
      </p:sp>
      <p:sp>
        <p:nvSpPr>
          <p:cNvPr id="13" name="Text 11"/>
          <p:cNvSpPr txBox="1"/>
          <p:nvPr/>
        </p:nvSpPr>
        <p:spPr>
          <a:xfrm>
            <a:off x="859536" y="2999232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AI 통화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위험 탐지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50976" y="3959352"/>
            <a:ext cx="1234440" cy="0"/>
          </a:xfrm>
          <a:prstGeom prst="line">
            <a:avLst/>
          </a:prstGeom>
          <a:noFill/>
          <a:ln w="11430">
            <a:solidFill>
              <a:srgbClr val="315A81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 txBox="1"/>
          <p:nvPr/>
        </p:nvSpPr>
        <p:spPr>
          <a:xfrm>
            <a:off x="832104" y="4169664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사칭·권위·긴급성·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금융행동 요구 신호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2487168" y="3639312"/>
            <a:ext cx="347472" cy="0"/>
          </a:xfrm>
          <a:prstGeom prst="line">
            <a:avLst/>
          </a:prstGeom>
          <a:noFill/>
          <a:ln w="21590">
            <a:solidFill>
              <a:srgbClr val="49A8F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953512" y="2176272"/>
            <a:ext cx="1764792" cy="2962656"/>
          </a:xfrm>
          <a:prstGeom prst="roundRect">
            <a:avLst>
              <a:gd name="adj" fmla="val 10363"/>
            </a:avLst>
          </a:prstGeom>
          <a:solidFill>
            <a:srgbClr val="12375D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27248" y="2386584"/>
            <a:ext cx="420624" cy="420624"/>
          </a:xfrm>
          <a:prstGeom prst="ellipse">
            <a:avLst/>
          </a:prstGeom>
          <a:solidFill>
            <a:srgbClr val="173F68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27248" y="245059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65B9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02</a:t>
            </a:r>
            <a:endParaRPr lang="en-US" sz="1020" dirty="0"/>
          </a:p>
        </p:txBody>
      </p:sp>
      <p:sp>
        <p:nvSpPr>
          <p:cNvPr id="20" name="Text 18"/>
          <p:cNvSpPr txBox="1"/>
          <p:nvPr/>
        </p:nvSpPr>
        <p:spPr>
          <a:xfrm>
            <a:off x="3127248" y="2999232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위험도·근거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산출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218688" y="3959352"/>
            <a:ext cx="1234440" cy="0"/>
          </a:xfrm>
          <a:prstGeom prst="line">
            <a:avLst/>
          </a:prstGeom>
          <a:noFill/>
          <a:ln w="11430">
            <a:solidFill>
              <a:srgbClr val="315A81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 txBox="1"/>
          <p:nvPr/>
        </p:nvSpPr>
        <p:spPr>
          <a:xfrm>
            <a:off x="3099816" y="4169664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왜 위험한지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근거와 함께 제시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4754880" y="3639312"/>
            <a:ext cx="347472" cy="0"/>
          </a:xfrm>
          <a:prstGeom prst="line">
            <a:avLst/>
          </a:prstGeom>
          <a:noFill/>
          <a:ln w="21590">
            <a:solidFill>
              <a:srgbClr val="49A8F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221224" y="2176272"/>
            <a:ext cx="1764792" cy="2962656"/>
          </a:xfrm>
          <a:prstGeom prst="roundRect">
            <a:avLst>
              <a:gd name="adj" fmla="val 10363"/>
            </a:avLst>
          </a:prstGeom>
          <a:solidFill>
            <a:srgbClr val="12375D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94960" y="2386584"/>
            <a:ext cx="420624" cy="420624"/>
          </a:xfrm>
          <a:prstGeom prst="ellipse">
            <a:avLst/>
          </a:prstGeom>
          <a:solidFill>
            <a:srgbClr val="173F68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94960" y="245059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7CC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03</a:t>
            </a:r>
            <a:endParaRPr lang="en-US" sz="1020" dirty="0"/>
          </a:p>
        </p:txBody>
      </p:sp>
      <p:sp>
        <p:nvSpPr>
          <p:cNvPr id="27" name="Text 25"/>
          <p:cNvSpPr txBox="1"/>
          <p:nvPr/>
        </p:nvSpPr>
        <p:spPr>
          <a:xfrm>
            <a:off x="5394960" y="2999232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역할별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맞춤 브리프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0" y="3959352"/>
            <a:ext cx="1234440" cy="0"/>
          </a:xfrm>
          <a:prstGeom prst="line">
            <a:avLst/>
          </a:prstGeom>
          <a:noFill/>
          <a:ln w="11430">
            <a:solidFill>
              <a:srgbClr val="315A81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 txBox="1"/>
          <p:nvPr/>
        </p:nvSpPr>
        <p:spPr>
          <a:xfrm>
            <a:off x="5367528" y="4169664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피해자·신뢰인·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금융기관별 정보 분리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7022592" y="3639312"/>
            <a:ext cx="347472" cy="0"/>
          </a:xfrm>
          <a:prstGeom prst="line">
            <a:avLst/>
          </a:prstGeom>
          <a:noFill/>
          <a:ln w="21590">
            <a:solidFill>
              <a:srgbClr val="49A8FF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488936" y="2176272"/>
            <a:ext cx="1764792" cy="2962656"/>
          </a:xfrm>
          <a:prstGeom prst="roundRect">
            <a:avLst>
              <a:gd name="adj" fmla="val 10363"/>
            </a:avLst>
          </a:prstGeom>
          <a:solidFill>
            <a:srgbClr val="12375D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62672" y="2386584"/>
            <a:ext cx="420624" cy="420624"/>
          </a:xfrm>
          <a:prstGeom prst="ellipse">
            <a:avLst/>
          </a:prstGeom>
          <a:solidFill>
            <a:srgbClr val="173F68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62672" y="245059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95D2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04</a:t>
            </a:r>
            <a:endParaRPr lang="en-US" sz="1020" dirty="0"/>
          </a:p>
        </p:txBody>
      </p:sp>
      <p:sp>
        <p:nvSpPr>
          <p:cNvPr id="34" name="Text 32"/>
          <p:cNvSpPr txBox="1"/>
          <p:nvPr/>
        </p:nvSpPr>
        <p:spPr>
          <a:xfrm>
            <a:off x="7662672" y="2999232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송금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방지턱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754112" y="3959352"/>
            <a:ext cx="1234440" cy="0"/>
          </a:xfrm>
          <a:prstGeom prst="line">
            <a:avLst/>
          </a:prstGeom>
          <a:noFill/>
          <a:ln w="11430">
            <a:solidFill>
              <a:srgbClr val="315A81"/>
            </a:solidFill>
            <a:prstDash val="solid"/>
            <a:headEnd type="none"/>
            <a:tailEnd type="none"/>
          </a:ln>
        </p:spPr>
      </p:sp>
      <p:sp>
        <p:nvSpPr>
          <p:cNvPr id="36" name="Text 34"/>
          <p:cNvSpPr txBox="1"/>
          <p:nvPr/>
        </p:nvSpPr>
        <p:spPr>
          <a:xfrm>
            <a:off x="7635240" y="4169664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신뢰인 공동검토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및 일시 보류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9290304" y="3639312"/>
            <a:ext cx="347472" cy="0"/>
          </a:xfrm>
          <a:prstGeom prst="line">
            <a:avLst/>
          </a:prstGeom>
          <a:noFill/>
          <a:ln w="21590">
            <a:solidFill>
              <a:srgbClr val="49A8FF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756648" y="2176272"/>
            <a:ext cx="1764792" cy="2962656"/>
          </a:xfrm>
          <a:prstGeom prst="roundRect">
            <a:avLst>
              <a:gd name="adj" fmla="val 10363"/>
            </a:avLst>
          </a:prstGeom>
          <a:solidFill>
            <a:srgbClr val="12375D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930384" y="2386584"/>
            <a:ext cx="420624" cy="420624"/>
          </a:xfrm>
          <a:prstGeom prst="ellipse">
            <a:avLst/>
          </a:prstGeom>
          <a:solidFill>
            <a:srgbClr val="173F68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930384" y="245059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AEDC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05</a:t>
            </a:r>
            <a:endParaRPr lang="en-US" sz="1020" dirty="0"/>
          </a:p>
        </p:txBody>
      </p:sp>
      <p:sp>
        <p:nvSpPr>
          <p:cNvPr id="41" name="Text 39"/>
          <p:cNvSpPr txBox="1"/>
          <p:nvPr/>
        </p:nvSpPr>
        <p:spPr>
          <a:xfrm>
            <a:off x="9930384" y="2999232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독립검증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연결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10021824" y="3959352"/>
            <a:ext cx="1234440" cy="0"/>
          </a:xfrm>
          <a:prstGeom prst="line">
            <a:avLst/>
          </a:prstGeom>
          <a:noFill/>
          <a:ln w="11430">
            <a:solidFill>
              <a:srgbClr val="315A81"/>
            </a:solidFill>
            <a:prstDash val="solid"/>
            <a:headEnd type="none"/>
            <a:tailEnd type="none"/>
          </a:ln>
        </p:spPr>
      </p:sp>
      <p:sp>
        <p:nvSpPr>
          <p:cNvPr id="43" name="Text 41"/>
          <p:cNvSpPr txBox="1"/>
          <p:nvPr/>
        </p:nvSpPr>
        <p:spPr>
          <a:xfrm>
            <a:off x="9902952" y="4169664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금융기관·공식기관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진위확인</a:t>
            </a:r>
            <a:endParaRPr lang="en-US" sz="1030" dirty="0"/>
          </a:p>
        </p:txBody>
      </p:sp>
      <p:sp>
        <p:nvSpPr>
          <p:cNvPr id="44" name="Shape 42"/>
          <p:cNvSpPr/>
          <p:nvPr/>
        </p:nvSpPr>
        <p:spPr>
          <a:xfrm>
            <a:off x="1920240" y="5486400"/>
            <a:ext cx="8357616" cy="466344"/>
          </a:xfrm>
          <a:prstGeom prst="roundRect">
            <a:avLst>
              <a:gd name="adj" fmla="val 31373"/>
            </a:avLst>
          </a:prstGeom>
          <a:solidFill>
            <a:srgbClr val="102F50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157984" y="5596128"/>
            <a:ext cx="7900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D4E4F3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탐지 → 근거 → 공유 → 보류 → 검증 : “판단”과 “금융행동”을 동시에 보호</a:t>
            </a:r>
            <a:endParaRPr lang="en-US" sz="124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86A6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서비스 구조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관계자마다 서로 다른 역할로 개입한다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동일한 정보를 모두에게 보내지 않고, 각 주체에게 필요한 정보와 권한만 제공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713232" y="1847088"/>
            <a:ext cx="1444752" cy="493776"/>
          </a:xfrm>
          <a:prstGeom prst="roundRect">
            <a:avLst>
              <a:gd name="adj" fmla="val 11111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194767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주체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40280" y="1847088"/>
            <a:ext cx="4023360" cy="493776"/>
          </a:xfrm>
          <a:prstGeom prst="roundRect">
            <a:avLst>
              <a:gd name="adj" fmla="val 11111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13432" y="194767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 err="1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Llm</a:t>
            </a:r>
            <a:r>
              <a:rPr lang="ko-KR" altLang="en-US" sz="11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이 당사자</a:t>
            </a:r>
            <a:r>
              <a:rPr lang="en-US" altLang="ko-KR" sz="11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(</a:t>
            </a:r>
            <a:r>
              <a:rPr lang="ko-KR" altLang="en-US" sz="11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대상</a:t>
            </a:r>
            <a:r>
              <a:rPr lang="en-US" altLang="ko-KR" sz="11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)</a:t>
            </a:r>
            <a:r>
              <a:rPr lang="ko-KR" altLang="en-US" sz="11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들에게 </a:t>
            </a:r>
            <a:r>
              <a:rPr lang="en-US" sz="1150" b="1" dirty="0" err="1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제공</a:t>
            </a:r>
            <a:r>
              <a:rPr lang="en-US" sz="11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 정보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82512" y="1847088"/>
            <a:ext cx="2697480" cy="493776"/>
          </a:xfrm>
          <a:prstGeom prst="roundRect">
            <a:avLst>
              <a:gd name="adj" fmla="val 11111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55664" y="1947672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핵심 역할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89720" y="1847088"/>
            <a:ext cx="2267712" cy="493776"/>
          </a:xfrm>
          <a:prstGeom prst="roundRect">
            <a:avLst>
              <a:gd name="adj" fmla="val 11111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62872" y="194767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접근 원칙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3232" y="2414016"/>
            <a:ext cx="1444752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2523744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40280" y="2414016"/>
            <a:ext cx="402336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331720" y="252374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위험도 · 근거 · 행동 안내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6382512" y="2414016"/>
            <a:ext cx="269748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3952" y="252374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통화 종료 · 재확인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9189720" y="2414016"/>
            <a:ext cx="2267712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81160" y="2523744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본인 의사결정 지원</a:t>
            </a:r>
            <a:endParaRPr lang="en-US" sz="1070" dirty="0"/>
          </a:p>
        </p:txBody>
      </p:sp>
      <p:sp>
        <p:nvSpPr>
          <p:cNvPr id="26" name="Shape 24"/>
          <p:cNvSpPr/>
          <p:nvPr/>
        </p:nvSpPr>
        <p:spPr>
          <a:xfrm>
            <a:off x="713232" y="3127248"/>
            <a:ext cx="1444752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" y="3236976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신뢰인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40280" y="3127248"/>
            <a:ext cx="4023360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331720" y="323697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상황요약 · AI 분석 · 요구금액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6382512" y="3127248"/>
            <a:ext cx="2697480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73952" y="323697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거래별 공동검토</a:t>
            </a:r>
            <a:endParaRPr lang="en-US" sz="1070" dirty="0"/>
          </a:p>
        </p:txBody>
      </p:sp>
      <p:sp>
        <p:nvSpPr>
          <p:cNvPr id="32" name="Shape 30"/>
          <p:cNvSpPr/>
          <p:nvPr/>
        </p:nvSpPr>
        <p:spPr>
          <a:xfrm>
            <a:off x="9189720" y="3127248"/>
            <a:ext cx="2267712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281160" y="3236976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최소 필요 정보</a:t>
            </a:r>
            <a:endParaRPr lang="en-US" sz="1070" dirty="0"/>
          </a:p>
        </p:txBody>
      </p:sp>
      <p:sp>
        <p:nvSpPr>
          <p:cNvPr id="34" name="Shape 32"/>
          <p:cNvSpPr/>
          <p:nvPr/>
        </p:nvSpPr>
        <p:spPr>
          <a:xfrm>
            <a:off x="713232" y="3840480"/>
            <a:ext cx="1444752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4672" y="395020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금융기관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240280" y="3840480"/>
            <a:ext cx="402336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331720" y="39502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거래위험 · 요구금액</a:t>
            </a:r>
            <a:endParaRPr lang="en-US" sz="1070" dirty="0"/>
          </a:p>
        </p:txBody>
      </p:sp>
      <p:sp>
        <p:nvSpPr>
          <p:cNvPr id="38" name="Shape 36"/>
          <p:cNvSpPr/>
          <p:nvPr/>
        </p:nvSpPr>
        <p:spPr>
          <a:xfrm>
            <a:off x="6382512" y="3840480"/>
            <a:ext cx="269748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73952" y="395020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추가확인 · 보류 · 차단</a:t>
            </a:r>
            <a:endParaRPr lang="en-US" sz="1070" dirty="0"/>
          </a:p>
        </p:txBody>
      </p:sp>
      <p:sp>
        <p:nvSpPr>
          <p:cNvPr id="40" name="Shape 38"/>
          <p:cNvSpPr/>
          <p:nvPr/>
        </p:nvSpPr>
        <p:spPr>
          <a:xfrm>
            <a:off x="9189720" y="3840480"/>
            <a:ext cx="2267712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281160" y="3950208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금융행동 보호</a:t>
            </a:r>
            <a:endParaRPr lang="en-US" sz="1070" dirty="0"/>
          </a:p>
        </p:txBody>
      </p:sp>
      <p:sp>
        <p:nvSpPr>
          <p:cNvPr id="42" name="Shape 40"/>
          <p:cNvSpPr/>
          <p:nvPr/>
        </p:nvSpPr>
        <p:spPr>
          <a:xfrm>
            <a:off x="713232" y="4553712"/>
            <a:ext cx="1444752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04672" y="466344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기관 담당자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240280" y="4553712"/>
            <a:ext cx="4023360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331720" y="4663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사칭정보 · 확인요청</a:t>
            </a:r>
            <a:endParaRPr lang="en-US" sz="1070" dirty="0"/>
          </a:p>
        </p:txBody>
      </p:sp>
      <p:sp>
        <p:nvSpPr>
          <p:cNvPr id="46" name="Shape 44"/>
          <p:cNvSpPr/>
          <p:nvPr/>
        </p:nvSpPr>
        <p:spPr>
          <a:xfrm>
            <a:off x="6382512" y="4553712"/>
            <a:ext cx="2697480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73952" y="4663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공식 진위검증</a:t>
            </a:r>
            <a:endParaRPr lang="en-US" sz="1070" dirty="0"/>
          </a:p>
        </p:txBody>
      </p:sp>
      <p:sp>
        <p:nvSpPr>
          <p:cNvPr id="48" name="Shape 46"/>
          <p:cNvSpPr/>
          <p:nvPr/>
        </p:nvSpPr>
        <p:spPr>
          <a:xfrm>
            <a:off x="9189720" y="4553712"/>
            <a:ext cx="2267712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281160" y="466344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진위확인만 제공</a:t>
            </a:r>
            <a:endParaRPr lang="en-US" sz="1070" dirty="0"/>
          </a:p>
        </p:txBody>
      </p:sp>
      <p:sp>
        <p:nvSpPr>
          <p:cNvPr id="50" name="Shape 48"/>
          <p:cNvSpPr/>
          <p:nvPr/>
        </p:nvSpPr>
        <p:spPr>
          <a:xfrm>
            <a:off x="713232" y="5468112"/>
            <a:ext cx="10744200" cy="457200"/>
          </a:xfrm>
          <a:prstGeom prst="roundRect">
            <a:avLst>
              <a:gd name="adj" fmla="val 28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41832" y="5568696"/>
            <a:ext cx="10259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PRIVACY BY ROLE  |  필요한 정보만 · 필요한 주체에게 · 필요한 순간에</a:t>
            </a:r>
            <a:endParaRPr lang="en-US" sz="118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D5831F-DE66-4EDD-B960-CEFCC96C152C}"/>
              </a:ext>
            </a:extLst>
          </p:cNvPr>
          <p:cNvSpPr txBox="1"/>
          <p:nvPr/>
        </p:nvSpPr>
        <p:spPr>
          <a:xfrm>
            <a:off x="3043767" y="2136338"/>
            <a:ext cx="610446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ko-KR" sz="1800" b="1" dirty="0">
                <a:solidFill>
                  <a:srgbClr val="C5D6E8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AI</a:t>
            </a:r>
            <a:r>
              <a:rPr lang="ko-KR" altLang="en-US" sz="1800" b="1" dirty="0">
                <a:solidFill>
                  <a:srgbClr val="C5D6E8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를</a:t>
            </a:r>
            <a:endParaRPr lang="en-US" altLang="ko-KR" b="1" dirty="0">
              <a:solidFill>
                <a:srgbClr val="C5D6E8"/>
              </a:solidFill>
              <a:latin typeface="NanumSquare Bold" pitchFamily="34" charset="0"/>
              <a:ea typeface="NanumSquare Bold" pitchFamily="34" charset="-122"/>
              <a:cs typeface="NanumSquare Bold" pitchFamily="34" charset="-120"/>
            </a:endParaRPr>
          </a:p>
          <a:p>
            <a:pPr marL="0" indent="0" algn="ctr">
              <a:buNone/>
            </a:pPr>
            <a:endParaRPr lang="en-US" altLang="ko-KR" sz="1800" b="1" dirty="0">
              <a:solidFill>
                <a:srgbClr val="C5D6E8"/>
              </a:solidFill>
              <a:latin typeface="NanumSquare Bold" pitchFamily="34" charset="0"/>
              <a:ea typeface="NanumSquare Bold" pitchFamily="34" charset="-122"/>
              <a:cs typeface="NanumSquare Bold" pitchFamily="34" charset="-120"/>
            </a:endParaRPr>
          </a:p>
          <a:p>
            <a:pPr marL="0" indent="0" algn="ctr">
              <a:buNone/>
            </a:pPr>
            <a:r>
              <a:rPr lang="ko-KR" altLang="en-US" b="1" dirty="0">
                <a:solidFill>
                  <a:srgbClr val="C5D6E8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어떻게</a:t>
            </a:r>
            <a:r>
              <a:rPr lang="en-US" altLang="ko-KR" b="1" dirty="0">
                <a:solidFill>
                  <a:srgbClr val="C5D6E8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?</a:t>
            </a:r>
          </a:p>
          <a:p>
            <a:pPr marL="0" indent="0" algn="ctr">
              <a:buNone/>
            </a:pPr>
            <a:r>
              <a:rPr lang="ko-KR" altLang="en-US" b="1" dirty="0">
                <a:solidFill>
                  <a:srgbClr val="C5D6E8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왜</a:t>
            </a:r>
            <a:r>
              <a:rPr lang="en-US" altLang="ko-KR" b="1" dirty="0">
                <a:solidFill>
                  <a:srgbClr val="C5D6E8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?</a:t>
            </a:r>
          </a:p>
          <a:p>
            <a:pPr marL="0" indent="0" algn="ctr">
              <a:buNone/>
            </a:pPr>
            <a:endParaRPr lang="en-US" altLang="ko-KR" b="1" dirty="0">
              <a:solidFill>
                <a:srgbClr val="C5D6E8"/>
              </a:solidFill>
              <a:latin typeface="NanumSquare Bold" pitchFamily="34" charset="0"/>
              <a:ea typeface="NanumSquare Bold" pitchFamily="34" charset="-122"/>
              <a:cs typeface="NanumSquare Bold" pitchFamily="34" charset="-120"/>
            </a:endParaRPr>
          </a:p>
          <a:p>
            <a:pPr marL="0" indent="0" algn="ctr">
              <a:buNone/>
            </a:pPr>
            <a:r>
              <a:rPr lang="ko-KR" altLang="en-US" b="1" dirty="0">
                <a:solidFill>
                  <a:srgbClr val="C5D6E8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사용하는가</a:t>
            </a:r>
            <a:endParaRPr lang="en-US" altLang="ko-KR" b="1" dirty="0">
              <a:solidFill>
                <a:srgbClr val="C5D6E8"/>
              </a:solidFill>
              <a:latin typeface="NanumSquare Bold" pitchFamily="34" charset="0"/>
              <a:ea typeface="NanumSquare Bold" pitchFamily="34" charset="-122"/>
              <a:cs typeface="NanumSquare Bol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46168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12700">
          <a:solidFill>
            <a:srgbClr val="0E2746"/>
          </a:solidFill>
          <a:prstDash val="solid"/>
        </a:ln>
      </a:spPr>
      <a:bodyPr/>
      <a:lstStyle/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1827</TotalTime>
  <Words>3976</Words>
  <Application>Microsoft Office PowerPoint</Application>
  <PresentationFormat>Widescreen</PresentationFormat>
  <Paragraphs>690</Paragraphs>
  <Slides>27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9" baseType="lpstr">
      <vt:lpstr>Arial Unicode MS</vt:lpstr>
      <vt:lpstr>NanumSquare</vt:lpstr>
      <vt:lpstr>NanumSquare Bold</vt:lpstr>
      <vt:lpstr>Noto Sans KR</vt:lpstr>
      <vt:lpstr>Pretendard</vt:lpstr>
      <vt:lpstr>맑은 고딕</vt:lpstr>
      <vt:lpstr>페이퍼로지 4 Regular</vt:lpstr>
      <vt:lpstr>페이퍼로지 7 Bold</vt:lpstr>
      <vt:lpstr>페이퍼로지 9 Black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mbc</dc:creator>
  <cp:lastModifiedBy>mbc</cp:lastModifiedBy>
  <cp:revision>249</cp:revision>
  <dcterms:created xsi:type="dcterms:W3CDTF">2026-08-25T03:40:06Z</dcterms:created>
  <dcterms:modified xsi:type="dcterms:W3CDTF">2026-08-28T08:00:56Z</dcterms:modified>
</cp:coreProperties>
</file>