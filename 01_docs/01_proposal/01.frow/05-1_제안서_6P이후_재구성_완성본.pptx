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72" r:id="rId2"/>
    <p:sldId id="289" r:id="rId3"/>
    <p:sldId id="307" r:id="rId4"/>
    <p:sldId id="258" r:id="rId5"/>
    <p:sldId id="305" r:id="rId6"/>
    <p:sldId id="286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5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bc" initials="m" lastIdx="1" clrIdx="0">
    <p:extLst>
      <p:ext uri="{19B8F6BF-5375-455C-9EA6-DF929625EA0E}">
        <p15:presenceInfo xmlns:p15="http://schemas.microsoft.com/office/powerpoint/2012/main" userId="mb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B16"/>
    <a:srgbClr val="E56766"/>
    <a:srgbClr val="0B1F3A"/>
    <a:srgbClr val="E66867"/>
    <a:srgbClr val="49A8FF"/>
    <a:srgbClr val="002060"/>
    <a:srgbClr val="5E85B0"/>
    <a:srgbClr val="2F7CF6"/>
    <a:srgbClr val="10213D"/>
    <a:srgbClr val="0E2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60"/>
  </p:normalViewPr>
  <p:slideViewPr>
    <p:cSldViewPr snapToGrid="0">
      <p:cViewPr>
        <p:scale>
          <a:sx n="66" d="100"/>
          <a:sy n="66" d="100"/>
        </p:scale>
        <p:origin x="2232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dPt>
            <c:idx val="9"/>
            <c:marker>
              <c:symbol val="circle"/>
              <c:size val="5"/>
              <c:spPr>
                <a:solidFill>
                  <a:schemeClr val="tx1"/>
                </a:solidFill>
                <a:ln w="9525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4BD-4353-81B5-3CAA4CB197C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E66867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862</c:v>
                </c:pt>
                <c:pt idx="1">
                  <c:v>1018</c:v>
                </c:pt>
                <c:pt idx="2">
                  <c:v>1184</c:v>
                </c:pt>
                <c:pt idx="3">
                  <c:v>1699</c:v>
                </c:pt>
                <c:pt idx="4">
                  <c:v>2210</c:v>
                </c:pt>
                <c:pt idx="5">
                  <c:v>2500</c:v>
                </c:pt>
                <c:pt idx="6">
                  <c:v>2491</c:v>
                </c:pt>
                <c:pt idx="7">
                  <c:v>2366</c:v>
                </c:pt>
                <c:pt idx="8">
                  <c:v>4100</c:v>
                </c:pt>
                <c:pt idx="9">
                  <c:v>5384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BD-4353-81B5-3CAA4CB197C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30342624"/>
        <c:axId val="630342952"/>
      </c:lineChart>
      <c:catAx>
        <c:axId val="630342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630342952"/>
        <c:crosses val="autoZero"/>
        <c:auto val="1"/>
        <c:lblAlgn val="ctr"/>
        <c:lblOffset val="100"/>
        <c:noMultiLvlLbl val="0"/>
      </c:catAx>
      <c:valAx>
        <c:axId val="630342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630342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latin typeface="나눔스퀘어_ac Bold" panose="020B0600000101010101" pitchFamily="50" charset="-127"/>
          <a:ea typeface="나눔스퀘어_ac Bold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피해금액 (억원)</c:v>
                </c:pt>
              </c:strCache>
            </c:strRef>
          </c:tx>
          <c:spPr>
            <a:solidFill>
              <a:srgbClr val="5E85B0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rgbClr val="E567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C5-4D74-A2C0-0B00A1C835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1468</c:v>
                </c:pt>
                <c:pt idx="1">
                  <c:v>2470</c:v>
                </c:pt>
                <c:pt idx="2">
                  <c:v>4040</c:v>
                </c:pt>
                <c:pt idx="3">
                  <c:v>6398</c:v>
                </c:pt>
                <c:pt idx="4">
                  <c:v>7000</c:v>
                </c:pt>
                <c:pt idx="5">
                  <c:v>7744</c:v>
                </c:pt>
                <c:pt idx="6">
                  <c:v>5438</c:v>
                </c:pt>
                <c:pt idx="7">
                  <c:v>4472</c:v>
                </c:pt>
                <c:pt idx="8">
                  <c:v>8545</c:v>
                </c:pt>
                <c:pt idx="9">
                  <c:v>12578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C5-4D74-A2C0-0B00A1C835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52944200"/>
        <c:axId val="25294288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발생건수 (건)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dLbls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1BC5-4D74-A2C0-0B00A1C835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17040</c:v>
                </c:pt>
                <c:pt idx="1">
                  <c:v>24259</c:v>
                </c:pt>
                <c:pt idx="2">
                  <c:v>34132</c:v>
                </c:pt>
                <c:pt idx="3">
                  <c:v>37667</c:v>
                </c:pt>
                <c:pt idx="4">
                  <c:v>31681</c:v>
                </c:pt>
                <c:pt idx="5">
                  <c:v>30982</c:v>
                </c:pt>
                <c:pt idx="6">
                  <c:v>21832</c:v>
                </c:pt>
                <c:pt idx="7">
                  <c:v>18902</c:v>
                </c:pt>
                <c:pt idx="8">
                  <c:v>20839</c:v>
                </c:pt>
                <c:pt idx="9">
                  <c:v>23360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C5-4D74-A2C0-0B00A1C835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33958696"/>
        <c:axId val="833957384"/>
      </c:lineChart>
      <c:catAx>
        <c:axId val="252944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252942888"/>
        <c:crosses val="autoZero"/>
        <c:auto val="1"/>
        <c:lblAlgn val="ctr"/>
        <c:lblOffset val="100"/>
        <c:noMultiLvlLbl val="0"/>
      </c:catAx>
      <c:valAx>
        <c:axId val="252942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252944200"/>
        <c:crosses val="autoZero"/>
        <c:crossBetween val="between"/>
      </c:valAx>
      <c:valAx>
        <c:axId val="83395738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833958696"/>
        <c:crosses val="max"/>
        <c:crossBetween val="between"/>
      </c:valAx>
      <c:catAx>
        <c:axId val="8339586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339573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latin typeface="나눔스퀘어_ac Bold" panose="020B0600000101010101" pitchFamily="50" charset="-127"/>
          <a:ea typeface="나눔스퀘어_ac Bold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D40B9-442F-4379-B62C-50857005B014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AA1BA-B990-416E-92A8-7DD949855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65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https://news.kbs.co.kr/news/pc/view/view.do?ncd=8591764</a:t>
            </a:r>
          </a:p>
          <a:p>
            <a:r>
              <a:rPr lang="en-US" dirty="0"/>
              <a:t>https://www.yna.co.kr/view/AKR20260527080100055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89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53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15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25F1-9B96-434A-8F84-8E13385EE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8E24B-0332-48A5-BE72-7D6D7D5BC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54645-9418-4B00-808B-DCEA688DC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10861-48B6-481D-92FB-14BBA461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56A97-60F8-410D-AC45-02B24A7A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3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4A16-7AFC-4E56-8116-359F22C1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6CDDD-6F0D-43D5-ACE9-CEE3629D5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E97C0-0245-40CD-B32D-9A086157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61660-6F35-43EF-AA03-C9BAD6FB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300E5-7CAF-4E82-8745-DD95AF19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367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4B64-C4A1-4716-B6AA-9B1CFFB1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953C3-DC54-4B4F-936F-728ADFFFC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72A36-20C6-4384-9DB7-D8B15FB2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DDD8A-B8D6-4223-B25E-1D027961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D1C47-2930-4438-B29E-CB3587BB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87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5231-41DC-42AC-A996-A5876576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FDF20-D71D-4455-9FB6-D9529AB5A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126F5-90A0-49BC-B18A-E120A5B5A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EDDDC-330C-4B8D-A3A2-D04878B3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1BFB2-4AEF-4875-B5DD-4B00B66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F090D-5DD0-45A9-A07D-462AFDBB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58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0F6A-6F0D-4372-BB37-75AFDBB6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F6076-985E-4AE1-A13D-DB6E53A0C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903C3-EFE3-4915-98D7-E22FC994D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1897D4-6C75-4354-835C-B88FCF75C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F3649-5C4B-4FA7-9082-F0226512E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454A8-E9EA-42F6-B46C-170C30CB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80141-BAED-4F7F-8403-7075ADB8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EE564-FC66-4A86-AF92-DFB13604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15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065A-E81B-4517-B4E7-4EC02FF7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6D705-C0B5-4213-A274-07C65FD1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75015-697E-45BF-8C33-976681E86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FBA8F-2031-4F60-BBFC-E8758451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28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32EF1-D7E3-4909-8D32-C27D2E2BD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A86A5-7B94-431F-ADF6-637C10AC5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0DB09-3EFF-4D81-B13F-8437B391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795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F734-C3B4-497A-94B3-566C3A20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284BF-856F-48C1-9D83-76115021E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37885-2C0F-46EA-AC64-F71778F37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B7929-0F58-4F77-9E7D-3404B37A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A31AD-4D8D-49B5-BF0A-E76592F0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E14CB-8911-447F-84E7-92D96B9B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28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BFE16-EF20-469F-B4C1-2BB4ADBB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EEDCF2-7A87-4013-8665-D8A009774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F7F6E-DEF1-4591-8CE4-5034CEFDB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3A68D-BD39-409C-85CD-07FE60E7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A09B-3F3E-43B2-B916-AB219179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F1E6-7205-4AAA-A142-33EFA882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40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6845-87EE-49C4-A54D-4DD88F5D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F6E6A-4977-4CEC-A8D9-7064A8462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0440-3E4A-48C3-AACE-31A03175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5132-9CD7-4D8C-9500-57BA9DAA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02DDC-0868-49FA-A7B5-3DBED67D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33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2B7006-E9B3-4984-8A5C-936F1BA9A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041A9-D43B-4632-BCCA-A9418D8DC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B6C7C-AFE8-4214-B42F-E7F256617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B8BBB-3BCE-46E4-84F5-006AEA9E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7C3B-1CFD-4E17-ABB5-5ABD3B81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997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24446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B4B4F1C-6A2C-42AD-91C2-CF0DFB3D0BC7}"/>
              </a:ext>
            </a:extLst>
          </p:cNvPr>
          <p:cNvSpPr/>
          <p:nvPr userDrawn="1"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23227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96E590-9872-4B78-AF25-07765B3C7807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24446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6F8AB425-CE47-448A-A682-729483C69FDC}"/>
              </a:ext>
            </a:extLst>
          </p:cNvPr>
          <p:cNvSpPr/>
          <p:nvPr userDrawn="1"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0294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9BABCA-8F5D-4C86-A07A-BAECAF610FF4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DCE8F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0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6EEB8-1A5C-44A5-B5C2-7E736071E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1D718-3418-4B18-B782-CCF9CEDA8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CCEB8-E72F-428B-8B58-F801AD8B6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A2DB2-CDF2-401D-A12A-A35C25BBD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13C4-3B0A-46FB-A37B-2C939FBD8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1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news.sktelecom.com/224228" TargetMode="External"/><Relationship Id="rId3" Type="http://schemas.openxmlformats.org/officeDocument/2006/relationships/hyperlink" Target="https://www.bok.or.kr/portal/bbs/B0000502/view.do?menuNo=201265&amp;nttId=10091152" TargetMode="External"/><Relationship Id="rId7" Type="http://schemas.openxmlformats.org/officeDocument/2006/relationships/hyperlink" Target="https://news.sktelecom.com/218051" TargetMode="External"/><Relationship Id="rId2" Type="http://schemas.openxmlformats.org/officeDocument/2006/relationships/hyperlink" Target="https://www.kci.go.kr/kciportal/ci/sereArticleSearch/ciSereArtiView.kci?sereArticleSearchBean.artiId=ART003069648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kci.go.kr/kciportal/ci/sereArticleSearch/ciSereArtiView.kci?sereArticleSearchBean.artiId=ART003101132" TargetMode="External"/><Relationship Id="rId11" Type="http://schemas.openxmlformats.org/officeDocument/2006/relationships/hyperlink" Target="https://www.fsc.go.kr/po010102/86997" TargetMode="External"/><Relationship Id="rId5" Type="http://schemas.openxmlformats.org/officeDocument/2006/relationships/hyperlink" Target="https://www.kci.go.kr/kciportal/ci/sereArticleSearch/ciSereArtiView.kci?sereArticleSearchBean.artiId=ART003041851" TargetMode="External"/><Relationship Id="rId10" Type="http://schemas.openxmlformats.org/officeDocument/2006/relationships/hyperlink" Target="https://www.fsc.go.kr/no010101/86149" TargetMode="External"/><Relationship Id="rId4" Type="http://schemas.openxmlformats.org/officeDocument/2006/relationships/hyperlink" Target="https://www.kci.go.kr/kciportal/ci/sereArticleSearch/ciSereArtiView.kci?sereArticleSearchBean.artiId=ART003226871" TargetMode="External"/><Relationship Id="rId9" Type="http://schemas.openxmlformats.org/officeDocument/2006/relationships/hyperlink" Target="https://news.lguplus.com/2005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C0C0CB8F-415D-407B-8561-941E5B4C4356}"/>
              </a:ext>
            </a:extLst>
          </p:cNvPr>
          <p:cNvSpPr txBox="1"/>
          <p:nvPr/>
        </p:nvSpPr>
        <p:spPr>
          <a:xfrm>
            <a:off x="491798" y="3677109"/>
            <a:ext cx="6104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40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독립검증 기반 보이스피싱 금융안전 서비스 제안서</a:t>
            </a: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1E31A4B3-526D-4E88-A19C-2D7AFA70D160}"/>
              </a:ext>
            </a:extLst>
          </p:cNvPr>
          <p:cNvSpPr txBox="1"/>
          <p:nvPr/>
        </p:nvSpPr>
        <p:spPr>
          <a:xfrm>
            <a:off x="547516" y="6501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105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Team. </a:t>
            </a:r>
            <a:r>
              <a:rPr lang="ko-KR" altLang="en-US" sz="105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가드레일즈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7B1A6ED6-773F-42B8-8ED8-17738C505C8C}"/>
              </a:ext>
            </a:extLst>
          </p:cNvPr>
          <p:cNvSpPr/>
          <p:nvPr/>
        </p:nvSpPr>
        <p:spPr>
          <a:xfrm>
            <a:off x="7051548" y="0"/>
            <a:ext cx="5140452" cy="6858000"/>
          </a:xfrm>
          <a:prstGeom prst="rect">
            <a:avLst/>
          </a:prstGeom>
          <a:solidFill>
            <a:srgbClr val="0E2746"/>
          </a:solidFill>
          <a:ln w="12700">
            <a:solidFill>
              <a:srgbClr val="0E2746"/>
            </a:solidFill>
            <a:prstDash val="solid"/>
          </a:ln>
        </p:spPr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8EE268D-001A-4A65-B643-028EB914480F}"/>
              </a:ext>
            </a:extLst>
          </p:cNvPr>
          <p:cNvGrpSpPr/>
          <p:nvPr/>
        </p:nvGrpSpPr>
        <p:grpSpPr>
          <a:xfrm>
            <a:off x="547517" y="766064"/>
            <a:ext cx="5294484" cy="3352801"/>
            <a:chOff x="550563" y="766064"/>
            <a:chExt cx="5689815" cy="3352801"/>
          </a:xfrm>
        </p:grpSpPr>
        <p:sp>
          <p:nvSpPr>
            <p:cNvPr id="59" name="Shape 9">
              <a:extLst>
                <a:ext uri="{FF2B5EF4-FFF2-40B4-BE49-F238E27FC236}">
                  <a16:creationId xmlns:a16="http://schemas.microsoft.com/office/drawing/2014/main" id="{634C45B3-C238-4E3E-AEED-0B9672BB4F65}"/>
                </a:ext>
              </a:extLst>
            </p:cNvPr>
            <p:cNvSpPr/>
            <p:nvPr/>
          </p:nvSpPr>
          <p:spPr>
            <a:xfrm>
              <a:off x="550563" y="766064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</p:sp>
        <p:sp>
          <p:nvSpPr>
            <p:cNvPr id="57" name="Shape 9">
              <a:extLst>
                <a:ext uri="{FF2B5EF4-FFF2-40B4-BE49-F238E27FC236}">
                  <a16:creationId xmlns:a16="http://schemas.microsoft.com/office/drawing/2014/main" id="{09CB9E57-402C-4513-8361-0726DA1036CA}"/>
                </a:ext>
              </a:extLst>
            </p:cNvPr>
            <p:cNvSpPr/>
            <p:nvPr/>
          </p:nvSpPr>
          <p:spPr>
            <a:xfrm>
              <a:off x="550563" y="3543131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8" name="Shape 9">
              <a:extLst>
                <a:ext uri="{FF2B5EF4-FFF2-40B4-BE49-F238E27FC236}">
                  <a16:creationId xmlns:a16="http://schemas.microsoft.com/office/drawing/2014/main" id="{7C5AD97E-4F05-4367-AE0F-6916A16D68BF}"/>
                </a:ext>
              </a:extLst>
            </p:cNvPr>
            <p:cNvSpPr/>
            <p:nvPr/>
          </p:nvSpPr>
          <p:spPr>
            <a:xfrm>
              <a:off x="550563" y="4118865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72DDACD-5AE2-44C9-8A2E-B51DE4B0AB0E}"/>
              </a:ext>
            </a:extLst>
          </p:cNvPr>
          <p:cNvGrpSpPr/>
          <p:nvPr/>
        </p:nvGrpSpPr>
        <p:grpSpPr>
          <a:xfrm>
            <a:off x="547516" y="593683"/>
            <a:ext cx="6104020" cy="2949448"/>
            <a:chOff x="550564" y="585216"/>
            <a:chExt cx="6104020" cy="2949448"/>
          </a:xfrm>
        </p:grpSpPr>
        <p:sp>
          <p:nvSpPr>
            <p:cNvPr id="7" name="Shape 5"/>
            <p:cNvSpPr/>
            <p:nvPr/>
          </p:nvSpPr>
          <p:spPr>
            <a:xfrm>
              <a:off x="550564" y="585216"/>
              <a:ext cx="2240280" cy="310896"/>
            </a:xfrm>
            <a:prstGeom prst="roundRect">
              <a:avLst>
                <a:gd name="adj" fmla="val 50000"/>
              </a:avLst>
            </a:prstGeom>
            <a:solidFill>
              <a:srgbClr val="18395D"/>
            </a:solidFill>
            <a:ln w="10160">
              <a:solidFill>
                <a:srgbClr val="244F78"/>
              </a:solidFill>
              <a:prstDash val="solid"/>
            </a:ln>
          </p:spPr>
        </p:sp>
        <p:sp>
          <p:nvSpPr>
            <p:cNvPr id="8" name="Text 6"/>
            <p:cNvSpPr txBox="1"/>
            <p:nvPr/>
          </p:nvSpPr>
          <p:spPr>
            <a:xfrm>
              <a:off x="623716" y="621792"/>
              <a:ext cx="209397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2026 </a:t>
              </a:r>
              <a:r>
                <a:rPr lang="ko-KR" altLang="en-US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금융 </a:t>
              </a:r>
              <a:r>
                <a:rPr lang="en-US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AI Challenge</a:t>
              </a:r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550564" y="850392"/>
              <a:ext cx="6104020" cy="26842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보이스피싱이 만든 혼란</a:t>
              </a:r>
              <a:r>
                <a:rPr lang="en-US" altLang="ko-KR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 </a:t>
              </a: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속에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금융소비자를 혼자 남기지 않도록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함께 확인하고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한 번 더 막아주는 </a:t>
              </a:r>
              <a:r>
                <a:rPr lang="en-US" altLang="ko-KR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AI</a:t>
              </a: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솔루션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</p:txBody>
        </p:sp>
      </p:grp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84BCE10-6885-4AD1-A68A-60F056C73D54}"/>
              </a:ext>
            </a:extLst>
          </p:cNvPr>
          <p:cNvSpPr/>
          <p:nvPr/>
        </p:nvSpPr>
        <p:spPr>
          <a:xfrm>
            <a:off x="7953865" y="766064"/>
            <a:ext cx="3340100" cy="6518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스마트폰 디바이스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안에 앱 로고</a:t>
            </a:r>
          </a:p>
        </p:txBody>
      </p:sp>
    </p:spTree>
    <p:extLst>
      <p:ext uri="{BB962C8B-B14F-4D97-AF65-F5344CB8AC3E}">
        <p14:creationId xmlns:p14="http://schemas.microsoft.com/office/powerpoint/2010/main" val="221824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6E8D74D-AC22-40D6-AD00-C60A385F8D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0" r="5720"/>
          <a:stretch/>
        </p:blipFill>
        <p:spPr>
          <a:xfrm>
            <a:off x="0" y="-12700"/>
            <a:ext cx="12192000" cy="68834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513B6724-1F32-4AB3-95A3-5DF13A0497F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30000"/>
            </a:schemeClr>
          </a:solidFill>
          <a:ln w="12700">
            <a:solidFill>
              <a:srgbClr val="0E2746"/>
            </a:solidFill>
            <a:prstDash val="solid"/>
          </a:ln>
        </p:spPr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1842F57-B99E-45AA-9322-69849BDD5513}"/>
              </a:ext>
            </a:extLst>
          </p:cNvPr>
          <p:cNvGrpSpPr/>
          <p:nvPr/>
        </p:nvGrpSpPr>
        <p:grpSpPr>
          <a:xfrm>
            <a:off x="676209" y="614224"/>
            <a:ext cx="10701275" cy="5835195"/>
            <a:chOff x="676209" y="626924"/>
            <a:chExt cx="10701275" cy="583519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8ADCEB-E50C-42A8-8F4D-A33A939F0E5D}"/>
                </a:ext>
              </a:extLst>
            </p:cNvPr>
            <p:cNvSpPr txBox="1"/>
            <p:nvPr/>
          </p:nvSpPr>
          <p:spPr>
            <a:xfrm>
              <a:off x="3051175" y="626924"/>
              <a:ext cx="610235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사람의 불안과 취약점을 이용해</a:t>
              </a:r>
              <a:endParaRPr lang="en-US" altLang="ko-KR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0" indent="0" algn="ctr">
                <a:buNone/>
              </a:pPr>
              <a:r>
                <a:rPr lang="ko-KR" altLang="en-US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잘못된 판단을 유도하는 금융 범죄</a:t>
              </a:r>
            </a:p>
            <a:p>
              <a:pPr marL="0" indent="0" algn="ctr">
                <a:buNone/>
              </a:pPr>
              <a:r>
                <a:rPr lang="ko-KR" altLang="en-US" sz="5400" b="1" dirty="0">
                  <a:solidFill>
                    <a:schemeClr val="bg1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보이스피싱</a:t>
              </a:r>
              <a:endParaRPr lang="en-US" altLang="ko-KR" sz="5400" b="1" dirty="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2EADBD-3891-42CD-8D93-52D2B87ED37A}"/>
                </a:ext>
              </a:extLst>
            </p:cNvPr>
            <p:cNvSpPr txBox="1"/>
            <p:nvPr/>
          </p:nvSpPr>
          <p:spPr>
            <a:xfrm>
              <a:off x="2749550" y="5261790"/>
              <a:ext cx="668985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딥페이크</a:t>
              </a:r>
              <a:r>
                <a:rPr lang="en-US" altLang="ko-KR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, </a:t>
              </a: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전화 가로채기</a:t>
              </a:r>
              <a:r>
                <a:rPr lang="en-US" altLang="ko-KR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… </a:t>
              </a: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끝없이 발전하는 수법</a:t>
              </a:r>
              <a:endParaRPr lang="en-US" altLang="ko-KR" sz="1400" dirty="0">
                <a:solidFill>
                  <a:schemeClr val="bg1"/>
                </a:solidFill>
                <a:latin typeface="NanumSquare Bold" panose="020B0600000101010101" pitchFamily="50" charset="-127"/>
                <a:ea typeface="NanumSquare Bold" panose="020B0600000101010101" pitchFamily="50" charset="-127"/>
              </a:endParaRPr>
            </a:p>
            <a:p>
              <a:pPr marL="0" indent="0" algn="ctr"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피해를 막기위한 정부와 금융 기관의 끝없는 사투</a:t>
              </a:r>
              <a:endParaRPr lang="en-US" altLang="ko-KR" sz="1400" dirty="0">
                <a:solidFill>
                  <a:schemeClr val="bg1"/>
                </a:solidFill>
                <a:latin typeface="NanumSquare Bold" panose="020B0600000101010101" pitchFamily="50" charset="-127"/>
                <a:ea typeface="NanumSquare Bold" panose="020B0600000101010101" pitchFamily="50" charset="-127"/>
              </a:endParaRPr>
            </a:p>
            <a:p>
              <a:pPr marL="0" indent="0" algn="ctr">
                <a:buNone/>
              </a:pPr>
              <a:endParaRPr lang="en-US" altLang="ko-KR" sz="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marL="0" indent="0" algn="ctr">
                <a:buNone/>
              </a:pP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단 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원이라도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단 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명이라도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0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더 지키기 위해</a:t>
              </a:r>
              <a:endPara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20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함께 고민하고 해결해야 할 중대한 사회적 문제</a:t>
              </a:r>
              <a:endPara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ADD5DB-927E-4576-9A6F-EF9B87C9EA69}"/>
                </a:ext>
              </a:extLst>
            </p:cNvPr>
            <p:cNvSpPr/>
            <p:nvPr/>
          </p:nvSpPr>
          <p:spPr>
            <a:xfrm>
              <a:off x="676209" y="2568097"/>
              <a:ext cx="3359152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노인들에게 ‘100억원’ 뜯어낸 피싱 일당… 112 신고 전화까지 가로챘다 </a:t>
              </a:r>
              <a:r>
                <a:rPr lang="en-US" altLang="ko-KR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매일경제</a:t>
              </a:r>
              <a:r>
                <a:rPr lang="en-US" altLang="ko-KR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43EDA0-F05D-4C52-A723-643E3D87EDEC}"/>
                </a:ext>
              </a:extLst>
            </p:cNvPr>
            <p:cNvSpPr/>
            <p:nvPr/>
          </p:nvSpPr>
          <p:spPr>
            <a:xfrm>
              <a:off x="7921497" y="2831050"/>
              <a:ext cx="2936875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보이스피싱 피해액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반토막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’… </a:t>
              </a:r>
            </a:p>
            <a:p>
              <a:pPr algn="ctr"/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7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월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337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억원으로 올해 최저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한국일보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43F7C86-A66C-4412-878D-BBA05B9DA175}"/>
                </a:ext>
              </a:extLst>
            </p:cNvPr>
            <p:cNvSpPr/>
            <p:nvPr/>
          </p:nvSpPr>
          <p:spPr>
            <a:xfrm>
              <a:off x="2093784" y="3434794"/>
              <a:ext cx="3214816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"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오늘 소방점검 나가요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"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전화에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덜컥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’..</a:t>
              </a:r>
            </a:p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알고보니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노쇼 보이스피싱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제주방송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BD81DD3-DA06-47E6-8A81-238A4BEB83AC}"/>
                </a:ext>
              </a:extLst>
            </p:cNvPr>
            <p:cNvSpPr/>
            <p:nvPr/>
          </p:nvSpPr>
          <p:spPr>
            <a:xfrm>
              <a:off x="7402384" y="3991585"/>
              <a:ext cx="3975100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경찰청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-KT,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협업으로 보이스피싱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구매대행 사기 불법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010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번호 변작 중계소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115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개소 단속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정책브리핑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7E3725-0C33-4292-A88D-07EA5E88446D}"/>
                </a:ext>
              </a:extLst>
            </p:cNvPr>
            <p:cNvSpPr txBox="1"/>
            <p:nvPr/>
          </p:nvSpPr>
          <p:spPr>
            <a:xfrm>
              <a:off x="5421715" y="1945024"/>
              <a:ext cx="13612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범죄 </a:t>
              </a:r>
              <a:r>
                <a:rPr lang="en-US" altLang="ko-KR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vs </a:t>
              </a:r>
              <a:r>
                <a:rPr lang="ko-KR" altLang="en-US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대책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B5F2574-374C-4458-803C-1D887BF70E66}"/>
                </a:ext>
              </a:extLst>
            </p:cNvPr>
            <p:cNvSpPr/>
            <p:nvPr/>
          </p:nvSpPr>
          <p:spPr>
            <a:xfrm>
              <a:off x="1269936" y="4307675"/>
              <a:ext cx="2765425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대출 미끼로 계좌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·OTP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받아 보이스피싱 자금세탁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…3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명 구속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서울신문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2581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83CD05-1C0E-4A92-8144-C841C3C659DF}"/>
              </a:ext>
            </a:extLst>
          </p:cNvPr>
          <p:cNvGrpSpPr/>
          <p:nvPr/>
        </p:nvGrpSpPr>
        <p:grpSpPr>
          <a:xfrm>
            <a:off x="10844784" y="128016"/>
            <a:ext cx="1188720" cy="1188720"/>
            <a:chOff x="10844784" y="128016"/>
            <a:chExt cx="1188720" cy="1188720"/>
          </a:xfrm>
        </p:grpSpPr>
        <p:sp>
          <p:nvSpPr>
            <p:cNvPr id="53" name="Shape 0">
              <a:extLst>
                <a:ext uri="{FF2B5EF4-FFF2-40B4-BE49-F238E27FC236}">
                  <a16:creationId xmlns:a16="http://schemas.microsoft.com/office/drawing/2014/main" id="{8180EA9B-D86F-480A-827F-E6A6E0D31C69}"/>
                </a:ext>
              </a:extLst>
            </p:cNvPr>
            <p:cNvSpPr/>
            <p:nvPr/>
          </p:nvSpPr>
          <p:spPr>
            <a:xfrm>
              <a:off x="10844784" y="128016"/>
              <a:ext cx="1188720" cy="1188720"/>
            </a:xfrm>
            <a:prstGeom prst="ellipse">
              <a:avLst/>
            </a:prstGeom>
            <a:solidFill>
              <a:srgbClr val="EAF3FF"/>
            </a:solidFill>
            <a:ln w="10160">
              <a:solidFill>
                <a:srgbClr val="EAF3FF"/>
              </a:solidFill>
              <a:prstDash val="solid"/>
            </a:ln>
          </p:spPr>
        </p:sp>
        <p:sp>
          <p:nvSpPr>
            <p:cNvPr id="54" name="Shape 1">
              <a:extLst>
                <a:ext uri="{FF2B5EF4-FFF2-40B4-BE49-F238E27FC236}">
                  <a16:creationId xmlns:a16="http://schemas.microsoft.com/office/drawing/2014/main" id="{A1E94AE9-4178-4DF3-81BE-A4F0E14FB13D}"/>
                </a:ext>
              </a:extLst>
            </p:cNvPr>
            <p:cNvSpPr/>
            <p:nvPr/>
          </p:nvSpPr>
          <p:spPr>
            <a:xfrm>
              <a:off x="11448288" y="292608"/>
              <a:ext cx="310896" cy="310896"/>
            </a:xfrm>
            <a:prstGeom prst="ellipse">
              <a:avLst/>
            </a:prstGeom>
            <a:solidFill>
              <a:srgbClr val="49A8FF"/>
            </a:solidFill>
            <a:ln w="10160">
              <a:solidFill>
                <a:srgbClr val="49A8FF"/>
              </a:solidFill>
              <a:prstDash val="solid"/>
            </a:ln>
          </p:spPr>
        </p:sp>
        <p:sp>
          <p:nvSpPr>
            <p:cNvPr id="55" name="Shape 2">
              <a:extLst>
                <a:ext uri="{FF2B5EF4-FFF2-40B4-BE49-F238E27FC236}">
                  <a16:creationId xmlns:a16="http://schemas.microsoft.com/office/drawing/2014/main" id="{0261E3B0-CF1D-4497-96E2-3E47E2AE44B6}"/>
                </a:ext>
              </a:extLst>
            </p:cNvPr>
            <p:cNvSpPr/>
            <p:nvPr/>
          </p:nvSpPr>
          <p:spPr>
            <a:xfrm>
              <a:off x="10844784" y="1024128"/>
              <a:ext cx="868680" cy="0"/>
            </a:xfrm>
            <a:prstGeom prst="line">
              <a:avLst/>
            </a:prstGeom>
            <a:noFill/>
            <a:ln w="13970">
              <a:solidFill>
                <a:srgbClr val="D6E8FF"/>
              </a:solidFill>
              <a:prstDash val="solid"/>
              <a:headEnd type="none"/>
              <a:tailEnd type="none"/>
            </a:ln>
          </p:spPr>
        </p:sp>
        <p:sp>
          <p:nvSpPr>
            <p:cNvPr id="56" name="Shape 3">
              <a:extLst>
                <a:ext uri="{FF2B5EF4-FFF2-40B4-BE49-F238E27FC236}">
                  <a16:creationId xmlns:a16="http://schemas.microsoft.com/office/drawing/2014/main" id="{77510202-A46B-4098-B6BE-16242DFE16B5}"/>
                </a:ext>
              </a:extLst>
            </p:cNvPr>
            <p:cNvSpPr/>
            <p:nvPr/>
          </p:nvSpPr>
          <p:spPr>
            <a:xfrm>
              <a:off x="11045952" y="1225296"/>
              <a:ext cx="667512" cy="0"/>
            </a:xfrm>
            <a:prstGeom prst="line">
              <a:avLst/>
            </a:prstGeom>
            <a:noFill/>
            <a:ln w="13970">
              <a:solidFill>
                <a:srgbClr val="D6E8FF"/>
              </a:solidFill>
              <a:prstDash val="solid"/>
              <a:headEnd type="none"/>
              <a:tailEnd type="none"/>
            </a:ln>
          </p:spPr>
        </p:sp>
      </p:grpSp>
      <p:sp>
        <p:nvSpPr>
          <p:cNvPr id="57" name="Text 5">
            <a:extLst>
              <a:ext uri="{FF2B5EF4-FFF2-40B4-BE49-F238E27FC236}">
                <a16:creationId xmlns:a16="http://schemas.microsoft.com/office/drawing/2014/main" id="{14DC0ADE-DD2D-4DB4-9ADF-13F891CE62C7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A3AB1DBD-1697-472F-9AD7-5B9857EAF0DD}"/>
              </a:ext>
            </a:extLst>
          </p:cNvPr>
          <p:cNvSpPr txBox="1"/>
          <p:nvPr/>
        </p:nvSpPr>
        <p:spPr>
          <a:xfrm>
            <a:off x="594359" y="677610"/>
            <a:ext cx="11016615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2026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년 이후 동안 보이스피싱 피해 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260,694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건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, 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누적 피해액 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6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조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 153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억원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, 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평균 피해액 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우상향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…</a:t>
            </a:r>
          </a:p>
          <a:p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단순 금전적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경제적 손실 뿐 아니라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</a:rPr>
              <a:t>극단적 선택까지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 이어지는 심각한 상황</a:t>
            </a:r>
            <a:endParaRPr lang="en-US" altLang="ko-KR" sz="2000" dirty="0">
              <a:solidFill>
                <a:srgbClr val="0E2746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7CC2DE4C-207C-45EF-9A0E-5F6667FDA2C7}"/>
              </a:ext>
            </a:extLst>
          </p:cNvPr>
          <p:cNvSpPr txBox="1"/>
          <p:nvPr/>
        </p:nvSpPr>
        <p:spPr>
          <a:xfrm>
            <a:off x="594360" y="5466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대한민국은 아직 보이스피싱 범죄와 전쟁중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…</a:t>
            </a:r>
            <a:endParaRPr lang="en-US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1" name="Slide Number Placeholder 0">
            <a:extLst>
              <a:ext uri="{FF2B5EF4-FFF2-40B4-BE49-F238E27FC236}">
                <a16:creationId xmlns:a16="http://schemas.microsoft.com/office/drawing/2014/main" id="{B62526B2-5F3F-4EBB-A2DC-93B7F89FFF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97" name="Shape 44">
            <a:extLst>
              <a:ext uri="{FF2B5EF4-FFF2-40B4-BE49-F238E27FC236}">
                <a16:creationId xmlns:a16="http://schemas.microsoft.com/office/drawing/2014/main" id="{A76E8C5A-17D3-408B-A296-8675D799E942}"/>
              </a:ext>
            </a:extLst>
          </p:cNvPr>
          <p:cNvSpPr/>
          <p:nvPr/>
        </p:nvSpPr>
        <p:spPr>
          <a:xfrm>
            <a:off x="600456" y="4575007"/>
            <a:ext cx="10991088" cy="1736164"/>
          </a:xfrm>
          <a:prstGeom prst="roundRect">
            <a:avLst>
              <a:gd name="adj" fmla="val 14754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6B820F-AFB7-48E0-9EB6-DDB131DC1B40}"/>
              </a:ext>
            </a:extLst>
          </p:cNvPr>
          <p:cNvGrpSpPr/>
          <p:nvPr/>
        </p:nvGrpSpPr>
        <p:grpSpPr>
          <a:xfrm>
            <a:off x="810836" y="4737420"/>
            <a:ext cx="6480610" cy="1409774"/>
            <a:chOff x="804672" y="4974712"/>
            <a:chExt cx="6480610" cy="1409774"/>
          </a:xfrm>
        </p:grpSpPr>
        <p:sp>
          <p:nvSpPr>
            <p:cNvPr id="98" name="Text 45">
              <a:extLst>
                <a:ext uri="{FF2B5EF4-FFF2-40B4-BE49-F238E27FC236}">
                  <a16:creationId xmlns:a16="http://schemas.microsoft.com/office/drawing/2014/main" id="{4F2E3DE0-CD98-4D61-9489-686484F3DB48}"/>
                </a:ext>
              </a:extLst>
            </p:cNvPr>
            <p:cNvSpPr txBox="1"/>
            <p:nvPr/>
          </p:nvSpPr>
          <p:spPr>
            <a:xfrm>
              <a:off x="804672" y="4987290"/>
              <a:ext cx="53949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05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1E646E0-5120-4849-9996-97AD67287F74}"/>
                </a:ext>
              </a:extLst>
            </p:cNvPr>
            <p:cNvSpPr txBox="1"/>
            <p:nvPr/>
          </p:nvSpPr>
          <p:spPr>
            <a:xfrm>
              <a:off x="894649" y="5324056"/>
              <a:ext cx="639063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 줄었다지만</a:t>
              </a:r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…5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천만 원 피해에 </a:t>
              </a:r>
              <a:r>
                <a:rPr lang="en-US" altLang="ko-KR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20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대 아들</a:t>
              </a:r>
              <a:r>
                <a:rPr lang="en-US" altLang="ko-KR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엄마와 함께 숨져</a:t>
              </a:r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(KBS</a:t>
              </a:r>
              <a:r>
                <a:rPr lang="ko-KR" altLang="en-US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뉴스 </a:t>
              </a:r>
              <a:r>
                <a:rPr lang="en-US" altLang="ko-KR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2026.06.22)</a:t>
              </a:r>
              <a:endParaRPr lang="ko-KR" altLang="en-US" sz="1200" i="0" dirty="0">
                <a:solidFill>
                  <a:srgbClr val="222222"/>
                </a:solidFill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69DBA008-F345-4089-8070-1624E61E661A}"/>
                </a:ext>
              </a:extLst>
            </p:cNvPr>
            <p:cNvSpPr txBox="1"/>
            <p:nvPr/>
          </p:nvSpPr>
          <p:spPr>
            <a:xfrm>
              <a:off x="826725" y="4974712"/>
              <a:ext cx="422807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ko-KR" altLang="en-US" sz="1200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극단적인 선택 까지 이어지는 보이스피싱 범죄의 심각성</a:t>
              </a:r>
              <a:endParaRPr lang="en-US" altLang="ko-KR" sz="1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F6B1490-F183-46C5-891C-4DF4DDEBC613}"/>
                </a:ext>
              </a:extLst>
            </p:cNvPr>
            <p:cNvSpPr txBox="1"/>
            <p:nvPr/>
          </p:nvSpPr>
          <p:spPr>
            <a:xfrm>
              <a:off x="894649" y="5711305"/>
              <a:ext cx="591852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보이스피싱에 속아 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3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억원 잃은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피해자 생 마감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인출책 징역 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년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연합뉴스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2026.05.27)</a:t>
              </a:r>
              <a:endParaRPr lang="ko-KR" altLang="en-US" sz="1200" i="0" dirty="0"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AD6700A-593D-446A-8111-A37932502880}"/>
                </a:ext>
              </a:extLst>
            </p:cNvPr>
            <p:cNvSpPr txBox="1"/>
            <p:nvPr/>
          </p:nvSpPr>
          <p:spPr>
            <a:xfrm>
              <a:off x="894649" y="6107487"/>
              <a:ext cx="617366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 피해 비관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부부 극단선택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홀로 산 남편 자살방조 처벌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연합뉴스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TV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2026.07.26)</a:t>
              </a:r>
              <a:endParaRPr lang="ko-KR" altLang="en-US" sz="1200" i="0" dirty="0"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15506-C7C5-46AF-97DD-9E8720001060}"/>
              </a:ext>
            </a:extLst>
          </p:cNvPr>
          <p:cNvGrpSpPr/>
          <p:nvPr/>
        </p:nvGrpSpPr>
        <p:grpSpPr>
          <a:xfrm>
            <a:off x="7699811" y="4682175"/>
            <a:ext cx="3656903" cy="1521828"/>
            <a:chOff x="7640448" y="4563464"/>
            <a:chExt cx="3656903" cy="152182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AA21B39-CDD9-416A-94A5-F7D48DFFB9B7}"/>
                </a:ext>
              </a:extLst>
            </p:cNvPr>
            <p:cNvGrpSpPr/>
            <p:nvPr/>
          </p:nvGrpSpPr>
          <p:grpSpPr>
            <a:xfrm>
              <a:off x="7640448" y="4563464"/>
              <a:ext cx="3656903" cy="1521828"/>
              <a:chOff x="7640448" y="4563464"/>
              <a:chExt cx="3656903" cy="152182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88D801F-1FFC-4DB5-BA05-2750BEE7D95D}"/>
                  </a:ext>
                </a:extLst>
              </p:cNvPr>
              <p:cNvSpPr/>
              <p:nvPr/>
            </p:nvSpPr>
            <p:spPr>
              <a:xfrm>
                <a:off x="7656784" y="4794782"/>
                <a:ext cx="3640567" cy="129051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5650DA10-F948-4096-918C-238B8CB95A93}"/>
                  </a:ext>
                </a:extLst>
              </p:cNvPr>
              <p:cNvSpPr/>
              <p:nvPr/>
            </p:nvSpPr>
            <p:spPr>
              <a:xfrm>
                <a:off x="7724678" y="4887453"/>
                <a:ext cx="3512773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두려움과 분노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,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죄책감 느낀다</a:t>
                </a: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C96D9C1A-8A8D-4FA9-8E69-1BD016277053}"/>
                  </a:ext>
                </a:extLst>
              </p:cNvPr>
              <p:cNvSpPr/>
              <p:nvPr/>
            </p:nvSpPr>
            <p:spPr>
              <a:xfrm>
                <a:off x="7724678" y="5087078"/>
                <a:ext cx="2931106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밤에 잠이 잘 안 온다</a:t>
                </a: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F3D7BAF9-07DE-400A-AC59-9FF748362373}"/>
                  </a:ext>
                </a:extLst>
              </p:cNvPr>
              <p:cNvSpPr/>
              <p:nvPr/>
            </p:nvSpPr>
            <p:spPr>
              <a:xfrm>
                <a:off x="7724678" y="5286703"/>
                <a:ext cx="1993067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주변에 대한 과도한 경계심이 생긴다</a:t>
                </a: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8B5CB79-EE6B-47C6-8864-0A3C9BD3740E}"/>
                  </a:ext>
                </a:extLst>
              </p:cNvPr>
              <p:cNvGrpSpPr/>
              <p:nvPr/>
            </p:nvGrpSpPr>
            <p:grpSpPr>
              <a:xfrm>
                <a:off x="7724678" y="4887453"/>
                <a:ext cx="3512773" cy="751101"/>
                <a:chOff x="7724678" y="4937557"/>
                <a:chExt cx="3512773" cy="751101"/>
              </a:xfrm>
            </p:grpSpPr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AEC622F5-EDC0-4894-A4DF-14A87444EAE9}"/>
                    </a:ext>
                  </a:extLst>
                </p:cNvPr>
                <p:cNvSpPr/>
                <p:nvPr/>
              </p:nvSpPr>
              <p:spPr>
                <a:xfrm>
                  <a:off x="8863296" y="5536432"/>
                  <a:ext cx="2374155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r>
                    <a:rPr lang="ko-KR" altLang="en-US" sz="1000" dirty="0">
                      <a:latin typeface="페이퍼로지 4 Regular" pitchFamily="2" charset="-127"/>
                      <a:ea typeface="페이퍼로지 4 Regular" pitchFamily="2" charset="-127"/>
                    </a:rPr>
                    <a:t>병원에서 우울증 치료 등을 받는다 </a:t>
                  </a:r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25.4%</a:t>
                  </a:r>
                  <a:endParaRPr lang="ko-KR" altLang="en-US" sz="10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830D2552-CE5F-4566-9324-CCAA6DE748F6}"/>
                    </a:ext>
                  </a:extLst>
                </p:cNvPr>
                <p:cNvSpPr/>
                <p:nvPr/>
              </p:nvSpPr>
              <p:spPr>
                <a:xfrm>
                  <a:off x="7724678" y="5536432"/>
                  <a:ext cx="1194300" cy="152226"/>
                </a:xfrm>
                <a:prstGeom prst="rect">
                  <a:avLst/>
                </a:prstGeom>
                <a:solidFill>
                  <a:srgbClr val="FF4B16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67598F49-4387-4F12-AD03-C4CE346ED14C}"/>
                    </a:ext>
                  </a:extLst>
                </p:cNvPr>
                <p:cNvSpPr/>
                <p:nvPr/>
              </p:nvSpPr>
              <p:spPr>
                <a:xfrm>
                  <a:off x="8863297" y="5137182"/>
                  <a:ext cx="1792487" cy="1491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63.5%</a:t>
                  </a:r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3EE56CF6-75C1-4D6A-8DBB-C3071FCE4454}"/>
                    </a:ext>
                  </a:extLst>
                </p:cNvPr>
                <p:cNvSpPr/>
                <p:nvPr/>
              </p:nvSpPr>
              <p:spPr>
                <a:xfrm>
                  <a:off x="8863296" y="4937557"/>
                  <a:ext cx="2374155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76.2%</a:t>
                  </a:r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81244667-105A-4A8E-A1ED-B8687ADE3F94}"/>
                    </a:ext>
                  </a:extLst>
                </p:cNvPr>
                <p:cNvSpPr/>
                <p:nvPr/>
              </p:nvSpPr>
              <p:spPr>
                <a:xfrm>
                  <a:off x="8863297" y="5339933"/>
                  <a:ext cx="1423703" cy="1491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42.9%</a:t>
                  </a:r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A0F438C-D494-4FDF-997C-8B697CDADD29}"/>
                  </a:ext>
                </a:extLst>
              </p:cNvPr>
              <p:cNvGrpSpPr/>
              <p:nvPr/>
            </p:nvGrpSpPr>
            <p:grpSpPr>
              <a:xfrm>
                <a:off x="7724680" y="5685954"/>
                <a:ext cx="3512771" cy="152226"/>
                <a:chOff x="7724680" y="5685954"/>
                <a:chExt cx="3512771" cy="152226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153C3079-5F4A-46C5-84EA-640947F7D515}"/>
                    </a:ext>
                  </a:extLst>
                </p:cNvPr>
                <p:cNvSpPr/>
                <p:nvPr/>
              </p:nvSpPr>
              <p:spPr>
                <a:xfrm>
                  <a:off x="7981950" y="5685954"/>
                  <a:ext cx="3255501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r>
                    <a:rPr lang="ko-KR" altLang="en-US" sz="1000" dirty="0">
                      <a:latin typeface="페이퍼로지 4 Regular" pitchFamily="2" charset="-127"/>
                      <a:ea typeface="페이퍼로지 4 Regular" pitchFamily="2" charset="-127"/>
                    </a:rPr>
                    <a:t>극단적인 생각을 한다 </a:t>
                  </a:r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6.3%</a:t>
                  </a:r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33FECE70-51A5-47D3-8535-037BD6E0CE0F}"/>
                    </a:ext>
                  </a:extLst>
                </p:cNvPr>
                <p:cNvSpPr/>
                <p:nvPr/>
              </p:nvSpPr>
              <p:spPr>
                <a:xfrm>
                  <a:off x="7724680" y="5685954"/>
                  <a:ext cx="317705" cy="152226"/>
                </a:xfrm>
                <a:prstGeom prst="rect">
                  <a:avLst/>
                </a:prstGeom>
                <a:solidFill>
                  <a:srgbClr val="FF4B16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5A2F2F7-75DB-4643-B439-DAF5D708D01D}"/>
                  </a:ext>
                </a:extLst>
              </p:cNvPr>
              <p:cNvSpPr txBox="1"/>
              <p:nvPr/>
            </p:nvSpPr>
            <p:spPr>
              <a:xfrm>
                <a:off x="7642195" y="5885237"/>
                <a:ext cx="3374034" cy="2000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*</a:t>
                </a:r>
                <a:r>
                  <a:rPr lang="ko-KR" altLang="en-US" sz="700" dirty="0">
                    <a:latin typeface="페이퍼로지 4 Regular" pitchFamily="2" charset="-127"/>
                    <a:ea typeface="페이퍼로지 4 Regular" pitchFamily="2" charset="-127"/>
                  </a:rPr>
                  <a:t>중앙일보</a:t>
                </a:r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,</a:t>
                </a:r>
                <a:r>
                  <a:rPr lang="ko-KR" altLang="en-US" sz="700" dirty="0">
                    <a:latin typeface="페이퍼로지 4 Regular" pitchFamily="2" charset="-127"/>
                    <a:ea typeface="페이퍼로지 4 Regular" pitchFamily="2" charset="-127"/>
                  </a:rPr>
                  <a:t> 보이스피싱예방협회 </a:t>
                </a:r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(2021.10.28 ~ 2021.11. 28)</a:t>
                </a:r>
                <a:endParaRPr lang="ko-KR" altLang="en-US" sz="7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A86F9F0-D5C2-4671-AF9B-AA1B1AB15CFD}"/>
                  </a:ext>
                </a:extLst>
              </p:cNvPr>
              <p:cNvSpPr txBox="1"/>
              <p:nvPr/>
            </p:nvSpPr>
            <p:spPr>
              <a:xfrm>
                <a:off x="7640448" y="4563464"/>
                <a:ext cx="359300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00" dirty="0">
                    <a:latin typeface="페이퍼로지 7 Bold" pitchFamily="2" charset="-127"/>
                    <a:ea typeface="페이퍼로지 7 Bold" pitchFamily="2" charset="-127"/>
                  </a:rPr>
                  <a:t>보이스피싱 피해로 인한 정신적 피해 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피해자 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60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명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(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중복응답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, 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미응답 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3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명 제외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)</a:t>
                </a:r>
                <a:endParaRPr lang="ko-KR" altLang="en-US" sz="8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6EEECBB-BB64-41A1-A769-5B4184A6ED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0681" y="5872878"/>
              <a:ext cx="3512773" cy="127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484559-C80C-4C9F-8C93-F7FCC1E4A777}"/>
              </a:ext>
            </a:extLst>
          </p:cNvPr>
          <p:cNvGrpSpPr/>
          <p:nvPr/>
        </p:nvGrpSpPr>
        <p:grpSpPr>
          <a:xfrm>
            <a:off x="1127834" y="1655222"/>
            <a:ext cx="9936332" cy="2776910"/>
            <a:chOff x="2156114" y="1775283"/>
            <a:chExt cx="9077128" cy="2536789"/>
          </a:xfrm>
        </p:grpSpPr>
        <p:sp>
          <p:nvSpPr>
            <p:cNvPr id="79" name="Shape 8">
              <a:extLst>
                <a:ext uri="{FF2B5EF4-FFF2-40B4-BE49-F238E27FC236}">
                  <a16:creationId xmlns:a16="http://schemas.microsoft.com/office/drawing/2014/main" id="{16834A81-4253-48AC-B97E-FD07265A8D95}"/>
                </a:ext>
              </a:extLst>
            </p:cNvPr>
            <p:cNvSpPr/>
            <p:nvPr/>
          </p:nvSpPr>
          <p:spPr>
            <a:xfrm>
              <a:off x="2156114" y="1775283"/>
              <a:ext cx="4445862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prstDash val="solid"/>
            </a:ln>
          </p:spPr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A855B79-622D-459E-A7F5-4F42EB704F63}"/>
                </a:ext>
              </a:extLst>
            </p:cNvPr>
            <p:cNvSpPr txBox="1"/>
            <p:nvPr/>
          </p:nvSpPr>
          <p:spPr>
            <a:xfrm>
              <a:off x="2635906" y="1849987"/>
              <a:ext cx="3486278" cy="224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2016~2025 </a:t>
              </a:r>
              <a:r>
                <a:rPr lang="ko-KR" altLang="en-US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보이스피싱 피해 발생 수</a:t>
              </a:r>
              <a:r>
                <a:rPr lang="en-US" altLang="ko-KR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, </a:t>
              </a:r>
              <a:r>
                <a:rPr lang="ko-KR" altLang="en-US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피해액</a:t>
              </a:r>
              <a:endParaRPr lang="ko-KR" altLang="en-US" sz="1000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BEED6A9-5F2A-494A-887C-CC454F317B02}"/>
                </a:ext>
              </a:extLst>
            </p:cNvPr>
            <p:cNvGrpSpPr/>
            <p:nvPr/>
          </p:nvGrpSpPr>
          <p:grpSpPr>
            <a:xfrm>
              <a:off x="6787380" y="1775283"/>
              <a:ext cx="4445862" cy="2514600"/>
              <a:chOff x="5826188" y="1775283"/>
              <a:chExt cx="4445862" cy="251460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9CB2445-6554-4212-901E-9C6B7D7612C4}"/>
                  </a:ext>
                </a:extLst>
              </p:cNvPr>
              <p:cNvGrpSpPr/>
              <p:nvPr/>
            </p:nvGrpSpPr>
            <p:grpSpPr>
              <a:xfrm>
                <a:off x="5826188" y="1775283"/>
                <a:ext cx="4445862" cy="2514600"/>
                <a:chOff x="4630032" y="1775283"/>
                <a:chExt cx="4445862" cy="2514600"/>
              </a:xfrm>
            </p:grpSpPr>
            <p:sp>
              <p:nvSpPr>
                <p:cNvPr id="119" name="Shape 8">
                  <a:extLst>
                    <a:ext uri="{FF2B5EF4-FFF2-40B4-BE49-F238E27FC236}">
                      <a16:creationId xmlns:a16="http://schemas.microsoft.com/office/drawing/2014/main" id="{DFF93096-BD0A-4BBF-8479-B0600EFEC37F}"/>
                    </a:ext>
                  </a:extLst>
                </p:cNvPr>
                <p:cNvSpPr/>
                <p:nvPr/>
              </p:nvSpPr>
              <p:spPr>
                <a:xfrm>
                  <a:off x="4630032" y="1775283"/>
                  <a:ext cx="4445862" cy="2514600"/>
                </a:xfrm>
                <a:prstGeom prst="roundRect">
                  <a:avLst>
                    <a:gd name="adj" fmla="val 5818"/>
                  </a:avLst>
                </a:prstGeom>
                <a:solidFill>
                  <a:srgbClr val="FFFFFF"/>
                </a:solidFill>
                <a:ln w="10160">
                  <a:solidFill>
                    <a:srgbClr val="DCE8FA"/>
                  </a:solidFill>
                  <a:prstDash val="solid"/>
                </a:ln>
              </p:spPr>
            </p:sp>
            <p:graphicFrame>
              <p:nvGraphicFramePr>
                <p:cNvPr id="40" name="Chart 39">
                  <a:extLst>
                    <a:ext uri="{FF2B5EF4-FFF2-40B4-BE49-F238E27FC236}">
                      <a16:creationId xmlns:a16="http://schemas.microsoft.com/office/drawing/2014/main" id="{46FDFEB3-28D8-47BD-9371-4A09F7B17AFE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2681701987"/>
                    </p:ext>
                  </p:extLst>
                </p:nvPr>
              </p:nvGraphicFramePr>
              <p:xfrm>
                <a:off x="4735830" y="2099334"/>
                <a:ext cx="4282782" cy="210548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892428CB-C9D5-47A0-80BE-D571E28C0841}"/>
                  </a:ext>
                </a:extLst>
              </p:cNvPr>
              <p:cNvSpPr txBox="1"/>
              <p:nvPr/>
            </p:nvSpPr>
            <p:spPr>
              <a:xfrm>
                <a:off x="6305980" y="1849987"/>
                <a:ext cx="3486278" cy="224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년도별 </a:t>
                </a:r>
                <a:r>
                  <a:rPr lang="en-US" altLang="ko-KR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1</a:t>
                </a:r>
                <a:r>
                  <a:rPr lang="ko-KR" altLang="en-US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개 사건 평균 피해액 추이</a:t>
                </a:r>
                <a:endParaRPr lang="ko-KR" altLang="en-US" sz="1000" dirty="0"/>
              </a:p>
            </p:txBody>
          </p:sp>
        </p:grpSp>
        <p:graphicFrame>
          <p:nvGraphicFramePr>
            <p:cNvPr id="22" name="Chart 21">
              <a:extLst>
                <a:ext uri="{FF2B5EF4-FFF2-40B4-BE49-F238E27FC236}">
                  <a16:creationId xmlns:a16="http://schemas.microsoft.com/office/drawing/2014/main" id="{278C99B9-09AF-4A69-9C94-12332440301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197957959"/>
                </p:ext>
              </p:extLst>
            </p:nvPr>
          </p:nvGraphicFramePr>
          <p:xfrm>
            <a:off x="2237232" y="2092640"/>
            <a:ext cx="4277868" cy="22194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sp>
        <p:nvSpPr>
          <p:cNvPr id="45" name="Text 11">
            <a:extLst>
              <a:ext uri="{FF2B5EF4-FFF2-40B4-BE49-F238E27FC236}">
                <a16:creationId xmlns:a16="http://schemas.microsoft.com/office/drawing/2014/main" id="{041DA88E-E5DF-430D-B96E-E2B22D0D9A56}"/>
              </a:ext>
            </a:extLst>
          </p:cNvPr>
          <p:cNvSpPr txBox="1"/>
          <p:nvPr/>
        </p:nvSpPr>
        <p:spPr>
          <a:xfrm>
            <a:off x="547516" y="6501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*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공공데이터포털 경찰청 보이스피싱 현황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2025.12.30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1021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6">
            <a:extLst>
              <a:ext uri="{FF2B5EF4-FFF2-40B4-BE49-F238E27FC236}">
                <a16:creationId xmlns:a16="http://schemas.microsoft.com/office/drawing/2014/main" id="{26523E4F-4D96-421D-9C85-0DBFC0114F74}"/>
              </a:ext>
            </a:extLst>
          </p:cNvPr>
          <p:cNvSpPr txBox="1"/>
          <p:nvPr/>
        </p:nvSpPr>
        <p:spPr>
          <a:xfrm>
            <a:off x="734130" y="806730"/>
            <a:ext cx="10698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보이스피싱 범죄 피해를 막고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줄이고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도와줄 수 있는 대책을 마련하기 위해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금융기관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은행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정부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공공기관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통신사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보안업체가 각자의 자리에서 노력하고 있다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B86AB141-D61D-4F98-88E7-DC95CF56A724}"/>
              </a:ext>
            </a:extLst>
          </p:cNvPr>
          <p:cNvSpPr txBox="1"/>
          <p:nvPr/>
        </p:nvSpPr>
        <p:spPr>
          <a:xfrm>
            <a:off x="729441" y="593195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보이스피싱 범죄로부터 소중한 국민의 재산과 생명을 지키기 위해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…</a:t>
            </a:r>
            <a:endParaRPr lang="en-US" altLang="ko-KR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158065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078A156-9BD4-4B2C-8818-C873541FE1FE}"/>
              </a:ext>
            </a:extLst>
          </p:cNvPr>
          <p:cNvGrpSpPr/>
          <p:nvPr/>
        </p:nvGrpSpPr>
        <p:grpSpPr>
          <a:xfrm>
            <a:off x="628649" y="5452905"/>
            <a:ext cx="10936817" cy="773508"/>
            <a:chOff x="989537" y="5557693"/>
            <a:chExt cx="10212928" cy="773508"/>
          </a:xfrm>
        </p:grpSpPr>
        <p:sp>
          <p:nvSpPr>
            <p:cNvPr id="46" name="Shape 44"/>
            <p:cNvSpPr/>
            <p:nvPr/>
          </p:nvSpPr>
          <p:spPr>
            <a:xfrm>
              <a:off x="1057656" y="5587831"/>
              <a:ext cx="10076688" cy="713232"/>
            </a:xfrm>
            <a:prstGeom prst="roundRect">
              <a:avLst>
                <a:gd name="adj" fmla="val 20513"/>
              </a:avLst>
            </a:prstGeom>
            <a:solidFill>
              <a:srgbClr val="0B1F3A"/>
            </a:solidFill>
            <a:ln w="10160">
              <a:solidFill>
                <a:srgbClr val="0B1F3A"/>
              </a:solidFill>
              <a:prstDash val="solid"/>
            </a:ln>
          </p:spPr>
        </p:sp>
        <p:sp>
          <p:nvSpPr>
            <p:cNvPr id="47" name="Text 45"/>
            <p:cNvSpPr txBox="1"/>
            <p:nvPr/>
          </p:nvSpPr>
          <p:spPr>
            <a:xfrm>
              <a:off x="989537" y="5557693"/>
              <a:ext cx="10212928" cy="7735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특히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, </a:t>
              </a:r>
              <a:r>
                <a:rPr lang="ko-KR" altLang="en-US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인공지능</a:t>
              </a:r>
              <a:r>
                <a:rPr lang="en-US" altLang="ko-KR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(AI)</a:t>
              </a:r>
              <a:r>
                <a:rPr lang="ko-KR" altLang="en-US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와 빅데이터 등 최신 기술을 적극 활용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하여 실시간 분석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·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차단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·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조치하고 있고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,</a:t>
              </a:r>
            </a:p>
            <a:p>
              <a:pPr marL="0" indent="0" algn="ctr">
                <a:buNone/>
              </a:pP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유기적인 공동 협업 체계를 구축하며 다양한 </a:t>
              </a:r>
              <a:r>
                <a:rPr lang="en-US" sz="1520" b="1" dirty="0" err="1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안전장치</a:t>
              </a:r>
              <a:r>
                <a:rPr lang="en-US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 </a:t>
              </a:r>
              <a:r>
                <a:rPr lang="ko-KR" altLang="en-US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개발과 제도 개선이 활발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하게 이루어지고 있다</a:t>
              </a:r>
              <a:endParaRPr lang="en-US" sz="1520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18BD87C1-342C-4A32-80E8-3279A30915AE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49D8BAD-1665-4D6F-983B-6C0A73436477}"/>
              </a:ext>
            </a:extLst>
          </p:cNvPr>
          <p:cNvGrpSpPr/>
          <p:nvPr/>
        </p:nvGrpSpPr>
        <p:grpSpPr>
          <a:xfrm>
            <a:off x="729441" y="1791637"/>
            <a:ext cx="10673219" cy="3422455"/>
            <a:chOff x="580527" y="1844623"/>
            <a:chExt cx="10673219" cy="3422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7A687C-E086-49AD-B17E-3AA81A103D3D}"/>
                </a:ext>
              </a:extLst>
            </p:cNvPr>
            <p:cNvGrpSpPr/>
            <p:nvPr/>
          </p:nvGrpSpPr>
          <p:grpSpPr>
            <a:xfrm>
              <a:off x="580527" y="1844623"/>
              <a:ext cx="10673219" cy="3422455"/>
              <a:chOff x="586093" y="1735608"/>
              <a:chExt cx="10673219" cy="3422455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586093" y="1735608"/>
                <a:ext cx="3473843" cy="3422455"/>
              </a:xfrm>
              <a:prstGeom prst="roundRect">
                <a:avLst>
                  <a:gd name="adj" fmla="val 5405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</p:sp>
          <p:sp>
            <p:nvSpPr>
              <p:cNvPr id="22" name="Shape 20"/>
              <p:cNvSpPr/>
              <p:nvPr/>
            </p:nvSpPr>
            <p:spPr>
              <a:xfrm>
                <a:off x="4185781" y="1735608"/>
                <a:ext cx="3473843" cy="3422455"/>
              </a:xfrm>
              <a:prstGeom prst="roundRect">
                <a:avLst>
                  <a:gd name="adj" fmla="val 5405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34" name="Shape 32"/>
              <p:cNvSpPr/>
              <p:nvPr/>
            </p:nvSpPr>
            <p:spPr>
              <a:xfrm>
                <a:off x="7785469" y="1735608"/>
                <a:ext cx="3473843" cy="3422455"/>
              </a:xfrm>
              <a:prstGeom prst="roundRect">
                <a:avLst>
                  <a:gd name="adj" fmla="val 5405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8C0B95D-B25B-43EF-A360-B3D890DD9167}"/>
                </a:ext>
              </a:extLst>
            </p:cNvPr>
            <p:cNvGrpSpPr/>
            <p:nvPr/>
          </p:nvGrpSpPr>
          <p:grpSpPr>
            <a:xfrm>
              <a:off x="749968" y="1967786"/>
              <a:ext cx="10094815" cy="475488"/>
              <a:chOff x="749968" y="1967786"/>
              <a:chExt cx="10094815" cy="475488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749968" y="1967786"/>
                <a:ext cx="475488" cy="475488"/>
              </a:xfrm>
              <a:prstGeom prst="ellipse">
                <a:avLst/>
              </a:prstGeom>
              <a:solidFill>
                <a:srgbClr val="EAF3FF"/>
              </a:solidFill>
              <a:ln w="10160">
                <a:solidFill>
                  <a:srgbClr val="D7E7FF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1216B33-CA83-41B7-ABAA-90D9A227C2D0}"/>
                  </a:ext>
                </a:extLst>
              </p:cNvPr>
              <p:cNvGrpSpPr/>
              <p:nvPr/>
            </p:nvGrpSpPr>
            <p:grpSpPr>
              <a:xfrm>
                <a:off x="761283" y="1992590"/>
                <a:ext cx="2503285" cy="448056"/>
                <a:chOff x="725424" y="1999106"/>
                <a:chExt cx="2503285" cy="448056"/>
              </a:xfrm>
            </p:grpSpPr>
            <p:sp>
              <p:nvSpPr>
                <p:cNvPr id="12" name="Text 10"/>
                <p:cNvSpPr txBox="1"/>
                <p:nvPr/>
              </p:nvSpPr>
              <p:spPr>
                <a:xfrm>
                  <a:off x="725424" y="1999106"/>
                  <a:ext cx="475488" cy="4480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1F5EFF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01</a:t>
                  </a:r>
                  <a:endParaRPr lang="en-US" sz="16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13" name="Text 11"/>
                <p:cNvSpPr txBox="1"/>
                <p:nvPr/>
              </p:nvSpPr>
              <p:spPr>
                <a:xfrm>
                  <a:off x="1326757" y="2007046"/>
                  <a:ext cx="1901952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금융기관</a:t>
                  </a:r>
                  <a:r>
                    <a:rPr lang="en-US" altLang="ko-KR" sz="1620" b="1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·</a:t>
                  </a:r>
                  <a:r>
                    <a:rPr lang="ko-KR" altLang="en-US" sz="1620" b="1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은행</a:t>
                  </a:r>
                  <a:endParaRPr lang="en-US" sz="162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57" name="Shape 9">
                <a:extLst>
                  <a:ext uri="{FF2B5EF4-FFF2-40B4-BE49-F238E27FC236}">
                    <a16:creationId xmlns:a16="http://schemas.microsoft.com/office/drawing/2014/main" id="{DD769627-C9E7-41C2-B6FE-22791B7D0B6C}"/>
                  </a:ext>
                </a:extLst>
              </p:cNvPr>
              <p:cNvSpPr/>
              <p:nvPr/>
            </p:nvSpPr>
            <p:spPr>
              <a:xfrm>
                <a:off x="4341329" y="1967786"/>
                <a:ext cx="475488" cy="475488"/>
              </a:xfrm>
              <a:prstGeom prst="ellipse">
                <a:avLst/>
              </a:prstGeom>
              <a:solidFill>
                <a:srgbClr val="EAF3FF"/>
              </a:solidFill>
              <a:ln w="10160">
                <a:solidFill>
                  <a:srgbClr val="D7E7FF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964D1DB-BDC2-4629-9FE3-BA6C34077CD3}"/>
                  </a:ext>
                </a:extLst>
              </p:cNvPr>
              <p:cNvGrpSpPr/>
              <p:nvPr/>
            </p:nvGrpSpPr>
            <p:grpSpPr>
              <a:xfrm>
                <a:off x="4346001" y="1990054"/>
                <a:ext cx="2509928" cy="448056"/>
                <a:chOff x="718781" y="1994033"/>
                <a:chExt cx="2509928" cy="448056"/>
              </a:xfrm>
            </p:grpSpPr>
            <p:sp>
              <p:nvSpPr>
                <p:cNvPr id="59" name="Text 10">
                  <a:extLst>
                    <a:ext uri="{FF2B5EF4-FFF2-40B4-BE49-F238E27FC236}">
                      <a16:creationId xmlns:a16="http://schemas.microsoft.com/office/drawing/2014/main" id="{27D72A6B-8151-44EC-8DCA-C1F7F0B49680}"/>
                    </a:ext>
                  </a:extLst>
                </p:cNvPr>
                <p:cNvSpPr txBox="1"/>
                <p:nvPr/>
              </p:nvSpPr>
              <p:spPr>
                <a:xfrm>
                  <a:off x="718781" y="1994033"/>
                  <a:ext cx="475488" cy="4480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2F7CF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0</a:t>
                  </a:r>
                  <a:r>
                    <a:rPr lang="en-US" altLang="ko-KR" sz="1600" b="1" dirty="0">
                      <a:solidFill>
                        <a:srgbClr val="2F7CF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2</a:t>
                  </a:r>
                  <a:endParaRPr lang="en-US" sz="1600" dirty="0">
                    <a:solidFill>
                      <a:srgbClr val="2F7CF6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62" name="Text 11">
                  <a:extLst>
                    <a:ext uri="{FF2B5EF4-FFF2-40B4-BE49-F238E27FC236}">
                      <a16:creationId xmlns:a16="http://schemas.microsoft.com/office/drawing/2014/main" id="{7E39A5C8-EFF4-4D1F-A422-7810807E1826}"/>
                    </a:ext>
                  </a:extLst>
                </p:cNvPr>
                <p:cNvSpPr txBox="1"/>
                <p:nvPr/>
              </p:nvSpPr>
              <p:spPr>
                <a:xfrm>
                  <a:off x="1326757" y="2007046"/>
                  <a:ext cx="1901952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altLang="ko-KR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정부·공공기관</a:t>
                  </a:r>
                  <a:endParaRPr lang="en-US" altLang="ko-KR" sz="162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64" name="Shape 9">
                <a:extLst>
                  <a:ext uri="{FF2B5EF4-FFF2-40B4-BE49-F238E27FC236}">
                    <a16:creationId xmlns:a16="http://schemas.microsoft.com/office/drawing/2014/main" id="{15B61A14-5EDC-428A-A5CA-3FAD34AE93DD}"/>
                  </a:ext>
                </a:extLst>
              </p:cNvPr>
              <p:cNvSpPr/>
              <p:nvPr/>
            </p:nvSpPr>
            <p:spPr>
              <a:xfrm>
                <a:off x="7946853" y="1967786"/>
                <a:ext cx="475488" cy="475488"/>
              </a:xfrm>
              <a:prstGeom prst="ellipse">
                <a:avLst/>
              </a:prstGeom>
              <a:solidFill>
                <a:srgbClr val="EAF3FF"/>
              </a:solidFill>
              <a:ln w="10160">
                <a:solidFill>
                  <a:srgbClr val="D7E7FF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4678AE84-686A-4BAE-A653-546969E73231}"/>
                  </a:ext>
                </a:extLst>
              </p:cNvPr>
              <p:cNvGrpSpPr/>
              <p:nvPr/>
            </p:nvGrpSpPr>
            <p:grpSpPr>
              <a:xfrm>
                <a:off x="7954473" y="1986074"/>
                <a:ext cx="2890310" cy="448056"/>
                <a:chOff x="721729" y="1986074"/>
                <a:chExt cx="2890310" cy="448056"/>
              </a:xfrm>
            </p:grpSpPr>
            <p:sp>
              <p:nvSpPr>
                <p:cNvPr id="66" name="Text 10">
                  <a:extLst>
                    <a:ext uri="{FF2B5EF4-FFF2-40B4-BE49-F238E27FC236}">
                      <a16:creationId xmlns:a16="http://schemas.microsoft.com/office/drawing/2014/main" id="{2F3E720C-B899-4F92-BAA2-ED6FED174CCA}"/>
                    </a:ext>
                  </a:extLst>
                </p:cNvPr>
                <p:cNvSpPr txBox="1"/>
                <p:nvPr/>
              </p:nvSpPr>
              <p:spPr>
                <a:xfrm>
                  <a:off x="721729" y="1986074"/>
                  <a:ext cx="475488" cy="4480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49A8FF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0</a:t>
                  </a:r>
                  <a:r>
                    <a:rPr lang="en-US" altLang="ko-KR" sz="1600" b="1" dirty="0">
                      <a:solidFill>
                        <a:srgbClr val="49A8FF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3</a:t>
                  </a:r>
                  <a:endParaRPr lang="en-US" sz="1600" dirty="0">
                    <a:solidFill>
                      <a:srgbClr val="49A8FF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67" name="Text 11">
                  <a:extLst>
                    <a:ext uri="{FF2B5EF4-FFF2-40B4-BE49-F238E27FC236}">
                      <a16:creationId xmlns:a16="http://schemas.microsoft.com/office/drawing/2014/main" id="{D1DF7AED-949A-4A37-B186-5B80E15BEB3D}"/>
                    </a:ext>
                  </a:extLst>
                </p:cNvPr>
                <p:cNvSpPr txBox="1"/>
                <p:nvPr/>
              </p:nvSpPr>
              <p:spPr>
                <a:xfrm>
                  <a:off x="1326756" y="2007046"/>
                  <a:ext cx="2285283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en-US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금융</a:t>
                  </a:r>
                  <a:r>
                    <a:rPr lang="en-US" altLang="ko-KR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통신사·보안업체</a:t>
                  </a:r>
                  <a:endParaRPr lang="en-US" altLang="ko-KR" sz="162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035F51FC-ACBE-4B66-A3AB-2CA6FF47C992}"/>
                </a:ext>
              </a:extLst>
            </p:cNvPr>
            <p:cNvGrpSpPr/>
            <p:nvPr/>
          </p:nvGrpSpPr>
          <p:grpSpPr>
            <a:xfrm>
              <a:off x="796565" y="2585446"/>
              <a:ext cx="2888053" cy="614349"/>
              <a:chOff x="796565" y="2491362"/>
              <a:chExt cx="2888053" cy="614349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796565" y="2601090"/>
                <a:ext cx="109728" cy="109728"/>
              </a:xfrm>
              <a:prstGeom prst="ellipse">
                <a:avLst/>
              </a:prstGeom>
              <a:solidFill>
                <a:srgbClr val="1F5EFF"/>
              </a:solidFill>
              <a:ln w="10160">
                <a:solidFill>
                  <a:srgbClr val="1F5EFF"/>
                </a:solidFill>
                <a:prstDash val="solid"/>
              </a:ln>
            </p:spPr>
          </p:sp>
          <p:sp>
            <p:nvSpPr>
              <p:cNvPr id="15" name="Text 13"/>
              <p:cNvSpPr txBox="1"/>
              <p:nvPr/>
            </p:nvSpPr>
            <p:spPr>
              <a:xfrm>
                <a:off x="997733" y="2491362"/>
                <a:ext cx="228600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ASAP 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플랫폼 </a:t>
                </a:r>
                <a:endParaRPr lang="en-US" altLang="ko-KR" sz="10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03F7BDC-0128-43C0-AF3E-34FEEE94B193}"/>
                  </a:ext>
                </a:extLst>
              </p:cNvPr>
              <p:cNvSpPr txBox="1"/>
              <p:nvPr/>
            </p:nvSpPr>
            <p:spPr>
              <a:xfrm>
                <a:off x="906293" y="2736379"/>
                <a:ext cx="27783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금융회사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통신사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수사기관이 보이스피싱과 관련된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외부</a:t>
                </a:r>
                <a:endParaRPr lang="en-US" altLang="ko-KR" sz="9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  <a:cs typeface="NanumSquare" pitchFamily="34" charset="-120"/>
                </a:endParaRPr>
              </a:p>
              <a:p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위험 정보를 실시간으로 공유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하고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차단하는 </a:t>
                </a:r>
                <a:r>
                  <a:rPr lang="en-US" altLang="ko-KR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AI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기반 플랫폼</a:t>
                </a:r>
                <a:endParaRPr lang="ko-KR" altLang="en-US" sz="9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0FD6DE2-A11F-468B-A7D3-0184BDCBF15F}"/>
                </a:ext>
              </a:extLst>
            </p:cNvPr>
            <p:cNvGrpSpPr/>
            <p:nvPr/>
          </p:nvGrpSpPr>
          <p:grpSpPr>
            <a:xfrm>
              <a:off x="796565" y="3212531"/>
              <a:ext cx="3047142" cy="752848"/>
              <a:chOff x="796565" y="2491362"/>
              <a:chExt cx="3047142" cy="752848"/>
            </a:xfrm>
          </p:grpSpPr>
          <p:sp>
            <p:nvSpPr>
              <p:cNvPr id="99" name="Shape 12">
                <a:extLst>
                  <a:ext uri="{FF2B5EF4-FFF2-40B4-BE49-F238E27FC236}">
                    <a16:creationId xmlns:a16="http://schemas.microsoft.com/office/drawing/2014/main" id="{EB72D09C-0131-4404-96B0-C5C1D23AD146}"/>
                  </a:ext>
                </a:extLst>
              </p:cNvPr>
              <p:cNvSpPr/>
              <p:nvPr/>
            </p:nvSpPr>
            <p:spPr>
              <a:xfrm>
                <a:off x="796565" y="2601090"/>
                <a:ext cx="109728" cy="109728"/>
              </a:xfrm>
              <a:prstGeom prst="ellipse">
                <a:avLst/>
              </a:prstGeom>
              <a:solidFill>
                <a:srgbClr val="1F5EFF"/>
              </a:solidFill>
              <a:ln w="10160">
                <a:solidFill>
                  <a:srgbClr val="1F5EFF"/>
                </a:solidFill>
                <a:prstDash val="solid"/>
              </a:ln>
            </p:spPr>
          </p:sp>
          <p:sp>
            <p:nvSpPr>
              <p:cNvPr id="100" name="Text 13">
                <a:extLst>
                  <a:ext uri="{FF2B5EF4-FFF2-40B4-BE49-F238E27FC236}">
                    <a16:creationId xmlns:a16="http://schemas.microsoft.com/office/drawing/2014/main" id="{2D5D472E-D64B-44B1-82B1-A1FB676BD43D}"/>
                  </a:ext>
                </a:extLst>
              </p:cNvPr>
              <p:cNvSpPr txBox="1"/>
              <p:nvPr/>
            </p:nvSpPr>
            <p:spPr>
              <a:xfrm>
                <a:off x="997733" y="2491362"/>
                <a:ext cx="228600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FDS 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이상거래 탐지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11D9CDD-CB64-457D-8AF7-8D86970B0A84}"/>
                  </a:ext>
                </a:extLst>
              </p:cNvPr>
              <p:cNvSpPr txBox="1"/>
              <p:nvPr/>
            </p:nvSpPr>
            <p:spPr>
              <a:xfrm>
                <a:off x="906293" y="2736379"/>
                <a:ext cx="2937414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전자금융거래 시 단말기 정보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접속위치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평소 거래 패턴등을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실시간으로 분석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하여 의심스러운 부정 거래를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탐치하고 차단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하는 이상거래 탐지 시스템</a:t>
                </a:r>
                <a:endParaRPr lang="ko-KR" altLang="en-US" sz="9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7BBF2746-B58F-4409-86F5-702788857728}"/>
                </a:ext>
              </a:extLst>
            </p:cNvPr>
            <p:cNvGrpSpPr/>
            <p:nvPr/>
          </p:nvGrpSpPr>
          <p:grpSpPr>
            <a:xfrm>
              <a:off x="796565" y="3990937"/>
              <a:ext cx="3129846" cy="1168347"/>
              <a:chOff x="796565" y="2491362"/>
              <a:chExt cx="3129846" cy="1168347"/>
            </a:xfrm>
          </p:grpSpPr>
          <p:sp>
            <p:nvSpPr>
              <p:cNvPr id="103" name="Shape 12">
                <a:extLst>
                  <a:ext uri="{FF2B5EF4-FFF2-40B4-BE49-F238E27FC236}">
                    <a16:creationId xmlns:a16="http://schemas.microsoft.com/office/drawing/2014/main" id="{2AE99B93-85EF-4941-90DF-B14B33B660FF}"/>
                  </a:ext>
                </a:extLst>
              </p:cNvPr>
              <p:cNvSpPr/>
              <p:nvPr/>
            </p:nvSpPr>
            <p:spPr>
              <a:xfrm>
                <a:off x="796565" y="2601090"/>
                <a:ext cx="109728" cy="109728"/>
              </a:xfrm>
              <a:prstGeom prst="ellipse">
                <a:avLst/>
              </a:prstGeom>
              <a:solidFill>
                <a:srgbClr val="1F5EFF"/>
              </a:solidFill>
              <a:ln w="10160">
                <a:solidFill>
                  <a:srgbClr val="1F5EFF"/>
                </a:solidFill>
                <a:prstDash val="solid"/>
              </a:ln>
            </p:spPr>
          </p:sp>
          <p:sp>
            <p:nvSpPr>
              <p:cNvPr id="104" name="Text 13">
                <a:extLst>
                  <a:ext uri="{FF2B5EF4-FFF2-40B4-BE49-F238E27FC236}">
                    <a16:creationId xmlns:a16="http://schemas.microsoft.com/office/drawing/2014/main" id="{91F752C7-787F-40FB-A79F-7F58594334DD}"/>
                  </a:ext>
                </a:extLst>
              </p:cNvPr>
              <p:cNvSpPr txBox="1"/>
              <p:nvPr/>
            </p:nvSpPr>
            <p:spPr>
              <a:xfrm>
                <a:off x="997732" y="2491362"/>
                <a:ext cx="2686885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지연이체</a:t>
                </a:r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·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지급정지</a:t>
                </a:r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·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전자금융사기 예방서비스 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D89F6C0A-CE7D-4377-99D3-E82568841B16}"/>
                  </a:ext>
                </a:extLst>
              </p:cNvPr>
              <p:cNvSpPr txBox="1"/>
              <p:nvPr/>
            </p:nvSpPr>
            <p:spPr>
              <a:xfrm>
                <a:off x="870154" y="2736379"/>
                <a:ext cx="305625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rgbClr val="0B1F3A"/>
                    </a:solidFill>
                    <a:latin typeface="페이퍼로지 9 Black" pitchFamily="2" charset="-127"/>
                    <a:ea typeface="페이퍼로지 9 Black" pitchFamily="2" charset="-127"/>
                    <a:cs typeface="NanumSquare" pitchFamily="34" charset="-120"/>
                  </a:rPr>
                  <a:t>지연이체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: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 이체 시 수취인 계좌에 일정시간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(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최소 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3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시간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)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경과 후 입금되도록 하는 서비스</a:t>
                </a:r>
                <a:endParaRPr lang="en-US" altLang="ko-KR" sz="900" dirty="0">
                  <a:solidFill>
                    <a:srgbClr val="0B1F3A"/>
                  </a:solidFill>
                  <a:latin typeface="페이퍼로지 4 Regular" pitchFamily="2" charset="-127"/>
                  <a:ea typeface="페이퍼로지 4 Regular" pitchFamily="2" charset="-127"/>
                  <a:cs typeface="NanumSquare" pitchFamily="34" charset="-12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rgbClr val="0B1F3A"/>
                    </a:solidFill>
                    <a:latin typeface="페이퍼로지 9 Black" pitchFamily="2" charset="-127"/>
                    <a:ea typeface="페이퍼로지 9 Black" pitchFamily="2" charset="-127"/>
                    <a:cs typeface="NanumSquare" pitchFamily="34" charset="-120"/>
                  </a:rPr>
                  <a:t>지급정지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: 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전자금융범죄 등의 피해가 발생했을 때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범죄자가 계좌에서 돈을 빼가지 못하도록 은행이 해당 계좌의 입출금 및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이체 거래를 즉시 차단</a:t>
                </a:r>
                <a:r>
                  <a:rPr lang="en-US" altLang="ko-KR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(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동결</a:t>
                </a:r>
                <a:r>
                  <a:rPr lang="en-US" altLang="ko-KR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)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하는 긴급 법적 조치</a:t>
                </a:r>
                <a:endParaRPr lang="en-US" altLang="ko-KR" sz="900" dirty="0">
                  <a:solidFill>
                    <a:srgbClr val="0B1F3A"/>
                  </a:solidFill>
                  <a:latin typeface="페이퍼로지 4 Regular" pitchFamily="2" charset="-127"/>
                  <a:ea typeface="페이퍼로지 4 Regular" pitchFamily="2" charset="-127"/>
                  <a:cs typeface="NanumSquare" pitchFamily="34" charset="-12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금융자산을 보호하기 위해 본인확인 절차를 강화하는 서비스</a:t>
                </a: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E2107FB-F873-4983-BE64-7F11CCE295C3}"/>
                </a:ext>
              </a:extLst>
            </p:cNvPr>
            <p:cNvGrpSpPr/>
            <p:nvPr/>
          </p:nvGrpSpPr>
          <p:grpSpPr>
            <a:xfrm>
              <a:off x="4384972" y="2585446"/>
              <a:ext cx="2766786" cy="614349"/>
              <a:chOff x="4384972" y="2585446"/>
              <a:chExt cx="2766786" cy="614349"/>
            </a:xfrm>
          </p:grpSpPr>
          <p:sp>
            <p:nvSpPr>
              <p:cNvPr id="26" name="Shape 24"/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2F7CF6"/>
              </a:solidFill>
              <a:ln w="10160">
                <a:solidFill>
                  <a:srgbClr val="2F7CF6"/>
                </a:solidFill>
                <a:prstDash val="solid"/>
              </a:ln>
            </p:spPr>
          </p: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CE3EB3BF-9ECC-4A3B-9952-516B4C2FC656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661306" cy="614349"/>
                <a:chOff x="906293" y="2491362"/>
                <a:chExt cx="2661306" cy="614349"/>
              </a:xfrm>
            </p:grpSpPr>
            <p:sp>
              <p:nvSpPr>
                <p:cNvPr id="109" name="Text 13">
                  <a:extLst>
                    <a:ext uri="{FF2B5EF4-FFF2-40B4-BE49-F238E27FC236}">
                      <a16:creationId xmlns:a16="http://schemas.microsoft.com/office/drawing/2014/main" id="{C18901BD-E1CC-4FFE-894F-775B066395DD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286000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신고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·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피해구제 제도 및 체계 개선</a:t>
                  </a:r>
                  <a:endParaRPr lang="en-US" altLang="ko-KR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5D1A5D58-7F3B-45EF-917A-954C9192C90B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6613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원스톱 신고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단계별 피해 구제 절차 등</a:t>
                  </a:r>
                  <a:endPara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endParaRPr>
                </a:p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보이스피싱 피해구제 제도와 계좌 지급정지 접근성 강화</a:t>
                  </a:r>
                </a:p>
              </p:txBody>
            </p:sp>
          </p:grp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1FA11A45-E01D-4438-A224-C9D990430FBE}"/>
                </a:ext>
              </a:extLst>
            </p:cNvPr>
            <p:cNvGrpSpPr/>
            <p:nvPr/>
          </p:nvGrpSpPr>
          <p:grpSpPr>
            <a:xfrm>
              <a:off x="4384972" y="3212531"/>
              <a:ext cx="2543968" cy="614349"/>
              <a:chOff x="4384972" y="2585446"/>
              <a:chExt cx="2543968" cy="614349"/>
            </a:xfrm>
          </p:grpSpPr>
          <p:sp>
            <p:nvSpPr>
              <p:cNvPr id="113" name="Shape 24">
                <a:extLst>
                  <a:ext uri="{FF2B5EF4-FFF2-40B4-BE49-F238E27FC236}">
                    <a16:creationId xmlns:a16="http://schemas.microsoft.com/office/drawing/2014/main" id="{78311CB7-38E7-41C6-86B5-0BEB525459FB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2F7CF6"/>
              </a:solidFill>
              <a:ln w="10160">
                <a:solidFill>
                  <a:srgbClr val="2F7CF6"/>
                </a:solidFill>
                <a:prstDash val="solid"/>
              </a:ln>
            </p:spPr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653BE3CF-3381-4032-BE64-B1AD59E3A731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438488" cy="614349"/>
                <a:chOff x="906293" y="2491362"/>
                <a:chExt cx="2438488" cy="614349"/>
              </a:xfrm>
            </p:grpSpPr>
            <p:sp>
              <p:nvSpPr>
                <p:cNvPr id="115" name="Text 13">
                  <a:extLst>
                    <a:ext uri="{FF2B5EF4-FFF2-40B4-BE49-F238E27FC236}">
                      <a16:creationId xmlns:a16="http://schemas.microsoft.com/office/drawing/2014/main" id="{C619FD46-F5E9-4160-8AC1-3828DE5A7294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286000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예방교육 </a:t>
                  </a:r>
                  <a:r>
                    <a:rPr lang="en-US" altLang="ko-KR" sz="100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· </a:t>
                  </a:r>
                  <a:r>
                    <a:rPr lang="ko-KR" altLang="en-US" sz="100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홍보</a:t>
                  </a:r>
                  <a:endPara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FB13986B-82BF-46A0-BC9D-2E44EE978B10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438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범정부 대응 및 콘텐츠 배포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생활 밀착형 현장홍보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</a:p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찾아가는 현장교육</a:t>
                  </a:r>
                  <a:endPara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38A1977-7C20-4B32-9C0E-CD5436D48C75}"/>
                </a:ext>
              </a:extLst>
            </p:cNvPr>
            <p:cNvGrpSpPr/>
            <p:nvPr/>
          </p:nvGrpSpPr>
          <p:grpSpPr>
            <a:xfrm>
              <a:off x="4384972" y="3882182"/>
              <a:ext cx="3093799" cy="614349"/>
              <a:chOff x="4384972" y="2585446"/>
              <a:chExt cx="3093799" cy="614349"/>
            </a:xfrm>
          </p:grpSpPr>
          <p:sp>
            <p:nvSpPr>
              <p:cNvPr id="119" name="Shape 24">
                <a:extLst>
                  <a:ext uri="{FF2B5EF4-FFF2-40B4-BE49-F238E27FC236}">
                    <a16:creationId xmlns:a16="http://schemas.microsoft.com/office/drawing/2014/main" id="{4541929F-BB7D-4D3A-BF63-55E2FCC62316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2F7CF6"/>
              </a:solidFill>
              <a:ln w="10160">
                <a:solidFill>
                  <a:srgbClr val="2F7CF6"/>
                </a:solidFill>
                <a:prstDash val="solid"/>
              </a:ln>
            </p:spPr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20FAF6DA-F591-4D8E-BE73-CC99AA1640D5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988319" cy="614349"/>
                <a:chOff x="906293" y="2491362"/>
                <a:chExt cx="2988319" cy="614349"/>
              </a:xfrm>
            </p:grpSpPr>
            <p:sp>
              <p:nvSpPr>
                <p:cNvPr id="121" name="Text 13">
                  <a:extLst>
                    <a:ext uri="{FF2B5EF4-FFF2-40B4-BE49-F238E27FC236}">
                      <a16:creationId xmlns:a16="http://schemas.microsoft.com/office/drawing/2014/main" id="{DEC6BCC0-173F-4F90-854F-D1F3BF4AA74E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286000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공식기관 확인 채널</a:t>
                  </a: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BFD11CC-A553-4181-8FD5-7191E4D18FCD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9883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서류의 진위여부를 실시간으로 확인할 수 있는 공식채널 운영</a:t>
                  </a:r>
                  <a:b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</a:b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콜센터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카카오톡 오픈채팅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운영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검찰 찐센터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KISA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보호나라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)</a:t>
                  </a:r>
                  <a:endPara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61261165-349A-4EFC-B7EA-A255EA6AD00D}"/>
                </a:ext>
              </a:extLst>
            </p:cNvPr>
            <p:cNvGrpSpPr/>
            <p:nvPr/>
          </p:nvGrpSpPr>
          <p:grpSpPr>
            <a:xfrm>
              <a:off x="4559618" y="4589897"/>
              <a:ext cx="2749676" cy="524166"/>
              <a:chOff x="5435730" y="4579898"/>
              <a:chExt cx="1359538" cy="249846"/>
            </a:xfrm>
          </p:grpSpPr>
          <p:pic>
            <p:nvPicPr>
              <p:cNvPr id="123" name="그림 7">
                <a:extLst>
                  <a:ext uri="{FF2B5EF4-FFF2-40B4-BE49-F238E27FC236}">
                    <a16:creationId xmlns:a16="http://schemas.microsoft.com/office/drawing/2014/main" id="{551562FA-CF08-4976-9E26-E2576CD6036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7198" t="5136" r="17871" b="88464"/>
              <a:stretch/>
            </p:blipFill>
            <p:spPr>
              <a:xfrm>
                <a:off x="6389981" y="4627592"/>
                <a:ext cx="405287" cy="148890"/>
              </a:xfrm>
              <a:prstGeom prst="rect">
                <a:avLst/>
              </a:prstGeom>
            </p:spPr>
          </p:pic>
          <p:pic>
            <p:nvPicPr>
              <p:cNvPr id="124" name="그림 7">
                <a:extLst>
                  <a:ext uri="{FF2B5EF4-FFF2-40B4-BE49-F238E27FC236}">
                    <a16:creationId xmlns:a16="http://schemas.microsoft.com/office/drawing/2014/main" id="{CE3306C8-485E-4D4B-A9B4-1F7029797B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4004" t="3308" r="61422" b="85951"/>
              <a:stretch/>
            </p:blipFill>
            <p:spPr>
              <a:xfrm>
                <a:off x="5435730" y="4579898"/>
                <a:ext cx="938445" cy="249846"/>
              </a:xfrm>
              <a:prstGeom prst="rect">
                <a:avLst/>
              </a:prstGeom>
            </p:spPr>
          </p:pic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F0298854-A292-42A7-98D2-719628F27749}"/>
                </a:ext>
              </a:extLst>
            </p:cNvPr>
            <p:cNvGrpSpPr/>
            <p:nvPr/>
          </p:nvGrpSpPr>
          <p:grpSpPr>
            <a:xfrm>
              <a:off x="8014716" y="2585446"/>
              <a:ext cx="2896629" cy="891348"/>
              <a:chOff x="4384972" y="2585446"/>
              <a:chExt cx="2896629" cy="891348"/>
            </a:xfrm>
          </p:grpSpPr>
          <p:sp>
            <p:nvSpPr>
              <p:cNvPr id="127" name="Shape 24">
                <a:extLst>
                  <a:ext uri="{FF2B5EF4-FFF2-40B4-BE49-F238E27FC236}">
                    <a16:creationId xmlns:a16="http://schemas.microsoft.com/office/drawing/2014/main" id="{CE3B36F3-21BA-452F-A3AB-DAB4970248FF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49A8FF"/>
              </a:solidFill>
              <a:ln w="10160">
                <a:solidFill>
                  <a:srgbClr val="49A8FF"/>
                </a:solidFill>
                <a:prstDash val="solid"/>
              </a:ln>
            </p:spPr>
          </p: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9615BA18-3CA4-48BB-A642-C29D2E15D9DF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791149" cy="891348"/>
                <a:chOff x="906293" y="2491362"/>
                <a:chExt cx="2791149" cy="891348"/>
              </a:xfrm>
            </p:grpSpPr>
            <p:sp>
              <p:nvSpPr>
                <p:cNvPr id="129" name="Text 13">
                  <a:extLst>
                    <a:ext uri="{FF2B5EF4-FFF2-40B4-BE49-F238E27FC236}">
                      <a16:creationId xmlns:a16="http://schemas.microsoft.com/office/drawing/2014/main" id="{09FC5D82-21D2-46DB-93A7-8EC391C1667D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684964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통신사 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통화 비서 앱 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-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스팸번호 탐지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악성 앱 차단</a:t>
                  </a: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9F9B7EA9-7248-46A7-97E4-CA2D5546080D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79114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주요 통신사 별 </a:t>
                  </a:r>
                  <a:r>
                    <a:rPr lang="en-US" altLang="ko-KR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탐지 서비스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예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: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에이닷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익시오 등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)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통화 중 실시간으로 보이스피싱을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감지하고 차단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하는</a:t>
                  </a:r>
                  <a:b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</a:b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강력한 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보안 기능을 제공</a:t>
                  </a:r>
                  <a:endPara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분석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경찰청 연계 통해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보이스피싱 및 악성 앱 탐지</a:t>
                  </a:r>
                  <a:endPara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0B9F7FD3-263B-4E20-8ED9-18AECC8E0FC0}"/>
                </a:ext>
              </a:extLst>
            </p:cNvPr>
            <p:cNvGrpSpPr/>
            <p:nvPr/>
          </p:nvGrpSpPr>
          <p:grpSpPr>
            <a:xfrm>
              <a:off x="8014716" y="3518926"/>
              <a:ext cx="3008885" cy="614349"/>
              <a:chOff x="4384972" y="2585446"/>
              <a:chExt cx="3008885" cy="614349"/>
            </a:xfrm>
          </p:grpSpPr>
          <p:sp>
            <p:nvSpPr>
              <p:cNvPr id="142" name="Shape 24">
                <a:extLst>
                  <a:ext uri="{FF2B5EF4-FFF2-40B4-BE49-F238E27FC236}">
                    <a16:creationId xmlns:a16="http://schemas.microsoft.com/office/drawing/2014/main" id="{76902399-4275-49F1-BFFD-DC4226CB7C4D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49A8FF"/>
              </a:solidFill>
              <a:ln w="10160">
                <a:solidFill>
                  <a:srgbClr val="49A8FF"/>
                </a:solidFill>
                <a:prstDash val="solid"/>
              </a:ln>
            </p:spPr>
          </p: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7253D61C-BA3A-403C-9659-B8290B7FFBD7}"/>
                  </a:ext>
                </a:extLst>
              </p:cNvPr>
              <p:cNvGrpSpPr/>
              <p:nvPr/>
            </p:nvGrpSpPr>
            <p:grpSpPr>
              <a:xfrm>
                <a:off x="4490453" y="2585446"/>
                <a:ext cx="2903404" cy="614349"/>
                <a:chOff x="906294" y="2491362"/>
                <a:chExt cx="2903404" cy="614349"/>
              </a:xfrm>
            </p:grpSpPr>
            <p:sp>
              <p:nvSpPr>
                <p:cNvPr id="144" name="Text 13">
                  <a:extLst>
                    <a:ext uri="{FF2B5EF4-FFF2-40B4-BE49-F238E27FC236}">
                      <a16:creationId xmlns:a16="http://schemas.microsoft.com/office/drawing/2014/main" id="{3ADFD593-0590-4BEE-A48F-E672E9662770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684964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발신번호 변작 차단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D55843D0-373E-4604-8EE2-F83BBC98EBF0}"/>
                    </a:ext>
                  </a:extLst>
                </p:cNvPr>
                <p:cNvSpPr txBox="1"/>
                <p:nvPr/>
              </p:nvSpPr>
              <p:spPr>
                <a:xfrm>
                  <a:off x="906294" y="2736379"/>
                  <a:ext cx="29034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보이스피싱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스미싱 예방을 위해 타인의 번호나 없는 번호로 발신번호를 조작하는 발신번호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변작</a:t>
                  </a:r>
                  <a:r>
                    <a:rPr lang="en-US" altLang="ko-KR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거짓표시</a:t>
                  </a:r>
                  <a:r>
                    <a:rPr lang="en-US" altLang="ko-KR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)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행위 차단</a:t>
                  </a:r>
                  <a:endPara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7E4731EE-3BF1-4C54-B72C-ED9ED85A04E0}"/>
                </a:ext>
              </a:extLst>
            </p:cNvPr>
            <p:cNvGrpSpPr/>
            <p:nvPr/>
          </p:nvGrpSpPr>
          <p:grpSpPr>
            <a:xfrm>
              <a:off x="8014716" y="4193332"/>
              <a:ext cx="2902547" cy="891348"/>
              <a:chOff x="4384972" y="2558496"/>
              <a:chExt cx="2902547" cy="891348"/>
            </a:xfrm>
          </p:grpSpPr>
          <p:sp>
            <p:nvSpPr>
              <p:cNvPr id="149" name="Shape 24">
                <a:extLst>
                  <a:ext uri="{FF2B5EF4-FFF2-40B4-BE49-F238E27FC236}">
                    <a16:creationId xmlns:a16="http://schemas.microsoft.com/office/drawing/2014/main" id="{014F2127-2028-4391-87BE-9DC38BCA0562}"/>
                  </a:ext>
                </a:extLst>
              </p:cNvPr>
              <p:cNvSpPr/>
              <p:nvPr/>
            </p:nvSpPr>
            <p:spPr>
              <a:xfrm>
                <a:off x="4384972" y="2668224"/>
                <a:ext cx="109728" cy="109728"/>
              </a:xfrm>
              <a:prstGeom prst="ellipse">
                <a:avLst/>
              </a:prstGeom>
              <a:solidFill>
                <a:srgbClr val="49A8FF"/>
              </a:solidFill>
              <a:ln w="10160">
                <a:solidFill>
                  <a:srgbClr val="49A8FF"/>
                </a:solidFill>
                <a:prstDash val="solid"/>
              </a:ln>
            </p:spPr>
          </p: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7BEC9321-8467-4AD7-A11F-971C0CD3F188}"/>
                  </a:ext>
                </a:extLst>
              </p:cNvPr>
              <p:cNvGrpSpPr/>
              <p:nvPr/>
            </p:nvGrpSpPr>
            <p:grpSpPr>
              <a:xfrm>
                <a:off x="4490453" y="2558496"/>
                <a:ext cx="2797066" cy="891348"/>
                <a:chOff x="906294" y="2464412"/>
                <a:chExt cx="2797066" cy="891348"/>
              </a:xfrm>
            </p:grpSpPr>
            <p:sp>
              <p:nvSpPr>
                <p:cNvPr id="151" name="Text 13">
                  <a:extLst>
                    <a:ext uri="{FF2B5EF4-FFF2-40B4-BE49-F238E27FC236}">
                      <a16:creationId xmlns:a16="http://schemas.microsoft.com/office/drawing/2014/main" id="{933BE645-218C-4CC1-BFE7-31CE22F0AC28}"/>
                    </a:ext>
                  </a:extLst>
                </p:cNvPr>
                <p:cNvSpPr txBox="1"/>
                <p:nvPr/>
              </p:nvSpPr>
              <p:spPr>
                <a:xfrm>
                  <a:off x="997733" y="2464412"/>
                  <a:ext cx="2684964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발신번호 변작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거짓표시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)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차단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5C4D6FCC-F66D-400E-8F4D-ECD11D459E5C}"/>
                    </a:ext>
                  </a:extLst>
                </p:cNvPr>
                <p:cNvSpPr txBox="1"/>
                <p:nvPr/>
              </p:nvSpPr>
              <p:spPr>
                <a:xfrm>
                  <a:off x="906294" y="2709429"/>
                  <a:ext cx="279706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인공지능과 빅데이터를 활용해 통화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/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문자 기반의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위험 신호를 실시간으로 감지</a:t>
                  </a:r>
                  <a:r>
                    <a:rPr lang="en-US" altLang="ko-KR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차단</a:t>
                  </a:r>
                  <a:endParaRPr lang="en-US" altLang="ko-KR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음성패턴 분석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통화내용 실시간 분석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비정상 회선 이용패턴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유관기관 실시간 정보 공유</a:t>
                  </a:r>
                  <a:endPara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7">
            <a:extLst>
              <a:ext uri="{FF2B5EF4-FFF2-40B4-BE49-F238E27FC236}">
                <a16:creationId xmlns:a16="http://schemas.microsoft.com/office/drawing/2014/main" id="{B86AB141-D61D-4F98-88E7-DC95CF56A724}"/>
              </a:ext>
            </a:extLst>
          </p:cNvPr>
          <p:cNvSpPr txBox="1"/>
          <p:nvPr/>
        </p:nvSpPr>
        <p:spPr>
          <a:xfrm>
            <a:off x="599443" y="56628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대표적으로 성과를 내고 있는 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AI ASAP(</a:t>
            </a: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에이셉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)</a:t>
            </a:r>
            <a:endParaRPr lang="en-US" altLang="ko-KR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18BD87C1-342C-4A32-80E8-3279A30915AE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26523E4F-4D96-421D-9C85-0DBFC0114F74}"/>
              </a:ext>
            </a:extLst>
          </p:cNvPr>
          <p:cNvSpPr txBox="1"/>
          <p:nvPr/>
        </p:nvSpPr>
        <p:spPr>
          <a:xfrm>
            <a:off x="580644" y="730471"/>
            <a:ext cx="10698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금융위원회와 금융보안원을 중심으로 체계화된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보이스피싱 정보공유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분석 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AI 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플랫폼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ASAP</a:t>
            </a:r>
          </a:p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출범 이후 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9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개월 간 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663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억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6000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만원 규모의 피해를 사전 차단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하는 실제 성과로 이어졌다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0744D3-2F9D-4B31-9CF2-F9C3060180B7}"/>
              </a:ext>
            </a:extLst>
          </p:cNvPr>
          <p:cNvGrpSpPr/>
          <p:nvPr/>
        </p:nvGrpSpPr>
        <p:grpSpPr>
          <a:xfrm>
            <a:off x="534543" y="1737360"/>
            <a:ext cx="5975498" cy="3886691"/>
            <a:chOff x="534543" y="1818173"/>
            <a:chExt cx="5975498" cy="3886691"/>
          </a:xfrm>
        </p:grpSpPr>
        <p:sp>
          <p:nvSpPr>
            <p:cNvPr id="81" name="Shape 8">
              <a:extLst>
                <a:ext uri="{FF2B5EF4-FFF2-40B4-BE49-F238E27FC236}">
                  <a16:creationId xmlns:a16="http://schemas.microsoft.com/office/drawing/2014/main" id="{372E1C90-42E9-4CBF-81B0-76E43E875362}"/>
                </a:ext>
              </a:extLst>
            </p:cNvPr>
            <p:cNvSpPr/>
            <p:nvPr/>
          </p:nvSpPr>
          <p:spPr>
            <a:xfrm>
              <a:off x="534543" y="1818173"/>
              <a:ext cx="5975498" cy="3886691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prstDash val="solid"/>
            </a:ln>
          </p:spPr>
        </p:sp>
        <p:pic>
          <p:nvPicPr>
            <p:cNvPr id="80" name="그림 7">
              <a:extLst>
                <a:ext uri="{FF2B5EF4-FFF2-40B4-BE49-F238E27FC236}">
                  <a16:creationId xmlns:a16="http://schemas.microsoft.com/office/drawing/2014/main" id="{E668F3AE-32D0-B134-C7D2-A51000B586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06" t="18162" r="3581" b="6222"/>
            <a:stretch/>
          </p:blipFill>
          <p:spPr>
            <a:xfrm>
              <a:off x="804107" y="3439092"/>
              <a:ext cx="5420724" cy="2153462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866EF50-0FEC-4AF4-A807-8A42ED37A943}"/>
                </a:ext>
              </a:extLst>
            </p:cNvPr>
            <p:cNvSpPr txBox="1"/>
            <p:nvPr/>
          </p:nvSpPr>
          <p:spPr>
            <a:xfrm>
              <a:off x="687238" y="1961214"/>
              <a:ext cx="48207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보이스피싱 정보공유</a:t>
              </a:r>
              <a:r>
                <a:rPr lang="en-US" altLang="ko-KR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·</a:t>
              </a:r>
              <a:r>
                <a:rPr lang="ko-KR" altLang="en-US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분석 </a:t>
              </a:r>
              <a:r>
                <a:rPr lang="en-US" altLang="ko-KR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AI </a:t>
              </a:r>
              <a:r>
                <a:rPr lang="ko-KR" altLang="en-US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플랫폼</a:t>
              </a:r>
              <a:r>
                <a:rPr lang="en-US" altLang="ko-KR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(ASAP)</a:t>
              </a:r>
              <a:endParaRPr lang="ko-KR" altLang="en-US" sz="14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8A72F21-C9A8-43CF-9D50-07139CD417B7}"/>
                </a:ext>
              </a:extLst>
            </p:cNvPr>
            <p:cNvSpPr txBox="1"/>
            <p:nvPr/>
          </p:nvSpPr>
          <p:spPr>
            <a:xfrm>
              <a:off x="687237" y="2300177"/>
              <a:ext cx="5711069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가동 및 법적 기반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2025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년 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10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월 출범 이후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2026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년 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8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월부터 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'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통신사기피해환급법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'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개정에 따라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en-US" altLang="ko-KR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                                 </a:t>
              </a:r>
              <a:r>
                <a:rPr lang="ko-KR" altLang="en-US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정보 주체의 동의 없이도 관계기관 간 의심 정보 공동 활용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이 본격 시행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참여 기관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금융위원회와 금융보안원을 중심으로 은행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증권사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제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2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금융권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통신사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수사기관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가상자산거래소 등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공유 정보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사기 이용 계좌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악성앱 탐지 정보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피싱사이트 접속 이력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의심 및 범죄이용 전화번호 등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기대 효과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ko-KR" altLang="en-US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각 기관이 분산된 정보를 즉시 공유하여 신속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한 계좌 지급정지 및 비정상 거래 차단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범죄 수사에 활용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FDS </a:t>
              </a:r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활용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금융회사가 운영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평소와 다른 </a:t>
              </a:r>
              <a:r>
                <a:rPr lang="ko-KR" altLang="en-US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이상한 자금이체나 거래를 자동으로 찾아내는 보안 시스템 </a:t>
              </a:r>
              <a:r>
                <a:rPr lang="en-US" altLang="ko-KR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FDS </a:t>
              </a:r>
              <a:r>
                <a:rPr lang="ko-KR" altLang="en-US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활용</a:t>
              </a:r>
            </a:p>
          </p:txBody>
        </p:sp>
      </p:grpSp>
      <p:sp>
        <p:nvSpPr>
          <p:cNvPr id="88" name="Shape 8">
            <a:extLst>
              <a:ext uri="{FF2B5EF4-FFF2-40B4-BE49-F238E27FC236}">
                <a16:creationId xmlns:a16="http://schemas.microsoft.com/office/drawing/2014/main" id="{A6E48D8D-F246-47B4-9FDB-5F1AECC542EB}"/>
              </a:ext>
            </a:extLst>
          </p:cNvPr>
          <p:cNvSpPr/>
          <p:nvPr/>
        </p:nvSpPr>
        <p:spPr>
          <a:xfrm>
            <a:off x="6641273" y="1737360"/>
            <a:ext cx="4931485" cy="3886691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4D85F3B-306F-4E6C-9DCA-8D7C4B0D8278}"/>
              </a:ext>
            </a:extLst>
          </p:cNvPr>
          <p:cNvSpPr txBox="1"/>
          <p:nvPr/>
        </p:nvSpPr>
        <p:spPr>
          <a:xfrm>
            <a:off x="6869594" y="1852046"/>
            <a:ext cx="3979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ASAP </a:t>
            </a:r>
            <a:r>
              <a:rPr lang="ko-KR" altLang="en-US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플랫폼의 출범 이후 핵심 성과 </a:t>
            </a:r>
            <a:endParaRPr lang="en-US" altLang="ko-KR" sz="14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B2E5A33-3FFF-4B4C-BD77-28ADFC79B401}"/>
              </a:ext>
            </a:extLst>
          </p:cNvPr>
          <p:cNvGrpSpPr/>
          <p:nvPr/>
        </p:nvGrpSpPr>
        <p:grpSpPr>
          <a:xfrm>
            <a:off x="438150" y="5828116"/>
            <a:ext cx="11274173" cy="538281"/>
            <a:chOff x="989537" y="5557693"/>
            <a:chExt cx="10212928" cy="773508"/>
          </a:xfrm>
        </p:grpSpPr>
        <p:sp>
          <p:nvSpPr>
            <p:cNvPr id="96" name="Shape 44">
              <a:extLst>
                <a:ext uri="{FF2B5EF4-FFF2-40B4-BE49-F238E27FC236}">
                  <a16:creationId xmlns:a16="http://schemas.microsoft.com/office/drawing/2014/main" id="{731F3A17-9EC7-457A-9066-89707FAB988C}"/>
                </a:ext>
              </a:extLst>
            </p:cNvPr>
            <p:cNvSpPr/>
            <p:nvPr/>
          </p:nvSpPr>
          <p:spPr>
            <a:xfrm>
              <a:off x="1057656" y="5587831"/>
              <a:ext cx="10076688" cy="713232"/>
            </a:xfrm>
            <a:prstGeom prst="roundRect">
              <a:avLst>
                <a:gd name="adj" fmla="val 20513"/>
              </a:avLst>
            </a:prstGeom>
            <a:solidFill>
              <a:srgbClr val="0B1F3A"/>
            </a:solidFill>
            <a:ln w="10160">
              <a:solidFill>
                <a:srgbClr val="0B1F3A"/>
              </a:solidFill>
              <a:prstDash val="solid"/>
            </a:ln>
          </p:spPr>
        </p:sp>
        <p:sp>
          <p:nvSpPr>
            <p:cNvPr id="106" name="Text 45">
              <a:extLst>
                <a:ext uri="{FF2B5EF4-FFF2-40B4-BE49-F238E27FC236}">
                  <a16:creationId xmlns:a16="http://schemas.microsoft.com/office/drawing/2014/main" id="{816798D6-68D0-4DF8-A408-120BDDD003E6}"/>
                </a:ext>
              </a:extLst>
            </p:cNvPr>
            <p:cNvSpPr txBox="1"/>
            <p:nvPr/>
          </p:nvSpPr>
          <p:spPr>
            <a:xfrm>
              <a:off x="989537" y="5557693"/>
              <a:ext cx="10212928" cy="7735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AI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와 빅데이터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진보적인 법률 개정과 협업 체계를 통한 공격적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선재적 방어  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 전년 동기 대비 </a:t>
              </a:r>
              <a:r>
                <a:rPr lang="ko-KR" altLang="en-US" sz="1520" b="1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rPr>
                <a:t>약 </a:t>
              </a:r>
              <a:r>
                <a:rPr lang="en-US" altLang="ko-KR" sz="1520" b="1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rPr>
                <a:t>53% </a:t>
              </a:r>
              <a:r>
                <a:rPr lang="ko-KR" altLang="en-US" sz="1520" b="1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rPr>
                <a:t>피해액 방어라는 높은 성과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로 이어졌다</a:t>
              </a:r>
              <a:endParaRPr lang="en-US" sz="1520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67267692-95D0-4E39-B1AD-313903CC8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67492"/>
              </p:ext>
            </p:extLst>
          </p:nvPr>
        </p:nvGraphicFramePr>
        <p:xfrm>
          <a:off x="6940645" y="2194181"/>
          <a:ext cx="4332741" cy="1112520"/>
        </p:xfrm>
        <a:graphic>
          <a:graphicData uri="http://schemas.openxmlformats.org/drawingml/2006/table">
            <a:tbl>
              <a:tblPr/>
              <a:tblGrid>
                <a:gridCol w="1047786">
                  <a:extLst>
                    <a:ext uri="{9D8B030D-6E8A-4147-A177-3AD203B41FA5}">
                      <a16:colId xmlns:a16="http://schemas.microsoft.com/office/drawing/2014/main" val="1611604226"/>
                    </a:ext>
                  </a:extLst>
                </a:gridCol>
                <a:gridCol w="1548005">
                  <a:extLst>
                    <a:ext uri="{9D8B030D-6E8A-4147-A177-3AD203B41FA5}">
                      <a16:colId xmlns:a16="http://schemas.microsoft.com/office/drawing/2014/main" val="4243154311"/>
                    </a:ext>
                  </a:extLst>
                </a:gridCol>
                <a:gridCol w="1736950">
                  <a:extLst>
                    <a:ext uri="{9D8B030D-6E8A-4147-A177-3AD203B41FA5}">
                      <a16:colId xmlns:a16="http://schemas.microsoft.com/office/drawing/2014/main" val="2761314812"/>
                    </a:ext>
                  </a:extLst>
                </a:gridCol>
              </a:tblGrid>
              <a:tr h="18835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출범 후 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주 동안</a:t>
                      </a:r>
                      <a:endParaRPr lang="en-US" altLang="ko-KR" sz="9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algn="ctr" rtl="0"/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2025.10.29 ~ 2026.01.21)</a:t>
                      </a:r>
                      <a:endParaRPr lang="ko-KR" altLang="en-US" sz="800" b="0" dirty="0">
                        <a:solidFill>
                          <a:schemeClr val="bg1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출범 후 약 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개월 동안</a:t>
                      </a:r>
                      <a:endParaRPr lang="en-US" altLang="ko-KR" sz="9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2025.10 ~ 2026.07</a:t>
                      </a:r>
                      <a:r>
                        <a:rPr lang="ko-KR" altLang="en-US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월 말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bg1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76352"/>
                  </a:ext>
                </a:extLst>
              </a:tr>
              <a:tr h="18016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800" dirty="0">
                          <a:latin typeface="페이퍼로지 7 Bold" pitchFamily="2" charset="-127"/>
                          <a:ea typeface="페이퍼로지 7 Bold" pitchFamily="2" charset="-127"/>
                        </a:rPr>
                        <a:t>은행권 수사기관</a:t>
                      </a:r>
                      <a:endParaRPr lang="en-US" altLang="ko-KR" sz="800" dirty="0"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algn="ctr" rtl="0"/>
                      <a:r>
                        <a:rPr lang="ko-KR" altLang="en-US" sz="800" dirty="0">
                          <a:latin typeface="페이퍼로지 7 Bold" pitchFamily="2" charset="-127"/>
                          <a:ea typeface="페이퍼로지 7 Bold" pitchFamily="2" charset="-127"/>
                        </a:rPr>
                        <a:t>정보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14.8</a:t>
                      </a:r>
                      <a:r>
                        <a:rPr lang="ko-KR" altLang="en-US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만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46.3</a:t>
                      </a:r>
                      <a:r>
                        <a:rPr lang="ko-KR" altLang="en-US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만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872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800">
                          <a:latin typeface="페이퍼로지 7 Bold" pitchFamily="2" charset="-127"/>
                          <a:ea typeface="페이퍼로지 7 Bold" pitchFamily="2" charset="-127"/>
                        </a:rPr>
                        <a:t>계좌 지급정지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2,705</a:t>
                      </a:r>
                      <a:r>
                        <a:rPr lang="ko-KR" altLang="en-US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7,009</a:t>
                      </a:r>
                      <a:r>
                        <a:rPr lang="ko-KR" altLang="en-US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267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800" dirty="0">
                          <a:latin typeface="페이퍼로지 7 Bold" pitchFamily="2" charset="-127"/>
                          <a:ea typeface="페이퍼로지 7 Bold" pitchFamily="2" charset="-127"/>
                        </a:rPr>
                        <a:t>피해 사전 차단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186.5</a:t>
                      </a:r>
                      <a:r>
                        <a:rPr lang="ko-KR" altLang="en-US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억 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663.6</a:t>
                      </a:r>
                      <a:r>
                        <a:rPr lang="ko-KR" altLang="en-US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억 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632259"/>
                  </a:ext>
                </a:extLst>
              </a:tr>
            </a:tbl>
          </a:graphicData>
        </a:graphic>
      </p:graphicFrame>
      <p:grpSp>
        <p:nvGrpSpPr>
          <p:cNvPr id="87" name="Group 86">
            <a:extLst>
              <a:ext uri="{FF2B5EF4-FFF2-40B4-BE49-F238E27FC236}">
                <a16:creationId xmlns:a16="http://schemas.microsoft.com/office/drawing/2014/main" id="{C2E3F610-B35F-45DB-BBD3-8EB9FD153FF8}"/>
              </a:ext>
            </a:extLst>
          </p:cNvPr>
          <p:cNvGrpSpPr/>
          <p:nvPr/>
        </p:nvGrpSpPr>
        <p:grpSpPr>
          <a:xfrm>
            <a:off x="6880605" y="3412145"/>
            <a:ext cx="4452820" cy="1508855"/>
            <a:chOff x="6900722" y="3613172"/>
            <a:chExt cx="4452820" cy="1963458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19B5089-3FB1-43A2-9B72-CCD30BF61D8C}"/>
                </a:ext>
              </a:extLst>
            </p:cNvPr>
            <p:cNvGrpSpPr/>
            <p:nvPr/>
          </p:nvGrpSpPr>
          <p:grpSpPr>
            <a:xfrm>
              <a:off x="6907208" y="4589098"/>
              <a:ext cx="4444875" cy="987532"/>
              <a:chOff x="6907208" y="4589098"/>
              <a:chExt cx="4444875" cy="987532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DF1209D8-D9DA-47FD-BEAF-5CDC80460CAD}"/>
                  </a:ext>
                </a:extLst>
              </p:cNvPr>
              <p:cNvGrpSpPr/>
              <p:nvPr/>
            </p:nvGrpSpPr>
            <p:grpSpPr>
              <a:xfrm>
                <a:off x="6909933" y="4589098"/>
                <a:ext cx="4416750" cy="797140"/>
                <a:chOff x="6909933" y="4638806"/>
                <a:chExt cx="4416750" cy="797140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AF035335-5549-4D57-B7A4-921CCE59D407}"/>
                    </a:ext>
                  </a:extLst>
                </p:cNvPr>
                <p:cNvGrpSpPr/>
                <p:nvPr/>
              </p:nvGrpSpPr>
              <p:grpSpPr>
                <a:xfrm>
                  <a:off x="6968542" y="4882176"/>
                  <a:ext cx="4358141" cy="553770"/>
                  <a:chOff x="6968542" y="4744258"/>
                  <a:chExt cx="4358141" cy="413305"/>
                </a:xfrm>
              </p:grpSpPr>
              <p:sp>
                <p:nvSpPr>
                  <p:cNvPr id="139" name="Rectangle 138">
                    <a:extLst>
                      <a:ext uri="{FF2B5EF4-FFF2-40B4-BE49-F238E27FC236}">
                        <a16:creationId xmlns:a16="http://schemas.microsoft.com/office/drawing/2014/main" id="{41AE67AD-B9B8-40DF-9448-F51E5E6EB1AE}"/>
                      </a:ext>
                    </a:extLst>
                  </p:cNvPr>
                  <p:cNvSpPr/>
                  <p:nvPr/>
                </p:nvSpPr>
                <p:spPr>
                  <a:xfrm>
                    <a:off x="6968542" y="4744258"/>
                    <a:ext cx="2141992" cy="413305"/>
                  </a:xfrm>
                  <a:prstGeom prst="rect">
                    <a:avLst/>
                  </a:prstGeom>
                  <a:solidFill>
                    <a:srgbClr val="002060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ko-KR" altLang="en-US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피해 계좌정보</a:t>
                    </a: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1,328</a:t>
                    </a:r>
                    <a:r>
                      <a:rPr lang="ko-KR" altLang="en-US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endPara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(</a:t>
                    </a:r>
                    <a:r>
                      <a:rPr lang="en-US" altLang="ko-KR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49.1%)</a:t>
                    </a:r>
                    <a:endPara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140" name="Rectangle 139">
                    <a:extLst>
                      <a:ext uri="{FF2B5EF4-FFF2-40B4-BE49-F238E27FC236}">
                        <a16:creationId xmlns:a16="http://schemas.microsoft.com/office/drawing/2014/main" id="{791CBE85-2624-4CCD-9B03-5B88D0E8C53D}"/>
                      </a:ext>
                    </a:extLst>
                  </p:cNvPr>
                  <p:cNvSpPr/>
                  <p:nvPr/>
                </p:nvSpPr>
                <p:spPr>
                  <a:xfrm>
                    <a:off x="9107358" y="4744258"/>
                    <a:ext cx="2025777" cy="413305"/>
                  </a:xfrm>
                  <a:prstGeom prst="rect">
                    <a:avLst/>
                  </a:prstGeom>
                  <a:solidFill>
                    <a:srgbClr val="5E85B0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ko-KR" altLang="en-US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피해 계좌정보</a:t>
                    </a: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1,250</a:t>
                    </a:r>
                    <a:r>
                      <a:rPr lang="ko-KR" altLang="en-US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endPara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(</a:t>
                    </a:r>
                    <a:r>
                      <a:rPr lang="en-US" altLang="ko-KR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46.2%)</a:t>
                    </a:r>
                    <a:endPara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80BECE0E-F3C7-4852-96B7-5FDCEE448308}"/>
                      </a:ext>
                    </a:extLst>
                  </p:cNvPr>
                  <p:cNvSpPr/>
                  <p:nvPr/>
                </p:nvSpPr>
                <p:spPr>
                  <a:xfrm>
                    <a:off x="11133136" y="4744258"/>
                    <a:ext cx="98298" cy="413305"/>
                  </a:xfrm>
                  <a:prstGeom prst="rect">
                    <a:avLst/>
                  </a:prstGeom>
                  <a:solidFill>
                    <a:srgbClr val="2F7CF6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ko-KR" sz="1000"/>
                  </a:p>
                </p:txBody>
              </p:sp>
              <p:sp>
                <p:nvSpPr>
                  <p:cNvPr id="147" name="Rectangle 146">
                    <a:extLst>
                      <a:ext uri="{FF2B5EF4-FFF2-40B4-BE49-F238E27FC236}">
                        <a16:creationId xmlns:a16="http://schemas.microsoft.com/office/drawing/2014/main" id="{5B45C7CC-4FE9-47B8-A816-C1985FE01E16}"/>
                      </a:ext>
                    </a:extLst>
                  </p:cNvPr>
                  <p:cNvSpPr/>
                  <p:nvPr/>
                </p:nvSpPr>
                <p:spPr>
                  <a:xfrm>
                    <a:off x="11225084" y="4744258"/>
                    <a:ext cx="101599" cy="413305"/>
                  </a:xfrm>
                  <a:prstGeom prst="rect">
                    <a:avLst/>
                  </a:prstGeom>
                  <a:solidFill>
                    <a:srgbClr val="49A8FF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ko-KR" sz="1000"/>
                  </a:p>
                </p:txBody>
              </p:sp>
            </p:grp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D8D12947-8E65-40B3-A525-5A287ADA8B2A}"/>
                    </a:ext>
                  </a:extLst>
                </p:cNvPr>
                <p:cNvSpPr txBox="1"/>
                <p:nvPr/>
              </p:nvSpPr>
              <p:spPr>
                <a:xfrm>
                  <a:off x="6909933" y="4654579"/>
                  <a:ext cx="2141992" cy="2594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rtl="0"/>
                  <a:r>
                    <a:rPr lang="ko-KR" altLang="en-US" sz="800" dirty="0">
                      <a:latin typeface="페이퍼로지 7 Bold" pitchFamily="2" charset="-127"/>
                      <a:ea typeface="페이퍼로지 7 Bold" pitchFamily="2" charset="-127"/>
                    </a:rPr>
                    <a:t>피해방지 건수 </a:t>
                  </a:r>
                  <a:r>
                    <a:rPr lang="en-US" altLang="ko-KR" sz="800" dirty="0">
                      <a:latin typeface="페이퍼로지 7 Bold" pitchFamily="2" charset="-127"/>
                      <a:ea typeface="페이퍼로지 7 Bold" pitchFamily="2" charset="-127"/>
                    </a:rPr>
                    <a:t>(2,705</a:t>
                  </a:r>
                  <a:r>
                    <a:rPr lang="ko-KR" altLang="en-US" sz="800" dirty="0"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800" dirty="0">
                      <a:latin typeface="페이퍼로지 7 Bold" pitchFamily="2" charset="-127"/>
                      <a:ea typeface="페이퍼로지 7 Bold" pitchFamily="2" charset="-127"/>
                    </a:rPr>
                    <a:t>)</a:t>
                  </a:r>
                  <a:endParaRPr lang="ko-KR" altLang="en-US" sz="8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A21BDF8A-9CC3-477E-B3E5-B6272F32E405}"/>
                    </a:ext>
                  </a:extLst>
                </p:cNvPr>
                <p:cNvSpPr txBox="1"/>
                <p:nvPr/>
              </p:nvSpPr>
              <p:spPr>
                <a:xfrm>
                  <a:off x="8920162" y="4638806"/>
                  <a:ext cx="2334171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rtl="0"/>
                  <a:r>
                    <a:rPr lang="ko-KR" altLang="en-US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사기이용계좌 정보 </a:t>
                  </a:r>
                  <a:r>
                    <a:rPr lang="en-US" altLang="ko-KR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55</a:t>
                  </a:r>
                  <a:r>
                    <a:rPr lang="ko-KR" altLang="en-US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(2.0%)</a:t>
                  </a:r>
                  <a:endParaRPr lang="ko-KR" altLang="en-US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2081ADE4-E51E-4EB8-8484-15125DE34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230521" y="4657650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2AC47B40-FD1A-4F45-8E48-6F005AB3E0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199747" y="4719547"/>
                  <a:ext cx="0" cy="169772"/>
                </a:xfrm>
                <a:prstGeom prst="line">
                  <a:avLst/>
                </a:prstGeom>
                <a:ln w="28575">
                  <a:solidFill>
                    <a:srgbClr val="2F7CF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36555E7C-425E-4079-87B1-C470269898ED}"/>
                  </a:ext>
                </a:extLst>
              </p:cNvPr>
              <p:cNvGrpSpPr/>
              <p:nvPr/>
            </p:nvGrpSpPr>
            <p:grpSpPr>
              <a:xfrm>
                <a:off x="9882317" y="5345667"/>
                <a:ext cx="1469766" cy="230963"/>
                <a:chOff x="9856917" y="5345667"/>
                <a:chExt cx="1469766" cy="230963"/>
              </a:xfrm>
            </p:grpSpPr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9B95F796-2F08-446E-A1DB-01D3A370AA4E}"/>
                    </a:ext>
                  </a:extLst>
                </p:cNvPr>
                <p:cNvSpPr txBox="1"/>
                <p:nvPr/>
              </p:nvSpPr>
              <p:spPr>
                <a:xfrm>
                  <a:off x="9856917" y="5361186"/>
                  <a:ext cx="1469766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rtl="0"/>
                  <a:r>
                    <a:rPr lang="ko-KR" altLang="en-US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기타 </a:t>
                  </a:r>
                  <a:r>
                    <a:rPr lang="en-US" altLang="ko-KR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72</a:t>
                  </a:r>
                  <a:r>
                    <a:rPr lang="ko-KR" altLang="en-US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(2.7%)</a:t>
                  </a:r>
                  <a:endParaRPr lang="ko-KR" altLang="en-US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19B4FE53-15CC-4901-A172-3B82093CC9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75883" y="5345667"/>
                  <a:ext cx="0" cy="200563"/>
                </a:xfrm>
                <a:prstGeom prst="line">
                  <a:avLst/>
                </a:prstGeom>
                <a:ln w="28575">
                  <a:solidFill>
                    <a:srgbClr val="49A8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5CD0C00-1002-4547-94C5-4857AE291FEA}"/>
                  </a:ext>
                </a:extLst>
              </p:cNvPr>
              <p:cNvSpPr txBox="1"/>
              <p:nvPr/>
            </p:nvSpPr>
            <p:spPr>
              <a:xfrm>
                <a:off x="6907208" y="5373434"/>
                <a:ext cx="122341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*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기준 기간 출범 후 </a:t>
                </a:r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12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 동안</a:t>
                </a:r>
                <a:endParaRPr lang="en-US" altLang="ko-KR" sz="700" dirty="0">
                  <a:solidFill>
                    <a:srgbClr val="002060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F406ED3-91ED-40FA-A5F6-5EB54373632C}"/>
                </a:ext>
              </a:extLst>
            </p:cNvPr>
            <p:cNvGrpSpPr/>
            <p:nvPr/>
          </p:nvGrpSpPr>
          <p:grpSpPr>
            <a:xfrm>
              <a:off x="6900722" y="3613172"/>
              <a:ext cx="4452820" cy="989286"/>
              <a:chOff x="6900722" y="3613172"/>
              <a:chExt cx="4452820" cy="989286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81EC7DBF-425A-4A6D-8C7C-96CE3884C086}"/>
                  </a:ext>
                </a:extLst>
              </p:cNvPr>
              <p:cNvGrpSpPr/>
              <p:nvPr/>
            </p:nvGrpSpPr>
            <p:grpSpPr>
              <a:xfrm>
                <a:off x="6968542" y="3858962"/>
                <a:ext cx="4358141" cy="553770"/>
                <a:chOff x="6968542" y="4034171"/>
                <a:chExt cx="4358141" cy="553770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0C0C6537-ECA2-4D39-9F34-0A75EC4F8FD6}"/>
                    </a:ext>
                  </a:extLst>
                </p:cNvPr>
                <p:cNvSpPr/>
                <p:nvPr/>
              </p:nvSpPr>
              <p:spPr>
                <a:xfrm>
                  <a:off x="6968542" y="4034171"/>
                  <a:ext cx="950212" cy="553770"/>
                </a:xfrm>
                <a:prstGeom prst="rect">
                  <a:avLst/>
                </a:prstGeom>
                <a:solidFill>
                  <a:srgbClr val="002060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피해 계좌정보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41.0</a:t>
                  </a:r>
                  <a:r>
                    <a:rPr lang="ko-KR" altLang="en-US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억 원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(22</a:t>
                  </a:r>
                  <a:r>
                    <a:rPr lang="en-US" altLang="ko-KR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.0%)</a:t>
                  </a:r>
                  <a:endPara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0EE53028-AEF5-4508-BF9B-F1FFEBF7F663}"/>
                    </a:ext>
                  </a:extLst>
                </p:cNvPr>
                <p:cNvSpPr/>
                <p:nvPr/>
              </p:nvSpPr>
              <p:spPr>
                <a:xfrm>
                  <a:off x="10625139" y="4034171"/>
                  <a:ext cx="369092" cy="553770"/>
                </a:xfrm>
                <a:prstGeom prst="rect">
                  <a:avLst/>
                </a:prstGeom>
                <a:solidFill>
                  <a:srgbClr val="2F7CF6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sz="1000"/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9640938D-6415-4975-AE42-4A9F6CC71DFD}"/>
                    </a:ext>
                  </a:extLst>
                </p:cNvPr>
                <p:cNvSpPr/>
                <p:nvPr/>
              </p:nvSpPr>
              <p:spPr>
                <a:xfrm>
                  <a:off x="7918755" y="4034171"/>
                  <a:ext cx="2770246" cy="553770"/>
                </a:xfrm>
                <a:prstGeom prst="rect">
                  <a:avLst/>
                </a:prstGeom>
                <a:solidFill>
                  <a:srgbClr val="5E85B0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피해 계좌정보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118.4</a:t>
                  </a:r>
                  <a:r>
                    <a:rPr lang="ko-KR" altLang="en-US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억 원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</a:t>
                  </a:r>
                  <a:r>
                    <a:rPr lang="en-US" altLang="ko-KR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63.5%)</a:t>
                  </a:r>
                  <a:endPara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9835F2DD-3120-471C-8951-D64FF8D0174D}"/>
                    </a:ext>
                  </a:extLst>
                </p:cNvPr>
                <p:cNvSpPr/>
                <p:nvPr/>
              </p:nvSpPr>
              <p:spPr>
                <a:xfrm>
                  <a:off x="10931968" y="4034171"/>
                  <a:ext cx="394715" cy="553770"/>
                </a:xfrm>
                <a:prstGeom prst="rect">
                  <a:avLst/>
                </a:prstGeom>
                <a:solidFill>
                  <a:srgbClr val="49A8FF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sz="1000"/>
                </a:p>
              </p:txBody>
            </p:sp>
          </p:grp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FA77F4D8-08BA-428A-9C85-1616EDB599DB}"/>
                  </a:ext>
                </a:extLst>
              </p:cNvPr>
              <p:cNvSpPr txBox="1"/>
              <p:nvPr/>
            </p:nvSpPr>
            <p:spPr>
              <a:xfrm>
                <a:off x="6900722" y="3622027"/>
                <a:ext cx="2357577" cy="259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피해방지 금액</a:t>
                </a:r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(186.5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)</a:t>
                </a:r>
                <a:endParaRPr lang="ko-KR" altLang="en-US" sz="8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19C9AAA-84A7-412C-A96B-CF876CFC3A50}"/>
                  </a:ext>
                </a:extLst>
              </p:cNvPr>
              <p:cNvSpPr txBox="1"/>
              <p:nvPr/>
            </p:nvSpPr>
            <p:spPr>
              <a:xfrm>
                <a:off x="8632959" y="3613172"/>
                <a:ext cx="2334171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0"/>
                <a:r>
                  <a:rPr lang="ko-KR" altLang="en-US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사기이용계좌 정보 </a:t>
                </a:r>
                <a:r>
                  <a:rPr lang="en-US" altLang="ko-KR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9.8</a:t>
                </a:r>
                <a:r>
                  <a:rPr lang="ko-KR" altLang="en-US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(5.3%)</a:t>
                </a:r>
                <a:endParaRPr lang="ko-KR" altLang="en-US" sz="800" dirty="0">
                  <a:solidFill>
                    <a:srgbClr val="2F7CF6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DF6178B5-BA75-4C82-BC94-A57B18CABC6A}"/>
                  </a:ext>
                </a:extLst>
              </p:cNvPr>
              <p:cNvCxnSpPr>
                <a:cxnSpLocks/>
                <a:stCxn id="160" idx="3"/>
                <a:endCxn id="160" idx="3"/>
              </p:cNvCxnSpPr>
              <p:nvPr/>
            </p:nvCxnSpPr>
            <p:spPr>
              <a:xfrm>
                <a:off x="10967130" y="3720894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BB0E1F68-8BCC-4740-8CA7-815A9B21B88B}"/>
                  </a:ext>
                </a:extLst>
              </p:cNvPr>
              <p:cNvCxnSpPr/>
              <p:nvPr/>
            </p:nvCxnSpPr>
            <p:spPr>
              <a:xfrm flipV="1">
                <a:off x="10918894" y="3693912"/>
                <a:ext cx="0" cy="169772"/>
              </a:xfrm>
              <a:prstGeom prst="line">
                <a:avLst/>
              </a:prstGeom>
              <a:ln w="28575">
                <a:solidFill>
                  <a:srgbClr val="2F7CF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B6B30D79-E413-44B8-BECF-21E5D30F94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301283" y="4374959"/>
                <a:ext cx="0" cy="200563"/>
              </a:xfrm>
              <a:prstGeom prst="line">
                <a:avLst/>
              </a:prstGeom>
              <a:ln w="28575">
                <a:solidFill>
                  <a:srgbClr val="49A8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E145FE7-7C8E-4A8C-BEA3-6326FCD0B570}"/>
                  </a:ext>
                </a:extLst>
              </p:cNvPr>
              <p:cNvSpPr txBox="1"/>
              <p:nvPr/>
            </p:nvSpPr>
            <p:spPr>
              <a:xfrm>
                <a:off x="9883776" y="4387014"/>
                <a:ext cx="146976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0"/>
                <a:r>
                  <a:rPr lang="ko-KR" altLang="en-US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기타</a:t>
                </a:r>
                <a:r>
                  <a:rPr lang="en-US" altLang="ko-KR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 17.3</a:t>
                </a:r>
                <a:r>
                  <a:rPr lang="ko-KR" altLang="en-US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(9.3%)</a:t>
                </a:r>
                <a:endParaRPr lang="ko-KR" altLang="en-US" sz="800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525798AE-8A4A-4F3C-A7DB-F37611569B06}"/>
                  </a:ext>
                </a:extLst>
              </p:cNvPr>
              <p:cNvSpPr txBox="1"/>
              <p:nvPr/>
            </p:nvSpPr>
            <p:spPr>
              <a:xfrm>
                <a:off x="6907208" y="4394745"/>
                <a:ext cx="122341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*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기준 기간 출범 후 </a:t>
                </a:r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12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 동안</a:t>
                </a:r>
                <a:endParaRPr lang="en-US" altLang="ko-KR" sz="700" dirty="0">
                  <a:solidFill>
                    <a:srgbClr val="002060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7688958C-63F5-4BB9-9DD1-8635F1F92C47}"/>
              </a:ext>
            </a:extLst>
          </p:cNvPr>
          <p:cNvSpPr txBox="1"/>
          <p:nvPr/>
        </p:nvSpPr>
        <p:spPr>
          <a:xfrm>
            <a:off x="7405452" y="4996134"/>
            <a:ext cx="3403127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지난해 같은 기간 대비 </a:t>
            </a:r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발생 건수가 </a:t>
            </a:r>
            <a:r>
              <a:rPr lang="en-US" altLang="ko-KR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46%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(14,707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건→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7,940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건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),</a:t>
            </a:r>
          </a:p>
          <a:p>
            <a:pPr algn="ctr"/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피해액이 </a:t>
            </a:r>
            <a:r>
              <a:rPr lang="en-US" altLang="ko-KR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53%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(7,766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억 원→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3,614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억 원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감소</a:t>
            </a:r>
            <a:endParaRPr lang="en-US" altLang="ko-KR" sz="1000" dirty="0">
              <a:solidFill>
                <a:srgbClr val="FF4B16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/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*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: 7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월 보이스피싱 피해액 올해 최저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신종 스캠도 감소세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통합대응단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0816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44784" y="6671892"/>
            <a:ext cx="905256" cy="548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F9ECD888-C723-46E7-903A-7435ADF81B35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문제도출</a:t>
            </a:r>
            <a:endParaRPr lang="en-US" sz="105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F0333C0-8C7A-4B84-8F7C-D44D37579789}"/>
              </a:ext>
            </a:extLst>
          </p:cNvPr>
          <p:cNvSpPr txBox="1"/>
          <p:nvPr/>
        </p:nvSpPr>
        <p:spPr>
          <a:xfrm>
            <a:off x="838200" y="527343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3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그런데 잠깐</a:t>
            </a:r>
            <a:r>
              <a:rPr lang="en-US" altLang="ko-KR" sz="123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…</a:t>
            </a:r>
            <a:endParaRPr lang="en-US" altLang="ko-KR" sz="123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9E4F4B01-3369-4970-A414-220666C1A0EF}"/>
              </a:ext>
            </a:extLst>
          </p:cNvPr>
          <p:cNvSpPr txBox="1"/>
          <p:nvPr/>
        </p:nvSpPr>
        <p:spPr>
          <a:xfrm>
            <a:off x="746760" y="760788"/>
            <a:ext cx="10698480" cy="122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이렇게 많은 </a:t>
            </a:r>
            <a:r>
              <a:rPr lang="en-US" altLang="ko-KR" sz="22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안전장치</a:t>
            </a:r>
            <a:r>
              <a:rPr lang="ko-KR" altLang="en-US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가 존재하고 </a:t>
            </a:r>
            <a:r>
              <a:rPr lang="en-US" altLang="ko-KR" sz="22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실제</a:t>
            </a:r>
            <a:r>
              <a:rPr lang="en-US" altLang="ko-KR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ko-KR" altLang="en-US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긍정적 </a:t>
            </a:r>
            <a:r>
              <a:rPr lang="en-US" altLang="ko-KR" sz="22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효과도</a:t>
            </a:r>
            <a:r>
              <a:rPr lang="en-US" altLang="ko-KR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en-US" altLang="ko-KR" sz="22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있는데</a:t>
            </a:r>
            <a:r>
              <a:rPr lang="en-US" altLang="ko-KR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…</a:t>
            </a:r>
          </a:p>
          <a:p>
            <a:pPr marL="0" indent="0" algn="ctr">
              <a:buNone/>
            </a:pP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어째서 여전히 보이스피싱 범죄</a:t>
            </a:r>
            <a:r>
              <a:rPr lang="en-US" altLang="ko-KR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ko-KR" altLang="en-US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피해가 발생하고 있을까</a:t>
            </a:r>
            <a:r>
              <a:rPr lang="en-US" altLang="ko-KR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?</a:t>
            </a:r>
          </a:p>
          <a:p>
            <a:pPr marL="0" indent="0" algn="ctr">
              <a:buNone/>
            </a:pP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그리고 </a:t>
            </a:r>
            <a:r>
              <a:rPr lang="en-US" altLang="ko-KR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53%</a:t>
            </a: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의 피해액 감소에 만족하고 </a:t>
            </a:r>
            <a:r>
              <a:rPr lang="ko-KR" altLang="en-US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안주해도 되는 걸까</a:t>
            </a:r>
            <a:r>
              <a:rPr lang="en-US" altLang="ko-KR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ED55EEA-1212-4000-A6DF-C58A73D5632C}"/>
              </a:ext>
            </a:extLst>
          </p:cNvPr>
          <p:cNvGrpSpPr/>
          <p:nvPr/>
        </p:nvGrpSpPr>
        <p:grpSpPr>
          <a:xfrm>
            <a:off x="1211043" y="2216783"/>
            <a:ext cx="9769914" cy="3097467"/>
            <a:chOff x="1211043" y="2336922"/>
            <a:chExt cx="9769914" cy="309746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5870A41-561B-46D8-872D-2DACE1D28AAF}"/>
                </a:ext>
              </a:extLst>
            </p:cNvPr>
            <p:cNvGrpSpPr/>
            <p:nvPr/>
          </p:nvGrpSpPr>
          <p:grpSpPr>
            <a:xfrm>
              <a:off x="1324750" y="2864843"/>
              <a:ext cx="4413424" cy="2564583"/>
              <a:chOff x="1032549" y="3249240"/>
              <a:chExt cx="4413424" cy="2564583"/>
            </a:xfrm>
          </p:grpSpPr>
          <p:sp>
            <p:nvSpPr>
              <p:cNvPr id="23" name="Shape 8">
                <a:extLst>
                  <a:ext uri="{FF2B5EF4-FFF2-40B4-BE49-F238E27FC236}">
                    <a16:creationId xmlns:a16="http://schemas.microsoft.com/office/drawing/2014/main" id="{1E82256C-508F-4718-BDA2-BC66C83B7F0E}"/>
                  </a:ext>
                </a:extLst>
              </p:cNvPr>
              <p:cNvSpPr/>
              <p:nvPr/>
            </p:nvSpPr>
            <p:spPr>
              <a:xfrm>
                <a:off x="1032549" y="3249240"/>
                <a:ext cx="4413424" cy="2564583"/>
              </a:xfrm>
              <a:prstGeom prst="roundRect">
                <a:avLst>
                  <a:gd name="adj" fmla="val 5818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8ADDDFBD-5E3C-4896-BA4F-D0F3EA431CA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8179"/>
              <a:stretch/>
            </p:blipFill>
            <p:spPr>
              <a:xfrm>
                <a:off x="1087294" y="3401279"/>
                <a:ext cx="4303933" cy="2355183"/>
              </a:xfrm>
              <a:prstGeom prst="rect">
                <a:avLst/>
              </a:prstGeom>
            </p:spPr>
          </p:pic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CE9D502-4A98-4EFF-A464-807AEFFEFAEB}"/>
                  </a:ext>
                </a:extLst>
              </p:cNvPr>
              <p:cNvSpPr/>
              <p:nvPr/>
            </p:nvSpPr>
            <p:spPr>
              <a:xfrm>
                <a:off x="4234875" y="3762257"/>
                <a:ext cx="487664" cy="229054"/>
              </a:xfrm>
              <a:custGeom>
                <a:avLst/>
                <a:gdLst>
                  <a:gd name="connsiteX0" fmla="*/ 50800 w 419100"/>
                  <a:gd name="connsiteY0" fmla="*/ 31750 h 196850"/>
                  <a:gd name="connsiteX1" fmla="*/ 133350 w 419100"/>
                  <a:gd name="connsiteY1" fmla="*/ 0 h 196850"/>
                  <a:gd name="connsiteX2" fmla="*/ 406400 w 419100"/>
                  <a:gd name="connsiteY2" fmla="*/ 0 h 196850"/>
                  <a:gd name="connsiteX3" fmla="*/ 419100 w 419100"/>
                  <a:gd name="connsiteY3" fmla="*/ 196850 h 196850"/>
                  <a:gd name="connsiteX4" fmla="*/ 0 w 419100"/>
                  <a:gd name="connsiteY4" fmla="*/ 152400 h 196850"/>
                  <a:gd name="connsiteX5" fmla="*/ 50800 w 419100"/>
                  <a:gd name="connsiteY5" fmla="*/ 31750 h 196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9100" h="196850">
                    <a:moveTo>
                      <a:pt x="50800" y="31750"/>
                    </a:moveTo>
                    <a:lnTo>
                      <a:pt x="133350" y="0"/>
                    </a:lnTo>
                    <a:lnTo>
                      <a:pt x="406400" y="0"/>
                    </a:lnTo>
                    <a:lnTo>
                      <a:pt x="419100" y="196850"/>
                    </a:lnTo>
                    <a:lnTo>
                      <a:pt x="0" y="152400"/>
                    </a:lnTo>
                    <a:lnTo>
                      <a:pt x="50800" y="31750"/>
                    </a:lnTo>
                    <a:close/>
                  </a:path>
                </a:pathLst>
              </a:custGeom>
              <a:solidFill>
                <a:srgbClr val="E66867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609C7C8-B81C-4E5A-8DE7-5B7392628E26}"/>
                  </a:ext>
                </a:extLst>
              </p:cNvPr>
              <p:cNvSpPr/>
              <p:nvPr/>
            </p:nvSpPr>
            <p:spPr>
              <a:xfrm>
                <a:off x="2995430" y="4328077"/>
                <a:ext cx="487664" cy="229054"/>
              </a:xfrm>
              <a:custGeom>
                <a:avLst/>
                <a:gdLst>
                  <a:gd name="connsiteX0" fmla="*/ 50800 w 419100"/>
                  <a:gd name="connsiteY0" fmla="*/ 31750 h 196850"/>
                  <a:gd name="connsiteX1" fmla="*/ 133350 w 419100"/>
                  <a:gd name="connsiteY1" fmla="*/ 0 h 196850"/>
                  <a:gd name="connsiteX2" fmla="*/ 406400 w 419100"/>
                  <a:gd name="connsiteY2" fmla="*/ 0 h 196850"/>
                  <a:gd name="connsiteX3" fmla="*/ 419100 w 419100"/>
                  <a:gd name="connsiteY3" fmla="*/ 196850 h 196850"/>
                  <a:gd name="connsiteX4" fmla="*/ 0 w 419100"/>
                  <a:gd name="connsiteY4" fmla="*/ 152400 h 196850"/>
                  <a:gd name="connsiteX5" fmla="*/ 50800 w 419100"/>
                  <a:gd name="connsiteY5" fmla="*/ 31750 h 196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9100" h="196850">
                    <a:moveTo>
                      <a:pt x="50800" y="31750"/>
                    </a:moveTo>
                    <a:lnTo>
                      <a:pt x="133350" y="0"/>
                    </a:lnTo>
                    <a:lnTo>
                      <a:pt x="406400" y="0"/>
                    </a:lnTo>
                    <a:lnTo>
                      <a:pt x="419100" y="196850"/>
                    </a:lnTo>
                    <a:lnTo>
                      <a:pt x="0" y="152400"/>
                    </a:lnTo>
                    <a:lnTo>
                      <a:pt x="50800" y="31750"/>
                    </a:lnTo>
                    <a:close/>
                  </a:path>
                </a:pathLst>
              </a:custGeom>
              <a:solidFill>
                <a:srgbClr val="5E85B0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5A03C30-6B1A-4B88-A823-CDFF6D395EA1}"/>
                  </a:ext>
                </a:extLst>
              </p:cNvPr>
              <p:cNvSpPr/>
              <p:nvPr/>
            </p:nvSpPr>
            <p:spPr>
              <a:xfrm>
                <a:off x="1678927" y="4945044"/>
                <a:ext cx="487664" cy="229054"/>
              </a:xfrm>
              <a:custGeom>
                <a:avLst/>
                <a:gdLst>
                  <a:gd name="connsiteX0" fmla="*/ 50800 w 419100"/>
                  <a:gd name="connsiteY0" fmla="*/ 31750 h 196850"/>
                  <a:gd name="connsiteX1" fmla="*/ 133350 w 419100"/>
                  <a:gd name="connsiteY1" fmla="*/ 0 h 196850"/>
                  <a:gd name="connsiteX2" fmla="*/ 406400 w 419100"/>
                  <a:gd name="connsiteY2" fmla="*/ 0 h 196850"/>
                  <a:gd name="connsiteX3" fmla="*/ 419100 w 419100"/>
                  <a:gd name="connsiteY3" fmla="*/ 196850 h 196850"/>
                  <a:gd name="connsiteX4" fmla="*/ 0 w 419100"/>
                  <a:gd name="connsiteY4" fmla="*/ 152400 h 196850"/>
                  <a:gd name="connsiteX5" fmla="*/ 50800 w 419100"/>
                  <a:gd name="connsiteY5" fmla="*/ 31750 h 196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9100" h="196850">
                    <a:moveTo>
                      <a:pt x="50800" y="31750"/>
                    </a:moveTo>
                    <a:lnTo>
                      <a:pt x="133350" y="0"/>
                    </a:lnTo>
                    <a:lnTo>
                      <a:pt x="406400" y="0"/>
                    </a:lnTo>
                    <a:lnTo>
                      <a:pt x="419100" y="196850"/>
                    </a:lnTo>
                    <a:lnTo>
                      <a:pt x="0" y="152400"/>
                    </a:lnTo>
                    <a:lnTo>
                      <a:pt x="50800" y="31750"/>
                    </a:lnTo>
                    <a:close/>
                  </a:path>
                </a:pathLst>
              </a:custGeom>
              <a:solidFill>
                <a:srgbClr val="5E85B0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4529F90-0D90-4D06-A22A-9BF6736AC066}"/>
                  </a:ext>
                </a:extLst>
              </p:cNvPr>
              <p:cNvSpPr txBox="1"/>
              <p:nvPr/>
            </p:nvSpPr>
            <p:spPr>
              <a:xfrm>
                <a:off x="4075288" y="3779761"/>
                <a:ext cx="821614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1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조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2,578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억원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CE70B62-55EB-473C-BA03-421B1681A667}"/>
                  </a:ext>
                </a:extLst>
              </p:cNvPr>
              <p:cNvSpPr txBox="1"/>
              <p:nvPr/>
            </p:nvSpPr>
            <p:spPr>
              <a:xfrm>
                <a:off x="2907242" y="4328077"/>
                <a:ext cx="664039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8,545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억원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9E0FC46-BD5A-44EE-96E2-24AA444130B9}"/>
                  </a:ext>
                </a:extLst>
              </p:cNvPr>
              <p:cNvSpPr txBox="1"/>
              <p:nvPr/>
            </p:nvSpPr>
            <p:spPr>
              <a:xfrm>
                <a:off x="1664187" y="4901827"/>
                <a:ext cx="664039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4,472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억원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5AC449D-63FD-4FAC-BC84-018DCA6B81B3}"/>
                  </a:ext>
                </a:extLst>
              </p:cNvPr>
              <p:cNvSpPr/>
              <p:nvPr/>
            </p:nvSpPr>
            <p:spPr>
              <a:xfrm>
                <a:off x="1848280" y="5567957"/>
                <a:ext cx="2796677" cy="151946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132AA46-7D78-4876-B8DC-07219A1BC210}"/>
                  </a:ext>
                </a:extLst>
              </p:cNvPr>
              <p:cNvSpPr txBox="1"/>
              <p:nvPr/>
            </p:nvSpPr>
            <p:spPr>
              <a:xfrm>
                <a:off x="1767645" y="5536491"/>
                <a:ext cx="457124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2023</a:t>
                </a:r>
                <a:endParaRPr lang="ko-KR" altLang="en-US" sz="8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F857B92-D8C9-4FA5-A64C-2A057E220F10}"/>
                  </a:ext>
                </a:extLst>
              </p:cNvPr>
              <p:cNvSpPr txBox="1"/>
              <p:nvPr/>
            </p:nvSpPr>
            <p:spPr>
              <a:xfrm>
                <a:off x="3032853" y="5536491"/>
                <a:ext cx="457124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2024</a:t>
                </a:r>
                <a:endParaRPr lang="ko-KR" altLang="en-US" sz="8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E9A77ED-F1D8-4FC7-808D-E37C404A7CA9}"/>
                  </a:ext>
                </a:extLst>
              </p:cNvPr>
              <p:cNvSpPr txBox="1"/>
              <p:nvPr/>
            </p:nvSpPr>
            <p:spPr>
              <a:xfrm>
                <a:off x="4270268" y="5536491"/>
                <a:ext cx="457124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2025</a:t>
                </a:r>
                <a:endParaRPr lang="ko-KR" altLang="en-US" sz="8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C42CBDA-FA6E-483F-A7ED-A9D5C8BDA779}"/>
                  </a:ext>
                </a:extLst>
              </p:cNvPr>
              <p:cNvSpPr/>
              <p:nvPr/>
            </p:nvSpPr>
            <p:spPr>
              <a:xfrm>
                <a:off x="4329379" y="3570236"/>
                <a:ext cx="335269" cy="116719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D129A4D-4056-4EBB-8790-4D787591974D}"/>
                  </a:ext>
                </a:extLst>
              </p:cNvPr>
              <p:cNvSpPr/>
              <p:nvPr/>
            </p:nvSpPr>
            <p:spPr>
              <a:xfrm>
                <a:off x="3104678" y="3738794"/>
                <a:ext cx="272766" cy="139088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075D39-1E77-4244-A163-8B99D040B560}"/>
                  </a:ext>
                </a:extLst>
              </p:cNvPr>
              <p:cNvSpPr txBox="1"/>
              <p:nvPr/>
            </p:nvSpPr>
            <p:spPr>
              <a:xfrm>
                <a:off x="4175340" y="3517506"/>
                <a:ext cx="643347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23,260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1B775FF-A5B9-4BE9-9C1E-81448A4F4AC7}"/>
                  </a:ext>
                </a:extLst>
              </p:cNvPr>
              <p:cNvSpPr txBox="1"/>
              <p:nvPr/>
            </p:nvSpPr>
            <p:spPr>
              <a:xfrm>
                <a:off x="2941649" y="3698945"/>
                <a:ext cx="643347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20,839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1B2856F-FCF3-43A9-B38A-287AF282279A}"/>
                  </a:ext>
                </a:extLst>
              </p:cNvPr>
              <p:cNvSpPr/>
              <p:nvPr/>
            </p:nvSpPr>
            <p:spPr>
              <a:xfrm>
                <a:off x="1850906" y="3933163"/>
                <a:ext cx="272766" cy="8271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3DE967D-3AFC-49E7-808F-C44ED34D584B}"/>
                  </a:ext>
                </a:extLst>
              </p:cNvPr>
              <p:cNvSpPr txBox="1"/>
              <p:nvPr/>
            </p:nvSpPr>
            <p:spPr>
              <a:xfrm>
                <a:off x="1674532" y="3855641"/>
                <a:ext cx="643347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18,902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129DE3E-630F-4541-AD0C-6DC0DD11F9A8}"/>
                </a:ext>
              </a:extLst>
            </p:cNvPr>
            <p:cNvSpPr txBox="1"/>
            <p:nvPr/>
          </p:nvSpPr>
          <p:spPr>
            <a:xfrm>
              <a:off x="1211043" y="2336922"/>
              <a:ext cx="464083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여전히 발생하고 있는 보이스피싱</a:t>
              </a:r>
              <a:r>
                <a:rPr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…</a:t>
              </a:r>
            </a:p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최근 </a:t>
              </a:r>
              <a:r>
                <a:rPr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3</a:t>
              </a:r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년간 보이스피싱 피해 수</a:t>
              </a:r>
              <a:r>
                <a:rPr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피해액 증가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8091484-B054-472B-9073-7E4ADF862D87}"/>
                </a:ext>
              </a:extLst>
            </p:cNvPr>
            <p:cNvSpPr txBox="1"/>
            <p:nvPr/>
          </p:nvSpPr>
          <p:spPr>
            <a:xfrm>
              <a:off x="6191101" y="2337865"/>
              <a:ext cx="4789856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ASAP </a:t>
              </a:r>
              <a:r>
                <a:rPr lang="ko-KR" altLang="en-US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출범 이후</a:t>
              </a: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, 25</a:t>
              </a:r>
              <a:r>
                <a:rPr lang="ko-KR" altLang="en-US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년 동기 대비 </a:t>
              </a: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26</a:t>
              </a:r>
              <a:r>
                <a:rPr lang="ko-KR" altLang="en-US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년 피해액 </a:t>
              </a: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53% </a:t>
              </a:r>
              <a:r>
                <a:rPr lang="ko-KR" altLang="en-US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감소</a:t>
              </a: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…</a:t>
              </a:r>
            </a:p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사회의 노력으로 눈에 띄게 줄어든 보이스피싱 피해</a:t>
              </a: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…</a:t>
              </a:r>
            </a:p>
            <a:p>
              <a:pPr marL="0" indent="0" algn="ctr">
                <a:buNone/>
              </a:pPr>
              <a:endParaRPr lang="en-US" altLang="ko-KR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그러나</a:t>
              </a: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, </a:t>
              </a:r>
              <a:r>
                <a:rPr lang="ko-KR" altLang="en-US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여전히 발생하고 있는 비극적 사건들</a:t>
              </a:r>
              <a:endParaRPr lang="en-US" altLang="ko-KR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endParaRPr>
            </a:p>
            <a:p>
              <a:pPr marL="0" indent="0" algn="ctr">
                <a:buNone/>
              </a:pPr>
              <a:r>
                <a: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…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4392955-62C2-4F31-9B89-F8F7DA1ABA23}"/>
                </a:ext>
              </a:extLst>
            </p:cNvPr>
            <p:cNvGrpSpPr/>
            <p:nvPr/>
          </p:nvGrpSpPr>
          <p:grpSpPr>
            <a:xfrm>
              <a:off x="6410371" y="3628557"/>
              <a:ext cx="4351316" cy="963203"/>
              <a:chOff x="6522760" y="3628258"/>
              <a:chExt cx="4351316" cy="963203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4253C18-8B24-4615-9F41-F80A70148FD5}"/>
                  </a:ext>
                </a:extLst>
              </p:cNvPr>
              <p:cNvSpPr txBox="1"/>
              <p:nvPr/>
            </p:nvSpPr>
            <p:spPr>
              <a:xfrm>
                <a:off x="6522760" y="3628258"/>
                <a:ext cx="4351316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ko-KR" sz="1050" b="1" i="0" dirty="0">
                    <a:solidFill>
                      <a:srgbClr val="222222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“</a:t>
                </a:r>
                <a:r>
                  <a:rPr lang="ko-KR" altLang="en-US" sz="1050" b="1" i="0" dirty="0">
                    <a:solidFill>
                      <a:srgbClr val="222222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보이스피싱 줄었다지만</a:t>
                </a:r>
                <a:r>
                  <a:rPr lang="en-US" altLang="ko-KR" sz="1050" b="1" i="0" dirty="0">
                    <a:solidFill>
                      <a:srgbClr val="222222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…5</a:t>
                </a:r>
                <a:r>
                  <a:rPr lang="ko-KR" altLang="en-US" sz="1050" b="1" i="0" dirty="0">
                    <a:solidFill>
                      <a:srgbClr val="222222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천만 원 피해에 </a:t>
                </a:r>
                <a:r>
                  <a:rPr lang="en-US" altLang="ko-KR" sz="1050" b="1" i="0" dirty="0">
                    <a:solidFill>
                      <a:srgbClr val="FF4B16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20</a:t>
                </a:r>
                <a:r>
                  <a:rPr lang="ko-KR" altLang="en-US" sz="1050" b="1" i="0" dirty="0">
                    <a:solidFill>
                      <a:srgbClr val="FF4B16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대 아들</a:t>
                </a:r>
                <a:r>
                  <a:rPr lang="en-US" altLang="ko-KR" sz="1050" b="1" i="0" dirty="0">
                    <a:solidFill>
                      <a:srgbClr val="FF4B16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lang="ko-KR" altLang="en-US" sz="1050" b="1" i="0" dirty="0">
                    <a:solidFill>
                      <a:srgbClr val="FF4B16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엄마와 함께 숨져</a:t>
                </a:r>
                <a:r>
                  <a:rPr lang="en-US" altLang="ko-KR" sz="1050" b="1" i="0" dirty="0">
                    <a:solidFill>
                      <a:srgbClr val="222222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”</a:t>
                </a:r>
                <a:endParaRPr lang="ko-KR" altLang="en-US" sz="105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1804E37-175A-49DF-A1AE-A8E99DC3BFD7}"/>
                  </a:ext>
                </a:extLst>
              </p:cNvPr>
              <p:cNvSpPr txBox="1"/>
              <p:nvPr/>
            </p:nvSpPr>
            <p:spPr>
              <a:xfrm>
                <a:off x="6659400" y="3979054"/>
                <a:ext cx="4049326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“</a:t>
                </a:r>
                <a:r>
                  <a:rPr lang="ko-KR" altLang="en-US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보이스피싱 피해 비관 </a:t>
                </a:r>
                <a:r>
                  <a:rPr lang="ko-KR" altLang="en-US" sz="1050" b="1" i="0" dirty="0">
                    <a:solidFill>
                      <a:srgbClr val="FF4B16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부부 극단선택</a:t>
                </a:r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…</a:t>
                </a:r>
                <a:r>
                  <a:rPr lang="ko-KR" altLang="en-US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홀로 산 남편 자살방조 처벌</a:t>
                </a:r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”</a:t>
                </a:r>
                <a:endParaRPr lang="ko-KR" altLang="en-US" sz="1050" i="0" dirty="0">
                  <a:effectLst/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5293354-2278-488F-89E1-11BB4375AF62}"/>
                  </a:ext>
                </a:extLst>
              </p:cNvPr>
              <p:cNvSpPr txBox="1"/>
              <p:nvPr/>
            </p:nvSpPr>
            <p:spPr>
              <a:xfrm>
                <a:off x="6713037" y="4329851"/>
                <a:ext cx="3942053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“</a:t>
                </a:r>
                <a:r>
                  <a:rPr lang="ko-KR" altLang="en-US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보이스피싱에 속아 </a:t>
                </a:r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</a:t>
                </a:r>
                <a:r>
                  <a:rPr lang="ko-KR" altLang="en-US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억원 잃은 </a:t>
                </a:r>
                <a:r>
                  <a:rPr lang="ko-KR" altLang="en-US" sz="1050" b="1" i="0" dirty="0">
                    <a:solidFill>
                      <a:srgbClr val="FF4B16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피해자 생 마감</a:t>
                </a:r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…</a:t>
                </a:r>
                <a:r>
                  <a:rPr lang="ko-KR" altLang="en-US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인출책 징역 </a:t>
                </a:r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</a:t>
                </a:r>
                <a:r>
                  <a:rPr lang="ko-KR" altLang="en-US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년</a:t>
                </a:r>
                <a:r>
                  <a:rPr lang="en-US" altLang="ko-KR" sz="1050" b="1" i="0" dirty="0"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”</a:t>
                </a:r>
                <a:endParaRPr lang="ko-KR" altLang="en-US" sz="1050" i="0" dirty="0">
                  <a:effectLst/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8648D27-D659-4872-A6D6-956992D62318}"/>
                </a:ext>
              </a:extLst>
            </p:cNvPr>
            <p:cNvGrpSpPr/>
            <p:nvPr/>
          </p:nvGrpSpPr>
          <p:grpSpPr>
            <a:xfrm>
              <a:off x="7108968" y="4822105"/>
              <a:ext cx="3038792" cy="612284"/>
              <a:chOff x="7249592" y="4848383"/>
              <a:chExt cx="3038792" cy="612284"/>
            </a:xfrm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21767CAF-0E74-4E26-93E7-9DACE1C609C6}"/>
                  </a:ext>
                </a:extLst>
              </p:cNvPr>
              <p:cNvSpPr/>
              <p:nvPr/>
            </p:nvSpPr>
            <p:spPr>
              <a:xfrm>
                <a:off x="8261407" y="4848383"/>
                <a:ext cx="439227" cy="597490"/>
              </a:xfrm>
              <a:custGeom>
                <a:avLst/>
                <a:gdLst>
                  <a:gd name="connsiteX0" fmla="*/ 210311 w 439227"/>
                  <a:gd name="connsiteY0" fmla="*/ 0 h 597490"/>
                  <a:gd name="connsiteX1" fmla="*/ 228915 w 439227"/>
                  <a:gd name="connsiteY1" fmla="*/ 0 h 597490"/>
                  <a:gd name="connsiteX2" fmla="*/ 359394 w 439227"/>
                  <a:gd name="connsiteY2" fmla="*/ 130479 h 597490"/>
                  <a:gd name="connsiteX3" fmla="*/ 321178 w 439227"/>
                  <a:gd name="connsiteY3" fmla="*/ 222742 h 597490"/>
                  <a:gd name="connsiteX4" fmla="*/ 320008 w 439227"/>
                  <a:gd name="connsiteY4" fmla="*/ 223530 h 597490"/>
                  <a:gd name="connsiteX5" fmla="*/ 361875 w 439227"/>
                  <a:gd name="connsiteY5" fmla="*/ 231983 h 597490"/>
                  <a:gd name="connsiteX6" fmla="*/ 439227 w 439227"/>
                  <a:gd name="connsiteY6" fmla="*/ 348680 h 597490"/>
                  <a:gd name="connsiteX7" fmla="*/ 439227 w 439227"/>
                  <a:gd name="connsiteY7" fmla="*/ 597490 h 597490"/>
                  <a:gd name="connsiteX8" fmla="*/ 0 w 439227"/>
                  <a:gd name="connsiteY8" fmla="*/ 597490 h 597490"/>
                  <a:gd name="connsiteX9" fmla="*/ 0 w 439227"/>
                  <a:gd name="connsiteY9" fmla="*/ 348680 h 597490"/>
                  <a:gd name="connsiteX10" fmla="*/ 77352 w 439227"/>
                  <a:gd name="connsiteY10" fmla="*/ 231983 h 597490"/>
                  <a:gd name="connsiteX11" fmla="*/ 119218 w 439227"/>
                  <a:gd name="connsiteY11" fmla="*/ 223531 h 597490"/>
                  <a:gd name="connsiteX12" fmla="*/ 118049 w 439227"/>
                  <a:gd name="connsiteY12" fmla="*/ 222742 h 597490"/>
                  <a:gd name="connsiteX13" fmla="*/ 79832 w 439227"/>
                  <a:gd name="connsiteY13" fmla="*/ 130479 h 597490"/>
                  <a:gd name="connsiteX14" fmla="*/ 210311 w 439227"/>
                  <a:gd name="connsiteY14" fmla="*/ 0 h 597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39227" h="597490">
                    <a:moveTo>
                      <a:pt x="210311" y="0"/>
                    </a:moveTo>
                    <a:lnTo>
                      <a:pt x="228915" y="0"/>
                    </a:lnTo>
                    <a:cubicBezTo>
                      <a:pt x="300977" y="0"/>
                      <a:pt x="359394" y="58417"/>
                      <a:pt x="359394" y="130479"/>
                    </a:cubicBezTo>
                    <a:cubicBezTo>
                      <a:pt x="359394" y="166510"/>
                      <a:pt x="344790" y="199130"/>
                      <a:pt x="321178" y="222742"/>
                    </a:cubicBezTo>
                    <a:lnTo>
                      <a:pt x="320008" y="223530"/>
                    </a:lnTo>
                    <a:lnTo>
                      <a:pt x="361875" y="231983"/>
                    </a:lnTo>
                    <a:cubicBezTo>
                      <a:pt x="407332" y="251209"/>
                      <a:pt x="439227" y="296220"/>
                      <a:pt x="439227" y="348680"/>
                    </a:cubicBezTo>
                    <a:lnTo>
                      <a:pt x="439227" y="597490"/>
                    </a:lnTo>
                    <a:lnTo>
                      <a:pt x="0" y="597490"/>
                    </a:lnTo>
                    <a:lnTo>
                      <a:pt x="0" y="348680"/>
                    </a:lnTo>
                    <a:cubicBezTo>
                      <a:pt x="0" y="296220"/>
                      <a:pt x="31895" y="251209"/>
                      <a:pt x="77352" y="231983"/>
                    </a:cubicBezTo>
                    <a:lnTo>
                      <a:pt x="119218" y="223531"/>
                    </a:lnTo>
                    <a:lnTo>
                      <a:pt x="118049" y="222742"/>
                    </a:lnTo>
                    <a:cubicBezTo>
                      <a:pt x="94437" y="199130"/>
                      <a:pt x="79832" y="166510"/>
                      <a:pt x="79832" y="130479"/>
                    </a:cubicBezTo>
                    <a:cubicBezTo>
                      <a:pt x="79832" y="58417"/>
                      <a:pt x="138249" y="0"/>
                      <a:pt x="210311" y="0"/>
                    </a:cubicBezTo>
                    <a:close/>
                  </a:path>
                </a:pathLst>
              </a:custGeom>
              <a:solidFill>
                <a:srgbClr val="49A8FF"/>
              </a:solidFill>
              <a:ln w="19050">
                <a:solidFill>
                  <a:schemeClr val="bg1"/>
                </a:solidFill>
                <a:prstDash val="solid"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6054FC-42F8-4E05-8864-E15F8D597954}"/>
                  </a:ext>
                </a:extLst>
              </p:cNvPr>
              <p:cNvSpPr txBox="1"/>
              <p:nvPr/>
            </p:nvSpPr>
            <p:spPr>
              <a:xfrm>
                <a:off x="7249592" y="5245223"/>
                <a:ext cx="101181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ko-KR" altLang="en-US" sz="8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사회가 지켜낸 </a:t>
                </a:r>
                <a:r>
                  <a:rPr lang="en-US" altLang="ko-KR" sz="800" dirty="0">
                    <a:solidFill>
                      <a:srgbClr val="49A8FF"/>
                    </a:solidFill>
                    <a:latin typeface="페이퍼로지 9 Black" pitchFamily="2" charset="-127"/>
                    <a:ea typeface="페이퍼로지 9 Black" pitchFamily="2" charset="-127"/>
                  </a:rPr>
                  <a:t>53%</a:t>
                </a:r>
                <a:endParaRPr lang="ko-KR" altLang="en-US" sz="800" dirty="0">
                  <a:solidFill>
                    <a:srgbClr val="49A8FF"/>
                  </a:solidFill>
                  <a:latin typeface="페이퍼로지 9 Black" pitchFamily="2" charset="-127"/>
                  <a:ea typeface="페이퍼로지 9 Black" pitchFamily="2" charset="-127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48ECB64-EE12-4659-BDBB-E56510468378}"/>
                  </a:ext>
                </a:extLst>
              </p:cNvPr>
              <p:cNvSpPr txBox="1"/>
              <p:nvPr/>
            </p:nvSpPr>
            <p:spPr>
              <a:xfrm>
                <a:off x="9183594" y="5149390"/>
                <a:ext cx="11047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그렇지 못한 </a:t>
                </a:r>
                <a:r>
                  <a:rPr lang="en-US" altLang="ko-KR" sz="1400" dirty="0">
                    <a:solidFill>
                      <a:srgbClr val="FF4B16"/>
                    </a:solidFill>
                    <a:latin typeface="페이퍼로지 9 Black" pitchFamily="2" charset="-127"/>
                    <a:ea typeface="페이퍼로지 9 Black" pitchFamily="2" charset="-127"/>
                  </a:rPr>
                  <a:t>47%</a:t>
                </a:r>
                <a:endParaRPr lang="ko-KR" altLang="en-US" sz="1400" dirty="0">
                  <a:solidFill>
                    <a:srgbClr val="FF4B16"/>
                  </a:solidFill>
                  <a:latin typeface="페이퍼로지 9 Black" pitchFamily="2" charset="-127"/>
                  <a:ea typeface="페이퍼로지 9 Black" pitchFamily="2" charset="-127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5CBD0AEA-4FBC-4668-AF87-53614FA0F902}"/>
                  </a:ext>
                </a:extLst>
              </p:cNvPr>
              <p:cNvSpPr/>
              <p:nvPr/>
            </p:nvSpPr>
            <p:spPr>
              <a:xfrm rot="5400000">
                <a:off x="8609625" y="5248233"/>
                <a:ext cx="347541" cy="47740"/>
              </a:xfrm>
              <a:custGeom>
                <a:avLst/>
                <a:gdLst>
                  <a:gd name="connsiteX0" fmla="*/ 0 w 347541"/>
                  <a:gd name="connsiteY0" fmla="*/ 0 h 47740"/>
                  <a:gd name="connsiteX1" fmla="*/ 347541 w 347541"/>
                  <a:gd name="connsiteY1" fmla="*/ 0 h 47740"/>
                  <a:gd name="connsiteX2" fmla="*/ 347541 w 347541"/>
                  <a:gd name="connsiteY2" fmla="*/ 47740 h 47740"/>
                  <a:gd name="connsiteX3" fmla="*/ 98731 w 347541"/>
                  <a:gd name="connsiteY3" fmla="*/ 47740 h 47740"/>
                  <a:gd name="connsiteX4" fmla="*/ 1002 w 347541"/>
                  <a:gd name="connsiteY4" fmla="*/ 1651 h 47740"/>
                  <a:gd name="connsiteX5" fmla="*/ 0 w 347541"/>
                  <a:gd name="connsiteY5" fmla="*/ 0 h 47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7541" h="47740">
                    <a:moveTo>
                      <a:pt x="0" y="0"/>
                    </a:moveTo>
                    <a:lnTo>
                      <a:pt x="347541" y="0"/>
                    </a:lnTo>
                    <a:lnTo>
                      <a:pt x="347541" y="47740"/>
                    </a:lnTo>
                    <a:lnTo>
                      <a:pt x="98731" y="47740"/>
                    </a:lnTo>
                    <a:cubicBezTo>
                      <a:pt x="59386" y="47740"/>
                      <a:pt x="24231" y="29799"/>
                      <a:pt x="1002" y="165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9A8FF"/>
              </a:solidFill>
              <a:ln w="19050">
                <a:solidFill>
                  <a:schemeClr val="bg1"/>
                </a:solidFill>
                <a:prstDash val="solid"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206B044A-613C-4822-9C20-32DD858C8127}"/>
                  </a:ext>
                </a:extLst>
              </p:cNvPr>
              <p:cNvSpPr/>
              <p:nvPr/>
            </p:nvSpPr>
            <p:spPr>
              <a:xfrm rot="5400000">
                <a:off x="8704264" y="4951385"/>
                <a:ext cx="597490" cy="391488"/>
              </a:xfrm>
              <a:custGeom>
                <a:avLst/>
                <a:gdLst>
                  <a:gd name="connsiteX0" fmla="*/ 0 w 597490"/>
                  <a:gd name="connsiteY0" fmla="*/ 228916 h 391488"/>
                  <a:gd name="connsiteX1" fmla="*/ 0 w 597490"/>
                  <a:gd name="connsiteY1" fmla="*/ 210312 h 391488"/>
                  <a:gd name="connsiteX2" fmla="*/ 130479 w 597490"/>
                  <a:gd name="connsiteY2" fmla="*/ 79833 h 391488"/>
                  <a:gd name="connsiteX3" fmla="*/ 222742 w 597490"/>
                  <a:gd name="connsiteY3" fmla="*/ 118049 h 391488"/>
                  <a:gd name="connsiteX4" fmla="*/ 223530 w 597490"/>
                  <a:gd name="connsiteY4" fmla="*/ 119219 h 391488"/>
                  <a:gd name="connsiteX5" fmla="*/ 231983 w 597490"/>
                  <a:gd name="connsiteY5" fmla="*/ 77352 h 391488"/>
                  <a:gd name="connsiteX6" fmla="*/ 348680 w 597490"/>
                  <a:gd name="connsiteY6" fmla="*/ 0 h 391488"/>
                  <a:gd name="connsiteX7" fmla="*/ 597490 w 597490"/>
                  <a:gd name="connsiteY7" fmla="*/ 0 h 391488"/>
                  <a:gd name="connsiteX8" fmla="*/ 597490 w 597490"/>
                  <a:gd name="connsiteY8" fmla="*/ 391488 h 391488"/>
                  <a:gd name="connsiteX9" fmla="*/ 249949 w 597490"/>
                  <a:gd name="connsiteY9" fmla="*/ 391488 h 391488"/>
                  <a:gd name="connsiteX10" fmla="*/ 231983 w 597490"/>
                  <a:gd name="connsiteY10" fmla="*/ 361875 h 391488"/>
                  <a:gd name="connsiteX11" fmla="*/ 223531 w 597490"/>
                  <a:gd name="connsiteY11" fmla="*/ 320009 h 391488"/>
                  <a:gd name="connsiteX12" fmla="*/ 222742 w 597490"/>
                  <a:gd name="connsiteY12" fmla="*/ 321179 h 391488"/>
                  <a:gd name="connsiteX13" fmla="*/ 130479 w 597490"/>
                  <a:gd name="connsiteY13" fmla="*/ 359395 h 391488"/>
                  <a:gd name="connsiteX14" fmla="*/ 0 w 597490"/>
                  <a:gd name="connsiteY14" fmla="*/ 228916 h 391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97490" h="391488">
                    <a:moveTo>
                      <a:pt x="0" y="228916"/>
                    </a:moveTo>
                    <a:lnTo>
                      <a:pt x="0" y="210312"/>
                    </a:lnTo>
                    <a:cubicBezTo>
                      <a:pt x="0" y="138250"/>
                      <a:pt x="58417" y="79833"/>
                      <a:pt x="130479" y="79833"/>
                    </a:cubicBezTo>
                    <a:cubicBezTo>
                      <a:pt x="166510" y="79833"/>
                      <a:pt x="199130" y="94437"/>
                      <a:pt x="222742" y="118049"/>
                    </a:cubicBezTo>
                    <a:lnTo>
                      <a:pt x="223530" y="119219"/>
                    </a:lnTo>
                    <a:lnTo>
                      <a:pt x="231983" y="77352"/>
                    </a:lnTo>
                    <a:cubicBezTo>
                      <a:pt x="251209" y="31895"/>
                      <a:pt x="296220" y="0"/>
                      <a:pt x="348680" y="0"/>
                    </a:cubicBezTo>
                    <a:lnTo>
                      <a:pt x="597490" y="0"/>
                    </a:lnTo>
                    <a:lnTo>
                      <a:pt x="597490" y="391488"/>
                    </a:lnTo>
                    <a:lnTo>
                      <a:pt x="249949" y="391488"/>
                    </a:lnTo>
                    <a:lnTo>
                      <a:pt x="231983" y="361875"/>
                    </a:lnTo>
                    <a:lnTo>
                      <a:pt x="223531" y="320009"/>
                    </a:lnTo>
                    <a:lnTo>
                      <a:pt x="222742" y="321179"/>
                    </a:lnTo>
                    <a:cubicBezTo>
                      <a:pt x="199130" y="344791"/>
                      <a:pt x="166510" y="359395"/>
                      <a:pt x="130479" y="359395"/>
                    </a:cubicBezTo>
                    <a:cubicBezTo>
                      <a:pt x="58417" y="359395"/>
                      <a:pt x="0" y="300978"/>
                      <a:pt x="0" y="228916"/>
                    </a:cubicBezTo>
                    <a:close/>
                  </a:path>
                </a:pathLst>
              </a:custGeom>
              <a:solidFill>
                <a:srgbClr val="FF4B16"/>
              </a:solidFill>
              <a:ln w="19050">
                <a:solidFill>
                  <a:schemeClr val="bg1"/>
                </a:solidFill>
                <a:prstDash val="solid"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5" name="Shape 8">
            <a:extLst>
              <a:ext uri="{FF2B5EF4-FFF2-40B4-BE49-F238E27FC236}">
                <a16:creationId xmlns:a16="http://schemas.microsoft.com/office/drawing/2014/main" id="{68C2BA43-A16F-4F66-A537-7730674DF8FA}"/>
              </a:ext>
            </a:extLst>
          </p:cNvPr>
          <p:cNvSpPr/>
          <p:nvPr/>
        </p:nvSpPr>
        <p:spPr>
          <a:xfrm>
            <a:off x="2752976" y="5695101"/>
            <a:ext cx="6686048" cy="488848"/>
          </a:xfrm>
          <a:prstGeom prst="roundRect">
            <a:avLst>
              <a:gd name="adj" fmla="val 22222"/>
            </a:avLst>
          </a:prstGeom>
          <a:solidFill>
            <a:srgbClr val="123153"/>
          </a:solidFill>
          <a:ln w="10160">
            <a:solidFill>
              <a:srgbClr val="274F78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기존 안전장치에서 지키지 못한 </a:t>
            </a:r>
            <a:r>
              <a:rPr lang="en-US" altLang="ko-KR" sz="1400" b="1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47%</a:t>
            </a:r>
            <a:r>
              <a:rPr lang="en-US" altLang="ko-KR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...</a:t>
            </a:r>
            <a:r>
              <a:rPr lang="ko-KR" altLang="en-US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 우리가</a:t>
            </a:r>
            <a:r>
              <a:rPr lang="en-US" altLang="ko-KR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 </a:t>
            </a:r>
            <a:r>
              <a:rPr lang="ko-KR" altLang="en-US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놓치고 있는 </a:t>
            </a:r>
            <a:r>
              <a:rPr lang="en-US" altLang="ko-KR" sz="1400" b="1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[</a:t>
            </a:r>
            <a:r>
              <a:rPr lang="ko-KR" altLang="en-US" sz="1400" b="1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빈틈</a:t>
            </a:r>
            <a:r>
              <a:rPr lang="en-US" altLang="ko-KR" sz="1400" b="1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]</a:t>
            </a:r>
            <a:r>
              <a:rPr lang="ko-KR" altLang="en-US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이 있는게 아닐까</a:t>
            </a:r>
            <a:r>
              <a:rPr lang="en-US" altLang="ko-KR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?</a:t>
            </a: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821E1794-6BFA-400B-A00B-DC2A21C61F47}"/>
              </a:ext>
            </a:extLst>
          </p:cNvPr>
          <p:cNvSpPr txBox="1"/>
          <p:nvPr/>
        </p:nvSpPr>
        <p:spPr>
          <a:xfrm>
            <a:off x="547516" y="6501384"/>
            <a:ext cx="6340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*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공공데이터포털 경찰청 보이스피싱 현황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2025.12.30 / 7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월 보이스피싱 피해액 올해 최저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신종 스캠도 감소세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통합대응단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013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325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빈틈 분석 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피해자를 가르는 것은 연령이 아니라, 취약요인의 조합이다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성인 2,000명 실증연구는 금융사기 취약성이 하나의 능력이나 한 세대로 설명되지 않는다는 점을 보여준다.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865376"/>
            <a:ext cx="2788920" cy="361188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176272"/>
            <a:ext cx="22402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A3CFFF"/>
                </a:solidFill>
                <a:latin typeface="페이퍼로지 7 Bold"/>
              </a:rPr>
              <a:t>실증연구 표본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514600"/>
            <a:ext cx="224028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페이퍼로지 7 Bold"/>
              </a:rPr>
              <a:t>2,000명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163824"/>
            <a:ext cx="2212848" cy="5852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페이퍼로지 4 Regular"/>
              </a:rPr>
              <a:t>한국금융소비자보호재단
성인 설문자료 분석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8" y="3950208"/>
            <a:ext cx="2221992" cy="0"/>
          </a:xfrm>
          <a:prstGeom prst="line">
            <a:avLst/>
          </a:prstGeom>
          <a:ln w="12700">
            <a:solidFill>
              <a:srgbClr val="3E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4123944"/>
            <a:ext cx="2212848" cy="8778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7E6F8"/>
                </a:solidFill>
                <a:latin typeface="페이퍼로지 7 Bold"/>
              </a:rPr>
              <a:t>핵심 결론
“취약성은 단일 요인이 아니라
서로 다른 개인·상황 요인의 조합”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5138928"/>
            <a:ext cx="1143000" cy="237744"/>
          </a:xfrm>
          <a:prstGeom prst="roundRect">
            <a:avLst>
              <a:gd name="adj" fmla="val 8000"/>
            </a:avLst>
          </a:prstGeom>
          <a:solidFill>
            <a:srgbClr val="E9F9F4"/>
          </a:solidFill>
          <a:ln w="1016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138928"/>
            <a:ext cx="11430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1D9173"/>
                </a:solidFill>
                <a:latin typeface="페이퍼로지 7 Bold"/>
              </a:rPr>
              <a:t>[S1] 직접 실증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1874519"/>
            <a:ext cx="3456432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813048" y="2075688"/>
            <a:ext cx="384048" cy="38404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13048" y="2075688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2048255"/>
            <a:ext cx="246888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0B2242"/>
                </a:solidFill>
                <a:latin typeface="페이퍼로지 7 Bold"/>
              </a:rPr>
              <a:t>정서적 고통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2450591"/>
            <a:ext cx="2487168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697D98"/>
                </a:solidFill>
                <a:latin typeface="페이퍼로지 4 Regular"/>
              </a:rPr>
              <a:t>불안·우울·불면 등으로
판단 자원이 줄어든 상태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24927" y="1874519"/>
            <a:ext cx="3456432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626096" y="2075688"/>
            <a:ext cx="384048" cy="384048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26096" y="2075688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2048255"/>
            <a:ext cx="246888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0B2242"/>
                </a:solidFill>
                <a:latin typeface="페이퍼로지 7 Bold"/>
              </a:rPr>
              <a:t>일상 금융역량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2450591"/>
            <a:ext cx="2487168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697D98"/>
                </a:solidFill>
                <a:latin typeface="페이퍼로지 4 Regular"/>
              </a:rPr>
              <a:t>생활 속 금융정보를
이해·적용하는 역량의 공백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3730752"/>
            <a:ext cx="3456432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813048" y="3931920"/>
            <a:ext cx="384048" cy="384048"/>
          </a:xfrm>
          <a:prstGeom prst="ellipse">
            <a:avLst/>
          </a:prstGeom>
          <a:solidFill>
            <a:srgbClr val="FFF8E3"/>
          </a:solidFill>
          <a:ln w="1270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13048" y="393192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E19D14"/>
                </a:solidFill>
                <a:latin typeface="페이퍼로지 7 Bold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5112" y="3904488"/>
            <a:ext cx="246888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0B2242"/>
                </a:solidFill>
                <a:latin typeface="페이퍼로지 7 Bold"/>
              </a:rPr>
              <a:t>불안정한 소득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5112" y="4306824"/>
            <a:ext cx="2487168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697D98"/>
                </a:solidFill>
                <a:latin typeface="페이퍼로지 4 Regular"/>
              </a:rPr>
              <a:t>경제적 불확실성이
사기 시도 노출과 결합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24927" y="3730752"/>
            <a:ext cx="3456432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626096" y="3931920"/>
            <a:ext cx="384048" cy="384048"/>
          </a:xfrm>
          <a:prstGeom prst="ellipse">
            <a:avLst/>
          </a:prstGeom>
          <a:solidFill>
            <a:srgbClr val="E9F9F4"/>
          </a:solidFill>
          <a:ln w="1270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26096" y="393192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D9173"/>
                </a:solidFill>
                <a:latin typeface="페이퍼로지 7 Bold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59" y="3904488"/>
            <a:ext cx="246888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0B2242"/>
                </a:solidFill>
                <a:latin typeface="페이퍼로지 7 Bold"/>
              </a:rPr>
              <a:t>자기지식 과신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59" y="4306824"/>
            <a:ext cx="2487168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697D98"/>
                </a:solidFill>
                <a:latin typeface="페이퍼로지 4 Regular"/>
              </a:rPr>
              <a:t>“나는 구별할 수 있다”는
믿음이 재확인을 줄일 수 있음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11880" y="5468112"/>
            <a:ext cx="7269480" cy="62179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40480" y="5596128"/>
            <a:ext cx="6821424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2B67FF"/>
                </a:solidFill>
                <a:latin typeface="페이퍼로지 7 Bold"/>
              </a:rPr>
              <a:t>핵심  |  </a:t>
            </a:r>
            <a:r>
              <a:rPr sz="1000" b="0">
                <a:solidFill>
                  <a:srgbClr val="1B3150"/>
                </a:solidFill>
                <a:latin typeface="페이퍼로지 4 Regular"/>
              </a:rPr>
              <a:t>누가 취약한가보다, </a:t>
            </a:r>
            <a:r>
              <a:rPr sz="1000" b="1">
                <a:solidFill>
                  <a:srgbClr val="0B2242"/>
                </a:solidFill>
                <a:latin typeface="페이퍼로지 7 Bold"/>
              </a:rPr>
              <a:t>어떤 상태에서 독립적인 검증이 약해지는가</a:t>
            </a:r>
            <a:r>
              <a:rPr sz="1000" b="0">
                <a:solidFill>
                  <a:srgbClr val="1B3150"/>
                </a:solidFill>
                <a:latin typeface="페이퍼로지 4 Regular"/>
              </a:rPr>
              <a:t>를 봐야 한다.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출처: [S1] 한진수(2024), 「왜 어떤 사람은 금융사기에 더 취약한가?」 시민교육연구 56(1), 성인 2,000명 설문자료 분석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325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빈틈 분석 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세대마다 취약성이 나타나는 ‘대표 맥락’은 다르다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연령을 원인으로 단정하지 않고, 경험·과신·디지털 검증 환경이 나타날 수 있는 대표적 상황으로만 해석한다.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856231"/>
            <a:ext cx="3255264" cy="3493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048256"/>
            <a:ext cx="276148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>
                <a:solidFill>
                  <a:srgbClr val="0B2242"/>
                </a:solidFill>
                <a:latin typeface="페이퍼로지 7 Bold"/>
              </a:rPr>
              <a:t>2030 · 사회초년생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2432304"/>
            <a:ext cx="1325880" cy="27432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2432304"/>
            <a:ext cx="13258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판단 기준의 공백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852928"/>
            <a:ext cx="2761488" cy="8778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B3150"/>
                </a:solidFill>
                <a:latin typeface="페이퍼로지 7 Bold"/>
              </a:rPr>
              <a:t>낯선 금융·행정 상황에서
무엇이 정상 절차인지 비교할
기준점이 충분하지 않을 수 있음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6384" y="3840480"/>
            <a:ext cx="2779776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6384" y="4005072"/>
            <a:ext cx="7315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67FF"/>
                </a:solidFill>
                <a:latin typeface="페이퍼로지 7 Bold"/>
              </a:rPr>
              <a:t>근거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279392"/>
            <a:ext cx="2743200" cy="676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2024 전국민 금융이해력 조사에서
20대는 금융행위 영역이 상대적으로 취약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4974336"/>
            <a:ext cx="1024128" cy="237744"/>
          </a:xfrm>
          <a:prstGeom prst="roundRect">
            <a:avLst>
              <a:gd name="adj" fmla="val 8000"/>
            </a:avLst>
          </a:prstGeom>
          <a:solidFill>
            <a:srgbClr val="FFF8E3"/>
          </a:solidFill>
          <a:ln w="1016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51176" y="4974336"/>
            <a:ext cx="1024128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E19D14"/>
                </a:solidFill>
                <a:latin typeface="페이퍼로지 7 Bold"/>
              </a:rPr>
              <a:t>보조근거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33087" y="1856231"/>
            <a:ext cx="3255264" cy="3493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52544" y="2048256"/>
            <a:ext cx="276148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>
                <a:solidFill>
                  <a:srgbClr val="0B2242"/>
                </a:solidFill>
                <a:latin typeface="페이퍼로지 7 Bold"/>
              </a:rPr>
              <a:t>304050 · 활발한 금융소비자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2432304"/>
            <a:ext cx="1325880" cy="27432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52544" y="2432304"/>
            <a:ext cx="13258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자기판단 과신의 공백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2544" y="2852928"/>
            <a:ext cx="2761488" cy="8778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B3150"/>
                </a:solidFill>
                <a:latin typeface="페이퍼로지 7 Bold"/>
              </a:rPr>
              <a:t>금융 경험과 지식이 있어도
“나는 구별할 수 있다”는 확신이
재확인 행동을 줄일 수 있음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52544" y="3840480"/>
            <a:ext cx="2779775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52544" y="4005072"/>
            <a:ext cx="7315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67FF"/>
                </a:solidFill>
                <a:latin typeface="페이퍼로지 7 Bold"/>
              </a:rPr>
              <a:t>근거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52544" y="4279392"/>
            <a:ext cx="2743200" cy="676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성인 2,000명 분석에서
매우 높은 자기평가 집단의 피해확률이 더 높음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7336" y="4974336"/>
            <a:ext cx="1024128" cy="237744"/>
          </a:xfrm>
          <a:prstGeom prst="roundRect">
            <a:avLst>
              <a:gd name="adj" fmla="val 8000"/>
            </a:avLst>
          </a:prstGeom>
          <a:solidFill>
            <a:srgbClr val="E9F9F4"/>
          </a:solidFill>
          <a:ln w="1016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17336" y="4974336"/>
            <a:ext cx="1024128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1D9173"/>
                </a:solidFill>
                <a:latin typeface="페이퍼로지 7 Bold"/>
              </a:rPr>
              <a:t>직접근거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9248" y="1856231"/>
            <a:ext cx="3255264" cy="3493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18704" y="2048256"/>
            <a:ext cx="276148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>
                <a:solidFill>
                  <a:srgbClr val="0B2242"/>
                </a:solidFill>
                <a:latin typeface="페이퍼로지 7 Bold"/>
              </a:rPr>
              <a:t>60대+ · 고령층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18704" y="2432304"/>
            <a:ext cx="1325880" cy="27432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18704" y="2432304"/>
            <a:ext cx="13258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정보 검증의 공백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8704" y="2852928"/>
            <a:ext cx="2761488" cy="8778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B3150"/>
                </a:solidFill>
                <a:latin typeface="페이퍼로지 7 Bold"/>
              </a:rPr>
              <a:t>디지털 정보를 즉시 탐색·비교하고
공식 채널과 교차확인하는 과정이
더 큰 부담이 될 수 있음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918704" y="3840480"/>
            <a:ext cx="2779776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918704" y="4005072"/>
            <a:ext cx="7315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67FF"/>
                </a:solidFill>
                <a:latin typeface="페이퍼로지 7 Bold"/>
              </a:rPr>
              <a:t>근거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4279392"/>
            <a:ext cx="2743200" cy="676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고령층 디지털역량은 연령별 유의한 차이,
75세 이후 기술·인지·사회 역량이 급격히 감소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83496" y="4974336"/>
            <a:ext cx="1024128" cy="237744"/>
          </a:xfrm>
          <a:prstGeom prst="roundRect">
            <a:avLst>
              <a:gd name="adj" fmla="val 8000"/>
            </a:avLst>
          </a:prstGeom>
          <a:solidFill>
            <a:srgbClr val="E9F9F4"/>
          </a:solidFill>
          <a:ln w="1016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83496" y="4974336"/>
            <a:ext cx="1024128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1D9173"/>
                </a:solidFill>
                <a:latin typeface="페이퍼로지 7 Bold"/>
              </a:rPr>
              <a:t>직접근거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194560" y="5358384"/>
            <a:ext cx="0" cy="201168"/>
          </a:xfrm>
          <a:prstGeom prst="line">
            <a:avLst/>
          </a:prstGeom>
          <a:ln w="1651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760720" y="5358384"/>
            <a:ext cx="0" cy="201168"/>
          </a:xfrm>
          <a:prstGeom prst="line">
            <a:avLst/>
          </a:prstGeom>
          <a:ln w="1651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326880" y="5358384"/>
            <a:ext cx="0" cy="201168"/>
          </a:xfrm>
          <a:prstGeom prst="line">
            <a:avLst/>
          </a:prstGeom>
          <a:ln w="1651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194560" y="5559552"/>
            <a:ext cx="7132320" cy="0"/>
          </a:xfrm>
          <a:prstGeom prst="line">
            <a:avLst/>
          </a:prstGeom>
          <a:ln w="1651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760720" y="5559552"/>
            <a:ext cx="0" cy="182880"/>
          </a:xfrm>
          <a:prstGeom prst="line">
            <a:avLst/>
          </a:prstGeom>
          <a:ln w="2286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143000" y="5733288"/>
            <a:ext cx="9235440" cy="48463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463040" y="5824728"/>
            <a:ext cx="8595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FCDFF"/>
                </a:solidFill>
                <a:latin typeface="페이퍼로지 7 Bold"/>
              </a:rPr>
              <a:t>공통 결과  |  </a:t>
            </a:r>
            <a:r>
              <a:rPr sz="1000" b="0">
                <a:solidFill>
                  <a:srgbClr val="FFFFFF"/>
                </a:solidFill>
                <a:latin typeface="페이퍼로지 4 Regular"/>
              </a:rPr>
              <a:t>서로 다른 이유로 </a:t>
            </a:r>
            <a:r>
              <a:rPr sz="1000" b="1">
                <a:solidFill>
                  <a:srgbClr val="FFFFFF"/>
                </a:solidFill>
                <a:latin typeface="페이퍼로지 7 Bold"/>
              </a:rPr>
              <a:t>“지금 이 상황이 진짜인지” 독립적으로 검증하기 어려운 순간</a:t>
            </a:r>
            <a:r>
              <a:rPr sz="1000" b="0">
                <a:solidFill>
                  <a:srgbClr val="FFFFFF"/>
                </a:solidFill>
                <a:latin typeface="페이퍼로지 4 Regular"/>
              </a:rPr>
              <a:t>이 생긴다.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출처: [S2] 한국은행·금융감독원(2025) 「2024 전국민 금융이해력 조사」 / [S1] 한진수(2024) / [S3] 최미정·유병준(2025)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325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빈틈 분석 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범죄자는 돈을 요구하기 전에, 먼저 판단 환경을 장악한다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실제 수사기관 사칭형 대화 연구는 접근부터 인출 확인까지, 피해자의 고립과 수직적 관계 형성이 단계적으로 진행됨을 확인했다.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121408"/>
            <a:ext cx="438912" cy="438912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121408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페이퍼로지 7 Bold"/>
              </a:rP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78992" y="2340863"/>
            <a:ext cx="1335024" cy="0"/>
          </a:xfrm>
          <a:prstGeom prst="line">
            <a:avLst/>
          </a:prstGeom>
          <a:ln w="1778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3775" y="2688336"/>
            <a:ext cx="14173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접근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" y="3054096"/>
            <a:ext cx="1417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97D98"/>
                </a:solidFill>
                <a:latin typeface="페이퍼로지 4 Regular"/>
              </a:rPr>
              <a:t>신뢰 형성</a:t>
            </a:r>
          </a:p>
        </p:txBody>
      </p:sp>
      <p:sp>
        <p:nvSpPr>
          <p:cNvPr id="16" name="Oval 15"/>
          <p:cNvSpPr/>
          <p:nvPr/>
        </p:nvSpPr>
        <p:spPr>
          <a:xfrm>
            <a:off x="2505456" y="2121408"/>
            <a:ext cx="438912" cy="438912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05456" y="2121408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페이퍼로지 7 Bold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44368" y="2340863"/>
            <a:ext cx="1335024" cy="0"/>
          </a:xfrm>
          <a:prstGeom prst="line">
            <a:avLst/>
          </a:prstGeom>
          <a:ln w="1778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359152" y="2688336"/>
            <a:ext cx="14173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범죄 연루 위협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3054096"/>
            <a:ext cx="1417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97D98"/>
                </a:solidFill>
                <a:latin typeface="페이퍼로지 4 Regular"/>
              </a:rPr>
              <a:t>공포 유발</a:t>
            </a:r>
          </a:p>
        </p:txBody>
      </p:sp>
      <p:sp>
        <p:nvSpPr>
          <p:cNvPr id="21" name="Oval 20"/>
          <p:cNvSpPr/>
          <p:nvPr/>
        </p:nvSpPr>
        <p:spPr>
          <a:xfrm>
            <a:off x="4370832" y="2121408"/>
            <a:ext cx="438912" cy="438912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70832" y="2121408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페이퍼로지 7 Bold"/>
              </a:rPr>
              <a:t>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09744" y="2340863"/>
            <a:ext cx="1335024" cy="0"/>
          </a:xfrm>
          <a:prstGeom prst="line">
            <a:avLst/>
          </a:prstGeom>
          <a:ln w="1778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24528" y="2688336"/>
            <a:ext cx="14173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사회적 고립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3054096"/>
            <a:ext cx="1417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97D98"/>
                </a:solidFill>
                <a:latin typeface="페이퍼로지 4 Regular"/>
              </a:rPr>
              <a:t>외부 확인 차단</a:t>
            </a:r>
          </a:p>
        </p:txBody>
      </p:sp>
      <p:sp>
        <p:nvSpPr>
          <p:cNvPr id="26" name="Oval 25"/>
          <p:cNvSpPr/>
          <p:nvPr/>
        </p:nvSpPr>
        <p:spPr>
          <a:xfrm>
            <a:off x="6236208" y="2121408"/>
            <a:ext cx="438912" cy="438912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36208" y="2121408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페이퍼로지 7 Bold"/>
              </a:rPr>
              <a:t>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75120" y="2340863"/>
            <a:ext cx="1335024" cy="0"/>
          </a:xfrm>
          <a:prstGeom prst="line">
            <a:avLst/>
          </a:prstGeom>
          <a:ln w="1778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89904" y="2688336"/>
            <a:ext cx="14173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수직관계 강화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9904" y="3054096"/>
            <a:ext cx="1417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97D98"/>
                </a:solidFill>
                <a:latin typeface="페이퍼로지 4 Regular"/>
              </a:rPr>
              <a:t>권위·복종</a:t>
            </a:r>
          </a:p>
        </p:txBody>
      </p:sp>
      <p:sp>
        <p:nvSpPr>
          <p:cNvPr id="31" name="Oval 30"/>
          <p:cNvSpPr/>
          <p:nvPr/>
        </p:nvSpPr>
        <p:spPr>
          <a:xfrm>
            <a:off x="8101583" y="2121408"/>
            <a:ext cx="438912" cy="438912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01583" y="2121408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페이퍼로지 7 Bold"/>
              </a:rPr>
              <a:t>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40496" y="2340863"/>
            <a:ext cx="1335023" cy="0"/>
          </a:xfrm>
          <a:prstGeom prst="line">
            <a:avLst/>
          </a:prstGeom>
          <a:ln w="1778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55279" y="2688336"/>
            <a:ext cx="14173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인출 유도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054096"/>
            <a:ext cx="1417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97D98"/>
                </a:solidFill>
                <a:latin typeface="페이퍼로지 4 Regular"/>
              </a:rPr>
              <a:t>금융행동 요구</a:t>
            </a:r>
          </a:p>
        </p:txBody>
      </p:sp>
      <p:sp>
        <p:nvSpPr>
          <p:cNvPr id="36" name="Oval 35"/>
          <p:cNvSpPr/>
          <p:nvPr/>
        </p:nvSpPr>
        <p:spPr>
          <a:xfrm>
            <a:off x="9966959" y="2121408"/>
            <a:ext cx="438912" cy="438912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66959" y="2121408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페이퍼로지 7 Bold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0655" y="2688336"/>
            <a:ext cx="14173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인출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0655" y="3054096"/>
            <a:ext cx="1417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97D98"/>
                </a:solidFill>
                <a:latin typeface="페이퍼로지 4 Regular"/>
              </a:rPr>
              <a:t>통제 유지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3703320"/>
            <a:ext cx="7242048" cy="121615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" y="3886200"/>
            <a:ext cx="120700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B67FF"/>
                </a:solidFill>
                <a:latin typeface="페이퍼로지 7 Bold"/>
              </a:rPr>
              <a:t>판단환경 형성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93392" y="3840480"/>
            <a:ext cx="1664208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130552" y="3941063"/>
            <a:ext cx="138988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0B2242"/>
                </a:solidFill>
                <a:latin typeface="페이퍼로지 7 Bold"/>
              </a:rPr>
              <a:t>신뢰와 권위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30552" y="4215384"/>
            <a:ext cx="138988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90" b="0">
                <a:solidFill>
                  <a:srgbClr val="697D98"/>
                </a:solidFill>
                <a:latin typeface="페이퍼로지 4 Regular"/>
              </a:rPr>
              <a:t>기관 사칭으로 “상대가 더 정확하다”는 인상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03904" y="3840480"/>
            <a:ext cx="1664208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41064" y="3941063"/>
            <a:ext cx="138988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0B2242"/>
                </a:solidFill>
                <a:latin typeface="페이퍼로지 7 Bold"/>
              </a:rPr>
              <a:t>공포·긴급성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41064" y="4215384"/>
            <a:ext cx="138988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90" b="0">
                <a:solidFill>
                  <a:srgbClr val="697D98"/>
                </a:solidFill>
                <a:latin typeface="페이퍼로지 4 Regular"/>
              </a:rPr>
              <a:t>차분하게 비교할 시간과 인지 자원을 축소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14416" y="3840480"/>
            <a:ext cx="1664208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51576" y="3941063"/>
            <a:ext cx="138988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0B2242"/>
                </a:solidFill>
                <a:latin typeface="페이퍼로지 7 Bold"/>
              </a:rPr>
              <a:t>정신·물리적 고립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51576" y="4215384"/>
            <a:ext cx="138988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90" b="0">
                <a:solidFill>
                  <a:srgbClr val="697D98"/>
                </a:solidFill>
                <a:latin typeface="페이퍼로지 4 Regular"/>
              </a:rPr>
              <a:t>가족·기관의 외부 확인과 검증을 어렵게 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65008" y="3703320"/>
            <a:ext cx="3529584" cy="121615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39327" y="3886200"/>
            <a:ext cx="129844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4A1E"/>
                </a:solidFill>
                <a:latin typeface="페이퍼로지 7 Bold"/>
              </a:rPr>
              <a:t>금융행동 전환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9327" y="4242816"/>
            <a:ext cx="2880360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4A1E"/>
                </a:solidFill>
                <a:latin typeface="페이퍼로지 7 Bold"/>
              </a:rPr>
              <a:t>판단 장악</a:t>
            </a:r>
            <a:r>
              <a:rPr sz="1200" b="0">
                <a:solidFill>
                  <a:srgbClr val="697D98"/>
                </a:solidFill>
                <a:latin typeface="페이퍼로지 4 Regular"/>
              </a:rPr>
              <a:t>  →  </a:t>
            </a:r>
            <a:r>
              <a:rPr sz="1200" b="1">
                <a:solidFill>
                  <a:srgbClr val="0B2242"/>
                </a:solidFill>
                <a:latin typeface="페이퍼로지 7 Bold"/>
              </a:rPr>
              <a:t>인출·송금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97280" y="5239512"/>
            <a:ext cx="9966960" cy="62179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417320" y="5376672"/>
            <a:ext cx="9326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A0CFFF"/>
                </a:solidFill>
                <a:latin typeface="페이퍼로지 7 Bold"/>
              </a:rPr>
              <a:t>연구의 핵심  |  </a:t>
            </a:r>
            <a:r>
              <a:rPr sz="1000" b="0">
                <a:solidFill>
                  <a:srgbClr val="FFFFFF"/>
                </a:solidFill>
                <a:latin typeface="페이퍼로지 4 Regular"/>
              </a:rPr>
              <a:t>거짓 정보 전달보다 더 중요한 것은 </a:t>
            </a:r>
            <a:r>
              <a:rPr sz="1000" b="1">
                <a:solidFill>
                  <a:srgbClr val="FFFFFF"/>
                </a:solidFill>
                <a:latin typeface="페이퍼로지 7 Bold"/>
              </a:rPr>
              <a:t>피해자가 스스로 검증하기 어려운 심리적 환경을 만드는 것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출처: [S4] 배승희·최민경·이혜용(2023), 보이스피싱 대화 6단계 / [S5] 이영은·서준배(2024), 신뢰·권위·공포·고립과 판단오류 기제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325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빈틈 분석 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우리 데이터에서도 ‘판단 장악’ 신호가 금융행동보다 먼저 나타났다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팀 자체 보이스피싱 통화 데이터의 이벤트·심리전략 분석 결과를, 공공 연구의 심리기제와 교차해석했다.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874519"/>
            <a:ext cx="290779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020824"/>
            <a:ext cx="2505456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B67FF"/>
                </a:solidFill>
                <a:latin typeface="페이퍼로지 7 Bold"/>
              </a:rPr>
              <a:t>67.1%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87168"/>
            <a:ext cx="2505456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3150"/>
                </a:solidFill>
                <a:latin typeface="페이퍼로지 7 Bold"/>
              </a:rPr>
              <a:t>판단환경 장악 신호가
1개 이상 나타난 사건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807208"/>
            <a:ext cx="2505456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팀 정의: 사칭·권위·공포·긴급성·고립 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12463" y="1874519"/>
            <a:ext cx="290779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13631" y="2020824"/>
            <a:ext cx="2505456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4A1E"/>
                </a:solidFill>
                <a:latin typeface="페이퍼로지 7 Bold"/>
              </a:rPr>
              <a:t>66.4%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1" y="2487168"/>
            <a:ext cx="2505456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3150"/>
                </a:solidFill>
                <a:latin typeface="페이퍼로지 7 Bold"/>
              </a:rPr>
              <a:t>긴급성·시간압박
관찰 비중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1" y="2807208"/>
            <a:ext cx="2505456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즉시 행동을 요구해 숙고 시간을 축소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1874519"/>
            <a:ext cx="1920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59168" y="2020824"/>
            <a:ext cx="1517904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B3944"/>
                </a:solidFill>
                <a:latin typeface="페이퍼로지 7 Bold"/>
              </a:rPr>
              <a:t>4.3%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487168"/>
            <a:ext cx="1517904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3150"/>
                </a:solidFill>
                <a:latin typeface="페이퍼로지 7 Bold"/>
              </a:rPr>
              <a:t>고립 신호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807208"/>
            <a:ext cx="1517904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표현 빈도는 낮아도
외부검증 차단의 의미가 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984" y="1874519"/>
            <a:ext cx="259689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17152" y="2020824"/>
            <a:ext cx="219456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9173"/>
                </a:solidFill>
                <a:latin typeface="페이퍼로지 7 Bold"/>
              </a:rPr>
              <a:t>TOP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487168"/>
            <a:ext cx="21945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3150"/>
                </a:solidFill>
                <a:latin typeface="페이퍼로지 7 Bold"/>
              </a:rPr>
              <a:t>은행 · 검찰 · 카드사 · 경찰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2807208"/>
            <a:ext cx="219456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권위와 신뢰를 빌리는 대표 사칭 대상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730752"/>
            <a:ext cx="678484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3904487"/>
            <a:ext cx="192024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B67FF"/>
                </a:solidFill>
                <a:latin typeface="페이퍼로지 7 Bold"/>
              </a:rPr>
              <a:t>이벤트의 등장 순서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" y="4370832"/>
            <a:ext cx="1078992" cy="40233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4370832"/>
            <a:ext cx="1078992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사칭</a:t>
            </a:r>
          </a:p>
        </p:txBody>
      </p:sp>
      <p:sp>
        <p:nvSpPr>
          <p:cNvPr id="31" name="Chevron 30"/>
          <p:cNvSpPr/>
          <p:nvPr/>
        </p:nvSpPr>
        <p:spPr>
          <a:xfrm>
            <a:off x="2103120" y="4462272"/>
            <a:ext cx="310896" cy="201168"/>
          </a:xfrm>
          <a:prstGeom prst="chevron">
            <a:avLst/>
          </a:prstGeom>
          <a:solidFill>
            <a:srgbClr val="CDDCF0"/>
          </a:solidFill>
          <a:ln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377440" y="4370832"/>
            <a:ext cx="1078992" cy="40233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77440" y="4370832"/>
            <a:ext cx="1078992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심리전략</a:t>
            </a:r>
          </a:p>
        </p:txBody>
      </p:sp>
      <p:sp>
        <p:nvSpPr>
          <p:cNvPr id="34" name="Chevron 33"/>
          <p:cNvSpPr/>
          <p:nvPr/>
        </p:nvSpPr>
        <p:spPr>
          <a:xfrm>
            <a:off x="3547872" y="4462272"/>
            <a:ext cx="310896" cy="201168"/>
          </a:xfrm>
          <a:prstGeom prst="chevron">
            <a:avLst/>
          </a:prstGeom>
          <a:solidFill>
            <a:srgbClr val="CDDCF0"/>
          </a:solidFill>
          <a:ln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822191" y="4370832"/>
            <a:ext cx="1078992" cy="402336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22191" y="4370832"/>
            <a:ext cx="1078992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F4A1E"/>
                </a:solidFill>
                <a:latin typeface="페이퍼로지 7 Bold"/>
              </a:rPr>
              <a:t>요구행동</a:t>
            </a:r>
          </a:p>
        </p:txBody>
      </p:sp>
      <p:sp>
        <p:nvSpPr>
          <p:cNvPr id="37" name="Chevron 36"/>
          <p:cNvSpPr/>
          <p:nvPr/>
        </p:nvSpPr>
        <p:spPr>
          <a:xfrm>
            <a:off x="4992624" y="4462272"/>
            <a:ext cx="310896" cy="201168"/>
          </a:xfrm>
          <a:prstGeom prst="chevron">
            <a:avLst/>
          </a:prstGeom>
          <a:solidFill>
            <a:srgbClr val="CDDCF0"/>
          </a:solidFill>
          <a:ln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266944" y="4370832"/>
            <a:ext cx="1078992" cy="402336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66944" y="4370832"/>
            <a:ext cx="1078992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F4A1E"/>
                </a:solidFill>
                <a:latin typeface="페이퍼로지 7 Bold"/>
              </a:rPr>
              <a:t>금액·송금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4892040"/>
            <a:ext cx="61722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>
                <a:solidFill>
                  <a:srgbClr val="0B2242"/>
                </a:solidFill>
                <a:latin typeface="페이퍼로지 7 Bold"/>
              </a:rPr>
              <a:t>사칭·심리전략이 요구행동·금액보다 먼저 등장하는 경향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3730752"/>
            <a:ext cx="4023360" cy="1572768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82127" y="3941063"/>
            <a:ext cx="345643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2CFFF"/>
                </a:solidFill>
                <a:latin typeface="페이퍼로지 7 Bold"/>
              </a:rPr>
              <a:t>데이터가 말하는 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4352544"/>
            <a:ext cx="3419856" cy="676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페이퍼로지 4 Regular"/>
              </a:rPr>
              <a:t>돈을 요구하기 전에
</a:t>
            </a:r>
            <a:r>
              <a:rPr sz="1100" b="1">
                <a:solidFill>
                  <a:srgbClr val="FFFFFF"/>
                </a:solidFill>
                <a:latin typeface="페이퍼로지 7 Bold"/>
              </a:rPr>
              <a:t>“믿게 만들고 · 서두르게 하고 · 외부 확인을 약화”</a:t>
            </a:r>
            <a:r>
              <a:rPr sz="960" b="0">
                <a:solidFill>
                  <a:srgbClr val="D2E1F3"/>
                </a:solidFill>
                <a:latin typeface="페이퍼로지 4 Regular"/>
              </a:rPr>
              <a:t>하는 단계가 먼저 나타난다.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7280" y="5541264"/>
            <a:ext cx="9966960" cy="502920"/>
          </a:xfrm>
          <a:prstGeom prst="roundRect">
            <a:avLst>
              <a:gd name="adj" fmla="val 8000"/>
            </a:avLst>
          </a:prstGeom>
          <a:solidFill>
            <a:srgbClr val="FFF8E3"/>
          </a:solidFill>
          <a:ln w="1270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53312" y="5650992"/>
            <a:ext cx="94548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E19D14"/>
                </a:solidFill>
                <a:latin typeface="페이퍼로지 7 Bold"/>
              </a:rPr>
              <a:t>주의  |  팀 자체 Rule/Event 정의에 기반한 탐색 분석이며, 표본·정의·일반화 한계는 Appendix에 명시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출처: [T1] Team Guardrails 자체 보이스피싱 통화 이벤트 분석 — 사건 단위 판단환경 장악 신호, 심리전략, 사칭·요구행동 등장 순서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60020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6002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빈틈 분석 ①×②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취약성 × 판단 조작이 만나면, 정상적인 사람도 오판할 수 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피해자의 특성을 탓하는 것이 아니라, 취약한 상태와 범죄자가 설계한 환경이 결합하는 구조를 본다.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65960"/>
            <a:ext cx="28803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194560"/>
            <a:ext cx="23317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2242"/>
                </a:solidFill>
                <a:latin typeface="페이퍼로지 7 Bold"/>
              </a:rPr>
              <a:t>피해자의 취약 상태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272491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272491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2B67FF"/>
                </a:solidFill>
                <a:latin typeface="페이퍼로지 7 Bold"/>
              </a:rPr>
              <a:t>판단 기준 부족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" y="322783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22783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2B67FF"/>
                </a:solidFill>
                <a:latin typeface="페이퍼로지 7 Bold"/>
              </a:rPr>
              <a:t>정서적 고통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" y="373075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373075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2B67FF"/>
                </a:solidFill>
                <a:latin typeface="페이퍼로지 7 Bold"/>
              </a:rPr>
              <a:t>자기판단 과신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" y="423367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423367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2B67FF"/>
                </a:solidFill>
                <a:latin typeface="페이퍼로지 7 Bold"/>
              </a:rPr>
              <a:t>정보 검증 부담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23317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697D98"/>
                </a:solidFill>
                <a:latin typeface="페이퍼로지 7 Bold"/>
              </a:rPr>
              <a:t>“나는 지금 무엇을 믿어야 하지?”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2" y="3063240"/>
            <a:ext cx="47548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B67FF"/>
                </a:solidFill>
                <a:latin typeface="페이퍼로지 7 Bold"/>
              </a:rPr>
              <a:t>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1965960"/>
            <a:ext cx="28803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8032" y="2194560"/>
            <a:ext cx="23317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2242"/>
                </a:solidFill>
                <a:latin typeface="페이퍼로지 7 Bold"/>
              </a:rPr>
              <a:t>범죄자의 판단 조작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272491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0" y="272491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FF4A1E"/>
                </a:solidFill>
                <a:latin typeface="페이퍼로지 7 Bold"/>
              </a:rPr>
              <a:t>신뢰·권위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322783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0" y="322783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FF4A1E"/>
                </a:solidFill>
                <a:latin typeface="페이퍼로지 7 Bold"/>
              </a:rPr>
              <a:t>공포·긴급성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373075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373075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FF4A1E"/>
                </a:solidFill>
                <a:latin typeface="페이퍼로지 7 Bold"/>
              </a:rPr>
              <a:t>정보비대칭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423367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423367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FF4A1E"/>
                </a:solidFill>
                <a:latin typeface="페이퍼로지 7 Bold"/>
              </a:rPr>
              <a:t>외부검증 차단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4617720"/>
            <a:ext cx="23317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697D98"/>
                </a:solidFill>
                <a:latin typeface="페이퍼로지 7 Bold"/>
              </a:rPr>
              <a:t>“지금 당장, 내 지시만 따르면 된다”</a:t>
            </a:r>
          </a:p>
        </p:txBody>
      </p:sp>
      <p:sp>
        <p:nvSpPr>
          <p:cNvPr id="34" name="Chevron 33"/>
          <p:cNvSpPr/>
          <p:nvPr/>
        </p:nvSpPr>
        <p:spPr>
          <a:xfrm>
            <a:off x="7626096" y="3108960"/>
            <a:ext cx="475488" cy="34747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211312" y="1965960"/>
            <a:ext cx="3246120" cy="306324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40" y="2267712"/>
            <a:ext cx="257860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페이퍼로지 7 Bold"/>
              </a:rPr>
              <a:t>판단 환경의 왜곡</a:t>
            </a:r>
          </a:p>
        </p:txBody>
      </p:sp>
      <p:sp>
        <p:nvSpPr>
          <p:cNvPr id="37" name="Oval 36"/>
          <p:cNvSpPr/>
          <p:nvPr/>
        </p:nvSpPr>
        <p:spPr>
          <a:xfrm>
            <a:off x="9290304" y="2907792"/>
            <a:ext cx="1078992" cy="1078992"/>
          </a:xfrm>
          <a:prstGeom prst="ellipse">
            <a:avLst/>
          </a:prstGeom>
          <a:solidFill>
            <a:srgbClr val="0F365E"/>
          </a:solidFill>
          <a:ln w="12700">
            <a:solidFill>
              <a:srgbClr val="0F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90304" y="2907792"/>
            <a:ext cx="1078992" cy="10789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페이퍼로지 7 Bold"/>
              </a:rPr>
              <a:t>오판
가능성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13648" y="4242816"/>
            <a:ext cx="246888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CDDEF1"/>
                </a:solidFill>
                <a:latin typeface="페이퍼로지 4 Regular"/>
              </a:rPr>
              <a:t>독립적 확인 ↓
숙고 시간 ↓
자기통제 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8992" y="5376672"/>
            <a:ext cx="10012680" cy="64008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17320" y="5513832"/>
            <a:ext cx="932688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2B67FF"/>
                </a:solidFill>
                <a:latin typeface="페이퍼로지 7 Bold"/>
              </a:rPr>
              <a:t>핵심 문제  |  </a:t>
            </a:r>
            <a:r>
              <a:rPr sz="1000" b="0">
                <a:solidFill>
                  <a:srgbClr val="1B3150"/>
                </a:solidFill>
                <a:latin typeface="페이퍼로지 4 Regular"/>
              </a:rPr>
              <a:t>지식이 부족한 사람이 아니라, </a:t>
            </a:r>
            <a:r>
              <a:rPr sz="1000" b="1">
                <a:solidFill>
                  <a:srgbClr val="0B2242"/>
                </a:solidFill>
                <a:latin typeface="페이퍼로지 7 Bold"/>
              </a:rPr>
              <a:t>검증이 어려운 환경에 놓인 사람</a:t>
            </a:r>
            <a:r>
              <a:rPr sz="1000" b="0">
                <a:solidFill>
                  <a:srgbClr val="1B3150"/>
                </a:solidFill>
                <a:latin typeface="페이퍼로지 4 Regular"/>
              </a:rPr>
              <a:t>이 잘못된 결정을 내릴 수 있다.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근거 종합: [S1] 금융사기 취약성 연구 + [S4][S5] 실제 보이스피싱 대화·시나리오 연구 + [T1] 팀 데이터 분석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325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빈틈 분석 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기존 보호체계는 통화 전부터 피해 이후까지 넓게 작동한다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기존 대응의 부재가 아니라, 각 장치가 어떤 정보와 시점에서 개입하는지 구조적으로 살펴본다.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017520"/>
            <a:ext cx="10424160" cy="0"/>
          </a:xfrm>
          <a:prstGeom prst="line">
            <a:avLst/>
          </a:prstGeom>
          <a:ln w="25400">
            <a:solidFill>
              <a:srgbClr val="ADC9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60120" y="2761488"/>
            <a:ext cx="512064" cy="512064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29968"/>
            <a:ext cx="7863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3429000"/>
            <a:ext cx="13533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통화 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3840480"/>
            <a:ext cx="1536192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예방교육
위험번호·AI 차단</a:t>
            </a:r>
          </a:p>
        </p:txBody>
      </p:sp>
      <p:sp>
        <p:nvSpPr>
          <p:cNvPr id="16" name="Oval 15"/>
          <p:cNvSpPr/>
          <p:nvPr/>
        </p:nvSpPr>
        <p:spPr>
          <a:xfrm>
            <a:off x="2971800" y="2761488"/>
            <a:ext cx="512064" cy="512064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34640" y="2029968"/>
            <a:ext cx="7863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B67FF"/>
                </a:solidFill>
                <a:latin typeface="페이퍼로지 7 Bol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1176" y="3429000"/>
            <a:ext cx="13533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통화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9736" y="3840480"/>
            <a:ext cx="1536192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에이닷·익시오
대화패턴 AI 분석</a:t>
            </a:r>
          </a:p>
        </p:txBody>
      </p:sp>
      <p:sp>
        <p:nvSpPr>
          <p:cNvPr id="20" name="Oval 19"/>
          <p:cNvSpPr/>
          <p:nvPr/>
        </p:nvSpPr>
        <p:spPr>
          <a:xfrm>
            <a:off x="4983480" y="2761488"/>
            <a:ext cx="512064" cy="512064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2029968"/>
            <a:ext cx="7863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CA4FF"/>
                </a:solidFill>
                <a:latin typeface="페이퍼로지 7 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3429000"/>
            <a:ext cx="13533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제3자 알림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840480"/>
            <a:ext cx="1536192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가족 케어
보호자 위험 알림</a:t>
            </a:r>
          </a:p>
        </p:txBody>
      </p:sp>
      <p:sp>
        <p:nvSpPr>
          <p:cNvPr id="24" name="Oval 23"/>
          <p:cNvSpPr/>
          <p:nvPr/>
        </p:nvSpPr>
        <p:spPr>
          <a:xfrm>
            <a:off x="6995160" y="2761488"/>
            <a:ext cx="512064" cy="512064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2029968"/>
            <a:ext cx="7863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4A1E"/>
                </a:solidFill>
                <a:latin typeface="페이퍼로지 7 Bol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3429000"/>
            <a:ext cx="13533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송금 시도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3840480"/>
            <a:ext cx="1536192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FDS·ASAP
추가확인·지연·중단</a:t>
            </a:r>
          </a:p>
        </p:txBody>
      </p:sp>
      <p:sp>
        <p:nvSpPr>
          <p:cNvPr id="28" name="Oval 27"/>
          <p:cNvSpPr/>
          <p:nvPr/>
        </p:nvSpPr>
        <p:spPr>
          <a:xfrm>
            <a:off x="9006840" y="2761488"/>
            <a:ext cx="512064" cy="512064"/>
          </a:xfrm>
          <a:prstGeom prst="ellipse">
            <a:avLst/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0" y="2029968"/>
            <a:ext cx="7863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86215" y="3429000"/>
            <a:ext cx="13533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거래 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4776" y="3840480"/>
            <a:ext cx="1536192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지급정지
피해환급·구제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42032" y="4846320"/>
            <a:ext cx="7095744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16352" y="5020056"/>
            <a:ext cx="653796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B67FF"/>
                </a:solidFill>
                <a:latin typeface="페이퍼로지 7 Bold"/>
              </a:rPr>
              <a:t>분석 관점  |  </a:t>
            </a:r>
            <a:r>
              <a:rPr sz="1140" b="1">
                <a:solidFill>
                  <a:srgbClr val="0B2242"/>
                </a:solidFill>
                <a:latin typeface="페이퍼로지 7 Bold"/>
              </a:rPr>
              <a:t>보호장치는 이미 넓게 존재한다.
</a:t>
            </a:r>
            <a:r>
              <a:rPr sz="880" b="0">
                <a:solidFill>
                  <a:srgbClr val="697D98"/>
                </a:solidFill>
                <a:latin typeface="페이퍼로지 4 Regular"/>
              </a:rPr>
              <a:t>남은 질문은 “어디에서 보호가 없나”가 아니라 </a:t>
            </a:r>
            <a:r>
              <a:rPr sz="880" b="1">
                <a:solidFill>
                  <a:srgbClr val="FF4A1E"/>
                </a:solidFill>
                <a:latin typeface="페이퍼로지 7 Bold"/>
              </a:rPr>
              <a:t>“어디에서 다시 판단해야 하나”</a:t>
            </a:r>
            <a:r>
              <a:rPr sz="880" b="0">
                <a:solidFill>
                  <a:srgbClr val="697D98"/>
                </a:solidFill>
                <a:latin typeface="페이퍼로지 4 Regular"/>
              </a:rPr>
              <a:t>이다.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출처: [S6] SKT 에이닷 / [S7] SKT 가족 케어 / [S8] LG U+ 익시오 / [S9] 금융위원회 ASAP·FDS·지급정지 제도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325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빈틈 분석 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보호장치는 작동한다. 그러나 ‘재판단’의 순간은 남는다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공식자료에서 위험 탐지, 제3자 알림, 외부 개입 이후 피해자의 인식이 달라지는 세 장면을 확인했다.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0240"/>
            <a:ext cx="3529584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2139696"/>
            <a:ext cx="402336" cy="402336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139696"/>
            <a:ext cx="402336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112264"/>
            <a:ext cx="2487168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1">
                <a:solidFill>
                  <a:srgbClr val="0B2242"/>
                </a:solidFill>
                <a:latin typeface="페이퍼로지 7 Bold"/>
              </a:rPr>
              <a:t>AI는 위험을 “알려준다”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2679192"/>
            <a:ext cx="1078992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679192"/>
            <a:ext cx="107899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B67FF"/>
                </a:solidFill>
                <a:latin typeface="페이퍼로지 7 Bold"/>
              </a:rPr>
              <a:t>에이닷 전화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136392"/>
            <a:ext cx="301752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1B3150"/>
                </a:solidFill>
                <a:latin typeface="페이퍼로지 7 Bold"/>
              </a:rPr>
              <a:t>AI가 통화 중 위험을 감지해
화면 경고를 제공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2" y="4087368"/>
            <a:ext cx="3035808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6112" y="4297680"/>
            <a:ext cx="30175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주요 판단 주체: 사용자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71416" y="1920240"/>
            <a:ext cx="3529584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09159" y="2139696"/>
            <a:ext cx="402336" cy="402336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59" y="2139696"/>
            <a:ext cx="402336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4CA4FF"/>
                </a:solidFill>
                <a:latin typeface="페이퍼로지 7 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2112264"/>
            <a:ext cx="2487168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1">
                <a:solidFill>
                  <a:srgbClr val="0B2242"/>
                </a:solidFill>
                <a:latin typeface="페이퍼로지 7 Bold"/>
              </a:rPr>
              <a:t>혼자 대응하기 어렵다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59" y="2679192"/>
            <a:ext cx="1078992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59" y="2679192"/>
            <a:ext cx="107899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4CA4FF"/>
                </a:solidFill>
                <a:latin typeface="페이퍼로지 7 Bold"/>
              </a:rPr>
              <a:t>에이닷 가족 케어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3136392"/>
            <a:ext cx="301752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1B3150"/>
                </a:solidFill>
                <a:latin typeface="페이퍼로지 7 Bold"/>
              </a:rPr>
              <a:t>AI 탐지 결과를 보호자에게 전달해
신속한 외부 개입을 유도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09159" y="4087368"/>
            <a:ext cx="3035808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09159" y="4297680"/>
            <a:ext cx="30175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사업자 공식 설명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84464" y="1920240"/>
            <a:ext cx="3529584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522208" y="2139696"/>
            <a:ext cx="402336" cy="402336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22208" y="2139696"/>
            <a:ext cx="402336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34272" y="2112264"/>
            <a:ext cx="2487168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1">
                <a:solidFill>
                  <a:srgbClr val="0B2242"/>
                </a:solidFill>
                <a:latin typeface="페이퍼로지 7 Bold"/>
              </a:rPr>
              <a:t>외부 개입 후 판단이 바뀐다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22208" y="2679192"/>
            <a:ext cx="1078992" cy="25603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22208" y="2679192"/>
            <a:ext cx="107899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FF4A1E"/>
                </a:solidFill>
                <a:latin typeface="페이퍼로지 7 Bold"/>
              </a:rPr>
              <a:t>ASAP·FDS 실제 사례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136392"/>
            <a:ext cx="301752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1B3150"/>
                </a:solidFill>
                <a:latin typeface="페이퍼로지 7 Bold"/>
              </a:rPr>
              <a:t>피해자가 사기 설명을 믿고 송금 시도
→ 금융기관 중단·연락 후 피해 인지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22208" y="4087368"/>
            <a:ext cx="3035808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522208" y="4297680"/>
            <a:ext cx="30175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외부 개입의 효과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89888" y="5340096"/>
            <a:ext cx="9400032" cy="64008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55648" y="5477256"/>
            <a:ext cx="86868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0CFFF"/>
                </a:solidFill>
                <a:latin typeface="페이퍼로지 7 Bold"/>
              </a:rPr>
              <a:t>핵심 증거  |  </a:t>
            </a:r>
            <a:r>
              <a:rPr sz="1100" b="1">
                <a:solidFill>
                  <a:srgbClr val="FFFFFF"/>
                </a:solidFill>
                <a:latin typeface="페이퍼로지 7 Bold"/>
              </a:rPr>
              <a:t>위험을 탐지하는 것</a:t>
            </a:r>
            <a:r>
              <a:rPr sz="1100" b="0">
                <a:solidFill>
                  <a:srgbClr val="FFFFFF"/>
                </a:solidFill>
                <a:latin typeface="페이퍼로지 4 Regular"/>
              </a:rPr>
              <a:t>과 </a:t>
            </a:r>
            <a:r>
              <a:rPr sz="1100" b="1">
                <a:solidFill>
                  <a:srgbClr val="FF4A1E"/>
                </a:solidFill>
                <a:latin typeface="페이퍼로지 7 Bold"/>
              </a:rPr>
              <a:t>피해자가 그 위험을 믿고 올바르게 판단하는 것</a:t>
            </a:r>
            <a:r>
              <a:rPr sz="1100" b="0">
                <a:solidFill>
                  <a:srgbClr val="FFFFFF"/>
                </a:solidFill>
                <a:latin typeface="페이퍼로지 4 Regular"/>
              </a:rPr>
              <a:t>은 같은 문제가 아니다.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출처: [S6] SKT 에이닷 전화 / [S7] SKT 가족 케어 / [S9] 금융위원회 ASAP·FDS 실제 탐지·이체중단 사례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325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빈틈 분석 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현재 대응은 ‘판단 지원·제3자 알림·외부 개입’으로 나뉜다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각 유형은 분명한 보호 효과가 있다. 남은 과제는 기능의 부재보다 통화 맥락과 특정 거래를 연결하는 방식이다.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0240"/>
            <a:ext cx="28346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20240"/>
            <a:ext cx="2834640" cy="512064"/>
          </a:xfrm>
          <a:prstGeom prst="roundRect">
            <a:avLst>
              <a:gd name="adj" fmla="val 8000"/>
            </a:avLst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920240"/>
            <a:ext cx="283464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60" b="1">
                <a:solidFill>
                  <a:srgbClr val="FFFFFF"/>
                </a:solidFill>
                <a:latin typeface="페이퍼로지 7 Bold"/>
              </a:rPr>
              <a:t>판단 지원형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660904"/>
            <a:ext cx="23774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242"/>
                </a:solidFill>
                <a:latin typeface="페이퍼로지 7 Bold"/>
              </a:rPr>
              <a:t>에이닷 · 익시오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072384"/>
            <a:ext cx="237744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0">
                <a:solidFill>
                  <a:srgbClr val="1B3150"/>
                </a:solidFill>
                <a:latin typeface="페이퍼로지 4 Regular"/>
              </a:rPr>
              <a:t>AI 위험탐지 → 사용자 경고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" y="3703320"/>
            <a:ext cx="2377440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6968" y="3867912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1D9173"/>
                </a:solidFill>
                <a:latin typeface="페이퍼로지 7 Bold"/>
              </a:rPr>
              <a:t>강점: 빠른 인지 지원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297680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FF4A1E"/>
                </a:solidFill>
                <a:latin typeface="페이퍼로지 7 Bold"/>
              </a:rPr>
              <a:t>남는 순간: 경고 수용·재판단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1920240"/>
            <a:ext cx="28346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840480" y="1920240"/>
            <a:ext cx="2834640" cy="512064"/>
          </a:xfrm>
          <a:prstGeom prst="roundRect">
            <a:avLst>
              <a:gd name="adj" fmla="val 8000"/>
            </a:avLst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1920240"/>
            <a:ext cx="283464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60" b="1">
                <a:solidFill>
                  <a:srgbClr val="FFFFFF"/>
                </a:solidFill>
                <a:latin typeface="페이퍼로지 7 Bold"/>
              </a:rPr>
              <a:t>제3자 알림형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660904"/>
            <a:ext cx="23774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242"/>
                </a:solidFill>
                <a:latin typeface="페이퍼로지 7 Bold"/>
              </a:rPr>
              <a:t>에이닷 가족 케어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072384"/>
            <a:ext cx="237744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0">
                <a:solidFill>
                  <a:srgbClr val="1B3150"/>
                </a:solidFill>
                <a:latin typeface="페이퍼로지 4 Regular"/>
              </a:rPr>
              <a:t>AI 탐지 → 보호자 위험 알림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69080" y="3703320"/>
            <a:ext cx="2377440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069080" y="3867912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1D9173"/>
                </a:solidFill>
                <a:latin typeface="페이퍼로지 7 Bold"/>
              </a:rPr>
              <a:t>강점: 혼자 대응 완화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4297680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FF4A1E"/>
                </a:solidFill>
                <a:latin typeface="페이퍼로지 7 Bold"/>
              </a:rPr>
              <a:t>남는 순간: 거래별 공동검토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22592" y="1920240"/>
            <a:ext cx="28346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022592" y="1920240"/>
            <a:ext cx="2834640" cy="512064"/>
          </a:xfrm>
          <a:prstGeom prst="roundRect">
            <a:avLst>
              <a:gd name="adj" fmla="val 8000"/>
            </a:avLst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22592" y="1920240"/>
            <a:ext cx="283464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60" b="1">
                <a:solidFill>
                  <a:srgbClr val="FFFFFF"/>
                </a:solidFill>
                <a:latin typeface="페이퍼로지 7 Bold"/>
              </a:rPr>
              <a:t>외부 개입형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2660904"/>
            <a:ext cx="23774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242"/>
                </a:solidFill>
                <a:latin typeface="페이퍼로지 7 Bold"/>
              </a:rPr>
              <a:t>FDS · ASAP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3072384"/>
            <a:ext cx="237744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0">
                <a:solidFill>
                  <a:srgbClr val="1B3150"/>
                </a:solidFill>
                <a:latin typeface="페이퍼로지 4 Regular"/>
              </a:rPr>
              <a:t>시스템·금융기관 → 지연·중단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51192" y="3703320"/>
            <a:ext cx="2377440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251192" y="3867912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1D9173"/>
                </a:solidFill>
                <a:latin typeface="페이퍼로지 7 Bold"/>
              </a:rPr>
              <a:t>강점: 실제 금융행동 보호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1192" y="4297680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FF4A1E"/>
                </a:solidFill>
                <a:latin typeface="페이퍼로지 7 Bold"/>
              </a:rPr>
              <a:t>남는 순간: 통화 진위 맥락 연결</a:t>
            </a:r>
          </a:p>
        </p:txBody>
      </p:sp>
      <p:sp>
        <p:nvSpPr>
          <p:cNvPr id="35" name="Chevron 34"/>
          <p:cNvSpPr/>
          <p:nvPr/>
        </p:nvSpPr>
        <p:spPr>
          <a:xfrm>
            <a:off x="10021824" y="3090672"/>
            <a:ext cx="384048" cy="25603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460736" y="1920240"/>
            <a:ext cx="1170432" cy="324612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79608" y="2212848"/>
            <a:ext cx="93268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0CFFF"/>
                </a:solidFill>
                <a:latin typeface="페이퍼로지 7 Bold"/>
              </a:rPr>
              <a:t>본 제안의
구조적 해석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70464" y="2962656"/>
            <a:ext cx="950976" cy="1682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페이퍼로지 7 Bold"/>
              </a:rPr>
              <a:t>통화 맥락
진위검증
+
특정 거래
공동검토
+
검증 완료 전
보류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458968"/>
            <a:ext cx="10332720" cy="50292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52144" y="5568696"/>
            <a:ext cx="985723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>
                <a:solidFill>
                  <a:srgbClr val="0B2242"/>
                </a:solidFill>
                <a:latin typeface="페이퍼로지 7 Bold"/>
              </a:rPr>
              <a:t>기존 기능을 대체하는 것이 아니라, 이미 존재하는 탐지·알림·거래개입을 하나의 검증 흐름으로 연결하는 것이 남은 과제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공식자료 교차검증: [S6][S7][S8][S9] — 기능별 조치와 개입 주체를 분류하고, 마지막 열은 본 제안의 구조적 해석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0972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문제 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세 관점은 하나의 남은 빈틈을 가리킨다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피해자·범죄자·보호체계를 따로 보면 보이지 않던 문제가, 세 관점을 함께 놓으면 드러난다.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6596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9536" y="2185416"/>
            <a:ext cx="384048" cy="384048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185416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157984"/>
            <a:ext cx="2084831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피해자의 판단 취약성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2816352"/>
            <a:ext cx="2423160" cy="676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97D98"/>
                </a:solidFill>
                <a:latin typeface="페이퍼로지 4 Regular"/>
              </a:rPr>
              <a:t>기준 부족 · 정서적 고통
과신 · 정보검증 부담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578608"/>
            <a:ext cx="30175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2B67FF"/>
                </a:solidFill>
                <a:latin typeface="페이퍼로지 7 Bold"/>
              </a:rPr>
              <a:t>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33087" y="196596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34255" y="2185416"/>
            <a:ext cx="384048" cy="38404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34255" y="2185416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157984"/>
            <a:ext cx="2084831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범죄자의 판단환경 조작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2816352"/>
            <a:ext cx="2423160" cy="676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97D98"/>
                </a:solidFill>
                <a:latin typeface="페이퍼로지 4 Regular"/>
              </a:rPr>
              <a:t>권위 · 공포 · 긴급성
정보비대칭 · 고립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2578608"/>
            <a:ext cx="30175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2B67FF"/>
                </a:solidFill>
                <a:latin typeface="페이퍼로지 7 Bold"/>
              </a:rPr>
              <a:t>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07808" y="196596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808976" y="2185416"/>
            <a:ext cx="384048" cy="384048"/>
          </a:xfrm>
          <a:prstGeom prst="ellipse">
            <a:avLst/>
          </a:prstGeom>
          <a:solidFill>
            <a:srgbClr val="E9F9F4"/>
          </a:solidFill>
          <a:ln w="1270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08976" y="2185416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D9173"/>
                </a:solidFill>
                <a:latin typeface="페이퍼로지 7 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157984"/>
            <a:ext cx="2084831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검증구조의 분절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7848" y="2816352"/>
            <a:ext cx="2423160" cy="676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97D98"/>
                </a:solidFill>
                <a:latin typeface="페이퍼로지 4 Regular"/>
              </a:rPr>
              <a:t>탐지 · 알림 · 거래개입이
서로 다른 시점·주체로 작동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94560" y="4041648"/>
            <a:ext cx="0" cy="329184"/>
          </a:xfrm>
          <a:prstGeom prst="line">
            <a:avLst/>
          </a:prstGeom>
          <a:ln w="1778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669280" y="4041648"/>
            <a:ext cx="0" cy="329184"/>
          </a:xfrm>
          <a:prstGeom prst="line">
            <a:avLst/>
          </a:prstGeom>
          <a:ln w="1778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4041648"/>
            <a:ext cx="0" cy="329184"/>
          </a:xfrm>
          <a:prstGeom prst="line">
            <a:avLst/>
          </a:prstGeom>
          <a:ln w="1778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94560" y="4370832"/>
            <a:ext cx="6949440" cy="0"/>
          </a:xfrm>
          <a:prstGeom prst="line">
            <a:avLst/>
          </a:prstGeom>
          <a:ln w="1778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669280" y="4370832"/>
            <a:ext cx="0" cy="246888"/>
          </a:xfrm>
          <a:prstGeom prst="line">
            <a:avLst/>
          </a:prstGeom>
          <a:ln w="2540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856231" y="4590288"/>
            <a:ext cx="7635240" cy="114300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67712" y="4809744"/>
            <a:ext cx="68122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A0CFFF"/>
                </a:solidFill>
                <a:latin typeface="페이퍼로지 7 Bold"/>
              </a:rPr>
              <a:t>남은 빈틈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67712" y="5157216"/>
            <a:ext cx="681228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페이퍼로지 7 Bold"/>
              </a:rPr>
              <a:t>통화 속 판단을, 금융행동 전에 독립적으로 다시 검증하는 구간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종합 해석: 앞선 피해자 취약성·범죄전략·기존 보호구조 분석을 결합한 본 제안의 문제정의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6304" y="173736"/>
            <a:ext cx="15544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페이퍼로지 7 Bold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0360152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FFFFFF"/>
                </a:solidFill>
                <a:latin typeface="페이퍼로지 4 Regular"/>
              </a:rPr>
              <a:t>위험을 탐지하는 것과,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0152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페이퍼로지 4 Regular"/>
              </a:rPr>
              <a:t>그 위험을 </a:t>
            </a:r>
            <a:r>
              <a:rPr sz="2800" b="1">
                <a:solidFill>
                  <a:srgbClr val="FF4A1E"/>
                </a:solidFill>
                <a:latin typeface="페이퍼로지 7 Bold"/>
              </a:rPr>
              <a:t>올바르게 판단하는 것</a:t>
            </a:r>
            <a:r>
              <a:rPr sz="2800" b="0">
                <a:solidFill>
                  <a:srgbClr val="FFFFFF"/>
                </a:solidFill>
                <a:latin typeface="페이퍼로지 4 Regular"/>
              </a:rPr>
              <a:t>은 다르다.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34640" y="2359152"/>
            <a:ext cx="6519672" cy="0"/>
          </a:xfrm>
          <a:prstGeom prst="line">
            <a:avLst/>
          </a:prstGeom>
          <a:ln w="12700">
            <a:solidFill>
              <a:srgbClr val="3C5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91640" y="2743200"/>
            <a:ext cx="8805672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D5E3F5"/>
                </a:solidFill>
                <a:latin typeface="페이퍼로지 4 Regular"/>
              </a:rPr>
              <a:t>보이스피싱으로 판단이 흔들린 상황에서도
금융소비자가 경고를 받아들이고 다시 판단해야 하는 순간이 존재한다.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38528" y="4133087"/>
            <a:ext cx="1417320" cy="530352"/>
          </a:xfrm>
          <a:prstGeom prst="roundRect">
            <a:avLst>
              <a:gd name="adj" fmla="val 8000"/>
            </a:avLst>
          </a:prstGeom>
          <a:solidFill>
            <a:srgbClr val="0F365E"/>
          </a:solidFill>
          <a:ln w="12700">
            <a:solidFill>
              <a:srgbClr val="0F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38528" y="4133087"/>
            <a:ext cx="141732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페이퍼로지 7 Bold"/>
              </a:rPr>
              <a:t>AI 탐지</a:t>
            </a:r>
          </a:p>
        </p:txBody>
      </p:sp>
      <p:sp>
        <p:nvSpPr>
          <p:cNvPr id="10" name="Chevron 9"/>
          <p:cNvSpPr/>
          <p:nvPr/>
        </p:nvSpPr>
        <p:spPr>
          <a:xfrm>
            <a:off x="3474720" y="4288536"/>
            <a:ext cx="384048" cy="201168"/>
          </a:xfrm>
          <a:prstGeom prst="chevron">
            <a:avLst/>
          </a:prstGeom>
          <a:solidFill>
            <a:srgbClr val="517094"/>
          </a:solidFill>
          <a:ln>
            <a:solidFill>
              <a:srgbClr val="517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087368" y="4133087"/>
            <a:ext cx="1417320" cy="530352"/>
          </a:xfrm>
          <a:prstGeom prst="roundRect">
            <a:avLst>
              <a:gd name="adj" fmla="val 8000"/>
            </a:avLst>
          </a:prstGeom>
          <a:solidFill>
            <a:srgbClr val="0F365E"/>
          </a:solidFill>
          <a:ln w="12700">
            <a:solidFill>
              <a:srgbClr val="0F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7368" y="4133087"/>
            <a:ext cx="141732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페이퍼로지 7 Bold"/>
              </a:rPr>
              <a:t>경고</a:t>
            </a:r>
          </a:p>
        </p:txBody>
      </p:sp>
      <p:sp>
        <p:nvSpPr>
          <p:cNvPr id="13" name="Chevron 12"/>
          <p:cNvSpPr/>
          <p:nvPr/>
        </p:nvSpPr>
        <p:spPr>
          <a:xfrm>
            <a:off x="5623560" y="4288536"/>
            <a:ext cx="384048" cy="201168"/>
          </a:xfrm>
          <a:prstGeom prst="chevron">
            <a:avLst/>
          </a:prstGeom>
          <a:solidFill>
            <a:srgbClr val="517094"/>
          </a:solidFill>
          <a:ln>
            <a:solidFill>
              <a:srgbClr val="517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36208" y="4133087"/>
            <a:ext cx="1417320" cy="530352"/>
          </a:xfrm>
          <a:prstGeom prst="roundRect">
            <a:avLst>
              <a:gd name="adj" fmla="val 8000"/>
            </a:avLst>
          </a:prstGeom>
          <a:solidFill>
            <a:srgbClr val="0F365E"/>
          </a:solidFill>
          <a:ln w="12700">
            <a:solidFill>
              <a:srgbClr val="0F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6208" y="4133087"/>
            <a:ext cx="141732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페이퍼로지 7 Bold"/>
              </a:rPr>
              <a:t>재판단</a:t>
            </a:r>
          </a:p>
        </p:txBody>
      </p:sp>
      <p:sp>
        <p:nvSpPr>
          <p:cNvPr id="16" name="Chevron 15"/>
          <p:cNvSpPr/>
          <p:nvPr/>
        </p:nvSpPr>
        <p:spPr>
          <a:xfrm>
            <a:off x="7772400" y="4288536"/>
            <a:ext cx="384048" cy="201168"/>
          </a:xfrm>
          <a:prstGeom prst="chevron">
            <a:avLst/>
          </a:prstGeom>
          <a:solidFill>
            <a:srgbClr val="517094"/>
          </a:solidFill>
          <a:ln>
            <a:solidFill>
              <a:srgbClr val="517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85048" y="4133087"/>
            <a:ext cx="1417320" cy="530352"/>
          </a:xfrm>
          <a:prstGeom prst="roundRect">
            <a:avLst>
              <a:gd name="adj" fmla="val 8000"/>
            </a:avLst>
          </a:prstGeom>
          <a:solidFill>
            <a:srgbClr val="0F365E"/>
          </a:solidFill>
          <a:ln w="12700">
            <a:solidFill>
              <a:srgbClr val="0F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4133087"/>
            <a:ext cx="141732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페이퍼로지 7 Bold"/>
              </a:rPr>
              <a:t>송금</a:t>
            </a:r>
          </a:p>
        </p:txBody>
      </p:sp>
      <p:sp>
        <p:nvSpPr>
          <p:cNvPr id="19" name="Oval 18"/>
          <p:cNvSpPr/>
          <p:nvPr/>
        </p:nvSpPr>
        <p:spPr>
          <a:xfrm>
            <a:off x="5522976" y="3950208"/>
            <a:ext cx="329184" cy="329184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980944" y="5138928"/>
            <a:ext cx="6236208" cy="713232"/>
          </a:xfrm>
          <a:prstGeom prst="roundRect">
            <a:avLst>
              <a:gd name="adj" fmla="val 8000"/>
            </a:avLst>
          </a:prstGeom>
          <a:solidFill>
            <a:srgbClr val="0B2D52"/>
          </a:solidFill>
          <a:ln w="12700">
            <a:solidFill>
              <a:srgbClr val="244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63824" y="5330952"/>
            <a:ext cx="5870448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페이퍼로지 7 Bold"/>
              </a:rPr>
              <a:t>그 순간을 개인에게만 맡기지 않는다면?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30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AFC2DA"/>
                </a:solidFill>
                <a:latin typeface="페이퍼로지 4 Regular"/>
              </a:rPr>
              <a:t>문제정의 근거: [S6][S7][S9] 공식 서비스·사례에서 확인된 경고, 보호자 알림, 외부 개입과 재판단의 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FC2DA"/>
                </a:solidFill>
                <a:latin typeface="페이퍼로지 4 Regula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0972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해결 원칙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더 많은 경고가 아니라, 탐지·독립검증·행동보류의 결합이 필요하다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판단을 대신하지 않되, 잘못된 판단이 즉시 피해로 연결되지 않도록 외부의 관점과 시간을 삽입한다.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057400"/>
            <a:ext cx="3310128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2313432"/>
            <a:ext cx="411480" cy="41148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313432"/>
            <a:ext cx="41148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67712"/>
            <a:ext cx="2139696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242"/>
                </a:solidFill>
                <a:latin typeface="페이퍼로지 7 Bold"/>
              </a:rPr>
              <a:t>탐지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89504"/>
            <a:ext cx="2788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1B3150"/>
                </a:solidFill>
                <a:latin typeface="페이퍼로지 7 Bold"/>
              </a:rPr>
              <a:t>AI가 통화 맥락에서
위험 신호를 포착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" y="3685032"/>
            <a:ext cx="2615184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7280" y="3886200"/>
            <a:ext cx="2615184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>
                <a:solidFill>
                  <a:srgbClr val="697D98"/>
                </a:solidFill>
                <a:latin typeface="페이퍼로지 4 Regular"/>
              </a:rPr>
              <a:t>사칭 · 권위 · 긴급성
금융행동 요구</a:t>
            </a:r>
          </a:p>
        </p:txBody>
      </p:sp>
      <p:sp>
        <p:nvSpPr>
          <p:cNvPr id="18" name="Chevron 17"/>
          <p:cNvSpPr/>
          <p:nvPr/>
        </p:nvSpPr>
        <p:spPr>
          <a:xfrm>
            <a:off x="4160520" y="3236976"/>
            <a:ext cx="329184" cy="219456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53128" y="2057400"/>
            <a:ext cx="3310128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709160" y="2313432"/>
            <a:ext cx="411480" cy="411480"/>
          </a:xfrm>
          <a:prstGeom prst="ellipse">
            <a:avLst/>
          </a:prstGeom>
          <a:solidFill>
            <a:srgbClr val="E9F9F4"/>
          </a:solidFill>
          <a:ln w="1270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2313432"/>
            <a:ext cx="41148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D9173"/>
                </a:solidFill>
                <a:latin typeface="페이퍼로지 7 Bold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267712"/>
            <a:ext cx="2139696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242"/>
                </a:solidFill>
                <a:latin typeface="페이퍼로지 7 Bold"/>
              </a:rPr>
              <a:t>독립검증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889504"/>
            <a:ext cx="2788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1B3150"/>
                </a:solidFill>
                <a:latin typeface="페이퍼로지 7 Bold"/>
              </a:rPr>
              <a:t>상황 밖의 제3자가
사실과 맥락을 재확인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00600" y="3685032"/>
            <a:ext cx="2615183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00600" y="3886200"/>
            <a:ext cx="2615184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>
                <a:solidFill>
                  <a:srgbClr val="697D98"/>
                </a:solidFill>
                <a:latin typeface="페이퍼로지 4 Regular"/>
              </a:rPr>
              <a:t>신뢰인 공동검토
금융기관·공식기관 확인</a:t>
            </a:r>
          </a:p>
        </p:txBody>
      </p:sp>
      <p:sp>
        <p:nvSpPr>
          <p:cNvPr id="26" name="Chevron 25"/>
          <p:cNvSpPr/>
          <p:nvPr/>
        </p:nvSpPr>
        <p:spPr>
          <a:xfrm>
            <a:off x="7863840" y="3236976"/>
            <a:ext cx="329184" cy="219456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56448" y="2057400"/>
            <a:ext cx="3310128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12480" y="2313432"/>
            <a:ext cx="411480" cy="411480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2313432"/>
            <a:ext cx="41148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267712"/>
            <a:ext cx="2139696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242"/>
                </a:solidFill>
                <a:latin typeface="페이퍼로지 7 Bold"/>
              </a:rPr>
              <a:t>행동보류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889504"/>
            <a:ext cx="2788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1B3150"/>
                </a:solidFill>
                <a:latin typeface="페이퍼로지 7 Bold"/>
              </a:rPr>
              <a:t>검증 중 위험 거래가
피해로 이어지지 않게 지연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03920" y="3685032"/>
            <a:ext cx="2615184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503920" y="3886200"/>
            <a:ext cx="2615184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>
                <a:solidFill>
                  <a:srgbClr val="697D98"/>
                </a:solidFill>
                <a:latin typeface="페이퍼로지 4 Regular"/>
              </a:rPr>
              <a:t>송금 일시 보류
승인·거절·추가조치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5285232"/>
            <a:ext cx="9966960" cy="62179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417320" y="5422392"/>
            <a:ext cx="932688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0CFFF"/>
                </a:solidFill>
                <a:latin typeface="페이퍼로지 7 Bold"/>
              </a:rPr>
              <a:t>서비스 설계 원칙  |  </a:t>
            </a:r>
            <a:r>
              <a:rPr sz="1060" b="1">
                <a:solidFill>
                  <a:srgbClr val="FFFFFF"/>
                </a:solidFill>
                <a:latin typeface="페이퍼로지 7 Bold"/>
              </a:rPr>
              <a:t>AI는 위험을 찾고, 사람과 기관은 상황을 검증하며, 시스템은 그동안 행동을 잠시 멈춘다.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해결원칙: 앞선 문제정의로부터 도출한 본 제안의 설계 원칙 — 탐지·검증·보류의 역할 분리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325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서비스 포지션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우리는 기존 보호체계 사이를 연결한다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통화 AI와 금융권의 거래보호 사이에, 통화 맥락을 검증하고 특정 거래를 공동 검토하는 구간을 삽입한다.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0280"/>
            <a:ext cx="3063240" cy="233172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505456"/>
            <a:ext cx="260604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B67FF"/>
                </a:solidFill>
                <a:latin typeface="페이퍼로지 7 Bold"/>
              </a:rPr>
              <a:t>통화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260604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3150"/>
                </a:solidFill>
                <a:latin typeface="페이퍼로지 7 Bold"/>
              </a:rPr>
              <a:t>위험 탐지 · 사용자 경고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096512"/>
            <a:ext cx="1417320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4096512"/>
            <a:ext cx="14173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2B67FF"/>
                </a:solidFill>
                <a:latin typeface="페이퍼로지 7 Bold"/>
              </a:rPr>
              <a:t>에이닷 · 익시오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2240280"/>
            <a:ext cx="3063240" cy="233172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07992" y="2505456"/>
            <a:ext cx="260604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페이퍼로지 7 Bold"/>
              </a:rPr>
              <a:t>AI 독립검증형
송금방지턱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145536"/>
            <a:ext cx="260604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D3E2F4"/>
                </a:solidFill>
                <a:latin typeface="페이퍼로지 7 Bold"/>
              </a:rPr>
              <a:t>통화 맥락 진위검증
+ 특정 거래 공동검토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2352" y="4096512"/>
            <a:ext cx="141732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02352" y="4096512"/>
            <a:ext cx="14173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2B67FF"/>
                </a:solidFill>
                <a:latin typeface="페이퍼로지 7 Bold"/>
              </a:rPr>
              <a:t>우리의 연결 구간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2240280"/>
            <a:ext cx="3063240" cy="2331720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47304" y="2505456"/>
            <a:ext cx="260604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4A1E"/>
                </a:solidFill>
                <a:latin typeface="페이퍼로지 7 Bold"/>
              </a:rPr>
              <a:t>금융 보호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3145536"/>
            <a:ext cx="260604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3150"/>
                </a:solidFill>
                <a:latin typeface="페이퍼로지 7 Bold"/>
              </a:rPr>
              <a:t>거래 분석 · 지연 · 중단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41664" y="4096512"/>
            <a:ext cx="1417320" cy="25603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41664" y="4096512"/>
            <a:ext cx="14173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FF4A1E"/>
                </a:solidFill>
                <a:latin typeface="페이퍼로지 7 Bold"/>
              </a:rPr>
              <a:t>FDS · ASAP</a:t>
            </a:r>
          </a:p>
        </p:txBody>
      </p:sp>
      <p:sp>
        <p:nvSpPr>
          <p:cNvPr id="26" name="Chevron 25"/>
          <p:cNvSpPr/>
          <p:nvPr/>
        </p:nvSpPr>
        <p:spPr>
          <a:xfrm>
            <a:off x="3840480" y="3154680"/>
            <a:ext cx="365760" cy="25603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hevron 26"/>
          <p:cNvSpPr/>
          <p:nvPr/>
        </p:nvSpPr>
        <p:spPr>
          <a:xfrm>
            <a:off x="7479792" y="3154680"/>
            <a:ext cx="365760" cy="25603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60120" y="5102352"/>
            <a:ext cx="10241280" cy="66751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34440" y="5248656"/>
            <a:ext cx="96926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B67FF"/>
                </a:solidFill>
                <a:latin typeface="페이퍼로지 7 Bold"/>
              </a:rPr>
              <a:t>차별점  |  </a:t>
            </a:r>
            <a:r>
              <a:rPr sz="1030" b="0">
                <a:solidFill>
                  <a:srgbClr val="1B3150"/>
                </a:solidFill>
                <a:latin typeface="페이퍼로지 4 Regular"/>
              </a:rPr>
              <a:t>“경고”를 추가하는 것이 아니라, </a:t>
            </a:r>
            <a:r>
              <a:rPr sz="1030" b="1">
                <a:solidFill>
                  <a:srgbClr val="0B2242"/>
                </a:solidFill>
                <a:latin typeface="페이퍼로지 7 Bold"/>
              </a:rPr>
              <a:t>탐지 결과를 외부 검증과 거래보류까지 연결</a:t>
            </a:r>
            <a:r>
              <a:rPr sz="1030" b="0">
                <a:solidFill>
                  <a:srgbClr val="1B3150"/>
                </a:solidFill>
                <a:latin typeface="페이퍼로지 4 Regular"/>
              </a:rPr>
              <a:t>한다.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포지션 해석: 기존 통화 AI·가족 알림·FDS·ASAP 기능을 대체하지 않고, 통화 맥락과 거래 검토를 연결하는 보완 구조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6304" y="173736"/>
            <a:ext cx="15544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페이퍼로지 7 Bold"/>
              </a:rPr>
              <a:t>해결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41832"/>
            <a:ext cx="10360152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D1E1F3"/>
                </a:solidFill>
                <a:latin typeface="페이퍼로지 4 Regular"/>
              </a:rPr>
              <a:t>판단과 송금 사이에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53312"/>
            <a:ext cx="10360152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4A1E"/>
                </a:solidFill>
                <a:latin typeface="페이퍼로지 7 Bold"/>
              </a:rPr>
              <a:t>‘금융 방지턱’</a:t>
            </a:r>
            <a:r>
              <a:rPr sz="3400" b="1">
                <a:solidFill>
                  <a:srgbClr val="FFFFFF"/>
                </a:solidFill>
                <a:latin typeface="페이퍼로지 7 Bold"/>
              </a:rPr>
              <a:t>을 만든다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1874519" cy="621792"/>
          </a:xfrm>
          <a:prstGeom prst="roundRect">
            <a:avLst>
              <a:gd name="adj" fmla="val 8000"/>
            </a:avLst>
          </a:prstGeom>
          <a:solidFill>
            <a:srgbClr val="0F365E"/>
          </a:solidFill>
          <a:ln w="12700">
            <a:solidFill>
              <a:srgbClr val="0F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874519" cy="6217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페이퍼로지 7 Bold"/>
              </a:rPr>
              <a:t>판단 흔들림</a:t>
            </a:r>
          </a:p>
        </p:txBody>
      </p:sp>
      <p:sp>
        <p:nvSpPr>
          <p:cNvPr id="8" name="Chevron 7"/>
          <p:cNvSpPr/>
          <p:nvPr/>
        </p:nvSpPr>
        <p:spPr>
          <a:xfrm>
            <a:off x="3182112" y="3081528"/>
            <a:ext cx="457200" cy="228600"/>
          </a:xfrm>
          <a:prstGeom prst="chevron">
            <a:avLst/>
          </a:prstGeom>
          <a:solidFill>
            <a:srgbClr val="4B6C90"/>
          </a:solidFill>
          <a:ln>
            <a:solidFill>
              <a:srgbClr val="4B6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49039" y="2487168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0D3156"/>
          </a:solidFill>
          <a:ln w="12700">
            <a:solidFill>
              <a:srgbClr val="34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2688336"/>
            <a:ext cx="333756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페이퍼로지 7 Bold"/>
              </a:rPr>
              <a:t>AI 독립검증형 송금방지턱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3182112"/>
            <a:ext cx="457200" cy="164592"/>
          </a:xfrm>
          <a:prstGeom prst="roundRect">
            <a:avLst>
              <a:gd name="adj" fmla="val 8000"/>
            </a:avLst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12080" y="3182112"/>
            <a:ext cx="658368" cy="164592"/>
          </a:xfrm>
          <a:prstGeom prst="roundRect">
            <a:avLst>
              <a:gd name="adj" fmla="val 8000"/>
            </a:avLst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806440" y="3182112"/>
            <a:ext cx="457200" cy="164592"/>
          </a:xfrm>
          <a:prstGeom prst="roundRect">
            <a:avLst>
              <a:gd name="adj" fmla="val 8000"/>
            </a:avLst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39" y="3493008"/>
            <a:ext cx="333756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B5D7FB"/>
                </a:solidFill>
                <a:latin typeface="페이퍼로지 7 Bold"/>
              </a:rPr>
              <a:t>탐지  ·  검증  ·  보류</a:t>
            </a:r>
          </a:p>
        </p:txBody>
      </p:sp>
      <p:sp>
        <p:nvSpPr>
          <p:cNvPr id="15" name="Chevron 14"/>
          <p:cNvSpPr/>
          <p:nvPr/>
        </p:nvSpPr>
        <p:spPr>
          <a:xfrm>
            <a:off x="7223760" y="3081528"/>
            <a:ext cx="457200" cy="228600"/>
          </a:xfrm>
          <a:prstGeom prst="chevron">
            <a:avLst/>
          </a:prstGeom>
          <a:solidFill>
            <a:srgbClr val="4B6C90"/>
          </a:solidFill>
          <a:ln>
            <a:solidFill>
              <a:srgbClr val="4B6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818120" y="2880360"/>
            <a:ext cx="1874519" cy="621792"/>
          </a:xfrm>
          <a:prstGeom prst="roundRect">
            <a:avLst>
              <a:gd name="adj" fmla="val 8000"/>
            </a:avLst>
          </a:prstGeom>
          <a:solidFill>
            <a:srgbClr val="186753"/>
          </a:solidFill>
          <a:ln w="12700">
            <a:solidFill>
              <a:srgbClr val="186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880360"/>
            <a:ext cx="1874519" cy="6217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페이퍼로지 7 Bold"/>
              </a:rPr>
              <a:t>안전한 재판단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462272"/>
            <a:ext cx="8366760" cy="7498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페이퍼로지 7 Bold"/>
              </a:rPr>
              <a:t>판단을 대신하지 않는다.
피해로 연결되기 전에 한 번 더 멈춘다.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07792" y="5541264"/>
            <a:ext cx="6382512" cy="429768"/>
          </a:xfrm>
          <a:prstGeom prst="roundRect">
            <a:avLst>
              <a:gd name="adj" fmla="val 8000"/>
            </a:avLst>
          </a:prstGeom>
          <a:solidFill>
            <a:srgbClr val="0A2A4D"/>
          </a:solidFill>
          <a:ln w="12700">
            <a:solidFill>
              <a:srgbClr val="264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07792" y="5541264"/>
            <a:ext cx="6382512" cy="4297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BCD8F7"/>
                </a:solidFill>
                <a:latin typeface="페이퍼로지 7 Bold"/>
              </a:rPr>
              <a:t>AI 독립검증 기반 보이스피싱 금융안전 서비스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30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AFC2DA"/>
                </a:solidFill>
                <a:latin typeface="페이퍼로지 4 Regular"/>
              </a:rPr>
              <a:t>서비스 컨셉: “판단과 송금 사이에 한 번 더 멈추는 보호구간”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FC2DA"/>
                </a:solidFill>
                <a:latin typeface="페이퍼로지 4 Regula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0972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서비스 제안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AI 독립검증형 송금방지턱 — 5단계 보호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탐지에서 끝나지 않고 근거 공유, 거래 보류, 외부 검증까지 하나의 흐름으로 연결한다.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1965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7512" y="2176272"/>
            <a:ext cx="384048" cy="384048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217627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761488"/>
            <a:ext cx="1636776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0B2242"/>
                </a:solidFill>
                <a:latin typeface="페이퍼로지 7 Bold"/>
              </a:rPr>
              <a:t>AI 통화
위험 탐지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3611880"/>
            <a:ext cx="1417320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2376" y="3867912"/>
            <a:ext cx="1527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사칭·권위·긴급성
금융행동 요구 신호</a:t>
            </a:r>
          </a:p>
        </p:txBody>
      </p:sp>
      <p:sp>
        <p:nvSpPr>
          <p:cNvPr id="17" name="Chevron 16"/>
          <p:cNvSpPr/>
          <p:nvPr/>
        </p:nvSpPr>
        <p:spPr>
          <a:xfrm>
            <a:off x="2514600" y="3200400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834639" y="2011680"/>
            <a:ext cx="1965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999232" y="2176272"/>
            <a:ext cx="384048" cy="384048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99232" y="217627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2761488"/>
            <a:ext cx="1636776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0B2242"/>
                </a:solidFill>
                <a:latin typeface="페이퍼로지 7 Bold"/>
              </a:rPr>
              <a:t>위험도·근거
산출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08959" y="3611880"/>
            <a:ext cx="1417320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4096" y="3867912"/>
            <a:ext cx="1527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점수와 함께
왜 위험한지 제시</a:t>
            </a:r>
          </a:p>
        </p:txBody>
      </p:sp>
      <p:sp>
        <p:nvSpPr>
          <p:cNvPr id="24" name="Chevron 23"/>
          <p:cNvSpPr/>
          <p:nvPr/>
        </p:nvSpPr>
        <p:spPr>
          <a:xfrm>
            <a:off x="4846320" y="3200400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66359" y="2011680"/>
            <a:ext cx="1965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330951" y="2176272"/>
            <a:ext cx="384048" cy="384048"/>
          </a:xfrm>
          <a:prstGeom prst="ellipse">
            <a:avLst/>
          </a:prstGeom>
          <a:solidFill>
            <a:srgbClr val="E9F9F4"/>
          </a:solidFill>
          <a:ln w="1270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30951" y="217627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D9173"/>
                </a:solidFill>
                <a:latin typeface="페이퍼로지 7 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951" y="2761488"/>
            <a:ext cx="1636776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0B2242"/>
                </a:solidFill>
                <a:latin typeface="페이퍼로지 7 Bold"/>
              </a:rPr>
              <a:t>역할별
맞춤 브리프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40679" y="3611880"/>
            <a:ext cx="1417321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85816" y="3867912"/>
            <a:ext cx="1527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피해자·신뢰인·
금융기관 정보 분리</a:t>
            </a:r>
          </a:p>
        </p:txBody>
      </p:sp>
      <p:sp>
        <p:nvSpPr>
          <p:cNvPr id="31" name="Chevron 30"/>
          <p:cNvSpPr/>
          <p:nvPr/>
        </p:nvSpPr>
        <p:spPr>
          <a:xfrm>
            <a:off x="7178040" y="3200400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498079" y="2011680"/>
            <a:ext cx="1965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662671" y="2176272"/>
            <a:ext cx="384048" cy="38404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62671" y="217627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1" y="2761488"/>
            <a:ext cx="1636776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0B2242"/>
                </a:solidFill>
                <a:latin typeface="페이퍼로지 7 Bold"/>
              </a:rPr>
              <a:t>송금
방지턱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0" y="3611880"/>
            <a:ext cx="1417319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17536" y="3867912"/>
            <a:ext cx="1527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위험 거래
일시 보류·공동검토</a:t>
            </a:r>
          </a:p>
        </p:txBody>
      </p:sp>
      <p:sp>
        <p:nvSpPr>
          <p:cNvPr id="38" name="Chevron 37"/>
          <p:cNvSpPr/>
          <p:nvPr/>
        </p:nvSpPr>
        <p:spPr>
          <a:xfrm>
            <a:off x="9509759" y="3200400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829800" y="2011680"/>
            <a:ext cx="1965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994392" y="2176272"/>
            <a:ext cx="384048" cy="38404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94392" y="217627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4392" y="2761488"/>
            <a:ext cx="1636776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0B2242"/>
                </a:solidFill>
                <a:latin typeface="페이퍼로지 7 Bold"/>
              </a:rPr>
              <a:t>독립검증
연결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104120" y="3611880"/>
            <a:ext cx="1417320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049256" y="3867912"/>
            <a:ext cx="1527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금융기관·공식기관
진위 확인·조치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70432" y="5468112"/>
            <a:ext cx="9838944" cy="53035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70432" y="5468112"/>
            <a:ext cx="983894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FFFFF"/>
                </a:solidFill>
                <a:latin typeface="페이퍼로지 7 Bold"/>
              </a:rPr>
              <a:t>탐지  →  근거  →  공유  →  보류  →  검증  :  “판단”과 “금융행동”을 동시에 보호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서비스 설계: 위험탐지·설명·역할별 라우팅·거래보류·공식검증을 연결한 5단계 구조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0972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서비스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관계자마다 필요한 정보와 권한만 제공한다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동일한 통화 내용을 모두에게 보내지 않고, 역할 수행에 필요한 최소 정보만 분리해 전달한다.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65376"/>
            <a:ext cx="1600200" cy="493776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865376"/>
            <a:ext cx="1600200" cy="4937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페이퍼로지 7 Bold"/>
              </a:rPr>
              <a:t>주체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1865376"/>
            <a:ext cx="3063240" cy="493776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1720" y="1865376"/>
            <a:ext cx="3063240" cy="4937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페이퍼로지 7 Bold"/>
              </a:rPr>
              <a:t>LLM 제공 정보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1865376"/>
            <a:ext cx="2724912" cy="493776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32120" y="1865376"/>
            <a:ext cx="2724912" cy="4937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페이퍼로지 7 Bold"/>
              </a:rPr>
              <a:t>핵심 역할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1865376"/>
            <a:ext cx="3182112" cy="493776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1865376"/>
            <a:ext cx="3182112" cy="4937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페이퍼로지 7 Bold"/>
              </a:rPr>
              <a:t>접근 원칙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487168"/>
            <a:ext cx="1600200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2551176"/>
            <a:ext cx="145389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B67FF"/>
                </a:solidFill>
                <a:latin typeface="페이퍼로지 7 Bold"/>
              </a:rPr>
              <a:t>피해자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2487168"/>
            <a:ext cx="3063240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04872" y="2551176"/>
            <a:ext cx="291693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위험도 · 근거 · 즉시 행동 안내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2487168"/>
            <a:ext cx="2724912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05272" y="2551176"/>
            <a:ext cx="25786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통화 종료 · 재확인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94192" y="2487168"/>
            <a:ext cx="3182112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67344" y="2551176"/>
            <a:ext cx="30358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본인 의사결정 지원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19272"/>
            <a:ext cx="1600200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" y="3383280"/>
            <a:ext cx="145389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B67FF"/>
                </a:solidFill>
                <a:latin typeface="페이퍼로지 7 Bold"/>
              </a:rPr>
              <a:t>신뢰인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31720" y="3319272"/>
            <a:ext cx="3063240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04872" y="3383280"/>
            <a:ext cx="291693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상황 요약 · 요구금액 · AI 분석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2120" y="3319272"/>
            <a:ext cx="2724912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05272" y="3383280"/>
            <a:ext cx="25786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거래별 공동검토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94192" y="3319272"/>
            <a:ext cx="3182112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67344" y="3383280"/>
            <a:ext cx="30358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최소 필요 정보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151376"/>
            <a:ext cx="1600200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512" y="4215384"/>
            <a:ext cx="145389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B67FF"/>
                </a:solidFill>
                <a:latin typeface="페이퍼로지 7 Bold"/>
              </a:rPr>
              <a:t>금융기관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31720" y="4151376"/>
            <a:ext cx="3063240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04872" y="4215384"/>
            <a:ext cx="291693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거래위험 · 요구금액 · 계좌정보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32120" y="4151376"/>
            <a:ext cx="2724912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05272" y="4215384"/>
            <a:ext cx="25786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추가확인 · 보류 · 차단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94192" y="4151376"/>
            <a:ext cx="3182112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67344" y="4215384"/>
            <a:ext cx="30358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금융행동 보호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4983480"/>
            <a:ext cx="1600200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" y="5047488"/>
            <a:ext cx="145389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B67FF"/>
                </a:solidFill>
                <a:latin typeface="페이퍼로지 7 Bold"/>
              </a:rPr>
              <a:t>기관 담당자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1720" y="4983480"/>
            <a:ext cx="3063240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404872" y="5047488"/>
            <a:ext cx="291693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사칭기관 · 주장 · 확인요청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32120" y="4983480"/>
            <a:ext cx="2724912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05272" y="5047488"/>
            <a:ext cx="25786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공식 진위검증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94192" y="4983480"/>
            <a:ext cx="3182112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67344" y="5047488"/>
            <a:ext cx="30358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진위확인만 제공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" y="5925312"/>
            <a:ext cx="10561320" cy="36576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4672" y="5925312"/>
            <a:ext cx="1056132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B67FF"/>
                </a:solidFill>
                <a:latin typeface="페이퍼로지 7 Bold"/>
              </a:rPr>
              <a:t>PRIVACY BY ROLE  |  필요한 정보만 · 필요한 주체에게 · 필요한 순간에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서비스 원칙: 역할별 최소정보 제공, 거래 단위 공동검토, 기관에는 진위확인에 필요한 정보만 전달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601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AI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AI는 위험을 탐지하고, 근거를 구조화하며, 행동을 연결한다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모델 하나가 모든 결정을 내리는 구조가 아니라, STT·ML·LLM·Rule Engine이 각기 다른 역할을 담당한다.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057400"/>
            <a:ext cx="1609344" cy="2404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21207" y="2221992"/>
            <a:ext cx="347472" cy="347472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7" y="2221992"/>
            <a:ext cx="3474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0B2242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16352"/>
            <a:ext cx="12801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B2242"/>
                </a:solidFill>
                <a:latin typeface="페이퍼로지 7 Bold"/>
              </a:rPr>
              <a:t>통화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2801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실시간 음성
또는 녹음 파일</a:t>
            </a:r>
          </a:p>
        </p:txBody>
      </p:sp>
      <p:sp>
        <p:nvSpPr>
          <p:cNvPr id="16" name="Chevron 15"/>
          <p:cNvSpPr/>
          <p:nvPr/>
        </p:nvSpPr>
        <p:spPr>
          <a:xfrm>
            <a:off x="2029968" y="3072384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331720" y="2057400"/>
            <a:ext cx="1609344" cy="2404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468879" y="2221992"/>
            <a:ext cx="347472" cy="347472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79" y="2221992"/>
            <a:ext cx="3474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2816352"/>
            <a:ext cx="12801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B2242"/>
                </a:solidFill>
                <a:latin typeface="페이퍼로지 7 Bold"/>
              </a:rPr>
              <a:t>STT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96312" y="3291840"/>
            <a:ext cx="12801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화자 구분
텍스트 변환</a:t>
            </a:r>
          </a:p>
        </p:txBody>
      </p:sp>
      <p:sp>
        <p:nvSpPr>
          <p:cNvPr id="22" name="Chevron 21"/>
          <p:cNvSpPr/>
          <p:nvPr/>
        </p:nvSpPr>
        <p:spPr>
          <a:xfrm>
            <a:off x="3977639" y="3072384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279392" y="2057400"/>
            <a:ext cx="1609344" cy="2404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16552" y="2221992"/>
            <a:ext cx="347472" cy="347472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6552" y="2221992"/>
            <a:ext cx="3474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3" y="2816352"/>
            <a:ext cx="12801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B2242"/>
                </a:solidFill>
                <a:latin typeface="페이퍼로지 7 Bold"/>
              </a:rPr>
              <a:t>Feature 추출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3" y="3291840"/>
            <a:ext cx="12801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사칭·심리전략
요구행동·상호작용</a:t>
            </a:r>
          </a:p>
        </p:txBody>
      </p:sp>
      <p:sp>
        <p:nvSpPr>
          <p:cNvPr id="28" name="Chevron 27"/>
          <p:cNvSpPr/>
          <p:nvPr/>
        </p:nvSpPr>
        <p:spPr>
          <a:xfrm>
            <a:off x="5925312" y="3072384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27064" y="2057400"/>
            <a:ext cx="1609344" cy="2404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64224" y="2221992"/>
            <a:ext cx="347472" cy="347472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2221992"/>
            <a:ext cx="3474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D9173"/>
                </a:solidFill>
                <a:latin typeface="페이퍼로지 7 Bold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5" y="2816352"/>
            <a:ext cx="12801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B2242"/>
                </a:solidFill>
                <a:latin typeface="페이퍼로지 7 Bold"/>
              </a:rPr>
              <a:t>ML 위험분류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5" y="3291840"/>
            <a:ext cx="12801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위험도·확률
Threshold 판정</a:t>
            </a:r>
          </a:p>
        </p:txBody>
      </p:sp>
      <p:sp>
        <p:nvSpPr>
          <p:cNvPr id="34" name="Chevron 33"/>
          <p:cNvSpPr/>
          <p:nvPr/>
        </p:nvSpPr>
        <p:spPr>
          <a:xfrm>
            <a:off x="7872983" y="3072384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174736" y="2057400"/>
            <a:ext cx="1609344" cy="2404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11896" y="2221992"/>
            <a:ext cx="347472" cy="347472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11896" y="2221992"/>
            <a:ext cx="3474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7" y="2816352"/>
            <a:ext cx="12801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B2242"/>
                </a:solidFill>
                <a:latin typeface="페이퍼로지 7 Bold"/>
              </a:rPr>
              <a:t>LLM 브리프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3291840"/>
            <a:ext cx="12801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근거 요약
역할별 설명</a:t>
            </a:r>
          </a:p>
        </p:txBody>
      </p:sp>
      <p:sp>
        <p:nvSpPr>
          <p:cNvPr id="40" name="Chevron 39"/>
          <p:cNvSpPr/>
          <p:nvPr/>
        </p:nvSpPr>
        <p:spPr>
          <a:xfrm>
            <a:off x="9820656" y="3072384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122407" y="2057400"/>
            <a:ext cx="1609344" cy="2404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259567" y="2221992"/>
            <a:ext cx="347472" cy="347472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59567" y="2221992"/>
            <a:ext cx="3474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CB3944"/>
                </a:solidFill>
                <a:latin typeface="페이퍼로지 7 Bold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6999" y="2816352"/>
            <a:ext cx="12801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B2242"/>
                </a:solidFill>
                <a:latin typeface="페이퍼로지 7 Bold"/>
              </a:rPr>
              <a:t>Rule Engine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6999" y="3291840"/>
            <a:ext cx="12801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알림 라우팅
송금보류·승인 흐름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" y="4882896"/>
            <a:ext cx="10451592" cy="89611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43000" y="5047488"/>
            <a:ext cx="9902952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2B67FF"/>
                </a:solidFill>
                <a:latin typeface="페이퍼로지 7 Bold"/>
              </a:rPr>
              <a:t>핵심 분리  |  </a:t>
            </a:r>
            <a:r>
              <a:rPr sz="1030" b="1">
                <a:solidFill>
                  <a:srgbClr val="0B2242"/>
                </a:solidFill>
                <a:latin typeface="페이퍼로지 7 Bold"/>
              </a:rPr>
              <a:t>ML은 “위험 가능성”을 분류</a:t>
            </a:r>
            <a:r>
              <a:rPr sz="1030" b="0">
                <a:solidFill>
                  <a:srgbClr val="1B3150"/>
                </a:solidFill>
                <a:latin typeface="페이퍼로지 4 Regular"/>
              </a:rPr>
              <a:t>하고, </a:t>
            </a:r>
            <a:r>
              <a:rPr sz="1030" b="1">
                <a:solidFill>
                  <a:srgbClr val="0B2242"/>
                </a:solidFill>
                <a:latin typeface="페이퍼로지 7 Bold"/>
              </a:rPr>
              <a:t>LLM은 “왜 위험한지”를 구조화</a:t>
            </a:r>
            <a:r>
              <a:rPr sz="1030" b="0">
                <a:solidFill>
                  <a:srgbClr val="1B3150"/>
                </a:solidFill>
                <a:latin typeface="페이퍼로지 4 Regular"/>
              </a:rPr>
              <a:t>하며, </a:t>
            </a:r>
            <a:r>
              <a:rPr sz="1030" b="1">
                <a:solidFill>
                  <a:srgbClr val="FF4A1E"/>
                </a:solidFill>
                <a:latin typeface="페이퍼로지 7 Bold"/>
              </a:rPr>
              <a:t>실제 행동은 명시적 Rule과 사람의 승인</a:t>
            </a:r>
            <a:r>
              <a:rPr sz="1030" b="0">
                <a:solidFill>
                  <a:srgbClr val="1B3150"/>
                </a:solidFill>
                <a:latin typeface="페이퍼로지 4 Regular"/>
              </a:rPr>
              <a:t>으로 통제한다.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기술 구조: STT → Feature → ML → LLM → Rule Engine. 모델별 책임을 분리해 설명가능성과 운영 통제를 확보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601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AI 역할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ML과 LLM의 역할을 분리해 신뢰성을 높인다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“LLM이 보이스피싱 여부를 마음대로 결정”하는 구조가 아니라, 예측·설명·행동 통제를 분리한다.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5303520" cy="3456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6112" y="2176272"/>
            <a:ext cx="1024128" cy="292608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176272"/>
            <a:ext cx="102412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2B67FF"/>
                </a:solidFill>
                <a:latin typeface="페이퍼로지 7 Bold"/>
              </a:rP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33472"/>
            <a:ext cx="473659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242"/>
                </a:solidFill>
                <a:latin typeface="페이퍼로지 7 Bold"/>
              </a:rPr>
              <a:t>위험을 일관된 기준으로 분류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1821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1821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2B67FF"/>
                </a:solidFill>
                <a:latin typeface="페이퍼로지 7 Bold"/>
              </a:rPr>
              <a:t>입력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344" y="31821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사칭·권위·긴급성·요구행동 등 Feature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393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6393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2B67FF"/>
                </a:solidFill>
                <a:latin typeface="페이퍼로지 7 Bold"/>
              </a:rPr>
              <a:t>출력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9344" y="36393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위험확률·등급·Threshold 초과 여부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0965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0965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2B67FF"/>
                </a:solidFill>
                <a:latin typeface="페이퍼로지 7 Bold"/>
              </a:rPr>
              <a:t>평가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40965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Recall · F1 · PR-AUC · False Positive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537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5537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2B67FF"/>
                </a:solidFill>
                <a:latin typeface="페이퍼로지 7 Bold"/>
              </a:rPr>
              <a:t>원칙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9344" y="45537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Train-only Feature selection · case 단위 분리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1920240"/>
            <a:ext cx="5303520" cy="3456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92240" y="2176272"/>
            <a:ext cx="1024128" cy="292608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176272"/>
            <a:ext cx="102412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FF4A1E"/>
                </a:solidFill>
                <a:latin typeface="페이퍼로지 7 Bold"/>
              </a:rPr>
              <a:t>LARGE LANGUAGE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633472"/>
            <a:ext cx="473659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242"/>
                </a:solidFill>
                <a:latin typeface="페이퍼로지 7 Bold"/>
              </a:rPr>
              <a:t>탐지 근거를 이해 가능한 언어로 전달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0528" y="31821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0528" y="31821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4A1E"/>
                </a:solidFill>
                <a:latin typeface="페이퍼로지 7 Bold"/>
              </a:rPr>
              <a:t>입력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31821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통화 핵심 문장 + ML 위험신호 + 거래 맥락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0528" y="36393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0528" y="36393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4A1E"/>
                </a:solidFill>
                <a:latin typeface="페이퍼로지 7 Bold"/>
              </a:rPr>
              <a:t>출력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5472" y="36393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상황 요약 · 위험근거 · 역할별 행동 브리프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10528" y="40965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10528" y="40965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4A1E"/>
                </a:solidFill>
                <a:latin typeface="페이퍼로지 7 Bold"/>
              </a:rPr>
              <a:t>금지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40965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단독 최종판정 · 근거 없는 기관 진위 단정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10528" y="45537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10528" y="45537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4A1E"/>
                </a:solidFill>
                <a:latin typeface="페이퍼로지 7 Bold"/>
              </a:rPr>
              <a:t>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5472" y="45537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근거 인용 · 템플릿 출력 · 최소정보 · 로그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11680" y="5577840"/>
            <a:ext cx="8165592" cy="45720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11680" y="5577840"/>
            <a:ext cx="8165592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페이퍼로지 7 Bold"/>
              </a:rPr>
              <a:t>최종 거래 조치는 “모델의 문장”이 아니라 Rule · 권한 · 사람의 승인으로 실행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기술 원칙: ML=분류, LLM=설명·브리프, Rule Engine=행동 통제. 성능 수치는 학습·검증 완료 후 최종본에 삽입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601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송금 로직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송금방지턱은 위험도만이 아니라 ‘위험 + 송금시도’에서 작동한다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경고 남발을 줄이기 위해 통화 위험과 실제 금융행동이 동시에 충족될 때 단계적으로 개입한다.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12848"/>
            <a:ext cx="1938528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98448" y="2432304"/>
            <a:ext cx="475488" cy="475488"/>
          </a:xfrm>
          <a:prstGeom prst="ellipse">
            <a:avLst/>
          </a:prstGeom>
          <a:solidFill>
            <a:srgbClr val="E9F3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98448" y="2432304"/>
            <a:ext cx="475488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B67FF"/>
                </a:solidFill>
                <a:latin typeface="페이퍼로지 7 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026664"/>
            <a:ext cx="1481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0B2242"/>
                </a:solidFill>
                <a:latin typeface="페이퍼로지 7 Bold"/>
              </a:rPr>
              <a:t>통화 위험
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575304"/>
            <a:ext cx="148132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697D98"/>
                </a:solidFill>
                <a:latin typeface="페이퍼로지 4 Regular"/>
              </a:rPr>
              <a:t>ML 위험도
Threshold 초과</a:t>
            </a:r>
          </a:p>
        </p:txBody>
      </p:sp>
      <p:sp>
        <p:nvSpPr>
          <p:cNvPr id="16" name="Chevron 15"/>
          <p:cNvSpPr/>
          <p:nvPr/>
        </p:nvSpPr>
        <p:spPr>
          <a:xfrm>
            <a:off x="2532888" y="3072384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16352" y="2212848"/>
            <a:ext cx="1938528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47872" y="2432304"/>
            <a:ext cx="475488" cy="47548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2432304"/>
            <a:ext cx="475488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4A1E"/>
                </a:solidFill>
                <a:latin typeface="페이퍼로지 7 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4952" y="3026664"/>
            <a:ext cx="1481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0B2242"/>
                </a:solidFill>
                <a:latin typeface="페이퍼로지 7 Bold"/>
              </a:rPr>
              <a:t>송금 시도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4952" y="3575304"/>
            <a:ext cx="148132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697D98"/>
                </a:solidFill>
                <a:latin typeface="페이퍼로지 4 Regular"/>
              </a:rPr>
              <a:t>계좌·금액 입력
이체 버튼 직전</a:t>
            </a:r>
          </a:p>
        </p:txBody>
      </p:sp>
      <p:sp>
        <p:nvSpPr>
          <p:cNvPr id="22" name="Chevron 21"/>
          <p:cNvSpPr/>
          <p:nvPr/>
        </p:nvSpPr>
        <p:spPr>
          <a:xfrm>
            <a:off x="4782312" y="3072384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65776" y="2212848"/>
            <a:ext cx="1938528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797296" y="2432304"/>
            <a:ext cx="475488" cy="475488"/>
          </a:xfrm>
          <a:prstGeom prst="ellipse">
            <a:avLst/>
          </a:prstGeom>
          <a:solidFill>
            <a:srgbClr val="FFEFF2"/>
          </a:solidFill>
          <a:ln w="12700">
            <a:solidFill>
              <a:srgbClr val="CB3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97296" y="2432304"/>
            <a:ext cx="475488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B3944"/>
                </a:solidFill>
                <a:latin typeface="페이퍼로지 7 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026664"/>
            <a:ext cx="1481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0B2242"/>
                </a:solidFill>
                <a:latin typeface="페이퍼로지 7 Bold"/>
              </a:rPr>
              <a:t>일시 보류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94376" y="3575304"/>
            <a:ext cx="148132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697D98"/>
                </a:solidFill>
                <a:latin typeface="페이퍼로지 4 Regular"/>
              </a:rPr>
              <a:t>거래 상태 HOLD
타이머·안내</a:t>
            </a:r>
          </a:p>
        </p:txBody>
      </p:sp>
      <p:sp>
        <p:nvSpPr>
          <p:cNvPr id="28" name="Chevron 27"/>
          <p:cNvSpPr/>
          <p:nvPr/>
        </p:nvSpPr>
        <p:spPr>
          <a:xfrm>
            <a:off x="7031736" y="3072384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15200" y="2212848"/>
            <a:ext cx="1938528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046720" y="2432304"/>
            <a:ext cx="475488" cy="475488"/>
          </a:xfrm>
          <a:prstGeom prst="ellipse">
            <a:avLst/>
          </a:prstGeom>
          <a:solidFill>
            <a:srgbClr val="E9F9F4"/>
          </a:solidFill>
          <a:ln w="12700">
            <a:solidFill>
              <a:srgbClr val="1D9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0" y="2432304"/>
            <a:ext cx="475488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9173"/>
                </a:solidFill>
                <a:latin typeface="페이퍼로지 7 Bol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026664"/>
            <a:ext cx="1481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0B2242"/>
                </a:solidFill>
                <a:latin typeface="페이퍼로지 7 Bold"/>
              </a:rPr>
              <a:t>공동 검토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3575304"/>
            <a:ext cx="148132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697D98"/>
                </a:solidFill>
                <a:latin typeface="페이퍼로지 4 Regular"/>
              </a:rPr>
              <a:t>신뢰인 승인·거절
금융기관 추가확인</a:t>
            </a:r>
          </a:p>
        </p:txBody>
      </p:sp>
      <p:sp>
        <p:nvSpPr>
          <p:cNvPr id="34" name="Chevron 33"/>
          <p:cNvSpPr/>
          <p:nvPr/>
        </p:nvSpPr>
        <p:spPr>
          <a:xfrm>
            <a:off x="9281160" y="3072384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64624" y="2212848"/>
            <a:ext cx="1938528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296144" y="2432304"/>
            <a:ext cx="475488" cy="475488"/>
          </a:xfrm>
          <a:prstGeom prst="ellipse">
            <a:avLst/>
          </a:prstGeom>
          <a:solidFill>
            <a:srgbClr val="E9F3FF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96144" y="2432304"/>
            <a:ext cx="475488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B2242"/>
                </a:solidFill>
                <a:latin typeface="페이퍼로지 7 Bold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93224" y="3026664"/>
            <a:ext cx="1481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0B2242"/>
                </a:solidFill>
                <a:latin typeface="페이퍼로지 7 Bold"/>
              </a:rPr>
              <a:t>결과 반영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93224" y="3575304"/>
            <a:ext cx="148132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697D98"/>
                </a:solidFill>
                <a:latin typeface="페이퍼로지 4 Regular"/>
              </a:rPr>
              <a:t>승인 → 진행
거절 → 차단·안내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470916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78992" y="4882896"/>
            <a:ext cx="29260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2B67FF"/>
                </a:solidFill>
                <a:latin typeface="페이퍼로지 7 Bold"/>
              </a:rPr>
              <a:t>오탐 최소화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230368"/>
            <a:ext cx="292608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B3150"/>
                </a:solidFill>
                <a:latin typeface="페이퍼로지 4 Regular"/>
              </a:rPr>
              <a:t>위험도만으로 강제 차단하지 않고
금융행동 이벤트와 결합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470916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9F9F4"/>
          </a:solidFill>
          <a:ln w="1270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45152" y="4882896"/>
            <a:ext cx="29260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1D9173"/>
                </a:solidFill>
                <a:latin typeface="페이퍼로지 7 Bold"/>
              </a:rPr>
              <a:t>권한 분리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5152" y="5230368"/>
            <a:ext cx="292608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B3150"/>
                </a:solidFill>
                <a:latin typeface="페이퍼로지 4 Regular"/>
              </a:rPr>
              <a:t>신뢰인은 거래별 공동검토
금융기관은 보류·차단 권한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79" y="470916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11312" y="4882896"/>
            <a:ext cx="29260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FF4A1E"/>
                </a:solidFill>
                <a:latin typeface="페이퍼로지 7 Bold"/>
              </a:rPr>
              <a:t>Fail-safe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5230368"/>
            <a:ext cx="292608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B3150"/>
                </a:solidFill>
                <a:latin typeface="페이퍼로지 4 Regular"/>
              </a:rPr>
              <a:t>시간초과·신뢰인 미응답 시
금융기관 추가확인으로 전환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서비스 로직: 위험탐지와 송금시도를 결합한 단계적 개입. 실제 금융 연동 시 법·약관·금융회사 권한 설계 필요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23444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사용자 시나리오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검찰 사칭 통화 — 송금 직전까지 어떻게 보호하는가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피해자가 이미 상대의 설명을 믿은 상황을 가정하고, 탐지 이후 실제 금융행동까지의 개입 흐름을 보여준다.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1993392"/>
            <a:ext cx="1636776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12064" y="2194560"/>
            <a:ext cx="365760" cy="3657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" y="219456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816352"/>
            <a:ext cx="12984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0B2242"/>
                </a:solidFill>
                <a:latin typeface="페이퍼로지 7 Bold"/>
              </a:rPr>
              <a:t>통화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273552"/>
            <a:ext cx="1298448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“범죄에 연루됐다”
검찰 사칭·공포 유발</a:t>
            </a:r>
          </a:p>
        </p:txBody>
      </p:sp>
      <p:sp>
        <p:nvSpPr>
          <p:cNvPr id="16" name="Chevron 15"/>
          <p:cNvSpPr/>
          <p:nvPr/>
        </p:nvSpPr>
        <p:spPr>
          <a:xfrm>
            <a:off x="2011680" y="3154680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295144" y="1993392"/>
            <a:ext cx="1636776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459736" y="2194560"/>
            <a:ext cx="365760" cy="3657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59736" y="219456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9736" y="2816352"/>
            <a:ext cx="12984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0B2242"/>
                </a:solidFill>
                <a:latin typeface="페이퍼로지 7 Bold"/>
              </a:rPr>
              <a:t>AI 탐지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9736" y="3273552"/>
            <a:ext cx="1298448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권위·긴급성·
비밀유지 신호 탐지</a:t>
            </a:r>
          </a:p>
        </p:txBody>
      </p:sp>
      <p:sp>
        <p:nvSpPr>
          <p:cNvPr id="22" name="Chevron 21"/>
          <p:cNvSpPr/>
          <p:nvPr/>
        </p:nvSpPr>
        <p:spPr>
          <a:xfrm>
            <a:off x="3959352" y="3154680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242816" y="1993392"/>
            <a:ext cx="1636776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07407" y="2194560"/>
            <a:ext cx="365760" cy="3657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07407" y="219456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D9173"/>
                </a:solidFill>
                <a:latin typeface="페이퍼로지 7 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7" y="2816352"/>
            <a:ext cx="12984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0B2242"/>
                </a:solidFill>
                <a:latin typeface="페이퍼로지 7 Bold"/>
              </a:rPr>
              <a:t>브리프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7" y="3273552"/>
            <a:ext cx="1298448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“공식기관은 안전계좌
송금을 요구하지 않음”</a:t>
            </a:r>
          </a:p>
        </p:txBody>
      </p:sp>
      <p:sp>
        <p:nvSpPr>
          <p:cNvPr id="28" name="Chevron 27"/>
          <p:cNvSpPr/>
          <p:nvPr/>
        </p:nvSpPr>
        <p:spPr>
          <a:xfrm>
            <a:off x="5907024" y="3154680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90488" y="1993392"/>
            <a:ext cx="1636776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55079" y="2194560"/>
            <a:ext cx="365760" cy="365760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79" y="219456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9" y="2816352"/>
            <a:ext cx="12984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0B2242"/>
                </a:solidFill>
                <a:latin typeface="페이퍼로지 7 Bold"/>
              </a:rPr>
              <a:t>송금 시도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3273552"/>
            <a:ext cx="1298448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피해자가 앱에서
3,000만원 이체 시도</a:t>
            </a:r>
          </a:p>
        </p:txBody>
      </p:sp>
      <p:sp>
        <p:nvSpPr>
          <p:cNvPr id="34" name="Chevron 33"/>
          <p:cNvSpPr/>
          <p:nvPr/>
        </p:nvSpPr>
        <p:spPr>
          <a:xfrm>
            <a:off x="7854696" y="3154680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138160" y="1993392"/>
            <a:ext cx="1636776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02752" y="2194560"/>
            <a:ext cx="365760" cy="365760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02752" y="219456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CB3944"/>
                </a:solidFill>
                <a:latin typeface="페이퍼로지 7 Bold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2816352"/>
            <a:ext cx="12984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0B2242"/>
                </a:solidFill>
                <a:latin typeface="페이퍼로지 7 Bold"/>
              </a:rPr>
              <a:t>방지턱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3273552"/>
            <a:ext cx="1298448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거래 HOLD
신뢰인 공동검토</a:t>
            </a:r>
          </a:p>
        </p:txBody>
      </p:sp>
      <p:sp>
        <p:nvSpPr>
          <p:cNvPr id="40" name="Chevron 39"/>
          <p:cNvSpPr/>
          <p:nvPr/>
        </p:nvSpPr>
        <p:spPr>
          <a:xfrm>
            <a:off x="9802368" y="3154680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085832" y="1993392"/>
            <a:ext cx="1636776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250424" y="2194560"/>
            <a:ext cx="365760" cy="3657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50424" y="219456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0B2242"/>
                </a:solidFill>
                <a:latin typeface="페이퍼로지 7 Bold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50424" y="2816352"/>
            <a:ext cx="12984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0B2242"/>
                </a:solidFill>
                <a:latin typeface="페이퍼로지 7 Bold"/>
              </a:rPr>
              <a:t>검증 결과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50424" y="3273552"/>
            <a:ext cx="1298448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거절·금융기관 확인
통화 종료·신고 안내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80160" y="5394960"/>
            <a:ext cx="9646920" cy="566928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80160" y="5394960"/>
            <a:ext cx="964692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페이퍼로지 7 Bold"/>
              </a:rPr>
              <a:t>핵심 변화  |  “피해자가 경고를 믿을지”에만 의존하지 않고, 거래가 피해로 전환되기 전에 외부 검증을 강제로 한 번 더 삽입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시나리오: 기관사칭형 대화 연구와 금융위원회 실제 탐지사례를 기반으로 구성한 서비스 이용 예시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73152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7315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MVP는 4개 화면으로 핵심 가설을 검증한다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“탐지 정확도”뿐 아니라, 근거 전달·공동검토·거래보류가 실제 사용자 흐름에서 작동하는지 검증한다.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47088"/>
            <a:ext cx="2359152" cy="36393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2" y="2011680"/>
            <a:ext cx="2121408" cy="3255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517904" y="1901952"/>
            <a:ext cx="694944" cy="82296"/>
          </a:xfrm>
          <a:prstGeom prst="roundRect">
            <a:avLst>
              <a:gd name="adj" fmla="val 8000"/>
            </a:avLst>
          </a:prstGeom>
          <a:solidFill>
            <a:srgbClr val="6A7E97"/>
          </a:solidFill>
          <a:ln w="12700">
            <a:solidFill>
              <a:srgbClr val="6A7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7552" y="2267712"/>
            <a:ext cx="475488" cy="22860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2267712"/>
            <a:ext cx="47548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624328"/>
            <a:ext cx="175564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통화 위험 분석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4983" y="3246120"/>
            <a:ext cx="1700785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14983" y="3456432"/>
            <a:ext cx="1700784" cy="9601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697D98"/>
                </a:solidFill>
                <a:latin typeface="페이퍼로지 4 Regular"/>
              </a:rPr>
              <a:t>실시간 위험도
근거 문장 3개
즉시 행동 안내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6424" y="4709160"/>
            <a:ext cx="1517904" cy="347472"/>
          </a:xfrm>
          <a:prstGeom prst="roundRect">
            <a:avLst>
              <a:gd name="adj" fmla="val 8000"/>
            </a:avLst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06424" y="4709160"/>
            <a:ext cx="151790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FFFFFF"/>
                </a:solidFill>
                <a:latin typeface="페이퍼로지 7 Bold"/>
              </a:rPr>
              <a:t>핵심 행동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1847088"/>
            <a:ext cx="2359152" cy="36393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593591" y="2011680"/>
            <a:ext cx="2121408" cy="3255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06824" y="1901952"/>
            <a:ext cx="694944" cy="82296"/>
          </a:xfrm>
          <a:prstGeom prst="roundRect">
            <a:avLst>
              <a:gd name="adj" fmla="val 8000"/>
            </a:avLst>
          </a:prstGeom>
          <a:solidFill>
            <a:srgbClr val="6A7E97"/>
          </a:solidFill>
          <a:ln w="12700">
            <a:solidFill>
              <a:srgbClr val="6A7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776472" y="2267712"/>
            <a:ext cx="475488" cy="228600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76472" y="2267712"/>
            <a:ext cx="47548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FF4A1E"/>
                </a:solidFill>
                <a:latin typeface="페이퍼로지 7 Bold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6472" y="2624328"/>
            <a:ext cx="175564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송금 일시 보류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03904" y="3246120"/>
            <a:ext cx="1700784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03904" y="3456432"/>
            <a:ext cx="1700784" cy="9601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697D98"/>
                </a:solidFill>
                <a:latin typeface="페이퍼로지 4 Regular"/>
              </a:rPr>
              <a:t>금액·계좌 표시
보류 사유
검토 요청 상태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95344" y="4709160"/>
            <a:ext cx="1517904" cy="347472"/>
          </a:xfrm>
          <a:prstGeom prst="roundRect">
            <a:avLst>
              <a:gd name="adj" fmla="val 8000"/>
            </a:avLst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95344" y="4709160"/>
            <a:ext cx="151790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FFFFFF"/>
                </a:solidFill>
                <a:latin typeface="페이퍼로지 7 Bold"/>
              </a:rPr>
              <a:t>핵심 행동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1847088"/>
            <a:ext cx="2359152" cy="36393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82512" y="2011680"/>
            <a:ext cx="2121408" cy="3255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095744" y="1901952"/>
            <a:ext cx="694944" cy="82296"/>
          </a:xfrm>
          <a:prstGeom prst="roundRect">
            <a:avLst>
              <a:gd name="adj" fmla="val 8000"/>
            </a:avLst>
          </a:prstGeom>
          <a:solidFill>
            <a:srgbClr val="6A7E97"/>
          </a:solidFill>
          <a:ln w="12700">
            <a:solidFill>
              <a:srgbClr val="6A7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565392" y="2267712"/>
            <a:ext cx="475488" cy="22860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65392" y="2267712"/>
            <a:ext cx="47548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1D9173"/>
                </a:solidFill>
                <a:latin typeface="페이퍼로지 7 Bold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2624328"/>
            <a:ext cx="175564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신뢰인 공동검토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92824" y="3246120"/>
            <a:ext cx="1700784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92824" y="3456432"/>
            <a:ext cx="1700784" cy="9601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697D98"/>
                </a:solidFill>
                <a:latin typeface="페이퍼로지 4 Regular"/>
              </a:rPr>
              <a:t>상황 5줄 요약
승인·거절
통화 요청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84264" y="4709160"/>
            <a:ext cx="1517904" cy="347472"/>
          </a:xfrm>
          <a:prstGeom prst="roundRect">
            <a:avLst>
              <a:gd name="adj" fmla="val 8000"/>
            </a:avLst>
          </a:prstGeom>
          <a:solidFill>
            <a:srgbClr val="1D9173"/>
          </a:solidFill>
          <a:ln w="12700">
            <a:solidFill>
              <a:srgbClr val="1D9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84264" y="4709160"/>
            <a:ext cx="151790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FFFFFF"/>
                </a:solidFill>
                <a:latin typeface="페이퍼로지 7 Bold"/>
              </a:rPr>
              <a:t>핵심 행동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59" y="1847088"/>
            <a:ext cx="2359152" cy="36393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171432" y="2011680"/>
            <a:ext cx="2121408" cy="3255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884663" y="1901952"/>
            <a:ext cx="694944" cy="82296"/>
          </a:xfrm>
          <a:prstGeom prst="roundRect">
            <a:avLst>
              <a:gd name="adj" fmla="val 8000"/>
            </a:avLst>
          </a:prstGeom>
          <a:solidFill>
            <a:srgbClr val="6A7E97"/>
          </a:solidFill>
          <a:ln w="12700">
            <a:solidFill>
              <a:srgbClr val="6A7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354311" y="2267712"/>
            <a:ext cx="475488" cy="22860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54311" y="2267712"/>
            <a:ext cx="47548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0B2242"/>
                </a:solidFill>
                <a:latin typeface="페이퍼로지 7 Bold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4311" y="2624328"/>
            <a:ext cx="175564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금융기관 브리프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381743" y="3246120"/>
            <a:ext cx="1700785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381743" y="3456432"/>
            <a:ext cx="1700784" cy="9601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697D98"/>
                </a:solidFill>
                <a:latin typeface="페이퍼로지 4 Regular"/>
              </a:rPr>
              <a:t>거래위험·요구금액
탐지근거
추가확인·차단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73184" y="4709160"/>
            <a:ext cx="1517904" cy="34747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473184" y="4709160"/>
            <a:ext cx="151790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FFFFFF"/>
                </a:solidFill>
                <a:latin typeface="페이퍼로지 7 Bold"/>
              </a:rPr>
              <a:t>핵심 행동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MVP 화면 범위: 통화 분석 · 거래보류 · 신뢰인 검토 · 금융기관 브리프. 실제 은행 API는 데모에서 모의 연동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0972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실현 가능성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MVP와 실제 금융 연동의 범위를 분리한다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공모전에서는 작동하는 보호 흐름을 검증하고, 상용화 단계에서는 금융·통신·기관 API와 법적 권한을 연결한다.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01952"/>
            <a:ext cx="5285232" cy="3639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139696"/>
            <a:ext cx="1005840" cy="27432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139696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2B67FF"/>
                </a:solidFill>
                <a:latin typeface="페이퍼로지 7 Bold"/>
              </a:rPr>
              <a:t>MVP ·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78608"/>
            <a:ext cx="46634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242"/>
                </a:solidFill>
                <a:latin typeface="페이퍼로지 7 Bold"/>
              </a:rPr>
              <a:t>현재 구현 가능한 범위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127248"/>
            <a:ext cx="109728" cy="109728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2144" y="306324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녹음/실시간 음성 STT 및 화자 구분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3493008"/>
            <a:ext cx="109728" cy="109728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52144" y="342900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ML 위험분류 + 근거 Feature 표시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3858768"/>
            <a:ext cx="109728" cy="109728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52144" y="379476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LLM 역할별 브리프 자동 생성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224528"/>
            <a:ext cx="109728" cy="109728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52144" y="416052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웹 기반 신뢰인 승인·거절 흐름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" y="4590288"/>
            <a:ext cx="109728" cy="109728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52144" y="452628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송금보류·금융기관 조치의 모의 API</a:t>
            </a:r>
          </a:p>
        </p:txBody>
      </p:sp>
      <p:sp>
        <p:nvSpPr>
          <p:cNvPr id="25" name="Oval 24"/>
          <p:cNvSpPr/>
          <p:nvPr/>
        </p:nvSpPr>
        <p:spPr>
          <a:xfrm>
            <a:off x="932688" y="4956048"/>
            <a:ext cx="109728" cy="109728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52144" y="489204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로그·대시보드·시나리오 테스트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1901952"/>
            <a:ext cx="5285232" cy="3639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92240" y="2139696"/>
            <a:ext cx="1234440" cy="274320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139696"/>
            <a:ext cx="12344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FF4A1E"/>
                </a:solidFill>
                <a:latin typeface="페이퍼로지 7 Bold"/>
              </a:rPr>
              <a:t>DEPLOY ·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578608"/>
            <a:ext cx="46634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242"/>
                </a:solidFill>
                <a:latin typeface="페이퍼로지 7 Bold"/>
              </a:rPr>
              <a:t>실서비스에 필요한 연동</a:t>
            </a:r>
          </a:p>
        </p:txBody>
      </p:sp>
      <p:sp>
        <p:nvSpPr>
          <p:cNvPr id="31" name="Oval 30"/>
          <p:cNvSpPr/>
          <p:nvPr/>
        </p:nvSpPr>
        <p:spPr>
          <a:xfrm>
            <a:off x="6510528" y="3127248"/>
            <a:ext cx="109728" cy="109728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9984" y="306324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통신사 통화 분석 권한·온디바이스 처리</a:t>
            </a:r>
          </a:p>
        </p:txBody>
      </p:sp>
      <p:sp>
        <p:nvSpPr>
          <p:cNvPr id="33" name="Oval 32"/>
          <p:cNvSpPr/>
          <p:nvPr/>
        </p:nvSpPr>
        <p:spPr>
          <a:xfrm>
            <a:off x="6510528" y="3493008"/>
            <a:ext cx="109728" cy="109728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9984" y="342900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금융회사 이체 보류·해제 API 및 인증</a:t>
            </a:r>
          </a:p>
        </p:txBody>
      </p:sp>
      <p:sp>
        <p:nvSpPr>
          <p:cNvPr id="35" name="Oval 34"/>
          <p:cNvSpPr/>
          <p:nvPr/>
        </p:nvSpPr>
        <p:spPr>
          <a:xfrm>
            <a:off x="6510528" y="3858768"/>
            <a:ext cx="109728" cy="109728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9984" y="379476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신뢰인 사전등록·위임범위·철회 절차</a:t>
            </a:r>
          </a:p>
        </p:txBody>
      </p:sp>
      <p:sp>
        <p:nvSpPr>
          <p:cNvPr id="37" name="Oval 36"/>
          <p:cNvSpPr/>
          <p:nvPr/>
        </p:nvSpPr>
        <p:spPr>
          <a:xfrm>
            <a:off x="6510528" y="4224528"/>
            <a:ext cx="109728" cy="109728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29984" y="416052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공식기관 진위확인 채널·업무협약</a:t>
            </a:r>
          </a:p>
        </p:txBody>
      </p:sp>
      <p:sp>
        <p:nvSpPr>
          <p:cNvPr id="39" name="Oval 38"/>
          <p:cNvSpPr/>
          <p:nvPr/>
        </p:nvSpPr>
        <p:spPr>
          <a:xfrm>
            <a:off x="6510528" y="4590288"/>
            <a:ext cx="109728" cy="109728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29984" y="452628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통신사기피해환급법·약관·책임구조 검토</a:t>
            </a:r>
          </a:p>
        </p:txBody>
      </p:sp>
      <p:sp>
        <p:nvSpPr>
          <p:cNvPr id="41" name="Oval 40"/>
          <p:cNvSpPr/>
          <p:nvPr/>
        </p:nvSpPr>
        <p:spPr>
          <a:xfrm>
            <a:off x="6510528" y="4956048"/>
            <a:ext cx="109728" cy="109728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29984" y="489204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보안·개인정보 영향평가와 운영 모니터링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70432" y="5742432"/>
            <a:ext cx="9857232" cy="39319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0432" y="5742432"/>
            <a:ext cx="9857232" cy="3931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B2242"/>
                </a:solidFill>
                <a:latin typeface="페이퍼로지 7 Bold"/>
              </a:rPr>
              <a:t>현실성의 핵심  |  MVP는 “서비스 흐름의 유효성”을 증명하고, 강제 거래개입은 금융기관과의 제도·API 연동 단계에서 구현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실현 가능성 구분: 현재 기술로 구현 가능한 분석·브리프·워크플로우와, 상용화에 필요한 금융·통신 제도 연동을 분리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601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성과 지표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성과는 ‘탐지 정확도’가 아니라 피해 전환 차단으로 측정한다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모델·서비스·금융보호·신뢰의 지표를 함께 봐야 실제 효과와 부작용을 동시에 관리할 수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2057400"/>
            <a:ext cx="2002536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" y="2249424"/>
            <a:ext cx="365760" cy="3657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249424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98064"/>
            <a:ext cx="167335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모델 성능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28416"/>
            <a:ext cx="1673352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Recall · F1 · PR-AUC
오탐률 · 탐지 지연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416552"/>
            <a:ext cx="1216152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416552"/>
            <a:ext cx="121615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2B67FF"/>
                </a:solidFill>
                <a:latin typeface="페이퍼로지 7 Bold"/>
              </a:rPr>
              <a:t>운영 대시보드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7208" y="2057400"/>
            <a:ext cx="2002536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971800" y="2249424"/>
            <a:ext cx="365760" cy="365760"/>
          </a:xfrm>
          <a:prstGeom prst="ellipse">
            <a:avLst/>
          </a:prstGeom>
          <a:solidFill>
            <a:srgbClr val="E9F9F4"/>
          </a:solidFill>
          <a:ln w="1270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71800" y="2249424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D9173"/>
                </a:solidFill>
                <a:latin typeface="페이퍼로지 7 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2798064"/>
            <a:ext cx="167335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검증 흐름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328416"/>
            <a:ext cx="1673352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신뢰인 응답률
평균 검토시간 · 미응답률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4416552"/>
            <a:ext cx="1216152" cy="256032"/>
          </a:xfrm>
          <a:prstGeom prst="roundRect">
            <a:avLst>
              <a:gd name="adj" fmla="val 8000"/>
            </a:avLst>
          </a:prstGeom>
          <a:solidFill>
            <a:srgbClr val="E9F9F4"/>
          </a:solidFill>
          <a:ln w="1016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4416552"/>
            <a:ext cx="121615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1D9173"/>
                </a:solidFill>
                <a:latin typeface="페이퍼로지 7 Bold"/>
              </a:rPr>
              <a:t>운영 대시보드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8927" y="2057400"/>
            <a:ext cx="2002536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303519" y="2249424"/>
            <a:ext cx="365760" cy="365760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19" y="2249424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19" y="2798064"/>
            <a:ext cx="167335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피해 차단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19" y="3328416"/>
            <a:ext cx="1673352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보류 후 취소율
차단 건수·예방 금액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19" y="4416552"/>
            <a:ext cx="1216152" cy="25603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32119" y="4416552"/>
            <a:ext cx="121615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4A1E"/>
                </a:solidFill>
                <a:latin typeface="페이퍼로지 7 Bold"/>
              </a:rPr>
              <a:t>운영 대시보드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70648" y="2057400"/>
            <a:ext cx="2002536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635240" y="2249424"/>
            <a:ext cx="365760" cy="365760"/>
          </a:xfrm>
          <a:prstGeom prst="ellipse">
            <a:avLst/>
          </a:prstGeom>
          <a:solidFill>
            <a:srgbClr val="FFF8E3"/>
          </a:solidFill>
          <a:ln w="1270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35240" y="2249424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E19D14"/>
                </a:solidFill>
                <a:latin typeface="페이퍼로지 7 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798064"/>
            <a:ext cx="167335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고객 영향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3328416"/>
            <a:ext cx="1673352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정상거래 불편률
재시도·이탈 · 만족도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0" y="4416552"/>
            <a:ext cx="1216152" cy="256032"/>
          </a:xfrm>
          <a:prstGeom prst="roundRect">
            <a:avLst>
              <a:gd name="adj" fmla="val 8000"/>
            </a:avLst>
          </a:prstGeom>
          <a:solidFill>
            <a:srgbClr val="FFF8E3"/>
          </a:solidFill>
          <a:ln w="1016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63840" y="4416552"/>
            <a:ext cx="121615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E19D14"/>
                </a:solidFill>
                <a:latin typeface="페이퍼로지 7 Bold"/>
              </a:rPr>
              <a:t>운영 대시보드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02367" y="2057400"/>
            <a:ext cx="2002536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966959" y="2249424"/>
            <a:ext cx="365760" cy="3657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66959" y="2249424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0B2242"/>
                </a:solidFill>
                <a:latin typeface="페이퍼로지 7 Bold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59" y="2798064"/>
            <a:ext cx="167335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신뢰·보안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59" y="3328416"/>
            <a:ext cx="1673352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개인정보 최소화
감사로그 · 이의제기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95559" y="4416552"/>
            <a:ext cx="1216152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95559" y="4416552"/>
            <a:ext cx="121615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0B2242"/>
                </a:solidFill>
                <a:latin typeface="페이퍼로지 7 Bold"/>
              </a:rPr>
              <a:t>운영 대시보드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4440" y="5321808"/>
            <a:ext cx="9738360" cy="57607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34440" y="5321808"/>
            <a:ext cx="9738360" cy="5760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페이퍼로지 7 Bold"/>
              </a:rPr>
              <a:t>North Star Metric  |  “보이스피싱 위험 통화가 실제 송금 피해로 전환되는 비율” 감소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성과평가 제안: 분류모델 성능과 거래·사용자 지표를 결합해 탐지 효과와 정상거래 불편을 함께 측정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601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리스크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강한 개입일수록, 더 강한 통제 원칙이 필요하다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송금보류와 제3자 공동검토는 피해를 막을 수 있지만, 오탐·프라이버시·권한남용 위험을 함께 설계해야 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938528"/>
            <a:ext cx="33832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039112"/>
            <a:ext cx="2944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오탐·정상거래 지연</a:t>
            </a:r>
          </a:p>
        </p:txBody>
      </p:sp>
      <p:sp>
        <p:nvSpPr>
          <p:cNvPr id="13" name="Chevron 12"/>
          <p:cNvSpPr/>
          <p:nvPr/>
        </p:nvSpPr>
        <p:spPr>
          <a:xfrm>
            <a:off x="4270248" y="2139696"/>
            <a:ext cx="402336" cy="201168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28032" y="1938528"/>
            <a:ext cx="6583680" cy="603504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2020824"/>
            <a:ext cx="60807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B67FF"/>
                </a:solidFill>
                <a:latin typeface="페이퍼로지 7 Bold"/>
              </a:rPr>
              <a:t>위험+송금시도 이중조건
단계적 개입·즉시 이의제기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697480"/>
            <a:ext cx="33832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2798064"/>
            <a:ext cx="2944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개인정보 과다공유</a:t>
            </a:r>
          </a:p>
        </p:txBody>
      </p:sp>
      <p:sp>
        <p:nvSpPr>
          <p:cNvPr id="18" name="Chevron 17"/>
          <p:cNvSpPr/>
          <p:nvPr/>
        </p:nvSpPr>
        <p:spPr>
          <a:xfrm>
            <a:off x="4270248" y="2898648"/>
            <a:ext cx="402336" cy="201168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828032" y="2697480"/>
            <a:ext cx="6583680" cy="603504"/>
          </a:xfrm>
          <a:prstGeom prst="roundRect">
            <a:avLst>
              <a:gd name="adj" fmla="val 8000"/>
            </a:avLst>
          </a:prstGeom>
          <a:solidFill>
            <a:srgbClr val="E9F9F4"/>
          </a:solidFill>
          <a:ln w="1270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74920" y="2779776"/>
            <a:ext cx="60807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1D9173"/>
                </a:solidFill>
                <a:latin typeface="페이퍼로지 7 Bold"/>
              </a:rPr>
              <a:t>역할별 최소정보
원문 대신 구조화 요약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456432"/>
            <a:ext cx="33832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557016"/>
            <a:ext cx="2944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신뢰인 권한 남용</a:t>
            </a:r>
          </a:p>
        </p:txBody>
      </p:sp>
      <p:sp>
        <p:nvSpPr>
          <p:cNvPr id="23" name="Chevron 22"/>
          <p:cNvSpPr/>
          <p:nvPr/>
        </p:nvSpPr>
        <p:spPr>
          <a:xfrm>
            <a:off x="4270248" y="3657600"/>
            <a:ext cx="402336" cy="201168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28032" y="3456432"/>
            <a:ext cx="6583680" cy="603504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74920" y="3538728"/>
            <a:ext cx="60807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4A1E"/>
                </a:solidFill>
                <a:latin typeface="페이퍼로지 7 Bold"/>
              </a:rPr>
              <a:t>거래별 한정 승인
사전등록·철회·감사로그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215383"/>
            <a:ext cx="33832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315968"/>
            <a:ext cx="2944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AI 설명 오류</a:t>
            </a:r>
          </a:p>
        </p:txBody>
      </p:sp>
      <p:sp>
        <p:nvSpPr>
          <p:cNvPr id="28" name="Chevron 27"/>
          <p:cNvSpPr/>
          <p:nvPr/>
        </p:nvSpPr>
        <p:spPr>
          <a:xfrm>
            <a:off x="4270248" y="4416551"/>
            <a:ext cx="402336" cy="201168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828032" y="4215383"/>
            <a:ext cx="6583680" cy="603504"/>
          </a:xfrm>
          <a:prstGeom prst="roundRect">
            <a:avLst>
              <a:gd name="adj" fmla="val 8000"/>
            </a:avLst>
          </a:prstGeom>
          <a:solidFill>
            <a:srgbClr val="FFEFF2"/>
          </a:solidFill>
          <a:ln w="12700">
            <a:solidFill>
              <a:srgbClr val="FF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74920" y="4297679"/>
            <a:ext cx="60807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CB3944"/>
                </a:solidFill>
                <a:latin typeface="페이퍼로지 7 Bold"/>
              </a:rPr>
              <a:t>ML 근거와 원문 인용
템플릿 출력·진위 단정 금지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974336"/>
            <a:ext cx="33832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5074920"/>
            <a:ext cx="2944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미응답·서비스 장애</a:t>
            </a:r>
          </a:p>
        </p:txBody>
      </p:sp>
      <p:sp>
        <p:nvSpPr>
          <p:cNvPr id="33" name="Chevron 32"/>
          <p:cNvSpPr/>
          <p:nvPr/>
        </p:nvSpPr>
        <p:spPr>
          <a:xfrm>
            <a:off x="4270248" y="5175503"/>
            <a:ext cx="402336" cy="201168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828032" y="4974336"/>
            <a:ext cx="6583680" cy="603504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4920" y="5056631"/>
            <a:ext cx="60807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0B2242"/>
                </a:solidFill>
                <a:latin typeface="페이퍼로지 7 Bold"/>
              </a:rPr>
              <a:t>시간초과 시 금융기관 확인
Fail-safe·복구 절차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89888" y="5806440"/>
            <a:ext cx="9418320" cy="39319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89888" y="5806440"/>
            <a:ext cx="9418320" cy="3931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페이퍼로지 7 Bold"/>
              </a:rPr>
              <a:t>원칙  |  필요한 순간에만 · 필요한 거래에만 · 필요한 정보와 권한만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리스크 통제안: 오탐, 개인정보, 신뢰인 권한, AI 설명, 서비스 장애를 사전 통제하는 운영·기술 원칙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6304" y="173736"/>
            <a:ext cx="15544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페이퍼로지 7 Bold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78992"/>
            <a:ext cx="1026871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0">
                <a:solidFill>
                  <a:srgbClr val="FFFFFF"/>
                </a:solidFill>
                <a:latin typeface="페이퍼로지 4 Regular"/>
              </a:rPr>
              <a:t>판단을 대신하지 않는다.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26871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0">
                <a:solidFill>
                  <a:srgbClr val="FFFFFF"/>
                </a:solidFill>
                <a:latin typeface="페이퍼로지 4 Regular"/>
              </a:rPr>
              <a:t>피해로 연결되기 전에
</a:t>
            </a:r>
            <a:r>
              <a:rPr sz="3100" b="1">
                <a:solidFill>
                  <a:srgbClr val="FF4A1E"/>
                </a:solidFill>
                <a:latin typeface="페이퍼로지 7 Bold"/>
              </a:rPr>
              <a:t>한 번 더 멈춘다.</a:t>
            </a:r>
          </a:p>
        </p:txBody>
      </p:sp>
      <p:sp>
        <p:nvSpPr>
          <p:cNvPr id="6" name="Oval 5"/>
          <p:cNvSpPr/>
          <p:nvPr/>
        </p:nvSpPr>
        <p:spPr>
          <a:xfrm>
            <a:off x="2880360" y="3218688"/>
            <a:ext cx="804672" cy="804672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80360" y="3218688"/>
            <a:ext cx="804672" cy="8046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페이퍼로지 7 Bold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4187952"/>
            <a:ext cx="16824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CADCF0"/>
                </a:solidFill>
                <a:latin typeface="페이퍼로지 7 Bold"/>
              </a:rPr>
              <a:t>위험 탐지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21608" y="3621024"/>
            <a:ext cx="1216152" cy="0"/>
          </a:xfrm>
          <a:prstGeom prst="line">
            <a:avLst/>
          </a:prstGeom>
          <a:ln w="20320">
            <a:solidFill>
              <a:srgbClr val="3F5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029200" y="3218688"/>
            <a:ext cx="804672" cy="804672"/>
          </a:xfrm>
          <a:prstGeom prst="ellipse">
            <a:avLst/>
          </a:prstGeom>
          <a:solidFill>
            <a:srgbClr val="1D9173"/>
          </a:solidFill>
          <a:ln w="12700">
            <a:solidFill>
              <a:srgbClr val="1D9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3218688"/>
            <a:ext cx="804672" cy="8046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페이퍼로지 7 Bold"/>
              </a:rPr>
              <a:t>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4187952"/>
            <a:ext cx="16824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CADCF0"/>
                </a:solidFill>
                <a:latin typeface="페이퍼로지 7 Bold"/>
              </a:rPr>
              <a:t>독립적 재확인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70448" y="3621024"/>
            <a:ext cx="1216152" cy="0"/>
          </a:xfrm>
          <a:prstGeom prst="line">
            <a:avLst/>
          </a:prstGeom>
          <a:ln w="20320">
            <a:solidFill>
              <a:srgbClr val="3F5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178040" y="3218688"/>
            <a:ext cx="804672" cy="804672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3218688"/>
            <a:ext cx="804672" cy="8046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페이퍼로지 7 Bold"/>
              </a:rPr>
              <a:t>송금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7" y="4187952"/>
            <a:ext cx="16824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CADCF0"/>
                </a:solidFill>
                <a:latin typeface="페이퍼로지 7 Bold"/>
              </a:rPr>
              <a:t>금융 방지턱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855464"/>
            <a:ext cx="8357616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D3E2F4"/>
                </a:solidFill>
                <a:latin typeface="페이퍼로지 4 Regular"/>
              </a:rPr>
              <a:t>AI가 위험을 탐지하고, 외부의 독립적인 주체가 상황을 검증하며,
검증이 끝날 때까지 위험한 금융거래를 잠시 보류하는 구조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5779008"/>
            <a:ext cx="6245352" cy="457200"/>
          </a:xfrm>
          <a:prstGeom prst="roundRect">
            <a:avLst>
              <a:gd name="adj" fmla="val 8000"/>
            </a:avLst>
          </a:prstGeom>
          <a:solidFill>
            <a:srgbClr val="0A2B4E"/>
          </a:solidFill>
          <a:ln w="12700">
            <a:solidFill>
              <a:srgbClr val="254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71800" y="5779008"/>
            <a:ext cx="6245352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페이퍼로지 7 Bold"/>
              </a:rPr>
              <a:t>AI 독립검증형 송금방지턱  |  Team. 가드레일즈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30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AFC2DA"/>
                </a:solidFill>
                <a:latin typeface="페이퍼로지 4 Regular"/>
              </a:rPr>
              <a:t>AI 독립검증 기반 보이스피싱 금융안전 서비스 제안서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FC2DA"/>
                </a:solidFill>
                <a:latin typeface="페이퍼로지 4 Regula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1440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14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근거 지도 — 어떤 자료가 어떤 주장을 지지하는가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직접 실증, 보조 근거, 팀 자체 분석을 분리해 해석 범위를 명확히 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73936"/>
            <a:ext cx="530352" cy="4389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773936"/>
            <a:ext cx="53035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페이퍼로지 7 Bold"/>
              </a:rPr>
              <a:t>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0432" y="1773936"/>
            <a:ext cx="3383280" cy="4389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1773936"/>
            <a:ext cx="3383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페이퍼로지 7 Bold"/>
              </a:rPr>
              <a:t>자료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1728" y="1773936"/>
            <a:ext cx="4572000" cy="4389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1728" y="1773936"/>
            <a:ext cx="457200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페이퍼로지 7 Bold"/>
              </a:rPr>
              <a:t>직접 지지하는 주장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0032" y="1773936"/>
            <a:ext cx="2157984" cy="4389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00032" y="1773936"/>
            <a:ext cx="2157984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페이퍼로지 7 Bold"/>
              </a:rPr>
              <a:t>사용 위치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304288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2350008"/>
            <a:ext cx="420623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B67FF"/>
                </a:solidFill>
                <a:latin typeface="페이퍼로지 7 Bold"/>
              </a:rPr>
              <a:t>S1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0432" y="2304288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25296" y="2350008"/>
            <a:ext cx="327355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한진수(2024) 성인 2,000명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2304288"/>
            <a:ext cx="4572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36592" y="2350008"/>
            <a:ext cx="446227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정서적 고통·금융역량 부족·고령·불안정 소득·과신과 금융사기 취약성의 관련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00032" y="2304288"/>
            <a:ext cx="215798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54896" y="2350008"/>
            <a:ext cx="2048255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7·8P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962656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3008376"/>
            <a:ext cx="420623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B67FF"/>
                </a:solidFill>
                <a:latin typeface="페이퍼로지 7 Bold"/>
              </a:rPr>
              <a:t>S2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70432" y="2962656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25296" y="3008376"/>
            <a:ext cx="327355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한은·금감원 2024 금융이해력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81728" y="2962656"/>
            <a:ext cx="4572000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36592" y="3008376"/>
            <a:ext cx="446227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20대·고령층의 금융이해력 및 금융행위의 상대적 취약 맥락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00032" y="2962656"/>
            <a:ext cx="2157984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54896" y="3008376"/>
            <a:ext cx="2048255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8P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621024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3666744"/>
            <a:ext cx="420623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B67FF"/>
                </a:solidFill>
                <a:latin typeface="페이퍼로지 7 Bold"/>
              </a:rPr>
              <a:t>S3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70432" y="3621024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25296" y="3666744"/>
            <a:ext cx="327355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최미정·유병준(2025)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1728" y="3621024"/>
            <a:ext cx="4572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36592" y="3666744"/>
            <a:ext cx="446227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고령층 디지털역량의 연령별 차이, 75세 이후 급격한 감소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00032" y="3621024"/>
            <a:ext cx="215798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54896" y="3666744"/>
            <a:ext cx="2048255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8P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27939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" y="4325112"/>
            <a:ext cx="420623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B67FF"/>
                </a:solidFill>
                <a:latin typeface="페이퍼로지 7 Bold"/>
              </a:rPr>
              <a:t>S4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70432" y="4279392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25296" y="4325112"/>
            <a:ext cx="327355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배승희 외(2023)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81728" y="4279392"/>
            <a:ext cx="4572000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36592" y="4325112"/>
            <a:ext cx="446227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접근→위협→고립→수직관계→인출 유도→확인의 6단계 대화구조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00032" y="4279392"/>
            <a:ext cx="2157984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454896" y="4325112"/>
            <a:ext cx="2048255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9P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4937759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1792" y="4983479"/>
            <a:ext cx="420623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B67FF"/>
                </a:solidFill>
                <a:latin typeface="페이퍼로지 7 Bold"/>
              </a:rPr>
              <a:t>S5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70432" y="4937759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25296" y="4983479"/>
            <a:ext cx="327355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이영은·서준배(2024)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81728" y="4937759"/>
            <a:ext cx="4572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36592" y="4983479"/>
            <a:ext cx="446227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신뢰·권위→공포→고립→자기통제 부족→판단오류 기제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00032" y="4937759"/>
            <a:ext cx="215798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454896" y="4983479"/>
            <a:ext cx="2048255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9P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5596127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1792" y="5641847"/>
            <a:ext cx="420623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B67FF"/>
                </a:solidFill>
                <a:latin typeface="페이퍼로지 7 Bold"/>
              </a:rPr>
              <a:t>T1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70432" y="5596127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25296" y="5641847"/>
            <a:ext cx="327355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Team Guardrails 자체 분석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681728" y="5596127"/>
            <a:ext cx="4572000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736592" y="5641847"/>
            <a:ext cx="446227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판단환경 장악 신호, 긴급성·고립, 사칭·심리전략의 선행 경향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400032" y="5596127"/>
            <a:ext cx="2157984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454896" y="5641847"/>
            <a:ext cx="2048255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10P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2960" y="6327648"/>
            <a:ext cx="10533888" cy="292608"/>
          </a:xfrm>
          <a:prstGeom prst="roundRect">
            <a:avLst>
              <a:gd name="adj" fmla="val 8000"/>
            </a:avLst>
          </a:prstGeom>
          <a:solidFill>
            <a:srgbClr val="FFF8E3"/>
          </a:solidFill>
          <a:ln w="1270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2960" y="6327648"/>
            <a:ext cx="1053388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E19D14"/>
                </a:solidFill>
                <a:latin typeface="페이퍼로지 7 Bold"/>
              </a:rPr>
              <a:t>주의: 20대의 “수사경험 부족 → 오판”은 직접 인과근거가 제한적이므로, 본문에서는 대표 맥락·보조근거로만 표현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Appendix — 근거와 해석 범위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1440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14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공식자료 교차검증 — 기존 보호체계의 실제 조치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기존 서비스 전체가 사용자 판단에만 의존한다는 뜻이 아니다. 직접 거래에 개입하는 보호수단도 존재한다.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83080"/>
            <a:ext cx="1335024" cy="45720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133502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페이퍼로지 7 Bold"/>
              </a:rPr>
              <a:t>대응수단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48256" y="1783080"/>
            <a:ext cx="4389120" cy="45720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48256" y="1783080"/>
            <a:ext cx="438912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페이퍼로지 7 Bold"/>
              </a:rPr>
              <a:t>공식자료에서 확인된 조치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78308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783080"/>
            <a:ext cx="2542032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페이퍼로지 7 Bold"/>
              </a:rPr>
              <a:t>주요 판단·개입 주체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6" y="1783080"/>
            <a:ext cx="2340864" cy="45720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72016" y="1783080"/>
            <a:ext cx="23408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페이퍼로지 7 Bold"/>
              </a:rPr>
              <a:t>분류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359152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2414016"/>
            <a:ext cx="124358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SKT 에이닷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48256" y="2359152"/>
            <a:ext cx="4389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93976" y="2414016"/>
            <a:ext cx="429768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AI 위험탐지·사용자 경고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359152"/>
            <a:ext cx="254203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2414016"/>
            <a:ext cx="2450591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사용자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72016" y="2359152"/>
            <a:ext cx="234086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17736" y="2414016"/>
            <a:ext cx="224942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판단 지원형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108960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3163824"/>
            <a:ext cx="124358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LG U+ 익시오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48256" y="3108960"/>
            <a:ext cx="4389120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93976" y="3163824"/>
            <a:ext cx="429768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통화패턴·성문 분석·사용자 알림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108960"/>
            <a:ext cx="2542032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3163824"/>
            <a:ext cx="2450591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사용자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72016" y="3108960"/>
            <a:ext cx="2340864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17736" y="3163824"/>
            <a:ext cx="224942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판단 지원형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858768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" y="3913631"/>
            <a:ext cx="124358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SKT 가족 케어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48256" y="3858768"/>
            <a:ext cx="4389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93976" y="3913631"/>
            <a:ext cx="429768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보호자에게 위험 알림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858768"/>
            <a:ext cx="254203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3913631"/>
            <a:ext cx="2450591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사용자 + 보호자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72016" y="3858768"/>
            <a:ext cx="234086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17736" y="3913631"/>
            <a:ext cx="224942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제3자 알림형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608576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8" y="4663440"/>
            <a:ext cx="124358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FDS Rule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48256" y="4608576"/>
            <a:ext cx="4389120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093976" y="4663440"/>
            <a:ext cx="429768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자동 거래지연 + 금융회사 직원 확인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4608576"/>
            <a:ext cx="2542032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29400" y="4663440"/>
            <a:ext cx="2450591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시스템 + 금융기관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72016" y="4608576"/>
            <a:ext cx="2340864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317736" y="4663440"/>
            <a:ext cx="224942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외부 개입형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5358384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2648" y="5413248"/>
            <a:ext cx="124358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ASAP + FDS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48256" y="5358384"/>
            <a:ext cx="4389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093976" y="5413248"/>
            <a:ext cx="429768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위험정보 확인 후 이체중단·지급정지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0" y="5358384"/>
            <a:ext cx="254203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29400" y="5413248"/>
            <a:ext cx="2450591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시스템 + 금융기관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72016" y="5358384"/>
            <a:ext cx="234086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17736" y="5413248"/>
            <a:ext cx="224942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외부 개입형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" y="6236208"/>
            <a:ext cx="1051560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2960" y="6236208"/>
            <a:ext cx="105156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2B67FF"/>
                </a:solidFill>
                <a:latin typeface="페이퍼로지 7 Bold"/>
              </a:rPr>
              <a:t>해석 원칙: 기존 대응의 효과를 인정한 뒤, 통화 맥락 진위검증·거래별 공동검토·검증 중 보류의 연결성을 제안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Appendix — [S6] SKT / [S7] 가족 케어 / [S8] LG U+ / [S9] 금융위원회 공식자료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1440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14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팀 자체 데이터 분석 — 정의와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정량 결과를 과장하지 않기 위해 분석 단위·정의·일반화 한계를 함께 제시한다.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874519"/>
            <a:ext cx="1920240" cy="80467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1874519"/>
            <a:ext cx="1920240" cy="8046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페이퍼로지 7 Bold"/>
              </a:rPr>
              <a:t>분석 대상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2928" y="1874519"/>
            <a:ext cx="5321808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54096" y="1965960"/>
            <a:ext cx="491947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보이스피싱 통화 텍스트에서 추출한 이벤트·심리전략·요구행동 신호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7616" y="1874519"/>
            <a:ext cx="3090672" cy="80467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0496" y="1965960"/>
            <a:ext cx="272491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2B67FF"/>
                </a:solidFill>
                <a:latin typeface="페이퍼로지 7 Bold"/>
              </a:rPr>
              <a:t>모델 학습용 원자료와 EDA 결과 기반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862072"/>
            <a:ext cx="1920240" cy="80467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2862072"/>
            <a:ext cx="1920240" cy="8046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페이퍼로지 7 Bold"/>
              </a:rPr>
              <a:t>판단환경 장악 신호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2928" y="2862072"/>
            <a:ext cx="5321808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54096" y="2953512"/>
            <a:ext cx="491947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사칭, 권위·신뢰, 공포, 긴급성, 고립, 정보추출 등 팀 정의 Rule/Event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57616" y="2862072"/>
            <a:ext cx="3090672" cy="80467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0496" y="2953512"/>
            <a:ext cx="272491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2B67FF"/>
                </a:solidFill>
                <a:latin typeface="페이퍼로지 7 Bold"/>
              </a:rPr>
              <a:t>하나 이상 출현 사건 비중 67.1%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849624"/>
            <a:ext cx="1920240" cy="80467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3849624"/>
            <a:ext cx="1920240" cy="8046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페이퍼로지 7 Bold"/>
              </a:rPr>
              <a:t>등장 순서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52928" y="3849624"/>
            <a:ext cx="5321808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54096" y="3941063"/>
            <a:ext cx="491947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사칭·심리전략과 요구행동·금액 이벤트의 선후관계를 비교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57616" y="3849624"/>
            <a:ext cx="3090672" cy="80467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0496" y="3941063"/>
            <a:ext cx="272491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2B67FF"/>
                </a:solidFill>
                <a:latin typeface="페이퍼로지 7 Bold"/>
              </a:rPr>
              <a:t>앞 단계 신호가 먼저 나타나는 경향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837176"/>
            <a:ext cx="1920240" cy="804672"/>
          </a:xfrm>
          <a:prstGeom prst="roundRect">
            <a:avLst>
              <a:gd name="adj" fmla="val 8000"/>
            </a:avLst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4837176"/>
            <a:ext cx="1920240" cy="8046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페이퍼로지 7 Bold"/>
              </a:rPr>
              <a:t>주의사항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52928" y="4837176"/>
            <a:ext cx="5321808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54096" y="4928616"/>
            <a:ext cx="491947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표본 크기·라벨링 기준·정상 대조군에 따라 수치가 변할 수 있음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57616" y="4837176"/>
            <a:ext cx="3090672" cy="80467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0496" y="4928616"/>
            <a:ext cx="272491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4A1E"/>
                </a:solidFill>
                <a:latin typeface="페이퍼로지 7 Bold"/>
              </a:rPr>
              <a:t>외부 일반화 전 재현·검증 필요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6016752"/>
            <a:ext cx="10104120" cy="402336"/>
          </a:xfrm>
          <a:prstGeom prst="roundRect">
            <a:avLst>
              <a:gd name="adj" fmla="val 8000"/>
            </a:avLst>
          </a:prstGeom>
          <a:solidFill>
            <a:srgbClr val="FFF8E3"/>
          </a:solidFill>
          <a:ln w="1270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6016752"/>
            <a:ext cx="10104120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70" b="1">
                <a:solidFill>
                  <a:srgbClr val="E19D14"/>
                </a:solidFill>
                <a:latin typeface="페이퍼로지 7 Bold"/>
              </a:rPr>
              <a:t>최종 제출 전 체크: case 단위 분리 · Train-only Feature selection · 동일 extractor 대조군 적용 · 성능과 오탐 함께 보고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Appendix — 팀 데이터 분석은 문제발견·모델개발 근거이며, 외부 일반화는 후속 검증 범위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1440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14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확인 가능한 원문 링크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제안서 본문의 핵심 근거와 기존 서비스 공식자료를 직접 확인할 수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65376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7" y="2066544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2066544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1947672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2"/>
              </a:rPr>
              <a:t>[S1] 한진수(2024) 금융사기 취약성과 개인 특성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660904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7" y="2862072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286207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2743200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3"/>
              </a:rPr>
              <a:t>[S2] 한국은행·금융감독원 2024 전국민 금융이해력 조사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56432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1247" y="3657600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657600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538728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4"/>
              </a:rPr>
              <a:t>[S3] 최미정·유병준(2025) 고령층 디지털 역량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51960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1247" y="4453128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" y="4453128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4334256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5"/>
              </a:rPr>
              <a:t>[S4] 배승희 외(2023) 보이스피싱 대화 6단계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047488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1247" y="5248655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7" y="5248655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19" y="5129783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6"/>
              </a:rPr>
              <a:t>[S5] 이영은·서준배(2024) 기관사칭 심리기제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1865376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64808" y="2066544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64808" y="2066544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1947672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7"/>
              </a:rPr>
              <a:t>[S6] SKT 에이닷 전화 보이스피싱 탐지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2660904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64808" y="2862072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64808" y="286207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2743200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8"/>
              </a:rPr>
              <a:t>[S7] SKT 에이닷 가족 케어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1928" y="3456432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64808" y="3657600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64808" y="3657600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538728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9"/>
              </a:rPr>
              <a:t>[S8] LG U+ 익시오 보이스피싱 탐지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1928" y="4251960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464808" y="4453128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64808" y="4453128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334256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10"/>
              </a:rPr>
              <a:t>[S9] 금융위원회 ASAP 12주 성과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81928" y="5047488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464808" y="5248655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64808" y="5248655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5129783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11"/>
              </a:rPr>
              <a:t>[S10] 금융위원회 피싱범죄 계좌 임시조치·FDS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Appendix — PowerPoint에서 각 항목을 클릭하면 원문 페이지로 이동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12700">
          <a:solidFill>
            <a:srgbClr val="0E2746"/>
          </a:solidFill>
          <a:prstDash val="solid"/>
        </a:ln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1666</TotalTime>
  <Words>5021</Words>
  <Application>Microsoft Office PowerPoint</Application>
  <PresentationFormat>Widescreen</PresentationFormat>
  <Paragraphs>795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NanumSquare</vt:lpstr>
      <vt:lpstr>NanumSquare Bold</vt:lpstr>
      <vt:lpstr>Noto Sans KR</vt:lpstr>
      <vt:lpstr>나눔스퀘어_ac Bold</vt:lpstr>
      <vt:lpstr>맑은 고딕</vt:lpstr>
      <vt:lpstr>페이퍼로지 4 Regular</vt:lpstr>
      <vt:lpstr>페이퍼로지 7 Bold</vt:lpstr>
      <vt:lpstr>페이퍼로지 9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mbc</dc:creator>
  <cp:lastModifiedBy>mbc</cp:lastModifiedBy>
  <cp:revision>248</cp:revision>
  <dcterms:created xsi:type="dcterms:W3CDTF">2026-08-25T03:40:06Z</dcterms:created>
  <dcterms:modified xsi:type="dcterms:W3CDTF">2026-08-28T05:15:00Z</dcterms:modified>
</cp:coreProperties>
</file>