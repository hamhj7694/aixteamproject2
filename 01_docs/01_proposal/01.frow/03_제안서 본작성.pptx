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9"/>
  </p:notesMasterIdLst>
  <p:sldIdLst>
    <p:sldId id="272" r:id="rId2"/>
    <p:sldId id="289" r:id="rId3"/>
    <p:sldId id="307" r:id="rId4"/>
    <p:sldId id="258" r:id="rId5"/>
    <p:sldId id="305" r:id="rId6"/>
    <p:sldId id="286" r:id="rId7"/>
    <p:sldId id="310" r:id="rId8"/>
    <p:sldId id="306" r:id="rId9"/>
    <p:sldId id="309" r:id="rId10"/>
    <p:sldId id="301" r:id="rId11"/>
    <p:sldId id="296" r:id="rId12"/>
    <p:sldId id="261" r:id="rId13"/>
    <p:sldId id="293" r:id="rId14"/>
    <p:sldId id="262" r:id="rId15"/>
    <p:sldId id="294" r:id="rId16"/>
    <p:sldId id="263" r:id="rId17"/>
    <p:sldId id="264" r:id="rId18"/>
    <p:sldId id="265" r:id="rId19"/>
    <p:sldId id="266" r:id="rId20"/>
    <p:sldId id="267" r:id="rId21"/>
    <p:sldId id="268" r:id="rId22"/>
    <p:sldId id="269" r:id="rId23"/>
    <p:sldId id="270" r:id="rId24"/>
    <p:sldId id="271" r:id="rId25"/>
    <p:sldId id="302" r:id="rId26"/>
    <p:sldId id="308" r:id="rId27"/>
    <p:sldId id="290" r:id="rId28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bc" initials="m" lastIdx="1" clrIdx="0">
    <p:extLst>
      <p:ext uri="{19B8F6BF-5375-455C-9EA6-DF929625EA0E}">
        <p15:presenceInfo xmlns:p15="http://schemas.microsoft.com/office/powerpoint/2012/main" userId="mbc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4B16"/>
    <a:srgbClr val="49A8FF"/>
    <a:srgbClr val="E56766"/>
    <a:srgbClr val="5E85B0"/>
    <a:srgbClr val="E66867"/>
    <a:srgbClr val="002060"/>
    <a:srgbClr val="2F7CF6"/>
    <a:srgbClr val="10213D"/>
    <a:srgbClr val="0E2746"/>
    <a:srgbClr val="F7FA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353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432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commentAuthors" Target="commentAuthor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ln w="28575" cap="rnd">
              <a:solidFill>
                <a:schemeClr val="tx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tx1"/>
              </a:solidFill>
              <a:ln w="9525">
                <a:solidFill>
                  <a:schemeClr val="tx1"/>
                </a:solidFill>
              </a:ln>
              <a:effectLst/>
            </c:spPr>
          </c:marker>
          <c:dPt>
            <c:idx val="9"/>
            <c:marker>
              <c:symbol val="circle"/>
              <c:size val="5"/>
              <c:spPr>
                <a:solidFill>
                  <a:schemeClr val="tx1"/>
                </a:solidFill>
                <a:ln w="9525">
                  <a:solidFill>
                    <a:schemeClr val="tx1"/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5-F4BD-4353-81B5-3CAA4CB197C4}"/>
              </c:ext>
            </c:extLst>
          </c:dPt>
          <c:dLbls>
            <c:dLbl>
              <c:idx val="9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700" b="0" i="0" u="none" strike="noStrike" kern="1200" baseline="0">
                      <a:solidFill>
                        <a:srgbClr val="2F7CF6"/>
                      </a:solidFill>
                      <a:latin typeface="페이퍼로지 7 Bold" pitchFamily="2" charset="-127"/>
                      <a:ea typeface="페이퍼로지 7 Bold" pitchFamily="2" charset="-127"/>
                      <a:cs typeface="+mn-cs"/>
                    </a:defRPr>
                  </a:pPr>
                  <a:endParaRPr lang="ko-KR"/>
                </a:p>
              </c:tx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5-F4BD-4353-81B5-3CAA4CB197C4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7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페이퍼로지 4 Regular" pitchFamily="2" charset="-127"/>
                    <a:ea typeface="페이퍼로지 4 Regular" pitchFamily="2" charset="-127"/>
                    <a:cs typeface="+mn-cs"/>
                  </a:defRPr>
                </a:pPr>
                <a:endParaRPr lang="ko-KR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trendline>
            <c:spPr>
              <a:ln w="19050" cap="rnd">
                <a:solidFill>
                  <a:srgbClr val="FF4B16"/>
                </a:solidFill>
                <a:prstDash val="sysDot"/>
              </a:ln>
              <a:effectLst/>
            </c:spPr>
            <c:trendlineType val="linear"/>
            <c:dispRSqr val="0"/>
            <c:dispEq val="0"/>
          </c:trendline>
          <c:cat>
            <c:numRef>
              <c:f>Sheet1!$A$2:$A$11</c:f>
              <c:numCache>
                <c:formatCode>General</c:formatCode>
                <c:ptCount val="10"/>
                <c:pt idx="0">
                  <c:v>2016</c:v>
                </c:pt>
                <c:pt idx="1">
                  <c:v>2017</c:v>
                </c:pt>
                <c:pt idx="2">
                  <c:v>2018</c:v>
                </c:pt>
                <c:pt idx="3">
                  <c:v>2019</c:v>
                </c:pt>
                <c:pt idx="4">
                  <c:v>2020</c:v>
                </c:pt>
                <c:pt idx="5">
                  <c:v>2021</c:v>
                </c:pt>
                <c:pt idx="6">
                  <c:v>2022</c:v>
                </c:pt>
                <c:pt idx="7">
                  <c:v>2023</c:v>
                </c:pt>
                <c:pt idx="8">
                  <c:v>2024</c:v>
                </c:pt>
                <c:pt idx="9">
                  <c:v>2025</c:v>
                </c:pt>
              </c:numCache>
            </c:num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862</c:v>
                </c:pt>
                <c:pt idx="1">
                  <c:v>1018</c:v>
                </c:pt>
                <c:pt idx="2">
                  <c:v>1184</c:v>
                </c:pt>
                <c:pt idx="3">
                  <c:v>1699</c:v>
                </c:pt>
                <c:pt idx="4">
                  <c:v>2210</c:v>
                </c:pt>
                <c:pt idx="5">
                  <c:v>2500</c:v>
                </c:pt>
                <c:pt idx="6">
                  <c:v>2491</c:v>
                </c:pt>
                <c:pt idx="7">
                  <c:v>2366</c:v>
                </c:pt>
                <c:pt idx="8">
                  <c:v>4100</c:v>
                </c:pt>
                <c:pt idx="9">
                  <c:v>5384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F4BD-4353-81B5-3CAA4CB197C4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630342624"/>
        <c:axId val="630342952"/>
      </c:lineChart>
      <c:catAx>
        <c:axId val="63034262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7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pitchFamily="2" charset="-127"/>
                <a:ea typeface="페이퍼로지 4 Regular" pitchFamily="2" charset="-127"/>
                <a:cs typeface="+mn-cs"/>
              </a:defRPr>
            </a:pPr>
            <a:endParaRPr lang="ko-KR"/>
          </a:p>
        </c:txPr>
        <c:crossAx val="630342952"/>
        <c:crosses val="autoZero"/>
        <c:auto val="1"/>
        <c:lblAlgn val="ctr"/>
        <c:lblOffset val="100"/>
        <c:noMultiLvlLbl val="0"/>
      </c:catAx>
      <c:valAx>
        <c:axId val="63034295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7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pitchFamily="2" charset="-127"/>
                <a:ea typeface="페이퍼로지 4 Regular" pitchFamily="2" charset="-127"/>
                <a:cs typeface="+mn-cs"/>
              </a:defRPr>
            </a:pPr>
            <a:endParaRPr lang="ko-KR"/>
          </a:p>
        </c:txPr>
        <c:crossAx val="63034262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 sz="700">
          <a:latin typeface="페이퍼로지 4 Regular" pitchFamily="2" charset="-127"/>
          <a:ea typeface="페이퍼로지 4 Regular" pitchFamily="2" charset="-127"/>
        </a:defRPr>
      </a:pPr>
      <a:endParaRPr lang="ko-KR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피해금액 (억원)</c:v>
                </c:pt>
              </c:strCache>
            </c:strRef>
          </c:tx>
          <c:spPr>
            <a:solidFill>
              <a:srgbClr val="5E85B0"/>
            </a:solidFill>
            <a:ln>
              <a:noFill/>
            </a:ln>
            <a:effectLst/>
          </c:spPr>
          <c:invertIfNegative val="0"/>
          <c:dPt>
            <c:idx val="9"/>
            <c:invertIfNegative val="0"/>
            <c:bubble3D val="0"/>
            <c:spPr>
              <a:solidFill>
                <a:srgbClr val="E56766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4-1BC5-4D74-A2C0-0B00A1C8353A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6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inBase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Sheet1!$A$2:$A$11</c:f>
              <c:numCache>
                <c:formatCode>General</c:formatCode>
                <c:ptCount val="10"/>
                <c:pt idx="0">
                  <c:v>2016</c:v>
                </c:pt>
                <c:pt idx="1">
                  <c:v>2017</c:v>
                </c:pt>
                <c:pt idx="2">
                  <c:v>2018</c:v>
                </c:pt>
                <c:pt idx="3">
                  <c:v>2019</c:v>
                </c:pt>
                <c:pt idx="4">
                  <c:v>2020</c:v>
                </c:pt>
                <c:pt idx="5">
                  <c:v>2021</c:v>
                </c:pt>
                <c:pt idx="6">
                  <c:v>2022</c:v>
                </c:pt>
                <c:pt idx="7">
                  <c:v>2023</c:v>
                </c:pt>
                <c:pt idx="8">
                  <c:v>2024</c:v>
                </c:pt>
                <c:pt idx="9">
                  <c:v>2025</c:v>
                </c:pt>
              </c:numCache>
            </c:num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1468</c:v>
                </c:pt>
                <c:pt idx="1">
                  <c:v>2470</c:v>
                </c:pt>
                <c:pt idx="2">
                  <c:v>4040</c:v>
                </c:pt>
                <c:pt idx="3">
                  <c:v>6398</c:v>
                </c:pt>
                <c:pt idx="4">
                  <c:v>7000</c:v>
                </c:pt>
                <c:pt idx="5">
                  <c:v>7744</c:v>
                </c:pt>
                <c:pt idx="6">
                  <c:v>5438</c:v>
                </c:pt>
                <c:pt idx="7">
                  <c:v>4472</c:v>
                </c:pt>
                <c:pt idx="8">
                  <c:v>8545</c:v>
                </c:pt>
                <c:pt idx="9">
                  <c:v>12578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BC5-4D74-A2C0-0B00A1C8353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49"/>
        <c:axId val="252944200"/>
        <c:axId val="252942888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발생건수 (건)</c:v>
                </c:pt>
              </c:strCache>
            </c:strRef>
          </c:tx>
          <c:spPr>
            <a:ln w="28575" cap="rnd">
              <a:solidFill>
                <a:schemeClr val="tx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tx1"/>
              </a:solidFill>
              <a:ln w="9525">
                <a:solidFill>
                  <a:schemeClr val="tx1"/>
                </a:solidFill>
              </a:ln>
              <a:effectLst/>
            </c:spPr>
          </c:marker>
          <c:dLbls>
            <c:dLbl>
              <c:idx val="9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600" b="0" i="0" u="none" strike="noStrike" kern="1200" baseline="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ko-KR"/>
                </a:p>
              </c:tx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6-1BC5-4D74-A2C0-0B00A1C8353A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6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Sheet1!$A$2:$A$11</c:f>
              <c:numCache>
                <c:formatCode>General</c:formatCode>
                <c:ptCount val="10"/>
                <c:pt idx="0">
                  <c:v>2016</c:v>
                </c:pt>
                <c:pt idx="1">
                  <c:v>2017</c:v>
                </c:pt>
                <c:pt idx="2">
                  <c:v>2018</c:v>
                </c:pt>
                <c:pt idx="3">
                  <c:v>2019</c:v>
                </c:pt>
                <c:pt idx="4">
                  <c:v>2020</c:v>
                </c:pt>
                <c:pt idx="5">
                  <c:v>2021</c:v>
                </c:pt>
                <c:pt idx="6">
                  <c:v>2022</c:v>
                </c:pt>
                <c:pt idx="7">
                  <c:v>2023</c:v>
                </c:pt>
                <c:pt idx="8">
                  <c:v>2024</c:v>
                </c:pt>
                <c:pt idx="9">
                  <c:v>2025</c:v>
                </c:pt>
              </c:numCache>
            </c:num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17040</c:v>
                </c:pt>
                <c:pt idx="1">
                  <c:v>24259</c:v>
                </c:pt>
                <c:pt idx="2">
                  <c:v>34132</c:v>
                </c:pt>
                <c:pt idx="3">
                  <c:v>37667</c:v>
                </c:pt>
                <c:pt idx="4">
                  <c:v>31681</c:v>
                </c:pt>
                <c:pt idx="5">
                  <c:v>30982</c:v>
                </c:pt>
                <c:pt idx="6">
                  <c:v>21832</c:v>
                </c:pt>
                <c:pt idx="7">
                  <c:v>18902</c:v>
                </c:pt>
                <c:pt idx="8">
                  <c:v>20839</c:v>
                </c:pt>
                <c:pt idx="9">
                  <c:v>23360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1BC5-4D74-A2C0-0B00A1C8353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833958696"/>
        <c:axId val="833957384"/>
      </c:lineChart>
      <c:catAx>
        <c:axId val="25294420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7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pitchFamily="2" charset="-127"/>
                <a:ea typeface="페이퍼로지 4 Regular" pitchFamily="2" charset="-127"/>
                <a:cs typeface="+mn-cs"/>
              </a:defRPr>
            </a:pPr>
            <a:endParaRPr lang="ko-KR"/>
          </a:p>
        </c:txPr>
        <c:crossAx val="252942888"/>
        <c:crosses val="autoZero"/>
        <c:auto val="1"/>
        <c:lblAlgn val="ctr"/>
        <c:lblOffset val="100"/>
        <c:noMultiLvlLbl val="0"/>
      </c:catAx>
      <c:valAx>
        <c:axId val="25294288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7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pitchFamily="2" charset="-127"/>
                <a:ea typeface="페이퍼로지 4 Regular" pitchFamily="2" charset="-127"/>
                <a:cs typeface="+mn-cs"/>
              </a:defRPr>
            </a:pPr>
            <a:endParaRPr lang="ko-KR"/>
          </a:p>
        </c:txPr>
        <c:crossAx val="252944200"/>
        <c:crosses val="autoZero"/>
        <c:crossBetween val="between"/>
      </c:valAx>
      <c:valAx>
        <c:axId val="833957384"/>
        <c:scaling>
          <c:orientation val="minMax"/>
        </c:scaling>
        <c:delete val="0"/>
        <c:axPos val="r"/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7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pitchFamily="2" charset="-127"/>
                <a:ea typeface="페이퍼로지 4 Regular" pitchFamily="2" charset="-127"/>
                <a:cs typeface="+mn-cs"/>
              </a:defRPr>
            </a:pPr>
            <a:endParaRPr lang="ko-KR"/>
          </a:p>
        </c:txPr>
        <c:crossAx val="833958696"/>
        <c:crosses val="max"/>
        <c:crossBetween val="between"/>
      </c:valAx>
      <c:catAx>
        <c:axId val="833958696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833957384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8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dPt>
            <c:idx val="9"/>
            <c:marker>
              <c:symbol val="circle"/>
              <c:size val="5"/>
              <c:spPr>
                <a:solidFill>
                  <a:srgbClr val="FF4B16"/>
                </a:solidFill>
                <a:ln w="9525">
                  <a:solidFill>
                    <a:schemeClr val="accent1"/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5-F4BD-4353-81B5-3CAA4CB197C4}"/>
              </c:ext>
            </c:extLst>
          </c:dPt>
          <c:dLbls>
            <c:dLbl>
              <c:idx val="9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700" b="0" i="0" u="none" strike="noStrike" kern="1200" baseline="0">
                      <a:solidFill>
                        <a:srgbClr val="2F7CF6"/>
                      </a:solidFill>
                      <a:latin typeface="페이퍼로지 7 Bold" pitchFamily="2" charset="-127"/>
                      <a:ea typeface="페이퍼로지 7 Bold" pitchFamily="2" charset="-127"/>
                      <a:cs typeface="+mn-cs"/>
                    </a:defRPr>
                  </a:pPr>
                  <a:endParaRPr lang="ko-KR"/>
                </a:p>
              </c:tx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5-F4BD-4353-81B5-3CAA4CB197C4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7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페이퍼로지 4 Regular" pitchFamily="2" charset="-127"/>
                    <a:ea typeface="페이퍼로지 4 Regular" pitchFamily="2" charset="-127"/>
                    <a:cs typeface="+mn-cs"/>
                  </a:defRPr>
                </a:pPr>
                <a:endParaRPr lang="ko-KR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trendline>
            <c:spPr>
              <a:ln w="19050" cap="rnd">
                <a:solidFill>
                  <a:srgbClr val="FF4B16"/>
                </a:solidFill>
                <a:prstDash val="sysDot"/>
              </a:ln>
              <a:effectLst/>
            </c:spPr>
            <c:trendlineType val="linear"/>
            <c:dispRSqr val="0"/>
            <c:dispEq val="0"/>
          </c:trendline>
          <c:cat>
            <c:numRef>
              <c:f>Sheet1!$A$2:$A$11</c:f>
              <c:numCache>
                <c:formatCode>General</c:formatCode>
                <c:ptCount val="10"/>
                <c:pt idx="0">
                  <c:v>2016</c:v>
                </c:pt>
                <c:pt idx="1">
                  <c:v>2017</c:v>
                </c:pt>
                <c:pt idx="2">
                  <c:v>2018</c:v>
                </c:pt>
                <c:pt idx="3">
                  <c:v>2019</c:v>
                </c:pt>
                <c:pt idx="4">
                  <c:v>2020</c:v>
                </c:pt>
                <c:pt idx="5">
                  <c:v>2021</c:v>
                </c:pt>
                <c:pt idx="6">
                  <c:v>2022</c:v>
                </c:pt>
                <c:pt idx="7">
                  <c:v>2023</c:v>
                </c:pt>
                <c:pt idx="8">
                  <c:v>2024</c:v>
                </c:pt>
                <c:pt idx="9">
                  <c:v>2025</c:v>
                </c:pt>
              </c:numCache>
            </c:num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862</c:v>
                </c:pt>
                <c:pt idx="1">
                  <c:v>1018</c:v>
                </c:pt>
                <c:pt idx="2">
                  <c:v>1184</c:v>
                </c:pt>
                <c:pt idx="3">
                  <c:v>1699</c:v>
                </c:pt>
                <c:pt idx="4">
                  <c:v>2210</c:v>
                </c:pt>
                <c:pt idx="5">
                  <c:v>2500</c:v>
                </c:pt>
                <c:pt idx="6">
                  <c:v>2491</c:v>
                </c:pt>
                <c:pt idx="7">
                  <c:v>2366</c:v>
                </c:pt>
                <c:pt idx="8">
                  <c:v>4100</c:v>
                </c:pt>
                <c:pt idx="9">
                  <c:v>5384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F4BD-4353-81B5-3CAA4CB197C4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630342624"/>
        <c:axId val="630342952"/>
      </c:lineChart>
      <c:catAx>
        <c:axId val="63034262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7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pitchFamily="2" charset="-127"/>
                <a:ea typeface="페이퍼로지 4 Regular" pitchFamily="2" charset="-127"/>
                <a:cs typeface="+mn-cs"/>
              </a:defRPr>
            </a:pPr>
            <a:endParaRPr lang="ko-KR"/>
          </a:p>
        </c:txPr>
        <c:crossAx val="630342952"/>
        <c:crosses val="autoZero"/>
        <c:auto val="1"/>
        <c:lblAlgn val="ctr"/>
        <c:lblOffset val="100"/>
        <c:noMultiLvlLbl val="0"/>
      </c:catAx>
      <c:valAx>
        <c:axId val="63034295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7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pitchFamily="2" charset="-127"/>
                <a:ea typeface="페이퍼로지 4 Regular" pitchFamily="2" charset="-127"/>
                <a:cs typeface="+mn-cs"/>
              </a:defRPr>
            </a:pPr>
            <a:endParaRPr lang="ko-KR"/>
          </a:p>
        </c:txPr>
        <c:crossAx val="63034262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 sz="700">
          <a:latin typeface="페이퍼로지 4 Regular" pitchFamily="2" charset="-127"/>
          <a:ea typeface="페이퍼로지 4 Regular" pitchFamily="2" charset="-127"/>
        </a:defRPr>
      </a:pPr>
      <a:endParaRPr lang="ko-KR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9D40B9-442F-4379-B62C-50857005B014}" type="datetimeFigureOut">
              <a:rPr lang="ko-KR" altLang="en-US" smtClean="0"/>
              <a:t>2026-08-27</a:t>
            </a:fld>
            <a:endParaRPr lang="ko-KR" alt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63AA1BA-B990-416E-92A8-7DD94985511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866550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08314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https://news.kbs.co.kr/news/pc/view/view.do?ncd=8591764</a:t>
            </a:r>
          </a:p>
          <a:p>
            <a:r>
              <a:rPr lang="en-US" dirty="0"/>
              <a:t>https://www.yna.co.kr/view/AKR20260527080100055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808989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945301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851568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259826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https://news.kbs.co.kr/news/pc/view/view.do?ncd=8591764</a:t>
            </a:r>
          </a:p>
          <a:p>
            <a:r>
              <a:rPr lang="en-US" dirty="0"/>
              <a:t>https://www.yna.co.kr/view/AKR20260527080100055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34992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1825F1-9B96-434A-8F84-8E13385EE95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088E24B-0332-48A5-BE72-7D6D7D5BCF3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altLang="ko-KR"/>
              <a:t>Click to edit Master subtitle style</a:t>
            </a:r>
            <a:endParaRPr lang="ko-KR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054645-9418-4B00-808B-DCEA688DCE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F8D4E-5FA8-4A72-865B-9A72DC512BFC}" type="datetimeFigureOut">
              <a:rPr lang="ko-KR" altLang="en-US" smtClean="0"/>
              <a:t>2026-08-27</a:t>
            </a:fld>
            <a:endParaRPr lang="ko-KR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E10861-48B6-481D-92FB-14BBA46116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656A97-60F8-410D-AC45-02B24A7AFA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449241-5778-423C-A2FB-A524109A9B1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828325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2A4A16-7AFC-4E56-8116-359F22C159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16CDDD-6F0D-43D5-ACE9-CEE3629D56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AE97C0-0245-40CD-B32D-9A0861574C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F8D4E-5FA8-4A72-865B-9A72DC512BFC}" type="datetimeFigureOut">
              <a:rPr lang="ko-KR" altLang="en-US" smtClean="0"/>
              <a:t>2026-08-27</a:t>
            </a:fld>
            <a:endParaRPr lang="ko-KR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361660-6F35-43EF-AA03-C9BAD6FB66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8300E5-7CAF-4E82-8745-DD95AF19E2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449241-5778-423C-A2FB-A524109A9B1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443675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594B64-C4A1-4716-B6AA-9B1CFFB1A2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F953C3-DC54-4B4F-936F-728ADFFFCF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ko-KR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772A36-20C6-4384-9DB7-D8B15FB2C4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F8D4E-5FA8-4A72-865B-9A72DC512BFC}" type="datetimeFigureOut">
              <a:rPr lang="ko-KR" altLang="en-US" smtClean="0"/>
              <a:t>2026-08-27</a:t>
            </a:fld>
            <a:endParaRPr lang="ko-KR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DDDD8A-B8D6-4223-B25E-1D0279614F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FD1C47-2930-4438-B29E-CB3587BB93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449241-5778-423C-A2FB-A524109A9B1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33877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955231-41DC-42AC-A996-A587657629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AFDF20-D71D-4455-9FB6-D9529AB5AD6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82126F5-90A0-49BC-B18A-E120A5B5A69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B1EDDDC-330C-4B8D-A3A2-D04878B3BF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F8D4E-5FA8-4A72-865B-9A72DC512BFC}" type="datetimeFigureOut">
              <a:rPr lang="ko-KR" altLang="en-US" smtClean="0"/>
              <a:t>2026-08-27</a:t>
            </a:fld>
            <a:endParaRPr lang="ko-KR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571BFB2-4AEF-4875-B5DD-4B00B66CE6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FAF090D-5DD0-45A9-A07D-462AFDBB75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449241-5778-423C-A2FB-A524109A9B1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225810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260F6A-6F0D-4372-BB37-75AFDBB659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8F6076-985E-4AE1-A13D-DB6E53A0CA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ko-KR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F1903C3-EFE3-4915-98D7-E22FC994D8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31897D4-6C75-4354-835C-B88FCF75CAB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ko-KR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43F3649-5C4B-4FA7-9082-F0226512E16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A4454A8-E9EA-42F6-B46C-170C30CBF2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F8D4E-5FA8-4A72-865B-9A72DC512BFC}" type="datetimeFigureOut">
              <a:rPr lang="ko-KR" altLang="en-US" smtClean="0"/>
              <a:t>2026-08-27</a:t>
            </a:fld>
            <a:endParaRPr lang="ko-KR" alt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6F80141-BAED-4F7F-8403-7075ADB8DC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8DEE564-FC66-4A86-AF92-DFB136043E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449241-5778-423C-A2FB-A524109A9B1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361574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71065A-E81B-4517-B4E7-4EC02FF754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036D705-C0B5-4213-A274-07C65FD1FD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F8D4E-5FA8-4A72-865B-9A72DC512BFC}" type="datetimeFigureOut">
              <a:rPr lang="ko-KR" altLang="en-US" smtClean="0"/>
              <a:t>2026-08-27</a:t>
            </a:fld>
            <a:endParaRPr lang="ko-KR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EF75015-697E-45BF-8C33-976681E869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40FBA8F-2031-4F60-BBFC-E8758451AF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449241-5778-423C-A2FB-A524109A9B1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212890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F832EF1-D7E3-4909-8D32-C27D2E2BDE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F8D4E-5FA8-4A72-865B-9A72DC512BFC}" type="datetimeFigureOut">
              <a:rPr lang="ko-KR" altLang="en-US" smtClean="0"/>
              <a:t>2026-08-27</a:t>
            </a:fld>
            <a:endParaRPr lang="ko-KR" alt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3FA86A5-7B94-431F-ADF6-637C10AC58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30DB09-3EFF-4D81-B13F-8437B3913B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449241-5778-423C-A2FB-A524109A9B1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437951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D6F734-C3B4-497A-94B3-566C3A2076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5284BF-856F-48C1-9D83-76115021E4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F237885-2C0F-46EA-AC64-F71778F376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ko-KR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CB7929-0F58-4F77-9E7D-3404B37A4D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F8D4E-5FA8-4A72-865B-9A72DC512BFC}" type="datetimeFigureOut">
              <a:rPr lang="ko-KR" altLang="en-US" smtClean="0"/>
              <a:t>2026-08-27</a:t>
            </a:fld>
            <a:endParaRPr lang="ko-KR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C5A31AD-4D8D-49B5-BF0A-E76592F0B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C7E14CB-8911-447F-84E7-92D96B9B55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449241-5778-423C-A2FB-A524109A9B1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222849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8BFE16-EF20-469F-B4C1-2BB4ADBB51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7EEDCF2-7A87-4013-8665-D8A0097743E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BDF7F6E-DEF1-4591-8CE4-5034CEFDB8F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ko-KR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E53A68D-BD39-409C-85CD-07FE60E792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F8D4E-5FA8-4A72-865B-9A72DC512BFC}" type="datetimeFigureOut">
              <a:rPr lang="ko-KR" altLang="en-US" smtClean="0"/>
              <a:t>2026-08-27</a:t>
            </a:fld>
            <a:endParaRPr lang="ko-KR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26FA09B-3F3E-43B2-B916-AB21917943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134F1E6-7205-4AAA-A142-33EFA88243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449241-5778-423C-A2FB-A524109A9B1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414085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616845-87EE-49C4-A54D-4DD88F5DE8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27F6E6A-4977-4CEC-A8D9-7064A84627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2C0440-3E4A-48C3-AACE-31A03175AB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F8D4E-5FA8-4A72-865B-9A72DC512BFC}" type="datetimeFigureOut">
              <a:rPr lang="ko-KR" altLang="en-US" smtClean="0"/>
              <a:t>2026-08-27</a:t>
            </a:fld>
            <a:endParaRPr lang="ko-KR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755132-9CD7-4D8C-9500-57BA9DAA46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702DDC-0868-49FA-A7B5-3DBED67D51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449241-5778-423C-A2FB-A524109A9B1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113319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C2B7006-E9B3-4984-8A5C-936F1BA9A9E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AB041A9-D43B-4632-BCCA-A9418D8DC21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2B6C7C-AFE8-4214-B42F-E7F256617F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F8D4E-5FA8-4A72-865B-9A72DC512BFC}" type="datetimeFigureOut">
              <a:rPr lang="ko-KR" altLang="en-US" smtClean="0"/>
              <a:t>2026-08-27</a:t>
            </a:fld>
            <a:endParaRPr lang="ko-KR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5B8BBB-3BCE-46E4-84F5-006AEA9EFA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6E7C3B-1CFD-4E17-ABB5-5ABD3B817F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449241-5778-423C-A2FB-A524109A9B1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7199762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ARK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548640" y="6464808"/>
            <a:ext cx="11109960" cy="0"/>
          </a:xfrm>
          <a:prstGeom prst="line">
            <a:avLst/>
          </a:prstGeom>
          <a:noFill/>
          <a:ln w="10160">
            <a:solidFill>
              <a:srgbClr val="244465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10528"/>
            <a:ext cx="27432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D86A6"/>
                </a:solidFill>
                <a:latin typeface="NanumSquare"/>
                <a:ea typeface="NanumSquare"/>
                <a:cs typeface="NanumSquare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  <p:sp>
        <p:nvSpPr>
          <p:cNvPr id="7" name="Shape 0">
            <a:extLst>
              <a:ext uri="{FF2B5EF4-FFF2-40B4-BE49-F238E27FC236}">
                <a16:creationId xmlns:a16="http://schemas.microsoft.com/office/drawing/2014/main" id="{BB4B4F1C-6A2C-42AD-91C2-CF0DFB3D0BC7}"/>
              </a:ext>
            </a:extLst>
          </p:cNvPr>
          <p:cNvSpPr/>
          <p:nvPr userDrawn="1"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F5EFF"/>
          </a:solidFill>
          <a:ln w="12700">
            <a:solidFill>
              <a:srgbClr val="1F5EFF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402322747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DARK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9A96E590-9872-4B78-AF25-07765B3C7807}"/>
              </a:ext>
            </a:extLst>
          </p:cNvPr>
          <p:cNvSpPr/>
          <p:nvPr userDrawn="1"/>
        </p:nvSpPr>
        <p:spPr>
          <a:xfrm>
            <a:off x="0" y="73152"/>
            <a:ext cx="12191695" cy="6784848"/>
          </a:xfrm>
          <a:prstGeom prst="rect">
            <a:avLst/>
          </a:prstGeom>
          <a:solidFill>
            <a:srgbClr val="F7FA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548640" y="6464808"/>
            <a:ext cx="11109960" cy="0"/>
          </a:xfrm>
          <a:prstGeom prst="line">
            <a:avLst/>
          </a:prstGeom>
          <a:noFill/>
          <a:ln w="10160">
            <a:solidFill>
              <a:srgbClr val="244465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10528"/>
            <a:ext cx="27432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D86A6"/>
                </a:solidFill>
                <a:latin typeface="NanumSquare"/>
                <a:ea typeface="NanumSquare"/>
                <a:cs typeface="NanumSquare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  <p:sp>
        <p:nvSpPr>
          <p:cNvPr id="7" name="Shape 0">
            <a:extLst>
              <a:ext uri="{FF2B5EF4-FFF2-40B4-BE49-F238E27FC236}">
                <a16:creationId xmlns:a16="http://schemas.microsoft.com/office/drawing/2014/main" id="{6F8AB425-CE47-448A-A682-729483C69FDC}"/>
              </a:ext>
            </a:extLst>
          </p:cNvPr>
          <p:cNvSpPr/>
          <p:nvPr userDrawn="1"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F5EFF"/>
          </a:solidFill>
          <a:ln w="12700">
            <a:solidFill>
              <a:srgbClr val="1F5EFF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50029469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LIGHT">
    <p:bg>
      <p:bgPr>
        <a:solidFill>
          <a:srgbClr val="F7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2B9BABCA-8F5D-4C86-A07A-BAECAF610FF4}"/>
              </a:ext>
            </a:extLst>
          </p:cNvPr>
          <p:cNvSpPr/>
          <p:nvPr userDrawn="1"/>
        </p:nvSpPr>
        <p:spPr>
          <a:xfrm>
            <a:off x="0" y="73152"/>
            <a:ext cx="12191695" cy="6784848"/>
          </a:xfrm>
          <a:prstGeom prst="rect">
            <a:avLst/>
          </a:prstGeom>
          <a:solidFill>
            <a:srgbClr val="F7FA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F5EFF"/>
          </a:solidFill>
          <a:ln w="12700">
            <a:solidFill>
              <a:srgbClr val="1F5E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464808"/>
            <a:ext cx="11109960" cy="0"/>
          </a:xfrm>
          <a:prstGeom prst="line">
            <a:avLst/>
          </a:prstGeom>
          <a:noFill/>
          <a:ln w="10160">
            <a:solidFill>
              <a:srgbClr val="DCE8FA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10528"/>
            <a:ext cx="27432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B8CA8"/>
                </a:solidFill>
                <a:latin typeface="NanumSquare"/>
                <a:ea typeface="NanumSquare"/>
                <a:cs typeface="NanumSquare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26086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296EEB8-1A5C-44A5-B5C2-7E736071EA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C1D718-3418-4B18-B782-CCF9CEDA8F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ACCEB8-E72F-428B-8B58-F801AD8B6C0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5F8D4E-5FA8-4A72-865B-9A72DC512BFC}" type="datetimeFigureOut">
              <a:rPr lang="ko-KR" altLang="en-US" smtClean="0"/>
              <a:t>2026-08-27</a:t>
            </a:fld>
            <a:endParaRPr lang="ko-KR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3A2DB2-CDF2-401D-A12A-A35C25BBD67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9113C4-3B0A-46FB-A37B-2C939FBD853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8449241-5778-423C-A2FB-A524109A9B1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8419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3" r:id="rId13"/>
    <p:sldLayoutId id="2147483661" r:id="rId14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4.xml"/><Relationship Id="rId4" Type="http://schemas.openxmlformats.org/officeDocument/2006/relationships/chart" Target="../charts/char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4.xml"/><Relationship Id="rId4" Type="http://schemas.openxmlformats.org/officeDocument/2006/relationships/chart" Target="../charts/char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Box 21">
            <a:extLst>
              <a:ext uri="{FF2B5EF4-FFF2-40B4-BE49-F238E27FC236}">
                <a16:creationId xmlns:a16="http://schemas.microsoft.com/office/drawing/2014/main" id="{C0C0CB8F-415D-407B-8561-941E5B4C4356}"/>
              </a:ext>
            </a:extLst>
          </p:cNvPr>
          <p:cNvSpPr txBox="1"/>
          <p:nvPr/>
        </p:nvSpPr>
        <p:spPr>
          <a:xfrm>
            <a:off x="491798" y="3677109"/>
            <a:ext cx="61040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dirty="0">
                <a:solidFill>
                  <a:srgbClr val="0E2746"/>
                </a:solidFill>
                <a:latin typeface="페이퍼로지 4 Regular" pitchFamily="2" charset="-127"/>
                <a:ea typeface="페이퍼로지 4 Regular" pitchFamily="2" charset="-127"/>
              </a:rPr>
              <a:t>AI </a:t>
            </a:r>
            <a:r>
              <a:rPr lang="ko-KR" altLang="en-US" sz="1400" dirty="0">
                <a:solidFill>
                  <a:srgbClr val="0E2746"/>
                </a:solidFill>
                <a:latin typeface="페이퍼로지 4 Regular" pitchFamily="2" charset="-127"/>
                <a:ea typeface="페이퍼로지 4 Regular" pitchFamily="2" charset="-127"/>
              </a:rPr>
              <a:t>독립검증 기반 보이스피싱 금융안전 서비스 제안서</a:t>
            </a:r>
          </a:p>
        </p:txBody>
      </p:sp>
      <p:sp>
        <p:nvSpPr>
          <p:cNvPr id="30" name="Text 11">
            <a:extLst>
              <a:ext uri="{FF2B5EF4-FFF2-40B4-BE49-F238E27FC236}">
                <a16:creationId xmlns:a16="http://schemas.microsoft.com/office/drawing/2014/main" id="{1E31A4B3-526D-4E88-A19C-2D7AFA70D160}"/>
              </a:ext>
            </a:extLst>
          </p:cNvPr>
          <p:cNvSpPr txBox="1"/>
          <p:nvPr/>
        </p:nvSpPr>
        <p:spPr>
          <a:xfrm>
            <a:off x="547516" y="6501384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altLang="ko-KR" sz="1050" dirty="0">
                <a:solidFill>
                  <a:srgbClr val="0E2746"/>
                </a:solidFill>
                <a:latin typeface="페이퍼로지 4 Regular" pitchFamily="2" charset="-127"/>
                <a:ea typeface="페이퍼로지 4 Regular" pitchFamily="2" charset="-127"/>
              </a:rPr>
              <a:t>Team. </a:t>
            </a:r>
            <a:r>
              <a:rPr lang="ko-KR" altLang="en-US" sz="1050" dirty="0">
                <a:solidFill>
                  <a:srgbClr val="0E2746"/>
                </a:solidFill>
                <a:latin typeface="페이퍼로지 4 Regular" pitchFamily="2" charset="-127"/>
                <a:ea typeface="페이퍼로지 4 Regular" pitchFamily="2" charset="-127"/>
              </a:rPr>
              <a:t>가드레일즈</a:t>
            </a:r>
            <a:endParaRPr lang="en-US" sz="1050" dirty="0">
              <a:solidFill>
                <a:srgbClr val="0E2746"/>
              </a:solidFill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33" name="Shape 0">
            <a:extLst>
              <a:ext uri="{FF2B5EF4-FFF2-40B4-BE49-F238E27FC236}">
                <a16:creationId xmlns:a16="http://schemas.microsoft.com/office/drawing/2014/main" id="{7B1A6ED6-773F-42B8-8ED8-17738C505C8C}"/>
              </a:ext>
            </a:extLst>
          </p:cNvPr>
          <p:cNvSpPr/>
          <p:nvPr/>
        </p:nvSpPr>
        <p:spPr>
          <a:xfrm>
            <a:off x="7048500" y="0"/>
            <a:ext cx="5140452" cy="6858000"/>
          </a:xfrm>
          <a:prstGeom prst="rect">
            <a:avLst/>
          </a:prstGeom>
          <a:solidFill>
            <a:srgbClr val="0E2746"/>
          </a:solidFill>
          <a:ln w="12700">
            <a:solidFill>
              <a:srgbClr val="0E2746"/>
            </a:solidFill>
            <a:prstDash val="solid"/>
          </a:ln>
        </p:spPr>
      </p:sp>
      <p:grpSp>
        <p:nvGrpSpPr>
          <p:cNvPr id="60" name="Group 59">
            <a:extLst>
              <a:ext uri="{FF2B5EF4-FFF2-40B4-BE49-F238E27FC236}">
                <a16:creationId xmlns:a16="http://schemas.microsoft.com/office/drawing/2014/main" id="{68EE268D-001A-4A65-B643-028EB914480F}"/>
              </a:ext>
            </a:extLst>
          </p:cNvPr>
          <p:cNvGrpSpPr/>
          <p:nvPr/>
        </p:nvGrpSpPr>
        <p:grpSpPr>
          <a:xfrm>
            <a:off x="547517" y="766064"/>
            <a:ext cx="5294484" cy="3352801"/>
            <a:chOff x="550563" y="766064"/>
            <a:chExt cx="5689815" cy="3352801"/>
          </a:xfrm>
        </p:grpSpPr>
        <p:sp>
          <p:nvSpPr>
            <p:cNvPr id="59" name="Shape 9">
              <a:extLst>
                <a:ext uri="{FF2B5EF4-FFF2-40B4-BE49-F238E27FC236}">
                  <a16:creationId xmlns:a16="http://schemas.microsoft.com/office/drawing/2014/main" id="{634C45B3-C238-4E3E-AEED-0B9672BB4F65}"/>
                </a:ext>
              </a:extLst>
            </p:cNvPr>
            <p:cNvSpPr/>
            <p:nvPr/>
          </p:nvSpPr>
          <p:spPr>
            <a:xfrm>
              <a:off x="550563" y="766064"/>
              <a:ext cx="5689815" cy="0"/>
            </a:xfrm>
            <a:prstGeom prst="line">
              <a:avLst/>
            </a:prstGeom>
            <a:noFill/>
            <a:ln w="12700">
              <a:solidFill>
                <a:srgbClr val="2A537D"/>
              </a:solidFill>
              <a:prstDash val="solid"/>
              <a:headEnd type="none"/>
              <a:tailEnd type="none"/>
            </a:ln>
          </p:spPr>
        </p:sp>
        <p:sp>
          <p:nvSpPr>
            <p:cNvPr id="57" name="Shape 9">
              <a:extLst>
                <a:ext uri="{FF2B5EF4-FFF2-40B4-BE49-F238E27FC236}">
                  <a16:creationId xmlns:a16="http://schemas.microsoft.com/office/drawing/2014/main" id="{09CB9E57-402C-4513-8361-0726DA1036CA}"/>
                </a:ext>
              </a:extLst>
            </p:cNvPr>
            <p:cNvSpPr/>
            <p:nvPr/>
          </p:nvSpPr>
          <p:spPr>
            <a:xfrm>
              <a:off x="550563" y="3543131"/>
              <a:ext cx="5689815" cy="0"/>
            </a:xfrm>
            <a:prstGeom prst="line">
              <a:avLst/>
            </a:prstGeom>
            <a:noFill/>
            <a:ln w="12700">
              <a:solidFill>
                <a:srgbClr val="2A537D"/>
              </a:solidFill>
              <a:prstDash val="solid"/>
              <a:headEnd type="none"/>
              <a:tailEnd type="none"/>
            </a:ln>
          </p:spPr>
          <p:txBody>
            <a:bodyPr/>
            <a:lstStyle/>
            <a:p>
              <a:endParaRPr lang="ko-KR" altLang="en-US" dirty="0"/>
            </a:p>
          </p:txBody>
        </p:sp>
        <p:sp>
          <p:nvSpPr>
            <p:cNvPr id="58" name="Shape 9">
              <a:extLst>
                <a:ext uri="{FF2B5EF4-FFF2-40B4-BE49-F238E27FC236}">
                  <a16:creationId xmlns:a16="http://schemas.microsoft.com/office/drawing/2014/main" id="{7C5AD97E-4F05-4367-AE0F-6916A16D68BF}"/>
                </a:ext>
              </a:extLst>
            </p:cNvPr>
            <p:cNvSpPr/>
            <p:nvPr/>
          </p:nvSpPr>
          <p:spPr>
            <a:xfrm>
              <a:off x="550563" y="4118865"/>
              <a:ext cx="5689815" cy="0"/>
            </a:xfrm>
            <a:prstGeom prst="line">
              <a:avLst/>
            </a:prstGeom>
            <a:noFill/>
            <a:ln w="12700">
              <a:solidFill>
                <a:srgbClr val="2A537D"/>
              </a:solidFill>
              <a:prstDash val="solid"/>
              <a:headEnd type="none"/>
              <a:tailEnd type="none"/>
            </a:ln>
          </p:spPr>
          <p:txBody>
            <a:bodyPr/>
            <a:lstStyle/>
            <a:p>
              <a:endParaRPr lang="ko-KR" altLang="en-US" dirty="0"/>
            </a:p>
          </p:txBody>
        </p:sp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E72DDACD-5AE2-44C9-8A2E-B51DE4B0AB0E}"/>
              </a:ext>
            </a:extLst>
          </p:cNvPr>
          <p:cNvGrpSpPr/>
          <p:nvPr/>
        </p:nvGrpSpPr>
        <p:grpSpPr>
          <a:xfrm>
            <a:off x="547516" y="593683"/>
            <a:ext cx="6104020" cy="2949448"/>
            <a:chOff x="550564" y="585216"/>
            <a:chExt cx="6104020" cy="2949448"/>
          </a:xfrm>
        </p:grpSpPr>
        <p:sp>
          <p:nvSpPr>
            <p:cNvPr id="7" name="Shape 5"/>
            <p:cNvSpPr/>
            <p:nvPr/>
          </p:nvSpPr>
          <p:spPr>
            <a:xfrm>
              <a:off x="550564" y="585216"/>
              <a:ext cx="2240280" cy="310896"/>
            </a:xfrm>
            <a:prstGeom prst="roundRect">
              <a:avLst>
                <a:gd name="adj" fmla="val 50000"/>
              </a:avLst>
            </a:prstGeom>
            <a:solidFill>
              <a:srgbClr val="18395D"/>
            </a:solidFill>
            <a:ln w="10160">
              <a:solidFill>
                <a:srgbClr val="244F78"/>
              </a:solidFill>
              <a:prstDash val="solid"/>
            </a:ln>
          </p:spPr>
        </p:sp>
        <p:sp>
          <p:nvSpPr>
            <p:cNvPr id="8" name="Text 6"/>
            <p:cNvSpPr txBox="1"/>
            <p:nvPr/>
          </p:nvSpPr>
          <p:spPr>
            <a:xfrm>
              <a:off x="623716" y="621792"/>
              <a:ext cx="2093976" cy="2377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altLang="ko-KR" sz="1050" b="1" dirty="0">
                  <a:solidFill>
                    <a:schemeClr val="bg1"/>
                  </a:solidFill>
                  <a:latin typeface="페이퍼로지 4 Regular" pitchFamily="2" charset="-127"/>
                  <a:ea typeface="페이퍼로지 4 Regular" pitchFamily="2" charset="-127"/>
                  <a:cs typeface="NanumSquare Bold" pitchFamily="34" charset="-120"/>
                </a:rPr>
                <a:t>2026 </a:t>
              </a:r>
              <a:r>
                <a:rPr lang="ko-KR" altLang="en-US" sz="1050" b="1" dirty="0">
                  <a:solidFill>
                    <a:schemeClr val="bg1"/>
                  </a:solidFill>
                  <a:latin typeface="페이퍼로지 4 Regular" pitchFamily="2" charset="-127"/>
                  <a:ea typeface="페이퍼로지 4 Regular" pitchFamily="2" charset="-127"/>
                  <a:cs typeface="NanumSquare Bold" pitchFamily="34" charset="-120"/>
                </a:rPr>
                <a:t>금융 </a:t>
              </a:r>
              <a:r>
                <a:rPr lang="en-US" sz="1050" b="1" dirty="0">
                  <a:solidFill>
                    <a:schemeClr val="bg1"/>
                  </a:solidFill>
                  <a:latin typeface="페이퍼로지 4 Regular" pitchFamily="2" charset="-127"/>
                  <a:ea typeface="페이퍼로지 4 Regular" pitchFamily="2" charset="-127"/>
                  <a:cs typeface="NanumSquare Bold" pitchFamily="34" charset="-120"/>
                </a:rPr>
                <a:t>AI Challenge</a:t>
              </a:r>
            </a:p>
          </p:txBody>
        </p:sp>
        <p:sp>
          <p:nvSpPr>
            <p:cNvPr id="9" name="Text 7"/>
            <p:cNvSpPr txBox="1"/>
            <p:nvPr/>
          </p:nvSpPr>
          <p:spPr>
            <a:xfrm>
              <a:off x="550564" y="850392"/>
              <a:ext cx="6104020" cy="26842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 algn="l">
                <a:buNone/>
              </a:pPr>
              <a:r>
                <a:rPr lang="ko-KR" altLang="en-US" sz="2800" b="1" dirty="0">
                  <a:solidFill>
                    <a:srgbClr val="0E2746"/>
                  </a:solidFill>
                  <a:latin typeface="페이퍼로지 9 Black" pitchFamily="2" charset="-127"/>
                  <a:ea typeface="페이퍼로지 9 Black" pitchFamily="2" charset="-127"/>
                  <a:cs typeface="NanumSquare Bold" pitchFamily="34" charset="-120"/>
                </a:rPr>
                <a:t>보이스피싱이 만든 혼란</a:t>
              </a:r>
              <a:r>
                <a:rPr lang="en-US" altLang="ko-KR" sz="2800" b="1" dirty="0">
                  <a:solidFill>
                    <a:srgbClr val="0E2746"/>
                  </a:solidFill>
                  <a:latin typeface="페이퍼로지 9 Black" pitchFamily="2" charset="-127"/>
                  <a:ea typeface="페이퍼로지 9 Black" pitchFamily="2" charset="-127"/>
                  <a:cs typeface="NanumSquare Bold" pitchFamily="34" charset="-120"/>
                </a:rPr>
                <a:t> </a:t>
              </a:r>
              <a:r>
                <a:rPr lang="ko-KR" altLang="en-US" sz="2800" b="1" dirty="0">
                  <a:solidFill>
                    <a:srgbClr val="0E2746"/>
                  </a:solidFill>
                  <a:latin typeface="페이퍼로지 9 Black" pitchFamily="2" charset="-127"/>
                  <a:ea typeface="페이퍼로지 9 Black" pitchFamily="2" charset="-127"/>
                  <a:cs typeface="NanumSquare Bold" pitchFamily="34" charset="-120"/>
                </a:rPr>
                <a:t>속에</a:t>
              </a:r>
              <a:endParaRPr lang="en-US" altLang="ko-KR" sz="2800" b="1" dirty="0">
                <a:solidFill>
                  <a:srgbClr val="0E2746"/>
                </a:solidFill>
                <a:latin typeface="페이퍼로지 9 Black" pitchFamily="2" charset="-127"/>
                <a:ea typeface="페이퍼로지 9 Black" pitchFamily="2" charset="-127"/>
                <a:cs typeface="NanumSquare Bold" pitchFamily="34" charset="-120"/>
              </a:endParaRPr>
            </a:p>
            <a:p>
              <a:pPr marL="0" indent="0" algn="l">
                <a:buNone/>
              </a:pPr>
              <a:r>
                <a:rPr lang="ko-KR" altLang="en-US" sz="2800" b="1" dirty="0">
                  <a:solidFill>
                    <a:srgbClr val="0E2746"/>
                  </a:solidFill>
                  <a:latin typeface="페이퍼로지 9 Black" pitchFamily="2" charset="-127"/>
                  <a:ea typeface="페이퍼로지 9 Black" pitchFamily="2" charset="-127"/>
                  <a:cs typeface="NanumSquare Bold" pitchFamily="34" charset="-120"/>
                </a:rPr>
                <a:t>금융소비자가 혼자 있지 않도록</a:t>
              </a:r>
              <a:endParaRPr lang="en-US" altLang="ko-KR" sz="2800" b="1" dirty="0">
                <a:solidFill>
                  <a:srgbClr val="0E2746"/>
                </a:solidFill>
                <a:latin typeface="페이퍼로지 9 Black" pitchFamily="2" charset="-127"/>
                <a:ea typeface="페이퍼로지 9 Black" pitchFamily="2" charset="-127"/>
                <a:cs typeface="NanumSquare Bold" pitchFamily="34" charset="-120"/>
              </a:endParaRPr>
            </a:p>
            <a:p>
              <a:pPr marL="0" indent="0" algn="l">
                <a:buNone/>
              </a:pPr>
              <a:endParaRPr lang="en-US" altLang="ko-KR" sz="2800" b="1" dirty="0">
                <a:solidFill>
                  <a:srgbClr val="0E2746"/>
                </a:solidFill>
                <a:latin typeface="페이퍼로지 9 Black" pitchFamily="2" charset="-127"/>
                <a:ea typeface="페이퍼로지 9 Black" pitchFamily="2" charset="-127"/>
                <a:cs typeface="NanumSquare Bold" pitchFamily="34" charset="-120"/>
              </a:endParaRPr>
            </a:p>
            <a:p>
              <a:pPr marL="0" indent="0" algn="l">
                <a:buNone/>
              </a:pPr>
              <a:r>
                <a:rPr lang="ko-KR" altLang="en-US" sz="2800" b="1" dirty="0">
                  <a:solidFill>
                    <a:srgbClr val="0E2746"/>
                  </a:solidFill>
                  <a:latin typeface="페이퍼로지 9 Black" pitchFamily="2" charset="-127"/>
                  <a:ea typeface="페이퍼로지 9 Black" pitchFamily="2" charset="-127"/>
                  <a:cs typeface="NanumSquare Bold" pitchFamily="34" charset="-120"/>
                </a:rPr>
                <a:t>함께 확인하고</a:t>
              </a:r>
              <a:endParaRPr lang="en-US" altLang="ko-KR" sz="2800" b="1" dirty="0">
                <a:solidFill>
                  <a:srgbClr val="0E2746"/>
                </a:solidFill>
                <a:latin typeface="페이퍼로지 9 Black" pitchFamily="2" charset="-127"/>
                <a:ea typeface="페이퍼로지 9 Black" pitchFamily="2" charset="-127"/>
                <a:cs typeface="NanumSquare Bold" pitchFamily="34" charset="-120"/>
              </a:endParaRPr>
            </a:p>
            <a:p>
              <a:pPr marL="0" indent="0" algn="l">
                <a:buNone/>
              </a:pPr>
              <a:r>
                <a:rPr lang="ko-KR" altLang="en-US" sz="2800" b="1" dirty="0">
                  <a:solidFill>
                    <a:srgbClr val="0E2746"/>
                  </a:solidFill>
                  <a:latin typeface="페이퍼로지 9 Black" pitchFamily="2" charset="-127"/>
                  <a:ea typeface="페이퍼로지 9 Black" pitchFamily="2" charset="-127"/>
                  <a:cs typeface="NanumSquare Bold" pitchFamily="34" charset="-120"/>
                </a:rPr>
                <a:t>한 번 더 막아주는 </a:t>
              </a:r>
              <a:r>
                <a:rPr lang="en-US" altLang="ko-KR" sz="2800" b="1" dirty="0">
                  <a:solidFill>
                    <a:srgbClr val="0E2746"/>
                  </a:solidFill>
                  <a:latin typeface="페이퍼로지 9 Black" pitchFamily="2" charset="-127"/>
                  <a:ea typeface="페이퍼로지 9 Black" pitchFamily="2" charset="-127"/>
                  <a:cs typeface="NanumSquare Bold" pitchFamily="34" charset="-120"/>
                </a:rPr>
                <a:t>AI</a:t>
              </a:r>
              <a:r>
                <a:rPr lang="ko-KR" altLang="en-US" sz="2800" b="1" dirty="0">
                  <a:solidFill>
                    <a:srgbClr val="0E2746"/>
                  </a:solidFill>
                  <a:latin typeface="페이퍼로지 9 Black" pitchFamily="2" charset="-127"/>
                  <a:ea typeface="페이퍼로지 9 Black" pitchFamily="2" charset="-127"/>
                  <a:cs typeface="NanumSquare Bold" pitchFamily="34" charset="-120"/>
                </a:rPr>
                <a:t>솔루션</a:t>
              </a:r>
              <a:endParaRPr lang="en-US" altLang="ko-KR" sz="2800" b="1" dirty="0">
                <a:solidFill>
                  <a:srgbClr val="0E2746"/>
                </a:solidFill>
                <a:latin typeface="페이퍼로지 9 Black" pitchFamily="2" charset="-127"/>
                <a:ea typeface="페이퍼로지 9 Black" pitchFamily="2" charset="-127"/>
                <a:cs typeface="NanumSquare Bold" pitchFamily="34" charset="-120"/>
              </a:endParaRPr>
            </a:p>
          </p:txBody>
        </p:sp>
      </p:grpSp>
      <p:sp>
        <p:nvSpPr>
          <p:cNvPr id="65" name="Rectangle: Rounded Corners 64">
            <a:extLst>
              <a:ext uri="{FF2B5EF4-FFF2-40B4-BE49-F238E27FC236}">
                <a16:creationId xmlns:a16="http://schemas.microsoft.com/office/drawing/2014/main" id="{684BCE10-6885-4AD1-A68A-60F056C73D54}"/>
              </a:ext>
            </a:extLst>
          </p:cNvPr>
          <p:cNvSpPr/>
          <p:nvPr/>
        </p:nvSpPr>
        <p:spPr>
          <a:xfrm>
            <a:off x="7953865" y="766064"/>
            <a:ext cx="3340100" cy="651831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스마트폰 디바이스</a:t>
            </a:r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r>
              <a:rPr lang="ko-KR" altLang="en-US" dirty="0"/>
              <a:t>안에 앱 로고</a:t>
            </a:r>
          </a:p>
        </p:txBody>
      </p:sp>
    </p:spTree>
    <p:extLst>
      <p:ext uri="{BB962C8B-B14F-4D97-AF65-F5344CB8AC3E}">
        <p14:creationId xmlns:p14="http://schemas.microsoft.com/office/powerpoint/2010/main" val="22182405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F6E8D74D-AC22-40D6-AD00-C60A385F8DA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720" r="5720"/>
          <a:stretch/>
        </p:blipFill>
        <p:spPr>
          <a:xfrm>
            <a:off x="0" y="-12700"/>
            <a:ext cx="12192000" cy="6883400"/>
          </a:xfrm>
          <a:prstGeom prst="rect">
            <a:avLst/>
          </a:prstGeom>
        </p:spPr>
      </p:pic>
      <p:sp>
        <p:nvSpPr>
          <p:cNvPr id="13" name="Shape 0">
            <a:extLst>
              <a:ext uri="{FF2B5EF4-FFF2-40B4-BE49-F238E27FC236}">
                <a16:creationId xmlns:a16="http://schemas.microsoft.com/office/drawing/2014/main" id="{513B6724-1F32-4AB3-95A3-5DF13A0497FF}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tx1">
              <a:alpha val="30000"/>
            </a:schemeClr>
          </a:solidFill>
          <a:ln w="12700">
            <a:solidFill>
              <a:srgbClr val="0E2746"/>
            </a:solidFill>
            <a:prstDash val="solid"/>
          </a:ln>
        </p:spPr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41842F57-B99E-45AA-9322-69849BDD5513}"/>
              </a:ext>
            </a:extLst>
          </p:cNvPr>
          <p:cNvGrpSpPr/>
          <p:nvPr/>
        </p:nvGrpSpPr>
        <p:grpSpPr>
          <a:xfrm>
            <a:off x="676209" y="614224"/>
            <a:ext cx="10701275" cy="5835195"/>
            <a:chOff x="676209" y="626924"/>
            <a:chExt cx="10701275" cy="5835195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028ADCEB-E50C-42A8-8F4D-A33A939F0E5D}"/>
                </a:ext>
              </a:extLst>
            </p:cNvPr>
            <p:cNvSpPr txBox="1"/>
            <p:nvPr/>
          </p:nvSpPr>
          <p:spPr>
            <a:xfrm>
              <a:off x="3051175" y="626924"/>
              <a:ext cx="6102350" cy="147732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indent="0" algn="ctr">
                <a:buNone/>
              </a:pPr>
              <a:r>
                <a:rPr lang="ko-KR" altLang="en-US" dirty="0">
                  <a:solidFill>
                    <a:schemeClr val="bg1"/>
                  </a:solidFill>
                  <a:latin typeface="페이퍼로지 4 Regular" pitchFamily="2" charset="-127"/>
                  <a:ea typeface="페이퍼로지 4 Regular" pitchFamily="2" charset="-127"/>
                </a:rPr>
                <a:t>사람의 불안과 취약점을 이용해</a:t>
              </a:r>
              <a:endParaRPr lang="en-US" altLang="ko-KR" dirty="0">
                <a:solidFill>
                  <a:schemeClr val="bg1"/>
                </a:solidFill>
                <a:latin typeface="페이퍼로지 4 Regular" pitchFamily="2" charset="-127"/>
                <a:ea typeface="페이퍼로지 4 Regular" pitchFamily="2" charset="-127"/>
              </a:endParaRPr>
            </a:p>
            <a:p>
              <a:pPr marL="0" indent="0" algn="ctr">
                <a:buNone/>
              </a:pPr>
              <a:r>
                <a:rPr lang="ko-KR" altLang="en-US" b="1" dirty="0">
                  <a:solidFill>
                    <a:schemeClr val="bg1"/>
                  </a:solidFill>
                  <a:latin typeface="페이퍼로지 4 Regular" pitchFamily="2" charset="-127"/>
                  <a:ea typeface="페이퍼로지 4 Regular" pitchFamily="2" charset="-127"/>
                </a:rPr>
                <a:t>잘못된 판단을 유도하는 금융 범죄</a:t>
              </a:r>
            </a:p>
            <a:p>
              <a:pPr marL="0" indent="0" algn="ctr">
                <a:buNone/>
              </a:pPr>
              <a:r>
                <a:rPr lang="ko-KR" altLang="en-US" sz="5400" b="1" dirty="0">
                  <a:solidFill>
                    <a:schemeClr val="bg1"/>
                  </a:solidFill>
                  <a:latin typeface="페이퍼로지 9 Black" pitchFamily="2" charset="-127"/>
                  <a:ea typeface="페이퍼로지 9 Black" pitchFamily="2" charset="-127"/>
                  <a:cs typeface="NanumSquare Bold" pitchFamily="34" charset="-120"/>
                </a:rPr>
                <a:t>보이스피싱</a:t>
              </a:r>
              <a:endParaRPr lang="en-US" altLang="ko-KR" sz="5400" b="1" dirty="0">
                <a:solidFill>
                  <a:schemeClr val="bg1"/>
                </a:solidFill>
                <a:latin typeface="페이퍼로지 9 Black" pitchFamily="2" charset="-127"/>
                <a:ea typeface="페이퍼로지 9 Black" pitchFamily="2" charset="-127"/>
                <a:cs typeface="NanumSquare Bold" pitchFamily="34" charset="-120"/>
              </a:endParaRP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B82EADBD-3891-42CD-8D93-52D2B87ED37A}"/>
                </a:ext>
              </a:extLst>
            </p:cNvPr>
            <p:cNvSpPr txBox="1"/>
            <p:nvPr/>
          </p:nvSpPr>
          <p:spPr>
            <a:xfrm>
              <a:off x="2749550" y="5261790"/>
              <a:ext cx="6689852" cy="120032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indent="0" algn="ctr">
                <a:buNone/>
              </a:pPr>
              <a:r>
                <a:rPr lang="ko-KR" altLang="en-US" sz="1400" dirty="0">
                  <a:solidFill>
                    <a:schemeClr val="bg1"/>
                  </a:solidFill>
                  <a:latin typeface="페이퍼로지 4 Regular" pitchFamily="2" charset="-127"/>
                  <a:ea typeface="페이퍼로지 4 Regular" pitchFamily="2" charset="-127"/>
                </a:rPr>
                <a:t>딥페이크</a:t>
              </a:r>
              <a:r>
                <a:rPr lang="en-US" altLang="ko-KR" sz="1400" dirty="0">
                  <a:solidFill>
                    <a:schemeClr val="bg1"/>
                  </a:solidFill>
                  <a:latin typeface="페이퍼로지 4 Regular" pitchFamily="2" charset="-127"/>
                  <a:ea typeface="페이퍼로지 4 Regular" pitchFamily="2" charset="-127"/>
                </a:rPr>
                <a:t>, </a:t>
              </a:r>
              <a:r>
                <a:rPr lang="ko-KR" altLang="en-US" sz="1400" dirty="0">
                  <a:solidFill>
                    <a:schemeClr val="bg1"/>
                  </a:solidFill>
                  <a:latin typeface="페이퍼로지 4 Regular" pitchFamily="2" charset="-127"/>
                  <a:ea typeface="페이퍼로지 4 Regular" pitchFamily="2" charset="-127"/>
                </a:rPr>
                <a:t>전화 가로채기</a:t>
              </a:r>
              <a:r>
                <a:rPr lang="en-US" altLang="ko-KR" sz="1400" dirty="0">
                  <a:solidFill>
                    <a:schemeClr val="bg1"/>
                  </a:solidFill>
                  <a:latin typeface="페이퍼로지 4 Regular" pitchFamily="2" charset="-127"/>
                  <a:ea typeface="페이퍼로지 4 Regular" pitchFamily="2" charset="-127"/>
                </a:rPr>
                <a:t>… </a:t>
              </a:r>
              <a:r>
                <a:rPr lang="ko-KR" altLang="en-US" sz="1400" dirty="0">
                  <a:solidFill>
                    <a:schemeClr val="bg1"/>
                  </a:solidFill>
                  <a:latin typeface="페이퍼로지 4 Regular" pitchFamily="2" charset="-127"/>
                  <a:ea typeface="페이퍼로지 4 Regular" pitchFamily="2" charset="-127"/>
                </a:rPr>
                <a:t>끝없이 발전하는 수법</a:t>
              </a:r>
              <a:endParaRPr lang="en-US" altLang="ko-KR" sz="1400" dirty="0">
                <a:solidFill>
                  <a:schemeClr val="bg1"/>
                </a:solidFill>
                <a:latin typeface="페이퍼로지 4 Regular" pitchFamily="2" charset="-127"/>
                <a:ea typeface="페이퍼로지 4 Regular" pitchFamily="2" charset="-127"/>
              </a:endParaRPr>
            </a:p>
            <a:p>
              <a:pPr marL="0" indent="0" algn="ctr">
                <a:buNone/>
              </a:pPr>
              <a:r>
                <a:rPr lang="ko-KR" altLang="en-US" sz="1400" dirty="0">
                  <a:solidFill>
                    <a:schemeClr val="bg1"/>
                  </a:solidFill>
                  <a:latin typeface="페이퍼로지 4 Regular" pitchFamily="2" charset="-127"/>
                  <a:ea typeface="페이퍼로지 4 Regular" pitchFamily="2" charset="-127"/>
                </a:rPr>
                <a:t>피해를 막기위한 정부와 금융 기관의 끝없는 사투</a:t>
              </a:r>
              <a:endParaRPr lang="en-US" altLang="ko-KR" sz="1400" dirty="0">
                <a:solidFill>
                  <a:schemeClr val="bg1"/>
                </a:solidFill>
                <a:latin typeface="페이퍼로지 4 Regular" pitchFamily="2" charset="-127"/>
                <a:ea typeface="페이퍼로지 4 Regular" pitchFamily="2" charset="-127"/>
              </a:endParaRPr>
            </a:p>
            <a:p>
              <a:pPr marL="0" indent="0" algn="ctr">
                <a:buNone/>
              </a:pPr>
              <a:endParaRPr lang="en-US" altLang="ko-KR" sz="400" dirty="0">
                <a:solidFill>
                  <a:schemeClr val="bg1"/>
                </a:solidFill>
                <a:latin typeface="페이퍼로지 7 Bold" pitchFamily="2" charset="-127"/>
                <a:ea typeface="페이퍼로지 7 Bold" pitchFamily="2" charset="-127"/>
              </a:endParaRPr>
            </a:p>
            <a:p>
              <a:pPr marL="0" indent="0" algn="ctr">
                <a:buNone/>
              </a:pPr>
              <a:r>
                <a:rPr lang="ko-KR" altLang="en-US" sz="2000" dirty="0">
                  <a:solidFill>
                    <a:schemeClr val="bg1"/>
                  </a:solidFill>
                  <a:latin typeface="페이퍼로지 7 Bold" pitchFamily="2" charset="-127"/>
                  <a:ea typeface="페이퍼로지 7 Bold" pitchFamily="2" charset="-127"/>
                </a:rPr>
                <a:t>단 </a:t>
              </a:r>
              <a:r>
                <a:rPr lang="en-US" altLang="ko-KR" sz="2000" dirty="0">
                  <a:solidFill>
                    <a:schemeClr val="bg1"/>
                  </a:solidFill>
                  <a:latin typeface="페이퍼로지 7 Bold" pitchFamily="2" charset="-127"/>
                  <a:ea typeface="페이퍼로지 7 Bold" pitchFamily="2" charset="-127"/>
                </a:rPr>
                <a:t>1</a:t>
              </a:r>
              <a:r>
                <a:rPr lang="ko-KR" altLang="en-US" sz="2000" dirty="0">
                  <a:solidFill>
                    <a:schemeClr val="bg1"/>
                  </a:solidFill>
                  <a:latin typeface="페이퍼로지 7 Bold" pitchFamily="2" charset="-127"/>
                  <a:ea typeface="페이퍼로지 7 Bold" pitchFamily="2" charset="-127"/>
                </a:rPr>
                <a:t>원이라도</a:t>
              </a:r>
              <a:r>
                <a:rPr lang="en-US" altLang="ko-KR" sz="2000" dirty="0">
                  <a:solidFill>
                    <a:schemeClr val="bg1"/>
                  </a:solidFill>
                  <a:latin typeface="페이퍼로지 7 Bold" pitchFamily="2" charset="-127"/>
                  <a:ea typeface="페이퍼로지 7 Bold" pitchFamily="2" charset="-127"/>
                </a:rPr>
                <a:t>, </a:t>
              </a:r>
              <a:r>
                <a:rPr lang="ko-KR" altLang="en-US" sz="2000" dirty="0">
                  <a:solidFill>
                    <a:schemeClr val="bg1"/>
                  </a:solidFill>
                  <a:latin typeface="페이퍼로지 7 Bold" pitchFamily="2" charset="-127"/>
                  <a:ea typeface="페이퍼로지 7 Bold" pitchFamily="2" charset="-127"/>
                </a:rPr>
                <a:t>단 </a:t>
              </a:r>
              <a:r>
                <a:rPr lang="en-US" altLang="ko-KR" sz="2000" dirty="0">
                  <a:solidFill>
                    <a:schemeClr val="bg1"/>
                  </a:solidFill>
                  <a:latin typeface="페이퍼로지 7 Bold" pitchFamily="2" charset="-127"/>
                  <a:ea typeface="페이퍼로지 7 Bold" pitchFamily="2" charset="-127"/>
                </a:rPr>
                <a:t>1</a:t>
              </a:r>
              <a:r>
                <a:rPr lang="ko-KR" altLang="en-US" sz="2000" dirty="0">
                  <a:solidFill>
                    <a:schemeClr val="bg1"/>
                  </a:solidFill>
                  <a:latin typeface="페이퍼로지 7 Bold" pitchFamily="2" charset="-127"/>
                  <a:ea typeface="페이퍼로지 7 Bold" pitchFamily="2" charset="-127"/>
                </a:rPr>
                <a:t>명이라도</a:t>
              </a:r>
              <a:r>
                <a:rPr lang="en-US" altLang="ko-KR" sz="2000" dirty="0">
                  <a:solidFill>
                    <a:schemeClr val="bg1"/>
                  </a:solidFill>
                  <a:latin typeface="페이퍼로지 7 Bold" pitchFamily="2" charset="-127"/>
                  <a:ea typeface="페이퍼로지 7 Bold" pitchFamily="2" charset="-127"/>
                </a:rPr>
                <a:t> </a:t>
              </a:r>
              <a:r>
                <a:rPr lang="ko-KR" altLang="en-US" sz="2000" b="1" dirty="0">
                  <a:solidFill>
                    <a:schemeClr val="bg1"/>
                  </a:solidFill>
                  <a:latin typeface="페이퍼로지 7 Bold" pitchFamily="2" charset="-127"/>
                  <a:ea typeface="페이퍼로지 7 Bold" pitchFamily="2" charset="-127"/>
                  <a:cs typeface="NanumSquare Bold" pitchFamily="34" charset="-120"/>
                </a:rPr>
                <a:t>더 지키기 위해</a:t>
              </a:r>
              <a:endParaRPr lang="en-US" altLang="ko-KR" sz="2000" b="1" dirty="0">
                <a:solidFill>
                  <a:schemeClr val="bg1"/>
                </a:solidFill>
                <a:latin typeface="페이퍼로지 7 Bold" pitchFamily="2" charset="-127"/>
                <a:ea typeface="페이퍼로지 7 Bold" pitchFamily="2" charset="-127"/>
                <a:cs typeface="NanumSquare Bold" pitchFamily="34" charset="-120"/>
              </a:endParaRPr>
            </a:p>
            <a:p>
              <a:pPr marL="0" indent="0" algn="ctr">
                <a:buNone/>
              </a:pPr>
              <a:r>
                <a:rPr lang="ko-KR" altLang="en-US" sz="2000" b="1" dirty="0">
                  <a:solidFill>
                    <a:schemeClr val="bg1"/>
                  </a:solidFill>
                  <a:latin typeface="페이퍼로지 7 Bold" pitchFamily="2" charset="-127"/>
                  <a:ea typeface="페이퍼로지 7 Bold" pitchFamily="2" charset="-127"/>
                  <a:cs typeface="NanumSquare Bold" pitchFamily="34" charset="-120"/>
                </a:rPr>
                <a:t>함께 고민하고 해결해야 할 중대한 사회적 문제</a:t>
              </a:r>
              <a:endParaRPr lang="en-US" altLang="ko-KR" sz="2000" b="1" dirty="0">
                <a:solidFill>
                  <a:schemeClr val="bg1"/>
                </a:solidFill>
                <a:latin typeface="페이퍼로지 7 Bold" pitchFamily="2" charset="-127"/>
                <a:ea typeface="페이퍼로지 7 Bold" pitchFamily="2" charset="-127"/>
                <a:cs typeface="NanumSquare Bold" pitchFamily="34" charset="-120"/>
              </a:endParaRP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D9ADD5DB-927E-4576-9A6F-EF9B87C9EA69}"/>
                </a:ext>
              </a:extLst>
            </p:cNvPr>
            <p:cNvSpPr/>
            <p:nvPr/>
          </p:nvSpPr>
          <p:spPr>
            <a:xfrm>
              <a:off x="676209" y="2494037"/>
              <a:ext cx="3359152" cy="545534"/>
            </a:xfrm>
            <a:prstGeom prst="rect">
              <a:avLst/>
            </a:prstGeom>
            <a:solidFill>
              <a:schemeClr val="bg1"/>
            </a:solidFill>
            <a:ln w="12700">
              <a:noFill/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algn="ctr"/>
              <a:r>
                <a:rPr lang="ko-KR" altLang="en-US" sz="1400" dirty="0">
                  <a:latin typeface="페이퍼로지 7 Bold" pitchFamily="2" charset="-127"/>
                  <a:ea typeface="페이퍼로지 7 Bold" pitchFamily="2" charset="-127"/>
                </a:rPr>
                <a:t>노인들에게 ‘100억원’ 뜯어낸 피싱 일당… 112 신고 전화까지 가로챘다 </a:t>
              </a:r>
              <a:r>
                <a:rPr lang="en-US" altLang="ko-KR" sz="1400" b="0" i="0" dirty="0">
                  <a:effectLst/>
                  <a:latin typeface="페이퍼로지 4 Regular" pitchFamily="2" charset="-127"/>
                  <a:ea typeface="페이퍼로지 4 Regular" pitchFamily="2" charset="-127"/>
                </a:rPr>
                <a:t>(</a:t>
              </a:r>
              <a:r>
                <a:rPr lang="ko-KR" altLang="en-US" sz="1400" b="0" i="0" dirty="0">
                  <a:effectLst/>
                  <a:latin typeface="페이퍼로지 4 Regular" pitchFamily="2" charset="-127"/>
                  <a:ea typeface="페이퍼로지 4 Regular" pitchFamily="2" charset="-127"/>
                </a:rPr>
                <a:t>매일경제</a:t>
              </a:r>
              <a:r>
                <a:rPr lang="en-US" altLang="ko-KR" sz="1400" b="0" i="0" dirty="0">
                  <a:effectLst/>
                  <a:latin typeface="페이퍼로지 4 Regular" pitchFamily="2" charset="-127"/>
                  <a:ea typeface="페이퍼로지 4 Regular" pitchFamily="2" charset="-127"/>
                </a:rPr>
                <a:t>)</a:t>
              </a:r>
              <a:endParaRPr lang="ko-KR" altLang="en-US" sz="1400" dirty="0">
                <a:latin typeface="페이퍼로지 4 Regular" pitchFamily="2" charset="-127"/>
                <a:ea typeface="페이퍼로지 4 Regular" pitchFamily="2" charset="-127"/>
              </a:endParaRPr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2B43EDA0-F05D-4C52-A723-643E3D87EDEC}"/>
                </a:ext>
              </a:extLst>
            </p:cNvPr>
            <p:cNvSpPr/>
            <p:nvPr/>
          </p:nvSpPr>
          <p:spPr>
            <a:xfrm>
              <a:off x="7921497" y="2756990"/>
              <a:ext cx="2936875" cy="545534"/>
            </a:xfrm>
            <a:prstGeom prst="rect">
              <a:avLst/>
            </a:prstGeom>
            <a:solidFill>
              <a:schemeClr val="bg1"/>
            </a:solidFill>
            <a:ln w="12700">
              <a:noFill/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algn="ctr"/>
              <a:r>
                <a:rPr lang="ko-KR" altLang="en-US" sz="1400" dirty="0">
                  <a:latin typeface="페이퍼로지 7 Bold" pitchFamily="2" charset="-127"/>
                  <a:ea typeface="페이퍼로지 7 Bold" pitchFamily="2" charset="-127"/>
                </a:rPr>
                <a:t>보이스피싱 피해액 </a:t>
              </a:r>
              <a:r>
                <a:rPr lang="en-US" altLang="ko-KR" sz="1400" dirty="0">
                  <a:latin typeface="페이퍼로지 7 Bold" pitchFamily="2" charset="-127"/>
                  <a:ea typeface="페이퍼로지 7 Bold" pitchFamily="2" charset="-127"/>
                </a:rPr>
                <a:t>'</a:t>
              </a:r>
              <a:r>
                <a:rPr lang="ko-KR" altLang="en-US" sz="1400" dirty="0">
                  <a:latin typeface="페이퍼로지 7 Bold" pitchFamily="2" charset="-127"/>
                  <a:ea typeface="페이퍼로지 7 Bold" pitchFamily="2" charset="-127"/>
                </a:rPr>
                <a:t>반토막</a:t>
              </a:r>
              <a:r>
                <a:rPr lang="en-US" altLang="ko-KR" sz="1400" dirty="0">
                  <a:latin typeface="페이퍼로지 7 Bold" pitchFamily="2" charset="-127"/>
                  <a:ea typeface="페이퍼로지 7 Bold" pitchFamily="2" charset="-127"/>
                </a:rPr>
                <a:t>’… </a:t>
              </a:r>
            </a:p>
            <a:p>
              <a:pPr algn="ctr"/>
              <a:r>
                <a:rPr lang="en-US" altLang="ko-KR" sz="1400" dirty="0">
                  <a:latin typeface="페이퍼로지 7 Bold" pitchFamily="2" charset="-127"/>
                  <a:ea typeface="페이퍼로지 7 Bold" pitchFamily="2" charset="-127"/>
                </a:rPr>
                <a:t>7</a:t>
              </a:r>
              <a:r>
                <a:rPr lang="ko-KR" altLang="en-US" sz="1400" dirty="0">
                  <a:latin typeface="페이퍼로지 7 Bold" pitchFamily="2" charset="-127"/>
                  <a:ea typeface="페이퍼로지 7 Bold" pitchFamily="2" charset="-127"/>
                </a:rPr>
                <a:t>월 </a:t>
              </a:r>
              <a:r>
                <a:rPr lang="en-US" altLang="ko-KR" sz="1400" dirty="0">
                  <a:latin typeface="페이퍼로지 7 Bold" pitchFamily="2" charset="-127"/>
                  <a:ea typeface="페이퍼로지 7 Bold" pitchFamily="2" charset="-127"/>
                </a:rPr>
                <a:t>337</a:t>
              </a:r>
              <a:r>
                <a:rPr lang="ko-KR" altLang="en-US" sz="1400" dirty="0">
                  <a:latin typeface="페이퍼로지 7 Bold" pitchFamily="2" charset="-127"/>
                  <a:ea typeface="페이퍼로지 7 Bold" pitchFamily="2" charset="-127"/>
                </a:rPr>
                <a:t>억원으로 올해 최저</a:t>
              </a:r>
              <a:r>
                <a:rPr lang="ko-KR" altLang="en-US" sz="1400" dirty="0">
                  <a:latin typeface="페이퍼로지 4 Regular" pitchFamily="2" charset="-127"/>
                  <a:ea typeface="페이퍼로지 4 Regular" pitchFamily="2" charset="-127"/>
                </a:rPr>
                <a:t> </a:t>
              </a:r>
              <a:r>
                <a:rPr lang="en-US" altLang="ko-KR" sz="1400" dirty="0">
                  <a:latin typeface="페이퍼로지 4 Regular" pitchFamily="2" charset="-127"/>
                  <a:ea typeface="페이퍼로지 4 Regular" pitchFamily="2" charset="-127"/>
                </a:rPr>
                <a:t>(</a:t>
              </a:r>
              <a:r>
                <a:rPr lang="ko-KR" altLang="en-US" sz="1400" dirty="0">
                  <a:latin typeface="페이퍼로지 4 Regular" pitchFamily="2" charset="-127"/>
                  <a:ea typeface="페이퍼로지 4 Regular" pitchFamily="2" charset="-127"/>
                </a:rPr>
                <a:t>한국일보</a:t>
              </a:r>
              <a:r>
                <a:rPr lang="en-US" altLang="ko-KR" sz="1400" dirty="0">
                  <a:latin typeface="페이퍼로지 4 Regular" pitchFamily="2" charset="-127"/>
                  <a:ea typeface="페이퍼로지 4 Regular" pitchFamily="2" charset="-127"/>
                </a:rPr>
                <a:t>)</a:t>
              </a:r>
              <a:endParaRPr lang="ko-KR" altLang="en-US" sz="1400" dirty="0">
                <a:latin typeface="페이퍼로지 4 Regular" pitchFamily="2" charset="-127"/>
                <a:ea typeface="페이퍼로지 4 Regular" pitchFamily="2" charset="-127"/>
              </a:endParaRPr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B43F7C86-A66C-4412-878D-BBA05B9DA175}"/>
                </a:ext>
              </a:extLst>
            </p:cNvPr>
            <p:cNvSpPr/>
            <p:nvPr/>
          </p:nvSpPr>
          <p:spPr>
            <a:xfrm>
              <a:off x="2093784" y="3360734"/>
              <a:ext cx="3214816" cy="545534"/>
            </a:xfrm>
            <a:prstGeom prst="rect">
              <a:avLst/>
            </a:prstGeom>
            <a:solidFill>
              <a:schemeClr val="bg1"/>
            </a:solidFill>
            <a:ln w="12700">
              <a:noFill/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algn="ctr"/>
              <a:r>
                <a:rPr lang="en-US" altLang="ko-KR" sz="1400" dirty="0">
                  <a:latin typeface="페이퍼로지 7 Bold" pitchFamily="2" charset="-127"/>
                  <a:ea typeface="페이퍼로지 7 Bold" pitchFamily="2" charset="-127"/>
                </a:rPr>
                <a:t>"</a:t>
              </a:r>
              <a:r>
                <a:rPr lang="ko-KR" altLang="en-US" sz="1400" dirty="0">
                  <a:latin typeface="페이퍼로지 7 Bold" pitchFamily="2" charset="-127"/>
                  <a:ea typeface="페이퍼로지 7 Bold" pitchFamily="2" charset="-127"/>
                </a:rPr>
                <a:t>오늘 소방점검 나가요</a:t>
              </a:r>
              <a:r>
                <a:rPr lang="en-US" altLang="ko-KR" sz="1400" dirty="0">
                  <a:latin typeface="페이퍼로지 7 Bold" pitchFamily="2" charset="-127"/>
                  <a:ea typeface="페이퍼로지 7 Bold" pitchFamily="2" charset="-127"/>
                </a:rPr>
                <a:t>" </a:t>
              </a:r>
              <a:r>
                <a:rPr lang="ko-KR" altLang="en-US" sz="1400" dirty="0">
                  <a:latin typeface="페이퍼로지 7 Bold" pitchFamily="2" charset="-127"/>
                  <a:ea typeface="페이퍼로지 7 Bold" pitchFamily="2" charset="-127"/>
                </a:rPr>
                <a:t>전화에 </a:t>
              </a:r>
              <a:r>
                <a:rPr lang="en-US" altLang="ko-KR" sz="1400" dirty="0">
                  <a:latin typeface="페이퍼로지 7 Bold" pitchFamily="2" charset="-127"/>
                  <a:ea typeface="페이퍼로지 7 Bold" pitchFamily="2" charset="-127"/>
                </a:rPr>
                <a:t>'</a:t>
              </a:r>
              <a:r>
                <a:rPr lang="ko-KR" altLang="en-US" sz="1400" dirty="0">
                  <a:latin typeface="페이퍼로지 7 Bold" pitchFamily="2" charset="-127"/>
                  <a:ea typeface="페이퍼로지 7 Bold" pitchFamily="2" charset="-127"/>
                </a:rPr>
                <a:t>덜컥</a:t>
              </a:r>
              <a:r>
                <a:rPr lang="en-US" altLang="ko-KR" sz="1400" dirty="0">
                  <a:latin typeface="페이퍼로지 7 Bold" pitchFamily="2" charset="-127"/>
                  <a:ea typeface="페이퍼로지 7 Bold" pitchFamily="2" charset="-127"/>
                </a:rPr>
                <a:t>’..</a:t>
              </a:r>
            </a:p>
            <a:p>
              <a:pPr algn="ctr"/>
              <a:r>
                <a:rPr lang="ko-KR" altLang="en-US" sz="1400" dirty="0">
                  <a:latin typeface="페이퍼로지 7 Bold" pitchFamily="2" charset="-127"/>
                  <a:ea typeface="페이퍼로지 7 Bold" pitchFamily="2" charset="-127"/>
                </a:rPr>
                <a:t>알고보니 </a:t>
              </a:r>
              <a:r>
                <a:rPr lang="en-US" altLang="ko-KR" sz="1400" dirty="0">
                  <a:latin typeface="페이퍼로지 7 Bold" pitchFamily="2" charset="-127"/>
                  <a:ea typeface="페이퍼로지 7 Bold" pitchFamily="2" charset="-127"/>
                </a:rPr>
                <a:t>'</a:t>
              </a:r>
              <a:r>
                <a:rPr lang="ko-KR" altLang="en-US" sz="1400" dirty="0">
                  <a:latin typeface="페이퍼로지 7 Bold" pitchFamily="2" charset="-127"/>
                  <a:ea typeface="페이퍼로지 7 Bold" pitchFamily="2" charset="-127"/>
                </a:rPr>
                <a:t>노쇼 보이스피싱</a:t>
              </a:r>
              <a:r>
                <a:rPr lang="en-US" altLang="ko-KR" sz="1400" dirty="0">
                  <a:latin typeface="페이퍼로지 7 Bold" pitchFamily="2" charset="-127"/>
                  <a:ea typeface="페이퍼로지 7 Bold" pitchFamily="2" charset="-127"/>
                </a:rPr>
                <a:t>’ </a:t>
              </a:r>
              <a:r>
                <a:rPr lang="en-US" altLang="ko-KR" sz="1400" dirty="0">
                  <a:latin typeface="페이퍼로지 4 Regular" pitchFamily="2" charset="-127"/>
                  <a:ea typeface="페이퍼로지 4 Regular" pitchFamily="2" charset="-127"/>
                </a:rPr>
                <a:t>(</a:t>
              </a:r>
              <a:r>
                <a:rPr lang="ko-KR" altLang="en-US" sz="1400" dirty="0">
                  <a:latin typeface="페이퍼로지 4 Regular" pitchFamily="2" charset="-127"/>
                  <a:ea typeface="페이퍼로지 4 Regular" pitchFamily="2" charset="-127"/>
                </a:rPr>
                <a:t>제주방송</a:t>
              </a:r>
              <a:r>
                <a:rPr lang="en-US" altLang="ko-KR" sz="1400" dirty="0">
                  <a:latin typeface="페이퍼로지 4 Regular" pitchFamily="2" charset="-127"/>
                  <a:ea typeface="페이퍼로지 4 Regular" pitchFamily="2" charset="-127"/>
                </a:rPr>
                <a:t>)</a:t>
              </a:r>
              <a:endParaRPr lang="ko-KR" altLang="en-US" sz="1400" dirty="0">
                <a:latin typeface="페이퍼로지 4 Regular" pitchFamily="2" charset="-127"/>
                <a:ea typeface="페이퍼로지 4 Regular" pitchFamily="2" charset="-127"/>
              </a:endParaRPr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6BD81DD3-DA06-47E6-8A81-238A4BEB83AC}"/>
                </a:ext>
              </a:extLst>
            </p:cNvPr>
            <p:cNvSpPr/>
            <p:nvPr/>
          </p:nvSpPr>
          <p:spPr>
            <a:xfrm>
              <a:off x="7402384" y="3917525"/>
              <a:ext cx="3975100" cy="545534"/>
            </a:xfrm>
            <a:prstGeom prst="rect">
              <a:avLst/>
            </a:prstGeom>
            <a:solidFill>
              <a:schemeClr val="bg1"/>
            </a:solidFill>
            <a:ln w="12700">
              <a:noFill/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algn="ctr"/>
              <a:r>
                <a:rPr lang="ko-KR" altLang="en-US" sz="1400" dirty="0">
                  <a:latin typeface="페이퍼로지 7 Bold" pitchFamily="2" charset="-127"/>
                  <a:ea typeface="페이퍼로지 7 Bold" pitchFamily="2" charset="-127"/>
                </a:rPr>
                <a:t>경찰청</a:t>
              </a:r>
              <a:r>
                <a:rPr lang="en-US" altLang="ko-KR" sz="1400" dirty="0">
                  <a:latin typeface="페이퍼로지 7 Bold" pitchFamily="2" charset="-127"/>
                  <a:ea typeface="페이퍼로지 7 Bold" pitchFamily="2" charset="-127"/>
                </a:rPr>
                <a:t>-KT, </a:t>
              </a:r>
              <a:r>
                <a:rPr lang="ko-KR" altLang="en-US" sz="1400" dirty="0">
                  <a:latin typeface="페이퍼로지 7 Bold" pitchFamily="2" charset="-127"/>
                  <a:ea typeface="페이퍼로지 7 Bold" pitchFamily="2" charset="-127"/>
                </a:rPr>
                <a:t>협업으로 보이스피싱</a:t>
              </a:r>
              <a:r>
                <a:rPr lang="en-US" altLang="ko-KR" sz="1400" dirty="0">
                  <a:latin typeface="페이퍼로지 7 Bold" pitchFamily="2" charset="-127"/>
                  <a:ea typeface="페이퍼로지 7 Bold" pitchFamily="2" charset="-127"/>
                </a:rPr>
                <a:t>·</a:t>
              </a:r>
              <a:r>
                <a:rPr lang="ko-KR" altLang="en-US" sz="1400" dirty="0">
                  <a:latin typeface="페이퍼로지 7 Bold" pitchFamily="2" charset="-127"/>
                  <a:ea typeface="페이퍼로지 7 Bold" pitchFamily="2" charset="-127"/>
                </a:rPr>
                <a:t>구매대행 사기 불법 </a:t>
              </a:r>
              <a:r>
                <a:rPr lang="en-US" altLang="ko-KR" sz="1400" dirty="0">
                  <a:latin typeface="페이퍼로지 7 Bold" pitchFamily="2" charset="-127"/>
                  <a:ea typeface="페이퍼로지 7 Bold" pitchFamily="2" charset="-127"/>
                </a:rPr>
                <a:t>010 </a:t>
              </a:r>
              <a:r>
                <a:rPr lang="ko-KR" altLang="en-US" sz="1400" dirty="0">
                  <a:latin typeface="페이퍼로지 7 Bold" pitchFamily="2" charset="-127"/>
                  <a:ea typeface="페이퍼로지 7 Bold" pitchFamily="2" charset="-127"/>
                </a:rPr>
                <a:t>번호 변작 중계소 </a:t>
              </a:r>
              <a:r>
                <a:rPr lang="en-US" altLang="ko-KR" sz="1400" dirty="0">
                  <a:latin typeface="페이퍼로지 7 Bold" pitchFamily="2" charset="-127"/>
                  <a:ea typeface="페이퍼로지 7 Bold" pitchFamily="2" charset="-127"/>
                </a:rPr>
                <a:t>115</a:t>
              </a:r>
              <a:r>
                <a:rPr lang="ko-KR" altLang="en-US" sz="1400" dirty="0">
                  <a:latin typeface="페이퍼로지 7 Bold" pitchFamily="2" charset="-127"/>
                  <a:ea typeface="페이퍼로지 7 Bold" pitchFamily="2" charset="-127"/>
                </a:rPr>
                <a:t>개소 단속 </a:t>
              </a:r>
              <a:r>
                <a:rPr lang="en-US" altLang="ko-KR" sz="1400" dirty="0">
                  <a:latin typeface="페이퍼로지 4 Regular" pitchFamily="2" charset="-127"/>
                  <a:ea typeface="페이퍼로지 4 Regular" pitchFamily="2" charset="-127"/>
                </a:rPr>
                <a:t>(</a:t>
              </a:r>
              <a:r>
                <a:rPr lang="ko-KR" altLang="en-US" sz="1400" dirty="0">
                  <a:latin typeface="페이퍼로지 4 Regular" pitchFamily="2" charset="-127"/>
                  <a:ea typeface="페이퍼로지 4 Regular" pitchFamily="2" charset="-127"/>
                </a:rPr>
                <a:t>정책브리핑</a:t>
              </a:r>
              <a:r>
                <a:rPr lang="en-US" altLang="ko-KR" sz="1400" dirty="0">
                  <a:latin typeface="페이퍼로지 4 Regular" pitchFamily="2" charset="-127"/>
                  <a:ea typeface="페이퍼로지 4 Regular" pitchFamily="2" charset="-127"/>
                </a:rPr>
                <a:t>)</a:t>
              </a:r>
              <a:endParaRPr lang="ko-KR" altLang="en-US" sz="1400" dirty="0">
                <a:latin typeface="페이퍼로지 4 Regular" pitchFamily="2" charset="-127"/>
                <a:ea typeface="페이퍼로지 4 Regular" pitchFamily="2" charset="-127"/>
              </a:endParaRP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317E3725-0C33-4292-A88D-07EA5E88446D}"/>
                </a:ext>
              </a:extLst>
            </p:cNvPr>
            <p:cNvSpPr txBox="1"/>
            <p:nvPr/>
          </p:nvSpPr>
          <p:spPr>
            <a:xfrm>
              <a:off x="5421715" y="1945024"/>
              <a:ext cx="136127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dirty="0">
                  <a:solidFill>
                    <a:schemeClr val="bg1"/>
                  </a:solidFill>
                  <a:latin typeface="페이퍼로지 7 Bold" pitchFamily="2" charset="-127"/>
                  <a:ea typeface="페이퍼로지 7 Bold" pitchFamily="2" charset="-127"/>
                </a:rPr>
                <a:t>범죄 </a:t>
              </a:r>
              <a:r>
                <a:rPr lang="en-US" altLang="ko-KR" dirty="0">
                  <a:solidFill>
                    <a:schemeClr val="bg1"/>
                  </a:solidFill>
                  <a:latin typeface="페이퍼로지 7 Bold" pitchFamily="2" charset="-127"/>
                  <a:ea typeface="페이퍼로지 7 Bold" pitchFamily="2" charset="-127"/>
                </a:rPr>
                <a:t>vs </a:t>
              </a:r>
              <a:r>
                <a:rPr lang="ko-KR" altLang="en-US" dirty="0">
                  <a:solidFill>
                    <a:schemeClr val="bg1"/>
                  </a:solidFill>
                  <a:latin typeface="페이퍼로지 7 Bold" pitchFamily="2" charset="-127"/>
                  <a:ea typeface="페이퍼로지 7 Bold" pitchFamily="2" charset="-127"/>
                </a:rPr>
                <a:t>대책</a:t>
              </a:r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2B5F2574-374C-4458-803C-1D887BF70E66}"/>
                </a:ext>
              </a:extLst>
            </p:cNvPr>
            <p:cNvSpPr/>
            <p:nvPr/>
          </p:nvSpPr>
          <p:spPr>
            <a:xfrm>
              <a:off x="1269936" y="4233615"/>
              <a:ext cx="2765425" cy="545534"/>
            </a:xfrm>
            <a:prstGeom prst="rect">
              <a:avLst/>
            </a:prstGeom>
            <a:solidFill>
              <a:schemeClr val="bg1"/>
            </a:solidFill>
            <a:ln w="12700">
              <a:noFill/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algn="ctr"/>
              <a:r>
                <a:rPr lang="ko-KR" altLang="en-US" sz="1400" dirty="0">
                  <a:latin typeface="페이퍼로지 7 Bold" pitchFamily="2" charset="-127"/>
                  <a:ea typeface="페이퍼로지 7 Bold" pitchFamily="2" charset="-127"/>
                </a:rPr>
                <a:t>대출 미끼로 계좌</a:t>
              </a:r>
              <a:r>
                <a:rPr lang="en-US" altLang="ko-KR" sz="1400" dirty="0">
                  <a:latin typeface="페이퍼로지 7 Bold" pitchFamily="2" charset="-127"/>
                  <a:ea typeface="페이퍼로지 7 Bold" pitchFamily="2" charset="-127"/>
                </a:rPr>
                <a:t>·OTP </a:t>
              </a:r>
              <a:r>
                <a:rPr lang="ko-KR" altLang="en-US" sz="1400" dirty="0">
                  <a:latin typeface="페이퍼로지 7 Bold" pitchFamily="2" charset="-127"/>
                  <a:ea typeface="페이퍼로지 7 Bold" pitchFamily="2" charset="-127"/>
                </a:rPr>
                <a:t>받아 보이스피싱 자금세탁</a:t>
              </a:r>
              <a:r>
                <a:rPr lang="en-US" altLang="ko-KR" sz="1400" dirty="0">
                  <a:latin typeface="페이퍼로지 7 Bold" pitchFamily="2" charset="-127"/>
                  <a:ea typeface="페이퍼로지 7 Bold" pitchFamily="2" charset="-127"/>
                </a:rPr>
                <a:t>…3</a:t>
              </a:r>
              <a:r>
                <a:rPr lang="ko-KR" altLang="en-US" sz="1400" dirty="0">
                  <a:latin typeface="페이퍼로지 7 Bold" pitchFamily="2" charset="-127"/>
                  <a:ea typeface="페이퍼로지 7 Bold" pitchFamily="2" charset="-127"/>
                </a:rPr>
                <a:t>명 구속 </a:t>
              </a:r>
              <a:r>
                <a:rPr lang="en-US" altLang="ko-KR" sz="1400" dirty="0">
                  <a:latin typeface="페이퍼로지 4 Regular" pitchFamily="2" charset="-127"/>
                  <a:ea typeface="페이퍼로지 4 Regular" pitchFamily="2" charset="-127"/>
                </a:rPr>
                <a:t>(</a:t>
              </a:r>
              <a:r>
                <a:rPr lang="ko-KR" altLang="en-US" sz="1400" dirty="0">
                  <a:latin typeface="페이퍼로지 4 Regular" pitchFamily="2" charset="-127"/>
                  <a:ea typeface="페이퍼로지 4 Regular" pitchFamily="2" charset="-127"/>
                </a:rPr>
                <a:t>서울신문</a:t>
              </a:r>
              <a:r>
                <a:rPr lang="en-US" altLang="ko-KR" sz="1400" dirty="0">
                  <a:latin typeface="페이퍼로지 4 Regular" pitchFamily="2" charset="-127"/>
                  <a:ea typeface="페이퍼로지 4 Regular" pitchFamily="2" charset="-127"/>
                </a:rPr>
                <a:t>)</a:t>
              </a:r>
              <a:endParaRPr lang="ko-KR" altLang="en-US" sz="1400" dirty="0">
                <a:latin typeface="페이퍼로지 4 Regular" pitchFamily="2" charset="-127"/>
                <a:ea typeface="페이퍼로지 4 Regular" pitchFamily="2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2425814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6D83CD05-1C0E-4A92-8144-C841C3C659DF}"/>
              </a:ext>
            </a:extLst>
          </p:cNvPr>
          <p:cNvGrpSpPr/>
          <p:nvPr/>
        </p:nvGrpSpPr>
        <p:grpSpPr>
          <a:xfrm>
            <a:off x="10844784" y="128016"/>
            <a:ext cx="1188720" cy="1188720"/>
            <a:chOff x="10844784" y="128016"/>
            <a:chExt cx="1188720" cy="1188720"/>
          </a:xfrm>
        </p:grpSpPr>
        <p:sp>
          <p:nvSpPr>
            <p:cNvPr id="53" name="Shape 0">
              <a:extLst>
                <a:ext uri="{FF2B5EF4-FFF2-40B4-BE49-F238E27FC236}">
                  <a16:creationId xmlns:a16="http://schemas.microsoft.com/office/drawing/2014/main" id="{8180EA9B-D86F-480A-827F-E6A6E0D31C69}"/>
                </a:ext>
              </a:extLst>
            </p:cNvPr>
            <p:cNvSpPr/>
            <p:nvPr/>
          </p:nvSpPr>
          <p:spPr>
            <a:xfrm>
              <a:off x="10844784" y="128016"/>
              <a:ext cx="1188720" cy="1188720"/>
            </a:xfrm>
            <a:prstGeom prst="ellipse">
              <a:avLst/>
            </a:prstGeom>
            <a:solidFill>
              <a:srgbClr val="EAF3FF"/>
            </a:solidFill>
            <a:ln w="10160">
              <a:solidFill>
                <a:srgbClr val="EAF3FF"/>
              </a:solidFill>
              <a:prstDash val="solid"/>
            </a:ln>
          </p:spPr>
        </p:sp>
        <p:sp>
          <p:nvSpPr>
            <p:cNvPr id="54" name="Shape 1">
              <a:extLst>
                <a:ext uri="{FF2B5EF4-FFF2-40B4-BE49-F238E27FC236}">
                  <a16:creationId xmlns:a16="http://schemas.microsoft.com/office/drawing/2014/main" id="{A1E94AE9-4178-4DF3-81BE-A4F0E14FB13D}"/>
                </a:ext>
              </a:extLst>
            </p:cNvPr>
            <p:cNvSpPr/>
            <p:nvPr/>
          </p:nvSpPr>
          <p:spPr>
            <a:xfrm>
              <a:off x="11448288" y="292608"/>
              <a:ext cx="310896" cy="310896"/>
            </a:xfrm>
            <a:prstGeom prst="ellipse">
              <a:avLst/>
            </a:prstGeom>
            <a:solidFill>
              <a:srgbClr val="49A8FF"/>
            </a:solidFill>
            <a:ln w="10160">
              <a:solidFill>
                <a:srgbClr val="49A8FF"/>
              </a:solidFill>
              <a:prstDash val="solid"/>
            </a:ln>
          </p:spPr>
        </p:sp>
        <p:sp>
          <p:nvSpPr>
            <p:cNvPr id="55" name="Shape 2">
              <a:extLst>
                <a:ext uri="{FF2B5EF4-FFF2-40B4-BE49-F238E27FC236}">
                  <a16:creationId xmlns:a16="http://schemas.microsoft.com/office/drawing/2014/main" id="{0261E3B0-CF1D-4497-96E2-3E47E2AE44B6}"/>
                </a:ext>
              </a:extLst>
            </p:cNvPr>
            <p:cNvSpPr/>
            <p:nvPr/>
          </p:nvSpPr>
          <p:spPr>
            <a:xfrm>
              <a:off x="10844784" y="1024128"/>
              <a:ext cx="868680" cy="0"/>
            </a:xfrm>
            <a:prstGeom prst="line">
              <a:avLst/>
            </a:prstGeom>
            <a:noFill/>
            <a:ln w="13970">
              <a:solidFill>
                <a:srgbClr val="D6E8FF"/>
              </a:solidFill>
              <a:prstDash val="solid"/>
              <a:headEnd type="none"/>
              <a:tailEnd type="none"/>
            </a:ln>
          </p:spPr>
        </p:sp>
        <p:sp>
          <p:nvSpPr>
            <p:cNvPr id="56" name="Shape 3">
              <a:extLst>
                <a:ext uri="{FF2B5EF4-FFF2-40B4-BE49-F238E27FC236}">
                  <a16:creationId xmlns:a16="http://schemas.microsoft.com/office/drawing/2014/main" id="{77510202-A46B-4098-B6BE-16242DFE16B5}"/>
                </a:ext>
              </a:extLst>
            </p:cNvPr>
            <p:cNvSpPr/>
            <p:nvPr/>
          </p:nvSpPr>
          <p:spPr>
            <a:xfrm>
              <a:off x="11045952" y="1225296"/>
              <a:ext cx="667512" cy="0"/>
            </a:xfrm>
            <a:prstGeom prst="line">
              <a:avLst/>
            </a:prstGeom>
            <a:noFill/>
            <a:ln w="13970">
              <a:solidFill>
                <a:srgbClr val="D6E8FF"/>
              </a:solidFill>
              <a:prstDash val="solid"/>
              <a:headEnd type="none"/>
              <a:tailEnd type="none"/>
            </a:ln>
          </p:spPr>
        </p:sp>
      </p:grpSp>
      <p:sp>
        <p:nvSpPr>
          <p:cNvPr id="57" name="Text 5">
            <a:extLst>
              <a:ext uri="{FF2B5EF4-FFF2-40B4-BE49-F238E27FC236}">
                <a16:creationId xmlns:a16="http://schemas.microsoft.com/office/drawing/2014/main" id="{14DC0ADE-DD2D-4DB4-9ADF-13F891CE62C7}"/>
              </a:ext>
            </a:extLst>
          </p:cNvPr>
          <p:cNvSpPr txBox="1"/>
          <p:nvPr/>
        </p:nvSpPr>
        <p:spPr>
          <a:xfrm>
            <a:off x="-64242" y="162899"/>
            <a:ext cx="8961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E2746"/>
                </a:solidFill>
                <a:latin typeface="페이퍼로지 4 Regular" pitchFamily="2" charset="-127"/>
                <a:ea typeface="페이퍼로지 4 Regular" pitchFamily="2" charset="-127"/>
                <a:cs typeface="NanumSquare Bold" pitchFamily="34" charset="-120"/>
              </a:rPr>
              <a:t>현황분석</a:t>
            </a:r>
            <a:endParaRPr lang="en-US" sz="1050" dirty="0">
              <a:solidFill>
                <a:srgbClr val="0E2746"/>
              </a:solidFill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58" name="Text 6">
            <a:extLst>
              <a:ext uri="{FF2B5EF4-FFF2-40B4-BE49-F238E27FC236}">
                <a16:creationId xmlns:a16="http://schemas.microsoft.com/office/drawing/2014/main" id="{A3AB1DBD-1697-472F-9AD7-5B9857EAF0DD}"/>
              </a:ext>
            </a:extLst>
          </p:cNvPr>
          <p:cNvSpPr txBox="1"/>
          <p:nvPr/>
        </p:nvSpPr>
        <p:spPr>
          <a:xfrm>
            <a:off x="594359" y="778923"/>
            <a:ext cx="11016615" cy="90144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altLang="ko-KR" sz="2000" dirty="0">
                <a:solidFill>
                  <a:srgbClr val="0E2746"/>
                </a:solidFill>
                <a:latin typeface="페이퍼로지 7 Bold" pitchFamily="2" charset="-127"/>
                <a:ea typeface="페이퍼로지 7 Bold" pitchFamily="2" charset="-127"/>
                <a:cs typeface="NanumSquare" pitchFamily="34" charset="-120"/>
              </a:rPr>
              <a:t>2026</a:t>
            </a:r>
            <a:r>
              <a:rPr lang="ko-KR" altLang="en-US" sz="2000" dirty="0">
                <a:solidFill>
                  <a:srgbClr val="0E2746"/>
                </a:solidFill>
                <a:latin typeface="페이퍼로지 7 Bold" pitchFamily="2" charset="-127"/>
                <a:ea typeface="페이퍼로지 7 Bold" pitchFamily="2" charset="-127"/>
                <a:cs typeface="NanumSquare" pitchFamily="34" charset="-120"/>
              </a:rPr>
              <a:t>년 이후 동안 보이스피싱 피해 </a:t>
            </a:r>
            <a:r>
              <a:rPr lang="en-US" altLang="ko-KR" sz="2000" dirty="0">
                <a:solidFill>
                  <a:srgbClr val="FF4B16"/>
                </a:solidFill>
                <a:latin typeface="페이퍼로지 7 Bold" pitchFamily="2" charset="-127"/>
                <a:ea typeface="페이퍼로지 7 Bold" pitchFamily="2" charset="-127"/>
                <a:cs typeface="NanumSquare" pitchFamily="34" charset="-120"/>
              </a:rPr>
              <a:t>260,694</a:t>
            </a:r>
            <a:r>
              <a:rPr lang="ko-KR" altLang="en-US" sz="2000" dirty="0">
                <a:solidFill>
                  <a:srgbClr val="FF4B16"/>
                </a:solidFill>
                <a:latin typeface="페이퍼로지 7 Bold" pitchFamily="2" charset="-127"/>
                <a:ea typeface="페이퍼로지 7 Bold" pitchFamily="2" charset="-127"/>
                <a:cs typeface="NanumSquare" pitchFamily="34" charset="-120"/>
              </a:rPr>
              <a:t>건</a:t>
            </a:r>
            <a:r>
              <a:rPr lang="en-US" altLang="ko-KR" sz="2000" dirty="0">
                <a:solidFill>
                  <a:srgbClr val="0E2746"/>
                </a:solidFill>
                <a:latin typeface="페이퍼로지 7 Bold" pitchFamily="2" charset="-127"/>
                <a:ea typeface="페이퍼로지 7 Bold" pitchFamily="2" charset="-127"/>
                <a:cs typeface="NanumSquare" pitchFamily="34" charset="-120"/>
              </a:rPr>
              <a:t>, </a:t>
            </a:r>
            <a:r>
              <a:rPr lang="ko-KR" altLang="en-US" sz="2000" dirty="0">
                <a:solidFill>
                  <a:srgbClr val="0E2746"/>
                </a:solidFill>
                <a:latin typeface="페이퍼로지 7 Bold" pitchFamily="2" charset="-127"/>
                <a:ea typeface="페이퍼로지 7 Bold" pitchFamily="2" charset="-127"/>
                <a:cs typeface="NanumSquare" pitchFamily="34" charset="-120"/>
              </a:rPr>
              <a:t>누적 피해액 </a:t>
            </a:r>
            <a:r>
              <a:rPr lang="en-US" altLang="ko-KR" sz="2000" dirty="0">
                <a:solidFill>
                  <a:srgbClr val="FF4B16"/>
                </a:solidFill>
                <a:latin typeface="페이퍼로지 7 Bold" pitchFamily="2" charset="-127"/>
                <a:ea typeface="페이퍼로지 7 Bold" pitchFamily="2" charset="-127"/>
                <a:cs typeface="NanumSquare" pitchFamily="34" charset="-120"/>
              </a:rPr>
              <a:t>6</a:t>
            </a:r>
            <a:r>
              <a:rPr lang="ko-KR" altLang="en-US" sz="2000" dirty="0">
                <a:solidFill>
                  <a:srgbClr val="FF4B16"/>
                </a:solidFill>
                <a:latin typeface="페이퍼로지 7 Bold" pitchFamily="2" charset="-127"/>
                <a:ea typeface="페이퍼로지 7 Bold" pitchFamily="2" charset="-127"/>
                <a:cs typeface="NanumSquare" pitchFamily="34" charset="-120"/>
              </a:rPr>
              <a:t>조</a:t>
            </a:r>
            <a:r>
              <a:rPr lang="en-US" altLang="ko-KR" sz="2000" dirty="0">
                <a:solidFill>
                  <a:srgbClr val="FF4B16"/>
                </a:solidFill>
                <a:latin typeface="페이퍼로지 7 Bold" pitchFamily="2" charset="-127"/>
                <a:ea typeface="페이퍼로지 7 Bold" pitchFamily="2" charset="-127"/>
                <a:cs typeface="NanumSquare" pitchFamily="34" charset="-120"/>
              </a:rPr>
              <a:t> 153</a:t>
            </a:r>
            <a:r>
              <a:rPr lang="ko-KR" altLang="en-US" sz="2000" dirty="0">
                <a:solidFill>
                  <a:srgbClr val="FF4B16"/>
                </a:solidFill>
                <a:latin typeface="페이퍼로지 7 Bold" pitchFamily="2" charset="-127"/>
                <a:ea typeface="페이퍼로지 7 Bold" pitchFamily="2" charset="-127"/>
                <a:cs typeface="NanumSquare" pitchFamily="34" charset="-120"/>
              </a:rPr>
              <a:t>억원</a:t>
            </a:r>
            <a:r>
              <a:rPr lang="en-US" altLang="ko-KR" sz="2000" dirty="0">
                <a:solidFill>
                  <a:srgbClr val="0E2746"/>
                </a:solidFill>
                <a:latin typeface="페이퍼로지 7 Bold" pitchFamily="2" charset="-127"/>
                <a:ea typeface="페이퍼로지 7 Bold" pitchFamily="2" charset="-127"/>
                <a:cs typeface="NanumSquare" pitchFamily="34" charset="-120"/>
              </a:rPr>
              <a:t>, </a:t>
            </a:r>
            <a:r>
              <a:rPr lang="ko-KR" altLang="en-US" sz="2000" dirty="0">
                <a:solidFill>
                  <a:srgbClr val="0E2746"/>
                </a:solidFill>
                <a:latin typeface="페이퍼로지 7 Bold" pitchFamily="2" charset="-127"/>
                <a:ea typeface="페이퍼로지 7 Bold" pitchFamily="2" charset="-127"/>
                <a:cs typeface="NanumSquare" pitchFamily="34" charset="-120"/>
              </a:rPr>
              <a:t>평균 피해액 </a:t>
            </a:r>
            <a:r>
              <a:rPr lang="ko-KR" altLang="en-US" sz="2000" dirty="0">
                <a:solidFill>
                  <a:srgbClr val="FF4B16"/>
                </a:solidFill>
                <a:latin typeface="페이퍼로지 7 Bold" pitchFamily="2" charset="-127"/>
                <a:ea typeface="페이퍼로지 7 Bold" pitchFamily="2" charset="-127"/>
                <a:cs typeface="NanumSquare" pitchFamily="34" charset="-120"/>
              </a:rPr>
              <a:t>우상향</a:t>
            </a:r>
            <a:r>
              <a:rPr lang="en-US" altLang="ko-KR" sz="2000" dirty="0">
                <a:solidFill>
                  <a:srgbClr val="FF4B16"/>
                </a:solidFill>
                <a:latin typeface="페이퍼로지 7 Bold" pitchFamily="2" charset="-127"/>
                <a:ea typeface="페이퍼로지 7 Bold" pitchFamily="2" charset="-127"/>
                <a:cs typeface="NanumSquare" pitchFamily="34" charset="-120"/>
              </a:rPr>
              <a:t>…</a:t>
            </a:r>
          </a:p>
          <a:p>
            <a:r>
              <a:rPr lang="ko-KR" altLang="en-US" sz="2000" dirty="0">
                <a:solidFill>
                  <a:srgbClr val="0E2746"/>
                </a:solidFill>
                <a:latin typeface="페이퍼로지 7 Bold" pitchFamily="2" charset="-127"/>
                <a:ea typeface="페이퍼로지 7 Bold" pitchFamily="2" charset="-127"/>
              </a:rPr>
              <a:t>단순 금전적</a:t>
            </a:r>
            <a:r>
              <a:rPr lang="en-US" altLang="ko-KR" sz="2000" dirty="0">
                <a:solidFill>
                  <a:srgbClr val="0E2746"/>
                </a:solidFill>
                <a:latin typeface="페이퍼로지 7 Bold" pitchFamily="2" charset="-127"/>
                <a:ea typeface="페이퍼로지 7 Bold" pitchFamily="2" charset="-127"/>
              </a:rPr>
              <a:t>·</a:t>
            </a:r>
            <a:r>
              <a:rPr lang="ko-KR" altLang="en-US" sz="2000" dirty="0">
                <a:solidFill>
                  <a:srgbClr val="0E2746"/>
                </a:solidFill>
                <a:latin typeface="페이퍼로지 7 Bold" pitchFamily="2" charset="-127"/>
                <a:ea typeface="페이퍼로지 7 Bold" pitchFamily="2" charset="-127"/>
              </a:rPr>
              <a:t>경제적 손실 뿐 아니라</a:t>
            </a:r>
            <a:r>
              <a:rPr lang="en-US" altLang="ko-KR" sz="2000" dirty="0">
                <a:solidFill>
                  <a:srgbClr val="0E2746"/>
                </a:solidFill>
                <a:latin typeface="페이퍼로지 7 Bold" pitchFamily="2" charset="-127"/>
                <a:ea typeface="페이퍼로지 7 Bold" pitchFamily="2" charset="-127"/>
              </a:rPr>
              <a:t>, </a:t>
            </a:r>
            <a:r>
              <a:rPr lang="ko-KR" altLang="en-US" sz="2000" dirty="0">
                <a:solidFill>
                  <a:srgbClr val="FF4B16"/>
                </a:solidFill>
                <a:latin typeface="페이퍼로지 7 Bold" pitchFamily="2" charset="-127"/>
                <a:ea typeface="페이퍼로지 7 Bold" pitchFamily="2" charset="-127"/>
              </a:rPr>
              <a:t>극단적 선택까지</a:t>
            </a:r>
            <a:r>
              <a:rPr lang="ko-KR" altLang="en-US" sz="2000" dirty="0">
                <a:solidFill>
                  <a:srgbClr val="0E2746"/>
                </a:solidFill>
                <a:latin typeface="페이퍼로지 7 Bold" pitchFamily="2" charset="-127"/>
                <a:ea typeface="페이퍼로지 7 Bold" pitchFamily="2" charset="-127"/>
              </a:rPr>
              <a:t> 이어지는 심각한 상황</a:t>
            </a:r>
            <a:endParaRPr lang="en-US" altLang="ko-KR" sz="2000" dirty="0">
              <a:solidFill>
                <a:srgbClr val="0E2746"/>
              </a:solidFill>
              <a:latin typeface="페이퍼로지 7 Bold" pitchFamily="2" charset="-127"/>
              <a:ea typeface="페이퍼로지 7 Bold" pitchFamily="2" charset="-127"/>
            </a:endParaRPr>
          </a:p>
        </p:txBody>
      </p:sp>
      <p:sp>
        <p:nvSpPr>
          <p:cNvPr id="59" name="Text 7">
            <a:extLst>
              <a:ext uri="{FF2B5EF4-FFF2-40B4-BE49-F238E27FC236}">
                <a16:creationId xmlns:a16="http://schemas.microsoft.com/office/drawing/2014/main" id="{7CC2DE4C-207C-45EF-9A0E-5F6667FDA2C7}"/>
              </a:ext>
            </a:extLst>
          </p:cNvPr>
          <p:cNvSpPr txBox="1"/>
          <p:nvPr/>
        </p:nvSpPr>
        <p:spPr>
          <a:xfrm>
            <a:off x="594360" y="580520"/>
            <a:ext cx="10515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ko-KR" altLang="en-US" sz="1230" dirty="0">
                <a:solidFill>
                  <a:srgbClr val="66768F"/>
                </a:solidFill>
                <a:latin typeface="페이퍼로지 4 Regular" pitchFamily="2" charset="-127"/>
                <a:ea typeface="페이퍼로지 4 Regular" pitchFamily="2" charset="-127"/>
                <a:cs typeface="NanumSquare" pitchFamily="34" charset="-120"/>
              </a:rPr>
              <a:t>대한민국은 아직 보이스피싱 범죄와 전쟁중</a:t>
            </a:r>
            <a:r>
              <a:rPr lang="en-US" altLang="ko-KR" sz="1230" dirty="0">
                <a:solidFill>
                  <a:srgbClr val="66768F"/>
                </a:solidFill>
                <a:latin typeface="페이퍼로지 4 Regular" pitchFamily="2" charset="-127"/>
                <a:ea typeface="페이퍼로지 4 Regular" pitchFamily="2" charset="-127"/>
                <a:cs typeface="NanumSquare" pitchFamily="34" charset="-120"/>
              </a:rPr>
              <a:t>…</a:t>
            </a:r>
            <a:endParaRPr lang="en-US" sz="123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101" name="Slide Number Placeholder 0">
            <a:extLst>
              <a:ext uri="{FF2B5EF4-FFF2-40B4-BE49-F238E27FC236}">
                <a16:creationId xmlns:a16="http://schemas.microsoft.com/office/drawing/2014/main" id="{B62526B2-5F3F-4EBB-A2DC-93B7F89FFF3E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475720" y="6510528"/>
            <a:ext cx="27432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B8CA8"/>
                </a:solidFill>
                <a:latin typeface="NanumSquare"/>
                <a:ea typeface="NanumSquare"/>
                <a:cs typeface="NanumSquare"/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  <p:sp>
        <p:nvSpPr>
          <p:cNvPr id="97" name="Shape 44">
            <a:extLst>
              <a:ext uri="{FF2B5EF4-FFF2-40B4-BE49-F238E27FC236}">
                <a16:creationId xmlns:a16="http://schemas.microsoft.com/office/drawing/2014/main" id="{A76E8C5A-17D3-408B-A296-8675D799E942}"/>
              </a:ext>
            </a:extLst>
          </p:cNvPr>
          <p:cNvSpPr/>
          <p:nvPr/>
        </p:nvSpPr>
        <p:spPr>
          <a:xfrm>
            <a:off x="600456" y="4575007"/>
            <a:ext cx="10991088" cy="1736164"/>
          </a:xfrm>
          <a:prstGeom prst="roundRect">
            <a:avLst>
              <a:gd name="adj" fmla="val 14754"/>
            </a:avLst>
          </a:prstGeom>
          <a:solidFill>
            <a:srgbClr val="EAF3FF"/>
          </a:solidFill>
          <a:ln w="10160">
            <a:solidFill>
              <a:srgbClr val="D7E7FF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C16B820F-AFB7-48E0-9EB6-DDB131DC1B40}"/>
              </a:ext>
            </a:extLst>
          </p:cNvPr>
          <p:cNvGrpSpPr/>
          <p:nvPr/>
        </p:nvGrpSpPr>
        <p:grpSpPr>
          <a:xfrm>
            <a:off x="810836" y="4737420"/>
            <a:ext cx="6480610" cy="1409774"/>
            <a:chOff x="804672" y="4974712"/>
            <a:chExt cx="6480610" cy="1409774"/>
          </a:xfrm>
        </p:grpSpPr>
        <p:sp>
          <p:nvSpPr>
            <p:cNvPr id="98" name="Text 45">
              <a:extLst>
                <a:ext uri="{FF2B5EF4-FFF2-40B4-BE49-F238E27FC236}">
                  <a16:creationId xmlns:a16="http://schemas.microsoft.com/office/drawing/2014/main" id="{4F2E3DE0-CD98-4D61-9489-686484F3DB48}"/>
                </a:ext>
              </a:extLst>
            </p:cNvPr>
            <p:cNvSpPr txBox="1"/>
            <p:nvPr/>
          </p:nvSpPr>
          <p:spPr>
            <a:xfrm>
              <a:off x="804672" y="4987290"/>
              <a:ext cx="539496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 algn="l">
                <a:buNone/>
              </a:pPr>
              <a:endParaRPr lang="en-US" sz="1050" dirty="0"/>
            </a:p>
          </p:txBody>
        </p:sp>
        <p:sp>
          <p:nvSpPr>
            <p:cNvPr id="111" name="TextBox 110">
              <a:extLst>
                <a:ext uri="{FF2B5EF4-FFF2-40B4-BE49-F238E27FC236}">
                  <a16:creationId xmlns:a16="http://schemas.microsoft.com/office/drawing/2014/main" id="{C1E646E0-5120-4849-9996-97AD67287F74}"/>
                </a:ext>
              </a:extLst>
            </p:cNvPr>
            <p:cNvSpPr txBox="1"/>
            <p:nvPr/>
          </p:nvSpPr>
          <p:spPr>
            <a:xfrm>
              <a:off x="894649" y="5324056"/>
              <a:ext cx="6390633" cy="276999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>
              <a:spAutoFit/>
            </a:bodyPr>
            <a:lstStyle/>
            <a:p>
              <a:pPr fontAlgn="base"/>
              <a:r>
                <a:rPr lang="en-US" altLang="ko-KR" sz="1200" b="1" i="0" dirty="0">
                  <a:solidFill>
                    <a:srgbClr val="222222"/>
                  </a:solidFill>
                  <a:effectLst/>
                  <a:latin typeface="Noto Sans KR" panose="020B0200000000000000" pitchFamily="50" charset="-127"/>
                  <a:ea typeface="Noto Sans KR" panose="020B0200000000000000" pitchFamily="50" charset="-127"/>
                </a:rPr>
                <a:t>“</a:t>
              </a:r>
              <a:r>
                <a:rPr lang="ko-KR" altLang="en-US" sz="1200" b="1" i="0" dirty="0">
                  <a:solidFill>
                    <a:srgbClr val="222222"/>
                  </a:solidFill>
                  <a:effectLst/>
                  <a:latin typeface="Noto Sans KR" panose="020B0200000000000000" pitchFamily="50" charset="-127"/>
                  <a:ea typeface="Noto Sans KR" panose="020B0200000000000000" pitchFamily="50" charset="-127"/>
                </a:rPr>
                <a:t>보이스피싱 줄었다지만</a:t>
              </a:r>
              <a:r>
                <a:rPr lang="en-US" altLang="ko-KR" sz="1200" b="1" i="0" dirty="0">
                  <a:solidFill>
                    <a:srgbClr val="222222"/>
                  </a:solidFill>
                  <a:effectLst/>
                  <a:latin typeface="Noto Sans KR" panose="020B0200000000000000" pitchFamily="50" charset="-127"/>
                  <a:ea typeface="Noto Sans KR" panose="020B0200000000000000" pitchFamily="50" charset="-127"/>
                </a:rPr>
                <a:t>…5</a:t>
              </a:r>
              <a:r>
                <a:rPr lang="ko-KR" altLang="en-US" sz="1200" b="1" i="0" dirty="0">
                  <a:solidFill>
                    <a:srgbClr val="222222"/>
                  </a:solidFill>
                  <a:effectLst/>
                  <a:latin typeface="Noto Sans KR" panose="020B0200000000000000" pitchFamily="50" charset="-127"/>
                  <a:ea typeface="Noto Sans KR" panose="020B0200000000000000" pitchFamily="50" charset="-127"/>
                </a:rPr>
                <a:t>천만 원 피해에 </a:t>
              </a:r>
              <a:r>
                <a:rPr lang="en-US" altLang="ko-KR" sz="1200" b="1" i="0" dirty="0">
                  <a:solidFill>
                    <a:srgbClr val="FF4B16"/>
                  </a:solidFill>
                  <a:effectLst/>
                  <a:latin typeface="Noto Sans KR" panose="020B0200000000000000" pitchFamily="50" charset="-127"/>
                  <a:ea typeface="Noto Sans KR" panose="020B0200000000000000" pitchFamily="50" charset="-127"/>
                </a:rPr>
                <a:t>20</a:t>
              </a:r>
              <a:r>
                <a:rPr lang="ko-KR" altLang="en-US" sz="1200" b="1" i="0" dirty="0">
                  <a:solidFill>
                    <a:srgbClr val="FF4B16"/>
                  </a:solidFill>
                  <a:effectLst/>
                  <a:latin typeface="Noto Sans KR" panose="020B0200000000000000" pitchFamily="50" charset="-127"/>
                  <a:ea typeface="Noto Sans KR" panose="020B0200000000000000" pitchFamily="50" charset="-127"/>
                </a:rPr>
                <a:t>대 아들</a:t>
              </a:r>
              <a:r>
                <a:rPr lang="en-US" altLang="ko-KR" sz="1200" b="1" i="0" dirty="0">
                  <a:solidFill>
                    <a:srgbClr val="FF4B16"/>
                  </a:solidFill>
                  <a:effectLst/>
                  <a:latin typeface="Noto Sans KR" panose="020B0200000000000000" pitchFamily="50" charset="-127"/>
                  <a:ea typeface="Noto Sans KR" panose="020B0200000000000000" pitchFamily="50" charset="-127"/>
                </a:rPr>
                <a:t>, </a:t>
              </a:r>
              <a:r>
                <a:rPr lang="ko-KR" altLang="en-US" sz="1200" b="1" i="0" dirty="0">
                  <a:solidFill>
                    <a:srgbClr val="FF4B16"/>
                  </a:solidFill>
                  <a:effectLst/>
                  <a:latin typeface="Noto Sans KR" panose="020B0200000000000000" pitchFamily="50" charset="-127"/>
                  <a:ea typeface="Noto Sans KR" panose="020B0200000000000000" pitchFamily="50" charset="-127"/>
                </a:rPr>
                <a:t>엄마와 함께 숨져</a:t>
              </a:r>
              <a:r>
                <a:rPr lang="en-US" altLang="ko-KR" sz="1200" b="1" i="0" dirty="0">
                  <a:solidFill>
                    <a:srgbClr val="222222"/>
                  </a:solidFill>
                  <a:effectLst/>
                  <a:latin typeface="Noto Sans KR" panose="020B0200000000000000" pitchFamily="50" charset="-127"/>
                  <a:ea typeface="Noto Sans KR" panose="020B0200000000000000" pitchFamily="50" charset="-127"/>
                </a:rPr>
                <a:t>”</a:t>
              </a:r>
              <a:r>
                <a:rPr lang="ko-KR" altLang="en-US" sz="1200" b="1" i="0" dirty="0">
                  <a:solidFill>
                    <a:srgbClr val="222222"/>
                  </a:solidFill>
                  <a:effectLst/>
                  <a:latin typeface="Noto Sans KR" panose="020B0200000000000000" pitchFamily="50" charset="-127"/>
                  <a:ea typeface="Noto Sans KR" panose="020B0200000000000000" pitchFamily="50" charset="-127"/>
                </a:rPr>
                <a:t> </a:t>
              </a:r>
              <a:r>
                <a:rPr lang="en-US" altLang="ko-KR" sz="1200" i="0" dirty="0">
                  <a:solidFill>
                    <a:srgbClr val="222222"/>
                  </a:solidFill>
                  <a:effectLst/>
                  <a:latin typeface="페이퍼로지 4 Regular" pitchFamily="2" charset="-127"/>
                  <a:ea typeface="페이퍼로지 4 Regular" pitchFamily="2" charset="-127"/>
                </a:rPr>
                <a:t>(KBS</a:t>
              </a:r>
              <a:r>
                <a:rPr lang="ko-KR" altLang="en-US" sz="1200" i="0" dirty="0">
                  <a:solidFill>
                    <a:srgbClr val="222222"/>
                  </a:solidFill>
                  <a:effectLst/>
                  <a:latin typeface="페이퍼로지 4 Regular" pitchFamily="2" charset="-127"/>
                  <a:ea typeface="페이퍼로지 4 Regular" pitchFamily="2" charset="-127"/>
                </a:rPr>
                <a:t>뉴스 </a:t>
              </a:r>
              <a:r>
                <a:rPr lang="en-US" altLang="ko-KR" sz="1200" i="0" dirty="0">
                  <a:solidFill>
                    <a:srgbClr val="222222"/>
                  </a:solidFill>
                  <a:effectLst/>
                  <a:latin typeface="페이퍼로지 4 Regular" pitchFamily="2" charset="-127"/>
                  <a:ea typeface="페이퍼로지 4 Regular" pitchFamily="2" charset="-127"/>
                </a:rPr>
                <a:t>2026.06.22)</a:t>
              </a:r>
              <a:endParaRPr lang="ko-KR" altLang="en-US" sz="1200" i="0" dirty="0">
                <a:solidFill>
                  <a:srgbClr val="222222"/>
                </a:solidFill>
                <a:effectLst/>
                <a:latin typeface="페이퍼로지 4 Regular" pitchFamily="2" charset="-127"/>
                <a:ea typeface="페이퍼로지 4 Regular" pitchFamily="2" charset="-127"/>
              </a:endParaRPr>
            </a:p>
          </p:txBody>
        </p:sp>
        <p:sp>
          <p:nvSpPr>
            <p:cNvPr id="112" name="TextBox 111">
              <a:extLst>
                <a:ext uri="{FF2B5EF4-FFF2-40B4-BE49-F238E27FC236}">
                  <a16:creationId xmlns:a16="http://schemas.microsoft.com/office/drawing/2014/main" id="{69DBA008-F345-4089-8070-1624E61E661A}"/>
                </a:ext>
              </a:extLst>
            </p:cNvPr>
            <p:cNvSpPr txBox="1"/>
            <p:nvPr/>
          </p:nvSpPr>
          <p:spPr>
            <a:xfrm>
              <a:off x="826725" y="4974712"/>
              <a:ext cx="4228078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indent="0">
                <a:buNone/>
              </a:pPr>
              <a:r>
                <a:rPr lang="ko-KR" altLang="en-US" sz="1200" dirty="0">
                  <a:solidFill>
                    <a:srgbClr val="0E2746"/>
                  </a:solidFill>
                  <a:latin typeface="페이퍼로지 7 Bold" pitchFamily="2" charset="-127"/>
                  <a:ea typeface="페이퍼로지 7 Bold" pitchFamily="2" charset="-127"/>
                </a:rPr>
                <a:t>극단적인 선택 까지 이어지는 보이스피싱 범죄의 심각성</a:t>
              </a:r>
              <a:endParaRPr lang="en-US" altLang="ko-KR" sz="1200" dirty="0">
                <a:solidFill>
                  <a:srgbClr val="0E2746"/>
                </a:solidFill>
                <a:latin typeface="페이퍼로지 7 Bold" pitchFamily="2" charset="-127"/>
                <a:ea typeface="페이퍼로지 7 Bold" pitchFamily="2" charset="-127"/>
              </a:endParaRPr>
            </a:p>
          </p:txBody>
        </p:sp>
        <p:sp>
          <p:nvSpPr>
            <p:cNvPr id="118" name="TextBox 117">
              <a:extLst>
                <a:ext uri="{FF2B5EF4-FFF2-40B4-BE49-F238E27FC236}">
                  <a16:creationId xmlns:a16="http://schemas.microsoft.com/office/drawing/2014/main" id="{2F6B1490-F183-46C5-891C-4DF4DDEBC613}"/>
                </a:ext>
              </a:extLst>
            </p:cNvPr>
            <p:cNvSpPr txBox="1"/>
            <p:nvPr/>
          </p:nvSpPr>
          <p:spPr>
            <a:xfrm>
              <a:off x="894649" y="5711305"/>
              <a:ext cx="5918527" cy="276999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>
              <a:spAutoFit/>
            </a:bodyPr>
            <a:lstStyle/>
            <a:p>
              <a:pPr fontAlgn="base"/>
              <a:r>
                <a:rPr lang="en-US" altLang="ko-KR" sz="1200" b="1" i="0" dirty="0">
                  <a:effectLst/>
                  <a:latin typeface="Noto Sans KR" panose="020B0200000000000000" pitchFamily="50" charset="-127"/>
                  <a:ea typeface="Noto Sans KR" panose="020B0200000000000000" pitchFamily="50" charset="-127"/>
                </a:rPr>
                <a:t>“</a:t>
              </a:r>
              <a:r>
                <a:rPr lang="ko-KR" altLang="en-US" sz="1200" b="1" i="0" dirty="0">
                  <a:effectLst/>
                  <a:latin typeface="Noto Sans KR" panose="020B0200000000000000" pitchFamily="50" charset="-127"/>
                  <a:ea typeface="Noto Sans KR" panose="020B0200000000000000" pitchFamily="50" charset="-127"/>
                </a:rPr>
                <a:t>보이스피싱에 속아 </a:t>
              </a:r>
              <a:r>
                <a:rPr lang="en-US" altLang="ko-KR" sz="1200" b="1" i="0" dirty="0">
                  <a:effectLst/>
                  <a:latin typeface="Noto Sans KR" panose="020B0200000000000000" pitchFamily="50" charset="-127"/>
                  <a:ea typeface="Noto Sans KR" panose="020B0200000000000000" pitchFamily="50" charset="-127"/>
                </a:rPr>
                <a:t>3</a:t>
              </a:r>
              <a:r>
                <a:rPr lang="ko-KR" altLang="en-US" sz="1200" b="1" i="0" dirty="0">
                  <a:effectLst/>
                  <a:latin typeface="Noto Sans KR" panose="020B0200000000000000" pitchFamily="50" charset="-127"/>
                  <a:ea typeface="Noto Sans KR" panose="020B0200000000000000" pitchFamily="50" charset="-127"/>
                </a:rPr>
                <a:t>억원 잃은 </a:t>
              </a:r>
              <a:r>
                <a:rPr lang="ko-KR" altLang="en-US" sz="1200" b="1" i="0" dirty="0">
                  <a:solidFill>
                    <a:srgbClr val="FF4B16"/>
                  </a:solidFill>
                  <a:effectLst/>
                  <a:latin typeface="Noto Sans KR" panose="020B0200000000000000" pitchFamily="50" charset="-127"/>
                  <a:ea typeface="Noto Sans KR" panose="020B0200000000000000" pitchFamily="50" charset="-127"/>
                </a:rPr>
                <a:t>피해자 생 마감</a:t>
              </a:r>
              <a:r>
                <a:rPr lang="en-US" altLang="ko-KR" sz="1200" b="1" i="0" dirty="0">
                  <a:effectLst/>
                  <a:latin typeface="Noto Sans KR" panose="020B0200000000000000" pitchFamily="50" charset="-127"/>
                  <a:ea typeface="Noto Sans KR" panose="020B0200000000000000" pitchFamily="50" charset="-127"/>
                </a:rPr>
                <a:t>…</a:t>
              </a:r>
              <a:r>
                <a:rPr lang="ko-KR" altLang="en-US" sz="1200" b="1" i="0" dirty="0">
                  <a:effectLst/>
                  <a:latin typeface="Noto Sans KR" panose="020B0200000000000000" pitchFamily="50" charset="-127"/>
                  <a:ea typeface="Noto Sans KR" panose="020B0200000000000000" pitchFamily="50" charset="-127"/>
                </a:rPr>
                <a:t>인출책 징역 </a:t>
              </a:r>
              <a:r>
                <a:rPr lang="en-US" altLang="ko-KR" sz="1200" b="1" i="0" dirty="0">
                  <a:effectLst/>
                  <a:latin typeface="Noto Sans KR" panose="020B0200000000000000" pitchFamily="50" charset="-127"/>
                  <a:ea typeface="Noto Sans KR" panose="020B0200000000000000" pitchFamily="50" charset="-127"/>
                </a:rPr>
                <a:t>1</a:t>
              </a:r>
              <a:r>
                <a:rPr lang="ko-KR" altLang="en-US" sz="1200" b="1" i="0" dirty="0">
                  <a:effectLst/>
                  <a:latin typeface="Noto Sans KR" panose="020B0200000000000000" pitchFamily="50" charset="-127"/>
                  <a:ea typeface="Noto Sans KR" panose="020B0200000000000000" pitchFamily="50" charset="-127"/>
                </a:rPr>
                <a:t>년</a:t>
              </a:r>
              <a:r>
                <a:rPr lang="en-US" altLang="ko-KR" sz="1200" b="1" i="0" dirty="0">
                  <a:effectLst/>
                  <a:latin typeface="Noto Sans KR" panose="020B0200000000000000" pitchFamily="50" charset="-127"/>
                  <a:ea typeface="Noto Sans KR" panose="020B0200000000000000" pitchFamily="50" charset="-127"/>
                </a:rPr>
                <a:t>”</a:t>
              </a:r>
              <a:r>
                <a:rPr lang="ko-KR" altLang="en-US" sz="1200" b="1" i="0" dirty="0">
                  <a:effectLst/>
                  <a:latin typeface="Noto Sans KR" panose="020B0200000000000000" pitchFamily="50" charset="-127"/>
                  <a:ea typeface="Noto Sans KR" panose="020B0200000000000000" pitchFamily="50" charset="-127"/>
                </a:rPr>
                <a:t> </a:t>
              </a:r>
              <a:r>
                <a:rPr lang="en-US" altLang="ko-KR" sz="1200" i="0" dirty="0">
                  <a:effectLst/>
                  <a:latin typeface="페이퍼로지 4 Regular" pitchFamily="2" charset="-127"/>
                  <a:ea typeface="페이퍼로지 4 Regular" pitchFamily="2" charset="-127"/>
                </a:rPr>
                <a:t>(</a:t>
              </a:r>
              <a:r>
                <a:rPr lang="ko-KR" altLang="en-US" sz="1200" i="0" dirty="0">
                  <a:effectLst/>
                  <a:latin typeface="페이퍼로지 4 Regular" pitchFamily="2" charset="-127"/>
                  <a:ea typeface="페이퍼로지 4 Regular" pitchFamily="2" charset="-127"/>
                </a:rPr>
                <a:t>연합뉴스 </a:t>
              </a:r>
              <a:r>
                <a:rPr lang="en-US" altLang="ko-KR" sz="1200" i="0" dirty="0">
                  <a:effectLst/>
                  <a:latin typeface="페이퍼로지 4 Regular" pitchFamily="2" charset="-127"/>
                  <a:ea typeface="페이퍼로지 4 Regular" pitchFamily="2" charset="-127"/>
                </a:rPr>
                <a:t>2026.05.27)</a:t>
              </a:r>
              <a:endParaRPr lang="ko-KR" altLang="en-US" sz="1200" i="0" dirty="0">
                <a:effectLst/>
                <a:latin typeface="페이퍼로지 4 Regular" pitchFamily="2" charset="-127"/>
                <a:ea typeface="페이퍼로지 4 Regular" pitchFamily="2" charset="-127"/>
              </a:endParaRPr>
            </a:p>
          </p:txBody>
        </p:sp>
        <p:sp>
          <p:nvSpPr>
            <p:cNvPr id="131" name="TextBox 130">
              <a:extLst>
                <a:ext uri="{FF2B5EF4-FFF2-40B4-BE49-F238E27FC236}">
                  <a16:creationId xmlns:a16="http://schemas.microsoft.com/office/drawing/2014/main" id="{7AD6700A-593D-446A-8111-A37932502880}"/>
                </a:ext>
              </a:extLst>
            </p:cNvPr>
            <p:cNvSpPr txBox="1"/>
            <p:nvPr/>
          </p:nvSpPr>
          <p:spPr>
            <a:xfrm>
              <a:off x="894649" y="6107487"/>
              <a:ext cx="6173663" cy="276999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>
              <a:spAutoFit/>
            </a:bodyPr>
            <a:lstStyle/>
            <a:p>
              <a:pPr fontAlgn="base"/>
              <a:r>
                <a:rPr lang="en-US" altLang="ko-KR" sz="1200" b="1" i="0" dirty="0">
                  <a:effectLst/>
                  <a:latin typeface="Noto Sans KR" panose="020B0200000000000000" pitchFamily="50" charset="-127"/>
                  <a:ea typeface="Noto Sans KR" panose="020B0200000000000000" pitchFamily="50" charset="-127"/>
                </a:rPr>
                <a:t>“</a:t>
              </a:r>
              <a:r>
                <a:rPr lang="ko-KR" altLang="en-US" sz="1200" b="1" i="0" dirty="0">
                  <a:effectLst/>
                  <a:latin typeface="Noto Sans KR" panose="020B0200000000000000" pitchFamily="50" charset="-127"/>
                  <a:ea typeface="Noto Sans KR" panose="020B0200000000000000" pitchFamily="50" charset="-127"/>
                </a:rPr>
                <a:t>보이스피싱 피해 비관 </a:t>
              </a:r>
              <a:r>
                <a:rPr lang="ko-KR" altLang="en-US" sz="1200" b="1" i="0" dirty="0">
                  <a:solidFill>
                    <a:srgbClr val="FF4B16"/>
                  </a:solidFill>
                  <a:effectLst/>
                  <a:latin typeface="Noto Sans KR" panose="020B0200000000000000" pitchFamily="50" charset="-127"/>
                  <a:ea typeface="Noto Sans KR" panose="020B0200000000000000" pitchFamily="50" charset="-127"/>
                </a:rPr>
                <a:t>부부 극단선택</a:t>
              </a:r>
              <a:r>
                <a:rPr lang="en-US" altLang="ko-KR" sz="1200" b="1" i="0" dirty="0">
                  <a:effectLst/>
                  <a:latin typeface="Noto Sans KR" panose="020B0200000000000000" pitchFamily="50" charset="-127"/>
                  <a:ea typeface="Noto Sans KR" panose="020B0200000000000000" pitchFamily="50" charset="-127"/>
                </a:rPr>
                <a:t>…</a:t>
              </a:r>
              <a:r>
                <a:rPr lang="ko-KR" altLang="en-US" sz="1200" b="1" i="0" dirty="0">
                  <a:effectLst/>
                  <a:latin typeface="Noto Sans KR" panose="020B0200000000000000" pitchFamily="50" charset="-127"/>
                  <a:ea typeface="Noto Sans KR" panose="020B0200000000000000" pitchFamily="50" charset="-127"/>
                </a:rPr>
                <a:t>홀로 산 남편 자살방조 처벌</a:t>
              </a:r>
              <a:r>
                <a:rPr lang="en-US" altLang="ko-KR" sz="1200" b="1" i="0" dirty="0">
                  <a:effectLst/>
                  <a:latin typeface="Noto Sans KR" panose="020B0200000000000000" pitchFamily="50" charset="-127"/>
                  <a:ea typeface="Noto Sans KR" panose="020B0200000000000000" pitchFamily="50" charset="-127"/>
                </a:rPr>
                <a:t>”</a:t>
              </a:r>
              <a:r>
                <a:rPr lang="ko-KR" altLang="en-US" sz="1200" b="1" i="0" dirty="0">
                  <a:effectLst/>
                  <a:latin typeface="Noto Sans KR" panose="020B0200000000000000" pitchFamily="50" charset="-127"/>
                  <a:ea typeface="Noto Sans KR" panose="020B0200000000000000" pitchFamily="50" charset="-127"/>
                </a:rPr>
                <a:t> </a:t>
              </a:r>
              <a:r>
                <a:rPr lang="en-US" altLang="ko-KR" sz="1200" i="0" dirty="0">
                  <a:effectLst/>
                  <a:latin typeface="페이퍼로지 4 Regular" pitchFamily="2" charset="-127"/>
                  <a:ea typeface="페이퍼로지 4 Regular" pitchFamily="2" charset="-127"/>
                </a:rPr>
                <a:t>(</a:t>
              </a:r>
              <a:r>
                <a:rPr lang="ko-KR" altLang="en-US" sz="1200" i="0" dirty="0">
                  <a:effectLst/>
                  <a:latin typeface="페이퍼로지 4 Regular" pitchFamily="2" charset="-127"/>
                  <a:ea typeface="페이퍼로지 4 Regular" pitchFamily="2" charset="-127"/>
                </a:rPr>
                <a:t>연합뉴스</a:t>
              </a:r>
              <a:r>
                <a:rPr lang="en-US" altLang="ko-KR" sz="1200" i="0" dirty="0">
                  <a:effectLst/>
                  <a:latin typeface="페이퍼로지 4 Regular" pitchFamily="2" charset="-127"/>
                  <a:ea typeface="페이퍼로지 4 Regular" pitchFamily="2" charset="-127"/>
                </a:rPr>
                <a:t>TV</a:t>
              </a:r>
              <a:r>
                <a:rPr lang="ko-KR" altLang="en-US" sz="1200" i="0" dirty="0">
                  <a:effectLst/>
                  <a:latin typeface="페이퍼로지 4 Regular" pitchFamily="2" charset="-127"/>
                  <a:ea typeface="페이퍼로지 4 Regular" pitchFamily="2" charset="-127"/>
                </a:rPr>
                <a:t> </a:t>
              </a:r>
              <a:r>
                <a:rPr lang="en-US" altLang="ko-KR" sz="1200" i="0" dirty="0">
                  <a:effectLst/>
                  <a:latin typeface="페이퍼로지 4 Regular" pitchFamily="2" charset="-127"/>
                  <a:ea typeface="페이퍼로지 4 Regular" pitchFamily="2" charset="-127"/>
                </a:rPr>
                <a:t>2026.07.26)</a:t>
              </a:r>
              <a:endParaRPr lang="ko-KR" altLang="en-US" sz="1200" i="0" dirty="0">
                <a:effectLst/>
                <a:latin typeface="페이퍼로지 4 Regular" pitchFamily="2" charset="-127"/>
                <a:ea typeface="페이퍼로지 4 Regular" pitchFamily="2" charset="-127"/>
              </a:endParaRPr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FD715506-C7C5-46AF-97DD-9E8720001060}"/>
              </a:ext>
            </a:extLst>
          </p:cNvPr>
          <p:cNvGrpSpPr/>
          <p:nvPr/>
        </p:nvGrpSpPr>
        <p:grpSpPr>
          <a:xfrm>
            <a:off x="7699811" y="4682175"/>
            <a:ext cx="3656903" cy="1521828"/>
            <a:chOff x="7640448" y="4563464"/>
            <a:chExt cx="3656903" cy="1521828"/>
          </a:xfrm>
        </p:grpSpPr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6AA21B39-CDD9-416A-94A5-F7D48DFFB9B7}"/>
                </a:ext>
              </a:extLst>
            </p:cNvPr>
            <p:cNvGrpSpPr/>
            <p:nvPr/>
          </p:nvGrpSpPr>
          <p:grpSpPr>
            <a:xfrm>
              <a:off x="7640448" y="4563464"/>
              <a:ext cx="3656903" cy="1521828"/>
              <a:chOff x="7640448" y="4563464"/>
              <a:chExt cx="3656903" cy="1521828"/>
            </a:xfrm>
          </p:grpSpPr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C88D801F-1FFC-4DB5-BA05-2750BEE7D95D}"/>
                  </a:ext>
                </a:extLst>
              </p:cNvPr>
              <p:cNvSpPr/>
              <p:nvPr/>
            </p:nvSpPr>
            <p:spPr>
              <a:xfrm>
                <a:off x="7656784" y="4794782"/>
                <a:ext cx="3640567" cy="1290510"/>
              </a:xfrm>
              <a:prstGeom prst="rect">
                <a:avLst/>
              </a:prstGeom>
              <a:solidFill>
                <a:schemeClr val="bg1"/>
              </a:solidFill>
              <a:ln w="12700">
                <a:noFill/>
                <a:prstDash val="solid"/>
              </a:ln>
            </p:spPr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137" name="Rectangle 136">
                <a:extLst>
                  <a:ext uri="{FF2B5EF4-FFF2-40B4-BE49-F238E27FC236}">
                    <a16:creationId xmlns:a16="http://schemas.microsoft.com/office/drawing/2014/main" id="{5650DA10-F948-4096-918C-238B8CB95A93}"/>
                  </a:ext>
                </a:extLst>
              </p:cNvPr>
              <p:cNvSpPr/>
              <p:nvPr/>
            </p:nvSpPr>
            <p:spPr>
              <a:xfrm>
                <a:off x="7724678" y="4887453"/>
                <a:ext cx="3512773" cy="152226"/>
              </a:xfrm>
              <a:prstGeom prst="rect">
                <a:avLst/>
              </a:prstGeom>
              <a:solidFill>
                <a:srgbClr val="FF4B16"/>
              </a:solidFill>
              <a:ln w="12700">
                <a:noFill/>
                <a:prstDash val="solid"/>
              </a:ln>
            </p:spPr>
            <p:txBody>
              <a:bodyPr rtlCol="0" anchor="ctr"/>
              <a:lstStyle/>
              <a:p>
                <a:r>
                  <a:rPr lang="ko-KR" altLang="en-US" sz="1000" dirty="0">
                    <a:solidFill>
                      <a:schemeClr val="bg1"/>
                    </a:solidFill>
                    <a:latin typeface="페이퍼로지 4 Regular" pitchFamily="2" charset="-127"/>
                    <a:ea typeface="페이퍼로지 4 Regular" pitchFamily="2" charset="-127"/>
                  </a:rPr>
                  <a:t>두려움과 분노</a:t>
                </a:r>
                <a:r>
                  <a:rPr lang="en-US" altLang="ko-KR" sz="1000" dirty="0">
                    <a:solidFill>
                      <a:schemeClr val="bg1"/>
                    </a:solidFill>
                    <a:latin typeface="페이퍼로지 4 Regular" pitchFamily="2" charset="-127"/>
                    <a:ea typeface="페이퍼로지 4 Regular" pitchFamily="2" charset="-127"/>
                  </a:rPr>
                  <a:t>, </a:t>
                </a:r>
                <a:r>
                  <a:rPr lang="ko-KR" altLang="en-US" sz="1000" dirty="0">
                    <a:solidFill>
                      <a:schemeClr val="bg1"/>
                    </a:solidFill>
                    <a:latin typeface="페이퍼로지 4 Regular" pitchFamily="2" charset="-127"/>
                    <a:ea typeface="페이퍼로지 4 Regular" pitchFamily="2" charset="-127"/>
                  </a:rPr>
                  <a:t>죄책감 느낀다</a:t>
                </a:r>
              </a:p>
            </p:txBody>
          </p:sp>
          <p:sp>
            <p:nvSpPr>
              <p:cNvPr id="138" name="Rectangle 137">
                <a:extLst>
                  <a:ext uri="{FF2B5EF4-FFF2-40B4-BE49-F238E27FC236}">
                    <a16:creationId xmlns:a16="http://schemas.microsoft.com/office/drawing/2014/main" id="{C96D9C1A-8A8D-4FA9-8E69-1BD016277053}"/>
                  </a:ext>
                </a:extLst>
              </p:cNvPr>
              <p:cNvSpPr/>
              <p:nvPr/>
            </p:nvSpPr>
            <p:spPr>
              <a:xfrm>
                <a:off x="7724678" y="5087078"/>
                <a:ext cx="2931106" cy="152226"/>
              </a:xfrm>
              <a:prstGeom prst="rect">
                <a:avLst/>
              </a:prstGeom>
              <a:solidFill>
                <a:srgbClr val="FF4B16"/>
              </a:solidFill>
              <a:ln w="12700">
                <a:noFill/>
                <a:prstDash val="solid"/>
              </a:ln>
            </p:spPr>
            <p:txBody>
              <a:bodyPr rtlCol="0" anchor="ctr"/>
              <a:lstStyle/>
              <a:p>
                <a:r>
                  <a:rPr lang="ko-KR" altLang="en-US" sz="1000" dirty="0">
                    <a:solidFill>
                      <a:schemeClr val="bg1"/>
                    </a:solidFill>
                    <a:latin typeface="페이퍼로지 4 Regular" pitchFamily="2" charset="-127"/>
                    <a:ea typeface="페이퍼로지 4 Regular" pitchFamily="2" charset="-127"/>
                  </a:rPr>
                  <a:t>밤에 잠이 잘 안 온다</a:t>
                </a:r>
              </a:p>
            </p:txBody>
          </p:sp>
          <p:sp>
            <p:nvSpPr>
              <p:cNvPr id="139" name="Rectangle 138">
                <a:extLst>
                  <a:ext uri="{FF2B5EF4-FFF2-40B4-BE49-F238E27FC236}">
                    <a16:creationId xmlns:a16="http://schemas.microsoft.com/office/drawing/2014/main" id="{F3D7BAF9-07DE-400A-AC59-9FF748362373}"/>
                  </a:ext>
                </a:extLst>
              </p:cNvPr>
              <p:cNvSpPr/>
              <p:nvPr/>
            </p:nvSpPr>
            <p:spPr>
              <a:xfrm>
                <a:off x="7724678" y="5286703"/>
                <a:ext cx="1993067" cy="152226"/>
              </a:xfrm>
              <a:prstGeom prst="rect">
                <a:avLst/>
              </a:prstGeom>
              <a:solidFill>
                <a:srgbClr val="FF4B16"/>
              </a:solidFill>
              <a:ln w="12700">
                <a:noFill/>
                <a:prstDash val="solid"/>
              </a:ln>
            </p:spPr>
            <p:txBody>
              <a:bodyPr rtlCol="0" anchor="ctr"/>
              <a:lstStyle/>
              <a:p>
                <a:r>
                  <a:rPr lang="ko-KR" altLang="en-US" sz="1000" dirty="0">
                    <a:solidFill>
                      <a:schemeClr val="bg1"/>
                    </a:solidFill>
                    <a:latin typeface="페이퍼로지 4 Regular" pitchFamily="2" charset="-127"/>
                    <a:ea typeface="페이퍼로지 4 Regular" pitchFamily="2" charset="-127"/>
                  </a:rPr>
                  <a:t>주변에 대한 과도한 경계심이 생긴다</a:t>
                </a:r>
              </a:p>
            </p:txBody>
          </p:sp>
          <p:grpSp>
            <p:nvGrpSpPr>
              <p:cNvPr id="16" name="Group 15">
                <a:extLst>
                  <a:ext uri="{FF2B5EF4-FFF2-40B4-BE49-F238E27FC236}">
                    <a16:creationId xmlns:a16="http://schemas.microsoft.com/office/drawing/2014/main" id="{78B5CB79-EE6B-47C6-8864-0A3C9BD3740E}"/>
                  </a:ext>
                </a:extLst>
              </p:cNvPr>
              <p:cNvGrpSpPr/>
              <p:nvPr/>
            </p:nvGrpSpPr>
            <p:grpSpPr>
              <a:xfrm>
                <a:off x="7724678" y="4887453"/>
                <a:ext cx="3512773" cy="751101"/>
                <a:chOff x="7724678" y="4937557"/>
                <a:chExt cx="3512773" cy="751101"/>
              </a:xfrm>
            </p:grpSpPr>
            <p:sp>
              <p:nvSpPr>
                <p:cNvPr id="134" name="Rectangle 133">
                  <a:extLst>
                    <a:ext uri="{FF2B5EF4-FFF2-40B4-BE49-F238E27FC236}">
                      <a16:creationId xmlns:a16="http://schemas.microsoft.com/office/drawing/2014/main" id="{AEC622F5-EDC0-4894-A4DF-14A87444EAE9}"/>
                    </a:ext>
                  </a:extLst>
                </p:cNvPr>
                <p:cNvSpPr/>
                <p:nvPr/>
              </p:nvSpPr>
              <p:spPr>
                <a:xfrm>
                  <a:off x="8863296" y="5536432"/>
                  <a:ext cx="2374155" cy="152226"/>
                </a:xfrm>
                <a:prstGeom prst="rect">
                  <a:avLst/>
                </a:prstGeom>
                <a:noFill/>
                <a:ln w="12700">
                  <a:noFill/>
                  <a:prstDash val="solid"/>
                </a:ln>
              </p:spPr>
              <p:txBody>
                <a:bodyPr rtlCol="0" anchor="ctr"/>
                <a:lstStyle/>
                <a:p>
                  <a:r>
                    <a:rPr lang="ko-KR" altLang="en-US" sz="1000" dirty="0">
                      <a:latin typeface="페이퍼로지 4 Regular" pitchFamily="2" charset="-127"/>
                      <a:ea typeface="페이퍼로지 4 Regular" pitchFamily="2" charset="-127"/>
                    </a:rPr>
                    <a:t>병원에서 우울증 치료 등을 받는다 </a:t>
                  </a:r>
                  <a:r>
                    <a:rPr lang="en-US" altLang="ko-KR" sz="1000" dirty="0">
                      <a:latin typeface="페이퍼로지 7 Bold" pitchFamily="2" charset="-127"/>
                      <a:ea typeface="페이퍼로지 7 Bold" pitchFamily="2" charset="-127"/>
                    </a:rPr>
                    <a:t>25.4%</a:t>
                  </a:r>
                  <a:endParaRPr lang="ko-KR" altLang="en-US" sz="1000" dirty="0">
                    <a:latin typeface="페이퍼로지 4 Regular" pitchFamily="2" charset="-127"/>
                    <a:ea typeface="페이퍼로지 4 Regular" pitchFamily="2" charset="-127"/>
                  </a:endParaRPr>
                </a:p>
              </p:txBody>
            </p:sp>
            <p:sp>
              <p:nvSpPr>
                <p:cNvPr id="140" name="Rectangle 139">
                  <a:extLst>
                    <a:ext uri="{FF2B5EF4-FFF2-40B4-BE49-F238E27FC236}">
                      <a16:creationId xmlns:a16="http://schemas.microsoft.com/office/drawing/2014/main" id="{830D2552-CE5F-4566-9324-CCAA6DE748F6}"/>
                    </a:ext>
                  </a:extLst>
                </p:cNvPr>
                <p:cNvSpPr/>
                <p:nvPr/>
              </p:nvSpPr>
              <p:spPr>
                <a:xfrm>
                  <a:off x="7724678" y="5536432"/>
                  <a:ext cx="1194300" cy="152226"/>
                </a:xfrm>
                <a:prstGeom prst="rect">
                  <a:avLst/>
                </a:prstGeom>
                <a:solidFill>
                  <a:srgbClr val="FF4B16"/>
                </a:solidFill>
                <a:ln w="12700">
                  <a:noFill/>
                  <a:prstDash val="solid"/>
                </a:ln>
              </p:spPr>
              <p:txBody>
                <a:bodyPr rtlCol="0" anchor="ctr"/>
                <a:lstStyle/>
                <a:p>
                  <a:pPr algn="r"/>
                  <a:endParaRPr lang="ko-KR" altLang="en-US" sz="1000" dirty="0">
                    <a:solidFill>
                      <a:schemeClr val="bg1"/>
                    </a:solidFill>
                    <a:latin typeface="페이퍼로지 7 Bold" pitchFamily="2" charset="-127"/>
                    <a:ea typeface="페이퍼로지 7 Bold" pitchFamily="2" charset="-127"/>
                  </a:endParaRPr>
                </a:p>
              </p:txBody>
            </p:sp>
            <p:sp>
              <p:nvSpPr>
                <p:cNvPr id="148" name="Rectangle 147">
                  <a:extLst>
                    <a:ext uri="{FF2B5EF4-FFF2-40B4-BE49-F238E27FC236}">
                      <a16:creationId xmlns:a16="http://schemas.microsoft.com/office/drawing/2014/main" id="{67598F49-4387-4F12-AD03-C4CE346ED14C}"/>
                    </a:ext>
                  </a:extLst>
                </p:cNvPr>
                <p:cNvSpPr/>
                <p:nvPr/>
              </p:nvSpPr>
              <p:spPr>
                <a:xfrm>
                  <a:off x="8863297" y="5137182"/>
                  <a:ext cx="1792487" cy="149100"/>
                </a:xfrm>
                <a:prstGeom prst="rect">
                  <a:avLst/>
                </a:prstGeom>
                <a:noFill/>
                <a:ln w="12700">
                  <a:noFill/>
                  <a:prstDash val="solid"/>
                </a:ln>
              </p:spPr>
              <p:txBody>
                <a:bodyPr rtlCol="0" anchor="ctr"/>
                <a:lstStyle/>
                <a:p>
                  <a:pPr algn="r"/>
                  <a:r>
                    <a:rPr lang="en-US" altLang="ko-KR" sz="1000" dirty="0">
                      <a:solidFill>
                        <a:schemeClr val="bg1"/>
                      </a:solidFill>
                      <a:latin typeface="페이퍼로지 7 Bold" pitchFamily="2" charset="-127"/>
                      <a:ea typeface="페이퍼로지 7 Bold" pitchFamily="2" charset="-127"/>
                    </a:rPr>
                    <a:t>63.5%</a:t>
                  </a:r>
                  <a:endParaRPr lang="ko-KR" altLang="en-US" sz="1000" dirty="0">
                    <a:solidFill>
                      <a:schemeClr val="bg1"/>
                    </a:solidFill>
                    <a:latin typeface="페이퍼로지 7 Bold" pitchFamily="2" charset="-127"/>
                    <a:ea typeface="페이퍼로지 7 Bold" pitchFamily="2" charset="-127"/>
                  </a:endParaRPr>
                </a:p>
              </p:txBody>
            </p:sp>
            <p:sp>
              <p:nvSpPr>
                <p:cNvPr id="149" name="Rectangle 148">
                  <a:extLst>
                    <a:ext uri="{FF2B5EF4-FFF2-40B4-BE49-F238E27FC236}">
                      <a16:creationId xmlns:a16="http://schemas.microsoft.com/office/drawing/2014/main" id="{3EE56CF6-75C1-4D6A-8DBB-C3071FCE4454}"/>
                    </a:ext>
                  </a:extLst>
                </p:cNvPr>
                <p:cNvSpPr/>
                <p:nvPr/>
              </p:nvSpPr>
              <p:spPr>
                <a:xfrm>
                  <a:off x="8863296" y="4937557"/>
                  <a:ext cx="2374155" cy="152226"/>
                </a:xfrm>
                <a:prstGeom prst="rect">
                  <a:avLst/>
                </a:prstGeom>
                <a:noFill/>
                <a:ln w="12700">
                  <a:noFill/>
                  <a:prstDash val="solid"/>
                </a:ln>
              </p:spPr>
              <p:txBody>
                <a:bodyPr rtlCol="0" anchor="ctr"/>
                <a:lstStyle/>
                <a:p>
                  <a:pPr algn="r"/>
                  <a:r>
                    <a:rPr lang="en-US" altLang="ko-KR" sz="1000" dirty="0">
                      <a:solidFill>
                        <a:schemeClr val="bg1"/>
                      </a:solidFill>
                      <a:latin typeface="페이퍼로지 7 Bold" pitchFamily="2" charset="-127"/>
                      <a:ea typeface="페이퍼로지 7 Bold" pitchFamily="2" charset="-127"/>
                    </a:rPr>
                    <a:t>76.2%</a:t>
                  </a:r>
                  <a:endParaRPr lang="ko-KR" altLang="en-US" sz="1000" dirty="0">
                    <a:solidFill>
                      <a:schemeClr val="bg1"/>
                    </a:solidFill>
                    <a:latin typeface="페이퍼로지 7 Bold" pitchFamily="2" charset="-127"/>
                    <a:ea typeface="페이퍼로지 7 Bold" pitchFamily="2" charset="-127"/>
                  </a:endParaRPr>
                </a:p>
              </p:txBody>
            </p:sp>
            <p:sp>
              <p:nvSpPr>
                <p:cNvPr id="150" name="Rectangle 149">
                  <a:extLst>
                    <a:ext uri="{FF2B5EF4-FFF2-40B4-BE49-F238E27FC236}">
                      <a16:creationId xmlns:a16="http://schemas.microsoft.com/office/drawing/2014/main" id="{81244667-105A-4A8E-A1ED-B8687ADE3F94}"/>
                    </a:ext>
                  </a:extLst>
                </p:cNvPr>
                <p:cNvSpPr/>
                <p:nvPr/>
              </p:nvSpPr>
              <p:spPr>
                <a:xfrm>
                  <a:off x="8863297" y="5339933"/>
                  <a:ext cx="1423703" cy="149100"/>
                </a:xfrm>
                <a:prstGeom prst="rect">
                  <a:avLst/>
                </a:prstGeom>
                <a:noFill/>
                <a:ln w="12700">
                  <a:noFill/>
                  <a:prstDash val="solid"/>
                </a:ln>
              </p:spPr>
              <p:txBody>
                <a:bodyPr rtlCol="0" anchor="ctr"/>
                <a:lstStyle/>
                <a:p>
                  <a:pPr algn="r"/>
                  <a:r>
                    <a:rPr lang="en-US" altLang="ko-KR" sz="1000" dirty="0">
                      <a:latin typeface="페이퍼로지 7 Bold" pitchFamily="2" charset="-127"/>
                      <a:ea typeface="페이퍼로지 7 Bold" pitchFamily="2" charset="-127"/>
                    </a:rPr>
                    <a:t>42.9%</a:t>
                  </a:r>
                  <a:endParaRPr lang="ko-KR" altLang="en-US" sz="1000" dirty="0">
                    <a:latin typeface="페이퍼로지 7 Bold" pitchFamily="2" charset="-127"/>
                    <a:ea typeface="페이퍼로지 7 Bold" pitchFamily="2" charset="-127"/>
                  </a:endParaRPr>
                </a:p>
              </p:txBody>
            </p:sp>
          </p:grpSp>
          <p:grpSp>
            <p:nvGrpSpPr>
              <p:cNvPr id="15" name="Group 14">
                <a:extLst>
                  <a:ext uri="{FF2B5EF4-FFF2-40B4-BE49-F238E27FC236}">
                    <a16:creationId xmlns:a16="http://schemas.microsoft.com/office/drawing/2014/main" id="{AA0F438C-D494-4FDF-997C-8B697CDADD29}"/>
                  </a:ext>
                </a:extLst>
              </p:cNvPr>
              <p:cNvGrpSpPr/>
              <p:nvPr/>
            </p:nvGrpSpPr>
            <p:grpSpPr>
              <a:xfrm>
                <a:off x="7724680" y="5685954"/>
                <a:ext cx="3512771" cy="152226"/>
                <a:chOff x="7724680" y="5685954"/>
                <a:chExt cx="3512771" cy="152226"/>
              </a:xfrm>
            </p:grpSpPr>
            <p:sp>
              <p:nvSpPr>
                <p:cNvPr id="135" name="Rectangle 134">
                  <a:extLst>
                    <a:ext uri="{FF2B5EF4-FFF2-40B4-BE49-F238E27FC236}">
                      <a16:creationId xmlns:a16="http://schemas.microsoft.com/office/drawing/2014/main" id="{153C3079-5F4A-46C5-84EA-640947F7D515}"/>
                    </a:ext>
                  </a:extLst>
                </p:cNvPr>
                <p:cNvSpPr/>
                <p:nvPr/>
              </p:nvSpPr>
              <p:spPr>
                <a:xfrm>
                  <a:off x="7981950" y="5685954"/>
                  <a:ext cx="3255501" cy="152226"/>
                </a:xfrm>
                <a:prstGeom prst="rect">
                  <a:avLst/>
                </a:prstGeom>
                <a:noFill/>
                <a:ln w="12700">
                  <a:noFill/>
                  <a:prstDash val="solid"/>
                </a:ln>
              </p:spPr>
              <p:txBody>
                <a:bodyPr rtlCol="0" anchor="ctr"/>
                <a:lstStyle/>
                <a:p>
                  <a:r>
                    <a:rPr lang="ko-KR" altLang="en-US" sz="1000" dirty="0">
                      <a:latin typeface="페이퍼로지 4 Regular" pitchFamily="2" charset="-127"/>
                      <a:ea typeface="페이퍼로지 4 Regular" pitchFamily="2" charset="-127"/>
                    </a:rPr>
                    <a:t>극단적인 생각을 한다 </a:t>
                  </a:r>
                  <a:r>
                    <a:rPr lang="en-US" altLang="ko-KR" sz="1000" dirty="0">
                      <a:latin typeface="페이퍼로지 7 Bold" pitchFamily="2" charset="-127"/>
                      <a:ea typeface="페이퍼로지 7 Bold" pitchFamily="2" charset="-127"/>
                    </a:rPr>
                    <a:t>6.3%</a:t>
                  </a:r>
                  <a:endParaRPr lang="ko-KR" altLang="en-US" sz="1000" dirty="0">
                    <a:latin typeface="페이퍼로지 7 Bold" pitchFamily="2" charset="-127"/>
                    <a:ea typeface="페이퍼로지 7 Bold" pitchFamily="2" charset="-127"/>
                  </a:endParaRPr>
                </a:p>
              </p:txBody>
            </p:sp>
            <p:sp>
              <p:nvSpPr>
                <p:cNvPr id="141" name="Rectangle 140">
                  <a:extLst>
                    <a:ext uri="{FF2B5EF4-FFF2-40B4-BE49-F238E27FC236}">
                      <a16:creationId xmlns:a16="http://schemas.microsoft.com/office/drawing/2014/main" id="{33FECE70-51A5-47D3-8535-037BD6E0CE0F}"/>
                    </a:ext>
                  </a:extLst>
                </p:cNvPr>
                <p:cNvSpPr/>
                <p:nvPr/>
              </p:nvSpPr>
              <p:spPr>
                <a:xfrm>
                  <a:off x="7724680" y="5685954"/>
                  <a:ext cx="317705" cy="152226"/>
                </a:xfrm>
                <a:prstGeom prst="rect">
                  <a:avLst/>
                </a:prstGeom>
                <a:solidFill>
                  <a:srgbClr val="FF4B16"/>
                </a:solidFill>
                <a:ln w="12700">
                  <a:noFill/>
                  <a:prstDash val="solid"/>
                </a:ln>
              </p:spPr>
              <p:txBody>
                <a:bodyPr rtlCol="0" anchor="ctr"/>
                <a:lstStyle/>
                <a:p>
                  <a:pPr algn="r"/>
                  <a:endParaRPr lang="ko-KR" altLang="en-US" sz="1000" dirty="0">
                    <a:latin typeface="페이퍼로지 7 Bold" pitchFamily="2" charset="-127"/>
                    <a:ea typeface="페이퍼로지 7 Bold" pitchFamily="2" charset="-127"/>
                  </a:endParaRPr>
                </a:p>
              </p:txBody>
            </p:sp>
          </p:grpSp>
          <p:sp>
            <p:nvSpPr>
              <p:cNvPr id="142" name="TextBox 141">
                <a:extLst>
                  <a:ext uri="{FF2B5EF4-FFF2-40B4-BE49-F238E27FC236}">
                    <a16:creationId xmlns:a16="http://schemas.microsoft.com/office/drawing/2014/main" id="{35A2F2F7-75DB-4643-B439-DAF5D708D01D}"/>
                  </a:ext>
                </a:extLst>
              </p:cNvPr>
              <p:cNvSpPr txBox="1"/>
              <p:nvPr/>
            </p:nvSpPr>
            <p:spPr>
              <a:xfrm>
                <a:off x="7642195" y="5885237"/>
                <a:ext cx="3374034" cy="20005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ko-KR" altLang="en-US" sz="700" dirty="0">
                    <a:latin typeface="페이퍼로지 4 Regular" pitchFamily="2" charset="-127"/>
                    <a:ea typeface="페이퍼로지 4 Regular" pitchFamily="2" charset="-127"/>
                  </a:rPr>
                  <a:t>중앙일보</a:t>
                </a:r>
                <a:r>
                  <a:rPr lang="en-US" altLang="ko-KR" sz="700" dirty="0">
                    <a:latin typeface="페이퍼로지 4 Regular" pitchFamily="2" charset="-127"/>
                    <a:ea typeface="페이퍼로지 4 Regular" pitchFamily="2" charset="-127"/>
                  </a:rPr>
                  <a:t>,</a:t>
                </a:r>
                <a:r>
                  <a:rPr lang="ko-KR" altLang="en-US" sz="700" dirty="0">
                    <a:latin typeface="페이퍼로지 4 Regular" pitchFamily="2" charset="-127"/>
                    <a:ea typeface="페이퍼로지 4 Regular" pitchFamily="2" charset="-127"/>
                  </a:rPr>
                  <a:t> 보이스피싱예방협회 </a:t>
                </a:r>
                <a:r>
                  <a:rPr lang="en-US" altLang="ko-KR" sz="700" dirty="0">
                    <a:latin typeface="페이퍼로지 4 Regular" pitchFamily="2" charset="-127"/>
                    <a:ea typeface="페이퍼로지 4 Regular" pitchFamily="2" charset="-127"/>
                  </a:rPr>
                  <a:t>(2021.10.28 ~ 2021.11. 28)</a:t>
                </a:r>
                <a:endParaRPr lang="ko-KR" altLang="en-US" sz="700" dirty="0">
                  <a:latin typeface="페이퍼로지 4 Regular" pitchFamily="2" charset="-127"/>
                  <a:ea typeface="페이퍼로지 4 Regular" pitchFamily="2" charset="-127"/>
                </a:endParaRPr>
              </a:p>
            </p:txBody>
          </p:sp>
          <p:sp>
            <p:nvSpPr>
              <p:cNvPr id="143" name="TextBox 142">
                <a:extLst>
                  <a:ext uri="{FF2B5EF4-FFF2-40B4-BE49-F238E27FC236}">
                    <a16:creationId xmlns:a16="http://schemas.microsoft.com/office/drawing/2014/main" id="{BA86F9F0-D5C2-4671-AF9B-AA1B1AB15CFD}"/>
                  </a:ext>
                </a:extLst>
              </p:cNvPr>
              <p:cNvSpPr txBox="1"/>
              <p:nvPr/>
            </p:nvSpPr>
            <p:spPr>
              <a:xfrm>
                <a:off x="7640448" y="4563464"/>
                <a:ext cx="3593006" cy="24622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ko-KR" altLang="en-US" sz="1000" dirty="0">
                    <a:latin typeface="페이퍼로지 7 Bold" pitchFamily="2" charset="-127"/>
                    <a:ea typeface="페이퍼로지 7 Bold" pitchFamily="2" charset="-127"/>
                  </a:rPr>
                  <a:t>보이스피싱 피해로 인한 정신적 피해 </a:t>
                </a:r>
                <a:r>
                  <a:rPr lang="ko-KR" altLang="en-US" sz="800" dirty="0">
                    <a:latin typeface="페이퍼로지 4 Regular" pitchFamily="2" charset="-127"/>
                    <a:ea typeface="페이퍼로지 4 Regular" pitchFamily="2" charset="-127"/>
                  </a:rPr>
                  <a:t>피해자 </a:t>
                </a:r>
                <a:r>
                  <a:rPr lang="en-US" altLang="ko-KR" sz="800" dirty="0">
                    <a:latin typeface="페이퍼로지 4 Regular" pitchFamily="2" charset="-127"/>
                    <a:ea typeface="페이퍼로지 4 Regular" pitchFamily="2" charset="-127"/>
                  </a:rPr>
                  <a:t>60</a:t>
                </a:r>
                <a:r>
                  <a:rPr lang="ko-KR" altLang="en-US" sz="800" dirty="0">
                    <a:latin typeface="페이퍼로지 4 Regular" pitchFamily="2" charset="-127"/>
                    <a:ea typeface="페이퍼로지 4 Regular" pitchFamily="2" charset="-127"/>
                  </a:rPr>
                  <a:t>명</a:t>
                </a:r>
                <a:r>
                  <a:rPr lang="en-US" altLang="ko-KR" sz="800" dirty="0">
                    <a:latin typeface="페이퍼로지 4 Regular" pitchFamily="2" charset="-127"/>
                    <a:ea typeface="페이퍼로지 4 Regular" pitchFamily="2" charset="-127"/>
                  </a:rPr>
                  <a:t>(</a:t>
                </a:r>
                <a:r>
                  <a:rPr lang="ko-KR" altLang="en-US" sz="800" dirty="0">
                    <a:latin typeface="페이퍼로지 4 Regular" pitchFamily="2" charset="-127"/>
                    <a:ea typeface="페이퍼로지 4 Regular" pitchFamily="2" charset="-127"/>
                  </a:rPr>
                  <a:t>중복응답</a:t>
                </a:r>
                <a:r>
                  <a:rPr lang="en-US" altLang="ko-KR" sz="800" dirty="0">
                    <a:latin typeface="페이퍼로지 4 Regular" pitchFamily="2" charset="-127"/>
                    <a:ea typeface="페이퍼로지 4 Regular" pitchFamily="2" charset="-127"/>
                  </a:rPr>
                  <a:t>, </a:t>
                </a:r>
                <a:r>
                  <a:rPr lang="ko-KR" altLang="en-US" sz="800" dirty="0">
                    <a:latin typeface="페이퍼로지 4 Regular" pitchFamily="2" charset="-127"/>
                    <a:ea typeface="페이퍼로지 4 Regular" pitchFamily="2" charset="-127"/>
                  </a:rPr>
                  <a:t>미응답 </a:t>
                </a:r>
                <a:r>
                  <a:rPr lang="en-US" altLang="ko-KR" sz="800" dirty="0">
                    <a:latin typeface="페이퍼로지 4 Regular" pitchFamily="2" charset="-127"/>
                    <a:ea typeface="페이퍼로지 4 Regular" pitchFamily="2" charset="-127"/>
                  </a:rPr>
                  <a:t>3</a:t>
                </a:r>
                <a:r>
                  <a:rPr lang="ko-KR" altLang="en-US" sz="800" dirty="0">
                    <a:latin typeface="페이퍼로지 4 Regular" pitchFamily="2" charset="-127"/>
                    <a:ea typeface="페이퍼로지 4 Regular" pitchFamily="2" charset="-127"/>
                  </a:rPr>
                  <a:t>명 제외</a:t>
                </a:r>
                <a:r>
                  <a:rPr lang="en-US" altLang="ko-KR" sz="800" dirty="0">
                    <a:latin typeface="페이퍼로지 4 Regular" pitchFamily="2" charset="-127"/>
                    <a:ea typeface="페이퍼로지 4 Regular" pitchFamily="2" charset="-127"/>
                  </a:rPr>
                  <a:t>)</a:t>
                </a:r>
                <a:endParaRPr lang="ko-KR" altLang="en-US" sz="800" dirty="0">
                  <a:latin typeface="페이퍼로지 4 Regular" pitchFamily="2" charset="-127"/>
                  <a:ea typeface="페이퍼로지 4 Regular" pitchFamily="2" charset="-127"/>
                </a:endParaRPr>
              </a:p>
            </p:txBody>
          </p:sp>
        </p:grp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66EEECBB-BB64-41A1-A769-5B4184A6ED6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20681" y="5872878"/>
              <a:ext cx="3512773" cy="1270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20484559-C80C-4C9F-8C93-F7FCC1E4A777}"/>
              </a:ext>
            </a:extLst>
          </p:cNvPr>
          <p:cNvGrpSpPr/>
          <p:nvPr/>
        </p:nvGrpSpPr>
        <p:grpSpPr>
          <a:xfrm>
            <a:off x="1127834" y="1655222"/>
            <a:ext cx="9936332" cy="2776910"/>
            <a:chOff x="2156114" y="1775283"/>
            <a:chExt cx="9077128" cy="2536789"/>
          </a:xfrm>
        </p:grpSpPr>
        <p:sp>
          <p:nvSpPr>
            <p:cNvPr id="79" name="Shape 8">
              <a:extLst>
                <a:ext uri="{FF2B5EF4-FFF2-40B4-BE49-F238E27FC236}">
                  <a16:creationId xmlns:a16="http://schemas.microsoft.com/office/drawing/2014/main" id="{16834A81-4253-48AC-B97E-FD07265A8D95}"/>
                </a:ext>
              </a:extLst>
            </p:cNvPr>
            <p:cNvSpPr/>
            <p:nvPr/>
          </p:nvSpPr>
          <p:spPr>
            <a:xfrm>
              <a:off x="2156114" y="1775283"/>
              <a:ext cx="4445862" cy="2514600"/>
            </a:xfrm>
            <a:prstGeom prst="roundRect">
              <a:avLst>
                <a:gd name="adj" fmla="val 5818"/>
              </a:avLst>
            </a:prstGeom>
            <a:solidFill>
              <a:srgbClr val="FFFFFF"/>
            </a:solidFill>
            <a:ln w="10160">
              <a:solidFill>
                <a:srgbClr val="DCE8FA"/>
              </a:solidFill>
              <a:prstDash val="solid"/>
            </a:ln>
          </p:spPr>
        </p:sp>
        <p:sp>
          <p:nvSpPr>
            <p:cNvPr id="106" name="TextBox 105">
              <a:extLst>
                <a:ext uri="{FF2B5EF4-FFF2-40B4-BE49-F238E27FC236}">
                  <a16:creationId xmlns:a16="http://schemas.microsoft.com/office/drawing/2014/main" id="{7A855B79-622D-459E-A7F5-4F42EB704F63}"/>
                </a:ext>
              </a:extLst>
            </p:cNvPr>
            <p:cNvSpPr txBox="1"/>
            <p:nvPr/>
          </p:nvSpPr>
          <p:spPr>
            <a:xfrm>
              <a:off x="2635906" y="1849987"/>
              <a:ext cx="3486278" cy="22493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1000" b="1" dirty="0">
                  <a:solidFill>
                    <a:srgbClr val="10213D"/>
                  </a:solidFill>
                  <a:latin typeface="페이퍼로지 7 Bold" pitchFamily="2" charset="-127"/>
                  <a:ea typeface="페이퍼로지 7 Bold" pitchFamily="2" charset="-127"/>
                  <a:cs typeface="NanumSquare Bold" pitchFamily="34" charset="-120"/>
                </a:rPr>
                <a:t>보이스피싱 피해 수</a:t>
              </a:r>
              <a:r>
                <a:rPr lang="en-US" altLang="ko-KR" sz="1000" b="1" dirty="0">
                  <a:solidFill>
                    <a:srgbClr val="10213D"/>
                  </a:solidFill>
                  <a:latin typeface="페이퍼로지 7 Bold" pitchFamily="2" charset="-127"/>
                  <a:ea typeface="페이퍼로지 7 Bold" pitchFamily="2" charset="-127"/>
                  <a:cs typeface="NanumSquare Bold" pitchFamily="34" charset="-120"/>
                </a:rPr>
                <a:t>, </a:t>
              </a:r>
              <a:r>
                <a:rPr lang="ko-KR" altLang="en-US" sz="1000" b="1" dirty="0">
                  <a:solidFill>
                    <a:srgbClr val="10213D"/>
                  </a:solidFill>
                  <a:latin typeface="페이퍼로지 7 Bold" pitchFamily="2" charset="-127"/>
                  <a:ea typeface="페이퍼로지 7 Bold" pitchFamily="2" charset="-127"/>
                  <a:cs typeface="NanumSquare Bold" pitchFamily="34" charset="-120"/>
                </a:rPr>
                <a:t>누적 피해액</a:t>
              </a:r>
              <a:endParaRPr lang="ko-KR" altLang="en-US" sz="1000" dirty="0"/>
            </a:p>
          </p:txBody>
        </p:sp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BBEED6A9-5F2A-494A-887C-CC454F317B02}"/>
                </a:ext>
              </a:extLst>
            </p:cNvPr>
            <p:cNvGrpSpPr/>
            <p:nvPr/>
          </p:nvGrpSpPr>
          <p:grpSpPr>
            <a:xfrm>
              <a:off x="6787380" y="1775283"/>
              <a:ext cx="4445862" cy="2514600"/>
              <a:chOff x="5826188" y="1775283"/>
              <a:chExt cx="4445862" cy="2514600"/>
            </a:xfrm>
          </p:grpSpPr>
          <p:grpSp>
            <p:nvGrpSpPr>
              <p:cNvPr id="42" name="Group 41">
                <a:extLst>
                  <a:ext uri="{FF2B5EF4-FFF2-40B4-BE49-F238E27FC236}">
                    <a16:creationId xmlns:a16="http://schemas.microsoft.com/office/drawing/2014/main" id="{39CB2445-6554-4212-901E-9C6B7D7612C4}"/>
                  </a:ext>
                </a:extLst>
              </p:cNvPr>
              <p:cNvGrpSpPr/>
              <p:nvPr/>
            </p:nvGrpSpPr>
            <p:grpSpPr>
              <a:xfrm>
                <a:off x="5826188" y="1775283"/>
                <a:ext cx="4445862" cy="2514600"/>
                <a:chOff x="4630032" y="1775283"/>
                <a:chExt cx="4445862" cy="2514600"/>
              </a:xfrm>
            </p:grpSpPr>
            <p:sp>
              <p:nvSpPr>
                <p:cNvPr id="119" name="Shape 8">
                  <a:extLst>
                    <a:ext uri="{FF2B5EF4-FFF2-40B4-BE49-F238E27FC236}">
                      <a16:creationId xmlns:a16="http://schemas.microsoft.com/office/drawing/2014/main" id="{DFF93096-BD0A-4BBF-8479-B0600EFEC37F}"/>
                    </a:ext>
                  </a:extLst>
                </p:cNvPr>
                <p:cNvSpPr/>
                <p:nvPr/>
              </p:nvSpPr>
              <p:spPr>
                <a:xfrm>
                  <a:off x="4630032" y="1775283"/>
                  <a:ext cx="4445862" cy="2514600"/>
                </a:xfrm>
                <a:prstGeom prst="roundRect">
                  <a:avLst>
                    <a:gd name="adj" fmla="val 5818"/>
                  </a:avLst>
                </a:prstGeom>
                <a:solidFill>
                  <a:srgbClr val="FFFFFF"/>
                </a:solidFill>
                <a:ln w="10160">
                  <a:solidFill>
                    <a:srgbClr val="DCE8FA"/>
                  </a:solidFill>
                  <a:prstDash val="solid"/>
                </a:ln>
              </p:spPr>
            </p:sp>
            <p:graphicFrame>
              <p:nvGraphicFramePr>
                <p:cNvPr id="40" name="Chart 39">
                  <a:extLst>
                    <a:ext uri="{FF2B5EF4-FFF2-40B4-BE49-F238E27FC236}">
                      <a16:creationId xmlns:a16="http://schemas.microsoft.com/office/drawing/2014/main" id="{46FDFEB3-28D8-47BD-9371-4A09F7B17AFE}"/>
                    </a:ext>
                  </a:extLst>
                </p:cNvPr>
                <p:cNvGraphicFramePr/>
                <p:nvPr>
                  <p:extLst>
                    <p:ext uri="{D42A27DB-BD31-4B8C-83A1-F6EECF244321}">
                      <p14:modId xmlns:p14="http://schemas.microsoft.com/office/powerpoint/2010/main" val="445269540"/>
                    </p:ext>
                  </p:extLst>
                </p:nvPr>
              </p:nvGraphicFramePr>
              <p:xfrm>
                <a:off x="4735830" y="2099334"/>
                <a:ext cx="4282782" cy="2105480"/>
              </p:xfrm>
              <a:graphic>
                <a:graphicData uri="http://schemas.openxmlformats.org/drawingml/2006/chart">
                  <c:chart xmlns:c="http://schemas.openxmlformats.org/drawingml/2006/chart" xmlns:r="http://schemas.openxmlformats.org/officeDocument/2006/relationships" r:id="rId3"/>
                </a:graphicData>
              </a:graphic>
            </p:graphicFrame>
          </p:grpSp>
          <p:sp>
            <p:nvSpPr>
              <p:cNvPr id="145" name="TextBox 144">
                <a:extLst>
                  <a:ext uri="{FF2B5EF4-FFF2-40B4-BE49-F238E27FC236}">
                    <a16:creationId xmlns:a16="http://schemas.microsoft.com/office/drawing/2014/main" id="{892428CB-C9D5-47A0-80BE-D571E28C0841}"/>
                  </a:ext>
                </a:extLst>
              </p:cNvPr>
              <p:cNvSpPr txBox="1"/>
              <p:nvPr/>
            </p:nvSpPr>
            <p:spPr>
              <a:xfrm>
                <a:off x="6305980" y="1849987"/>
                <a:ext cx="3486278" cy="22493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ko-KR" altLang="en-US" sz="1000" b="1" dirty="0">
                    <a:solidFill>
                      <a:srgbClr val="10213D"/>
                    </a:solidFill>
                    <a:latin typeface="페이퍼로지 7 Bold" pitchFamily="2" charset="-127"/>
                    <a:ea typeface="페이퍼로지 7 Bold" pitchFamily="2" charset="-127"/>
                    <a:cs typeface="NanumSquare Bold" pitchFamily="34" charset="-120"/>
                  </a:rPr>
                  <a:t>년도별 </a:t>
                </a:r>
                <a:r>
                  <a:rPr lang="en-US" altLang="ko-KR" sz="1000" b="1" dirty="0">
                    <a:solidFill>
                      <a:srgbClr val="10213D"/>
                    </a:solidFill>
                    <a:latin typeface="페이퍼로지 7 Bold" pitchFamily="2" charset="-127"/>
                    <a:ea typeface="페이퍼로지 7 Bold" pitchFamily="2" charset="-127"/>
                    <a:cs typeface="NanumSquare Bold" pitchFamily="34" charset="-120"/>
                  </a:rPr>
                  <a:t>1</a:t>
                </a:r>
                <a:r>
                  <a:rPr lang="ko-KR" altLang="en-US" sz="1000" b="1" dirty="0">
                    <a:solidFill>
                      <a:srgbClr val="10213D"/>
                    </a:solidFill>
                    <a:latin typeface="페이퍼로지 7 Bold" pitchFamily="2" charset="-127"/>
                    <a:ea typeface="페이퍼로지 7 Bold" pitchFamily="2" charset="-127"/>
                    <a:cs typeface="NanumSquare Bold" pitchFamily="34" charset="-120"/>
                  </a:rPr>
                  <a:t>개 사건 평균 피해액 추이</a:t>
                </a:r>
                <a:endParaRPr lang="ko-KR" altLang="en-US" sz="1000" dirty="0"/>
              </a:p>
            </p:txBody>
          </p:sp>
        </p:grpSp>
        <p:graphicFrame>
          <p:nvGraphicFramePr>
            <p:cNvPr id="22" name="Chart 21">
              <a:extLst>
                <a:ext uri="{FF2B5EF4-FFF2-40B4-BE49-F238E27FC236}">
                  <a16:creationId xmlns:a16="http://schemas.microsoft.com/office/drawing/2014/main" id="{278C99B9-09AF-4A69-9C94-123324403019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4113685176"/>
                </p:ext>
              </p:extLst>
            </p:nvPr>
          </p:nvGraphicFramePr>
          <p:xfrm>
            <a:off x="2237232" y="2092640"/>
            <a:ext cx="4277868" cy="2219432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4"/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36010212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Text 6">
            <a:extLst>
              <a:ext uri="{FF2B5EF4-FFF2-40B4-BE49-F238E27FC236}">
                <a16:creationId xmlns:a16="http://schemas.microsoft.com/office/drawing/2014/main" id="{26523E4F-4D96-421D-9C85-0DBFC0114F74}"/>
              </a:ext>
            </a:extLst>
          </p:cNvPr>
          <p:cNvSpPr txBox="1"/>
          <p:nvPr/>
        </p:nvSpPr>
        <p:spPr>
          <a:xfrm>
            <a:off x="734130" y="806730"/>
            <a:ext cx="10698480" cy="90144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ko-KR" altLang="en-US" sz="2200" b="1" dirty="0">
                <a:solidFill>
                  <a:srgbClr val="10213D"/>
                </a:solidFill>
                <a:latin typeface="페이퍼로지 7 Bold" pitchFamily="2" charset="-127"/>
                <a:ea typeface="페이퍼로지 7 Bold" pitchFamily="2" charset="-127"/>
                <a:cs typeface="NanumSquare Bold" pitchFamily="34" charset="-120"/>
              </a:rPr>
              <a:t>보이스피싱 범죄 피해를 막고</a:t>
            </a:r>
            <a:r>
              <a:rPr lang="en-US" altLang="ko-KR" sz="2200" b="1" dirty="0">
                <a:solidFill>
                  <a:srgbClr val="10213D"/>
                </a:solidFill>
                <a:latin typeface="페이퍼로지 7 Bold" pitchFamily="2" charset="-127"/>
                <a:ea typeface="페이퍼로지 7 Bold" pitchFamily="2" charset="-127"/>
                <a:cs typeface="NanumSquare Bold" pitchFamily="34" charset="-120"/>
              </a:rPr>
              <a:t>·</a:t>
            </a:r>
            <a:r>
              <a:rPr lang="ko-KR" altLang="en-US" sz="2200" b="1" dirty="0">
                <a:solidFill>
                  <a:srgbClr val="10213D"/>
                </a:solidFill>
                <a:latin typeface="페이퍼로지 7 Bold" pitchFamily="2" charset="-127"/>
                <a:ea typeface="페이퍼로지 7 Bold" pitchFamily="2" charset="-127"/>
                <a:cs typeface="NanumSquare Bold" pitchFamily="34" charset="-120"/>
              </a:rPr>
              <a:t>줄이고</a:t>
            </a:r>
            <a:r>
              <a:rPr lang="en-US" altLang="ko-KR" sz="2200" b="1" dirty="0">
                <a:solidFill>
                  <a:srgbClr val="10213D"/>
                </a:solidFill>
                <a:latin typeface="페이퍼로지 7 Bold" pitchFamily="2" charset="-127"/>
                <a:ea typeface="페이퍼로지 7 Bold" pitchFamily="2" charset="-127"/>
                <a:cs typeface="NanumSquare Bold" pitchFamily="34" charset="-120"/>
              </a:rPr>
              <a:t>·</a:t>
            </a:r>
            <a:r>
              <a:rPr lang="ko-KR" altLang="en-US" sz="2200" b="1" dirty="0">
                <a:solidFill>
                  <a:srgbClr val="10213D"/>
                </a:solidFill>
                <a:latin typeface="페이퍼로지 7 Bold" pitchFamily="2" charset="-127"/>
                <a:ea typeface="페이퍼로지 7 Bold" pitchFamily="2" charset="-127"/>
                <a:cs typeface="NanumSquare Bold" pitchFamily="34" charset="-120"/>
              </a:rPr>
              <a:t>도와줄 수 있는 대책을 마련하기 위해</a:t>
            </a:r>
            <a:endParaRPr lang="en-US" altLang="ko-KR" sz="2200" b="1" dirty="0">
              <a:solidFill>
                <a:srgbClr val="10213D"/>
              </a:solidFill>
              <a:latin typeface="페이퍼로지 7 Bold" pitchFamily="2" charset="-127"/>
              <a:ea typeface="페이퍼로지 7 Bold" pitchFamily="2" charset="-127"/>
              <a:cs typeface="NanumSquare Bold" pitchFamily="34" charset="-120"/>
            </a:endParaRPr>
          </a:p>
          <a:p>
            <a:r>
              <a:rPr lang="ko-KR" altLang="en-US" sz="2200" b="1" dirty="0">
                <a:solidFill>
                  <a:srgbClr val="10213D"/>
                </a:solidFill>
                <a:latin typeface="페이퍼로지 7 Bold" pitchFamily="2" charset="-127"/>
                <a:ea typeface="페이퍼로지 7 Bold" pitchFamily="2" charset="-127"/>
                <a:cs typeface="NanumSquare Bold" pitchFamily="34" charset="-120"/>
              </a:rPr>
              <a:t>금융기관</a:t>
            </a:r>
            <a:r>
              <a:rPr lang="en-US" altLang="ko-KR" sz="2200" b="1" dirty="0">
                <a:solidFill>
                  <a:srgbClr val="10213D"/>
                </a:solidFill>
                <a:latin typeface="페이퍼로지 7 Bold" pitchFamily="2" charset="-127"/>
                <a:ea typeface="페이퍼로지 7 Bold" pitchFamily="2" charset="-127"/>
                <a:cs typeface="NanumSquare Bold" pitchFamily="34" charset="-120"/>
              </a:rPr>
              <a:t>·</a:t>
            </a:r>
            <a:r>
              <a:rPr lang="ko-KR" altLang="en-US" sz="2200" b="1" dirty="0">
                <a:solidFill>
                  <a:srgbClr val="10213D"/>
                </a:solidFill>
                <a:latin typeface="페이퍼로지 7 Bold" pitchFamily="2" charset="-127"/>
                <a:ea typeface="페이퍼로지 7 Bold" pitchFamily="2" charset="-127"/>
                <a:cs typeface="NanumSquare Bold" pitchFamily="34" charset="-120"/>
              </a:rPr>
              <a:t>은행</a:t>
            </a:r>
            <a:r>
              <a:rPr lang="en-US" altLang="ko-KR" sz="2200" b="1" dirty="0">
                <a:solidFill>
                  <a:srgbClr val="10213D"/>
                </a:solidFill>
                <a:latin typeface="페이퍼로지 7 Bold" pitchFamily="2" charset="-127"/>
                <a:ea typeface="페이퍼로지 7 Bold" pitchFamily="2" charset="-127"/>
                <a:cs typeface="NanumSquare Bold" pitchFamily="34" charset="-120"/>
              </a:rPr>
              <a:t>, </a:t>
            </a:r>
            <a:r>
              <a:rPr lang="ko-KR" altLang="en-US" sz="2200" b="1" dirty="0">
                <a:solidFill>
                  <a:srgbClr val="10213D"/>
                </a:solidFill>
                <a:latin typeface="페이퍼로지 7 Bold" pitchFamily="2" charset="-127"/>
                <a:ea typeface="페이퍼로지 7 Bold" pitchFamily="2" charset="-127"/>
                <a:cs typeface="NanumSquare Bold" pitchFamily="34" charset="-120"/>
              </a:rPr>
              <a:t>정부</a:t>
            </a:r>
            <a:r>
              <a:rPr lang="en-US" altLang="ko-KR" sz="2200" b="1" dirty="0">
                <a:solidFill>
                  <a:srgbClr val="10213D"/>
                </a:solidFill>
                <a:latin typeface="페이퍼로지 7 Bold" pitchFamily="2" charset="-127"/>
                <a:ea typeface="페이퍼로지 7 Bold" pitchFamily="2" charset="-127"/>
                <a:cs typeface="NanumSquare Bold" pitchFamily="34" charset="-120"/>
              </a:rPr>
              <a:t>·</a:t>
            </a:r>
            <a:r>
              <a:rPr lang="ko-KR" altLang="en-US" sz="2200" b="1" dirty="0">
                <a:solidFill>
                  <a:srgbClr val="10213D"/>
                </a:solidFill>
                <a:latin typeface="페이퍼로지 7 Bold" pitchFamily="2" charset="-127"/>
                <a:ea typeface="페이퍼로지 7 Bold" pitchFamily="2" charset="-127"/>
                <a:cs typeface="NanumSquare Bold" pitchFamily="34" charset="-120"/>
              </a:rPr>
              <a:t>공공기관</a:t>
            </a:r>
            <a:r>
              <a:rPr lang="en-US" altLang="ko-KR" sz="2200" b="1" dirty="0">
                <a:solidFill>
                  <a:srgbClr val="10213D"/>
                </a:solidFill>
                <a:latin typeface="페이퍼로지 7 Bold" pitchFamily="2" charset="-127"/>
                <a:ea typeface="페이퍼로지 7 Bold" pitchFamily="2" charset="-127"/>
                <a:cs typeface="NanumSquare Bold" pitchFamily="34" charset="-120"/>
              </a:rPr>
              <a:t>, </a:t>
            </a:r>
            <a:r>
              <a:rPr lang="ko-KR" altLang="en-US" sz="2200" b="1" dirty="0">
                <a:solidFill>
                  <a:srgbClr val="10213D"/>
                </a:solidFill>
                <a:latin typeface="페이퍼로지 7 Bold" pitchFamily="2" charset="-127"/>
                <a:ea typeface="페이퍼로지 7 Bold" pitchFamily="2" charset="-127"/>
                <a:cs typeface="NanumSquare Bold" pitchFamily="34" charset="-120"/>
              </a:rPr>
              <a:t>통신사</a:t>
            </a:r>
            <a:r>
              <a:rPr lang="en-US" altLang="ko-KR" sz="2200" b="1" dirty="0">
                <a:solidFill>
                  <a:srgbClr val="10213D"/>
                </a:solidFill>
                <a:latin typeface="페이퍼로지 7 Bold" pitchFamily="2" charset="-127"/>
                <a:ea typeface="페이퍼로지 7 Bold" pitchFamily="2" charset="-127"/>
                <a:cs typeface="NanumSquare Bold" pitchFamily="34" charset="-120"/>
              </a:rPr>
              <a:t>·</a:t>
            </a:r>
            <a:r>
              <a:rPr lang="ko-KR" altLang="en-US" sz="2200" b="1" dirty="0">
                <a:solidFill>
                  <a:srgbClr val="10213D"/>
                </a:solidFill>
                <a:latin typeface="페이퍼로지 7 Bold" pitchFamily="2" charset="-127"/>
                <a:ea typeface="페이퍼로지 7 Bold" pitchFamily="2" charset="-127"/>
                <a:cs typeface="NanumSquare Bold" pitchFamily="34" charset="-120"/>
              </a:rPr>
              <a:t>보안업체가 각자의 자리에서 노력하고 있다</a:t>
            </a:r>
            <a:endParaRPr lang="en-US" altLang="ko-KR" sz="2200" b="1" dirty="0">
              <a:solidFill>
                <a:srgbClr val="10213D"/>
              </a:solidFill>
              <a:latin typeface="페이퍼로지 7 Bold" pitchFamily="2" charset="-127"/>
              <a:ea typeface="페이퍼로지 7 Bold" pitchFamily="2" charset="-127"/>
              <a:cs typeface="NanumSquare Bold" pitchFamily="34" charset="-120"/>
            </a:endParaRPr>
          </a:p>
        </p:txBody>
      </p:sp>
      <p:sp>
        <p:nvSpPr>
          <p:cNvPr id="61" name="Text 7">
            <a:extLst>
              <a:ext uri="{FF2B5EF4-FFF2-40B4-BE49-F238E27FC236}">
                <a16:creationId xmlns:a16="http://schemas.microsoft.com/office/drawing/2014/main" id="{B86AB141-D61D-4F98-88E7-DC95CF56A724}"/>
              </a:ext>
            </a:extLst>
          </p:cNvPr>
          <p:cNvSpPr txBox="1"/>
          <p:nvPr/>
        </p:nvSpPr>
        <p:spPr>
          <a:xfrm>
            <a:off x="729441" y="593195"/>
            <a:ext cx="10515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ko-KR" altLang="en-US" sz="1230" dirty="0">
                <a:solidFill>
                  <a:srgbClr val="66768F"/>
                </a:solidFill>
                <a:latin typeface="페이퍼로지 4 Regular" pitchFamily="2" charset="-127"/>
                <a:ea typeface="페이퍼로지 4 Regular" pitchFamily="2" charset="-127"/>
                <a:cs typeface="NanumSquare" pitchFamily="34" charset="-120"/>
              </a:rPr>
              <a:t>보이스피싱 범죄로부터 소중한 국민의 재산과 생명을 지키기 위해</a:t>
            </a:r>
            <a:r>
              <a:rPr lang="en-US" altLang="ko-KR" sz="1230" dirty="0">
                <a:solidFill>
                  <a:srgbClr val="66768F"/>
                </a:solidFill>
                <a:latin typeface="페이퍼로지 4 Regular" pitchFamily="2" charset="-127"/>
                <a:ea typeface="페이퍼로지 4 Regular" pitchFamily="2" charset="-127"/>
                <a:cs typeface="NanumSquare" pitchFamily="34" charset="-120"/>
              </a:rPr>
              <a:t>…</a:t>
            </a:r>
            <a:endParaRPr lang="en-US" altLang="ko-KR" sz="123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2" name="Shape 0"/>
          <p:cNvSpPr/>
          <p:nvPr/>
        </p:nvSpPr>
        <p:spPr>
          <a:xfrm>
            <a:off x="10844784" y="128016"/>
            <a:ext cx="1188720" cy="1188720"/>
          </a:xfrm>
          <a:prstGeom prst="ellipse">
            <a:avLst/>
          </a:prstGeom>
          <a:solidFill>
            <a:srgbClr val="EAF3FF"/>
          </a:solidFill>
          <a:ln w="10160">
            <a:solidFill>
              <a:srgbClr val="EAF3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448288" y="292608"/>
            <a:ext cx="310896" cy="310896"/>
          </a:xfrm>
          <a:prstGeom prst="ellipse">
            <a:avLst/>
          </a:prstGeom>
          <a:solidFill>
            <a:srgbClr val="49A8FF"/>
          </a:solidFill>
          <a:ln w="10160">
            <a:solidFill>
              <a:srgbClr val="49A8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844784" y="1024128"/>
            <a:ext cx="868680" cy="0"/>
          </a:xfrm>
          <a:prstGeom prst="line">
            <a:avLst/>
          </a:prstGeom>
          <a:noFill/>
          <a:ln w="13970">
            <a:solidFill>
              <a:srgbClr val="D6E8FF"/>
            </a:solidFill>
            <a:prstDash val="solid"/>
            <a:headEnd type="none"/>
            <a:tailEnd type="none"/>
          </a:ln>
        </p:spPr>
      </p:sp>
      <p:sp>
        <p:nvSpPr>
          <p:cNvPr id="5" name="Shape 3"/>
          <p:cNvSpPr/>
          <p:nvPr/>
        </p:nvSpPr>
        <p:spPr>
          <a:xfrm>
            <a:off x="11045952" y="1158065"/>
            <a:ext cx="667512" cy="0"/>
          </a:xfrm>
          <a:prstGeom prst="line">
            <a:avLst/>
          </a:prstGeom>
          <a:noFill/>
          <a:ln w="13970">
            <a:solidFill>
              <a:srgbClr val="D6E8FF"/>
            </a:solidFill>
            <a:prstDash val="solid"/>
            <a:headEnd type="none"/>
            <a:tailEnd type="none"/>
          </a:ln>
        </p:spPr>
      </p:sp>
      <p:grpSp>
        <p:nvGrpSpPr>
          <p:cNvPr id="155" name="Group 154">
            <a:extLst>
              <a:ext uri="{FF2B5EF4-FFF2-40B4-BE49-F238E27FC236}">
                <a16:creationId xmlns:a16="http://schemas.microsoft.com/office/drawing/2014/main" id="{3078A156-9BD4-4B2C-8818-C873541FE1FE}"/>
              </a:ext>
            </a:extLst>
          </p:cNvPr>
          <p:cNvGrpSpPr/>
          <p:nvPr/>
        </p:nvGrpSpPr>
        <p:grpSpPr>
          <a:xfrm>
            <a:off x="989537" y="5479860"/>
            <a:ext cx="10212928" cy="773508"/>
            <a:chOff x="989537" y="5557693"/>
            <a:chExt cx="10212928" cy="773508"/>
          </a:xfrm>
        </p:grpSpPr>
        <p:sp>
          <p:nvSpPr>
            <p:cNvPr id="46" name="Shape 44"/>
            <p:cNvSpPr/>
            <p:nvPr/>
          </p:nvSpPr>
          <p:spPr>
            <a:xfrm>
              <a:off x="1057656" y="5587831"/>
              <a:ext cx="10076688" cy="713232"/>
            </a:xfrm>
            <a:prstGeom prst="roundRect">
              <a:avLst>
                <a:gd name="adj" fmla="val 20513"/>
              </a:avLst>
            </a:prstGeom>
            <a:solidFill>
              <a:srgbClr val="0B1F3A"/>
            </a:solidFill>
            <a:ln w="10160">
              <a:solidFill>
                <a:srgbClr val="0B1F3A"/>
              </a:solidFill>
              <a:prstDash val="solid"/>
            </a:ln>
          </p:spPr>
        </p:sp>
        <p:sp>
          <p:nvSpPr>
            <p:cNvPr id="47" name="Text 45"/>
            <p:cNvSpPr txBox="1"/>
            <p:nvPr/>
          </p:nvSpPr>
          <p:spPr>
            <a:xfrm>
              <a:off x="989537" y="5557693"/>
              <a:ext cx="10212928" cy="7735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 algn="ctr">
                <a:buNone/>
              </a:pPr>
              <a:r>
                <a:rPr lang="ko-KR" altLang="en-US" sz="1520" b="1" dirty="0">
                  <a:solidFill>
                    <a:srgbClr val="FFFFFF"/>
                  </a:solidFill>
                  <a:latin typeface="페이퍼로지 7 Bold" pitchFamily="2" charset="-127"/>
                  <a:ea typeface="페이퍼로지 7 Bold" pitchFamily="2" charset="-127"/>
                  <a:cs typeface="NanumSquare Bold" pitchFamily="34" charset="-120"/>
                </a:rPr>
                <a:t>특히</a:t>
              </a:r>
              <a:r>
                <a:rPr lang="en-US" altLang="ko-KR" sz="1520" b="1" dirty="0">
                  <a:solidFill>
                    <a:srgbClr val="FFFFFF"/>
                  </a:solidFill>
                  <a:latin typeface="페이퍼로지 7 Bold" pitchFamily="2" charset="-127"/>
                  <a:ea typeface="페이퍼로지 7 Bold" pitchFamily="2" charset="-127"/>
                  <a:cs typeface="NanumSquare Bold" pitchFamily="34" charset="-120"/>
                </a:rPr>
                <a:t>, </a:t>
              </a:r>
              <a:r>
                <a:rPr lang="ko-KR" altLang="en-US" sz="1520" b="1" dirty="0">
                  <a:solidFill>
                    <a:srgbClr val="FFFFFF"/>
                  </a:solidFill>
                  <a:latin typeface="페이퍼로지 7 Bold" pitchFamily="2" charset="-127"/>
                  <a:ea typeface="페이퍼로지 7 Bold" pitchFamily="2" charset="-127"/>
                  <a:cs typeface="NanumSquare Bold" pitchFamily="34" charset="-120"/>
                </a:rPr>
                <a:t>인공지능</a:t>
              </a:r>
              <a:r>
                <a:rPr lang="en-US" altLang="ko-KR" sz="1520" b="1" dirty="0">
                  <a:solidFill>
                    <a:srgbClr val="FFFFFF"/>
                  </a:solidFill>
                  <a:latin typeface="페이퍼로지 7 Bold" pitchFamily="2" charset="-127"/>
                  <a:ea typeface="페이퍼로지 7 Bold" pitchFamily="2" charset="-127"/>
                  <a:cs typeface="NanumSquare Bold" pitchFamily="34" charset="-120"/>
                </a:rPr>
                <a:t>(AI)</a:t>
              </a:r>
              <a:r>
                <a:rPr lang="ko-KR" altLang="en-US" sz="1520" b="1" dirty="0">
                  <a:solidFill>
                    <a:srgbClr val="FFFFFF"/>
                  </a:solidFill>
                  <a:latin typeface="페이퍼로지 7 Bold" pitchFamily="2" charset="-127"/>
                  <a:ea typeface="페이퍼로지 7 Bold" pitchFamily="2" charset="-127"/>
                  <a:cs typeface="NanumSquare Bold" pitchFamily="34" charset="-120"/>
                </a:rPr>
                <a:t>와 빅데이터를 적극 활용하여 실시간 분석</a:t>
              </a:r>
              <a:r>
                <a:rPr lang="en-US" altLang="ko-KR" sz="1520" b="1" dirty="0">
                  <a:solidFill>
                    <a:srgbClr val="FFFFFF"/>
                  </a:solidFill>
                  <a:latin typeface="페이퍼로지 7 Bold" pitchFamily="2" charset="-127"/>
                  <a:ea typeface="페이퍼로지 7 Bold" pitchFamily="2" charset="-127"/>
                  <a:cs typeface="NanumSquare Bold" pitchFamily="34" charset="-120"/>
                </a:rPr>
                <a:t>·</a:t>
              </a:r>
              <a:r>
                <a:rPr lang="ko-KR" altLang="en-US" sz="1520" b="1" dirty="0">
                  <a:solidFill>
                    <a:srgbClr val="FFFFFF"/>
                  </a:solidFill>
                  <a:latin typeface="페이퍼로지 7 Bold" pitchFamily="2" charset="-127"/>
                  <a:ea typeface="페이퍼로지 7 Bold" pitchFamily="2" charset="-127"/>
                  <a:cs typeface="NanumSquare Bold" pitchFamily="34" charset="-120"/>
                </a:rPr>
                <a:t>차단</a:t>
              </a:r>
              <a:r>
                <a:rPr lang="en-US" altLang="ko-KR" sz="1520" b="1" dirty="0">
                  <a:solidFill>
                    <a:srgbClr val="FFFFFF"/>
                  </a:solidFill>
                  <a:latin typeface="페이퍼로지 7 Bold" pitchFamily="2" charset="-127"/>
                  <a:ea typeface="페이퍼로지 7 Bold" pitchFamily="2" charset="-127"/>
                  <a:cs typeface="NanumSquare Bold" pitchFamily="34" charset="-120"/>
                </a:rPr>
                <a:t>·</a:t>
              </a:r>
              <a:r>
                <a:rPr lang="ko-KR" altLang="en-US" sz="1520" b="1" dirty="0">
                  <a:solidFill>
                    <a:srgbClr val="FFFFFF"/>
                  </a:solidFill>
                  <a:latin typeface="페이퍼로지 7 Bold" pitchFamily="2" charset="-127"/>
                  <a:ea typeface="페이퍼로지 7 Bold" pitchFamily="2" charset="-127"/>
                  <a:cs typeface="NanumSquare Bold" pitchFamily="34" charset="-120"/>
                </a:rPr>
                <a:t>조치하고 있고</a:t>
              </a:r>
              <a:r>
                <a:rPr lang="en-US" altLang="ko-KR" sz="1520" b="1" dirty="0">
                  <a:solidFill>
                    <a:srgbClr val="FFFFFF"/>
                  </a:solidFill>
                  <a:latin typeface="페이퍼로지 7 Bold" pitchFamily="2" charset="-127"/>
                  <a:ea typeface="페이퍼로지 7 Bold" pitchFamily="2" charset="-127"/>
                  <a:cs typeface="NanumSquare Bold" pitchFamily="34" charset="-120"/>
                </a:rPr>
                <a:t>,</a:t>
              </a:r>
            </a:p>
            <a:p>
              <a:pPr marL="0" indent="0" algn="ctr">
                <a:buNone/>
              </a:pPr>
              <a:r>
                <a:rPr lang="ko-KR" altLang="en-US" sz="1520" b="1" dirty="0">
                  <a:solidFill>
                    <a:srgbClr val="FFFFFF"/>
                  </a:solidFill>
                  <a:latin typeface="페이퍼로지 7 Bold" pitchFamily="2" charset="-127"/>
                  <a:ea typeface="페이퍼로지 7 Bold" pitchFamily="2" charset="-127"/>
                  <a:cs typeface="NanumSquare Bold" pitchFamily="34" charset="-120"/>
                </a:rPr>
                <a:t>최신 기술을 활용하고 협업 체계를 구축하며 다양한 </a:t>
              </a:r>
              <a:r>
                <a:rPr lang="en-US" sz="1520" b="1" dirty="0" err="1">
                  <a:solidFill>
                    <a:srgbClr val="FFFFFF"/>
                  </a:solidFill>
                  <a:latin typeface="페이퍼로지 7 Bold" pitchFamily="2" charset="-127"/>
                  <a:ea typeface="페이퍼로지 7 Bold" pitchFamily="2" charset="-127"/>
                  <a:cs typeface="NanumSquare Bold" pitchFamily="34" charset="-120"/>
                </a:rPr>
                <a:t>안전장치</a:t>
              </a:r>
              <a:r>
                <a:rPr lang="en-US" sz="1520" b="1" dirty="0">
                  <a:solidFill>
                    <a:srgbClr val="FFFFFF"/>
                  </a:solidFill>
                  <a:latin typeface="페이퍼로지 7 Bold" pitchFamily="2" charset="-127"/>
                  <a:ea typeface="페이퍼로지 7 Bold" pitchFamily="2" charset="-127"/>
                  <a:cs typeface="NanumSquare Bold" pitchFamily="34" charset="-120"/>
                </a:rPr>
                <a:t> </a:t>
              </a:r>
              <a:r>
                <a:rPr lang="ko-KR" altLang="en-US" sz="1520" b="1" dirty="0">
                  <a:solidFill>
                    <a:srgbClr val="FFFFFF"/>
                  </a:solidFill>
                  <a:latin typeface="페이퍼로지 7 Bold" pitchFamily="2" charset="-127"/>
                  <a:ea typeface="페이퍼로지 7 Bold" pitchFamily="2" charset="-127"/>
                  <a:cs typeface="NanumSquare Bold" pitchFamily="34" charset="-120"/>
                </a:rPr>
                <a:t>개발과 제도 개선이 활발하게 이루어지고 있다</a:t>
              </a:r>
              <a:endParaRPr lang="en-US" sz="1520" dirty="0">
                <a:latin typeface="페이퍼로지 7 Bold" pitchFamily="2" charset="-127"/>
                <a:ea typeface="페이퍼로지 7 Bold" pitchFamily="2" charset="-127"/>
              </a:endParaRPr>
            </a:p>
          </p:txBody>
        </p:sp>
      </p:grpSp>
      <p:sp>
        <p:nvSpPr>
          <p:cNvPr id="5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10528"/>
            <a:ext cx="27432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7B8CA8"/>
                </a:solidFill>
                <a:latin typeface="NanumSquare"/>
                <a:ea typeface="NanumSquare"/>
                <a:cs typeface="NanumSquare"/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  <p:sp>
        <p:nvSpPr>
          <p:cNvPr id="52" name="Text 5">
            <a:extLst>
              <a:ext uri="{FF2B5EF4-FFF2-40B4-BE49-F238E27FC236}">
                <a16:creationId xmlns:a16="http://schemas.microsoft.com/office/drawing/2014/main" id="{18BD87C1-342C-4A32-80E8-3279A30915AE}"/>
              </a:ext>
            </a:extLst>
          </p:cNvPr>
          <p:cNvSpPr txBox="1"/>
          <p:nvPr/>
        </p:nvSpPr>
        <p:spPr>
          <a:xfrm>
            <a:off x="-64242" y="162899"/>
            <a:ext cx="8961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E2746"/>
                </a:solidFill>
                <a:latin typeface="페이퍼로지 4 Regular" pitchFamily="2" charset="-127"/>
                <a:ea typeface="페이퍼로지 4 Regular" pitchFamily="2" charset="-127"/>
                <a:cs typeface="NanumSquare Bold" pitchFamily="34" charset="-120"/>
              </a:rPr>
              <a:t>현황분석</a:t>
            </a:r>
            <a:endParaRPr lang="en-US" sz="1050" dirty="0">
              <a:solidFill>
                <a:srgbClr val="0E2746"/>
              </a:solidFill>
              <a:latin typeface="페이퍼로지 4 Regular" pitchFamily="2" charset="-127"/>
              <a:ea typeface="페이퍼로지 4 Regular" pitchFamily="2" charset="-127"/>
            </a:endParaRPr>
          </a:p>
        </p:txBody>
      </p:sp>
      <p:grpSp>
        <p:nvGrpSpPr>
          <p:cNvPr id="154" name="Group 153">
            <a:extLst>
              <a:ext uri="{FF2B5EF4-FFF2-40B4-BE49-F238E27FC236}">
                <a16:creationId xmlns:a16="http://schemas.microsoft.com/office/drawing/2014/main" id="{649D8BAD-1665-4D6F-983B-6C0A73436477}"/>
              </a:ext>
            </a:extLst>
          </p:cNvPr>
          <p:cNvGrpSpPr/>
          <p:nvPr/>
        </p:nvGrpSpPr>
        <p:grpSpPr>
          <a:xfrm>
            <a:off x="759391" y="1842112"/>
            <a:ext cx="10673219" cy="3422455"/>
            <a:chOff x="580527" y="1844623"/>
            <a:chExt cx="10673219" cy="3422455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A87A687C-E086-49AD-B17E-3AA81A103D3D}"/>
                </a:ext>
              </a:extLst>
            </p:cNvPr>
            <p:cNvGrpSpPr/>
            <p:nvPr/>
          </p:nvGrpSpPr>
          <p:grpSpPr>
            <a:xfrm>
              <a:off x="580527" y="1844623"/>
              <a:ext cx="10673219" cy="3422455"/>
              <a:chOff x="586093" y="1735608"/>
              <a:chExt cx="10673219" cy="3422455"/>
            </a:xfrm>
          </p:grpSpPr>
          <p:sp>
            <p:nvSpPr>
              <p:cNvPr id="10" name="Shape 8"/>
              <p:cNvSpPr/>
              <p:nvPr/>
            </p:nvSpPr>
            <p:spPr>
              <a:xfrm>
                <a:off x="586093" y="1735608"/>
                <a:ext cx="3473843" cy="3422455"/>
              </a:xfrm>
              <a:prstGeom prst="roundRect">
                <a:avLst>
                  <a:gd name="adj" fmla="val 5405"/>
                </a:avLst>
              </a:prstGeom>
              <a:solidFill>
                <a:srgbClr val="FFFFFF"/>
              </a:solidFill>
              <a:ln w="10160">
                <a:solidFill>
                  <a:srgbClr val="DCE8FA"/>
                </a:solidFill>
                <a:prstDash val="solid"/>
              </a:ln>
            </p:spPr>
          </p:sp>
          <p:sp>
            <p:nvSpPr>
              <p:cNvPr id="22" name="Shape 20"/>
              <p:cNvSpPr/>
              <p:nvPr/>
            </p:nvSpPr>
            <p:spPr>
              <a:xfrm>
                <a:off x="4185781" y="1735608"/>
                <a:ext cx="3473843" cy="3422455"/>
              </a:xfrm>
              <a:prstGeom prst="roundRect">
                <a:avLst>
                  <a:gd name="adj" fmla="val 5405"/>
                </a:avLst>
              </a:prstGeom>
              <a:solidFill>
                <a:srgbClr val="FFFFFF"/>
              </a:solidFill>
              <a:ln w="10160">
                <a:solidFill>
                  <a:srgbClr val="DCE8FA"/>
                </a:solidFill>
                <a:prstDash val="solid"/>
              </a:ln>
            </p:spPr>
            <p:txBody>
              <a:bodyPr/>
              <a:lstStyle/>
              <a:p>
                <a:endParaRPr lang="ko-KR" altLang="en-US" dirty="0"/>
              </a:p>
            </p:txBody>
          </p:sp>
          <p:sp>
            <p:nvSpPr>
              <p:cNvPr id="34" name="Shape 32"/>
              <p:cNvSpPr/>
              <p:nvPr/>
            </p:nvSpPr>
            <p:spPr>
              <a:xfrm>
                <a:off x="7785469" y="1735608"/>
                <a:ext cx="3473843" cy="3422455"/>
              </a:xfrm>
              <a:prstGeom prst="roundRect">
                <a:avLst>
                  <a:gd name="adj" fmla="val 5405"/>
                </a:avLst>
              </a:prstGeom>
              <a:solidFill>
                <a:srgbClr val="FFFFFF"/>
              </a:solidFill>
              <a:ln w="10160">
                <a:solidFill>
                  <a:srgbClr val="DCE8FA"/>
                </a:solidFill>
                <a:prstDash val="solid"/>
              </a:ln>
            </p:spPr>
            <p:txBody>
              <a:bodyPr/>
              <a:lstStyle/>
              <a:p>
                <a:endParaRPr lang="ko-KR" altLang="en-US" dirty="0"/>
              </a:p>
            </p:txBody>
          </p:sp>
        </p:grpSp>
        <p:grpSp>
          <p:nvGrpSpPr>
            <p:cNvPr id="94" name="Group 93">
              <a:extLst>
                <a:ext uri="{FF2B5EF4-FFF2-40B4-BE49-F238E27FC236}">
                  <a16:creationId xmlns:a16="http://schemas.microsoft.com/office/drawing/2014/main" id="{88C0B95D-B25B-43EF-A360-B3D890DD9167}"/>
                </a:ext>
              </a:extLst>
            </p:cNvPr>
            <p:cNvGrpSpPr/>
            <p:nvPr/>
          </p:nvGrpSpPr>
          <p:grpSpPr>
            <a:xfrm>
              <a:off x="749968" y="1967786"/>
              <a:ext cx="10094815" cy="475488"/>
              <a:chOff x="749968" y="1967786"/>
              <a:chExt cx="10094815" cy="475488"/>
            </a:xfrm>
          </p:grpSpPr>
          <p:sp>
            <p:nvSpPr>
              <p:cNvPr id="11" name="Shape 9"/>
              <p:cNvSpPr/>
              <p:nvPr/>
            </p:nvSpPr>
            <p:spPr>
              <a:xfrm>
                <a:off x="749968" y="1967786"/>
                <a:ext cx="475488" cy="475488"/>
              </a:xfrm>
              <a:prstGeom prst="ellipse">
                <a:avLst/>
              </a:prstGeom>
              <a:solidFill>
                <a:srgbClr val="EAF3FF"/>
              </a:solidFill>
              <a:ln w="10160">
                <a:solidFill>
                  <a:srgbClr val="D7E7FF"/>
                </a:solidFill>
                <a:prstDash val="solid"/>
              </a:ln>
            </p:spPr>
            <p:txBody>
              <a:bodyPr/>
              <a:lstStyle/>
              <a:p>
                <a:endParaRPr lang="ko-KR" altLang="en-US" dirty="0">
                  <a:latin typeface="페이퍼로지 4 Regular" pitchFamily="2" charset="-127"/>
                  <a:ea typeface="페이퍼로지 4 Regular" pitchFamily="2" charset="-127"/>
                </a:endParaRPr>
              </a:p>
            </p:txBody>
          </p:sp>
          <p:grpSp>
            <p:nvGrpSpPr>
              <p:cNvPr id="8" name="Group 7">
                <a:extLst>
                  <a:ext uri="{FF2B5EF4-FFF2-40B4-BE49-F238E27FC236}">
                    <a16:creationId xmlns:a16="http://schemas.microsoft.com/office/drawing/2014/main" id="{51216B33-CA83-41B7-ABAA-90D9A227C2D0}"/>
                  </a:ext>
                </a:extLst>
              </p:cNvPr>
              <p:cNvGrpSpPr/>
              <p:nvPr/>
            </p:nvGrpSpPr>
            <p:grpSpPr>
              <a:xfrm>
                <a:off x="761283" y="1992590"/>
                <a:ext cx="2503285" cy="448056"/>
                <a:chOff x="725424" y="1999106"/>
                <a:chExt cx="2503285" cy="448056"/>
              </a:xfrm>
            </p:grpSpPr>
            <p:sp>
              <p:nvSpPr>
                <p:cNvPr id="12" name="Text 10"/>
                <p:cNvSpPr txBox="1"/>
                <p:nvPr/>
              </p:nvSpPr>
              <p:spPr>
                <a:xfrm>
                  <a:off x="725424" y="1999106"/>
                  <a:ext cx="475488" cy="448056"/>
                </a:xfrm>
                <a:prstGeom prst="rect">
                  <a:avLst/>
                </a:prstGeom>
                <a:noFill/>
                <a:ln/>
              </p:spPr>
              <p:txBody>
                <a:bodyPr wrap="square" lIns="0" tIns="0" rIns="0" bIns="0" rtlCol="0" anchor="ctr">
                  <a:normAutofit/>
                </a:bodyPr>
                <a:lstStyle/>
                <a:p>
                  <a:pPr marL="0" indent="0" algn="ctr">
                    <a:buNone/>
                  </a:pPr>
                  <a:r>
                    <a:rPr lang="en-US" sz="1600" b="1" dirty="0">
                      <a:solidFill>
                        <a:srgbClr val="1F5EFF"/>
                      </a:solidFill>
                      <a:latin typeface="페이퍼로지 4 Regular" pitchFamily="2" charset="-127"/>
                      <a:ea typeface="페이퍼로지 4 Regular" pitchFamily="2" charset="-127"/>
                      <a:cs typeface="NanumSquare Bold" pitchFamily="34" charset="-120"/>
                    </a:rPr>
                    <a:t>01</a:t>
                  </a:r>
                  <a:endParaRPr lang="en-US" sz="1600" dirty="0">
                    <a:latin typeface="페이퍼로지 4 Regular" pitchFamily="2" charset="-127"/>
                    <a:ea typeface="페이퍼로지 4 Regular" pitchFamily="2" charset="-127"/>
                  </a:endParaRPr>
                </a:p>
              </p:txBody>
            </p:sp>
            <p:sp>
              <p:nvSpPr>
                <p:cNvPr id="13" name="Text 11"/>
                <p:cNvSpPr txBox="1"/>
                <p:nvPr/>
              </p:nvSpPr>
              <p:spPr>
                <a:xfrm>
                  <a:off x="1326757" y="2007046"/>
                  <a:ext cx="1901952" cy="384048"/>
                </a:xfrm>
                <a:prstGeom prst="rect">
                  <a:avLst/>
                </a:prstGeom>
                <a:noFill/>
                <a:ln/>
              </p:spPr>
              <p:txBody>
                <a:bodyPr wrap="square" lIns="0" tIns="0" rIns="0" bIns="0" rtlCol="0" anchor="ctr">
                  <a:normAutofit/>
                </a:bodyPr>
                <a:lstStyle/>
                <a:p>
                  <a:pPr marL="0" indent="0" algn="l">
                    <a:buNone/>
                  </a:pPr>
                  <a:r>
                    <a:rPr lang="en-US" sz="1620" b="1" dirty="0" err="1">
                      <a:solidFill>
                        <a:srgbClr val="10213D"/>
                      </a:solidFill>
                      <a:latin typeface="페이퍼로지 7 Bold" pitchFamily="2" charset="-127"/>
                      <a:ea typeface="페이퍼로지 7 Bold" pitchFamily="2" charset="-127"/>
                      <a:cs typeface="NanumSquare Bold" pitchFamily="34" charset="-120"/>
                    </a:rPr>
                    <a:t>금융기관</a:t>
                  </a:r>
                  <a:r>
                    <a:rPr lang="en-US" altLang="ko-KR" sz="1620" b="1" dirty="0">
                      <a:solidFill>
                        <a:srgbClr val="10213D"/>
                      </a:solidFill>
                      <a:latin typeface="페이퍼로지 7 Bold" pitchFamily="2" charset="-127"/>
                      <a:ea typeface="페이퍼로지 7 Bold" pitchFamily="2" charset="-127"/>
                      <a:cs typeface="NanumSquare Bold" pitchFamily="34" charset="-120"/>
                    </a:rPr>
                    <a:t>·</a:t>
                  </a:r>
                  <a:r>
                    <a:rPr lang="ko-KR" altLang="en-US" sz="1620" b="1" dirty="0">
                      <a:solidFill>
                        <a:srgbClr val="10213D"/>
                      </a:solidFill>
                      <a:latin typeface="페이퍼로지 7 Bold" pitchFamily="2" charset="-127"/>
                      <a:ea typeface="페이퍼로지 7 Bold" pitchFamily="2" charset="-127"/>
                      <a:cs typeface="NanumSquare Bold" pitchFamily="34" charset="-120"/>
                    </a:rPr>
                    <a:t>은행</a:t>
                  </a:r>
                  <a:endParaRPr lang="en-US" sz="1620" dirty="0">
                    <a:latin typeface="페이퍼로지 7 Bold" pitchFamily="2" charset="-127"/>
                    <a:ea typeface="페이퍼로지 7 Bold" pitchFamily="2" charset="-127"/>
                  </a:endParaRPr>
                </a:p>
              </p:txBody>
            </p:sp>
          </p:grpSp>
          <p:sp>
            <p:nvSpPr>
              <p:cNvPr id="57" name="Shape 9">
                <a:extLst>
                  <a:ext uri="{FF2B5EF4-FFF2-40B4-BE49-F238E27FC236}">
                    <a16:creationId xmlns:a16="http://schemas.microsoft.com/office/drawing/2014/main" id="{DD769627-C9E7-41C2-B6FE-22791B7D0B6C}"/>
                  </a:ext>
                </a:extLst>
              </p:cNvPr>
              <p:cNvSpPr/>
              <p:nvPr/>
            </p:nvSpPr>
            <p:spPr>
              <a:xfrm>
                <a:off x="4341329" y="1967786"/>
                <a:ext cx="475488" cy="475488"/>
              </a:xfrm>
              <a:prstGeom prst="ellipse">
                <a:avLst/>
              </a:prstGeom>
              <a:solidFill>
                <a:srgbClr val="EAF3FF"/>
              </a:solidFill>
              <a:ln w="10160">
                <a:solidFill>
                  <a:srgbClr val="D7E7FF"/>
                </a:solidFill>
                <a:prstDash val="solid"/>
              </a:ln>
            </p:spPr>
            <p:txBody>
              <a:bodyPr/>
              <a:lstStyle/>
              <a:p>
                <a:endParaRPr lang="ko-KR" altLang="en-US" dirty="0">
                  <a:latin typeface="페이퍼로지 4 Regular" pitchFamily="2" charset="-127"/>
                  <a:ea typeface="페이퍼로지 4 Regular" pitchFamily="2" charset="-127"/>
                </a:endParaRPr>
              </a:p>
            </p:txBody>
          </p:sp>
          <p:grpSp>
            <p:nvGrpSpPr>
              <p:cNvPr id="58" name="Group 57">
                <a:extLst>
                  <a:ext uri="{FF2B5EF4-FFF2-40B4-BE49-F238E27FC236}">
                    <a16:creationId xmlns:a16="http://schemas.microsoft.com/office/drawing/2014/main" id="{F964D1DB-BDC2-4629-9FE3-BA6C34077CD3}"/>
                  </a:ext>
                </a:extLst>
              </p:cNvPr>
              <p:cNvGrpSpPr/>
              <p:nvPr/>
            </p:nvGrpSpPr>
            <p:grpSpPr>
              <a:xfrm>
                <a:off x="4346001" y="1990054"/>
                <a:ext cx="2509928" cy="448056"/>
                <a:chOff x="718781" y="1994033"/>
                <a:chExt cx="2509928" cy="448056"/>
              </a:xfrm>
            </p:grpSpPr>
            <p:sp>
              <p:nvSpPr>
                <p:cNvPr id="59" name="Text 10">
                  <a:extLst>
                    <a:ext uri="{FF2B5EF4-FFF2-40B4-BE49-F238E27FC236}">
                      <a16:creationId xmlns:a16="http://schemas.microsoft.com/office/drawing/2014/main" id="{27D72A6B-8151-44EC-8DCA-C1F7F0B49680}"/>
                    </a:ext>
                  </a:extLst>
                </p:cNvPr>
                <p:cNvSpPr txBox="1"/>
                <p:nvPr/>
              </p:nvSpPr>
              <p:spPr>
                <a:xfrm>
                  <a:off x="718781" y="1994033"/>
                  <a:ext cx="475488" cy="448056"/>
                </a:xfrm>
                <a:prstGeom prst="rect">
                  <a:avLst/>
                </a:prstGeom>
                <a:noFill/>
                <a:ln/>
              </p:spPr>
              <p:txBody>
                <a:bodyPr wrap="square" lIns="0" tIns="0" rIns="0" bIns="0" rtlCol="0" anchor="ctr">
                  <a:normAutofit/>
                </a:bodyPr>
                <a:lstStyle/>
                <a:p>
                  <a:pPr marL="0" indent="0" algn="ctr">
                    <a:buNone/>
                  </a:pPr>
                  <a:r>
                    <a:rPr lang="en-US" sz="1600" b="1" dirty="0">
                      <a:solidFill>
                        <a:srgbClr val="2F7CF6"/>
                      </a:solidFill>
                      <a:latin typeface="페이퍼로지 4 Regular" pitchFamily="2" charset="-127"/>
                      <a:ea typeface="페이퍼로지 4 Regular" pitchFamily="2" charset="-127"/>
                      <a:cs typeface="NanumSquare Bold" pitchFamily="34" charset="-120"/>
                    </a:rPr>
                    <a:t>0</a:t>
                  </a:r>
                  <a:r>
                    <a:rPr lang="en-US" altLang="ko-KR" sz="1600" b="1" dirty="0">
                      <a:solidFill>
                        <a:srgbClr val="2F7CF6"/>
                      </a:solidFill>
                      <a:latin typeface="페이퍼로지 4 Regular" pitchFamily="2" charset="-127"/>
                      <a:ea typeface="페이퍼로지 4 Regular" pitchFamily="2" charset="-127"/>
                      <a:cs typeface="NanumSquare Bold" pitchFamily="34" charset="-120"/>
                    </a:rPr>
                    <a:t>2</a:t>
                  </a:r>
                  <a:endParaRPr lang="en-US" sz="1600" dirty="0">
                    <a:solidFill>
                      <a:srgbClr val="2F7CF6"/>
                    </a:solidFill>
                    <a:latin typeface="페이퍼로지 4 Regular" pitchFamily="2" charset="-127"/>
                    <a:ea typeface="페이퍼로지 4 Regular" pitchFamily="2" charset="-127"/>
                  </a:endParaRPr>
                </a:p>
              </p:txBody>
            </p:sp>
            <p:sp>
              <p:nvSpPr>
                <p:cNvPr id="62" name="Text 11">
                  <a:extLst>
                    <a:ext uri="{FF2B5EF4-FFF2-40B4-BE49-F238E27FC236}">
                      <a16:creationId xmlns:a16="http://schemas.microsoft.com/office/drawing/2014/main" id="{7E39A5C8-EFF4-4D1F-A422-7810807E1826}"/>
                    </a:ext>
                  </a:extLst>
                </p:cNvPr>
                <p:cNvSpPr txBox="1"/>
                <p:nvPr/>
              </p:nvSpPr>
              <p:spPr>
                <a:xfrm>
                  <a:off x="1326757" y="2007046"/>
                  <a:ext cx="1901952" cy="384048"/>
                </a:xfrm>
                <a:prstGeom prst="rect">
                  <a:avLst/>
                </a:prstGeom>
                <a:noFill/>
                <a:ln/>
              </p:spPr>
              <p:txBody>
                <a:bodyPr wrap="square" lIns="0" tIns="0" rIns="0" bIns="0" rtlCol="0" anchor="ctr">
                  <a:normAutofit/>
                </a:bodyPr>
                <a:lstStyle/>
                <a:p>
                  <a:pPr marL="0" indent="0" algn="l">
                    <a:buNone/>
                  </a:pPr>
                  <a:r>
                    <a:rPr lang="en-US" altLang="ko-KR" sz="1620" b="1" dirty="0" err="1">
                      <a:solidFill>
                        <a:srgbClr val="10213D"/>
                      </a:solidFill>
                      <a:latin typeface="페이퍼로지 7 Bold" pitchFamily="2" charset="-127"/>
                      <a:ea typeface="페이퍼로지 7 Bold" pitchFamily="2" charset="-127"/>
                      <a:cs typeface="NanumSquare Bold" pitchFamily="34" charset="-120"/>
                    </a:rPr>
                    <a:t>정부·공공기관</a:t>
                  </a:r>
                  <a:endParaRPr lang="en-US" altLang="ko-KR" sz="1620" dirty="0">
                    <a:latin typeface="페이퍼로지 7 Bold" pitchFamily="2" charset="-127"/>
                    <a:ea typeface="페이퍼로지 7 Bold" pitchFamily="2" charset="-127"/>
                  </a:endParaRPr>
                </a:p>
              </p:txBody>
            </p:sp>
          </p:grpSp>
          <p:sp>
            <p:nvSpPr>
              <p:cNvPr id="64" name="Shape 9">
                <a:extLst>
                  <a:ext uri="{FF2B5EF4-FFF2-40B4-BE49-F238E27FC236}">
                    <a16:creationId xmlns:a16="http://schemas.microsoft.com/office/drawing/2014/main" id="{15B61A14-5EDC-428A-A5CA-3FAD34AE93DD}"/>
                  </a:ext>
                </a:extLst>
              </p:cNvPr>
              <p:cNvSpPr/>
              <p:nvPr/>
            </p:nvSpPr>
            <p:spPr>
              <a:xfrm>
                <a:off x="7946853" y="1967786"/>
                <a:ext cx="475488" cy="475488"/>
              </a:xfrm>
              <a:prstGeom prst="ellipse">
                <a:avLst/>
              </a:prstGeom>
              <a:solidFill>
                <a:srgbClr val="EAF3FF"/>
              </a:solidFill>
              <a:ln w="10160">
                <a:solidFill>
                  <a:srgbClr val="D7E7FF"/>
                </a:solidFill>
                <a:prstDash val="solid"/>
              </a:ln>
            </p:spPr>
            <p:txBody>
              <a:bodyPr/>
              <a:lstStyle/>
              <a:p>
                <a:endParaRPr lang="ko-KR" altLang="en-US" dirty="0">
                  <a:latin typeface="페이퍼로지 4 Regular" pitchFamily="2" charset="-127"/>
                  <a:ea typeface="페이퍼로지 4 Regular" pitchFamily="2" charset="-127"/>
                </a:endParaRPr>
              </a:p>
            </p:txBody>
          </p:sp>
          <p:grpSp>
            <p:nvGrpSpPr>
              <p:cNvPr id="65" name="Group 64">
                <a:extLst>
                  <a:ext uri="{FF2B5EF4-FFF2-40B4-BE49-F238E27FC236}">
                    <a16:creationId xmlns:a16="http://schemas.microsoft.com/office/drawing/2014/main" id="{4678AE84-686A-4BAE-A653-546969E73231}"/>
                  </a:ext>
                </a:extLst>
              </p:cNvPr>
              <p:cNvGrpSpPr/>
              <p:nvPr/>
            </p:nvGrpSpPr>
            <p:grpSpPr>
              <a:xfrm>
                <a:off x="7954473" y="1986074"/>
                <a:ext cx="2890310" cy="448056"/>
                <a:chOff x="721729" y="1986074"/>
                <a:chExt cx="2890310" cy="448056"/>
              </a:xfrm>
            </p:grpSpPr>
            <p:sp>
              <p:nvSpPr>
                <p:cNvPr id="66" name="Text 10">
                  <a:extLst>
                    <a:ext uri="{FF2B5EF4-FFF2-40B4-BE49-F238E27FC236}">
                      <a16:creationId xmlns:a16="http://schemas.microsoft.com/office/drawing/2014/main" id="{2F3E720C-B899-4F92-BAA2-ED6FED174CCA}"/>
                    </a:ext>
                  </a:extLst>
                </p:cNvPr>
                <p:cNvSpPr txBox="1"/>
                <p:nvPr/>
              </p:nvSpPr>
              <p:spPr>
                <a:xfrm>
                  <a:off x="721729" y="1986074"/>
                  <a:ext cx="475488" cy="448056"/>
                </a:xfrm>
                <a:prstGeom prst="rect">
                  <a:avLst/>
                </a:prstGeom>
                <a:noFill/>
                <a:ln/>
              </p:spPr>
              <p:txBody>
                <a:bodyPr wrap="square" lIns="0" tIns="0" rIns="0" bIns="0" rtlCol="0" anchor="ctr">
                  <a:normAutofit/>
                </a:bodyPr>
                <a:lstStyle/>
                <a:p>
                  <a:pPr marL="0" indent="0" algn="ctr">
                    <a:buNone/>
                  </a:pPr>
                  <a:r>
                    <a:rPr lang="en-US" sz="1600" b="1" dirty="0">
                      <a:solidFill>
                        <a:srgbClr val="49A8FF"/>
                      </a:solidFill>
                      <a:latin typeface="페이퍼로지 4 Regular" pitchFamily="2" charset="-127"/>
                      <a:ea typeface="페이퍼로지 4 Regular" pitchFamily="2" charset="-127"/>
                      <a:cs typeface="NanumSquare Bold" pitchFamily="34" charset="-120"/>
                    </a:rPr>
                    <a:t>0</a:t>
                  </a:r>
                  <a:r>
                    <a:rPr lang="en-US" altLang="ko-KR" sz="1600" b="1" dirty="0">
                      <a:solidFill>
                        <a:srgbClr val="49A8FF"/>
                      </a:solidFill>
                      <a:latin typeface="페이퍼로지 4 Regular" pitchFamily="2" charset="-127"/>
                      <a:ea typeface="페이퍼로지 4 Regular" pitchFamily="2" charset="-127"/>
                      <a:cs typeface="NanumSquare Bold" pitchFamily="34" charset="-120"/>
                    </a:rPr>
                    <a:t>3</a:t>
                  </a:r>
                  <a:endParaRPr lang="en-US" sz="1600" dirty="0">
                    <a:solidFill>
                      <a:srgbClr val="49A8FF"/>
                    </a:solidFill>
                    <a:latin typeface="페이퍼로지 4 Regular" pitchFamily="2" charset="-127"/>
                    <a:ea typeface="페이퍼로지 4 Regular" pitchFamily="2" charset="-127"/>
                  </a:endParaRPr>
                </a:p>
              </p:txBody>
            </p:sp>
            <p:sp>
              <p:nvSpPr>
                <p:cNvPr id="67" name="Text 11">
                  <a:extLst>
                    <a:ext uri="{FF2B5EF4-FFF2-40B4-BE49-F238E27FC236}">
                      <a16:creationId xmlns:a16="http://schemas.microsoft.com/office/drawing/2014/main" id="{D1DF7AED-949A-4A37-B186-5B80E15BEB3D}"/>
                    </a:ext>
                  </a:extLst>
                </p:cNvPr>
                <p:cNvSpPr txBox="1"/>
                <p:nvPr/>
              </p:nvSpPr>
              <p:spPr>
                <a:xfrm>
                  <a:off x="1326756" y="2007046"/>
                  <a:ext cx="2285283" cy="384048"/>
                </a:xfrm>
                <a:prstGeom prst="rect">
                  <a:avLst/>
                </a:prstGeom>
                <a:noFill/>
                <a:ln/>
              </p:spPr>
              <p:txBody>
                <a:bodyPr wrap="square" lIns="0" tIns="0" rIns="0" bIns="0" rtlCol="0" anchor="ctr">
                  <a:normAutofit/>
                </a:bodyPr>
                <a:lstStyle/>
                <a:p>
                  <a:r>
                    <a:rPr lang="en-US" sz="1620" b="1" dirty="0" err="1">
                      <a:solidFill>
                        <a:srgbClr val="10213D"/>
                      </a:solidFill>
                      <a:latin typeface="페이퍼로지 7 Bold" pitchFamily="2" charset="-127"/>
                      <a:ea typeface="페이퍼로지 7 Bold" pitchFamily="2" charset="-127"/>
                      <a:cs typeface="NanumSquare Bold" pitchFamily="34" charset="-120"/>
                    </a:rPr>
                    <a:t>금융</a:t>
                  </a:r>
                  <a:r>
                    <a:rPr lang="en-US" altLang="ko-KR" sz="1620" b="1" dirty="0" err="1">
                      <a:solidFill>
                        <a:srgbClr val="10213D"/>
                      </a:solidFill>
                      <a:latin typeface="페이퍼로지 7 Bold" pitchFamily="2" charset="-127"/>
                      <a:ea typeface="페이퍼로지 7 Bold" pitchFamily="2" charset="-127"/>
                      <a:cs typeface="NanumSquare Bold" pitchFamily="34" charset="-120"/>
                    </a:rPr>
                    <a:t>통신사·보안업체</a:t>
                  </a:r>
                  <a:endParaRPr lang="en-US" altLang="ko-KR" sz="1620" dirty="0">
                    <a:latin typeface="페이퍼로지 7 Bold" pitchFamily="2" charset="-127"/>
                    <a:ea typeface="페이퍼로지 7 Bold" pitchFamily="2" charset="-127"/>
                  </a:endParaRPr>
                </a:p>
              </p:txBody>
            </p:sp>
          </p:grpSp>
        </p:grpSp>
        <p:grpSp>
          <p:nvGrpSpPr>
            <p:cNvPr id="97" name="Group 96">
              <a:extLst>
                <a:ext uri="{FF2B5EF4-FFF2-40B4-BE49-F238E27FC236}">
                  <a16:creationId xmlns:a16="http://schemas.microsoft.com/office/drawing/2014/main" id="{035F51FC-ACBE-4B66-A3AB-2CA6FF47C992}"/>
                </a:ext>
              </a:extLst>
            </p:cNvPr>
            <p:cNvGrpSpPr/>
            <p:nvPr/>
          </p:nvGrpSpPr>
          <p:grpSpPr>
            <a:xfrm>
              <a:off x="796565" y="2585446"/>
              <a:ext cx="2888053" cy="614349"/>
              <a:chOff x="796565" y="2491362"/>
              <a:chExt cx="2888053" cy="614349"/>
            </a:xfrm>
          </p:grpSpPr>
          <p:sp>
            <p:nvSpPr>
              <p:cNvPr id="14" name="Shape 12"/>
              <p:cNvSpPr/>
              <p:nvPr/>
            </p:nvSpPr>
            <p:spPr>
              <a:xfrm>
                <a:off x="796565" y="2601090"/>
                <a:ext cx="109728" cy="109728"/>
              </a:xfrm>
              <a:prstGeom prst="ellipse">
                <a:avLst/>
              </a:prstGeom>
              <a:solidFill>
                <a:srgbClr val="1F5EFF"/>
              </a:solidFill>
              <a:ln w="10160">
                <a:solidFill>
                  <a:srgbClr val="1F5EFF"/>
                </a:solidFill>
                <a:prstDash val="solid"/>
              </a:ln>
            </p:spPr>
          </p:sp>
          <p:sp>
            <p:nvSpPr>
              <p:cNvPr id="15" name="Text 13"/>
              <p:cNvSpPr txBox="1"/>
              <p:nvPr/>
            </p:nvSpPr>
            <p:spPr>
              <a:xfrm>
                <a:off x="997733" y="2491362"/>
                <a:ext cx="2286000" cy="310896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>
                <a:normAutofit/>
              </a:bodyPr>
              <a:lstStyle/>
              <a:p>
                <a:r>
                  <a:rPr lang="en-US" altLang="ko-KR" sz="1000" dirty="0">
                    <a:solidFill>
                      <a:srgbClr val="10213D"/>
                    </a:solidFill>
                    <a:latin typeface="페이퍼로지 7 Bold" pitchFamily="2" charset="-127"/>
                    <a:ea typeface="페이퍼로지 7 Bold" pitchFamily="2" charset="-127"/>
                    <a:cs typeface="NanumSquare" pitchFamily="34" charset="-120"/>
                  </a:rPr>
                  <a:t>ASAP </a:t>
                </a:r>
                <a:r>
                  <a:rPr lang="ko-KR" altLang="en-US" sz="1000" dirty="0">
                    <a:solidFill>
                      <a:srgbClr val="10213D"/>
                    </a:solidFill>
                    <a:latin typeface="페이퍼로지 7 Bold" pitchFamily="2" charset="-127"/>
                    <a:ea typeface="페이퍼로지 7 Bold" pitchFamily="2" charset="-127"/>
                    <a:cs typeface="NanumSquare" pitchFamily="34" charset="-120"/>
                  </a:rPr>
                  <a:t>플랫폼 </a:t>
                </a:r>
                <a:endParaRPr lang="en-US" altLang="ko-KR" sz="1000" dirty="0">
                  <a:latin typeface="페이퍼로지 7 Bold" pitchFamily="2" charset="-127"/>
                  <a:ea typeface="페이퍼로지 7 Bold" pitchFamily="2" charset="-127"/>
                </a:endParaRPr>
              </a:p>
            </p:txBody>
          </p:sp>
          <p:sp>
            <p:nvSpPr>
              <p:cNvPr id="95" name="TextBox 94">
                <a:extLst>
                  <a:ext uri="{FF2B5EF4-FFF2-40B4-BE49-F238E27FC236}">
                    <a16:creationId xmlns:a16="http://schemas.microsoft.com/office/drawing/2014/main" id="{303F7BDC-0128-43C0-AF3E-34FEEE94B193}"/>
                  </a:ext>
                </a:extLst>
              </p:cNvPr>
              <p:cNvSpPr txBox="1"/>
              <p:nvPr/>
            </p:nvSpPr>
            <p:spPr>
              <a:xfrm>
                <a:off x="906293" y="2736379"/>
                <a:ext cx="277832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o-KR" altLang="en-US" sz="900" dirty="0">
                    <a:solidFill>
                      <a:srgbClr val="10213D"/>
                    </a:solidFill>
                    <a:latin typeface="페이퍼로지 4 Regular" pitchFamily="2" charset="-127"/>
                    <a:ea typeface="페이퍼로지 4 Regular" pitchFamily="2" charset="-127"/>
                    <a:cs typeface="NanumSquare" pitchFamily="34" charset="-120"/>
                  </a:rPr>
                  <a:t>금융회사</a:t>
                </a:r>
                <a:r>
                  <a:rPr lang="en-US" altLang="ko-KR" sz="900" dirty="0">
                    <a:solidFill>
                      <a:srgbClr val="10213D"/>
                    </a:solidFill>
                    <a:latin typeface="페이퍼로지 4 Regular" pitchFamily="2" charset="-127"/>
                    <a:ea typeface="페이퍼로지 4 Regular" pitchFamily="2" charset="-127"/>
                    <a:cs typeface="NanumSquare" pitchFamily="34" charset="-120"/>
                  </a:rPr>
                  <a:t>, </a:t>
                </a:r>
                <a:r>
                  <a:rPr lang="ko-KR" altLang="en-US" sz="900" dirty="0">
                    <a:solidFill>
                      <a:srgbClr val="10213D"/>
                    </a:solidFill>
                    <a:latin typeface="페이퍼로지 4 Regular" pitchFamily="2" charset="-127"/>
                    <a:ea typeface="페이퍼로지 4 Regular" pitchFamily="2" charset="-127"/>
                    <a:cs typeface="NanumSquare" pitchFamily="34" charset="-120"/>
                  </a:rPr>
                  <a:t>통신사</a:t>
                </a:r>
                <a:r>
                  <a:rPr lang="en-US" altLang="ko-KR" sz="900" dirty="0">
                    <a:solidFill>
                      <a:srgbClr val="10213D"/>
                    </a:solidFill>
                    <a:latin typeface="페이퍼로지 4 Regular" pitchFamily="2" charset="-127"/>
                    <a:ea typeface="페이퍼로지 4 Regular" pitchFamily="2" charset="-127"/>
                    <a:cs typeface="NanumSquare" pitchFamily="34" charset="-120"/>
                  </a:rPr>
                  <a:t>,</a:t>
                </a:r>
                <a:r>
                  <a:rPr lang="ko-KR" altLang="en-US" sz="900" dirty="0">
                    <a:solidFill>
                      <a:srgbClr val="10213D"/>
                    </a:solidFill>
                    <a:latin typeface="페이퍼로지 4 Regular" pitchFamily="2" charset="-127"/>
                    <a:ea typeface="페이퍼로지 4 Regular" pitchFamily="2" charset="-127"/>
                    <a:cs typeface="NanumSquare" pitchFamily="34" charset="-120"/>
                  </a:rPr>
                  <a:t>수사기관이 보이스피싱과 관련된 외부</a:t>
                </a:r>
                <a:endParaRPr lang="en-US" altLang="ko-KR" sz="900" dirty="0">
                  <a:solidFill>
                    <a:srgbClr val="10213D"/>
                  </a:solidFill>
                  <a:latin typeface="페이퍼로지 4 Regular" pitchFamily="2" charset="-127"/>
                  <a:ea typeface="페이퍼로지 4 Regular" pitchFamily="2" charset="-127"/>
                  <a:cs typeface="NanumSquare" pitchFamily="34" charset="-120"/>
                </a:endParaRPr>
              </a:p>
              <a:p>
                <a:r>
                  <a:rPr lang="ko-KR" altLang="en-US" sz="900" dirty="0">
                    <a:solidFill>
                      <a:srgbClr val="10213D"/>
                    </a:solidFill>
                    <a:latin typeface="페이퍼로지 4 Regular" pitchFamily="2" charset="-127"/>
                    <a:ea typeface="페이퍼로지 4 Regular" pitchFamily="2" charset="-127"/>
                    <a:cs typeface="NanumSquare" pitchFamily="34" charset="-120"/>
                  </a:rPr>
                  <a:t>위험 정보를 실시간으로 공유하고 차단하는 </a:t>
                </a:r>
                <a:r>
                  <a:rPr lang="en-US" altLang="ko-KR" sz="900" dirty="0">
                    <a:solidFill>
                      <a:srgbClr val="FF4B16"/>
                    </a:solidFill>
                    <a:latin typeface="페이퍼로지 4 Regular" pitchFamily="2" charset="-127"/>
                    <a:ea typeface="페이퍼로지 4 Regular" pitchFamily="2" charset="-127"/>
                    <a:cs typeface="NanumSquare" pitchFamily="34" charset="-120"/>
                  </a:rPr>
                  <a:t>AI</a:t>
                </a:r>
                <a:r>
                  <a:rPr lang="ko-KR" altLang="en-US" sz="900" dirty="0">
                    <a:solidFill>
                      <a:srgbClr val="FF4B16"/>
                    </a:solidFill>
                    <a:latin typeface="페이퍼로지 4 Regular" pitchFamily="2" charset="-127"/>
                    <a:ea typeface="페이퍼로지 4 Regular" pitchFamily="2" charset="-127"/>
                    <a:cs typeface="NanumSquare" pitchFamily="34" charset="-120"/>
                  </a:rPr>
                  <a:t>기반 플랫폼</a:t>
                </a:r>
                <a:endParaRPr lang="ko-KR" altLang="en-US" sz="900" dirty="0">
                  <a:solidFill>
                    <a:srgbClr val="FF4B16"/>
                  </a:solidFill>
                  <a:latin typeface="페이퍼로지 4 Regular" pitchFamily="2" charset="-127"/>
                  <a:ea typeface="페이퍼로지 4 Regular" pitchFamily="2" charset="-127"/>
                </a:endParaRPr>
              </a:p>
            </p:txBody>
          </p:sp>
        </p:grpSp>
        <p:grpSp>
          <p:nvGrpSpPr>
            <p:cNvPr id="98" name="Group 97">
              <a:extLst>
                <a:ext uri="{FF2B5EF4-FFF2-40B4-BE49-F238E27FC236}">
                  <a16:creationId xmlns:a16="http://schemas.microsoft.com/office/drawing/2014/main" id="{20FD6DE2-A11F-468B-A7D3-0184BDCBF15F}"/>
                </a:ext>
              </a:extLst>
            </p:cNvPr>
            <p:cNvGrpSpPr/>
            <p:nvPr/>
          </p:nvGrpSpPr>
          <p:grpSpPr>
            <a:xfrm>
              <a:off x="796565" y="3212531"/>
              <a:ext cx="3047142" cy="752848"/>
              <a:chOff x="796565" y="2491362"/>
              <a:chExt cx="3047142" cy="752848"/>
            </a:xfrm>
          </p:grpSpPr>
          <p:sp>
            <p:nvSpPr>
              <p:cNvPr id="99" name="Shape 12">
                <a:extLst>
                  <a:ext uri="{FF2B5EF4-FFF2-40B4-BE49-F238E27FC236}">
                    <a16:creationId xmlns:a16="http://schemas.microsoft.com/office/drawing/2014/main" id="{EB72D09C-0131-4404-96B0-C5C1D23AD146}"/>
                  </a:ext>
                </a:extLst>
              </p:cNvPr>
              <p:cNvSpPr/>
              <p:nvPr/>
            </p:nvSpPr>
            <p:spPr>
              <a:xfrm>
                <a:off x="796565" y="2601090"/>
                <a:ext cx="109728" cy="109728"/>
              </a:xfrm>
              <a:prstGeom prst="ellipse">
                <a:avLst/>
              </a:prstGeom>
              <a:solidFill>
                <a:srgbClr val="1F5EFF"/>
              </a:solidFill>
              <a:ln w="10160">
                <a:solidFill>
                  <a:srgbClr val="1F5EFF"/>
                </a:solidFill>
                <a:prstDash val="solid"/>
              </a:ln>
            </p:spPr>
          </p:sp>
          <p:sp>
            <p:nvSpPr>
              <p:cNvPr id="100" name="Text 13">
                <a:extLst>
                  <a:ext uri="{FF2B5EF4-FFF2-40B4-BE49-F238E27FC236}">
                    <a16:creationId xmlns:a16="http://schemas.microsoft.com/office/drawing/2014/main" id="{2D5D472E-D64B-44B1-82B1-A1FB676BD43D}"/>
                  </a:ext>
                </a:extLst>
              </p:cNvPr>
              <p:cNvSpPr txBox="1"/>
              <p:nvPr/>
            </p:nvSpPr>
            <p:spPr>
              <a:xfrm>
                <a:off x="997733" y="2491362"/>
                <a:ext cx="2286000" cy="310896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>
                <a:normAutofit/>
              </a:bodyPr>
              <a:lstStyle/>
              <a:p>
                <a:r>
                  <a:rPr lang="en-US" altLang="ko-KR" sz="1000" dirty="0">
                    <a:solidFill>
                      <a:srgbClr val="10213D"/>
                    </a:solidFill>
                    <a:latin typeface="페이퍼로지 7 Bold" pitchFamily="2" charset="-127"/>
                    <a:ea typeface="페이퍼로지 7 Bold" pitchFamily="2" charset="-127"/>
                    <a:cs typeface="NanumSquare" pitchFamily="34" charset="-120"/>
                  </a:rPr>
                  <a:t>FDS </a:t>
                </a:r>
                <a:r>
                  <a:rPr lang="ko-KR" altLang="en-US" sz="1000" dirty="0">
                    <a:solidFill>
                      <a:srgbClr val="10213D"/>
                    </a:solidFill>
                    <a:latin typeface="페이퍼로지 7 Bold" pitchFamily="2" charset="-127"/>
                    <a:ea typeface="페이퍼로지 7 Bold" pitchFamily="2" charset="-127"/>
                    <a:cs typeface="NanumSquare" pitchFamily="34" charset="-120"/>
                  </a:rPr>
                  <a:t>이상거래 탐지</a:t>
                </a:r>
              </a:p>
            </p:txBody>
          </p:sp>
          <p:sp>
            <p:nvSpPr>
              <p:cNvPr id="101" name="TextBox 100">
                <a:extLst>
                  <a:ext uri="{FF2B5EF4-FFF2-40B4-BE49-F238E27FC236}">
                    <a16:creationId xmlns:a16="http://schemas.microsoft.com/office/drawing/2014/main" id="{211D9CDD-CB64-457D-8AF7-8D86970B0A84}"/>
                  </a:ext>
                </a:extLst>
              </p:cNvPr>
              <p:cNvSpPr txBox="1"/>
              <p:nvPr/>
            </p:nvSpPr>
            <p:spPr>
              <a:xfrm>
                <a:off x="906293" y="2736379"/>
                <a:ext cx="2937414" cy="5078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ko-KR" altLang="en-US" sz="900" dirty="0">
                    <a:solidFill>
                      <a:srgbClr val="10213D"/>
                    </a:solidFill>
                    <a:latin typeface="페이퍼로지 4 Regular" pitchFamily="2" charset="-127"/>
                    <a:ea typeface="페이퍼로지 4 Regular" pitchFamily="2" charset="-127"/>
                    <a:cs typeface="NanumSquare" pitchFamily="34" charset="-120"/>
                  </a:rPr>
                  <a:t>전자금융거래 시 단말기 정보</a:t>
                </a:r>
                <a:r>
                  <a:rPr lang="en-US" altLang="ko-KR" sz="900" dirty="0">
                    <a:solidFill>
                      <a:srgbClr val="10213D"/>
                    </a:solidFill>
                    <a:latin typeface="페이퍼로지 4 Regular" pitchFamily="2" charset="-127"/>
                    <a:ea typeface="페이퍼로지 4 Regular" pitchFamily="2" charset="-127"/>
                    <a:cs typeface="NanumSquare" pitchFamily="34" charset="-120"/>
                  </a:rPr>
                  <a:t>, </a:t>
                </a:r>
                <a:r>
                  <a:rPr lang="ko-KR" altLang="en-US" sz="900" dirty="0">
                    <a:solidFill>
                      <a:srgbClr val="10213D"/>
                    </a:solidFill>
                    <a:latin typeface="페이퍼로지 4 Regular" pitchFamily="2" charset="-127"/>
                    <a:ea typeface="페이퍼로지 4 Regular" pitchFamily="2" charset="-127"/>
                    <a:cs typeface="NanumSquare" pitchFamily="34" charset="-120"/>
                  </a:rPr>
                  <a:t>접속위치</a:t>
                </a:r>
                <a:r>
                  <a:rPr lang="en-US" altLang="ko-KR" sz="900" dirty="0">
                    <a:solidFill>
                      <a:srgbClr val="10213D"/>
                    </a:solidFill>
                    <a:latin typeface="페이퍼로지 4 Regular" pitchFamily="2" charset="-127"/>
                    <a:ea typeface="페이퍼로지 4 Regular" pitchFamily="2" charset="-127"/>
                    <a:cs typeface="NanumSquare" pitchFamily="34" charset="-120"/>
                  </a:rPr>
                  <a:t>, </a:t>
                </a:r>
                <a:r>
                  <a:rPr lang="ko-KR" altLang="en-US" sz="900" dirty="0">
                    <a:solidFill>
                      <a:srgbClr val="10213D"/>
                    </a:solidFill>
                    <a:latin typeface="페이퍼로지 4 Regular" pitchFamily="2" charset="-127"/>
                    <a:ea typeface="페이퍼로지 4 Regular" pitchFamily="2" charset="-127"/>
                    <a:cs typeface="NanumSquare" pitchFamily="34" charset="-120"/>
                  </a:rPr>
                  <a:t>평소 거래 패턴등을 실시간으로 분석하여 의심스러운 부정 거래를 탐치하고 차단하는 이상거래 탐지 시스템</a:t>
                </a:r>
                <a:endParaRPr lang="ko-KR" altLang="en-US" sz="900" dirty="0">
                  <a:latin typeface="페이퍼로지 4 Regular" pitchFamily="2" charset="-127"/>
                  <a:ea typeface="페이퍼로지 4 Regular" pitchFamily="2" charset="-127"/>
                </a:endParaRPr>
              </a:p>
            </p:txBody>
          </p:sp>
        </p:grpSp>
        <p:grpSp>
          <p:nvGrpSpPr>
            <p:cNvPr id="102" name="Group 101">
              <a:extLst>
                <a:ext uri="{FF2B5EF4-FFF2-40B4-BE49-F238E27FC236}">
                  <a16:creationId xmlns:a16="http://schemas.microsoft.com/office/drawing/2014/main" id="{7BBF2746-B58F-4409-86F5-702788857728}"/>
                </a:ext>
              </a:extLst>
            </p:cNvPr>
            <p:cNvGrpSpPr/>
            <p:nvPr/>
          </p:nvGrpSpPr>
          <p:grpSpPr>
            <a:xfrm>
              <a:off x="796565" y="3990937"/>
              <a:ext cx="2966904" cy="952903"/>
              <a:chOff x="796565" y="2491362"/>
              <a:chExt cx="2966904" cy="952903"/>
            </a:xfrm>
          </p:grpSpPr>
          <p:sp>
            <p:nvSpPr>
              <p:cNvPr id="103" name="Shape 12">
                <a:extLst>
                  <a:ext uri="{FF2B5EF4-FFF2-40B4-BE49-F238E27FC236}">
                    <a16:creationId xmlns:a16="http://schemas.microsoft.com/office/drawing/2014/main" id="{2AE99B93-85EF-4941-90DF-B14B33B660FF}"/>
                  </a:ext>
                </a:extLst>
              </p:cNvPr>
              <p:cNvSpPr/>
              <p:nvPr/>
            </p:nvSpPr>
            <p:spPr>
              <a:xfrm>
                <a:off x="796565" y="2601090"/>
                <a:ext cx="109728" cy="109728"/>
              </a:xfrm>
              <a:prstGeom prst="ellipse">
                <a:avLst/>
              </a:prstGeom>
              <a:solidFill>
                <a:srgbClr val="1F5EFF"/>
              </a:solidFill>
              <a:ln w="10160">
                <a:solidFill>
                  <a:srgbClr val="1F5EFF"/>
                </a:solidFill>
                <a:prstDash val="solid"/>
              </a:ln>
            </p:spPr>
          </p:sp>
          <p:sp>
            <p:nvSpPr>
              <p:cNvPr id="104" name="Text 13">
                <a:extLst>
                  <a:ext uri="{FF2B5EF4-FFF2-40B4-BE49-F238E27FC236}">
                    <a16:creationId xmlns:a16="http://schemas.microsoft.com/office/drawing/2014/main" id="{91F752C7-787F-40FB-A79F-7F58594334DD}"/>
                  </a:ext>
                </a:extLst>
              </p:cNvPr>
              <p:cNvSpPr txBox="1"/>
              <p:nvPr/>
            </p:nvSpPr>
            <p:spPr>
              <a:xfrm>
                <a:off x="997732" y="2491362"/>
                <a:ext cx="2686885" cy="310896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>
                <a:normAutofit/>
              </a:bodyPr>
              <a:lstStyle/>
              <a:p>
                <a:r>
                  <a:rPr lang="ko-KR" altLang="en-US" sz="1000" dirty="0">
                    <a:solidFill>
                      <a:srgbClr val="10213D"/>
                    </a:solidFill>
                    <a:latin typeface="페이퍼로지 7 Bold" pitchFamily="2" charset="-127"/>
                    <a:ea typeface="페이퍼로지 7 Bold" pitchFamily="2" charset="-127"/>
                    <a:cs typeface="NanumSquare" pitchFamily="34" charset="-120"/>
                  </a:rPr>
                  <a:t>지연이체</a:t>
                </a:r>
                <a:r>
                  <a:rPr lang="en-US" altLang="ko-KR" sz="1000" dirty="0">
                    <a:solidFill>
                      <a:srgbClr val="10213D"/>
                    </a:solidFill>
                    <a:latin typeface="페이퍼로지 7 Bold" pitchFamily="2" charset="-127"/>
                    <a:ea typeface="페이퍼로지 7 Bold" pitchFamily="2" charset="-127"/>
                    <a:cs typeface="NanumSquare" pitchFamily="34" charset="-120"/>
                  </a:rPr>
                  <a:t>·</a:t>
                </a:r>
                <a:r>
                  <a:rPr lang="ko-KR" altLang="en-US" sz="1000" dirty="0">
                    <a:solidFill>
                      <a:srgbClr val="10213D"/>
                    </a:solidFill>
                    <a:latin typeface="페이퍼로지 7 Bold" pitchFamily="2" charset="-127"/>
                    <a:ea typeface="페이퍼로지 7 Bold" pitchFamily="2" charset="-127"/>
                    <a:cs typeface="NanumSquare" pitchFamily="34" charset="-120"/>
                  </a:rPr>
                  <a:t>지급정지</a:t>
                </a:r>
                <a:r>
                  <a:rPr lang="en-US" altLang="ko-KR" sz="1000" dirty="0">
                    <a:solidFill>
                      <a:srgbClr val="10213D"/>
                    </a:solidFill>
                    <a:latin typeface="페이퍼로지 7 Bold" pitchFamily="2" charset="-127"/>
                    <a:ea typeface="페이퍼로지 7 Bold" pitchFamily="2" charset="-127"/>
                    <a:cs typeface="NanumSquare" pitchFamily="34" charset="-120"/>
                  </a:rPr>
                  <a:t>·</a:t>
                </a:r>
                <a:r>
                  <a:rPr lang="ko-KR" altLang="en-US" sz="1000" dirty="0">
                    <a:solidFill>
                      <a:srgbClr val="10213D"/>
                    </a:solidFill>
                    <a:latin typeface="페이퍼로지 7 Bold" pitchFamily="2" charset="-127"/>
                    <a:ea typeface="페이퍼로지 7 Bold" pitchFamily="2" charset="-127"/>
                    <a:cs typeface="NanumSquare" pitchFamily="34" charset="-120"/>
                  </a:rPr>
                  <a:t>전자금융사기 예방서비스 </a:t>
                </a:r>
              </a:p>
            </p:txBody>
          </p:sp>
          <p:sp>
            <p:nvSpPr>
              <p:cNvPr id="105" name="TextBox 104">
                <a:extLst>
                  <a:ext uri="{FF2B5EF4-FFF2-40B4-BE49-F238E27FC236}">
                    <a16:creationId xmlns:a16="http://schemas.microsoft.com/office/drawing/2014/main" id="{D89F6C0A-CE7D-4377-99D3-E82568841B16}"/>
                  </a:ext>
                </a:extLst>
              </p:cNvPr>
              <p:cNvSpPr txBox="1"/>
              <p:nvPr/>
            </p:nvSpPr>
            <p:spPr>
              <a:xfrm>
                <a:off x="938662" y="2736379"/>
                <a:ext cx="2824807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ko-KR" altLang="en-US" sz="800" dirty="0">
                    <a:solidFill>
                      <a:srgbClr val="10213D"/>
                    </a:solidFill>
                    <a:latin typeface="페이퍼로지 4 Regular" pitchFamily="2" charset="-127"/>
                    <a:ea typeface="페이퍼로지 4 Regular" pitchFamily="2" charset="-127"/>
                    <a:cs typeface="NanumSquare" pitchFamily="34" charset="-120"/>
                  </a:rPr>
                  <a:t>지연이체 이체 시 수취인 계좌에 일정시간</a:t>
                </a:r>
                <a:r>
                  <a:rPr lang="en-US" altLang="ko-KR" sz="800" dirty="0">
                    <a:solidFill>
                      <a:srgbClr val="10213D"/>
                    </a:solidFill>
                    <a:latin typeface="페이퍼로지 4 Regular" pitchFamily="2" charset="-127"/>
                    <a:ea typeface="페이퍼로지 4 Regular" pitchFamily="2" charset="-127"/>
                    <a:cs typeface="NanumSquare" pitchFamily="34" charset="-120"/>
                  </a:rPr>
                  <a:t>(</a:t>
                </a:r>
                <a:r>
                  <a:rPr lang="ko-KR" altLang="en-US" sz="800" dirty="0">
                    <a:solidFill>
                      <a:srgbClr val="10213D"/>
                    </a:solidFill>
                    <a:latin typeface="페이퍼로지 4 Regular" pitchFamily="2" charset="-127"/>
                    <a:ea typeface="페이퍼로지 4 Regular" pitchFamily="2" charset="-127"/>
                    <a:cs typeface="NanumSquare" pitchFamily="34" charset="-120"/>
                  </a:rPr>
                  <a:t>최소 </a:t>
                </a:r>
                <a:r>
                  <a:rPr lang="en-US" altLang="ko-KR" sz="800" dirty="0">
                    <a:solidFill>
                      <a:srgbClr val="10213D"/>
                    </a:solidFill>
                    <a:latin typeface="페이퍼로지 4 Regular" pitchFamily="2" charset="-127"/>
                    <a:ea typeface="페이퍼로지 4 Regular" pitchFamily="2" charset="-127"/>
                    <a:cs typeface="NanumSquare" pitchFamily="34" charset="-120"/>
                  </a:rPr>
                  <a:t>3</a:t>
                </a:r>
                <a:r>
                  <a:rPr lang="ko-KR" altLang="en-US" sz="800" dirty="0">
                    <a:solidFill>
                      <a:srgbClr val="10213D"/>
                    </a:solidFill>
                    <a:latin typeface="페이퍼로지 4 Regular" pitchFamily="2" charset="-127"/>
                    <a:ea typeface="페이퍼로지 4 Regular" pitchFamily="2" charset="-127"/>
                    <a:cs typeface="NanumSquare" pitchFamily="34" charset="-120"/>
                  </a:rPr>
                  <a:t>시간</a:t>
                </a:r>
                <a:r>
                  <a:rPr lang="en-US" altLang="ko-KR" sz="800" dirty="0">
                    <a:solidFill>
                      <a:srgbClr val="10213D"/>
                    </a:solidFill>
                    <a:latin typeface="페이퍼로지 4 Regular" pitchFamily="2" charset="-127"/>
                    <a:ea typeface="페이퍼로지 4 Regular" pitchFamily="2" charset="-127"/>
                    <a:cs typeface="NanumSquare" pitchFamily="34" charset="-120"/>
                  </a:rPr>
                  <a:t>)</a:t>
                </a:r>
                <a:r>
                  <a:rPr lang="ko-KR" altLang="en-US" sz="800" dirty="0">
                    <a:solidFill>
                      <a:srgbClr val="10213D"/>
                    </a:solidFill>
                    <a:latin typeface="페이퍼로지 4 Regular" pitchFamily="2" charset="-127"/>
                    <a:ea typeface="페이퍼로지 4 Regular" pitchFamily="2" charset="-127"/>
                    <a:cs typeface="NanumSquare" pitchFamily="34" charset="-120"/>
                  </a:rPr>
                  <a:t>경과 후 입금되도록 하는 서비스</a:t>
                </a: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ko-KR" altLang="en-US" sz="800" dirty="0">
                    <a:solidFill>
                      <a:srgbClr val="10213D"/>
                    </a:solidFill>
                    <a:latin typeface="페이퍼로지 4 Regular" pitchFamily="2" charset="-127"/>
                    <a:ea typeface="페이퍼로지 4 Regular" pitchFamily="2" charset="-127"/>
                    <a:cs typeface="NanumSquare" pitchFamily="34" charset="-120"/>
                  </a:rPr>
                  <a:t>지급정지 전기통신금융사기 피해금이 들어간 계좌를 신혹시</a:t>
                </a:r>
                <a:br>
                  <a:rPr lang="en-US" altLang="ko-KR" sz="800" dirty="0">
                    <a:solidFill>
                      <a:srgbClr val="10213D"/>
                    </a:solidFill>
                    <a:latin typeface="페이퍼로지 4 Regular" pitchFamily="2" charset="-127"/>
                    <a:ea typeface="페이퍼로지 4 Regular" pitchFamily="2" charset="-127"/>
                    <a:cs typeface="NanumSquare" pitchFamily="34" charset="-120"/>
                  </a:rPr>
                </a:br>
                <a:r>
                  <a:rPr lang="ko-KR" altLang="en-US" sz="800" dirty="0">
                    <a:solidFill>
                      <a:srgbClr val="10213D"/>
                    </a:solidFill>
                    <a:latin typeface="페이퍼로지 4 Regular" pitchFamily="2" charset="-127"/>
                    <a:ea typeface="페이퍼로지 4 Regular" pitchFamily="2" charset="-127"/>
                    <a:cs typeface="NanumSquare" pitchFamily="34" charset="-120"/>
                  </a:rPr>
                  <a:t>묶어 추가 인출을 막는 절차</a:t>
                </a:r>
                <a:endParaRPr lang="en-US" altLang="ko-KR" sz="800" dirty="0">
                  <a:solidFill>
                    <a:srgbClr val="10213D"/>
                  </a:solidFill>
                  <a:latin typeface="페이퍼로지 4 Regular" pitchFamily="2" charset="-127"/>
                  <a:ea typeface="페이퍼로지 4 Regular" pitchFamily="2" charset="-127"/>
                  <a:cs typeface="NanumSquare" pitchFamily="34" charset="-120"/>
                </a:endParaRP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ko-KR" altLang="en-US" sz="800" dirty="0">
                    <a:latin typeface="페이퍼로지 4 Regular" pitchFamily="2" charset="-127"/>
                    <a:ea typeface="페이퍼로지 4 Regular" pitchFamily="2" charset="-127"/>
                  </a:rPr>
                  <a:t>금융자산을 보호하기 위해 본인확인 절차를 강화하는 서비스</a:t>
                </a:r>
              </a:p>
            </p:txBody>
          </p:sp>
        </p:grpSp>
        <p:grpSp>
          <p:nvGrpSpPr>
            <p:cNvPr id="111" name="Group 110">
              <a:extLst>
                <a:ext uri="{FF2B5EF4-FFF2-40B4-BE49-F238E27FC236}">
                  <a16:creationId xmlns:a16="http://schemas.microsoft.com/office/drawing/2014/main" id="{4E2107FB-F873-4983-BE64-7F11CCE295C3}"/>
                </a:ext>
              </a:extLst>
            </p:cNvPr>
            <p:cNvGrpSpPr/>
            <p:nvPr/>
          </p:nvGrpSpPr>
          <p:grpSpPr>
            <a:xfrm>
              <a:off x="4384972" y="2585446"/>
              <a:ext cx="2766786" cy="614349"/>
              <a:chOff x="4384972" y="2585446"/>
              <a:chExt cx="2766786" cy="614349"/>
            </a:xfrm>
          </p:grpSpPr>
          <p:sp>
            <p:nvSpPr>
              <p:cNvPr id="26" name="Shape 24"/>
              <p:cNvSpPr/>
              <p:nvPr/>
            </p:nvSpPr>
            <p:spPr>
              <a:xfrm>
                <a:off x="4384972" y="2695174"/>
                <a:ext cx="109728" cy="109728"/>
              </a:xfrm>
              <a:prstGeom prst="ellipse">
                <a:avLst/>
              </a:prstGeom>
              <a:solidFill>
                <a:srgbClr val="2F7CF6"/>
              </a:solidFill>
              <a:ln w="10160">
                <a:solidFill>
                  <a:srgbClr val="2F7CF6"/>
                </a:solidFill>
                <a:prstDash val="solid"/>
              </a:ln>
            </p:spPr>
          </p:sp>
          <p:grpSp>
            <p:nvGrpSpPr>
              <p:cNvPr id="107" name="Group 106">
                <a:extLst>
                  <a:ext uri="{FF2B5EF4-FFF2-40B4-BE49-F238E27FC236}">
                    <a16:creationId xmlns:a16="http://schemas.microsoft.com/office/drawing/2014/main" id="{CE3EB3BF-9ECC-4A3B-9952-516B4C2FC656}"/>
                  </a:ext>
                </a:extLst>
              </p:cNvPr>
              <p:cNvGrpSpPr/>
              <p:nvPr/>
            </p:nvGrpSpPr>
            <p:grpSpPr>
              <a:xfrm>
                <a:off x="4490452" y="2585446"/>
                <a:ext cx="2661306" cy="614349"/>
                <a:chOff x="906293" y="2491362"/>
                <a:chExt cx="2661306" cy="614349"/>
              </a:xfrm>
            </p:grpSpPr>
            <p:sp>
              <p:nvSpPr>
                <p:cNvPr id="109" name="Text 13">
                  <a:extLst>
                    <a:ext uri="{FF2B5EF4-FFF2-40B4-BE49-F238E27FC236}">
                      <a16:creationId xmlns:a16="http://schemas.microsoft.com/office/drawing/2014/main" id="{C18901BD-E1CC-4FFE-894F-775B066395DD}"/>
                    </a:ext>
                  </a:extLst>
                </p:cNvPr>
                <p:cNvSpPr txBox="1"/>
                <p:nvPr/>
              </p:nvSpPr>
              <p:spPr>
                <a:xfrm>
                  <a:off x="997733" y="2491362"/>
                  <a:ext cx="2286000" cy="310896"/>
                </a:xfrm>
                <a:prstGeom prst="rect">
                  <a:avLst/>
                </a:prstGeom>
                <a:noFill/>
                <a:ln/>
              </p:spPr>
              <p:txBody>
                <a:bodyPr wrap="square" lIns="0" tIns="0" rIns="0" bIns="0" rtlCol="0" anchor="ctr">
                  <a:normAutofit/>
                </a:bodyPr>
                <a:lstStyle/>
                <a:p>
                  <a:r>
                    <a:rPr lang="ko-KR" altLang="en-US" sz="1000" dirty="0">
                      <a:solidFill>
                        <a:srgbClr val="10213D"/>
                      </a:solidFill>
                      <a:latin typeface="페이퍼로지 7 Bold" pitchFamily="2" charset="-127"/>
                      <a:ea typeface="페이퍼로지 7 Bold" pitchFamily="2" charset="-127"/>
                      <a:cs typeface="NanumSquare" pitchFamily="34" charset="-120"/>
                    </a:rPr>
                    <a:t>신고</a:t>
                  </a:r>
                  <a:r>
                    <a:rPr lang="en-US" altLang="ko-KR" sz="1000" dirty="0">
                      <a:solidFill>
                        <a:srgbClr val="10213D"/>
                      </a:solidFill>
                      <a:latin typeface="페이퍼로지 7 Bold" pitchFamily="2" charset="-127"/>
                      <a:ea typeface="페이퍼로지 7 Bold" pitchFamily="2" charset="-127"/>
                      <a:cs typeface="NanumSquare" pitchFamily="34" charset="-120"/>
                    </a:rPr>
                    <a:t>·</a:t>
                  </a:r>
                  <a:r>
                    <a:rPr lang="ko-KR" altLang="en-US" sz="1000" dirty="0">
                      <a:solidFill>
                        <a:srgbClr val="10213D"/>
                      </a:solidFill>
                      <a:latin typeface="페이퍼로지 7 Bold" pitchFamily="2" charset="-127"/>
                      <a:ea typeface="페이퍼로지 7 Bold" pitchFamily="2" charset="-127"/>
                      <a:cs typeface="NanumSquare" pitchFamily="34" charset="-120"/>
                    </a:rPr>
                    <a:t>피해구제 제도 및 체계 개선</a:t>
                  </a:r>
                  <a:endParaRPr lang="en-US" altLang="ko-KR" sz="1000" dirty="0">
                    <a:latin typeface="페이퍼로지 7 Bold" pitchFamily="2" charset="-127"/>
                    <a:ea typeface="페이퍼로지 7 Bold" pitchFamily="2" charset="-127"/>
                  </a:endParaRPr>
                </a:p>
              </p:txBody>
            </p:sp>
            <p:sp>
              <p:nvSpPr>
                <p:cNvPr id="110" name="TextBox 109">
                  <a:extLst>
                    <a:ext uri="{FF2B5EF4-FFF2-40B4-BE49-F238E27FC236}">
                      <a16:creationId xmlns:a16="http://schemas.microsoft.com/office/drawing/2014/main" id="{5D1A5D58-7F3B-45EF-917A-954C9192C90B}"/>
                    </a:ext>
                  </a:extLst>
                </p:cNvPr>
                <p:cNvSpPr txBox="1"/>
                <p:nvPr/>
              </p:nvSpPr>
              <p:spPr>
                <a:xfrm>
                  <a:off x="906293" y="2736379"/>
                  <a:ext cx="2661306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ko-KR" altLang="en-US" sz="900" dirty="0">
                      <a:latin typeface="페이퍼로지 4 Regular" pitchFamily="2" charset="-127"/>
                      <a:ea typeface="페이퍼로지 4 Regular" pitchFamily="2" charset="-127"/>
                      <a:cs typeface="NanumSquare" pitchFamily="34" charset="-120"/>
                    </a:rPr>
                    <a:t>원스톱 신고</a:t>
                  </a:r>
                  <a:r>
                    <a:rPr lang="en-US" altLang="ko-KR" sz="900" dirty="0">
                      <a:latin typeface="페이퍼로지 4 Regular" pitchFamily="2" charset="-127"/>
                      <a:ea typeface="페이퍼로지 4 Regular" pitchFamily="2" charset="-127"/>
                      <a:cs typeface="NanumSquare" pitchFamily="34" charset="-120"/>
                    </a:rPr>
                    <a:t>, </a:t>
                  </a:r>
                  <a:r>
                    <a:rPr lang="ko-KR" altLang="en-US" sz="900" dirty="0">
                      <a:latin typeface="페이퍼로지 4 Regular" pitchFamily="2" charset="-127"/>
                      <a:ea typeface="페이퍼로지 4 Regular" pitchFamily="2" charset="-127"/>
                      <a:cs typeface="NanumSquare" pitchFamily="34" charset="-120"/>
                    </a:rPr>
                    <a:t>단계별 피해 구제 절차 등</a:t>
                  </a:r>
                  <a:endParaRPr lang="en-US" altLang="ko-KR" sz="900" dirty="0">
                    <a:latin typeface="페이퍼로지 4 Regular" pitchFamily="2" charset="-127"/>
                    <a:ea typeface="페이퍼로지 4 Regular" pitchFamily="2" charset="-127"/>
                    <a:cs typeface="NanumSquare" pitchFamily="34" charset="-120"/>
                  </a:endParaRPr>
                </a:p>
                <a:p>
                  <a:r>
                    <a:rPr lang="ko-KR" altLang="en-US" sz="900" dirty="0">
                      <a:latin typeface="페이퍼로지 4 Regular" pitchFamily="2" charset="-127"/>
                      <a:ea typeface="페이퍼로지 4 Regular" pitchFamily="2" charset="-127"/>
                    </a:rPr>
                    <a:t>보이스피싱 피해구제 제도와 계좌 지급정지 접근성 강화</a:t>
                  </a:r>
                </a:p>
              </p:txBody>
            </p:sp>
          </p:grpSp>
        </p:grpSp>
        <p:grpSp>
          <p:nvGrpSpPr>
            <p:cNvPr id="112" name="Group 111">
              <a:extLst>
                <a:ext uri="{FF2B5EF4-FFF2-40B4-BE49-F238E27FC236}">
                  <a16:creationId xmlns:a16="http://schemas.microsoft.com/office/drawing/2014/main" id="{1FA11A45-E01D-4438-A224-C9D990430FBE}"/>
                </a:ext>
              </a:extLst>
            </p:cNvPr>
            <p:cNvGrpSpPr/>
            <p:nvPr/>
          </p:nvGrpSpPr>
          <p:grpSpPr>
            <a:xfrm>
              <a:off x="4384972" y="3212531"/>
              <a:ext cx="2543968" cy="614349"/>
              <a:chOff x="4384972" y="2585446"/>
              <a:chExt cx="2543968" cy="614349"/>
            </a:xfrm>
          </p:grpSpPr>
          <p:sp>
            <p:nvSpPr>
              <p:cNvPr id="113" name="Shape 24">
                <a:extLst>
                  <a:ext uri="{FF2B5EF4-FFF2-40B4-BE49-F238E27FC236}">
                    <a16:creationId xmlns:a16="http://schemas.microsoft.com/office/drawing/2014/main" id="{78311CB7-38E7-41C6-86B5-0BEB525459FB}"/>
                  </a:ext>
                </a:extLst>
              </p:cNvPr>
              <p:cNvSpPr/>
              <p:nvPr/>
            </p:nvSpPr>
            <p:spPr>
              <a:xfrm>
                <a:off x="4384972" y="2695174"/>
                <a:ext cx="109728" cy="109728"/>
              </a:xfrm>
              <a:prstGeom prst="ellipse">
                <a:avLst/>
              </a:prstGeom>
              <a:solidFill>
                <a:srgbClr val="2F7CF6"/>
              </a:solidFill>
              <a:ln w="10160">
                <a:solidFill>
                  <a:srgbClr val="2F7CF6"/>
                </a:solidFill>
                <a:prstDash val="solid"/>
              </a:ln>
            </p:spPr>
          </p:sp>
          <p:grpSp>
            <p:nvGrpSpPr>
              <p:cNvPr id="114" name="Group 113">
                <a:extLst>
                  <a:ext uri="{FF2B5EF4-FFF2-40B4-BE49-F238E27FC236}">
                    <a16:creationId xmlns:a16="http://schemas.microsoft.com/office/drawing/2014/main" id="{653BE3CF-3381-4032-BE64-B1AD59E3A731}"/>
                  </a:ext>
                </a:extLst>
              </p:cNvPr>
              <p:cNvGrpSpPr/>
              <p:nvPr/>
            </p:nvGrpSpPr>
            <p:grpSpPr>
              <a:xfrm>
                <a:off x="4490452" y="2585446"/>
                <a:ext cx="2438488" cy="614349"/>
                <a:chOff x="906293" y="2491362"/>
                <a:chExt cx="2438488" cy="614349"/>
              </a:xfrm>
            </p:grpSpPr>
            <p:sp>
              <p:nvSpPr>
                <p:cNvPr id="115" name="Text 13">
                  <a:extLst>
                    <a:ext uri="{FF2B5EF4-FFF2-40B4-BE49-F238E27FC236}">
                      <a16:creationId xmlns:a16="http://schemas.microsoft.com/office/drawing/2014/main" id="{C619FD46-F5E9-4160-8AC1-3828DE5A7294}"/>
                    </a:ext>
                  </a:extLst>
                </p:cNvPr>
                <p:cNvSpPr txBox="1"/>
                <p:nvPr/>
              </p:nvSpPr>
              <p:spPr>
                <a:xfrm>
                  <a:off x="997733" y="2491362"/>
                  <a:ext cx="2286000" cy="310896"/>
                </a:xfrm>
                <a:prstGeom prst="rect">
                  <a:avLst/>
                </a:prstGeom>
                <a:noFill/>
                <a:ln/>
              </p:spPr>
              <p:txBody>
                <a:bodyPr wrap="square" lIns="0" tIns="0" rIns="0" bIns="0" rtlCol="0" anchor="ctr">
                  <a:normAutofit/>
                </a:bodyPr>
                <a:lstStyle/>
                <a:p>
                  <a:r>
                    <a:rPr lang="ko-KR" altLang="en-US" sz="1000" dirty="0">
                      <a:solidFill>
                        <a:srgbClr val="10213D"/>
                      </a:solidFill>
                      <a:latin typeface="페이퍼로지 7 Bold" pitchFamily="2" charset="-127"/>
                      <a:ea typeface="페이퍼로지 7 Bold" pitchFamily="2" charset="-127"/>
                      <a:cs typeface="NanumSquare" pitchFamily="34" charset="-120"/>
                    </a:rPr>
                    <a:t>예방교육 </a:t>
                  </a:r>
                  <a:r>
                    <a:rPr lang="en-US" altLang="ko-KR" sz="1000">
                      <a:solidFill>
                        <a:srgbClr val="10213D"/>
                      </a:solidFill>
                      <a:latin typeface="페이퍼로지 7 Bold" pitchFamily="2" charset="-127"/>
                      <a:ea typeface="페이퍼로지 7 Bold" pitchFamily="2" charset="-127"/>
                      <a:cs typeface="NanumSquare" pitchFamily="34" charset="-120"/>
                    </a:rPr>
                    <a:t>· </a:t>
                  </a:r>
                  <a:r>
                    <a:rPr lang="ko-KR" altLang="en-US" sz="1000">
                      <a:solidFill>
                        <a:srgbClr val="10213D"/>
                      </a:solidFill>
                      <a:latin typeface="페이퍼로지 7 Bold" pitchFamily="2" charset="-127"/>
                      <a:ea typeface="페이퍼로지 7 Bold" pitchFamily="2" charset="-127"/>
                      <a:cs typeface="NanumSquare" pitchFamily="34" charset="-120"/>
                    </a:rPr>
                    <a:t>홍보</a:t>
                  </a:r>
                  <a:endParaRPr lang="ko-KR" altLang="en-US" sz="1000" dirty="0">
                    <a:solidFill>
                      <a:srgbClr val="10213D"/>
                    </a:solidFill>
                    <a:latin typeface="페이퍼로지 7 Bold" pitchFamily="2" charset="-127"/>
                    <a:ea typeface="페이퍼로지 7 Bold" pitchFamily="2" charset="-127"/>
                    <a:cs typeface="NanumSquare" pitchFamily="34" charset="-120"/>
                  </a:endParaRPr>
                </a:p>
              </p:txBody>
            </p:sp>
            <p:sp>
              <p:nvSpPr>
                <p:cNvPr id="116" name="TextBox 115">
                  <a:extLst>
                    <a:ext uri="{FF2B5EF4-FFF2-40B4-BE49-F238E27FC236}">
                      <a16:creationId xmlns:a16="http://schemas.microsoft.com/office/drawing/2014/main" id="{FB13986B-82BF-46A0-BC9D-2E44EE978B10}"/>
                    </a:ext>
                  </a:extLst>
                </p:cNvPr>
                <p:cNvSpPr txBox="1"/>
                <p:nvPr/>
              </p:nvSpPr>
              <p:spPr>
                <a:xfrm>
                  <a:off x="906293" y="2736379"/>
                  <a:ext cx="2438488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ko-KR" altLang="en-US" sz="900" dirty="0">
                      <a:solidFill>
                        <a:srgbClr val="10213D"/>
                      </a:solidFill>
                      <a:latin typeface="페이퍼로지 4 Regular" pitchFamily="2" charset="-127"/>
                      <a:ea typeface="페이퍼로지 4 Regular" pitchFamily="2" charset="-127"/>
                      <a:cs typeface="NanumSquare" pitchFamily="34" charset="-120"/>
                    </a:rPr>
                    <a:t>범정부 대응 및 콘텐츠 배포</a:t>
                  </a:r>
                  <a:r>
                    <a:rPr lang="en-US" altLang="ko-KR" sz="900" dirty="0">
                      <a:solidFill>
                        <a:srgbClr val="10213D"/>
                      </a:solidFill>
                      <a:latin typeface="페이퍼로지 4 Regular" pitchFamily="2" charset="-127"/>
                      <a:ea typeface="페이퍼로지 4 Regular" pitchFamily="2" charset="-127"/>
                      <a:cs typeface="NanumSquare" pitchFamily="34" charset="-120"/>
                    </a:rPr>
                    <a:t>, </a:t>
                  </a:r>
                  <a:r>
                    <a:rPr lang="ko-KR" altLang="en-US" sz="900" dirty="0">
                      <a:solidFill>
                        <a:srgbClr val="10213D"/>
                      </a:solidFill>
                      <a:latin typeface="페이퍼로지 4 Regular" pitchFamily="2" charset="-127"/>
                      <a:ea typeface="페이퍼로지 4 Regular" pitchFamily="2" charset="-127"/>
                      <a:cs typeface="NanumSquare" pitchFamily="34" charset="-120"/>
                    </a:rPr>
                    <a:t>생활 밀착형 현장홍보</a:t>
                  </a:r>
                  <a:r>
                    <a:rPr lang="en-US" altLang="ko-KR" sz="900" dirty="0">
                      <a:solidFill>
                        <a:srgbClr val="10213D"/>
                      </a:solidFill>
                      <a:latin typeface="페이퍼로지 4 Regular" pitchFamily="2" charset="-127"/>
                      <a:ea typeface="페이퍼로지 4 Regular" pitchFamily="2" charset="-127"/>
                      <a:cs typeface="NanumSquare" pitchFamily="34" charset="-120"/>
                    </a:rPr>
                    <a:t>,</a:t>
                  </a:r>
                </a:p>
                <a:p>
                  <a:r>
                    <a:rPr lang="ko-KR" altLang="en-US" sz="900" dirty="0">
                      <a:solidFill>
                        <a:srgbClr val="10213D"/>
                      </a:solidFill>
                      <a:latin typeface="페이퍼로지 4 Regular" pitchFamily="2" charset="-127"/>
                      <a:ea typeface="페이퍼로지 4 Regular" pitchFamily="2" charset="-127"/>
                      <a:cs typeface="NanumSquare" pitchFamily="34" charset="-120"/>
                    </a:rPr>
                    <a:t>찾아가는 현장교육</a:t>
                  </a:r>
                  <a:endParaRPr lang="ko-KR" altLang="en-US" sz="900" dirty="0">
                    <a:latin typeface="페이퍼로지 4 Regular" pitchFamily="2" charset="-127"/>
                    <a:ea typeface="페이퍼로지 4 Regular" pitchFamily="2" charset="-127"/>
                  </a:endParaRPr>
                </a:p>
              </p:txBody>
            </p:sp>
          </p:grpSp>
        </p:grpSp>
        <p:grpSp>
          <p:nvGrpSpPr>
            <p:cNvPr id="118" name="Group 117">
              <a:extLst>
                <a:ext uri="{FF2B5EF4-FFF2-40B4-BE49-F238E27FC236}">
                  <a16:creationId xmlns:a16="http://schemas.microsoft.com/office/drawing/2014/main" id="{B38A1977-7C20-4B32-9C0E-CD5436D48C75}"/>
                </a:ext>
              </a:extLst>
            </p:cNvPr>
            <p:cNvGrpSpPr/>
            <p:nvPr/>
          </p:nvGrpSpPr>
          <p:grpSpPr>
            <a:xfrm>
              <a:off x="4384972" y="3882182"/>
              <a:ext cx="3093799" cy="614349"/>
              <a:chOff x="4384972" y="2585446"/>
              <a:chExt cx="3093799" cy="614349"/>
            </a:xfrm>
          </p:grpSpPr>
          <p:sp>
            <p:nvSpPr>
              <p:cNvPr id="119" name="Shape 24">
                <a:extLst>
                  <a:ext uri="{FF2B5EF4-FFF2-40B4-BE49-F238E27FC236}">
                    <a16:creationId xmlns:a16="http://schemas.microsoft.com/office/drawing/2014/main" id="{4541929F-BB7D-4D3A-BF63-55E2FCC62316}"/>
                  </a:ext>
                </a:extLst>
              </p:cNvPr>
              <p:cNvSpPr/>
              <p:nvPr/>
            </p:nvSpPr>
            <p:spPr>
              <a:xfrm>
                <a:off x="4384972" y="2695174"/>
                <a:ext cx="109728" cy="109728"/>
              </a:xfrm>
              <a:prstGeom prst="ellipse">
                <a:avLst/>
              </a:prstGeom>
              <a:solidFill>
                <a:srgbClr val="2F7CF6"/>
              </a:solidFill>
              <a:ln w="10160">
                <a:solidFill>
                  <a:srgbClr val="2F7CF6"/>
                </a:solidFill>
                <a:prstDash val="solid"/>
              </a:ln>
            </p:spPr>
          </p:sp>
          <p:grpSp>
            <p:nvGrpSpPr>
              <p:cNvPr id="120" name="Group 119">
                <a:extLst>
                  <a:ext uri="{FF2B5EF4-FFF2-40B4-BE49-F238E27FC236}">
                    <a16:creationId xmlns:a16="http://schemas.microsoft.com/office/drawing/2014/main" id="{20FAF6DA-F591-4D8E-BE73-CC99AA1640D5}"/>
                  </a:ext>
                </a:extLst>
              </p:cNvPr>
              <p:cNvGrpSpPr/>
              <p:nvPr/>
            </p:nvGrpSpPr>
            <p:grpSpPr>
              <a:xfrm>
                <a:off x="4490452" y="2585446"/>
                <a:ext cx="2988319" cy="614349"/>
                <a:chOff x="906293" y="2491362"/>
                <a:chExt cx="2988319" cy="614349"/>
              </a:xfrm>
            </p:grpSpPr>
            <p:sp>
              <p:nvSpPr>
                <p:cNvPr id="121" name="Text 13">
                  <a:extLst>
                    <a:ext uri="{FF2B5EF4-FFF2-40B4-BE49-F238E27FC236}">
                      <a16:creationId xmlns:a16="http://schemas.microsoft.com/office/drawing/2014/main" id="{DEC6BCC0-173F-4F90-854F-D1F3BF4AA74E}"/>
                    </a:ext>
                  </a:extLst>
                </p:cNvPr>
                <p:cNvSpPr txBox="1"/>
                <p:nvPr/>
              </p:nvSpPr>
              <p:spPr>
                <a:xfrm>
                  <a:off x="997733" y="2491362"/>
                  <a:ext cx="2286000" cy="310896"/>
                </a:xfrm>
                <a:prstGeom prst="rect">
                  <a:avLst/>
                </a:prstGeom>
                <a:noFill/>
                <a:ln/>
              </p:spPr>
              <p:txBody>
                <a:bodyPr wrap="square" lIns="0" tIns="0" rIns="0" bIns="0" rtlCol="0" anchor="ctr">
                  <a:normAutofit/>
                </a:bodyPr>
                <a:lstStyle/>
                <a:p>
                  <a:r>
                    <a:rPr lang="ko-KR" altLang="en-US" sz="1000" dirty="0">
                      <a:solidFill>
                        <a:srgbClr val="10213D"/>
                      </a:solidFill>
                      <a:latin typeface="페이퍼로지 7 Bold" pitchFamily="2" charset="-127"/>
                      <a:ea typeface="페이퍼로지 7 Bold" pitchFamily="2" charset="-127"/>
                      <a:cs typeface="NanumSquare" pitchFamily="34" charset="-120"/>
                    </a:rPr>
                    <a:t>공식기관 확인 채널</a:t>
                  </a:r>
                </a:p>
              </p:txBody>
            </p:sp>
            <p:sp>
              <p:nvSpPr>
                <p:cNvPr id="122" name="TextBox 121">
                  <a:extLst>
                    <a:ext uri="{FF2B5EF4-FFF2-40B4-BE49-F238E27FC236}">
                      <a16:creationId xmlns:a16="http://schemas.microsoft.com/office/drawing/2014/main" id="{ABFD11CC-A553-4181-8FD5-7191E4D18FCD}"/>
                    </a:ext>
                  </a:extLst>
                </p:cNvPr>
                <p:cNvSpPr txBox="1"/>
                <p:nvPr/>
              </p:nvSpPr>
              <p:spPr>
                <a:xfrm>
                  <a:off x="906293" y="2736379"/>
                  <a:ext cx="2988319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ko-KR" altLang="en-US" sz="900" dirty="0">
                      <a:solidFill>
                        <a:srgbClr val="10213D"/>
                      </a:solidFill>
                      <a:latin typeface="페이퍼로지 4 Regular" pitchFamily="2" charset="-127"/>
                      <a:ea typeface="페이퍼로지 4 Regular" pitchFamily="2" charset="-127"/>
                      <a:cs typeface="NanumSquare" pitchFamily="34" charset="-120"/>
                    </a:rPr>
                    <a:t>서류의 진위여부를 실시간으로 확인할 수 있는 공식채널 운영</a:t>
                  </a:r>
                  <a:br>
                    <a:rPr lang="ko-KR" altLang="en-US" sz="900" dirty="0">
                      <a:solidFill>
                        <a:srgbClr val="10213D"/>
                      </a:solidFill>
                      <a:latin typeface="페이퍼로지 4 Regular" pitchFamily="2" charset="-127"/>
                      <a:ea typeface="페이퍼로지 4 Regular" pitchFamily="2" charset="-127"/>
                      <a:cs typeface="NanumSquare" pitchFamily="34" charset="-120"/>
                    </a:rPr>
                  </a:br>
                  <a:r>
                    <a:rPr lang="ko-KR" altLang="en-US" sz="900" dirty="0">
                      <a:solidFill>
                        <a:srgbClr val="10213D"/>
                      </a:solidFill>
                      <a:latin typeface="페이퍼로지 4 Regular" pitchFamily="2" charset="-127"/>
                      <a:ea typeface="페이퍼로지 4 Regular" pitchFamily="2" charset="-127"/>
                      <a:cs typeface="NanumSquare" pitchFamily="34" charset="-120"/>
                    </a:rPr>
                    <a:t>콜센터</a:t>
                  </a:r>
                  <a:r>
                    <a:rPr lang="en-US" altLang="ko-KR" sz="900" dirty="0">
                      <a:solidFill>
                        <a:srgbClr val="10213D"/>
                      </a:solidFill>
                      <a:latin typeface="페이퍼로지 4 Regular" pitchFamily="2" charset="-127"/>
                      <a:ea typeface="페이퍼로지 4 Regular" pitchFamily="2" charset="-127"/>
                      <a:cs typeface="NanumSquare" pitchFamily="34" charset="-120"/>
                    </a:rPr>
                    <a:t>, </a:t>
                  </a:r>
                  <a:r>
                    <a:rPr lang="ko-KR" altLang="en-US" sz="900" dirty="0">
                      <a:solidFill>
                        <a:srgbClr val="10213D"/>
                      </a:solidFill>
                      <a:latin typeface="페이퍼로지 4 Regular" pitchFamily="2" charset="-127"/>
                      <a:ea typeface="페이퍼로지 4 Regular" pitchFamily="2" charset="-127"/>
                      <a:cs typeface="NanumSquare" pitchFamily="34" charset="-120"/>
                    </a:rPr>
                    <a:t>카카오톡 오픈채팅</a:t>
                  </a:r>
                  <a:r>
                    <a:rPr lang="en-US" altLang="ko-KR" sz="900" dirty="0">
                      <a:solidFill>
                        <a:srgbClr val="10213D"/>
                      </a:solidFill>
                      <a:latin typeface="페이퍼로지 4 Regular" pitchFamily="2" charset="-127"/>
                      <a:ea typeface="페이퍼로지 4 Regular" pitchFamily="2" charset="-127"/>
                      <a:cs typeface="NanumSquare" pitchFamily="34" charset="-120"/>
                    </a:rPr>
                    <a:t> </a:t>
                  </a:r>
                  <a:r>
                    <a:rPr lang="ko-KR" altLang="en-US" sz="900" dirty="0">
                      <a:solidFill>
                        <a:srgbClr val="10213D"/>
                      </a:solidFill>
                      <a:latin typeface="페이퍼로지 4 Regular" pitchFamily="2" charset="-127"/>
                      <a:ea typeface="페이퍼로지 4 Regular" pitchFamily="2" charset="-127"/>
                      <a:cs typeface="NanumSquare" pitchFamily="34" charset="-120"/>
                    </a:rPr>
                    <a:t>운영</a:t>
                  </a:r>
                  <a:r>
                    <a:rPr lang="en-US" altLang="ko-KR" sz="900" dirty="0">
                      <a:solidFill>
                        <a:srgbClr val="10213D"/>
                      </a:solidFill>
                      <a:latin typeface="페이퍼로지 4 Regular" pitchFamily="2" charset="-127"/>
                      <a:ea typeface="페이퍼로지 4 Regular" pitchFamily="2" charset="-127"/>
                      <a:cs typeface="NanumSquare" pitchFamily="34" charset="-120"/>
                    </a:rPr>
                    <a:t>(</a:t>
                  </a:r>
                  <a:r>
                    <a:rPr lang="ko-KR" altLang="en-US" sz="900" dirty="0">
                      <a:solidFill>
                        <a:srgbClr val="10213D"/>
                      </a:solidFill>
                      <a:latin typeface="페이퍼로지 4 Regular" pitchFamily="2" charset="-127"/>
                      <a:ea typeface="페이퍼로지 4 Regular" pitchFamily="2" charset="-127"/>
                      <a:cs typeface="NanumSquare" pitchFamily="34" charset="-120"/>
                    </a:rPr>
                    <a:t>검찰 찐센터</a:t>
                  </a:r>
                  <a:r>
                    <a:rPr lang="en-US" altLang="ko-KR" sz="900" dirty="0">
                      <a:solidFill>
                        <a:srgbClr val="10213D"/>
                      </a:solidFill>
                      <a:latin typeface="페이퍼로지 4 Regular" pitchFamily="2" charset="-127"/>
                      <a:ea typeface="페이퍼로지 4 Regular" pitchFamily="2" charset="-127"/>
                      <a:cs typeface="NanumSquare" pitchFamily="34" charset="-120"/>
                    </a:rPr>
                    <a:t>,</a:t>
                  </a:r>
                  <a:r>
                    <a:rPr lang="ko-KR" altLang="en-US" sz="900" dirty="0">
                      <a:solidFill>
                        <a:srgbClr val="10213D"/>
                      </a:solidFill>
                      <a:latin typeface="페이퍼로지 4 Regular" pitchFamily="2" charset="-127"/>
                      <a:ea typeface="페이퍼로지 4 Regular" pitchFamily="2" charset="-127"/>
                      <a:cs typeface="NanumSquare" pitchFamily="34" charset="-120"/>
                    </a:rPr>
                    <a:t> </a:t>
                  </a:r>
                  <a:r>
                    <a:rPr lang="en-US" altLang="ko-KR" sz="900" dirty="0">
                      <a:solidFill>
                        <a:srgbClr val="10213D"/>
                      </a:solidFill>
                      <a:latin typeface="페이퍼로지 4 Regular" pitchFamily="2" charset="-127"/>
                      <a:ea typeface="페이퍼로지 4 Regular" pitchFamily="2" charset="-127"/>
                      <a:cs typeface="NanumSquare" pitchFamily="34" charset="-120"/>
                    </a:rPr>
                    <a:t>KISA </a:t>
                  </a:r>
                  <a:r>
                    <a:rPr lang="ko-KR" altLang="en-US" sz="900" dirty="0">
                      <a:solidFill>
                        <a:srgbClr val="10213D"/>
                      </a:solidFill>
                      <a:latin typeface="페이퍼로지 4 Regular" pitchFamily="2" charset="-127"/>
                      <a:ea typeface="페이퍼로지 4 Regular" pitchFamily="2" charset="-127"/>
                      <a:cs typeface="NanumSquare" pitchFamily="34" charset="-120"/>
                    </a:rPr>
                    <a:t>보호나라</a:t>
                  </a:r>
                  <a:r>
                    <a:rPr lang="en-US" altLang="ko-KR" sz="900" dirty="0">
                      <a:solidFill>
                        <a:srgbClr val="10213D"/>
                      </a:solidFill>
                      <a:latin typeface="페이퍼로지 4 Regular" pitchFamily="2" charset="-127"/>
                      <a:ea typeface="페이퍼로지 4 Regular" pitchFamily="2" charset="-127"/>
                      <a:cs typeface="NanumSquare" pitchFamily="34" charset="-120"/>
                    </a:rPr>
                    <a:t>)</a:t>
                  </a:r>
                  <a:endParaRPr lang="ko-KR" altLang="en-US" sz="900" dirty="0">
                    <a:latin typeface="페이퍼로지 4 Regular" pitchFamily="2" charset="-127"/>
                    <a:ea typeface="페이퍼로지 4 Regular" pitchFamily="2" charset="-127"/>
                  </a:endParaRPr>
                </a:p>
              </p:txBody>
            </p:sp>
          </p:grpSp>
        </p:grpSp>
        <p:grpSp>
          <p:nvGrpSpPr>
            <p:cNvPr id="125" name="Group 124">
              <a:extLst>
                <a:ext uri="{FF2B5EF4-FFF2-40B4-BE49-F238E27FC236}">
                  <a16:creationId xmlns:a16="http://schemas.microsoft.com/office/drawing/2014/main" id="{61261165-349A-4EFC-B7EA-A255EA6AD00D}"/>
                </a:ext>
              </a:extLst>
            </p:cNvPr>
            <p:cNvGrpSpPr/>
            <p:nvPr/>
          </p:nvGrpSpPr>
          <p:grpSpPr>
            <a:xfrm>
              <a:off x="4559618" y="4589897"/>
              <a:ext cx="2749676" cy="524166"/>
              <a:chOff x="5435730" y="4579898"/>
              <a:chExt cx="1359538" cy="249846"/>
            </a:xfrm>
          </p:grpSpPr>
          <p:pic>
            <p:nvPicPr>
              <p:cNvPr id="123" name="그림 7">
                <a:extLst>
                  <a:ext uri="{FF2B5EF4-FFF2-40B4-BE49-F238E27FC236}">
                    <a16:creationId xmlns:a16="http://schemas.microsoft.com/office/drawing/2014/main" id="{551562FA-CF08-4976-9E26-E2576CD6036A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/>
              <a:srcRect l="67198" t="5136" r="17871" b="88464"/>
              <a:stretch/>
            </p:blipFill>
            <p:spPr>
              <a:xfrm>
                <a:off x="6389981" y="4627592"/>
                <a:ext cx="405287" cy="148890"/>
              </a:xfrm>
              <a:prstGeom prst="rect">
                <a:avLst/>
              </a:prstGeom>
            </p:spPr>
          </p:pic>
          <p:pic>
            <p:nvPicPr>
              <p:cNvPr id="124" name="그림 7">
                <a:extLst>
                  <a:ext uri="{FF2B5EF4-FFF2-40B4-BE49-F238E27FC236}">
                    <a16:creationId xmlns:a16="http://schemas.microsoft.com/office/drawing/2014/main" id="{CE3306C8-485E-4D4B-A9B4-1F7029797B77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/>
              <a:srcRect l="4004" t="3308" r="61422" b="85951"/>
              <a:stretch/>
            </p:blipFill>
            <p:spPr>
              <a:xfrm>
                <a:off x="5435730" y="4579898"/>
                <a:ext cx="938445" cy="249846"/>
              </a:xfrm>
              <a:prstGeom prst="rect">
                <a:avLst/>
              </a:prstGeom>
            </p:spPr>
          </p:pic>
        </p:grpSp>
        <p:grpSp>
          <p:nvGrpSpPr>
            <p:cNvPr id="126" name="Group 125">
              <a:extLst>
                <a:ext uri="{FF2B5EF4-FFF2-40B4-BE49-F238E27FC236}">
                  <a16:creationId xmlns:a16="http://schemas.microsoft.com/office/drawing/2014/main" id="{F0298854-A292-42A7-98D2-719628F27749}"/>
                </a:ext>
              </a:extLst>
            </p:cNvPr>
            <p:cNvGrpSpPr/>
            <p:nvPr/>
          </p:nvGrpSpPr>
          <p:grpSpPr>
            <a:xfrm>
              <a:off x="8014716" y="2585446"/>
              <a:ext cx="2896629" cy="891348"/>
              <a:chOff x="4384972" y="2585446"/>
              <a:chExt cx="2896629" cy="891348"/>
            </a:xfrm>
          </p:grpSpPr>
          <p:sp>
            <p:nvSpPr>
              <p:cNvPr id="127" name="Shape 24">
                <a:extLst>
                  <a:ext uri="{FF2B5EF4-FFF2-40B4-BE49-F238E27FC236}">
                    <a16:creationId xmlns:a16="http://schemas.microsoft.com/office/drawing/2014/main" id="{CE3B36F3-21BA-452F-A3AB-DAB4970248FF}"/>
                  </a:ext>
                </a:extLst>
              </p:cNvPr>
              <p:cNvSpPr/>
              <p:nvPr/>
            </p:nvSpPr>
            <p:spPr>
              <a:xfrm>
                <a:off x="4384972" y="2695174"/>
                <a:ext cx="109728" cy="109728"/>
              </a:xfrm>
              <a:prstGeom prst="ellipse">
                <a:avLst/>
              </a:prstGeom>
              <a:solidFill>
                <a:srgbClr val="49A8FF"/>
              </a:solidFill>
              <a:ln w="10160">
                <a:solidFill>
                  <a:srgbClr val="49A8FF"/>
                </a:solidFill>
                <a:prstDash val="solid"/>
              </a:ln>
            </p:spPr>
          </p:sp>
          <p:grpSp>
            <p:nvGrpSpPr>
              <p:cNvPr id="128" name="Group 127">
                <a:extLst>
                  <a:ext uri="{FF2B5EF4-FFF2-40B4-BE49-F238E27FC236}">
                    <a16:creationId xmlns:a16="http://schemas.microsoft.com/office/drawing/2014/main" id="{9615BA18-3CA4-48BB-A642-C29D2E15D9DF}"/>
                  </a:ext>
                </a:extLst>
              </p:cNvPr>
              <p:cNvGrpSpPr/>
              <p:nvPr/>
            </p:nvGrpSpPr>
            <p:grpSpPr>
              <a:xfrm>
                <a:off x="4490452" y="2585446"/>
                <a:ext cx="2791149" cy="891348"/>
                <a:chOff x="906293" y="2491362"/>
                <a:chExt cx="2791149" cy="891348"/>
              </a:xfrm>
            </p:grpSpPr>
            <p:sp>
              <p:nvSpPr>
                <p:cNvPr id="129" name="Text 13">
                  <a:extLst>
                    <a:ext uri="{FF2B5EF4-FFF2-40B4-BE49-F238E27FC236}">
                      <a16:creationId xmlns:a16="http://schemas.microsoft.com/office/drawing/2014/main" id="{09FC5D82-21D2-46DB-93A7-8EC391C1667D}"/>
                    </a:ext>
                  </a:extLst>
                </p:cNvPr>
                <p:cNvSpPr txBox="1"/>
                <p:nvPr/>
              </p:nvSpPr>
              <p:spPr>
                <a:xfrm>
                  <a:off x="997733" y="2491362"/>
                  <a:ext cx="2684964" cy="310896"/>
                </a:xfrm>
                <a:prstGeom prst="rect">
                  <a:avLst/>
                </a:prstGeom>
                <a:noFill/>
                <a:ln/>
              </p:spPr>
              <p:txBody>
                <a:bodyPr wrap="square" lIns="0" tIns="0" rIns="0" bIns="0" rtlCol="0" anchor="ctr">
                  <a:normAutofit/>
                </a:bodyPr>
                <a:lstStyle/>
                <a:p>
                  <a:r>
                    <a:rPr lang="ko-KR" altLang="en-US" sz="1000" dirty="0">
                      <a:solidFill>
                        <a:srgbClr val="10213D"/>
                      </a:solidFill>
                      <a:latin typeface="페이퍼로지 7 Bold" pitchFamily="2" charset="-127"/>
                      <a:ea typeface="페이퍼로지 7 Bold" pitchFamily="2" charset="-127"/>
                      <a:cs typeface="NanumSquare" pitchFamily="34" charset="-120"/>
                    </a:rPr>
                    <a:t>통신사 </a:t>
                  </a:r>
                  <a:r>
                    <a:rPr lang="en-US" altLang="ko-KR" sz="1000" dirty="0">
                      <a:solidFill>
                        <a:srgbClr val="10213D"/>
                      </a:solidFill>
                      <a:latin typeface="페이퍼로지 7 Bold" pitchFamily="2" charset="-127"/>
                      <a:ea typeface="페이퍼로지 7 Bold" pitchFamily="2" charset="-127"/>
                      <a:cs typeface="NanumSquare" pitchFamily="34" charset="-120"/>
                    </a:rPr>
                    <a:t>AI </a:t>
                  </a:r>
                  <a:r>
                    <a:rPr lang="ko-KR" altLang="en-US" sz="1000" dirty="0">
                      <a:solidFill>
                        <a:srgbClr val="10213D"/>
                      </a:solidFill>
                      <a:latin typeface="페이퍼로지 7 Bold" pitchFamily="2" charset="-127"/>
                      <a:ea typeface="페이퍼로지 7 Bold" pitchFamily="2" charset="-127"/>
                      <a:cs typeface="NanumSquare" pitchFamily="34" charset="-120"/>
                    </a:rPr>
                    <a:t>통화 비서 앱 </a:t>
                  </a:r>
                  <a:r>
                    <a:rPr lang="en-US" altLang="ko-KR" sz="1000" dirty="0">
                      <a:solidFill>
                        <a:srgbClr val="10213D"/>
                      </a:solidFill>
                      <a:latin typeface="페이퍼로지 7 Bold" pitchFamily="2" charset="-127"/>
                      <a:ea typeface="페이퍼로지 7 Bold" pitchFamily="2" charset="-127"/>
                      <a:cs typeface="NanumSquare" pitchFamily="34" charset="-120"/>
                    </a:rPr>
                    <a:t>- </a:t>
                  </a:r>
                  <a:r>
                    <a:rPr lang="ko-KR" altLang="en-US" sz="1000" dirty="0">
                      <a:solidFill>
                        <a:srgbClr val="10213D"/>
                      </a:solidFill>
                      <a:latin typeface="페이퍼로지 7 Bold" pitchFamily="2" charset="-127"/>
                      <a:ea typeface="페이퍼로지 7 Bold" pitchFamily="2" charset="-127"/>
                      <a:cs typeface="NanumSquare" pitchFamily="34" charset="-120"/>
                    </a:rPr>
                    <a:t>스팸번호 탐지</a:t>
                  </a:r>
                  <a:r>
                    <a:rPr lang="en-US" altLang="ko-KR" sz="1000" dirty="0">
                      <a:solidFill>
                        <a:srgbClr val="10213D"/>
                      </a:solidFill>
                      <a:latin typeface="페이퍼로지 7 Bold" pitchFamily="2" charset="-127"/>
                      <a:ea typeface="페이퍼로지 7 Bold" pitchFamily="2" charset="-127"/>
                      <a:cs typeface="NanumSquare" pitchFamily="34" charset="-120"/>
                    </a:rPr>
                    <a:t>, </a:t>
                  </a:r>
                  <a:r>
                    <a:rPr lang="ko-KR" altLang="en-US" sz="1000" dirty="0">
                      <a:solidFill>
                        <a:srgbClr val="10213D"/>
                      </a:solidFill>
                      <a:latin typeface="페이퍼로지 7 Bold" pitchFamily="2" charset="-127"/>
                      <a:ea typeface="페이퍼로지 7 Bold" pitchFamily="2" charset="-127"/>
                      <a:cs typeface="NanumSquare" pitchFamily="34" charset="-120"/>
                    </a:rPr>
                    <a:t>악성 앱 차단</a:t>
                  </a:r>
                </a:p>
              </p:txBody>
            </p:sp>
            <p:sp>
              <p:nvSpPr>
                <p:cNvPr id="130" name="TextBox 129">
                  <a:extLst>
                    <a:ext uri="{FF2B5EF4-FFF2-40B4-BE49-F238E27FC236}">
                      <a16:creationId xmlns:a16="http://schemas.microsoft.com/office/drawing/2014/main" id="{9F9B7EA9-7248-46A7-97E4-CA2D5546080D}"/>
                    </a:ext>
                  </a:extLst>
                </p:cNvPr>
                <p:cNvSpPr txBox="1"/>
                <p:nvPr/>
              </p:nvSpPr>
              <p:spPr>
                <a:xfrm>
                  <a:off x="906293" y="2736379"/>
                  <a:ext cx="2791149" cy="64633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marL="171450" indent="-171450">
                    <a:buFont typeface="Arial" panose="020B0604020202020204" pitchFamily="34" charset="0"/>
                    <a:buChar char="•"/>
                  </a:pPr>
                  <a:r>
                    <a:rPr lang="ko-KR" altLang="en-US" sz="900" dirty="0">
                      <a:latin typeface="페이퍼로지 4 Regular" pitchFamily="2" charset="-127"/>
                      <a:ea typeface="페이퍼로지 4 Regular" pitchFamily="2" charset="-127"/>
                      <a:cs typeface="NanumSquare" pitchFamily="34" charset="-120"/>
                    </a:rPr>
                    <a:t>주요 통신사 앱별 탐지 서비스</a:t>
                  </a:r>
                  <a:r>
                    <a:rPr lang="en-US" altLang="ko-KR" sz="900" dirty="0">
                      <a:latin typeface="페이퍼로지 4 Regular" pitchFamily="2" charset="-127"/>
                      <a:ea typeface="페이퍼로지 4 Regular" pitchFamily="2" charset="-127"/>
                      <a:cs typeface="NanumSquare" pitchFamily="34" charset="-120"/>
                    </a:rPr>
                    <a:t>(</a:t>
                  </a:r>
                  <a:r>
                    <a:rPr lang="ko-KR" altLang="en-US" sz="900" dirty="0">
                      <a:latin typeface="페이퍼로지 4 Regular" pitchFamily="2" charset="-127"/>
                      <a:ea typeface="페이퍼로지 4 Regular" pitchFamily="2" charset="-127"/>
                      <a:cs typeface="NanumSquare" pitchFamily="34" charset="-120"/>
                    </a:rPr>
                    <a:t>예</a:t>
                  </a:r>
                  <a:r>
                    <a:rPr lang="en-US" altLang="ko-KR" sz="900" dirty="0">
                      <a:latin typeface="페이퍼로지 4 Regular" pitchFamily="2" charset="-127"/>
                      <a:ea typeface="페이퍼로지 4 Regular" pitchFamily="2" charset="-127"/>
                      <a:cs typeface="NanumSquare" pitchFamily="34" charset="-120"/>
                    </a:rPr>
                    <a:t>:</a:t>
                  </a:r>
                  <a:r>
                    <a:rPr lang="ko-KR" altLang="en-US" sz="900" dirty="0">
                      <a:latin typeface="페이퍼로지 4 Regular" pitchFamily="2" charset="-127"/>
                      <a:ea typeface="페이퍼로지 4 Regular" pitchFamily="2" charset="-127"/>
                      <a:cs typeface="NanumSquare" pitchFamily="34" charset="-120"/>
                    </a:rPr>
                    <a:t> 에이닷</a:t>
                  </a:r>
                  <a:r>
                    <a:rPr lang="en-US" altLang="ko-KR" sz="900" dirty="0">
                      <a:latin typeface="페이퍼로지 4 Regular" pitchFamily="2" charset="-127"/>
                      <a:ea typeface="페이퍼로지 4 Regular" pitchFamily="2" charset="-127"/>
                      <a:cs typeface="NanumSquare" pitchFamily="34" charset="-120"/>
                    </a:rPr>
                    <a:t>,</a:t>
                  </a:r>
                  <a:r>
                    <a:rPr lang="ko-KR" altLang="en-US" sz="900" dirty="0">
                      <a:latin typeface="페이퍼로지 4 Regular" pitchFamily="2" charset="-127"/>
                      <a:ea typeface="페이퍼로지 4 Regular" pitchFamily="2" charset="-127"/>
                      <a:cs typeface="NanumSquare" pitchFamily="34" charset="-120"/>
                    </a:rPr>
                    <a:t>익시오 등</a:t>
                  </a:r>
                  <a:r>
                    <a:rPr lang="en-US" altLang="ko-KR" sz="900" dirty="0">
                      <a:latin typeface="페이퍼로지 4 Regular" pitchFamily="2" charset="-127"/>
                      <a:ea typeface="페이퍼로지 4 Regular" pitchFamily="2" charset="-127"/>
                      <a:cs typeface="NanumSquare" pitchFamily="34" charset="-120"/>
                    </a:rPr>
                    <a:t>)</a:t>
                  </a:r>
                </a:p>
                <a:p>
                  <a:pPr marL="171450" indent="-171450">
                    <a:buFont typeface="Arial" panose="020B0604020202020204" pitchFamily="34" charset="0"/>
                    <a:buChar char="•"/>
                  </a:pPr>
                  <a:r>
                    <a:rPr lang="ko-KR" altLang="en-US" sz="900" dirty="0">
                      <a:latin typeface="페이퍼로지 4 Regular" pitchFamily="2" charset="-127"/>
                      <a:ea typeface="페이퍼로지 4 Regular" pitchFamily="2" charset="-127"/>
                      <a:cs typeface="NanumSquare" pitchFamily="34" charset="-120"/>
                    </a:rPr>
                    <a:t>통화 중 실시간으로 보이스피싱을 감지하고 차단하는</a:t>
                  </a:r>
                  <a:br>
                    <a:rPr lang="en-US" altLang="ko-KR" sz="900" dirty="0">
                      <a:latin typeface="페이퍼로지 4 Regular" pitchFamily="2" charset="-127"/>
                      <a:ea typeface="페이퍼로지 4 Regular" pitchFamily="2" charset="-127"/>
                      <a:cs typeface="NanumSquare" pitchFamily="34" charset="-120"/>
                    </a:rPr>
                  </a:br>
                  <a:r>
                    <a:rPr lang="ko-KR" altLang="en-US" sz="900" dirty="0">
                      <a:latin typeface="페이퍼로지 4 Regular" pitchFamily="2" charset="-127"/>
                      <a:ea typeface="페이퍼로지 4 Regular" pitchFamily="2" charset="-127"/>
                      <a:cs typeface="NanumSquare" pitchFamily="34" charset="-120"/>
                    </a:rPr>
                    <a:t>강력한 </a:t>
                  </a:r>
                  <a:r>
                    <a:rPr lang="en-US" altLang="ko-KR" sz="900" dirty="0">
                      <a:latin typeface="페이퍼로지 4 Regular" pitchFamily="2" charset="-127"/>
                      <a:ea typeface="페이퍼로지 4 Regular" pitchFamily="2" charset="-127"/>
                      <a:cs typeface="NanumSquare" pitchFamily="34" charset="-120"/>
                    </a:rPr>
                    <a:t>AI </a:t>
                  </a:r>
                  <a:r>
                    <a:rPr lang="ko-KR" altLang="en-US" sz="900" dirty="0">
                      <a:latin typeface="페이퍼로지 4 Regular" pitchFamily="2" charset="-127"/>
                      <a:ea typeface="페이퍼로지 4 Regular" pitchFamily="2" charset="-127"/>
                      <a:cs typeface="NanumSquare" pitchFamily="34" charset="-120"/>
                    </a:rPr>
                    <a:t>보안 기능을 제공</a:t>
                  </a:r>
                  <a:endParaRPr lang="en-US" altLang="ko-KR" sz="900" dirty="0">
                    <a:latin typeface="페이퍼로지 4 Regular" pitchFamily="2" charset="-127"/>
                    <a:ea typeface="페이퍼로지 4 Regular" pitchFamily="2" charset="-127"/>
                    <a:cs typeface="NanumSquare" pitchFamily="34" charset="-120"/>
                  </a:endParaRPr>
                </a:p>
                <a:p>
                  <a:pPr marL="171450" indent="-171450">
                    <a:buFont typeface="Arial" panose="020B0604020202020204" pitchFamily="34" charset="0"/>
                    <a:buChar char="•"/>
                  </a:pPr>
                  <a:r>
                    <a:rPr lang="en-US" altLang="ko-KR" sz="900" dirty="0">
                      <a:latin typeface="페이퍼로지 4 Regular" pitchFamily="2" charset="-127"/>
                      <a:ea typeface="페이퍼로지 4 Regular" pitchFamily="2" charset="-127"/>
                      <a:cs typeface="NanumSquare" pitchFamily="34" charset="-120"/>
                    </a:rPr>
                    <a:t>AI </a:t>
                  </a:r>
                  <a:r>
                    <a:rPr lang="ko-KR" altLang="en-US" sz="900" dirty="0">
                      <a:latin typeface="페이퍼로지 4 Regular" pitchFamily="2" charset="-127"/>
                      <a:ea typeface="페이퍼로지 4 Regular" pitchFamily="2" charset="-127"/>
                      <a:cs typeface="NanumSquare" pitchFamily="34" charset="-120"/>
                    </a:rPr>
                    <a:t>분석</a:t>
                  </a:r>
                  <a:r>
                    <a:rPr lang="en-US" altLang="ko-KR" sz="900" dirty="0">
                      <a:latin typeface="페이퍼로지 4 Regular" pitchFamily="2" charset="-127"/>
                      <a:ea typeface="페이퍼로지 4 Regular" pitchFamily="2" charset="-127"/>
                      <a:cs typeface="NanumSquare" pitchFamily="34" charset="-120"/>
                    </a:rPr>
                    <a:t>,</a:t>
                  </a:r>
                  <a:r>
                    <a:rPr lang="ko-KR" altLang="en-US" sz="900" dirty="0">
                      <a:latin typeface="페이퍼로지 4 Regular" pitchFamily="2" charset="-127"/>
                      <a:ea typeface="페이퍼로지 4 Regular" pitchFamily="2" charset="-127"/>
                      <a:cs typeface="NanumSquare" pitchFamily="34" charset="-120"/>
                    </a:rPr>
                    <a:t> 경찰청 연계 통해 보이스피싱 및 악성 앱 탐지</a:t>
                  </a:r>
                  <a:endParaRPr lang="ko-KR" altLang="en-US" sz="900" dirty="0">
                    <a:latin typeface="페이퍼로지 4 Regular" pitchFamily="2" charset="-127"/>
                    <a:ea typeface="페이퍼로지 4 Regular" pitchFamily="2" charset="-127"/>
                  </a:endParaRPr>
                </a:p>
              </p:txBody>
            </p:sp>
          </p:grpSp>
        </p:grpSp>
        <p:grpSp>
          <p:nvGrpSpPr>
            <p:cNvPr id="141" name="Group 140">
              <a:extLst>
                <a:ext uri="{FF2B5EF4-FFF2-40B4-BE49-F238E27FC236}">
                  <a16:creationId xmlns:a16="http://schemas.microsoft.com/office/drawing/2014/main" id="{0B9F7FD3-263B-4E20-8ED9-18AECC8E0FC0}"/>
                </a:ext>
              </a:extLst>
            </p:cNvPr>
            <p:cNvGrpSpPr/>
            <p:nvPr/>
          </p:nvGrpSpPr>
          <p:grpSpPr>
            <a:xfrm>
              <a:off x="8014716" y="3518926"/>
              <a:ext cx="3008885" cy="614349"/>
              <a:chOff x="4384972" y="2585446"/>
              <a:chExt cx="3008885" cy="614349"/>
            </a:xfrm>
          </p:grpSpPr>
          <p:sp>
            <p:nvSpPr>
              <p:cNvPr id="142" name="Shape 24">
                <a:extLst>
                  <a:ext uri="{FF2B5EF4-FFF2-40B4-BE49-F238E27FC236}">
                    <a16:creationId xmlns:a16="http://schemas.microsoft.com/office/drawing/2014/main" id="{76902399-4275-49F1-BFFD-DC4226CB7C4D}"/>
                  </a:ext>
                </a:extLst>
              </p:cNvPr>
              <p:cNvSpPr/>
              <p:nvPr/>
            </p:nvSpPr>
            <p:spPr>
              <a:xfrm>
                <a:off x="4384972" y="2695174"/>
                <a:ext cx="109728" cy="109728"/>
              </a:xfrm>
              <a:prstGeom prst="ellipse">
                <a:avLst/>
              </a:prstGeom>
              <a:solidFill>
                <a:srgbClr val="49A8FF"/>
              </a:solidFill>
              <a:ln w="10160">
                <a:solidFill>
                  <a:srgbClr val="49A8FF"/>
                </a:solidFill>
                <a:prstDash val="solid"/>
              </a:ln>
            </p:spPr>
          </p:sp>
          <p:grpSp>
            <p:nvGrpSpPr>
              <p:cNvPr id="143" name="Group 142">
                <a:extLst>
                  <a:ext uri="{FF2B5EF4-FFF2-40B4-BE49-F238E27FC236}">
                    <a16:creationId xmlns:a16="http://schemas.microsoft.com/office/drawing/2014/main" id="{7253D61C-BA3A-403C-9659-B8290B7FFBD7}"/>
                  </a:ext>
                </a:extLst>
              </p:cNvPr>
              <p:cNvGrpSpPr/>
              <p:nvPr/>
            </p:nvGrpSpPr>
            <p:grpSpPr>
              <a:xfrm>
                <a:off x="4490453" y="2585446"/>
                <a:ext cx="2903404" cy="614349"/>
                <a:chOff x="906294" y="2491362"/>
                <a:chExt cx="2903404" cy="614349"/>
              </a:xfrm>
            </p:grpSpPr>
            <p:sp>
              <p:nvSpPr>
                <p:cNvPr id="144" name="Text 13">
                  <a:extLst>
                    <a:ext uri="{FF2B5EF4-FFF2-40B4-BE49-F238E27FC236}">
                      <a16:creationId xmlns:a16="http://schemas.microsoft.com/office/drawing/2014/main" id="{3ADFD593-0590-4BEE-A48F-E672E9662770}"/>
                    </a:ext>
                  </a:extLst>
                </p:cNvPr>
                <p:cNvSpPr txBox="1"/>
                <p:nvPr/>
              </p:nvSpPr>
              <p:spPr>
                <a:xfrm>
                  <a:off x="997733" y="2491362"/>
                  <a:ext cx="2684964" cy="310896"/>
                </a:xfrm>
                <a:prstGeom prst="rect">
                  <a:avLst/>
                </a:prstGeom>
                <a:noFill/>
                <a:ln/>
              </p:spPr>
              <p:txBody>
                <a:bodyPr wrap="square" lIns="0" tIns="0" rIns="0" bIns="0" rtlCol="0" anchor="ctr">
                  <a:normAutofit/>
                </a:bodyPr>
                <a:lstStyle/>
                <a:p>
                  <a:r>
                    <a:rPr lang="ko-KR" altLang="en-US" sz="1000" dirty="0">
                      <a:solidFill>
                        <a:srgbClr val="10213D"/>
                      </a:solidFill>
                      <a:latin typeface="페이퍼로지 7 Bold" pitchFamily="2" charset="-127"/>
                      <a:ea typeface="페이퍼로지 7 Bold" pitchFamily="2" charset="-127"/>
                      <a:cs typeface="NanumSquare" pitchFamily="34" charset="-120"/>
                    </a:rPr>
                    <a:t>발신번호 변작 차단</a:t>
                  </a:r>
                </a:p>
              </p:txBody>
            </p:sp>
            <p:sp>
              <p:nvSpPr>
                <p:cNvPr id="145" name="TextBox 144">
                  <a:extLst>
                    <a:ext uri="{FF2B5EF4-FFF2-40B4-BE49-F238E27FC236}">
                      <a16:creationId xmlns:a16="http://schemas.microsoft.com/office/drawing/2014/main" id="{D55843D0-373E-4604-8EE2-F83BBC98EBF0}"/>
                    </a:ext>
                  </a:extLst>
                </p:cNvPr>
                <p:cNvSpPr txBox="1"/>
                <p:nvPr/>
              </p:nvSpPr>
              <p:spPr>
                <a:xfrm>
                  <a:off x="906294" y="2736379"/>
                  <a:ext cx="2903404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ko-KR" altLang="en-US" sz="900" dirty="0">
                      <a:latin typeface="페이퍼로지 4 Regular" pitchFamily="2" charset="-127"/>
                      <a:ea typeface="페이퍼로지 4 Regular" pitchFamily="2" charset="-127"/>
                      <a:cs typeface="NanumSquare" pitchFamily="34" charset="-120"/>
                    </a:rPr>
                    <a:t>보이스피싱</a:t>
                  </a:r>
                  <a:r>
                    <a:rPr lang="en-US" altLang="ko-KR" sz="900" dirty="0">
                      <a:latin typeface="페이퍼로지 4 Regular" pitchFamily="2" charset="-127"/>
                      <a:ea typeface="페이퍼로지 4 Regular" pitchFamily="2" charset="-127"/>
                      <a:cs typeface="NanumSquare" pitchFamily="34" charset="-120"/>
                    </a:rPr>
                    <a:t>,</a:t>
                  </a:r>
                  <a:r>
                    <a:rPr lang="ko-KR" altLang="en-US" sz="900" dirty="0">
                      <a:latin typeface="페이퍼로지 4 Regular" pitchFamily="2" charset="-127"/>
                      <a:ea typeface="페이퍼로지 4 Regular" pitchFamily="2" charset="-127"/>
                      <a:cs typeface="NanumSquare" pitchFamily="34" charset="-120"/>
                    </a:rPr>
                    <a:t> 스미싱 예방을 위해 타인의 번호나 없는 번호로 발신번호를 조작하는 발신번호 변작</a:t>
                  </a:r>
                  <a:r>
                    <a:rPr lang="en-US" altLang="ko-KR" sz="900" dirty="0">
                      <a:latin typeface="페이퍼로지 4 Regular" pitchFamily="2" charset="-127"/>
                      <a:ea typeface="페이퍼로지 4 Regular" pitchFamily="2" charset="-127"/>
                      <a:cs typeface="NanumSquare" pitchFamily="34" charset="-120"/>
                    </a:rPr>
                    <a:t>(</a:t>
                  </a:r>
                  <a:r>
                    <a:rPr lang="ko-KR" altLang="en-US" sz="900" dirty="0">
                      <a:latin typeface="페이퍼로지 4 Regular" pitchFamily="2" charset="-127"/>
                      <a:ea typeface="페이퍼로지 4 Regular" pitchFamily="2" charset="-127"/>
                      <a:cs typeface="NanumSquare" pitchFamily="34" charset="-120"/>
                    </a:rPr>
                    <a:t>거짓표시</a:t>
                  </a:r>
                  <a:r>
                    <a:rPr lang="en-US" altLang="ko-KR" sz="900" dirty="0">
                      <a:latin typeface="페이퍼로지 4 Regular" pitchFamily="2" charset="-127"/>
                      <a:ea typeface="페이퍼로지 4 Regular" pitchFamily="2" charset="-127"/>
                      <a:cs typeface="NanumSquare" pitchFamily="34" charset="-120"/>
                    </a:rPr>
                    <a:t>) </a:t>
                  </a:r>
                  <a:r>
                    <a:rPr lang="ko-KR" altLang="en-US" sz="900" dirty="0">
                      <a:latin typeface="페이퍼로지 4 Regular" pitchFamily="2" charset="-127"/>
                      <a:ea typeface="페이퍼로지 4 Regular" pitchFamily="2" charset="-127"/>
                      <a:cs typeface="NanumSquare" pitchFamily="34" charset="-120"/>
                    </a:rPr>
                    <a:t>행위 차단</a:t>
                  </a:r>
                  <a:endParaRPr lang="ko-KR" altLang="en-US" sz="900" dirty="0">
                    <a:latin typeface="페이퍼로지 4 Regular" pitchFamily="2" charset="-127"/>
                    <a:ea typeface="페이퍼로지 4 Regular" pitchFamily="2" charset="-127"/>
                  </a:endParaRPr>
                </a:p>
              </p:txBody>
            </p:sp>
          </p:grpSp>
        </p:grpSp>
        <p:grpSp>
          <p:nvGrpSpPr>
            <p:cNvPr id="148" name="Group 147">
              <a:extLst>
                <a:ext uri="{FF2B5EF4-FFF2-40B4-BE49-F238E27FC236}">
                  <a16:creationId xmlns:a16="http://schemas.microsoft.com/office/drawing/2014/main" id="{7E4731EE-3BF1-4C54-B72C-ED9ED85A04E0}"/>
                </a:ext>
              </a:extLst>
            </p:cNvPr>
            <p:cNvGrpSpPr/>
            <p:nvPr/>
          </p:nvGrpSpPr>
          <p:grpSpPr>
            <a:xfrm>
              <a:off x="8014716" y="4220282"/>
              <a:ext cx="2902547" cy="891348"/>
              <a:chOff x="4384972" y="2585446"/>
              <a:chExt cx="2902547" cy="891348"/>
            </a:xfrm>
          </p:grpSpPr>
          <p:sp>
            <p:nvSpPr>
              <p:cNvPr id="149" name="Shape 24">
                <a:extLst>
                  <a:ext uri="{FF2B5EF4-FFF2-40B4-BE49-F238E27FC236}">
                    <a16:creationId xmlns:a16="http://schemas.microsoft.com/office/drawing/2014/main" id="{014F2127-2028-4391-87BE-9DC38BCA0562}"/>
                  </a:ext>
                </a:extLst>
              </p:cNvPr>
              <p:cNvSpPr/>
              <p:nvPr/>
            </p:nvSpPr>
            <p:spPr>
              <a:xfrm>
                <a:off x="4384972" y="2695174"/>
                <a:ext cx="109728" cy="109728"/>
              </a:xfrm>
              <a:prstGeom prst="ellipse">
                <a:avLst/>
              </a:prstGeom>
              <a:solidFill>
                <a:srgbClr val="49A8FF"/>
              </a:solidFill>
              <a:ln w="10160">
                <a:solidFill>
                  <a:srgbClr val="49A8FF"/>
                </a:solidFill>
                <a:prstDash val="solid"/>
              </a:ln>
            </p:spPr>
          </p:sp>
          <p:grpSp>
            <p:nvGrpSpPr>
              <p:cNvPr id="150" name="Group 149">
                <a:extLst>
                  <a:ext uri="{FF2B5EF4-FFF2-40B4-BE49-F238E27FC236}">
                    <a16:creationId xmlns:a16="http://schemas.microsoft.com/office/drawing/2014/main" id="{7BEC9321-8467-4AD7-A11F-971C0CD3F188}"/>
                  </a:ext>
                </a:extLst>
              </p:cNvPr>
              <p:cNvGrpSpPr/>
              <p:nvPr/>
            </p:nvGrpSpPr>
            <p:grpSpPr>
              <a:xfrm>
                <a:off x="4490453" y="2585446"/>
                <a:ext cx="2797066" cy="891348"/>
                <a:chOff x="906294" y="2491362"/>
                <a:chExt cx="2797066" cy="891348"/>
              </a:xfrm>
            </p:grpSpPr>
            <p:sp>
              <p:nvSpPr>
                <p:cNvPr id="151" name="Text 13">
                  <a:extLst>
                    <a:ext uri="{FF2B5EF4-FFF2-40B4-BE49-F238E27FC236}">
                      <a16:creationId xmlns:a16="http://schemas.microsoft.com/office/drawing/2014/main" id="{933BE645-218C-4CC1-BFE7-31CE22F0AC28}"/>
                    </a:ext>
                  </a:extLst>
                </p:cNvPr>
                <p:cNvSpPr txBox="1"/>
                <p:nvPr/>
              </p:nvSpPr>
              <p:spPr>
                <a:xfrm>
                  <a:off x="997733" y="2491362"/>
                  <a:ext cx="2684964" cy="310896"/>
                </a:xfrm>
                <a:prstGeom prst="rect">
                  <a:avLst/>
                </a:prstGeom>
                <a:noFill/>
                <a:ln/>
              </p:spPr>
              <p:txBody>
                <a:bodyPr wrap="square" lIns="0" tIns="0" rIns="0" bIns="0" rtlCol="0" anchor="ctr">
                  <a:normAutofit/>
                </a:bodyPr>
                <a:lstStyle/>
                <a:p>
                  <a:r>
                    <a:rPr lang="ko-KR" altLang="en-US" sz="1000" dirty="0">
                      <a:solidFill>
                        <a:srgbClr val="10213D"/>
                      </a:solidFill>
                      <a:latin typeface="페이퍼로지 7 Bold" pitchFamily="2" charset="-127"/>
                      <a:ea typeface="페이퍼로지 7 Bold" pitchFamily="2" charset="-127"/>
                      <a:cs typeface="NanumSquare" pitchFamily="34" charset="-120"/>
                    </a:rPr>
                    <a:t>발신번호 변작</a:t>
                  </a:r>
                  <a:r>
                    <a:rPr lang="en-US" altLang="ko-KR" sz="1000" dirty="0">
                      <a:solidFill>
                        <a:srgbClr val="10213D"/>
                      </a:solidFill>
                      <a:latin typeface="페이퍼로지 7 Bold" pitchFamily="2" charset="-127"/>
                      <a:ea typeface="페이퍼로지 7 Bold" pitchFamily="2" charset="-127"/>
                      <a:cs typeface="NanumSquare" pitchFamily="34" charset="-120"/>
                    </a:rPr>
                    <a:t>(</a:t>
                  </a:r>
                  <a:r>
                    <a:rPr lang="ko-KR" altLang="en-US" sz="1000" dirty="0">
                      <a:solidFill>
                        <a:srgbClr val="10213D"/>
                      </a:solidFill>
                      <a:latin typeface="페이퍼로지 7 Bold" pitchFamily="2" charset="-127"/>
                      <a:ea typeface="페이퍼로지 7 Bold" pitchFamily="2" charset="-127"/>
                      <a:cs typeface="NanumSquare" pitchFamily="34" charset="-120"/>
                    </a:rPr>
                    <a:t>거짓표시</a:t>
                  </a:r>
                  <a:r>
                    <a:rPr lang="en-US" altLang="ko-KR" sz="1000" dirty="0">
                      <a:solidFill>
                        <a:srgbClr val="10213D"/>
                      </a:solidFill>
                      <a:latin typeface="페이퍼로지 7 Bold" pitchFamily="2" charset="-127"/>
                      <a:ea typeface="페이퍼로지 7 Bold" pitchFamily="2" charset="-127"/>
                      <a:cs typeface="NanumSquare" pitchFamily="34" charset="-120"/>
                    </a:rPr>
                    <a:t>) </a:t>
                  </a:r>
                  <a:r>
                    <a:rPr lang="ko-KR" altLang="en-US" sz="1000" dirty="0">
                      <a:solidFill>
                        <a:srgbClr val="10213D"/>
                      </a:solidFill>
                      <a:latin typeface="페이퍼로지 7 Bold" pitchFamily="2" charset="-127"/>
                      <a:ea typeface="페이퍼로지 7 Bold" pitchFamily="2" charset="-127"/>
                      <a:cs typeface="NanumSquare" pitchFamily="34" charset="-120"/>
                    </a:rPr>
                    <a:t>차단</a:t>
                  </a:r>
                </a:p>
              </p:txBody>
            </p:sp>
            <p:sp>
              <p:nvSpPr>
                <p:cNvPr id="152" name="TextBox 151">
                  <a:extLst>
                    <a:ext uri="{FF2B5EF4-FFF2-40B4-BE49-F238E27FC236}">
                      <a16:creationId xmlns:a16="http://schemas.microsoft.com/office/drawing/2014/main" id="{5C4D6FCC-F66D-400E-8F4D-ECD11D459E5C}"/>
                    </a:ext>
                  </a:extLst>
                </p:cNvPr>
                <p:cNvSpPr txBox="1"/>
                <p:nvPr/>
              </p:nvSpPr>
              <p:spPr>
                <a:xfrm>
                  <a:off x="906294" y="2736379"/>
                  <a:ext cx="2797066" cy="64633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171450" indent="-171450">
                    <a:buFont typeface="Arial" panose="020B0604020202020204" pitchFamily="34" charset="0"/>
                    <a:buChar char="•"/>
                  </a:pPr>
                  <a:r>
                    <a:rPr lang="ko-KR" altLang="en-US" sz="900" dirty="0">
                      <a:latin typeface="페이퍼로지 4 Regular" pitchFamily="2" charset="-127"/>
                      <a:ea typeface="페이퍼로지 4 Regular" pitchFamily="2" charset="-127"/>
                      <a:cs typeface="NanumSquare" pitchFamily="34" charset="-120"/>
                    </a:rPr>
                    <a:t>인공지능과 빅데이터를 활용해 통화</a:t>
                  </a:r>
                  <a:r>
                    <a:rPr lang="en-US" altLang="ko-KR" sz="900" dirty="0">
                      <a:latin typeface="페이퍼로지 4 Regular" pitchFamily="2" charset="-127"/>
                      <a:ea typeface="페이퍼로지 4 Regular" pitchFamily="2" charset="-127"/>
                      <a:cs typeface="NanumSquare" pitchFamily="34" charset="-120"/>
                    </a:rPr>
                    <a:t>/</a:t>
                  </a:r>
                  <a:r>
                    <a:rPr lang="ko-KR" altLang="en-US" sz="900" dirty="0">
                      <a:latin typeface="페이퍼로지 4 Regular" pitchFamily="2" charset="-127"/>
                      <a:ea typeface="페이퍼로지 4 Regular" pitchFamily="2" charset="-127"/>
                      <a:cs typeface="NanumSquare" pitchFamily="34" charset="-120"/>
                    </a:rPr>
                    <a:t>문자 기반의 위험 신호를 실시간으로 감지</a:t>
                  </a:r>
                  <a:r>
                    <a:rPr lang="en-US" altLang="ko-KR" sz="900" dirty="0">
                      <a:latin typeface="페이퍼로지 4 Regular" pitchFamily="2" charset="-127"/>
                      <a:ea typeface="페이퍼로지 4 Regular" pitchFamily="2" charset="-127"/>
                      <a:cs typeface="NanumSquare" pitchFamily="34" charset="-120"/>
                    </a:rPr>
                    <a:t>, </a:t>
                  </a:r>
                  <a:r>
                    <a:rPr lang="ko-KR" altLang="en-US" sz="900" dirty="0">
                      <a:latin typeface="페이퍼로지 4 Regular" pitchFamily="2" charset="-127"/>
                      <a:ea typeface="페이퍼로지 4 Regular" pitchFamily="2" charset="-127"/>
                      <a:cs typeface="NanumSquare" pitchFamily="34" charset="-120"/>
                    </a:rPr>
                    <a:t>차단</a:t>
                  </a:r>
                  <a:endParaRPr lang="en-US" altLang="ko-KR" sz="900" dirty="0">
                    <a:latin typeface="페이퍼로지 4 Regular" pitchFamily="2" charset="-127"/>
                    <a:ea typeface="페이퍼로지 4 Regular" pitchFamily="2" charset="-127"/>
                    <a:cs typeface="NanumSquare" pitchFamily="34" charset="-120"/>
                  </a:endParaRPr>
                </a:p>
                <a:p>
                  <a:pPr marL="171450" indent="-171450">
                    <a:buFont typeface="Arial" panose="020B0604020202020204" pitchFamily="34" charset="0"/>
                    <a:buChar char="•"/>
                  </a:pPr>
                  <a:r>
                    <a:rPr lang="ko-KR" altLang="en-US" sz="900" dirty="0">
                      <a:latin typeface="페이퍼로지 4 Regular" pitchFamily="2" charset="-127"/>
                      <a:ea typeface="페이퍼로지 4 Regular" pitchFamily="2" charset="-127"/>
                      <a:cs typeface="NanumSquare" pitchFamily="34" charset="-120"/>
                    </a:rPr>
                    <a:t>음성패턴 분석</a:t>
                  </a:r>
                  <a:r>
                    <a:rPr lang="en-US" altLang="ko-KR" sz="900" dirty="0">
                      <a:latin typeface="페이퍼로지 4 Regular" pitchFamily="2" charset="-127"/>
                      <a:ea typeface="페이퍼로지 4 Regular" pitchFamily="2" charset="-127"/>
                      <a:cs typeface="NanumSquare" pitchFamily="34" charset="-120"/>
                    </a:rPr>
                    <a:t>, </a:t>
                  </a:r>
                  <a:r>
                    <a:rPr lang="ko-KR" altLang="en-US" sz="900" dirty="0">
                      <a:latin typeface="페이퍼로지 4 Regular" pitchFamily="2" charset="-127"/>
                      <a:ea typeface="페이퍼로지 4 Regular" pitchFamily="2" charset="-127"/>
                      <a:cs typeface="NanumSquare" pitchFamily="34" charset="-120"/>
                    </a:rPr>
                    <a:t>통화내용 실시간 분석</a:t>
                  </a:r>
                  <a:r>
                    <a:rPr lang="en-US" altLang="ko-KR" sz="900" dirty="0">
                      <a:latin typeface="페이퍼로지 4 Regular" pitchFamily="2" charset="-127"/>
                      <a:ea typeface="페이퍼로지 4 Regular" pitchFamily="2" charset="-127"/>
                      <a:cs typeface="NanumSquare" pitchFamily="34" charset="-120"/>
                    </a:rPr>
                    <a:t>, </a:t>
                  </a:r>
                  <a:r>
                    <a:rPr lang="ko-KR" altLang="en-US" sz="900" dirty="0">
                      <a:latin typeface="페이퍼로지 4 Regular" pitchFamily="2" charset="-127"/>
                      <a:ea typeface="페이퍼로지 4 Regular" pitchFamily="2" charset="-127"/>
                      <a:cs typeface="NanumSquare" pitchFamily="34" charset="-120"/>
                    </a:rPr>
                    <a:t>비정상 회선 이용패턴</a:t>
                  </a:r>
                  <a:r>
                    <a:rPr lang="en-US" altLang="ko-KR" sz="900" dirty="0">
                      <a:latin typeface="페이퍼로지 4 Regular" pitchFamily="2" charset="-127"/>
                      <a:ea typeface="페이퍼로지 4 Regular" pitchFamily="2" charset="-127"/>
                      <a:cs typeface="NanumSquare" pitchFamily="34" charset="-120"/>
                    </a:rPr>
                    <a:t>, </a:t>
                  </a:r>
                  <a:r>
                    <a:rPr lang="ko-KR" altLang="en-US" sz="900" dirty="0">
                      <a:latin typeface="페이퍼로지 4 Regular" pitchFamily="2" charset="-127"/>
                      <a:ea typeface="페이퍼로지 4 Regular" pitchFamily="2" charset="-127"/>
                      <a:cs typeface="NanumSquare" pitchFamily="34" charset="-120"/>
                    </a:rPr>
                    <a:t>유관기관 실시간 정보 공유</a:t>
                  </a:r>
                  <a:endParaRPr lang="ko-KR" altLang="en-US" sz="900" dirty="0">
                    <a:latin typeface="페이퍼로지 4 Regular" pitchFamily="2" charset="-127"/>
                    <a:ea typeface="페이퍼로지 4 Regular" pitchFamily="2" charset="-127"/>
                  </a:endParaRPr>
                </a:p>
              </p:txBody>
            </p:sp>
          </p:grpSp>
        </p:grp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Text 7">
            <a:extLst>
              <a:ext uri="{FF2B5EF4-FFF2-40B4-BE49-F238E27FC236}">
                <a16:creationId xmlns:a16="http://schemas.microsoft.com/office/drawing/2014/main" id="{B86AB141-D61D-4F98-88E7-DC95CF56A724}"/>
              </a:ext>
            </a:extLst>
          </p:cNvPr>
          <p:cNvSpPr txBox="1"/>
          <p:nvPr/>
        </p:nvSpPr>
        <p:spPr>
          <a:xfrm>
            <a:off x="599443" y="643651"/>
            <a:ext cx="10515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ko-KR" altLang="en-US" sz="1230" dirty="0">
                <a:solidFill>
                  <a:srgbClr val="66768F"/>
                </a:solidFill>
                <a:latin typeface="페이퍼로지 4 Regular" pitchFamily="2" charset="-127"/>
                <a:ea typeface="페이퍼로지 4 Regular" pitchFamily="2" charset="-127"/>
                <a:cs typeface="NanumSquare" pitchFamily="34" charset="-120"/>
              </a:rPr>
              <a:t>대표적으로 성과를 내고 있는 </a:t>
            </a:r>
            <a:r>
              <a:rPr lang="en-US" altLang="ko-KR" sz="1230" dirty="0">
                <a:solidFill>
                  <a:srgbClr val="66768F"/>
                </a:solidFill>
                <a:latin typeface="페이퍼로지 4 Regular" pitchFamily="2" charset="-127"/>
                <a:ea typeface="페이퍼로지 4 Regular" pitchFamily="2" charset="-127"/>
                <a:cs typeface="NanumSquare" pitchFamily="34" charset="-120"/>
              </a:rPr>
              <a:t>AI ASAP(</a:t>
            </a:r>
            <a:r>
              <a:rPr lang="ko-KR" altLang="en-US" sz="1230" dirty="0">
                <a:solidFill>
                  <a:srgbClr val="66768F"/>
                </a:solidFill>
                <a:latin typeface="페이퍼로지 4 Regular" pitchFamily="2" charset="-127"/>
                <a:ea typeface="페이퍼로지 4 Regular" pitchFamily="2" charset="-127"/>
                <a:cs typeface="NanumSquare" pitchFamily="34" charset="-120"/>
              </a:rPr>
              <a:t>에이셉</a:t>
            </a:r>
            <a:r>
              <a:rPr lang="en-US" altLang="ko-KR" sz="1230" dirty="0">
                <a:solidFill>
                  <a:srgbClr val="66768F"/>
                </a:solidFill>
                <a:latin typeface="페이퍼로지 4 Regular" pitchFamily="2" charset="-127"/>
                <a:ea typeface="페이퍼로지 4 Regular" pitchFamily="2" charset="-127"/>
                <a:cs typeface="NanumSquare" pitchFamily="34" charset="-120"/>
              </a:rPr>
              <a:t>)</a:t>
            </a:r>
            <a:endParaRPr lang="en-US" altLang="ko-KR" sz="123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2" name="Shape 0"/>
          <p:cNvSpPr/>
          <p:nvPr/>
        </p:nvSpPr>
        <p:spPr>
          <a:xfrm>
            <a:off x="10844784" y="128016"/>
            <a:ext cx="1188720" cy="1188720"/>
          </a:xfrm>
          <a:prstGeom prst="ellipse">
            <a:avLst/>
          </a:prstGeom>
          <a:solidFill>
            <a:srgbClr val="EAF3FF"/>
          </a:solidFill>
          <a:ln w="10160">
            <a:solidFill>
              <a:srgbClr val="EAF3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448288" y="292608"/>
            <a:ext cx="310896" cy="310896"/>
          </a:xfrm>
          <a:prstGeom prst="ellipse">
            <a:avLst/>
          </a:prstGeom>
          <a:solidFill>
            <a:srgbClr val="49A8FF"/>
          </a:solidFill>
          <a:ln w="10160">
            <a:solidFill>
              <a:srgbClr val="49A8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844784" y="1024128"/>
            <a:ext cx="868680" cy="0"/>
          </a:xfrm>
          <a:prstGeom prst="line">
            <a:avLst/>
          </a:prstGeom>
          <a:noFill/>
          <a:ln w="13970">
            <a:solidFill>
              <a:srgbClr val="D6E8FF"/>
            </a:solidFill>
            <a:prstDash val="solid"/>
            <a:headEnd type="none"/>
            <a:tailEnd type="none"/>
          </a:ln>
        </p:spPr>
      </p:sp>
      <p:sp>
        <p:nvSpPr>
          <p:cNvPr id="5" name="Shape 3"/>
          <p:cNvSpPr/>
          <p:nvPr/>
        </p:nvSpPr>
        <p:spPr>
          <a:xfrm>
            <a:off x="11045952" y="1225296"/>
            <a:ext cx="667512" cy="0"/>
          </a:xfrm>
          <a:prstGeom prst="line">
            <a:avLst/>
          </a:prstGeom>
          <a:noFill/>
          <a:ln w="13970">
            <a:solidFill>
              <a:srgbClr val="D6E8FF"/>
            </a:solidFill>
            <a:prstDash val="solid"/>
            <a:headEnd type="none"/>
            <a:tailEnd type="none"/>
          </a:ln>
        </p:spPr>
      </p:sp>
      <p:sp>
        <p:nvSpPr>
          <p:cNvPr id="5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10528"/>
            <a:ext cx="27432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B8CA8"/>
                </a:solidFill>
                <a:latin typeface="NanumSquare"/>
                <a:ea typeface="NanumSquare"/>
                <a:cs typeface="NanumSquare"/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  <p:sp>
        <p:nvSpPr>
          <p:cNvPr id="52" name="Text 5">
            <a:extLst>
              <a:ext uri="{FF2B5EF4-FFF2-40B4-BE49-F238E27FC236}">
                <a16:creationId xmlns:a16="http://schemas.microsoft.com/office/drawing/2014/main" id="{18BD87C1-342C-4A32-80E8-3279A30915AE}"/>
              </a:ext>
            </a:extLst>
          </p:cNvPr>
          <p:cNvSpPr txBox="1"/>
          <p:nvPr/>
        </p:nvSpPr>
        <p:spPr>
          <a:xfrm>
            <a:off x="-64242" y="162899"/>
            <a:ext cx="8961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E2746"/>
                </a:solidFill>
                <a:latin typeface="페이퍼로지 4 Regular" pitchFamily="2" charset="-127"/>
                <a:ea typeface="페이퍼로지 4 Regular" pitchFamily="2" charset="-127"/>
                <a:cs typeface="NanumSquare Bold" pitchFamily="34" charset="-120"/>
              </a:rPr>
              <a:t>현황분석</a:t>
            </a:r>
            <a:endParaRPr lang="en-US" sz="1050" dirty="0">
              <a:solidFill>
                <a:srgbClr val="0E2746"/>
              </a:solidFill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60" name="Text 6">
            <a:extLst>
              <a:ext uri="{FF2B5EF4-FFF2-40B4-BE49-F238E27FC236}">
                <a16:creationId xmlns:a16="http://schemas.microsoft.com/office/drawing/2014/main" id="{26523E4F-4D96-421D-9C85-0DBFC0114F74}"/>
              </a:ext>
            </a:extLst>
          </p:cNvPr>
          <p:cNvSpPr txBox="1"/>
          <p:nvPr/>
        </p:nvSpPr>
        <p:spPr>
          <a:xfrm>
            <a:off x="580644" y="857186"/>
            <a:ext cx="10698480" cy="90144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ko-KR" altLang="en-US" sz="2200" b="1" dirty="0">
                <a:solidFill>
                  <a:srgbClr val="10213D"/>
                </a:solidFill>
                <a:latin typeface="페이퍼로지 7 Bold" pitchFamily="2" charset="-127"/>
                <a:ea typeface="페이퍼로지 7 Bold" pitchFamily="2" charset="-127"/>
                <a:cs typeface="NanumSquare Bold" pitchFamily="34" charset="-120"/>
              </a:rPr>
              <a:t>금융위원회와 금융보안원을 중심으로 체계화된</a:t>
            </a:r>
            <a:r>
              <a:rPr lang="ko-KR" altLang="en-US" sz="2200" b="1" dirty="0">
                <a:solidFill>
                  <a:srgbClr val="FF4B16"/>
                </a:solidFill>
                <a:latin typeface="페이퍼로지 7 Bold" pitchFamily="2" charset="-127"/>
                <a:ea typeface="페이퍼로지 7 Bold" pitchFamily="2" charset="-127"/>
                <a:cs typeface="NanumSquare Bold" pitchFamily="34" charset="-120"/>
              </a:rPr>
              <a:t> 보이스피싱 정보공유</a:t>
            </a:r>
            <a:r>
              <a:rPr lang="en-US" altLang="ko-KR" sz="2200" b="1" dirty="0">
                <a:solidFill>
                  <a:srgbClr val="FF4B16"/>
                </a:solidFill>
                <a:latin typeface="페이퍼로지 7 Bold" pitchFamily="2" charset="-127"/>
                <a:ea typeface="페이퍼로지 7 Bold" pitchFamily="2" charset="-127"/>
                <a:cs typeface="NanumSquare Bold" pitchFamily="34" charset="-120"/>
              </a:rPr>
              <a:t>·</a:t>
            </a:r>
            <a:r>
              <a:rPr lang="ko-KR" altLang="en-US" sz="2200" b="1" dirty="0">
                <a:solidFill>
                  <a:srgbClr val="FF4B16"/>
                </a:solidFill>
                <a:latin typeface="페이퍼로지 7 Bold" pitchFamily="2" charset="-127"/>
                <a:ea typeface="페이퍼로지 7 Bold" pitchFamily="2" charset="-127"/>
                <a:cs typeface="NanumSquare Bold" pitchFamily="34" charset="-120"/>
              </a:rPr>
              <a:t>분석 </a:t>
            </a:r>
            <a:r>
              <a:rPr lang="en-US" altLang="ko-KR" sz="2200" b="1" dirty="0">
                <a:solidFill>
                  <a:srgbClr val="FF4B16"/>
                </a:solidFill>
                <a:latin typeface="페이퍼로지 7 Bold" pitchFamily="2" charset="-127"/>
                <a:ea typeface="페이퍼로지 7 Bold" pitchFamily="2" charset="-127"/>
                <a:cs typeface="NanumSquare Bold" pitchFamily="34" charset="-120"/>
              </a:rPr>
              <a:t>AI </a:t>
            </a:r>
            <a:r>
              <a:rPr lang="ko-KR" altLang="en-US" sz="2200" b="1" dirty="0">
                <a:solidFill>
                  <a:srgbClr val="FF4B16"/>
                </a:solidFill>
                <a:latin typeface="페이퍼로지 7 Bold" pitchFamily="2" charset="-127"/>
                <a:ea typeface="페이퍼로지 7 Bold" pitchFamily="2" charset="-127"/>
                <a:cs typeface="NanumSquare Bold" pitchFamily="34" charset="-120"/>
              </a:rPr>
              <a:t>플랫폼</a:t>
            </a:r>
            <a:r>
              <a:rPr lang="en-US" altLang="ko-KR" sz="2200" b="1" dirty="0">
                <a:solidFill>
                  <a:srgbClr val="FF4B16"/>
                </a:solidFill>
                <a:latin typeface="페이퍼로지 7 Bold" pitchFamily="2" charset="-127"/>
                <a:ea typeface="페이퍼로지 7 Bold" pitchFamily="2" charset="-127"/>
                <a:cs typeface="NanumSquare Bold" pitchFamily="34" charset="-120"/>
              </a:rPr>
              <a:t> ASAP</a:t>
            </a:r>
          </a:p>
          <a:p>
            <a:r>
              <a:rPr lang="ko-KR" altLang="en-US" sz="2200" b="1" dirty="0">
                <a:solidFill>
                  <a:srgbClr val="10213D"/>
                </a:solidFill>
                <a:latin typeface="페이퍼로지 7 Bold" pitchFamily="2" charset="-127"/>
                <a:ea typeface="페이퍼로지 7 Bold" pitchFamily="2" charset="-127"/>
                <a:cs typeface="NanumSquare Bold" pitchFamily="34" charset="-120"/>
              </a:rPr>
              <a:t>출범 이후 </a:t>
            </a:r>
            <a:r>
              <a:rPr lang="en-US" altLang="ko-KR" sz="2200" b="1" dirty="0">
                <a:solidFill>
                  <a:srgbClr val="10213D"/>
                </a:solidFill>
                <a:latin typeface="페이퍼로지 7 Bold" pitchFamily="2" charset="-127"/>
                <a:ea typeface="페이퍼로지 7 Bold" pitchFamily="2" charset="-127"/>
                <a:cs typeface="NanumSquare Bold" pitchFamily="34" charset="-120"/>
              </a:rPr>
              <a:t>9</a:t>
            </a:r>
            <a:r>
              <a:rPr lang="ko-KR" altLang="en-US" sz="2200" b="1" dirty="0">
                <a:solidFill>
                  <a:srgbClr val="10213D"/>
                </a:solidFill>
                <a:latin typeface="페이퍼로지 7 Bold" pitchFamily="2" charset="-127"/>
                <a:ea typeface="페이퍼로지 7 Bold" pitchFamily="2" charset="-127"/>
                <a:cs typeface="NanumSquare Bold" pitchFamily="34" charset="-120"/>
              </a:rPr>
              <a:t>개월 간 </a:t>
            </a:r>
            <a:r>
              <a:rPr lang="en-US" altLang="ko-KR" sz="2200" b="1" dirty="0">
                <a:solidFill>
                  <a:srgbClr val="FF4B16"/>
                </a:solidFill>
                <a:latin typeface="페이퍼로지 7 Bold" pitchFamily="2" charset="-127"/>
                <a:ea typeface="페이퍼로지 7 Bold" pitchFamily="2" charset="-127"/>
                <a:cs typeface="NanumSquare Bold" pitchFamily="34" charset="-120"/>
              </a:rPr>
              <a:t>663</a:t>
            </a:r>
            <a:r>
              <a:rPr lang="ko-KR" altLang="en-US" sz="2200" b="1" dirty="0">
                <a:solidFill>
                  <a:srgbClr val="FF4B16"/>
                </a:solidFill>
                <a:latin typeface="페이퍼로지 7 Bold" pitchFamily="2" charset="-127"/>
                <a:ea typeface="페이퍼로지 7 Bold" pitchFamily="2" charset="-127"/>
                <a:cs typeface="NanumSquare Bold" pitchFamily="34" charset="-120"/>
              </a:rPr>
              <a:t>억</a:t>
            </a:r>
            <a:r>
              <a:rPr lang="en-US" altLang="ko-KR" sz="2200" b="1" dirty="0">
                <a:solidFill>
                  <a:srgbClr val="FF4B16"/>
                </a:solidFill>
                <a:latin typeface="페이퍼로지 7 Bold" pitchFamily="2" charset="-127"/>
                <a:ea typeface="페이퍼로지 7 Bold" pitchFamily="2" charset="-127"/>
                <a:cs typeface="NanumSquare Bold" pitchFamily="34" charset="-120"/>
              </a:rPr>
              <a:t>6000</a:t>
            </a:r>
            <a:r>
              <a:rPr lang="ko-KR" altLang="en-US" sz="2200" b="1" dirty="0">
                <a:solidFill>
                  <a:srgbClr val="FF4B16"/>
                </a:solidFill>
                <a:latin typeface="페이퍼로지 7 Bold" pitchFamily="2" charset="-127"/>
                <a:ea typeface="페이퍼로지 7 Bold" pitchFamily="2" charset="-127"/>
                <a:cs typeface="NanumSquare Bold" pitchFamily="34" charset="-120"/>
              </a:rPr>
              <a:t>만원 규모의 피해를 사전 차단</a:t>
            </a:r>
            <a:r>
              <a:rPr lang="ko-KR" altLang="en-US" sz="2200" b="1" dirty="0">
                <a:solidFill>
                  <a:srgbClr val="10213D"/>
                </a:solidFill>
                <a:latin typeface="페이퍼로지 7 Bold" pitchFamily="2" charset="-127"/>
                <a:ea typeface="페이퍼로지 7 Bold" pitchFamily="2" charset="-127"/>
                <a:cs typeface="NanumSquare Bold" pitchFamily="34" charset="-120"/>
              </a:rPr>
              <a:t>하는 실제 성과로 이어졌다</a:t>
            </a:r>
            <a:endParaRPr lang="en-US" altLang="ko-KR" sz="2200" b="1" dirty="0">
              <a:solidFill>
                <a:srgbClr val="10213D"/>
              </a:solidFill>
              <a:latin typeface="페이퍼로지 7 Bold" pitchFamily="2" charset="-127"/>
              <a:ea typeface="페이퍼로지 7 Bold" pitchFamily="2" charset="-127"/>
              <a:cs typeface="NanumSquare Bold" pitchFamily="34" charset="-120"/>
            </a:endParaRPr>
          </a:p>
        </p:txBody>
      </p:sp>
      <p:sp>
        <p:nvSpPr>
          <p:cNvPr id="81" name="Shape 8">
            <a:extLst>
              <a:ext uri="{FF2B5EF4-FFF2-40B4-BE49-F238E27FC236}">
                <a16:creationId xmlns:a16="http://schemas.microsoft.com/office/drawing/2014/main" id="{372E1C90-42E9-4CBF-81B0-76E43E875362}"/>
              </a:ext>
            </a:extLst>
          </p:cNvPr>
          <p:cNvSpPr/>
          <p:nvPr/>
        </p:nvSpPr>
        <p:spPr>
          <a:xfrm>
            <a:off x="534543" y="1808487"/>
            <a:ext cx="5896266" cy="3832193"/>
          </a:xfrm>
          <a:prstGeom prst="roundRect">
            <a:avLst>
              <a:gd name="adj" fmla="val 5818"/>
            </a:avLst>
          </a:prstGeom>
          <a:solidFill>
            <a:srgbClr val="FFFFFF"/>
          </a:solidFill>
          <a:ln w="10160">
            <a:solidFill>
              <a:srgbClr val="DCE8FA"/>
            </a:solidFill>
            <a:prstDash val="solid"/>
          </a:ln>
        </p:spPr>
      </p:sp>
      <p:pic>
        <p:nvPicPr>
          <p:cNvPr id="80" name="그림 7">
            <a:extLst>
              <a:ext uri="{FF2B5EF4-FFF2-40B4-BE49-F238E27FC236}">
                <a16:creationId xmlns:a16="http://schemas.microsoft.com/office/drawing/2014/main" id="{E668F3AE-32D0-B134-C7D2-A51000B586D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006" t="18162" r="3581" b="6222"/>
          <a:stretch/>
        </p:blipFill>
        <p:spPr>
          <a:xfrm>
            <a:off x="772314" y="3291223"/>
            <a:ext cx="5420724" cy="2153462"/>
          </a:xfrm>
          <a:prstGeom prst="rect">
            <a:avLst/>
          </a:prstGeom>
        </p:spPr>
      </p:pic>
      <p:sp>
        <p:nvSpPr>
          <p:cNvPr id="83" name="TextBox 82">
            <a:extLst>
              <a:ext uri="{FF2B5EF4-FFF2-40B4-BE49-F238E27FC236}">
                <a16:creationId xmlns:a16="http://schemas.microsoft.com/office/drawing/2014/main" id="{6866EF50-0FEC-4AF4-A807-8A42ED37A943}"/>
              </a:ext>
            </a:extLst>
          </p:cNvPr>
          <p:cNvSpPr txBox="1"/>
          <p:nvPr/>
        </p:nvSpPr>
        <p:spPr>
          <a:xfrm>
            <a:off x="655445" y="1904980"/>
            <a:ext cx="482074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b="1" dirty="0">
                <a:solidFill>
                  <a:srgbClr val="10213D"/>
                </a:solidFill>
                <a:latin typeface="페이퍼로지 7 Bold" pitchFamily="2" charset="-127"/>
                <a:ea typeface="페이퍼로지 7 Bold" pitchFamily="2" charset="-127"/>
                <a:cs typeface="NanumSquare Bold" pitchFamily="34" charset="-120"/>
              </a:rPr>
              <a:t>보이스피싱 정보공유</a:t>
            </a:r>
            <a:r>
              <a:rPr lang="en-US" altLang="ko-KR" sz="1400" b="1" dirty="0">
                <a:solidFill>
                  <a:srgbClr val="10213D"/>
                </a:solidFill>
                <a:latin typeface="페이퍼로지 7 Bold" pitchFamily="2" charset="-127"/>
                <a:ea typeface="페이퍼로지 7 Bold" pitchFamily="2" charset="-127"/>
                <a:cs typeface="NanumSquare Bold" pitchFamily="34" charset="-120"/>
              </a:rPr>
              <a:t>·</a:t>
            </a:r>
            <a:r>
              <a:rPr lang="ko-KR" altLang="en-US" sz="1400" b="1" dirty="0">
                <a:solidFill>
                  <a:srgbClr val="10213D"/>
                </a:solidFill>
                <a:latin typeface="페이퍼로지 7 Bold" pitchFamily="2" charset="-127"/>
                <a:ea typeface="페이퍼로지 7 Bold" pitchFamily="2" charset="-127"/>
                <a:cs typeface="NanumSquare Bold" pitchFamily="34" charset="-120"/>
              </a:rPr>
              <a:t>분석 </a:t>
            </a:r>
            <a:r>
              <a:rPr lang="en-US" altLang="ko-KR" sz="1400" b="1" dirty="0">
                <a:solidFill>
                  <a:srgbClr val="10213D"/>
                </a:solidFill>
                <a:latin typeface="페이퍼로지 7 Bold" pitchFamily="2" charset="-127"/>
                <a:ea typeface="페이퍼로지 7 Bold" pitchFamily="2" charset="-127"/>
                <a:cs typeface="NanumSquare Bold" pitchFamily="34" charset="-120"/>
              </a:rPr>
              <a:t>AI </a:t>
            </a:r>
            <a:r>
              <a:rPr lang="ko-KR" altLang="en-US" sz="1400" b="1" dirty="0">
                <a:solidFill>
                  <a:srgbClr val="10213D"/>
                </a:solidFill>
                <a:latin typeface="페이퍼로지 7 Bold" pitchFamily="2" charset="-127"/>
                <a:ea typeface="페이퍼로지 7 Bold" pitchFamily="2" charset="-127"/>
                <a:cs typeface="NanumSquare Bold" pitchFamily="34" charset="-120"/>
              </a:rPr>
              <a:t>플랫폼</a:t>
            </a:r>
            <a:r>
              <a:rPr lang="en-US" altLang="ko-KR" sz="1400" b="1" dirty="0">
                <a:solidFill>
                  <a:srgbClr val="10213D"/>
                </a:solidFill>
                <a:latin typeface="페이퍼로지 7 Bold" pitchFamily="2" charset="-127"/>
                <a:ea typeface="페이퍼로지 7 Bold" pitchFamily="2" charset="-127"/>
                <a:cs typeface="NanumSquare Bold" pitchFamily="34" charset="-120"/>
              </a:rPr>
              <a:t>(ASAP)</a:t>
            </a:r>
            <a:endParaRPr lang="ko-KR" altLang="en-US" sz="1400" dirty="0"/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38A72F21-C9A8-43CF-9D50-07139CD417B7}"/>
              </a:ext>
            </a:extLst>
          </p:cNvPr>
          <p:cNvSpPr txBox="1"/>
          <p:nvPr/>
        </p:nvSpPr>
        <p:spPr>
          <a:xfrm>
            <a:off x="655445" y="2205329"/>
            <a:ext cx="5654462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페이퍼로지 7 Bold" pitchFamily="2" charset="-127"/>
                <a:ea typeface="페이퍼로지 7 Bold" pitchFamily="2" charset="-127"/>
              </a:rPr>
              <a:t>가동 및 법적 기반</a:t>
            </a:r>
            <a:r>
              <a:rPr lang="en-US" altLang="ko-KR" sz="1000" dirty="0">
                <a:latin typeface="페이퍼로지 7 Bold" pitchFamily="2" charset="-127"/>
                <a:ea typeface="페이퍼로지 7 Bold" pitchFamily="2" charset="-127"/>
              </a:rPr>
              <a:t>: </a:t>
            </a:r>
            <a:r>
              <a:rPr lang="en-US" altLang="ko-KR" sz="1000" dirty="0">
                <a:latin typeface="페이퍼로지 4 Regular" pitchFamily="2" charset="-127"/>
                <a:ea typeface="페이퍼로지 4 Regular" pitchFamily="2" charset="-127"/>
              </a:rPr>
              <a:t>2025</a:t>
            </a:r>
            <a:r>
              <a:rPr lang="ko-KR" altLang="en-US" sz="1000" dirty="0">
                <a:latin typeface="페이퍼로지 4 Regular" pitchFamily="2" charset="-127"/>
                <a:ea typeface="페이퍼로지 4 Regular" pitchFamily="2" charset="-127"/>
              </a:rPr>
              <a:t>년 </a:t>
            </a:r>
            <a:r>
              <a:rPr lang="en-US" altLang="ko-KR" sz="1000" dirty="0">
                <a:latin typeface="페이퍼로지 4 Regular" pitchFamily="2" charset="-127"/>
                <a:ea typeface="페이퍼로지 4 Regular" pitchFamily="2" charset="-127"/>
              </a:rPr>
              <a:t>10</a:t>
            </a:r>
            <a:r>
              <a:rPr lang="ko-KR" altLang="en-US" sz="1000" dirty="0">
                <a:latin typeface="페이퍼로지 4 Regular" pitchFamily="2" charset="-127"/>
                <a:ea typeface="페이퍼로지 4 Regular" pitchFamily="2" charset="-127"/>
              </a:rPr>
              <a:t>월 출범 이후</a:t>
            </a:r>
            <a:r>
              <a:rPr lang="en-US" altLang="ko-KR" sz="1000" dirty="0">
                <a:latin typeface="페이퍼로지 4 Regular" pitchFamily="2" charset="-127"/>
                <a:ea typeface="페이퍼로지 4 Regular" pitchFamily="2" charset="-127"/>
              </a:rPr>
              <a:t>, 2026</a:t>
            </a:r>
            <a:r>
              <a:rPr lang="ko-KR" altLang="en-US" sz="1000" dirty="0">
                <a:latin typeface="페이퍼로지 4 Regular" pitchFamily="2" charset="-127"/>
                <a:ea typeface="페이퍼로지 4 Regular" pitchFamily="2" charset="-127"/>
              </a:rPr>
              <a:t>년 </a:t>
            </a:r>
            <a:r>
              <a:rPr lang="en-US" altLang="ko-KR" sz="1000" dirty="0">
                <a:latin typeface="페이퍼로지 4 Regular" pitchFamily="2" charset="-127"/>
                <a:ea typeface="페이퍼로지 4 Regular" pitchFamily="2" charset="-127"/>
              </a:rPr>
              <a:t>8</a:t>
            </a:r>
            <a:r>
              <a:rPr lang="ko-KR" altLang="en-US" sz="1000" dirty="0">
                <a:latin typeface="페이퍼로지 4 Regular" pitchFamily="2" charset="-127"/>
                <a:ea typeface="페이퍼로지 4 Regular" pitchFamily="2" charset="-127"/>
              </a:rPr>
              <a:t>월부터 </a:t>
            </a:r>
            <a:r>
              <a:rPr lang="en-US" altLang="ko-KR" sz="1000" dirty="0">
                <a:latin typeface="페이퍼로지 4 Regular" pitchFamily="2" charset="-127"/>
                <a:ea typeface="페이퍼로지 4 Regular" pitchFamily="2" charset="-127"/>
              </a:rPr>
              <a:t>'</a:t>
            </a:r>
            <a:r>
              <a:rPr lang="ko-KR" altLang="en-US" sz="1000" dirty="0">
                <a:latin typeface="페이퍼로지 4 Regular" pitchFamily="2" charset="-127"/>
                <a:ea typeface="페이퍼로지 4 Regular" pitchFamily="2" charset="-127"/>
              </a:rPr>
              <a:t>통신사기피해환급법</a:t>
            </a:r>
            <a:r>
              <a:rPr lang="en-US" altLang="ko-KR" sz="1000" dirty="0">
                <a:latin typeface="페이퍼로지 4 Regular" pitchFamily="2" charset="-127"/>
                <a:ea typeface="페이퍼로지 4 Regular" pitchFamily="2" charset="-127"/>
              </a:rPr>
              <a:t>' </a:t>
            </a:r>
            <a:r>
              <a:rPr lang="ko-KR" altLang="en-US" sz="1000" dirty="0">
                <a:latin typeface="페이퍼로지 4 Regular" pitchFamily="2" charset="-127"/>
                <a:ea typeface="페이퍼로지 4 Regular" pitchFamily="2" charset="-127"/>
              </a:rPr>
              <a:t>개정에 따라</a:t>
            </a:r>
            <a:endParaRPr lang="en-US" altLang="ko-KR" sz="1000" dirty="0">
              <a:latin typeface="페이퍼로지 4 Regular" pitchFamily="2" charset="-127"/>
              <a:ea typeface="페이퍼로지 4 Regular" pitchFamily="2" charset="-127"/>
            </a:endParaRPr>
          </a:p>
          <a:p>
            <a:r>
              <a:rPr lang="en-US" altLang="ko-KR" sz="1000" dirty="0">
                <a:solidFill>
                  <a:srgbClr val="FF4B16"/>
                </a:solidFill>
                <a:latin typeface="페이퍼로지 4 Regular" pitchFamily="2" charset="-127"/>
                <a:ea typeface="페이퍼로지 4 Regular" pitchFamily="2" charset="-127"/>
              </a:rPr>
              <a:t>                                </a:t>
            </a:r>
            <a:r>
              <a:rPr lang="ko-KR" altLang="en-US" sz="1000" dirty="0">
                <a:solidFill>
                  <a:srgbClr val="FF4B16"/>
                </a:solidFill>
                <a:latin typeface="페이퍼로지 4 Regular" pitchFamily="2" charset="-127"/>
                <a:ea typeface="페이퍼로지 4 Regular" pitchFamily="2" charset="-127"/>
              </a:rPr>
              <a:t>정보 주체의 동의 없이도 관계기관 간 의심 정보 공동 활용</a:t>
            </a:r>
            <a:r>
              <a:rPr lang="ko-KR" altLang="en-US" sz="1000" dirty="0">
                <a:latin typeface="페이퍼로지 4 Regular" pitchFamily="2" charset="-127"/>
                <a:ea typeface="페이퍼로지 4 Regular" pitchFamily="2" charset="-127"/>
              </a:rPr>
              <a:t>이 본격 시행</a:t>
            </a:r>
            <a:endParaRPr lang="en-US" altLang="ko-KR" sz="1000" dirty="0">
              <a:latin typeface="페이퍼로지 4 Regular" pitchFamily="2" charset="-127"/>
              <a:ea typeface="페이퍼로지 4 Regular" pitchFamily="2" charset="-127"/>
            </a:endParaRPr>
          </a:p>
          <a:p>
            <a:r>
              <a:rPr lang="ko-KR" altLang="en-US" sz="1000" dirty="0">
                <a:latin typeface="페이퍼로지 7 Bold" pitchFamily="2" charset="-127"/>
                <a:ea typeface="페이퍼로지 7 Bold" pitchFamily="2" charset="-127"/>
              </a:rPr>
              <a:t>참여 기관</a:t>
            </a:r>
            <a:r>
              <a:rPr lang="en-US" altLang="ko-KR" sz="1000" dirty="0">
                <a:latin typeface="페이퍼로지 4 Regular" pitchFamily="2" charset="-127"/>
                <a:ea typeface="페이퍼로지 4 Regular" pitchFamily="2" charset="-127"/>
              </a:rPr>
              <a:t>: </a:t>
            </a:r>
            <a:r>
              <a:rPr lang="ko-KR" altLang="en-US" sz="1000" dirty="0">
                <a:latin typeface="페이퍼로지 4 Regular" pitchFamily="2" charset="-127"/>
                <a:ea typeface="페이퍼로지 4 Regular" pitchFamily="2" charset="-127"/>
              </a:rPr>
              <a:t>금융위원회와 금융보안원을 중심으로 은행</a:t>
            </a:r>
            <a:r>
              <a:rPr lang="en-US" altLang="ko-KR" sz="1000" dirty="0">
                <a:latin typeface="페이퍼로지 4 Regular" pitchFamily="2" charset="-127"/>
                <a:ea typeface="페이퍼로지 4 Regular" pitchFamily="2" charset="-127"/>
              </a:rPr>
              <a:t>, </a:t>
            </a:r>
            <a:r>
              <a:rPr lang="ko-KR" altLang="en-US" sz="1000" dirty="0">
                <a:latin typeface="페이퍼로지 4 Regular" pitchFamily="2" charset="-127"/>
                <a:ea typeface="페이퍼로지 4 Regular" pitchFamily="2" charset="-127"/>
              </a:rPr>
              <a:t>증권사</a:t>
            </a:r>
            <a:r>
              <a:rPr lang="en-US" altLang="ko-KR" sz="1000" dirty="0">
                <a:latin typeface="페이퍼로지 4 Regular" pitchFamily="2" charset="-127"/>
                <a:ea typeface="페이퍼로지 4 Regular" pitchFamily="2" charset="-127"/>
              </a:rPr>
              <a:t>, </a:t>
            </a:r>
            <a:r>
              <a:rPr lang="ko-KR" altLang="en-US" sz="1000" dirty="0">
                <a:latin typeface="페이퍼로지 4 Regular" pitchFamily="2" charset="-127"/>
                <a:ea typeface="페이퍼로지 4 Regular" pitchFamily="2" charset="-127"/>
              </a:rPr>
              <a:t>제</a:t>
            </a:r>
            <a:r>
              <a:rPr lang="en-US" altLang="ko-KR" sz="1000" dirty="0">
                <a:latin typeface="페이퍼로지 4 Regular" pitchFamily="2" charset="-127"/>
                <a:ea typeface="페이퍼로지 4 Regular" pitchFamily="2" charset="-127"/>
              </a:rPr>
              <a:t>2</a:t>
            </a:r>
            <a:r>
              <a:rPr lang="ko-KR" altLang="en-US" sz="1000" dirty="0">
                <a:latin typeface="페이퍼로지 4 Regular" pitchFamily="2" charset="-127"/>
                <a:ea typeface="페이퍼로지 4 Regular" pitchFamily="2" charset="-127"/>
              </a:rPr>
              <a:t>금융권</a:t>
            </a:r>
            <a:r>
              <a:rPr lang="en-US" altLang="ko-KR" sz="1000" dirty="0">
                <a:latin typeface="페이퍼로지 4 Regular" pitchFamily="2" charset="-127"/>
                <a:ea typeface="페이퍼로지 4 Regular" pitchFamily="2" charset="-127"/>
              </a:rPr>
              <a:t>, </a:t>
            </a:r>
            <a:r>
              <a:rPr lang="ko-KR" altLang="en-US" sz="1000" dirty="0">
                <a:latin typeface="페이퍼로지 4 Regular" pitchFamily="2" charset="-127"/>
                <a:ea typeface="페이퍼로지 4 Regular" pitchFamily="2" charset="-127"/>
              </a:rPr>
              <a:t>통신사</a:t>
            </a:r>
            <a:r>
              <a:rPr lang="en-US" altLang="ko-KR" sz="1000" dirty="0">
                <a:latin typeface="페이퍼로지 4 Regular" pitchFamily="2" charset="-127"/>
                <a:ea typeface="페이퍼로지 4 Regular" pitchFamily="2" charset="-127"/>
              </a:rPr>
              <a:t>, </a:t>
            </a:r>
            <a:r>
              <a:rPr lang="ko-KR" altLang="en-US" sz="1000" dirty="0">
                <a:latin typeface="페이퍼로지 4 Regular" pitchFamily="2" charset="-127"/>
                <a:ea typeface="페이퍼로지 4 Regular" pitchFamily="2" charset="-127"/>
              </a:rPr>
              <a:t>수사기관</a:t>
            </a:r>
            <a:r>
              <a:rPr lang="en-US" altLang="ko-KR" sz="1000" dirty="0">
                <a:latin typeface="페이퍼로지 4 Regular" pitchFamily="2" charset="-127"/>
                <a:ea typeface="페이퍼로지 4 Regular" pitchFamily="2" charset="-127"/>
              </a:rPr>
              <a:t>, </a:t>
            </a:r>
            <a:r>
              <a:rPr lang="ko-KR" altLang="en-US" sz="1000" dirty="0">
                <a:latin typeface="페이퍼로지 4 Regular" pitchFamily="2" charset="-127"/>
                <a:ea typeface="페이퍼로지 4 Regular" pitchFamily="2" charset="-127"/>
              </a:rPr>
              <a:t>가상자산거래소 등</a:t>
            </a:r>
            <a:endParaRPr lang="en-US" altLang="ko-KR" sz="1000" dirty="0">
              <a:latin typeface="페이퍼로지 4 Regular" pitchFamily="2" charset="-127"/>
              <a:ea typeface="페이퍼로지 4 Regular" pitchFamily="2" charset="-127"/>
            </a:endParaRPr>
          </a:p>
          <a:p>
            <a:r>
              <a:rPr lang="ko-KR" altLang="en-US" sz="1000" dirty="0">
                <a:latin typeface="페이퍼로지 7 Bold" pitchFamily="2" charset="-127"/>
                <a:ea typeface="페이퍼로지 7 Bold" pitchFamily="2" charset="-127"/>
              </a:rPr>
              <a:t>공유 정보</a:t>
            </a:r>
            <a:r>
              <a:rPr lang="en-US" altLang="ko-KR" sz="1000" dirty="0">
                <a:latin typeface="페이퍼로지 4 Regular" pitchFamily="2" charset="-127"/>
                <a:ea typeface="페이퍼로지 4 Regular" pitchFamily="2" charset="-127"/>
              </a:rPr>
              <a:t>: </a:t>
            </a:r>
            <a:r>
              <a:rPr lang="ko-KR" altLang="en-US" sz="1000" dirty="0">
                <a:latin typeface="페이퍼로지 4 Regular" pitchFamily="2" charset="-127"/>
                <a:ea typeface="페이퍼로지 4 Regular" pitchFamily="2" charset="-127"/>
              </a:rPr>
              <a:t>사기 이용 계좌</a:t>
            </a:r>
            <a:r>
              <a:rPr lang="en-US" altLang="ko-KR" sz="1000" dirty="0">
                <a:latin typeface="페이퍼로지 4 Regular" pitchFamily="2" charset="-127"/>
                <a:ea typeface="페이퍼로지 4 Regular" pitchFamily="2" charset="-127"/>
              </a:rPr>
              <a:t>, </a:t>
            </a:r>
            <a:r>
              <a:rPr lang="ko-KR" altLang="en-US" sz="1000" dirty="0">
                <a:latin typeface="페이퍼로지 4 Regular" pitchFamily="2" charset="-127"/>
                <a:ea typeface="페이퍼로지 4 Regular" pitchFamily="2" charset="-127"/>
              </a:rPr>
              <a:t>악성앱 탐지 정보</a:t>
            </a:r>
            <a:r>
              <a:rPr lang="en-US" altLang="ko-KR" sz="1000" dirty="0">
                <a:latin typeface="페이퍼로지 4 Regular" pitchFamily="2" charset="-127"/>
                <a:ea typeface="페이퍼로지 4 Regular" pitchFamily="2" charset="-127"/>
              </a:rPr>
              <a:t>, </a:t>
            </a:r>
            <a:r>
              <a:rPr lang="ko-KR" altLang="en-US" sz="1000" dirty="0">
                <a:latin typeface="페이퍼로지 4 Regular" pitchFamily="2" charset="-127"/>
                <a:ea typeface="페이퍼로지 4 Regular" pitchFamily="2" charset="-127"/>
              </a:rPr>
              <a:t>피싱사이트 접속 이력</a:t>
            </a:r>
            <a:r>
              <a:rPr lang="en-US" altLang="ko-KR" sz="1000" dirty="0">
                <a:latin typeface="페이퍼로지 4 Regular" pitchFamily="2" charset="-127"/>
                <a:ea typeface="페이퍼로지 4 Regular" pitchFamily="2" charset="-127"/>
              </a:rPr>
              <a:t>, </a:t>
            </a:r>
            <a:r>
              <a:rPr lang="ko-KR" altLang="en-US" sz="1000" dirty="0">
                <a:latin typeface="페이퍼로지 4 Regular" pitchFamily="2" charset="-127"/>
                <a:ea typeface="페이퍼로지 4 Regular" pitchFamily="2" charset="-127"/>
              </a:rPr>
              <a:t>의심 및 범죄이용 전화번호 등</a:t>
            </a:r>
            <a:endParaRPr lang="en-US" altLang="ko-KR" sz="1000" dirty="0">
              <a:latin typeface="페이퍼로지 4 Regular" pitchFamily="2" charset="-127"/>
              <a:ea typeface="페이퍼로지 4 Regular" pitchFamily="2" charset="-127"/>
            </a:endParaRPr>
          </a:p>
          <a:p>
            <a:r>
              <a:rPr lang="ko-KR" altLang="en-US" sz="1000" dirty="0">
                <a:latin typeface="페이퍼로지 7 Bold" pitchFamily="2" charset="-127"/>
                <a:ea typeface="페이퍼로지 7 Bold" pitchFamily="2" charset="-127"/>
              </a:rPr>
              <a:t>기대 효과</a:t>
            </a:r>
            <a:r>
              <a:rPr lang="en-US" altLang="ko-KR" sz="1000" dirty="0">
                <a:latin typeface="페이퍼로지 4 Regular" pitchFamily="2" charset="-127"/>
                <a:ea typeface="페이퍼로지 4 Regular" pitchFamily="2" charset="-127"/>
              </a:rPr>
              <a:t>: </a:t>
            </a:r>
            <a:r>
              <a:rPr lang="ko-KR" altLang="en-US" sz="1000" dirty="0">
                <a:solidFill>
                  <a:srgbClr val="FF4B16"/>
                </a:solidFill>
                <a:latin typeface="페이퍼로지 4 Regular" pitchFamily="2" charset="-127"/>
                <a:ea typeface="페이퍼로지 4 Regular" pitchFamily="2" charset="-127"/>
              </a:rPr>
              <a:t>각 기관이 분산된 정보를 즉시 공유하여 신속</a:t>
            </a:r>
            <a:r>
              <a:rPr lang="ko-KR" altLang="en-US" sz="1000" dirty="0">
                <a:latin typeface="페이퍼로지 4 Regular" pitchFamily="2" charset="-127"/>
                <a:ea typeface="페이퍼로지 4 Regular" pitchFamily="2" charset="-127"/>
              </a:rPr>
              <a:t>한 계좌 지급정지 및 비정상 거래 차단</a:t>
            </a:r>
            <a:r>
              <a:rPr lang="en-US" altLang="ko-KR" sz="1000" dirty="0">
                <a:latin typeface="페이퍼로지 4 Regular" pitchFamily="2" charset="-127"/>
                <a:ea typeface="페이퍼로지 4 Regular" pitchFamily="2" charset="-127"/>
              </a:rPr>
              <a:t>, </a:t>
            </a:r>
            <a:r>
              <a:rPr lang="ko-KR" altLang="en-US" sz="1000" dirty="0">
                <a:latin typeface="페이퍼로지 4 Regular" pitchFamily="2" charset="-127"/>
                <a:ea typeface="페이퍼로지 4 Regular" pitchFamily="2" charset="-127"/>
              </a:rPr>
              <a:t>범죄 수사에 활용</a:t>
            </a:r>
            <a:endParaRPr lang="en-US" altLang="ko-KR" sz="1000" dirty="0">
              <a:latin typeface="페이퍼로지 4 Regular" pitchFamily="2" charset="-127"/>
              <a:ea typeface="페이퍼로지 4 Regular" pitchFamily="2" charset="-127"/>
            </a:endParaRPr>
          </a:p>
          <a:p>
            <a:r>
              <a:rPr lang="en-US" altLang="ko-KR" sz="1000" dirty="0">
                <a:latin typeface="페이퍼로지 7 Bold" pitchFamily="2" charset="-127"/>
                <a:ea typeface="페이퍼로지 7 Bold" pitchFamily="2" charset="-127"/>
              </a:rPr>
              <a:t>FDS </a:t>
            </a:r>
            <a:r>
              <a:rPr lang="ko-KR" altLang="en-US" sz="1000" dirty="0">
                <a:latin typeface="페이퍼로지 7 Bold" pitchFamily="2" charset="-127"/>
                <a:ea typeface="페이퍼로지 7 Bold" pitchFamily="2" charset="-127"/>
              </a:rPr>
              <a:t>활용 </a:t>
            </a:r>
            <a:r>
              <a:rPr lang="en-US" altLang="ko-KR" sz="1000" dirty="0">
                <a:latin typeface="페이퍼로지 7 Bold" pitchFamily="2" charset="-127"/>
                <a:ea typeface="페이퍼로지 7 Bold" pitchFamily="2" charset="-127"/>
              </a:rPr>
              <a:t>: </a:t>
            </a:r>
            <a:r>
              <a:rPr lang="ko-KR" altLang="en-US" sz="1000" dirty="0">
                <a:latin typeface="페이퍼로지 4 Regular" pitchFamily="2" charset="-127"/>
                <a:ea typeface="페이퍼로지 4 Regular" pitchFamily="2" charset="-127"/>
              </a:rPr>
              <a:t>금융회사가 운영</a:t>
            </a:r>
            <a:r>
              <a:rPr lang="en-US" altLang="ko-KR" sz="1000" dirty="0">
                <a:latin typeface="페이퍼로지 4 Regular" pitchFamily="2" charset="-127"/>
                <a:ea typeface="페이퍼로지 4 Regular" pitchFamily="2" charset="-127"/>
              </a:rPr>
              <a:t>, </a:t>
            </a:r>
            <a:r>
              <a:rPr lang="ko-KR" altLang="en-US" sz="1000" dirty="0">
                <a:latin typeface="페이퍼로지 4 Regular" pitchFamily="2" charset="-127"/>
                <a:ea typeface="페이퍼로지 4 Regular" pitchFamily="2" charset="-127"/>
              </a:rPr>
              <a:t>평소와 다른 </a:t>
            </a:r>
            <a:r>
              <a:rPr lang="ko-KR" altLang="en-US" sz="1000" dirty="0">
                <a:solidFill>
                  <a:srgbClr val="FF4B16"/>
                </a:solidFill>
                <a:latin typeface="페이퍼로지 4 Regular" pitchFamily="2" charset="-127"/>
                <a:ea typeface="페이퍼로지 4 Regular" pitchFamily="2" charset="-127"/>
              </a:rPr>
              <a:t>이상한 자금이체나 거래를 자동으로 찾아내는 보안 시스템 </a:t>
            </a:r>
            <a:r>
              <a:rPr lang="en-US" altLang="ko-KR" sz="1000" dirty="0">
                <a:solidFill>
                  <a:srgbClr val="FF4B16"/>
                </a:solidFill>
                <a:latin typeface="페이퍼로지 4 Regular" pitchFamily="2" charset="-127"/>
                <a:ea typeface="페이퍼로지 4 Regular" pitchFamily="2" charset="-127"/>
              </a:rPr>
              <a:t>FDS </a:t>
            </a:r>
            <a:r>
              <a:rPr lang="ko-KR" altLang="en-US" sz="1000" dirty="0">
                <a:solidFill>
                  <a:srgbClr val="FF4B16"/>
                </a:solidFill>
                <a:latin typeface="페이퍼로지 4 Regular" pitchFamily="2" charset="-127"/>
                <a:ea typeface="페이퍼로지 4 Regular" pitchFamily="2" charset="-127"/>
              </a:rPr>
              <a:t>활용</a:t>
            </a:r>
          </a:p>
        </p:txBody>
      </p:sp>
      <p:sp>
        <p:nvSpPr>
          <p:cNvPr id="88" name="Shape 8">
            <a:extLst>
              <a:ext uri="{FF2B5EF4-FFF2-40B4-BE49-F238E27FC236}">
                <a16:creationId xmlns:a16="http://schemas.microsoft.com/office/drawing/2014/main" id="{A6E48D8D-F246-47B4-9FDB-5F1AECC542EB}"/>
              </a:ext>
            </a:extLst>
          </p:cNvPr>
          <p:cNvSpPr/>
          <p:nvPr/>
        </p:nvSpPr>
        <p:spPr>
          <a:xfrm>
            <a:off x="6641273" y="1808487"/>
            <a:ext cx="4931485" cy="3832193"/>
          </a:xfrm>
          <a:prstGeom prst="roundRect">
            <a:avLst>
              <a:gd name="adj" fmla="val 5818"/>
            </a:avLst>
          </a:prstGeom>
          <a:solidFill>
            <a:srgbClr val="FFFFFF"/>
          </a:solidFill>
          <a:ln w="10160">
            <a:solidFill>
              <a:srgbClr val="DCE8FA"/>
            </a:solidFill>
            <a:prstDash val="solid"/>
          </a:ln>
        </p:spPr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94D85F3B-306F-4E6C-9DCA-8D7C4B0D8278}"/>
              </a:ext>
            </a:extLst>
          </p:cNvPr>
          <p:cNvSpPr txBox="1"/>
          <p:nvPr/>
        </p:nvSpPr>
        <p:spPr>
          <a:xfrm>
            <a:off x="6802286" y="1904980"/>
            <a:ext cx="397974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b="1" dirty="0">
                <a:solidFill>
                  <a:srgbClr val="10213D"/>
                </a:solidFill>
                <a:latin typeface="페이퍼로지 7 Bold" pitchFamily="2" charset="-127"/>
                <a:ea typeface="페이퍼로지 7 Bold" pitchFamily="2" charset="-127"/>
                <a:cs typeface="NanumSquare Bold" pitchFamily="34" charset="-120"/>
              </a:rPr>
              <a:t>ASAP </a:t>
            </a:r>
            <a:r>
              <a:rPr lang="ko-KR" altLang="en-US" sz="1400" b="1" dirty="0">
                <a:solidFill>
                  <a:srgbClr val="10213D"/>
                </a:solidFill>
                <a:latin typeface="페이퍼로지 7 Bold" pitchFamily="2" charset="-127"/>
                <a:ea typeface="페이퍼로지 7 Bold" pitchFamily="2" charset="-127"/>
                <a:cs typeface="NanumSquare Bold" pitchFamily="34" charset="-120"/>
              </a:rPr>
              <a:t>플랫폼의 출범 이후 핵심 성과 </a:t>
            </a:r>
            <a:endParaRPr lang="en-US" altLang="ko-KR" sz="1400" b="1" dirty="0">
              <a:solidFill>
                <a:srgbClr val="10213D"/>
              </a:solidFill>
              <a:latin typeface="페이퍼로지 7 Bold" pitchFamily="2" charset="-127"/>
              <a:ea typeface="페이퍼로지 7 Bold" pitchFamily="2" charset="-127"/>
              <a:cs typeface="NanumSquare Bold" pitchFamily="34" charset="-120"/>
            </a:endParaRPr>
          </a:p>
        </p:txBody>
      </p:sp>
      <p:grpSp>
        <p:nvGrpSpPr>
          <p:cNvPr id="93" name="Group 92">
            <a:extLst>
              <a:ext uri="{FF2B5EF4-FFF2-40B4-BE49-F238E27FC236}">
                <a16:creationId xmlns:a16="http://schemas.microsoft.com/office/drawing/2014/main" id="{FB2E5A33-3FFF-4B4C-BD77-28ADFC79B401}"/>
              </a:ext>
            </a:extLst>
          </p:cNvPr>
          <p:cNvGrpSpPr/>
          <p:nvPr/>
        </p:nvGrpSpPr>
        <p:grpSpPr>
          <a:xfrm>
            <a:off x="295835" y="5802475"/>
            <a:ext cx="11655196" cy="538281"/>
            <a:chOff x="989537" y="5557693"/>
            <a:chExt cx="10212928" cy="773508"/>
          </a:xfrm>
        </p:grpSpPr>
        <p:sp>
          <p:nvSpPr>
            <p:cNvPr id="96" name="Shape 44">
              <a:extLst>
                <a:ext uri="{FF2B5EF4-FFF2-40B4-BE49-F238E27FC236}">
                  <a16:creationId xmlns:a16="http://schemas.microsoft.com/office/drawing/2014/main" id="{731F3A17-9EC7-457A-9066-89707FAB988C}"/>
                </a:ext>
              </a:extLst>
            </p:cNvPr>
            <p:cNvSpPr/>
            <p:nvPr/>
          </p:nvSpPr>
          <p:spPr>
            <a:xfrm>
              <a:off x="1057656" y="5587831"/>
              <a:ext cx="10076688" cy="713232"/>
            </a:xfrm>
            <a:prstGeom prst="roundRect">
              <a:avLst>
                <a:gd name="adj" fmla="val 20513"/>
              </a:avLst>
            </a:prstGeom>
            <a:solidFill>
              <a:srgbClr val="0B1F3A"/>
            </a:solidFill>
            <a:ln w="10160">
              <a:solidFill>
                <a:srgbClr val="0B1F3A"/>
              </a:solidFill>
              <a:prstDash val="solid"/>
            </a:ln>
          </p:spPr>
        </p:sp>
        <p:sp>
          <p:nvSpPr>
            <p:cNvPr id="106" name="Text 45">
              <a:extLst>
                <a:ext uri="{FF2B5EF4-FFF2-40B4-BE49-F238E27FC236}">
                  <a16:creationId xmlns:a16="http://schemas.microsoft.com/office/drawing/2014/main" id="{816798D6-68D0-4DF8-A408-120BDDD003E6}"/>
                </a:ext>
              </a:extLst>
            </p:cNvPr>
            <p:cNvSpPr txBox="1"/>
            <p:nvPr/>
          </p:nvSpPr>
          <p:spPr>
            <a:xfrm>
              <a:off x="989537" y="5557693"/>
              <a:ext cx="10212928" cy="7735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altLang="ko-KR" sz="1520" b="1" dirty="0">
                  <a:solidFill>
                    <a:srgbClr val="FFFFFF"/>
                  </a:solidFill>
                  <a:latin typeface="페이퍼로지 7 Bold" pitchFamily="2" charset="-127"/>
                  <a:ea typeface="페이퍼로지 7 Bold" pitchFamily="2" charset="-127"/>
                </a:rPr>
                <a:t>AI</a:t>
              </a:r>
              <a:r>
                <a:rPr lang="ko-KR" altLang="en-US" sz="1520" b="1" dirty="0">
                  <a:solidFill>
                    <a:srgbClr val="FFFFFF"/>
                  </a:solidFill>
                  <a:latin typeface="페이퍼로지 7 Bold" pitchFamily="2" charset="-127"/>
                  <a:ea typeface="페이퍼로지 7 Bold" pitchFamily="2" charset="-127"/>
                </a:rPr>
                <a:t>와 빅데이터</a:t>
              </a:r>
              <a:r>
                <a:rPr lang="en-US" altLang="ko-KR" sz="1520" b="1" dirty="0">
                  <a:solidFill>
                    <a:srgbClr val="FFFFFF"/>
                  </a:solidFill>
                  <a:latin typeface="페이퍼로지 7 Bold" pitchFamily="2" charset="-127"/>
                  <a:ea typeface="페이퍼로지 7 Bold" pitchFamily="2" charset="-127"/>
                </a:rPr>
                <a:t>, </a:t>
              </a:r>
              <a:r>
                <a:rPr lang="ko-KR" altLang="en-US" sz="1520" b="1" dirty="0">
                  <a:solidFill>
                    <a:srgbClr val="FFFFFF"/>
                  </a:solidFill>
                  <a:latin typeface="페이퍼로지 7 Bold" pitchFamily="2" charset="-127"/>
                  <a:ea typeface="페이퍼로지 7 Bold" pitchFamily="2" charset="-127"/>
                </a:rPr>
                <a:t>진보적인 법률 개정과 협업 체계를 통한 공격적</a:t>
              </a:r>
              <a:r>
                <a:rPr lang="en-US" altLang="ko-KR" sz="1520" b="1" dirty="0">
                  <a:solidFill>
                    <a:srgbClr val="FFFFFF"/>
                  </a:solidFill>
                  <a:latin typeface="페이퍼로지 7 Bold" pitchFamily="2" charset="-127"/>
                  <a:ea typeface="페이퍼로지 7 Bold" pitchFamily="2" charset="-127"/>
                </a:rPr>
                <a:t>·</a:t>
              </a:r>
              <a:r>
                <a:rPr lang="ko-KR" altLang="en-US" sz="1520" b="1" dirty="0">
                  <a:solidFill>
                    <a:srgbClr val="FFFFFF"/>
                  </a:solidFill>
                  <a:latin typeface="페이퍼로지 7 Bold" pitchFamily="2" charset="-127"/>
                  <a:ea typeface="페이퍼로지 7 Bold" pitchFamily="2" charset="-127"/>
                </a:rPr>
                <a:t>선재적 방어  </a:t>
              </a:r>
              <a:r>
                <a:rPr lang="en-US" altLang="ko-KR" sz="1520" b="1" dirty="0">
                  <a:solidFill>
                    <a:srgbClr val="FFFFFF"/>
                  </a:solidFill>
                  <a:latin typeface="페이퍼로지 7 Bold" pitchFamily="2" charset="-127"/>
                  <a:ea typeface="페이퍼로지 7 Bold" pitchFamily="2" charset="-127"/>
                  <a:sym typeface="Wingdings" panose="05000000000000000000" pitchFamily="2" charset="2"/>
                </a:rPr>
                <a:t> </a:t>
              </a:r>
              <a:r>
                <a:rPr lang="ko-KR" altLang="en-US" sz="1520" b="1" dirty="0">
                  <a:solidFill>
                    <a:srgbClr val="FFFFFF"/>
                  </a:solidFill>
                  <a:latin typeface="페이퍼로지 7 Bold" pitchFamily="2" charset="-127"/>
                  <a:ea typeface="페이퍼로지 7 Bold" pitchFamily="2" charset="-127"/>
                </a:rPr>
                <a:t> 전년 동기 대비 </a:t>
              </a:r>
              <a:r>
                <a:rPr lang="ko-KR" altLang="en-US" sz="1520" b="1" dirty="0">
                  <a:solidFill>
                    <a:srgbClr val="49A8FF"/>
                  </a:solidFill>
                  <a:latin typeface="페이퍼로지 7 Bold" pitchFamily="2" charset="-127"/>
                  <a:ea typeface="페이퍼로지 7 Bold" pitchFamily="2" charset="-127"/>
                </a:rPr>
                <a:t>약 </a:t>
              </a:r>
              <a:r>
                <a:rPr lang="en-US" altLang="ko-KR" sz="1520" b="1" dirty="0">
                  <a:solidFill>
                    <a:srgbClr val="49A8FF"/>
                  </a:solidFill>
                  <a:latin typeface="페이퍼로지 7 Bold" pitchFamily="2" charset="-127"/>
                  <a:ea typeface="페이퍼로지 7 Bold" pitchFamily="2" charset="-127"/>
                </a:rPr>
                <a:t>53% </a:t>
              </a:r>
              <a:r>
                <a:rPr lang="ko-KR" altLang="en-US" sz="1520" b="1" dirty="0">
                  <a:solidFill>
                    <a:srgbClr val="49A8FF"/>
                  </a:solidFill>
                  <a:latin typeface="페이퍼로지 7 Bold" pitchFamily="2" charset="-127"/>
                  <a:ea typeface="페이퍼로지 7 Bold" pitchFamily="2" charset="-127"/>
                </a:rPr>
                <a:t>피해액 방어라는 높은 성과</a:t>
              </a:r>
              <a:r>
                <a:rPr lang="ko-KR" altLang="en-US" sz="1520" b="1" dirty="0">
                  <a:solidFill>
                    <a:srgbClr val="FFFFFF"/>
                  </a:solidFill>
                  <a:latin typeface="페이퍼로지 7 Bold" pitchFamily="2" charset="-127"/>
                  <a:ea typeface="페이퍼로지 7 Bold" pitchFamily="2" charset="-127"/>
                </a:rPr>
                <a:t>로 이어졌다</a:t>
              </a:r>
              <a:endParaRPr lang="en-US" sz="1520" dirty="0">
                <a:latin typeface="페이퍼로지 7 Bold" pitchFamily="2" charset="-127"/>
                <a:ea typeface="페이퍼로지 7 Bold" pitchFamily="2" charset="-127"/>
              </a:endParaRPr>
            </a:p>
          </p:txBody>
        </p:sp>
      </p:grpSp>
      <p:graphicFrame>
        <p:nvGraphicFramePr>
          <p:cNvPr id="38" name="Table 37">
            <a:extLst>
              <a:ext uri="{FF2B5EF4-FFF2-40B4-BE49-F238E27FC236}">
                <a16:creationId xmlns:a16="http://schemas.microsoft.com/office/drawing/2014/main" id="{67267692-95D0-4E39-B1AD-313903CC80C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89422808"/>
              </p:ext>
            </p:extLst>
          </p:nvPr>
        </p:nvGraphicFramePr>
        <p:xfrm>
          <a:off x="6909933" y="2237590"/>
          <a:ext cx="4381968" cy="1173480"/>
        </p:xfrm>
        <a:graphic>
          <a:graphicData uri="http://schemas.openxmlformats.org/drawingml/2006/table">
            <a:tbl>
              <a:tblPr/>
              <a:tblGrid>
                <a:gridCol w="1059691">
                  <a:extLst>
                    <a:ext uri="{9D8B030D-6E8A-4147-A177-3AD203B41FA5}">
                      <a16:colId xmlns:a16="http://schemas.microsoft.com/office/drawing/2014/main" val="1611604226"/>
                    </a:ext>
                  </a:extLst>
                </a:gridCol>
                <a:gridCol w="1565593">
                  <a:extLst>
                    <a:ext uri="{9D8B030D-6E8A-4147-A177-3AD203B41FA5}">
                      <a16:colId xmlns:a16="http://schemas.microsoft.com/office/drawing/2014/main" val="4243154311"/>
                    </a:ext>
                  </a:extLst>
                </a:gridCol>
                <a:gridCol w="1756684">
                  <a:extLst>
                    <a:ext uri="{9D8B030D-6E8A-4147-A177-3AD203B41FA5}">
                      <a16:colId xmlns:a16="http://schemas.microsoft.com/office/drawing/2014/main" val="2761314812"/>
                    </a:ext>
                  </a:extLst>
                </a:gridCol>
              </a:tblGrid>
              <a:tr h="313944">
                <a:tc>
                  <a:txBody>
                    <a:bodyPr/>
                    <a:lstStyle/>
                    <a:p>
                      <a:pPr rtl="0"/>
                      <a:r>
                        <a:rPr lang="ko-KR" altLang="en-US" sz="900" dirty="0">
                          <a:solidFill>
                            <a:schemeClr val="bg1"/>
                          </a:solidFill>
                          <a:latin typeface="페이퍼로지 7 Bold" pitchFamily="2" charset="-127"/>
                          <a:ea typeface="페이퍼로지 7 Bold" pitchFamily="2" charset="-127"/>
                        </a:rPr>
                        <a:t>구분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ko-KR" altLang="en-US" sz="900" dirty="0">
                          <a:solidFill>
                            <a:schemeClr val="bg1"/>
                          </a:solidFill>
                          <a:latin typeface="페이퍼로지 7 Bold" pitchFamily="2" charset="-127"/>
                          <a:ea typeface="페이퍼로지 7 Bold" pitchFamily="2" charset="-127"/>
                        </a:rPr>
                        <a:t>출범 후 </a:t>
                      </a:r>
                      <a:r>
                        <a:rPr lang="en-US" altLang="ko-KR" sz="900" dirty="0">
                          <a:solidFill>
                            <a:schemeClr val="bg1"/>
                          </a:solidFill>
                          <a:latin typeface="페이퍼로지 7 Bold" pitchFamily="2" charset="-127"/>
                          <a:ea typeface="페이퍼로지 7 Bold" pitchFamily="2" charset="-127"/>
                        </a:rPr>
                        <a:t>12</a:t>
                      </a:r>
                      <a:r>
                        <a:rPr lang="ko-KR" altLang="en-US" sz="900" dirty="0">
                          <a:solidFill>
                            <a:schemeClr val="bg1"/>
                          </a:solidFill>
                          <a:latin typeface="페이퍼로지 7 Bold" pitchFamily="2" charset="-127"/>
                          <a:ea typeface="페이퍼로지 7 Bold" pitchFamily="2" charset="-127"/>
                        </a:rPr>
                        <a:t>주 동안</a:t>
                      </a:r>
                      <a:endParaRPr lang="en-US" altLang="ko-KR" sz="900" dirty="0">
                        <a:solidFill>
                          <a:schemeClr val="bg1"/>
                        </a:solidFill>
                        <a:latin typeface="페이퍼로지 7 Bold" pitchFamily="2" charset="-127"/>
                        <a:ea typeface="페이퍼로지 7 Bold" pitchFamily="2" charset="-127"/>
                      </a:endParaRPr>
                    </a:p>
                    <a:p>
                      <a:pPr rtl="0"/>
                      <a:r>
                        <a:rPr lang="en-US" altLang="ko-KR" sz="800" dirty="0">
                          <a:solidFill>
                            <a:schemeClr val="bg1"/>
                          </a:solidFill>
                          <a:latin typeface="페이퍼로지 4 Regular" pitchFamily="2" charset="-127"/>
                          <a:ea typeface="페이퍼로지 4 Regular" pitchFamily="2" charset="-127"/>
                        </a:rPr>
                        <a:t>(</a:t>
                      </a:r>
                      <a:r>
                        <a:rPr lang="en-US" altLang="ko-KR" sz="800" b="0" dirty="0">
                          <a:solidFill>
                            <a:schemeClr val="bg1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2025.10.29 ~ 2026.01.21)</a:t>
                      </a:r>
                      <a:endParaRPr lang="ko-KR" altLang="en-US" sz="800" b="0" dirty="0">
                        <a:solidFill>
                          <a:schemeClr val="bg1"/>
                        </a:solidFill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ko-KR" altLang="en-US" sz="900" dirty="0">
                          <a:solidFill>
                            <a:schemeClr val="bg1"/>
                          </a:solidFill>
                          <a:latin typeface="페이퍼로지 7 Bold" pitchFamily="2" charset="-127"/>
                          <a:ea typeface="페이퍼로지 7 Bold" pitchFamily="2" charset="-127"/>
                        </a:rPr>
                        <a:t>출범 후 약 </a:t>
                      </a:r>
                      <a:r>
                        <a:rPr lang="en-US" altLang="ko-KR" sz="900" dirty="0">
                          <a:solidFill>
                            <a:schemeClr val="bg1"/>
                          </a:solidFill>
                          <a:latin typeface="페이퍼로지 7 Bold" pitchFamily="2" charset="-127"/>
                          <a:ea typeface="페이퍼로지 7 Bold" pitchFamily="2" charset="-127"/>
                        </a:rPr>
                        <a:t>9</a:t>
                      </a:r>
                      <a:r>
                        <a:rPr lang="ko-KR" altLang="en-US" sz="900" dirty="0">
                          <a:solidFill>
                            <a:schemeClr val="bg1"/>
                          </a:solidFill>
                          <a:latin typeface="페이퍼로지 7 Bold" pitchFamily="2" charset="-127"/>
                          <a:ea typeface="페이퍼로지 7 Bold" pitchFamily="2" charset="-127"/>
                        </a:rPr>
                        <a:t>개월 동안</a:t>
                      </a:r>
                      <a:endParaRPr lang="en-US" altLang="ko-KR" sz="900" dirty="0">
                        <a:solidFill>
                          <a:schemeClr val="bg1"/>
                        </a:solidFill>
                        <a:latin typeface="페이퍼로지 7 Bold" pitchFamily="2" charset="-127"/>
                        <a:ea typeface="페이퍼로지 7 Bold" pitchFamily="2" charset="-127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solidFill>
                            <a:schemeClr val="bg1"/>
                          </a:solidFill>
                          <a:latin typeface="페이퍼로지 4 Regular" pitchFamily="2" charset="-127"/>
                          <a:ea typeface="페이퍼로지 4 Regular" pitchFamily="2" charset="-127"/>
                        </a:rPr>
                        <a:t>(</a:t>
                      </a:r>
                      <a:r>
                        <a:rPr lang="en-US" altLang="ko-KR" sz="800" b="0" dirty="0">
                          <a:solidFill>
                            <a:schemeClr val="bg1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2025.10 ~ 2026.07</a:t>
                      </a:r>
                      <a:r>
                        <a:rPr lang="ko-KR" altLang="en-US" sz="800" b="0" dirty="0">
                          <a:solidFill>
                            <a:schemeClr val="bg1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월 말</a:t>
                      </a:r>
                      <a:r>
                        <a:rPr lang="en-US" altLang="ko-KR" sz="800" b="0" dirty="0">
                          <a:solidFill>
                            <a:schemeClr val="bg1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)</a:t>
                      </a:r>
                      <a:endParaRPr lang="ko-KR" altLang="en-US" sz="800" b="0" dirty="0">
                        <a:solidFill>
                          <a:schemeClr val="bg1"/>
                        </a:solidFill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2776352"/>
                  </a:ext>
                </a:extLst>
              </a:tr>
              <a:tr h="345980">
                <a:tc>
                  <a:txBody>
                    <a:bodyPr/>
                    <a:lstStyle/>
                    <a:p>
                      <a:pPr rtl="0"/>
                      <a:r>
                        <a:rPr lang="ko-KR" altLang="en-US" sz="900" dirty="0">
                          <a:latin typeface="페이퍼로지 7 Bold" pitchFamily="2" charset="-127"/>
                          <a:ea typeface="페이퍼로지 7 Bold" pitchFamily="2" charset="-127"/>
                        </a:rPr>
                        <a:t>은행권 수사기관</a:t>
                      </a:r>
                      <a:endParaRPr lang="en-US" altLang="ko-KR" sz="900" dirty="0">
                        <a:latin typeface="페이퍼로지 7 Bold" pitchFamily="2" charset="-127"/>
                        <a:ea typeface="페이퍼로지 7 Bold" pitchFamily="2" charset="-127"/>
                      </a:endParaRPr>
                    </a:p>
                    <a:p>
                      <a:pPr rtl="0"/>
                      <a:r>
                        <a:rPr lang="ko-KR" altLang="en-US" sz="900" dirty="0">
                          <a:latin typeface="페이퍼로지 7 Bold" pitchFamily="2" charset="-127"/>
                          <a:ea typeface="페이퍼로지 7 Bold" pitchFamily="2" charset="-127"/>
                        </a:rPr>
                        <a:t>정보 공유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altLang="ko-KR" sz="900" b="0" dirty="0">
                          <a:latin typeface="페이퍼로지 7 Bold" pitchFamily="2" charset="-127"/>
                          <a:ea typeface="페이퍼로지 7 Bold" pitchFamily="2" charset="-127"/>
                        </a:rPr>
                        <a:t>14.8</a:t>
                      </a:r>
                      <a:r>
                        <a:rPr lang="ko-KR" altLang="en-US" sz="900" b="0" dirty="0">
                          <a:latin typeface="페이퍼로지 7 Bold" pitchFamily="2" charset="-127"/>
                          <a:ea typeface="페이퍼로지 7 Bold" pitchFamily="2" charset="-127"/>
                        </a:rPr>
                        <a:t>만 건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altLang="ko-KR" sz="900" b="0" dirty="0">
                          <a:solidFill>
                            <a:srgbClr val="FF4B16"/>
                          </a:solidFill>
                          <a:latin typeface="페이퍼로지 7 Bold" pitchFamily="2" charset="-127"/>
                          <a:ea typeface="페이퍼로지 7 Bold" pitchFamily="2" charset="-127"/>
                        </a:rPr>
                        <a:t>46.3</a:t>
                      </a:r>
                      <a:r>
                        <a:rPr lang="ko-KR" altLang="en-US" sz="900" b="0" dirty="0">
                          <a:solidFill>
                            <a:srgbClr val="FF4B16"/>
                          </a:solidFill>
                          <a:latin typeface="페이퍼로지 7 Bold" pitchFamily="2" charset="-127"/>
                          <a:ea typeface="페이퍼로지 7 Bold" pitchFamily="2" charset="-127"/>
                        </a:rPr>
                        <a:t>만 건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1872762"/>
                  </a:ext>
                </a:extLst>
              </a:tr>
              <a:tr h="220557">
                <a:tc>
                  <a:txBody>
                    <a:bodyPr/>
                    <a:lstStyle/>
                    <a:p>
                      <a:pPr rtl="0"/>
                      <a:r>
                        <a:rPr lang="ko-KR" altLang="en-US" sz="900">
                          <a:latin typeface="페이퍼로지 7 Bold" pitchFamily="2" charset="-127"/>
                          <a:ea typeface="페이퍼로지 7 Bold" pitchFamily="2" charset="-127"/>
                        </a:rPr>
                        <a:t>계좌 지급정지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altLang="ko-KR" sz="900" b="0" dirty="0">
                          <a:latin typeface="페이퍼로지 7 Bold" pitchFamily="2" charset="-127"/>
                          <a:ea typeface="페이퍼로지 7 Bold" pitchFamily="2" charset="-127"/>
                        </a:rPr>
                        <a:t>2,705</a:t>
                      </a:r>
                      <a:r>
                        <a:rPr lang="ko-KR" altLang="en-US" sz="900" b="0" dirty="0">
                          <a:latin typeface="페이퍼로지 7 Bold" pitchFamily="2" charset="-127"/>
                          <a:ea typeface="페이퍼로지 7 Bold" pitchFamily="2" charset="-127"/>
                        </a:rPr>
                        <a:t>건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altLang="ko-KR" sz="900" b="0" dirty="0">
                          <a:solidFill>
                            <a:srgbClr val="FF4B16"/>
                          </a:solidFill>
                          <a:latin typeface="페이퍼로지 7 Bold" pitchFamily="2" charset="-127"/>
                          <a:ea typeface="페이퍼로지 7 Bold" pitchFamily="2" charset="-127"/>
                        </a:rPr>
                        <a:t>7,009</a:t>
                      </a:r>
                      <a:r>
                        <a:rPr lang="ko-KR" altLang="en-US" sz="900" b="0" dirty="0">
                          <a:solidFill>
                            <a:srgbClr val="FF4B16"/>
                          </a:solidFill>
                          <a:latin typeface="페이퍼로지 7 Bold" pitchFamily="2" charset="-127"/>
                          <a:ea typeface="페이퍼로지 7 Bold" pitchFamily="2" charset="-127"/>
                        </a:rPr>
                        <a:t>건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09267762"/>
                  </a:ext>
                </a:extLst>
              </a:tr>
              <a:tr h="220557">
                <a:tc>
                  <a:txBody>
                    <a:bodyPr/>
                    <a:lstStyle/>
                    <a:p>
                      <a:pPr rtl="0"/>
                      <a:r>
                        <a:rPr lang="ko-KR" altLang="en-US" sz="900" dirty="0">
                          <a:latin typeface="페이퍼로지 7 Bold" pitchFamily="2" charset="-127"/>
                          <a:ea typeface="페이퍼로지 7 Bold" pitchFamily="2" charset="-127"/>
                        </a:rPr>
                        <a:t>피해 사전 차단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altLang="ko-KR" sz="900" b="0" dirty="0">
                          <a:latin typeface="페이퍼로지 7 Bold" pitchFamily="2" charset="-127"/>
                          <a:ea typeface="페이퍼로지 7 Bold" pitchFamily="2" charset="-127"/>
                        </a:rPr>
                        <a:t>186.5</a:t>
                      </a:r>
                      <a:r>
                        <a:rPr lang="ko-KR" altLang="en-US" sz="900" b="0" dirty="0">
                          <a:latin typeface="페이퍼로지 7 Bold" pitchFamily="2" charset="-127"/>
                          <a:ea typeface="페이퍼로지 7 Bold" pitchFamily="2" charset="-127"/>
                        </a:rPr>
                        <a:t>억 원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altLang="ko-KR" sz="900" b="0" dirty="0">
                          <a:solidFill>
                            <a:srgbClr val="FF4B16"/>
                          </a:solidFill>
                          <a:latin typeface="페이퍼로지 7 Bold" pitchFamily="2" charset="-127"/>
                          <a:ea typeface="페이퍼로지 7 Bold" pitchFamily="2" charset="-127"/>
                        </a:rPr>
                        <a:t>663.6</a:t>
                      </a:r>
                      <a:r>
                        <a:rPr lang="ko-KR" altLang="en-US" sz="900" b="0" dirty="0">
                          <a:solidFill>
                            <a:srgbClr val="FF4B16"/>
                          </a:solidFill>
                          <a:latin typeface="페이퍼로지 7 Bold" pitchFamily="2" charset="-127"/>
                          <a:ea typeface="페이퍼로지 7 Bold" pitchFamily="2" charset="-127"/>
                        </a:rPr>
                        <a:t>억 원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21632259"/>
                  </a:ext>
                </a:extLst>
              </a:tr>
            </a:tbl>
          </a:graphicData>
        </a:graphic>
      </p:graphicFrame>
      <p:grpSp>
        <p:nvGrpSpPr>
          <p:cNvPr id="87" name="Group 86">
            <a:extLst>
              <a:ext uri="{FF2B5EF4-FFF2-40B4-BE49-F238E27FC236}">
                <a16:creationId xmlns:a16="http://schemas.microsoft.com/office/drawing/2014/main" id="{C2E3F610-B35F-45DB-BBD3-8EB9FD153FF8}"/>
              </a:ext>
            </a:extLst>
          </p:cNvPr>
          <p:cNvGrpSpPr/>
          <p:nvPr/>
        </p:nvGrpSpPr>
        <p:grpSpPr>
          <a:xfrm>
            <a:off x="6865271" y="3480673"/>
            <a:ext cx="4452820" cy="1603506"/>
            <a:chOff x="6900722" y="3645845"/>
            <a:chExt cx="4452820" cy="1930785"/>
          </a:xfrm>
        </p:grpSpPr>
        <p:grpSp>
          <p:nvGrpSpPr>
            <p:cNvPr id="77" name="Group 76">
              <a:extLst>
                <a:ext uri="{FF2B5EF4-FFF2-40B4-BE49-F238E27FC236}">
                  <a16:creationId xmlns:a16="http://schemas.microsoft.com/office/drawing/2014/main" id="{219B5089-3FB1-43A2-9B72-CCD30BF61D8C}"/>
                </a:ext>
              </a:extLst>
            </p:cNvPr>
            <p:cNvGrpSpPr/>
            <p:nvPr/>
          </p:nvGrpSpPr>
          <p:grpSpPr>
            <a:xfrm>
              <a:off x="6907208" y="4607942"/>
              <a:ext cx="4444875" cy="968688"/>
              <a:chOff x="6907208" y="4607942"/>
              <a:chExt cx="4444875" cy="968688"/>
            </a:xfrm>
          </p:grpSpPr>
          <p:grpSp>
            <p:nvGrpSpPr>
              <p:cNvPr id="71" name="Group 70">
                <a:extLst>
                  <a:ext uri="{FF2B5EF4-FFF2-40B4-BE49-F238E27FC236}">
                    <a16:creationId xmlns:a16="http://schemas.microsoft.com/office/drawing/2014/main" id="{DF1209D8-D9DA-47FD-BEAF-5CDC80460CAD}"/>
                  </a:ext>
                </a:extLst>
              </p:cNvPr>
              <p:cNvGrpSpPr/>
              <p:nvPr/>
            </p:nvGrpSpPr>
            <p:grpSpPr>
              <a:xfrm>
                <a:off x="6909933" y="4607942"/>
                <a:ext cx="4416750" cy="778296"/>
                <a:chOff x="6909933" y="4657650"/>
                <a:chExt cx="4416750" cy="778296"/>
              </a:xfrm>
            </p:grpSpPr>
            <p:grpSp>
              <p:nvGrpSpPr>
                <p:cNvPr id="45" name="Group 44">
                  <a:extLst>
                    <a:ext uri="{FF2B5EF4-FFF2-40B4-BE49-F238E27FC236}">
                      <a16:creationId xmlns:a16="http://schemas.microsoft.com/office/drawing/2014/main" id="{AF035335-5549-4D57-B7A4-921CCE59D407}"/>
                    </a:ext>
                  </a:extLst>
                </p:cNvPr>
                <p:cNvGrpSpPr/>
                <p:nvPr/>
              </p:nvGrpSpPr>
              <p:grpSpPr>
                <a:xfrm>
                  <a:off x="6968542" y="4882176"/>
                  <a:ext cx="4358141" cy="553770"/>
                  <a:chOff x="6968542" y="4744258"/>
                  <a:chExt cx="4358141" cy="413305"/>
                </a:xfrm>
              </p:grpSpPr>
              <p:sp>
                <p:nvSpPr>
                  <p:cNvPr id="139" name="Rectangle 138">
                    <a:extLst>
                      <a:ext uri="{FF2B5EF4-FFF2-40B4-BE49-F238E27FC236}">
                        <a16:creationId xmlns:a16="http://schemas.microsoft.com/office/drawing/2014/main" id="{41AE67AD-B9B8-40DF-9448-F51E5E6EB1AE}"/>
                      </a:ext>
                    </a:extLst>
                  </p:cNvPr>
                  <p:cNvSpPr/>
                  <p:nvPr/>
                </p:nvSpPr>
                <p:spPr>
                  <a:xfrm>
                    <a:off x="6968542" y="4744258"/>
                    <a:ext cx="2141992" cy="413305"/>
                  </a:xfrm>
                  <a:prstGeom prst="rect">
                    <a:avLst/>
                  </a:prstGeom>
                  <a:solidFill>
                    <a:srgbClr val="002060"/>
                  </a:solidFill>
                  <a:ln w="12700">
                    <a:solidFill>
                      <a:schemeClr val="bg1"/>
                    </a:solidFill>
                    <a:prstDash val="solid"/>
                  </a:ln>
                </p:spPr>
                <p:txBody>
                  <a:bodyPr/>
                  <a:lstStyle>
                    <a:lvl1pPr marL="0" indent="0">
                      <a:defRPr sz="1100">
                        <a:latin typeface="+mn-lt"/>
                        <a:ea typeface="+mn-ea"/>
                        <a:cs typeface="+mn-cs"/>
                      </a:defRPr>
                    </a:lvl1pPr>
                    <a:lvl2pPr marL="457200" indent="0">
                      <a:defRPr sz="1100">
                        <a:latin typeface="+mn-lt"/>
                        <a:ea typeface="+mn-ea"/>
                        <a:cs typeface="+mn-cs"/>
                      </a:defRPr>
                    </a:lvl2pPr>
                    <a:lvl3pPr marL="914400" indent="0">
                      <a:defRPr sz="1100">
                        <a:latin typeface="+mn-lt"/>
                        <a:ea typeface="+mn-ea"/>
                        <a:cs typeface="+mn-cs"/>
                      </a:defRPr>
                    </a:lvl3pPr>
                    <a:lvl4pPr marL="1371600" indent="0">
                      <a:defRPr sz="1100">
                        <a:latin typeface="+mn-lt"/>
                        <a:ea typeface="+mn-ea"/>
                        <a:cs typeface="+mn-cs"/>
                      </a:defRPr>
                    </a:lvl4pPr>
                    <a:lvl5pPr marL="1828800" indent="0">
                      <a:defRPr sz="1100">
                        <a:latin typeface="+mn-lt"/>
                        <a:ea typeface="+mn-ea"/>
                        <a:cs typeface="+mn-cs"/>
                      </a:defRPr>
                    </a:lvl5pPr>
                    <a:lvl6pPr marL="2286000" indent="0">
                      <a:defRPr sz="1100">
                        <a:latin typeface="+mn-lt"/>
                        <a:ea typeface="+mn-ea"/>
                        <a:cs typeface="+mn-cs"/>
                      </a:defRPr>
                    </a:lvl6pPr>
                    <a:lvl7pPr marL="2743200" indent="0">
                      <a:defRPr sz="1100">
                        <a:latin typeface="+mn-lt"/>
                        <a:ea typeface="+mn-ea"/>
                        <a:cs typeface="+mn-cs"/>
                      </a:defRPr>
                    </a:lvl7pPr>
                    <a:lvl8pPr marL="3200400" indent="0">
                      <a:defRPr sz="1100">
                        <a:latin typeface="+mn-lt"/>
                        <a:ea typeface="+mn-ea"/>
                        <a:cs typeface="+mn-cs"/>
                      </a:defRPr>
                    </a:lvl8pPr>
                    <a:lvl9pPr marL="3657600" indent="0">
                      <a:defRPr sz="1100"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r>
                      <a:rPr lang="ko-KR" altLang="en-US" sz="800" dirty="0">
                        <a:solidFill>
                          <a:schemeClr val="bg1"/>
                        </a:solidFill>
                        <a:latin typeface="페이퍼로지 7 Bold" pitchFamily="2" charset="-127"/>
                        <a:ea typeface="페이퍼로지 7 Bold" pitchFamily="2" charset="-127"/>
                      </a:rPr>
                      <a:t>피해 계좌정보</a:t>
                    </a:r>
                  </a:p>
                  <a:p>
                    <a:pPr algn="ctr"/>
                    <a:r>
                      <a:rPr lang="en-US" altLang="ko-KR" sz="800" b="1" dirty="0">
                        <a:solidFill>
                          <a:schemeClr val="bg1"/>
                        </a:solidFill>
                        <a:latin typeface="페이퍼로지 7 Bold" pitchFamily="2" charset="-127"/>
                        <a:ea typeface="페이퍼로지 7 Bold" pitchFamily="2" charset="-127"/>
                      </a:rPr>
                      <a:t>1,328</a:t>
                    </a:r>
                    <a:r>
                      <a:rPr lang="ko-KR" altLang="en-US" sz="800" b="1" dirty="0">
                        <a:solidFill>
                          <a:schemeClr val="bg1"/>
                        </a:solidFill>
                        <a:latin typeface="페이퍼로지 7 Bold" pitchFamily="2" charset="-127"/>
                        <a:ea typeface="페이퍼로지 7 Bold" pitchFamily="2" charset="-127"/>
                      </a:rPr>
                      <a:t>건</a:t>
                    </a:r>
                    <a:endParaRPr lang="en-US" altLang="ko-KR" sz="800" b="1" dirty="0">
                      <a:solidFill>
                        <a:schemeClr val="bg1"/>
                      </a:solidFill>
                      <a:latin typeface="페이퍼로지 7 Bold" pitchFamily="2" charset="-127"/>
                      <a:ea typeface="페이퍼로지 7 Bold" pitchFamily="2" charset="-127"/>
                    </a:endParaRPr>
                  </a:p>
                  <a:p>
                    <a:pPr algn="ctr"/>
                    <a:r>
                      <a:rPr lang="en-US" altLang="ko-KR" sz="800" b="1" dirty="0">
                        <a:solidFill>
                          <a:schemeClr val="bg1"/>
                        </a:solidFill>
                        <a:latin typeface="페이퍼로지 7 Bold" pitchFamily="2" charset="-127"/>
                        <a:ea typeface="페이퍼로지 7 Bold" pitchFamily="2" charset="-127"/>
                      </a:rPr>
                      <a:t>(</a:t>
                    </a:r>
                    <a:r>
                      <a:rPr lang="en-US" altLang="ko-KR" sz="800" dirty="0">
                        <a:solidFill>
                          <a:schemeClr val="bg1"/>
                        </a:solidFill>
                        <a:latin typeface="페이퍼로지 7 Bold" pitchFamily="2" charset="-127"/>
                        <a:ea typeface="페이퍼로지 7 Bold" pitchFamily="2" charset="-127"/>
                      </a:rPr>
                      <a:t>49.1%)</a:t>
                    </a:r>
                    <a:endParaRPr lang="ko-KR" altLang="en-US" sz="800" dirty="0">
                      <a:solidFill>
                        <a:schemeClr val="bg1"/>
                      </a:solidFill>
                      <a:latin typeface="페이퍼로지 7 Bold" pitchFamily="2" charset="-127"/>
                      <a:ea typeface="페이퍼로지 7 Bold" pitchFamily="2" charset="-127"/>
                    </a:endParaRPr>
                  </a:p>
                </p:txBody>
              </p:sp>
              <p:sp>
                <p:nvSpPr>
                  <p:cNvPr id="140" name="Rectangle 139">
                    <a:extLst>
                      <a:ext uri="{FF2B5EF4-FFF2-40B4-BE49-F238E27FC236}">
                        <a16:creationId xmlns:a16="http://schemas.microsoft.com/office/drawing/2014/main" id="{791CBE85-2624-4CCD-9B03-5B88D0E8C53D}"/>
                      </a:ext>
                    </a:extLst>
                  </p:cNvPr>
                  <p:cNvSpPr/>
                  <p:nvPr/>
                </p:nvSpPr>
                <p:spPr>
                  <a:xfrm>
                    <a:off x="9107358" y="4744258"/>
                    <a:ext cx="2025777" cy="413305"/>
                  </a:xfrm>
                  <a:prstGeom prst="rect">
                    <a:avLst/>
                  </a:prstGeom>
                  <a:solidFill>
                    <a:srgbClr val="5E85B0"/>
                  </a:solidFill>
                  <a:ln w="12700">
                    <a:solidFill>
                      <a:schemeClr val="bg1"/>
                    </a:solidFill>
                    <a:prstDash val="solid"/>
                  </a:ln>
                </p:spPr>
                <p:txBody>
                  <a:bodyPr/>
                  <a:lstStyle>
                    <a:lvl1pPr marL="0" indent="0">
                      <a:defRPr sz="1100">
                        <a:latin typeface="+mn-lt"/>
                        <a:ea typeface="+mn-ea"/>
                        <a:cs typeface="+mn-cs"/>
                      </a:defRPr>
                    </a:lvl1pPr>
                    <a:lvl2pPr marL="457200" indent="0">
                      <a:defRPr sz="1100">
                        <a:latin typeface="+mn-lt"/>
                        <a:ea typeface="+mn-ea"/>
                        <a:cs typeface="+mn-cs"/>
                      </a:defRPr>
                    </a:lvl2pPr>
                    <a:lvl3pPr marL="914400" indent="0">
                      <a:defRPr sz="1100">
                        <a:latin typeface="+mn-lt"/>
                        <a:ea typeface="+mn-ea"/>
                        <a:cs typeface="+mn-cs"/>
                      </a:defRPr>
                    </a:lvl3pPr>
                    <a:lvl4pPr marL="1371600" indent="0">
                      <a:defRPr sz="1100">
                        <a:latin typeface="+mn-lt"/>
                        <a:ea typeface="+mn-ea"/>
                        <a:cs typeface="+mn-cs"/>
                      </a:defRPr>
                    </a:lvl4pPr>
                    <a:lvl5pPr marL="1828800" indent="0">
                      <a:defRPr sz="1100">
                        <a:latin typeface="+mn-lt"/>
                        <a:ea typeface="+mn-ea"/>
                        <a:cs typeface="+mn-cs"/>
                      </a:defRPr>
                    </a:lvl5pPr>
                    <a:lvl6pPr marL="2286000" indent="0">
                      <a:defRPr sz="1100">
                        <a:latin typeface="+mn-lt"/>
                        <a:ea typeface="+mn-ea"/>
                        <a:cs typeface="+mn-cs"/>
                      </a:defRPr>
                    </a:lvl6pPr>
                    <a:lvl7pPr marL="2743200" indent="0">
                      <a:defRPr sz="1100">
                        <a:latin typeface="+mn-lt"/>
                        <a:ea typeface="+mn-ea"/>
                        <a:cs typeface="+mn-cs"/>
                      </a:defRPr>
                    </a:lvl7pPr>
                    <a:lvl8pPr marL="3200400" indent="0">
                      <a:defRPr sz="1100">
                        <a:latin typeface="+mn-lt"/>
                        <a:ea typeface="+mn-ea"/>
                        <a:cs typeface="+mn-cs"/>
                      </a:defRPr>
                    </a:lvl8pPr>
                    <a:lvl9pPr marL="3657600" indent="0">
                      <a:defRPr sz="1100"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r>
                      <a:rPr lang="ko-KR" altLang="en-US" sz="800" dirty="0">
                        <a:solidFill>
                          <a:schemeClr val="bg1"/>
                        </a:solidFill>
                        <a:latin typeface="페이퍼로지 7 Bold" pitchFamily="2" charset="-127"/>
                        <a:ea typeface="페이퍼로지 7 Bold" pitchFamily="2" charset="-127"/>
                      </a:rPr>
                      <a:t>피해 계좌정보</a:t>
                    </a:r>
                  </a:p>
                  <a:p>
                    <a:pPr algn="ctr"/>
                    <a:r>
                      <a:rPr lang="en-US" altLang="ko-KR" sz="800" b="1" dirty="0">
                        <a:solidFill>
                          <a:schemeClr val="bg1"/>
                        </a:solidFill>
                        <a:latin typeface="페이퍼로지 7 Bold" pitchFamily="2" charset="-127"/>
                        <a:ea typeface="페이퍼로지 7 Bold" pitchFamily="2" charset="-127"/>
                      </a:rPr>
                      <a:t>1,250</a:t>
                    </a:r>
                    <a:r>
                      <a:rPr lang="ko-KR" altLang="en-US" sz="800" b="1" dirty="0">
                        <a:solidFill>
                          <a:schemeClr val="bg1"/>
                        </a:solidFill>
                        <a:latin typeface="페이퍼로지 7 Bold" pitchFamily="2" charset="-127"/>
                        <a:ea typeface="페이퍼로지 7 Bold" pitchFamily="2" charset="-127"/>
                      </a:rPr>
                      <a:t>건</a:t>
                    </a:r>
                    <a:endParaRPr lang="en-US" altLang="ko-KR" sz="800" b="1" dirty="0">
                      <a:solidFill>
                        <a:schemeClr val="bg1"/>
                      </a:solidFill>
                      <a:latin typeface="페이퍼로지 7 Bold" pitchFamily="2" charset="-127"/>
                      <a:ea typeface="페이퍼로지 7 Bold" pitchFamily="2" charset="-127"/>
                    </a:endParaRPr>
                  </a:p>
                  <a:p>
                    <a:pPr algn="ctr"/>
                    <a:r>
                      <a:rPr lang="en-US" altLang="ko-KR" sz="800" b="1" dirty="0">
                        <a:solidFill>
                          <a:schemeClr val="bg1"/>
                        </a:solidFill>
                        <a:latin typeface="페이퍼로지 7 Bold" pitchFamily="2" charset="-127"/>
                        <a:ea typeface="페이퍼로지 7 Bold" pitchFamily="2" charset="-127"/>
                      </a:rPr>
                      <a:t>(</a:t>
                    </a:r>
                    <a:r>
                      <a:rPr lang="en-US" altLang="ko-KR" sz="800" dirty="0">
                        <a:solidFill>
                          <a:schemeClr val="bg1"/>
                        </a:solidFill>
                        <a:latin typeface="페이퍼로지 7 Bold" pitchFamily="2" charset="-127"/>
                        <a:ea typeface="페이퍼로지 7 Bold" pitchFamily="2" charset="-127"/>
                      </a:rPr>
                      <a:t>46.2%)</a:t>
                    </a:r>
                    <a:endParaRPr lang="ko-KR" altLang="en-US" sz="800" dirty="0">
                      <a:solidFill>
                        <a:schemeClr val="bg1"/>
                      </a:solidFill>
                      <a:latin typeface="페이퍼로지 7 Bold" pitchFamily="2" charset="-127"/>
                      <a:ea typeface="페이퍼로지 7 Bold" pitchFamily="2" charset="-127"/>
                    </a:endParaRPr>
                  </a:p>
                </p:txBody>
              </p:sp>
              <p:sp>
                <p:nvSpPr>
                  <p:cNvPr id="146" name="Rectangle 145">
                    <a:extLst>
                      <a:ext uri="{FF2B5EF4-FFF2-40B4-BE49-F238E27FC236}">
                        <a16:creationId xmlns:a16="http://schemas.microsoft.com/office/drawing/2014/main" id="{80BECE0E-F3C7-4852-96B7-5FDCEE448308}"/>
                      </a:ext>
                    </a:extLst>
                  </p:cNvPr>
                  <p:cNvSpPr/>
                  <p:nvPr/>
                </p:nvSpPr>
                <p:spPr>
                  <a:xfrm>
                    <a:off x="11133136" y="4744258"/>
                    <a:ext cx="98298" cy="413305"/>
                  </a:xfrm>
                  <a:prstGeom prst="rect">
                    <a:avLst/>
                  </a:prstGeom>
                  <a:solidFill>
                    <a:srgbClr val="2F7CF6"/>
                  </a:solidFill>
                  <a:ln w="12700">
                    <a:solidFill>
                      <a:schemeClr val="bg1"/>
                    </a:solidFill>
                    <a:prstDash val="solid"/>
                  </a:ln>
                </p:spPr>
                <p:txBody>
                  <a:bodyPr/>
                  <a:lstStyle>
                    <a:lvl1pPr marL="0" indent="0">
                      <a:defRPr sz="1100">
                        <a:latin typeface="+mn-lt"/>
                        <a:ea typeface="+mn-ea"/>
                        <a:cs typeface="+mn-cs"/>
                      </a:defRPr>
                    </a:lvl1pPr>
                    <a:lvl2pPr marL="457200" indent="0">
                      <a:defRPr sz="1100">
                        <a:latin typeface="+mn-lt"/>
                        <a:ea typeface="+mn-ea"/>
                        <a:cs typeface="+mn-cs"/>
                      </a:defRPr>
                    </a:lvl2pPr>
                    <a:lvl3pPr marL="914400" indent="0">
                      <a:defRPr sz="1100">
                        <a:latin typeface="+mn-lt"/>
                        <a:ea typeface="+mn-ea"/>
                        <a:cs typeface="+mn-cs"/>
                      </a:defRPr>
                    </a:lvl3pPr>
                    <a:lvl4pPr marL="1371600" indent="0">
                      <a:defRPr sz="1100">
                        <a:latin typeface="+mn-lt"/>
                        <a:ea typeface="+mn-ea"/>
                        <a:cs typeface="+mn-cs"/>
                      </a:defRPr>
                    </a:lvl4pPr>
                    <a:lvl5pPr marL="1828800" indent="0">
                      <a:defRPr sz="1100">
                        <a:latin typeface="+mn-lt"/>
                        <a:ea typeface="+mn-ea"/>
                        <a:cs typeface="+mn-cs"/>
                      </a:defRPr>
                    </a:lvl5pPr>
                    <a:lvl6pPr marL="2286000" indent="0">
                      <a:defRPr sz="1100">
                        <a:latin typeface="+mn-lt"/>
                        <a:ea typeface="+mn-ea"/>
                        <a:cs typeface="+mn-cs"/>
                      </a:defRPr>
                    </a:lvl6pPr>
                    <a:lvl7pPr marL="2743200" indent="0">
                      <a:defRPr sz="1100">
                        <a:latin typeface="+mn-lt"/>
                        <a:ea typeface="+mn-ea"/>
                        <a:cs typeface="+mn-cs"/>
                      </a:defRPr>
                    </a:lvl7pPr>
                    <a:lvl8pPr marL="3200400" indent="0">
                      <a:defRPr sz="1100">
                        <a:latin typeface="+mn-lt"/>
                        <a:ea typeface="+mn-ea"/>
                        <a:cs typeface="+mn-cs"/>
                      </a:defRPr>
                    </a:lvl8pPr>
                    <a:lvl9pPr marL="3657600" indent="0">
                      <a:defRPr sz="1100"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endParaRPr lang="ko-KR" sz="1000"/>
                  </a:p>
                </p:txBody>
              </p:sp>
              <p:sp>
                <p:nvSpPr>
                  <p:cNvPr id="147" name="Rectangle 146">
                    <a:extLst>
                      <a:ext uri="{FF2B5EF4-FFF2-40B4-BE49-F238E27FC236}">
                        <a16:creationId xmlns:a16="http://schemas.microsoft.com/office/drawing/2014/main" id="{5B45C7CC-4FE9-47B8-A816-C1985FE01E16}"/>
                      </a:ext>
                    </a:extLst>
                  </p:cNvPr>
                  <p:cNvSpPr/>
                  <p:nvPr/>
                </p:nvSpPr>
                <p:spPr>
                  <a:xfrm>
                    <a:off x="11225084" y="4744258"/>
                    <a:ext cx="101599" cy="413305"/>
                  </a:xfrm>
                  <a:prstGeom prst="rect">
                    <a:avLst/>
                  </a:prstGeom>
                  <a:solidFill>
                    <a:srgbClr val="49A8FF"/>
                  </a:solidFill>
                  <a:ln w="12700">
                    <a:solidFill>
                      <a:schemeClr val="bg1"/>
                    </a:solidFill>
                    <a:prstDash val="solid"/>
                  </a:ln>
                </p:spPr>
                <p:txBody>
                  <a:bodyPr/>
                  <a:lstStyle>
                    <a:lvl1pPr marL="0" indent="0">
                      <a:defRPr sz="1100">
                        <a:latin typeface="+mn-lt"/>
                        <a:ea typeface="+mn-ea"/>
                        <a:cs typeface="+mn-cs"/>
                      </a:defRPr>
                    </a:lvl1pPr>
                    <a:lvl2pPr marL="457200" indent="0">
                      <a:defRPr sz="1100">
                        <a:latin typeface="+mn-lt"/>
                        <a:ea typeface="+mn-ea"/>
                        <a:cs typeface="+mn-cs"/>
                      </a:defRPr>
                    </a:lvl2pPr>
                    <a:lvl3pPr marL="914400" indent="0">
                      <a:defRPr sz="1100">
                        <a:latin typeface="+mn-lt"/>
                        <a:ea typeface="+mn-ea"/>
                        <a:cs typeface="+mn-cs"/>
                      </a:defRPr>
                    </a:lvl3pPr>
                    <a:lvl4pPr marL="1371600" indent="0">
                      <a:defRPr sz="1100">
                        <a:latin typeface="+mn-lt"/>
                        <a:ea typeface="+mn-ea"/>
                        <a:cs typeface="+mn-cs"/>
                      </a:defRPr>
                    </a:lvl4pPr>
                    <a:lvl5pPr marL="1828800" indent="0">
                      <a:defRPr sz="1100">
                        <a:latin typeface="+mn-lt"/>
                        <a:ea typeface="+mn-ea"/>
                        <a:cs typeface="+mn-cs"/>
                      </a:defRPr>
                    </a:lvl5pPr>
                    <a:lvl6pPr marL="2286000" indent="0">
                      <a:defRPr sz="1100">
                        <a:latin typeface="+mn-lt"/>
                        <a:ea typeface="+mn-ea"/>
                        <a:cs typeface="+mn-cs"/>
                      </a:defRPr>
                    </a:lvl6pPr>
                    <a:lvl7pPr marL="2743200" indent="0">
                      <a:defRPr sz="1100">
                        <a:latin typeface="+mn-lt"/>
                        <a:ea typeface="+mn-ea"/>
                        <a:cs typeface="+mn-cs"/>
                      </a:defRPr>
                    </a:lvl7pPr>
                    <a:lvl8pPr marL="3200400" indent="0">
                      <a:defRPr sz="1100">
                        <a:latin typeface="+mn-lt"/>
                        <a:ea typeface="+mn-ea"/>
                        <a:cs typeface="+mn-cs"/>
                      </a:defRPr>
                    </a:lvl8pPr>
                    <a:lvl9pPr marL="3657600" indent="0">
                      <a:defRPr sz="1100"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endParaRPr lang="ko-KR" sz="1000"/>
                  </a:p>
                </p:txBody>
              </p:sp>
            </p:grpSp>
            <p:sp>
              <p:nvSpPr>
                <p:cNvPr id="156" name="TextBox 155">
                  <a:extLst>
                    <a:ext uri="{FF2B5EF4-FFF2-40B4-BE49-F238E27FC236}">
                      <a16:creationId xmlns:a16="http://schemas.microsoft.com/office/drawing/2014/main" id="{D8D12947-8E65-40B3-A525-5A287ADA8B2A}"/>
                    </a:ext>
                  </a:extLst>
                </p:cNvPr>
                <p:cNvSpPr txBox="1"/>
                <p:nvPr/>
              </p:nvSpPr>
              <p:spPr>
                <a:xfrm>
                  <a:off x="6909933" y="4666003"/>
                  <a:ext cx="2141992" cy="246221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rtl="0"/>
                  <a:r>
                    <a:rPr lang="ko-KR" altLang="en-US" sz="1000" dirty="0">
                      <a:latin typeface="페이퍼로지 7 Bold" pitchFamily="2" charset="-127"/>
                      <a:ea typeface="페이퍼로지 7 Bold" pitchFamily="2" charset="-127"/>
                    </a:rPr>
                    <a:t>피해방지 건수 </a:t>
                  </a:r>
                  <a:r>
                    <a:rPr lang="en-US" altLang="ko-KR" sz="1000" dirty="0">
                      <a:latin typeface="페이퍼로지 7 Bold" pitchFamily="2" charset="-127"/>
                      <a:ea typeface="페이퍼로지 7 Bold" pitchFamily="2" charset="-127"/>
                    </a:rPr>
                    <a:t>(2,705</a:t>
                  </a:r>
                  <a:r>
                    <a:rPr lang="ko-KR" altLang="en-US" sz="1000" dirty="0">
                      <a:latin typeface="페이퍼로지 7 Bold" pitchFamily="2" charset="-127"/>
                      <a:ea typeface="페이퍼로지 7 Bold" pitchFamily="2" charset="-127"/>
                    </a:rPr>
                    <a:t>건</a:t>
                  </a:r>
                  <a:r>
                    <a:rPr lang="en-US" altLang="ko-KR" sz="1000" dirty="0">
                      <a:latin typeface="페이퍼로지 7 Bold" pitchFamily="2" charset="-127"/>
                      <a:ea typeface="페이퍼로지 7 Bold" pitchFamily="2" charset="-127"/>
                    </a:rPr>
                    <a:t>)</a:t>
                  </a:r>
                  <a:endParaRPr lang="ko-KR" altLang="en-US" sz="1000" dirty="0">
                    <a:latin typeface="페이퍼로지 7 Bold" pitchFamily="2" charset="-127"/>
                    <a:ea typeface="페이퍼로지 7 Bold" pitchFamily="2" charset="-127"/>
                  </a:endParaRPr>
                </a:p>
              </p:txBody>
            </p:sp>
            <p:sp>
              <p:nvSpPr>
                <p:cNvPr id="157" name="TextBox 156">
                  <a:extLst>
                    <a:ext uri="{FF2B5EF4-FFF2-40B4-BE49-F238E27FC236}">
                      <a16:creationId xmlns:a16="http://schemas.microsoft.com/office/drawing/2014/main" id="{A21BDF8A-9CC3-477E-B3E5-B6272F32E405}"/>
                    </a:ext>
                  </a:extLst>
                </p:cNvPr>
                <p:cNvSpPr txBox="1"/>
                <p:nvPr/>
              </p:nvSpPr>
              <p:spPr>
                <a:xfrm>
                  <a:off x="8920162" y="4673146"/>
                  <a:ext cx="2334171" cy="21544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r" rtl="0"/>
                  <a:r>
                    <a:rPr lang="ko-KR" altLang="en-US" sz="800" dirty="0">
                      <a:solidFill>
                        <a:srgbClr val="2F7CF6"/>
                      </a:solidFill>
                      <a:latin typeface="페이퍼로지 7 Bold" pitchFamily="2" charset="-127"/>
                      <a:ea typeface="페이퍼로지 7 Bold" pitchFamily="2" charset="-127"/>
                    </a:rPr>
                    <a:t>사기이용계좌 정보 </a:t>
                  </a:r>
                  <a:r>
                    <a:rPr lang="en-US" altLang="ko-KR" sz="800" dirty="0">
                      <a:solidFill>
                        <a:srgbClr val="2F7CF6"/>
                      </a:solidFill>
                      <a:latin typeface="페이퍼로지 7 Bold" pitchFamily="2" charset="-127"/>
                      <a:ea typeface="페이퍼로지 7 Bold" pitchFamily="2" charset="-127"/>
                    </a:rPr>
                    <a:t>55</a:t>
                  </a:r>
                  <a:r>
                    <a:rPr lang="ko-KR" altLang="en-US" sz="800" dirty="0">
                      <a:solidFill>
                        <a:srgbClr val="2F7CF6"/>
                      </a:solidFill>
                      <a:latin typeface="페이퍼로지 7 Bold" pitchFamily="2" charset="-127"/>
                      <a:ea typeface="페이퍼로지 7 Bold" pitchFamily="2" charset="-127"/>
                    </a:rPr>
                    <a:t>건</a:t>
                  </a:r>
                  <a:r>
                    <a:rPr lang="en-US" altLang="ko-KR" sz="800" dirty="0">
                      <a:solidFill>
                        <a:srgbClr val="2F7CF6"/>
                      </a:solidFill>
                      <a:latin typeface="페이퍼로지 7 Bold" pitchFamily="2" charset="-127"/>
                      <a:ea typeface="페이퍼로지 7 Bold" pitchFamily="2" charset="-127"/>
                    </a:rPr>
                    <a:t>(2.0%)</a:t>
                  </a:r>
                  <a:endParaRPr lang="ko-KR" altLang="en-US" sz="800" dirty="0">
                    <a:solidFill>
                      <a:srgbClr val="2F7CF6"/>
                    </a:solidFill>
                    <a:latin typeface="페이퍼로지 7 Bold" pitchFamily="2" charset="-127"/>
                    <a:ea typeface="페이퍼로지 7 Bold" pitchFamily="2" charset="-127"/>
                  </a:endParaRPr>
                </a:p>
              </p:txBody>
            </p:sp>
            <p:cxnSp>
              <p:nvCxnSpPr>
                <p:cNvPr id="51" name="Straight Connector 50">
                  <a:extLst>
                    <a:ext uri="{FF2B5EF4-FFF2-40B4-BE49-F238E27FC236}">
                      <a16:creationId xmlns:a16="http://schemas.microsoft.com/office/drawing/2014/main" id="{2081ADE4-E51E-4EB8-8484-15125DE3432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1230521" y="4657650"/>
                  <a:ext cx="0" cy="0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5" name="Straight Connector 54">
                  <a:extLst>
                    <a:ext uri="{FF2B5EF4-FFF2-40B4-BE49-F238E27FC236}">
                      <a16:creationId xmlns:a16="http://schemas.microsoft.com/office/drawing/2014/main" id="{2AC47B40-FD1A-4F45-8E48-6F005AB3E08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1199747" y="4719547"/>
                  <a:ext cx="0" cy="169772"/>
                </a:xfrm>
                <a:prstGeom prst="line">
                  <a:avLst/>
                </a:prstGeom>
                <a:ln w="28575">
                  <a:solidFill>
                    <a:srgbClr val="2F7CF6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74" name="Group 73">
                <a:extLst>
                  <a:ext uri="{FF2B5EF4-FFF2-40B4-BE49-F238E27FC236}">
                    <a16:creationId xmlns:a16="http://schemas.microsoft.com/office/drawing/2014/main" id="{36555E7C-425E-4079-87B1-C470269898ED}"/>
                  </a:ext>
                </a:extLst>
              </p:cNvPr>
              <p:cNvGrpSpPr/>
              <p:nvPr/>
            </p:nvGrpSpPr>
            <p:grpSpPr>
              <a:xfrm>
                <a:off x="9882317" y="5345667"/>
                <a:ext cx="1469766" cy="230963"/>
                <a:chOff x="9856917" y="5345667"/>
                <a:chExt cx="1469766" cy="230963"/>
              </a:xfrm>
            </p:grpSpPr>
            <p:sp>
              <p:nvSpPr>
                <p:cNvPr id="159" name="TextBox 158">
                  <a:extLst>
                    <a:ext uri="{FF2B5EF4-FFF2-40B4-BE49-F238E27FC236}">
                      <a16:creationId xmlns:a16="http://schemas.microsoft.com/office/drawing/2014/main" id="{9B95F796-2F08-446E-A1DB-01D3A370AA4E}"/>
                    </a:ext>
                  </a:extLst>
                </p:cNvPr>
                <p:cNvSpPr txBox="1"/>
                <p:nvPr/>
              </p:nvSpPr>
              <p:spPr>
                <a:xfrm>
                  <a:off x="9856917" y="5361186"/>
                  <a:ext cx="1469766" cy="21544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r" rtl="0"/>
                  <a:r>
                    <a:rPr lang="ko-KR" altLang="en-US" sz="800" dirty="0">
                      <a:solidFill>
                        <a:srgbClr val="49A8FF"/>
                      </a:solidFill>
                      <a:latin typeface="페이퍼로지 7 Bold" pitchFamily="2" charset="-127"/>
                      <a:ea typeface="페이퍼로지 7 Bold" pitchFamily="2" charset="-127"/>
                    </a:rPr>
                    <a:t>기타 </a:t>
                  </a:r>
                  <a:r>
                    <a:rPr lang="en-US" altLang="ko-KR" sz="800" dirty="0">
                      <a:solidFill>
                        <a:srgbClr val="49A8FF"/>
                      </a:solidFill>
                      <a:latin typeface="페이퍼로지 7 Bold" pitchFamily="2" charset="-127"/>
                      <a:ea typeface="페이퍼로지 7 Bold" pitchFamily="2" charset="-127"/>
                    </a:rPr>
                    <a:t>72</a:t>
                  </a:r>
                  <a:r>
                    <a:rPr lang="ko-KR" altLang="en-US" sz="800" dirty="0">
                      <a:solidFill>
                        <a:srgbClr val="49A8FF"/>
                      </a:solidFill>
                      <a:latin typeface="페이퍼로지 7 Bold" pitchFamily="2" charset="-127"/>
                      <a:ea typeface="페이퍼로지 7 Bold" pitchFamily="2" charset="-127"/>
                    </a:rPr>
                    <a:t>건</a:t>
                  </a:r>
                  <a:r>
                    <a:rPr lang="en-US" altLang="ko-KR" sz="800" dirty="0">
                      <a:solidFill>
                        <a:srgbClr val="49A8FF"/>
                      </a:solidFill>
                      <a:latin typeface="페이퍼로지 7 Bold" pitchFamily="2" charset="-127"/>
                      <a:ea typeface="페이퍼로지 7 Bold" pitchFamily="2" charset="-127"/>
                    </a:rPr>
                    <a:t>(2.7%)</a:t>
                  </a:r>
                  <a:endParaRPr lang="ko-KR" altLang="en-US" sz="800" dirty="0">
                    <a:solidFill>
                      <a:srgbClr val="49A8FF"/>
                    </a:solidFill>
                    <a:latin typeface="페이퍼로지 7 Bold" pitchFamily="2" charset="-127"/>
                    <a:ea typeface="페이퍼로지 7 Bold" pitchFamily="2" charset="-127"/>
                  </a:endParaRPr>
                </a:p>
              </p:txBody>
            </p:sp>
            <p:cxnSp>
              <p:nvCxnSpPr>
                <p:cNvPr id="165" name="Straight Connector 164">
                  <a:extLst>
                    <a:ext uri="{FF2B5EF4-FFF2-40B4-BE49-F238E27FC236}">
                      <a16:creationId xmlns:a16="http://schemas.microsoft.com/office/drawing/2014/main" id="{19B4FE53-15CC-4901-A172-3B82093CC93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1275883" y="5345667"/>
                  <a:ext cx="0" cy="200563"/>
                </a:xfrm>
                <a:prstGeom prst="line">
                  <a:avLst/>
                </a:prstGeom>
                <a:ln w="28575">
                  <a:solidFill>
                    <a:srgbClr val="49A8FF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D5CD0C00-1002-4547-94C5-4857AE291FEA}"/>
                  </a:ext>
                </a:extLst>
              </p:cNvPr>
              <p:cNvSpPr txBox="1"/>
              <p:nvPr/>
            </p:nvSpPr>
            <p:spPr>
              <a:xfrm>
                <a:off x="6907208" y="5373434"/>
                <a:ext cx="1223412" cy="20005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rtl="0"/>
                <a:r>
                  <a:rPr lang="en-US" altLang="ko-KR" sz="700" dirty="0">
                    <a:solidFill>
                      <a:srgbClr val="002060"/>
                    </a:solidFill>
                    <a:latin typeface="페이퍼로지 4 Regular" pitchFamily="2" charset="-127"/>
                    <a:ea typeface="페이퍼로지 4 Regular" pitchFamily="2" charset="-127"/>
                  </a:rPr>
                  <a:t>*</a:t>
                </a:r>
                <a:r>
                  <a:rPr lang="ko-KR" altLang="en-US" sz="700" dirty="0">
                    <a:solidFill>
                      <a:srgbClr val="002060"/>
                    </a:solidFill>
                    <a:latin typeface="페이퍼로지 4 Regular" pitchFamily="2" charset="-127"/>
                    <a:ea typeface="페이퍼로지 4 Regular" pitchFamily="2" charset="-127"/>
                  </a:rPr>
                  <a:t>기준 기간 출범 후 </a:t>
                </a:r>
                <a:r>
                  <a:rPr lang="en-US" altLang="ko-KR" sz="700" dirty="0">
                    <a:solidFill>
                      <a:srgbClr val="002060"/>
                    </a:solidFill>
                    <a:latin typeface="페이퍼로지 4 Regular" pitchFamily="2" charset="-127"/>
                    <a:ea typeface="페이퍼로지 4 Regular" pitchFamily="2" charset="-127"/>
                  </a:rPr>
                  <a:t>12</a:t>
                </a:r>
                <a:r>
                  <a:rPr lang="ko-KR" altLang="en-US" sz="700" dirty="0">
                    <a:solidFill>
                      <a:srgbClr val="002060"/>
                    </a:solidFill>
                    <a:latin typeface="페이퍼로지 4 Regular" pitchFamily="2" charset="-127"/>
                    <a:ea typeface="페이퍼로지 4 Regular" pitchFamily="2" charset="-127"/>
                  </a:rPr>
                  <a:t>주 동안</a:t>
                </a:r>
                <a:endParaRPr lang="en-US" altLang="ko-KR" sz="700" dirty="0">
                  <a:solidFill>
                    <a:srgbClr val="002060"/>
                  </a:solidFill>
                  <a:latin typeface="페이퍼로지 4 Regular" pitchFamily="2" charset="-127"/>
                  <a:ea typeface="페이퍼로지 4 Regular" pitchFamily="2" charset="-127"/>
                </a:endParaRPr>
              </a:p>
            </p:txBody>
          </p:sp>
        </p:grpSp>
        <p:grpSp>
          <p:nvGrpSpPr>
            <p:cNvPr id="82" name="Group 81">
              <a:extLst>
                <a:ext uri="{FF2B5EF4-FFF2-40B4-BE49-F238E27FC236}">
                  <a16:creationId xmlns:a16="http://schemas.microsoft.com/office/drawing/2014/main" id="{0F406ED3-91ED-40FA-A5F6-5EB54373632C}"/>
                </a:ext>
              </a:extLst>
            </p:cNvPr>
            <p:cNvGrpSpPr/>
            <p:nvPr/>
          </p:nvGrpSpPr>
          <p:grpSpPr>
            <a:xfrm>
              <a:off x="6900722" y="3645845"/>
              <a:ext cx="4452820" cy="956613"/>
              <a:chOff x="6900722" y="3645845"/>
              <a:chExt cx="4452820" cy="956613"/>
            </a:xfrm>
          </p:grpSpPr>
          <p:grpSp>
            <p:nvGrpSpPr>
              <p:cNvPr id="48" name="Group 47">
                <a:extLst>
                  <a:ext uri="{FF2B5EF4-FFF2-40B4-BE49-F238E27FC236}">
                    <a16:creationId xmlns:a16="http://schemas.microsoft.com/office/drawing/2014/main" id="{81EC7DBF-425A-4A6D-8C7C-96CE3884C086}"/>
                  </a:ext>
                </a:extLst>
              </p:cNvPr>
              <p:cNvGrpSpPr/>
              <p:nvPr/>
            </p:nvGrpSpPr>
            <p:grpSpPr>
              <a:xfrm>
                <a:off x="6968542" y="3858962"/>
                <a:ext cx="4358141" cy="553770"/>
                <a:chOff x="6968542" y="4034171"/>
                <a:chExt cx="4358141" cy="553770"/>
              </a:xfrm>
            </p:grpSpPr>
            <p:sp>
              <p:nvSpPr>
                <p:cNvPr id="135" name="Rectangle 134">
                  <a:extLst>
                    <a:ext uri="{FF2B5EF4-FFF2-40B4-BE49-F238E27FC236}">
                      <a16:creationId xmlns:a16="http://schemas.microsoft.com/office/drawing/2014/main" id="{0C0C6537-ECA2-4D39-9F34-0A75EC4F8FD6}"/>
                    </a:ext>
                  </a:extLst>
                </p:cNvPr>
                <p:cNvSpPr/>
                <p:nvPr/>
              </p:nvSpPr>
              <p:spPr>
                <a:xfrm>
                  <a:off x="6968542" y="4034171"/>
                  <a:ext cx="950212" cy="553770"/>
                </a:xfrm>
                <a:prstGeom prst="rect">
                  <a:avLst/>
                </a:prstGeom>
                <a:solidFill>
                  <a:srgbClr val="002060"/>
                </a:solidFill>
                <a:ln w="12700">
                  <a:solidFill>
                    <a:schemeClr val="bg1"/>
                  </a:solidFill>
                  <a:prstDash val="solid"/>
                </a:ln>
              </p:spPr>
              <p:txBody>
                <a:bodyPr/>
                <a:lstStyle>
                  <a:lvl1pPr marL="0" indent="0">
                    <a:defRPr sz="1100">
                      <a:latin typeface="+mn-lt"/>
                      <a:ea typeface="+mn-ea"/>
                      <a:cs typeface="+mn-cs"/>
                    </a:defRPr>
                  </a:lvl1pPr>
                  <a:lvl2pPr marL="457200" indent="0">
                    <a:defRPr sz="1100">
                      <a:latin typeface="+mn-lt"/>
                      <a:ea typeface="+mn-ea"/>
                      <a:cs typeface="+mn-cs"/>
                    </a:defRPr>
                  </a:lvl2pPr>
                  <a:lvl3pPr marL="914400" indent="0">
                    <a:defRPr sz="1100">
                      <a:latin typeface="+mn-lt"/>
                      <a:ea typeface="+mn-ea"/>
                      <a:cs typeface="+mn-cs"/>
                    </a:defRPr>
                  </a:lvl3pPr>
                  <a:lvl4pPr marL="1371600" indent="0">
                    <a:defRPr sz="1100">
                      <a:latin typeface="+mn-lt"/>
                      <a:ea typeface="+mn-ea"/>
                      <a:cs typeface="+mn-cs"/>
                    </a:defRPr>
                  </a:lvl4pPr>
                  <a:lvl5pPr marL="1828800" indent="0">
                    <a:defRPr sz="1100">
                      <a:latin typeface="+mn-lt"/>
                      <a:ea typeface="+mn-ea"/>
                      <a:cs typeface="+mn-cs"/>
                    </a:defRPr>
                  </a:lvl5pPr>
                  <a:lvl6pPr marL="2286000" indent="0">
                    <a:defRPr sz="1100">
                      <a:latin typeface="+mn-lt"/>
                      <a:ea typeface="+mn-ea"/>
                      <a:cs typeface="+mn-cs"/>
                    </a:defRPr>
                  </a:lvl6pPr>
                  <a:lvl7pPr marL="2743200" indent="0">
                    <a:defRPr sz="1100">
                      <a:latin typeface="+mn-lt"/>
                      <a:ea typeface="+mn-ea"/>
                      <a:cs typeface="+mn-cs"/>
                    </a:defRPr>
                  </a:lvl7pPr>
                  <a:lvl8pPr marL="3200400" indent="0">
                    <a:defRPr sz="1100">
                      <a:latin typeface="+mn-lt"/>
                      <a:ea typeface="+mn-ea"/>
                      <a:cs typeface="+mn-cs"/>
                    </a:defRPr>
                  </a:lvl8pPr>
                  <a:lvl9pPr marL="3657600" indent="0">
                    <a:defRPr sz="1100"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r>
                    <a:rPr lang="ko-KR" altLang="en-US" sz="800" dirty="0">
                      <a:solidFill>
                        <a:schemeClr val="bg1"/>
                      </a:solidFill>
                      <a:latin typeface="페이퍼로지 7 Bold" pitchFamily="2" charset="-127"/>
                      <a:ea typeface="페이퍼로지 7 Bold" pitchFamily="2" charset="-127"/>
                    </a:rPr>
                    <a:t>피해 계좌정보</a:t>
                  </a:r>
                </a:p>
                <a:p>
                  <a:pPr algn="ctr"/>
                  <a:r>
                    <a:rPr lang="en-US" altLang="ko-KR" sz="800" b="1" dirty="0">
                      <a:solidFill>
                        <a:schemeClr val="bg1"/>
                      </a:solidFill>
                      <a:latin typeface="페이퍼로지 7 Bold" pitchFamily="2" charset="-127"/>
                      <a:ea typeface="페이퍼로지 7 Bold" pitchFamily="2" charset="-127"/>
                    </a:rPr>
                    <a:t>41.0</a:t>
                  </a:r>
                  <a:r>
                    <a:rPr lang="ko-KR" altLang="en-US" sz="800" b="1" dirty="0">
                      <a:solidFill>
                        <a:schemeClr val="bg1"/>
                      </a:solidFill>
                      <a:latin typeface="페이퍼로지 7 Bold" pitchFamily="2" charset="-127"/>
                      <a:ea typeface="페이퍼로지 7 Bold" pitchFamily="2" charset="-127"/>
                    </a:rPr>
                    <a:t>억 원</a:t>
                  </a:r>
                </a:p>
                <a:p>
                  <a:pPr algn="ctr"/>
                  <a:r>
                    <a:rPr lang="en-US" altLang="ko-KR" sz="800" b="1" dirty="0">
                      <a:solidFill>
                        <a:schemeClr val="bg1"/>
                      </a:solidFill>
                      <a:latin typeface="페이퍼로지 7 Bold" pitchFamily="2" charset="-127"/>
                      <a:ea typeface="페이퍼로지 7 Bold" pitchFamily="2" charset="-127"/>
                    </a:rPr>
                    <a:t>(22</a:t>
                  </a:r>
                  <a:r>
                    <a:rPr lang="en-US" altLang="ko-KR" sz="800" dirty="0">
                      <a:solidFill>
                        <a:schemeClr val="bg1"/>
                      </a:solidFill>
                      <a:latin typeface="페이퍼로지 7 Bold" pitchFamily="2" charset="-127"/>
                      <a:ea typeface="페이퍼로지 7 Bold" pitchFamily="2" charset="-127"/>
                    </a:rPr>
                    <a:t>.0%)</a:t>
                  </a:r>
                  <a:endParaRPr lang="ko-KR" altLang="en-US" sz="800" dirty="0">
                    <a:solidFill>
                      <a:schemeClr val="bg1"/>
                    </a:solidFill>
                    <a:latin typeface="페이퍼로지 7 Bold" pitchFamily="2" charset="-127"/>
                    <a:ea typeface="페이퍼로지 7 Bold" pitchFamily="2" charset="-127"/>
                  </a:endParaRPr>
                </a:p>
              </p:txBody>
            </p:sp>
            <p:sp>
              <p:nvSpPr>
                <p:cNvPr id="137" name="Rectangle 136">
                  <a:extLst>
                    <a:ext uri="{FF2B5EF4-FFF2-40B4-BE49-F238E27FC236}">
                      <a16:creationId xmlns:a16="http://schemas.microsoft.com/office/drawing/2014/main" id="{0EE53028-AEF5-4508-BF9B-F1FFEBF7F663}"/>
                    </a:ext>
                  </a:extLst>
                </p:cNvPr>
                <p:cNvSpPr/>
                <p:nvPr/>
              </p:nvSpPr>
              <p:spPr>
                <a:xfrm>
                  <a:off x="10625139" y="4034171"/>
                  <a:ext cx="369092" cy="553770"/>
                </a:xfrm>
                <a:prstGeom prst="rect">
                  <a:avLst/>
                </a:prstGeom>
                <a:solidFill>
                  <a:srgbClr val="2F7CF6"/>
                </a:solidFill>
                <a:ln w="12700">
                  <a:solidFill>
                    <a:schemeClr val="bg1"/>
                  </a:solidFill>
                  <a:prstDash val="solid"/>
                </a:ln>
              </p:spPr>
              <p:txBody>
                <a:bodyPr/>
                <a:lstStyle>
                  <a:lvl1pPr marL="0" indent="0">
                    <a:defRPr sz="1100">
                      <a:latin typeface="+mn-lt"/>
                      <a:ea typeface="+mn-ea"/>
                      <a:cs typeface="+mn-cs"/>
                    </a:defRPr>
                  </a:lvl1pPr>
                  <a:lvl2pPr marL="457200" indent="0">
                    <a:defRPr sz="1100">
                      <a:latin typeface="+mn-lt"/>
                      <a:ea typeface="+mn-ea"/>
                      <a:cs typeface="+mn-cs"/>
                    </a:defRPr>
                  </a:lvl2pPr>
                  <a:lvl3pPr marL="914400" indent="0">
                    <a:defRPr sz="1100">
                      <a:latin typeface="+mn-lt"/>
                      <a:ea typeface="+mn-ea"/>
                      <a:cs typeface="+mn-cs"/>
                    </a:defRPr>
                  </a:lvl3pPr>
                  <a:lvl4pPr marL="1371600" indent="0">
                    <a:defRPr sz="1100">
                      <a:latin typeface="+mn-lt"/>
                      <a:ea typeface="+mn-ea"/>
                      <a:cs typeface="+mn-cs"/>
                    </a:defRPr>
                  </a:lvl4pPr>
                  <a:lvl5pPr marL="1828800" indent="0">
                    <a:defRPr sz="1100">
                      <a:latin typeface="+mn-lt"/>
                      <a:ea typeface="+mn-ea"/>
                      <a:cs typeface="+mn-cs"/>
                    </a:defRPr>
                  </a:lvl5pPr>
                  <a:lvl6pPr marL="2286000" indent="0">
                    <a:defRPr sz="1100">
                      <a:latin typeface="+mn-lt"/>
                      <a:ea typeface="+mn-ea"/>
                      <a:cs typeface="+mn-cs"/>
                    </a:defRPr>
                  </a:lvl6pPr>
                  <a:lvl7pPr marL="2743200" indent="0">
                    <a:defRPr sz="1100">
                      <a:latin typeface="+mn-lt"/>
                      <a:ea typeface="+mn-ea"/>
                      <a:cs typeface="+mn-cs"/>
                    </a:defRPr>
                  </a:lvl7pPr>
                  <a:lvl8pPr marL="3200400" indent="0">
                    <a:defRPr sz="1100">
                      <a:latin typeface="+mn-lt"/>
                      <a:ea typeface="+mn-ea"/>
                      <a:cs typeface="+mn-cs"/>
                    </a:defRPr>
                  </a:lvl8pPr>
                  <a:lvl9pPr marL="3657600" indent="0">
                    <a:defRPr sz="1100"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ko-KR" sz="1000"/>
                </a:p>
              </p:txBody>
            </p:sp>
            <p:sp>
              <p:nvSpPr>
                <p:cNvPr id="136" name="Rectangle 135">
                  <a:extLst>
                    <a:ext uri="{FF2B5EF4-FFF2-40B4-BE49-F238E27FC236}">
                      <a16:creationId xmlns:a16="http://schemas.microsoft.com/office/drawing/2014/main" id="{9640938D-6415-4975-AE42-4A9F6CC71DFD}"/>
                    </a:ext>
                  </a:extLst>
                </p:cNvPr>
                <p:cNvSpPr/>
                <p:nvPr/>
              </p:nvSpPr>
              <p:spPr>
                <a:xfrm>
                  <a:off x="7918755" y="4034171"/>
                  <a:ext cx="2770246" cy="553770"/>
                </a:xfrm>
                <a:prstGeom prst="rect">
                  <a:avLst/>
                </a:prstGeom>
                <a:solidFill>
                  <a:srgbClr val="5E85B0"/>
                </a:solidFill>
                <a:ln w="12700">
                  <a:solidFill>
                    <a:schemeClr val="bg1"/>
                  </a:solidFill>
                  <a:prstDash val="solid"/>
                </a:ln>
              </p:spPr>
              <p:txBody>
                <a:bodyPr/>
                <a:lstStyle>
                  <a:lvl1pPr marL="0" indent="0">
                    <a:defRPr sz="1100">
                      <a:latin typeface="+mn-lt"/>
                      <a:ea typeface="+mn-ea"/>
                      <a:cs typeface="+mn-cs"/>
                    </a:defRPr>
                  </a:lvl1pPr>
                  <a:lvl2pPr marL="457200" indent="0">
                    <a:defRPr sz="1100">
                      <a:latin typeface="+mn-lt"/>
                      <a:ea typeface="+mn-ea"/>
                      <a:cs typeface="+mn-cs"/>
                    </a:defRPr>
                  </a:lvl2pPr>
                  <a:lvl3pPr marL="914400" indent="0">
                    <a:defRPr sz="1100">
                      <a:latin typeface="+mn-lt"/>
                      <a:ea typeface="+mn-ea"/>
                      <a:cs typeface="+mn-cs"/>
                    </a:defRPr>
                  </a:lvl3pPr>
                  <a:lvl4pPr marL="1371600" indent="0">
                    <a:defRPr sz="1100">
                      <a:latin typeface="+mn-lt"/>
                      <a:ea typeface="+mn-ea"/>
                      <a:cs typeface="+mn-cs"/>
                    </a:defRPr>
                  </a:lvl4pPr>
                  <a:lvl5pPr marL="1828800" indent="0">
                    <a:defRPr sz="1100">
                      <a:latin typeface="+mn-lt"/>
                      <a:ea typeface="+mn-ea"/>
                      <a:cs typeface="+mn-cs"/>
                    </a:defRPr>
                  </a:lvl5pPr>
                  <a:lvl6pPr marL="2286000" indent="0">
                    <a:defRPr sz="1100">
                      <a:latin typeface="+mn-lt"/>
                      <a:ea typeface="+mn-ea"/>
                      <a:cs typeface="+mn-cs"/>
                    </a:defRPr>
                  </a:lvl6pPr>
                  <a:lvl7pPr marL="2743200" indent="0">
                    <a:defRPr sz="1100">
                      <a:latin typeface="+mn-lt"/>
                      <a:ea typeface="+mn-ea"/>
                      <a:cs typeface="+mn-cs"/>
                    </a:defRPr>
                  </a:lvl7pPr>
                  <a:lvl8pPr marL="3200400" indent="0">
                    <a:defRPr sz="1100">
                      <a:latin typeface="+mn-lt"/>
                      <a:ea typeface="+mn-ea"/>
                      <a:cs typeface="+mn-cs"/>
                    </a:defRPr>
                  </a:lvl8pPr>
                  <a:lvl9pPr marL="3657600" indent="0">
                    <a:defRPr sz="1100"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r>
                    <a:rPr lang="ko-KR" altLang="en-US" sz="800" dirty="0">
                      <a:solidFill>
                        <a:schemeClr val="bg1"/>
                      </a:solidFill>
                      <a:latin typeface="페이퍼로지 7 Bold" pitchFamily="2" charset="-127"/>
                      <a:ea typeface="페이퍼로지 7 Bold" pitchFamily="2" charset="-127"/>
                    </a:rPr>
                    <a:t>피해 계좌정보</a:t>
                  </a:r>
                </a:p>
                <a:p>
                  <a:pPr algn="ctr"/>
                  <a:r>
                    <a:rPr lang="en-US" altLang="ko-KR" sz="800" b="1" dirty="0">
                      <a:solidFill>
                        <a:schemeClr val="bg1"/>
                      </a:solidFill>
                      <a:latin typeface="페이퍼로지 7 Bold" pitchFamily="2" charset="-127"/>
                      <a:ea typeface="페이퍼로지 7 Bold" pitchFamily="2" charset="-127"/>
                    </a:rPr>
                    <a:t>118.4</a:t>
                  </a:r>
                  <a:r>
                    <a:rPr lang="ko-KR" altLang="en-US" sz="800" b="1" dirty="0">
                      <a:solidFill>
                        <a:schemeClr val="bg1"/>
                      </a:solidFill>
                      <a:latin typeface="페이퍼로지 7 Bold" pitchFamily="2" charset="-127"/>
                      <a:ea typeface="페이퍼로지 7 Bold" pitchFamily="2" charset="-127"/>
                    </a:rPr>
                    <a:t>억 원</a:t>
                  </a:r>
                </a:p>
                <a:p>
                  <a:pPr algn="ctr"/>
                  <a:r>
                    <a:rPr lang="en-US" altLang="ko-KR" sz="800" b="1" dirty="0">
                      <a:solidFill>
                        <a:schemeClr val="bg1"/>
                      </a:solidFill>
                      <a:latin typeface="페이퍼로지 7 Bold" pitchFamily="2" charset="-127"/>
                      <a:ea typeface="페이퍼로지 7 Bold" pitchFamily="2" charset="-127"/>
                    </a:rPr>
                    <a:t>(</a:t>
                  </a:r>
                  <a:r>
                    <a:rPr lang="en-US" altLang="ko-KR" sz="800" dirty="0">
                      <a:solidFill>
                        <a:schemeClr val="bg1"/>
                      </a:solidFill>
                      <a:latin typeface="페이퍼로지 7 Bold" pitchFamily="2" charset="-127"/>
                      <a:ea typeface="페이퍼로지 7 Bold" pitchFamily="2" charset="-127"/>
                    </a:rPr>
                    <a:t>63.5%)</a:t>
                  </a:r>
                  <a:endParaRPr lang="ko-KR" altLang="en-US" sz="800" dirty="0">
                    <a:solidFill>
                      <a:schemeClr val="bg1"/>
                    </a:solidFill>
                    <a:latin typeface="페이퍼로지 7 Bold" pitchFamily="2" charset="-127"/>
                    <a:ea typeface="페이퍼로지 7 Bold" pitchFamily="2" charset="-127"/>
                  </a:endParaRPr>
                </a:p>
              </p:txBody>
            </p:sp>
            <p:sp>
              <p:nvSpPr>
                <p:cNvPr id="138" name="Rectangle 137">
                  <a:extLst>
                    <a:ext uri="{FF2B5EF4-FFF2-40B4-BE49-F238E27FC236}">
                      <a16:creationId xmlns:a16="http://schemas.microsoft.com/office/drawing/2014/main" id="{9835F2DD-3120-471C-8951-D64FF8D0174D}"/>
                    </a:ext>
                  </a:extLst>
                </p:cNvPr>
                <p:cNvSpPr/>
                <p:nvPr/>
              </p:nvSpPr>
              <p:spPr>
                <a:xfrm>
                  <a:off x="10931968" y="4034171"/>
                  <a:ext cx="394715" cy="553770"/>
                </a:xfrm>
                <a:prstGeom prst="rect">
                  <a:avLst/>
                </a:prstGeom>
                <a:solidFill>
                  <a:srgbClr val="49A8FF"/>
                </a:solidFill>
                <a:ln w="12700">
                  <a:solidFill>
                    <a:schemeClr val="bg1"/>
                  </a:solidFill>
                  <a:prstDash val="solid"/>
                </a:ln>
              </p:spPr>
              <p:txBody>
                <a:bodyPr/>
                <a:lstStyle>
                  <a:lvl1pPr marL="0" indent="0">
                    <a:defRPr sz="1100">
                      <a:latin typeface="+mn-lt"/>
                      <a:ea typeface="+mn-ea"/>
                      <a:cs typeface="+mn-cs"/>
                    </a:defRPr>
                  </a:lvl1pPr>
                  <a:lvl2pPr marL="457200" indent="0">
                    <a:defRPr sz="1100">
                      <a:latin typeface="+mn-lt"/>
                      <a:ea typeface="+mn-ea"/>
                      <a:cs typeface="+mn-cs"/>
                    </a:defRPr>
                  </a:lvl2pPr>
                  <a:lvl3pPr marL="914400" indent="0">
                    <a:defRPr sz="1100">
                      <a:latin typeface="+mn-lt"/>
                      <a:ea typeface="+mn-ea"/>
                      <a:cs typeface="+mn-cs"/>
                    </a:defRPr>
                  </a:lvl3pPr>
                  <a:lvl4pPr marL="1371600" indent="0">
                    <a:defRPr sz="1100">
                      <a:latin typeface="+mn-lt"/>
                      <a:ea typeface="+mn-ea"/>
                      <a:cs typeface="+mn-cs"/>
                    </a:defRPr>
                  </a:lvl4pPr>
                  <a:lvl5pPr marL="1828800" indent="0">
                    <a:defRPr sz="1100">
                      <a:latin typeface="+mn-lt"/>
                      <a:ea typeface="+mn-ea"/>
                      <a:cs typeface="+mn-cs"/>
                    </a:defRPr>
                  </a:lvl5pPr>
                  <a:lvl6pPr marL="2286000" indent="0">
                    <a:defRPr sz="1100">
                      <a:latin typeface="+mn-lt"/>
                      <a:ea typeface="+mn-ea"/>
                      <a:cs typeface="+mn-cs"/>
                    </a:defRPr>
                  </a:lvl6pPr>
                  <a:lvl7pPr marL="2743200" indent="0">
                    <a:defRPr sz="1100">
                      <a:latin typeface="+mn-lt"/>
                      <a:ea typeface="+mn-ea"/>
                      <a:cs typeface="+mn-cs"/>
                    </a:defRPr>
                  </a:lvl7pPr>
                  <a:lvl8pPr marL="3200400" indent="0">
                    <a:defRPr sz="1100">
                      <a:latin typeface="+mn-lt"/>
                      <a:ea typeface="+mn-ea"/>
                      <a:cs typeface="+mn-cs"/>
                    </a:defRPr>
                  </a:lvl8pPr>
                  <a:lvl9pPr marL="3657600" indent="0">
                    <a:defRPr sz="1100"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ko-KR" sz="1000"/>
                </a:p>
              </p:txBody>
            </p:sp>
          </p:grpSp>
          <p:sp>
            <p:nvSpPr>
              <p:cNvPr id="153" name="TextBox 152">
                <a:extLst>
                  <a:ext uri="{FF2B5EF4-FFF2-40B4-BE49-F238E27FC236}">
                    <a16:creationId xmlns:a16="http://schemas.microsoft.com/office/drawing/2014/main" id="{FA77F4D8-08BA-428A-9C85-1616EDB599DB}"/>
                  </a:ext>
                </a:extLst>
              </p:cNvPr>
              <p:cNvSpPr txBox="1"/>
              <p:nvPr/>
            </p:nvSpPr>
            <p:spPr>
              <a:xfrm>
                <a:off x="6900722" y="3645845"/>
                <a:ext cx="2357577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ko-KR" altLang="en-US" sz="1000" dirty="0">
                    <a:latin typeface="페이퍼로지 7 Bold" pitchFamily="2" charset="-127"/>
                    <a:ea typeface="페이퍼로지 7 Bold" pitchFamily="2" charset="-127"/>
                  </a:rPr>
                  <a:t>피해방지 금액</a:t>
                </a:r>
                <a:r>
                  <a:rPr lang="en-US" altLang="ko-KR" sz="1000" dirty="0">
                    <a:latin typeface="페이퍼로지 7 Bold" pitchFamily="2" charset="-127"/>
                    <a:ea typeface="페이퍼로지 7 Bold" pitchFamily="2" charset="-127"/>
                  </a:rPr>
                  <a:t>(186.5</a:t>
                </a:r>
                <a:r>
                  <a:rPr lang="ko-KR" altLang="en-US" sz="1000" dirty="0">
                    <a:latin typeface="페이퍼로지 7 Bold" pitchFamily="2" charset="-127"/>
                    <a:ea typeface="페이퍼로지 7 Bold" pitchFamily="2" charset="-127"/>
                  </a:rPr>
                  <a:t>억 원</a:t>
                </a:r>
                <a:r>
                  <a:rPr lang="en-US" altLang="ko-KR" sz="1000" dirty="0">
                    <a:latin typeface="페이퍼로지 7 Bold" pitchFamily="2" charset="-127"/>
                    <a:ea typeface="페이퍼로지 7 Bold" pitchFamily="2" charset="-127"/>
                  </a:rPr>
                  <a:t>)</a:t>
                </a:r>
                <a:endParaRPr lang="ko-KR" altLang="en-US" sz="1000" dirty="0">
                  <a:latin typeface="페이퍼로지 7 Bold" pitchFamily="2" charset="-127"/>
                  <a:ea typeface="페이퍼로지 7 Bold" pitchFamily="2" charset="-127"/>
                </a:endParaRPr>
              </a:p>
              <a:p>
                <a:pPr rtl="0"/>
                <a:endParaRPr lang="ko-KR" altLang="en-US" sz="1000" dirty="0">
                  <a:latin typeface="페이퍼로지 7 Bold" pitchFamily="2" charset="-127"/>
                  <a:ea typeface="페이퍼로지 7 Bold" pitchFamily="2" charset="-127"/>
                </a:endParaRPr>
              </a:p>
            </p:txBody>
          </p:sp>
          <p:sp>
            <p:nvSpPr>
              <p:cNvPr id="160" name="TextBox 159">
                <a:extLst>
                  <a:ext uri="{FF2B5EF4-FFF2-40B4-BE49-F238E27FC236}">
                    <a16:creationId xmlns:a16="http://schemas.microsoft.com/office/drawing/2014/main" id="{919C9AAA-84A7-412C-A96B-CF876CFC3A50}"/>
                  </a:ext>
                </a:extLst>
              </p:cNvPr>
              <p:cNvSpPr txBox="1"/>
              <p:nvPr/>
            </p:nvSpPr>
            <p:spPr>
              <a:xfrm>
                <a:off x="8632959" y="3647511"/>
                <a:ext cx="2334171" cy="21544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r" rtl="0"/>
                <a:r>
                  <a:rPr lang="ko-KR" altLang="en-US" sz="800" dirty="0">
                    <a:solidFill>
                      <a:srgbClr val="2F7CF6"/>
                    </a:solidFill>
                    <a:latin typeface="페이퍼로지 7 Bold" pitchFamily="2" charset="-127"/>
                    <a:ea typeface="페이퍼로지 7 Bold" pitchFamily="2" charset="-127"/>
                  </a:rPr>
                  <a:t>사기이용계좌 정보 </a:t>
                </a:r>
                <a:r>
                  <a:rPr lang="en-US" altLang="ko-KR" sz="800" dirty="0">
                    <a:solidFill>
                      <a:srgbClr val="2F7CF6"/>
                    </a:solidFill>
                    <a:latin typeface="페이퍼로지 7 Bold" pitchFamily="2" charset="-127"/>
                    <a:ea typeface="페이퍼로지 7 Bold" pitchFamily="2" charset="-127"/>
                  </a:rPr>
                  <a:t>9.8</a:t>
                </a:r>
                <a:r>
                  <a:rPr lang="ko-KR" altLang="en-US" sz="800" dirty="0">
                    <a:solidFill>
                      <a:srgbClr val="2F7CF6"/>
                    </a:solidFill>
                    <a:latin typeface="페이퍼로지 7 Bold" pitchFamily="2" charset="-127"/>
                    <a:ea typeface="페이퍼로지 7 Bold" pitchFamily="2" charset="-127"/>
                  </a:rPr>
                  <a:t>억 원</a:t>
                </a:r>
                <a:r>
                  <a:rPr lang="en-US" altLang="ko-KR" sz="800" dirty="0">
                    <a:solidFill>
                      <a:srgbClr val="2F7CF6"/>
                    </a:solidFill>
                    <a:latin typeface="페이퍼로지 7 Bold" pitchFamily="2" charset="-127"/>
                    <a:ea typeface="페이퍼로지 7 Bold" pitchFamily="2" charset="-127"/>
                  </a:rPr>
                  <a:t>(5.3%)</a:t>
                </a:r>
                <a:endParaRPr lang="ko-KR" altLang="en-US" sz="800" dirty="0">
                  <a:solidFill>
                    <a:srgbClr val="2F7CF6"/>
                  </a:solidFill>
                  <a:latin typeface="페이퍼로지 7 Bold" pitchFamily="2" charset="-127"/>
                  <a:ea typeface="페이퍼로지 7 Bold" pitchFamily="2" charset="-127"/>
                </a:endParaRPr>
              </a:p>
            </p:txBody>
          </p:sp>
          <p:cxnSp>
            <p:nvCxnSpPr>
              <p:cNvPr id="161" name="Straight Connector 160">
                <a:extLst>
                  <a:ext uri="{FF2B5EF4-FFF2-40B4-BE49-F238E27FC236}">
                    <a16:creationId xmlns:a16="http://schemas.microsoft.com/office/drawing/2014/main" id="{DF6178B5-BA75-4C82-BC94-A57B18CABC6A}"/>
                  </a:ext>
                </a:extLst>
              </p:cNvPr>
              <p:cNvCxnSpPr>
                <a:cxnSpLocks/>
                <a:stCxn id="160" idx="3"/>
                <a:endCxn id="160" idx="3"/>
              </p:cNvCxnSpPr>
              <p:nvPr/>
            </p:nvCxnSpPr>
            <p:spPr>
              <a:xfrm>
                <a:off x="10967130" y="3755233"/>
                <a:ext cx="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2" name="Straight Connector 161">
                <a:extLst>
                  <a:ext uri="{FF2B5EF4-FFF2-40B4-BE49-F238E27FC236}">
                    <a16:creationId xmlns:a16="http://schemas.microsoft.com/office/drawing/2014/main" id="{BB0E1F68-8BCC-4740-8CA7-815A9B21B88B}"/>
                  </a:ext>
                </a:extLst>
              </p:cNvPr>
              <p:cNvCxnSpPr/>
              <p:nvPr/>
            </p:nvCxnSpPr>
            <p:spPr>
              <a:xfrm flipV="1">
                <a:off x="10918894" y="3693912"/>
                <a:ext cx="0" cy="169772"/>
              </a:xfrm>
              <a:prstGeom prst="line">
                <a:avLst/>
              </a:prstGeom>
              <a:ln w="28575">
                <a:solidFill>
                  <a:srgbClr val="2F7CF6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3" name="Straight Connector 162">
                <a:extLst>
                  <a:ext uri="{FF2B5EF4-FFF2-40B4-BE49-F238E27FC236}">
                    <a16:creationId xmlns:a16="http://schemas.microsoft.com/office/drawing/2014/main" id="{B6B30D79-E413-44B8-BECF-21E5D30F9474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1301283" y="4374959"/>
                <a:ext cx="0" cy="200563"/>
              </a:xfrm>
              <a:prstGeom prst="line">
                <a:avLst/>
              </a:prstGeom>
              <a:ln w="28575">
                <a:solidFill>
                  <a:srgbClr val="49A8FF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64" name="TextBox 163">
                <a:extLst>
                  <a:ext uri="{FF2B5EF4-FFF2-40B4-BE49-F238E27FC236}">
                    <a16:creationId xmlns:a16="http://schemas.microsoft.com/office/drawing/2014/main" id="{EE145FE7-7C8E-4A8C-BEA3-6326FCD0B570}"/>
                  </a:ext>
                </a:extLst>
              </p:cNvPr>
              <p:cNvSpPr txBox="1"/>
              <p:nvPr/>
            </p:nvSpPr>
            <p:spPr>
              <a:xfrm>
                <a:off x="9883776" y="4387014"/>
                <a:ext cx="1469766" cy="21544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r" rtl="0"/>
                <a:r>
                  <a:rPr lang="ko-KR" altLang="en-US" sz="800" dirty="0">
                    <a:solidFill>
                      <a:srgbClr val="49A8FF"/>
                    </a:solidFill>
                    <a:latin typeface="페이퍼로지 7 Bold" pitchFamily="2" charset="-127"/>
                    <a:ea typeface="페이퍼로지 7 Bold" pitchFamily="2" charset="-127"/>
                  </a:rPr>
                  <a:t>기타</a:t>
                </a:r>
                <a:r>
                  <a:rPr lang="en-US" altLang="ko-KR" sz="800" dirty="0">
                    <a:solidFill>
                      <a:srgbClr val="49A8FF"/>
                    </a:solidFill>
                    <a:latin typeface="페이퍼로지 7 Bold" pitchFamily="2" charset="-127"/>
                    <a:ea typeface="페이퍼로지 7 Bold" pitchFamily="2" charset="-127"/>
                  </a:rPr>
                  <a:t> 17.3</a:t>
                </a:r>
                <a:r>
                  <a:rPr lang="ko-KR" altLang="en-US" sz="800" dirty="0">
                    <a:solidFill>
                      <a:srgbClr val="49A8FF"/>
                    </a:solidFill>
                    <a:latin typeface="페이퍼로지 7 Bold" pitchFamily="2" charset="-127"/>
                    <a:ea typeface="페이퍼로지 7 Bold" pitchFamily="2" charset="-127"/>
                  </a:rPr>
                  <a:t>억 원</a:t>
                </a:r>
                <a:r>
                  <a:rPr lang="en-US" altLang="ko-KR" sz="800" dirty="0">
                    <a:solidFill>
                      <a:srgbClr val="49A8FF"/>
                    </a:solidFill>
                    <a:latin typeface="페이퍼로지 7 Bold" pitchFamily="2" charset="-127"/>
                    <a:ea typeface="페이퍼로지 7 Bold" pitchFamily="2" charset="-127"/>
                  </a:rPr>
                  <a:t>(9.3%)</a:t>
                </a:r>
                <a:endParaRPr lang="ko-KR" altLang="en-US" sz="800" dirty="0">
                  <a:solidFill>
                    <a:srgbClr val="49A8FF"/>
                  </a:solidFill>
                  <a:latin typeface="페이퍼로지 7 Bold" pitchFamily="2" charset="-127"/>
                  <a:ea typeface="페이퍼로지 7 Bold" pitchFamily="2" charset="-127"/>
                </a:endParaRPr>
              </a:p>
            </p:txBody>
          </p:sp>
          <p:sp>
            <p:nvSpPr>
              <p:cNvPr id="166" name="TextBox 165">
                <a:extLst>
                  <a:ext uri="{FF2B5EF4-FFF2-40B4-BE49-F238E27FC236}">
                    <a16:creationId xmlns:a16="http://schemas.microsoft.com/office/drawing/2014/main" id="{525798AE-8A4A-4F3C-A7DB-F37611569B06}"/>
                  </a:ext>
                </a:extLst>
              </p:cNvPr>
              <p:cNvSpPr txBox="1"/>
              <p:nvPr/>
            </p:nvSpPr>
            <p:spPr>
              <a:xfrm>
                <a:off x="6907208" y="4394745"/>
                <a:ext cx="1223412" cy="20005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rtl="0"/>
                <a:r>
                  <a:rPr lang="en-US" altLang="ko-KR" sz="700" dirty="0">
                    <a:solidFill>
                      <a:srgbClr val="002060"/>
                    </a:solidFill>
                    <a:latin typeface="페이퍼로지 4 Regular" pitchFamily="2" charset="-127"/>
                    <a:ea typeface="페이퍼로지 4 Regular" pitchFamily="2" charset="-127"/>
                  </a:rPr>
                  <a:t>*</a:t>
                </a:r>
                <a:r>
                  <a:rPr lang="ko-KR" altLang="en-US" sz="700" dirty="0">
                    <a:solidFill>
                      <a:srgbClr val="002060"/>
                    </a:solidFill>
                    <a:latin typeface="페이퍼로지 4 Regular" pitchFamily="2" charset="-127"/>
                    <a:ea typeface="페이퍼로지 4 Regular" pitchFamily="2" charset="-127"/>
                  </a:rPr>
                  <a:t>기준 기간 출범 후 </a:t>
                </a:r>
                <a:r>
                  <a:rPr lang="en-US" altLang="ko-KR" sz="700" dirty="0">
                    <a:solidFill>
                      <a:srgbClr val="002060"/>
                    </a:solidFill>
                    <a:latin typeface="페이퍼로지 4 Regular" pitchFamily="2" charset="-127"/>
                    <a:ea typeface="페이퍼로지 4 Regular" pitchFamily="2" charset="-127"/>
                  </a:rPr>
                  <a:t>12</a:t>
                </a:r>
                <a:r>
                  <a:rPr lang="ko-KR" altLang="en-US" sz="700" dirty="0">
                    <a:solidFill>
                      <a:srgbClr val="002060"/>
                    </a:solidFill>
                    <a:latin typeface="페이퍼로지 4 Regular" pitchFamily="2" charset="-127"/>
                    <a:ea typeface="페이퍼로지 4 Regular" pitchFamily="2" charset="-127"/>
                  </a:rPr>
                  <a:t>주 동안</a:t>
                </a:r>
                <a:endParaRPr lang="en-US" altLang="ko-KR" sz="700" dirty="0">
                  <a:solidFill>
                    <a:srgbClr val="002060"/>
                  </a:solidFill>
                  <a:latin typeface="페이퍼로지 4 Regular" pitchFamily="2" charset="-127"/>
                  <a:ea typeface="페이퍼로지 4 Regular" pitchFamily="2" charset="-127"/>
                </a:endParaRPr>
              </a:p>
            </p:txBody>
          </p:sp>
        </p:grpSp>
      </p:grpSp>
      <p:sp>
        <p:nvSpPr>
          <p:cNvPr id="168" name="TextBox 167">
            <a:extLst>
              <a:ext uri="{FF2B5EF4-FFF2-40B4-BE49-F238E27FC236}">
                <a16:creationId xmlns:a16="http://schemas.microsoft.com/office/drawing/2014/main" id="{7688958C-63F5-4BB9-9DD1-8635F1F92C47}"/>
              </a:ext>
            </a:extLst>
          </p:cNvPr>
          <p:cNvSpPr txBox="1"/>
          <p:nvPr/>
        </p:nvSpPr>
        <p:spPr>
          <a:xfrm>
            <a:off x="7370343" y="5094665"/>
            <a:ext cx="3403127" cy="5232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ko-KR" altLang="en-US" sz="1000" dirty="0">
                <a:latin typeface="페이퍼로지 4 Regular" pitchFamily="2" charset="-127"/>
                <a:ea typeface="페이퍼로지 4 Regular" pitchFamily="2" charset="-127"/>
              </a:rPr>
              <a:t>지난해 같은 기간 대비 </a:t>
            </a:r>
            <a:r>
              <a:rPr lang="ko-KR" altLang="en-US" sz="1000" dirty="0">
                <a:solidFill>
                  <a:srgbClr val="FF4B16"/>
                </a:solidFill>
                <a:latin typeface="페이퍼로지 4 Regular" pitchFamily="2" charset="-127"/>
                <a:ea typeface="페이퍼로지 4 Regular" pitchFamily="2" charset="-127"/>
              </a:rPr>
              <a:t>발생 건수가 </a:t>
            </a:r>
            <a:r>
              <a:rPr lang="en-US" altLang="ko-KR" sz="1000" dirty="0">
                <a:solidFill>
                  <a:srgbClr val="FF4B16"/>
                </a:solidFill>
                <a:latin typeface="페이퍼로지 4 Regular" pitchFamily="2" charset="-127"/>
                <a:ea typeface="페이퍼로지 4 Regular" pitchFamily="2" charset="-127"/>
              </a:rPr>
              <a:t>46%</a:t>
            </a:r>
            <a:r>
              <a:rPr lang="en-US" altLang="ko-KR" sz="1000" dirty="0">
                <a:latin typeface="페이퍼로지 4 Regular" pitchFamily="2" charset="-127"/>
                <a:ea typeface="페이퍼로지 4 Regular" pitchFamily="2" charset="-127"/>
              </a:rPr>
              <a:t>(14,707</a:t>
            </a:r>
            <a:r>
              <a:rPr lang="ko-KR" altLang="en-US" sz="1000" dirty="0">
                <a:latin typeface="페이퍼로지 4 Regular" pitchFamily="2" charset="-127"/>
                <a:ea typeface="페이퍼로지 4 Regular" pitchFamily="2" charset="-127"/>
              </a:rPr>
              <a:t>건→</a:t>
            </a:r>
            <a:r>
              <a:rPr lang="en-US" altLang="ko-KR" sz="1000" dirty="0">
                <a:latin typeface="페이퍼로지 4 Regular" pitchFamily="2" charset="-127"/>
                <a:ea typeface="페이퍼로지 4 Regular" pitchFamily="2" charset="-127"/>
              </a:rPr>
              <a:t>7,940</a:t>
            </a:r>
            <a:r>
              <a:rPr lang="ko-KR" altLang="en-US" sz="1000" dirty="0">
                <a:latin typeface="페이퍼로지 4 Regular" pitchFamily="2" charset="-127"/>
                <a:ea typeface="페이퍼로지 4 Regular" pitchFamily="2" charset="-127"/>
              </a:rPr>
              <a:t>건</a:t>
            </a:r>
            <a:r>
              <a:rPr lang="en-US" altLang="ko-KR" sz="1000" dirty="0">
                <a:latin typeface="페이퍼로지 4 Regular" pitchFamily="2" charset="-127"/>
                <a:ea typeface="페이퍼로지 4 Regular" pitchFamily="2" charset="-127"/>
              </a:rPr>
              <a:t>),</a:t>
            </a:r>
          </a:p>
          <a:p>
            <a:pPr algn="ctr"/>
            <a:r>
              <a:rPr lang="ko-KR" altLang="en-US" sz="1000" dirty="0">
                <a:solidFill>
                  <a:srgbClr val="FF4B16"/>
                </a:solidFill>
                <a:latin typeface="페이퍼로지 4 Regular" pitchFamily="2" charset="-127"/>
                <a:ea typeface="페이퍼로지 4 Regular" pitchFamily="2" charset="-127"/>
              </a:rPr>
              <a:t>피해액이 </a:t>
            </a:r>
            <a:r>
              <a:rPr lang="en-US" altLang="ko-KR" sz="1000" dirty="0">
                <a:solidFill>
                  <a:srgbClr val="FF4B16"/>
                </a:solidFill>
                <a:latin typeface="페이퍼로지 4 Regular" pitchFamily="2" charset="-127"/>
                <a:ea typeface="페이퍼로지 4 Regular" pitchFamily="2" charset="-127"/>
              </a:rPr>
              <a:t>53%</a:t>
            </a:r>
            <a:r>
              <a:rPr lang="en-US" altLang="ko-KR" sz="1000" dirty="0">
                <a:latin typeface="페이퍼로지 4 Regular" pitchFamily="2" charset="-127"/>
                <a:ea typeface="페이퍼로지 4 Regular" pitchFamily="2" charset="-127"/>
              </a:rPr>
              <a:t>(7,766</a:t>
            </a:r>
            <a:r>
              <a:rPr lang="ko-KR" altLang="en-US" sz="1000" dirty="0">
                <a:latin typeface="페이퍼로지 4 Regular" pitchFamily="2" charset="-127"/>
                <a:ea typeface="페이퍼로지 4 Regular" pitchFamily="2" charset="-127"/>
              </a:rPr>
              <a:t>억 원→</a:t>
            </a:r>
            <a:r>
              <a:rPr lang="en-US" altLang="ko-KR" sz="1000" dirty="0">
                <a:latin typeface="페이퍼로지 4 Regular" pitchFamily="2" charset="-127"/>
                <a:ea typeface="페이퍼로지 4 Regular" pitchFamily="2" charset="-127"/>
              </a:rPr>
              <a:t>3,614</a:t>
            </a:r>
            <a:r>
              <a:rPr lang="ko-KR" altLang="en-US" sz="1000" dirty="0">
                <a:latin typeface="페이퍼로지 4 Regular" pitchFamily="2" charset="-127"/>
                <a:ea typeface="페이퍼로지 4 Regular" pitchFamily="2" charset="-127"/>
              </a:rPr>
              <a:t>억 원</a:t>
            </a:r>
            <a:r>
              <a:rPr lang="en-US" altLang="ko-KR" sz="1000" dirty="0">
                <a:latin typeface="페이퍼로지 4 Regular" pitchFamily="2" charset="-127"/>
                <a:ea typeface="페이퍼로지 4 Regular" pitchFamily="2" charset="-127"/>
              </a:rPr>
              <a:t>) </a:t>
            </a:r>
            <a:r>
              <a:rPr lang="ko-KR" altLang="en-US" sz="1000" dirty="0">
                <a:solidFill>
                  <a:srgbClr val="FF4B16"/>
                </a:solidFill>
                <a:latin typeface="페이퍼로지 4 Regular" pitchFamily="2" charset="-127"/>
                <a:ea typeface="페이퍼로지 4 Regular" pitchFamily="2" charset="-127"/>
              </a:rPr>
              <a:t>감소</a:t>
            </a:r>
            <a:endParaRPr lang="en-US" altLang="ko-KR" sz="1000" dirty="0">
              <a:solidFill>
                <a:srgbClr val="FF4B16"/>
              </a:solidFill>
              <a:latin typeface="페이퍼로지 4 Regular" pitchFamily="2" charset="-127"/>
              <a:ea typeface="페이퍼로지 4 Regular" pitchFamily="2" charset="-127"/>
            </a:endParaRPr>
          </a:p>
          <a:p>
            <a:pPr algn="ctr"/>
            <a:r>
              <a:rPr lang="ko-KR" altLang="en-US" sz="800" b="0" i="0" dirty="0">
                <a:effectLst/>
                <a:latin typeface="페이퍼로지 4 Regular" pitchFamily="2" charset="-127"/>
                <a:ea typeface="페이퍼로지 4 Regular" pitchFamily="2" charset="-127"/>
              </a:rPr>
              <a:t>출처</a:t>
            </a:r>
            <a:r>
              <a:rPr lang="en-US" altLang="ko-KR" sz="800" b="0" i="0" dirty="0">
                <a:effectLst/>
                <a:latin typeface="페이퍼로지 4 Regular" pitchFamily="2" charset="-127"/>
                <a:ea typeface="페이퍼로지 4 Regular" pitchFamily="2" charset="-127"/>
              </a:rPr>
              <a:t>: 7</a:t>
            </a:r>
            <a:r>
              <a:rPr lang="ko-KR" altLang="en-US" sz="800" b="0" i="0" dirty="0">
                <a:effectLst/>
                <a:latin typeface="페이퍼로지 4 Regular" pitchFamily="2" charset="-127"/>
                <a:ea typeface="페이퍼로지 4 Regular" pitchFamily="2" charset="-127"/>
              </a:rPr>
              <a:t>월 보이스피싱 피해액 올해 최저</a:t>
            </a:r>
            <a:r>
              <a:rPr lang="en-US" altLang="ko-KR" sz="800" b="0" i="0" dirty="0">
                <a:effectLst/>
                <a:latin typeface="페이퍼로지 4 Regular" pitchFamily="2" charset="-127"/>
                <a:ea typeface="페이퍼로지 4 Regular" pitchFamily="2" charset="-127"/>
              </a:rPr>
              <a:t>, </a:t>
            </a:r>
            <a:r>
              <a:rPr lang="ko-KR" altLang="en-US" sz="800" b="0" i="0" dirty="0">
                <a:effectLst/>
                <a:latin typeface="페이퍼로지 4 Regular" pitchFamily="2" charset="-127"/>
                <a:ea typeface="페이퍼로지 4 Regular" pitchFamily="2" charset="-127"/>
              </a:rPr>
              <a:t>신종 스캠도 감소세 뚜렷</a:t>
            </a:r>
            <a:r>
              <a:rPr lang="en-US" altLang="ko-KR" sz="800" b="0" i="0" dirty="0">
                <a:effectLst/>
                <a:latin typeface="페이퍼로지 4 Regular" pitchFamily="2" charset="-127"/>
                <a:ea typeface="페이퍼로지 4 Regular" pitchFamily="2" charset="-127"/>
              </a:rPr>
              <a:t>(</a:t>
            </a:r>
            <a:r>
              <a:rPr lang="ko-KR" altLang="en-US" sz="800" b="0" i="0" dirty="0">
                <a:effectLst/>
                <a:latin typeface="페이퍼로지 4 Regular" pitchFamily="2" charset="-127"/>
                <a:ea typeface="페이퍼로지 4 Regular" pitchFamily="2" charset="-127"/>
              </a:rPr>
              <a:t>통합대응단</a:t>
            </a:r>
            <a:r>
              <a:rPr lang="en-US" altLang="ko-KR" sz="800" b="0" i="0" dirty="0">
                <a:effectLst/>
                <a:latin typeface="페이퍼로지 4 Regular" pitchFamily="2" charset="-127"/>
                <a:ea typeface="페이퍼로지 4 Regular" pitchFamily="2" charset="-127"/>
              </a:rPr>
              <a:t>)</a:t>
            </a:r>
            <a:endParaRPr lang="ko-KR" altLang="en-US" sz="80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3108161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44784" y="6671892"/>
            <a:ext cx="905256" cy="5486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D86A6"/>
                </a:solidFill>
                <a:latin typeface="NanumSquare"/>
                <a:ea typeface="NanumSquare"/>
                <a:cs typeface="NanumSquare"/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 dirty="0"/>
          </a:p>
        </p:txBody>
      </p:sp>
      <p:sp>
        <p:nvSpPr>
          <p:cNvPr id="17" name="Text 5">
            <a:extLst>
              <a:ext uri="{FF2B5EF4-FFF2-40B4-BE49-F238E27FC236}">
                <a16:creationId xmlns:a16="http://schemas.microsoft.com/office/drawing/2014/main" id="{F9ECD888-C723-46E7-903A-7435ADF81B35}"/>
              </a:ext>
            </a:extLst>
          </p:cNvPr>
          <p:cNvSpPr txBox="1"/>
          <p:nvPr/>
        </p:nvSpPr>
        <p:spPr>
          <a:xfrm>
            <a:off x="-64242" y="162899"/>
            <a:ext cx="8961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ko-KR" altLang="en-US" sz="1050" b="1" dirty="0">
                <a:solidFill>
                  <a:schemeClr val="bg1"/>
                </a:solidFill>
                <a:latin typeface="페이퍼로지 4 Regular" pitchFamily="2" charset="-127"/>
                <a:ea typeface="페이퍼로지 4 Regular" pitchFamily="2" charset="-127"/>
                <a:cs typeface="NanumSquare Bold" pitchFamily="34" charset="-120"/>
              </a:rPr>
              <a:t>문제도출</a:t>
            </a:r>
            <a:endParaRPr lang="en-US" sz="1050" dirty="0">
              <a:solidFill>
                <a:schemeClr val="bg1"/>
              </a:solidFill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18" name="Text 7">
            <a:extLst>
              <a:ext uri="{FF2B5EF4-FFF2-40B4-BE49-F238E27FC236}">
                <a16:creationId xmlns:a16="http://schemas.microsoft.com/office/drawing/2014/main" id="{4F0333C0-8C7A-4B84-8F7C-D44D37579789}"/>
              </a:ext>
            </a:extLst>
          </p:cNvPr>
          <p:cNvSpPr txBox="1"/>
          <p:nvPr/>
        </p:nvSpPr>
        <p:spPr>
          <a:xfrm>
            <a:off x="838200" y="527343"/>
            <a:ext cx="10515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ko-KR" altLang="en-US" sz="1230" dirty="0">
                <a:solidFill>
                  <a:schemeClr val="bg1"/>
                </a:solidFill>
                <a:latin typeface="페이퍼로지 4 Regular" pitchFamily="2" charset="-127"/>
                <a:ea typeface="페이퍼로지 4 Regular" pitchFamily="2" charset="-127"/>
                <a:cs typeface="NanumSquare" pitchFamily="34" charset="-120"/>
              </a:rPr>
              <a:t>그런데 잠깐</a:t>
            </a:r>
            <a:r>
              <a:rPr lang="en-US" altLang="ko-KR" sz="1230" dirty="0">
                <a:solidFill>
                  <a:schemeClr val="bg1"/>
                </a:solidFill>
                <a:latin typeface="페이퍼로지 4 Regular" pitchFamily="2" charset="-127"/>
                <a:ea typeface="페이퍼로지 4 Regular" pitchFamily="2" charset="-127"/>
                <a:cs typeface="NanumSquare" pitchFamily="34" charset="-120"/>
              </a:rPr>
              <a:t>…</a:t>
            </a:r>
            <a:endParaRPr lang="en-US" altLang="ko-KR" sz="1230" dirty="0">
              <a:solidFill>
                <a:schemeClr val="bg1"/>
              </a:solidFill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19" name="Text 6">
            <a:extLst>
              <a:ext uri="{FF2B5EF4-FFF2-40B4-BE49-F238E27FC236}">
                <a16:creationId xmlns:a16="http://schemas.microsoft.com/office/drawing/2014/main" id="{9E4F4B01-3369-4970-A414-220666C1A0EF}"/>
              </a:ext>
            </a:extLst>
          </p:cNvPr>
          <p:cNvSpPr txBox="1"/>
          <p:nvPr/>
        </p:nvSpPr>
        <p:spPr>
          <a:xfrm>
            <a:off x="746760" y="804148"/>
            <a:ext cx="10698480" cy="12225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ko-KR" altLang="en-US" sz="2400" dirty="0">
                <a:solidFill>
                  <a:srgbClr val="FFFFFF"/>
                </a:solidFill>
                <a:latin typeface="페이퍼로지 7 Bold" pitchFamily="2" charset="-127"/>
                <a:ea typeface="페이퍼로지 7 Bold" pitchFamily="2" charset="-127"/>
                <a:cs typeface="NanumSquare Bold" pitchFamily="34" charset="-120"/>
              </a:rPr>
              <a:t>이렇게 많은 </a:t>
            </a:r>
            <a:r>
              <a:rPr lang="en-US" altLang="ko-KR" sz="2400" dirty="0" err="1">
                <a:solidFill>
                  <a:srgbClr val="FFFFFF"/>
                </a:solidFill>
                <a:latin typeface="페이퍼로지 7 Bold" pitchFamily="2" charset="-127"/>
                <a:ea typeface="페이퍼로지 7 Bold" pitchFamily="2" charset="-127"/>
                <a:cs typeface="NanumSquare Bold" pitchFamily="34" charset="-120"/>
              </a:rPr>
              <a:t>안전장치</a:t>
            </a:r>
            <a:r>
              <a:rPr lang="ko-KR" altLang="en-US" sz="2400" dirty="0">
                <a:solidFill>
                  <a:srgbClr val="FFFFFF"/>
                </a:solidFill>
                <a:latin typeface="페이퍼로지 7 Bold" pitchFamily="2" charset="-127"/>
                <a:ea typeface="페이퍼로지 7 Bold" pitchFamily="2" charset="-127"/>
                <a:cs typeface="NanumSquare Bold" pitchFamily="34" charset="-120"/>
              </a:rPr>
              <a:t>가 존재하고 </a:t>
            </a:r>
            <a:r>
              <a:rPr lang="en-US" altLang="ko-KR" sz="2400" dirty="0" err="1">
                <a:solidFill>
                  <a:srgbClr val="FFFFFF"/>
                </a:solidFill>
                <a:latin typeface="페이퍼로지 7 Bold" pitchFamily="2" charset="-127"/>
                <a:ea typeface="페이퍼로지 7 Bold" pitchFamily="2" charset="-127"/>
                <a:cs typeface="NanumSquare Bold" pitchFamily="34" charset="-120"/>
              </a:rPr>
              <a:t>실제</a:t>
            </a:r>
            <a:r>
              <a:rPr lang="en-US" altLang="ko-KR" sz="2400" dirty="0">
                <a:solidFill>
                  <a:srgbClr val="FFFFFF"/>
                </a:solidFill>
                <a:latin typeface="페이퍼로지 7 Bold" pitchFamily="2" charset="-127"/>
                <a:ea typeface="페이퍼로지 7 Bold" pitchFamily="2" charset="-127"/>
                <a:cs typeface="NanumSquare Bold" pitchFamily="34" charset="-120"/>
              </a:rPr>
              <a:t> </a:t>
            </a:r>
            <a:r>
              <a:rPr lang="ko-KR" altLang="en-US" sz="2400" dirty="0">
                <a:solidFill>
                  <a:srgbClr val="FFFFFF"/>
                </a:solidFill>
                <a:latin typeface="페이퍼로지 7 Bold" pitchFamily="2" charset="-127"/>
                <a:ea typeface="페이퍼로지 7 Bold" pitchFamily="2" charset="-127"/>
                <a:cs typeface="NanumSquare Bold" pitchFamily="34" charset="-120"/>
              </a:rPr>
              <a:t>긍정적 </a:t>
            </a:r>
            <a:r>
              <a:rPr lang="en-US" altLang="ko-KR" sz="2400" dirty="0" err="1">
                <a:solidFill>
                  <a:srgbClr val="FFFFFF"/>
                </a:solidFill>
                <a:latin typeface="페이퍼로지 7 Bold" pitchFamily="2" charset="-127"/>
                <a:ea typeface="페이퍼로지 7 Bold" pitchFamily="2" charset="-127"/>
                <a:cs typeface="NanumSquare Bold" pitchFamily="34" charset="-120"/>
              </a:rPr>
              <a:t>효과도</a:t>
            </a:r>
            <a:r>
              <a:rPr lang="en-US" altLang="ko-KR" sz="2400" dirty="0">
                <a:solidFill>
                  <a:srgbClr val="FFFFFF"/>
                </a:solidFill>
                <a:latin typeface="페이퍼로지 7 Bold" pitchFamily="2" charset="-127"/>
                <a:ea typeface="페이퍼로지 7 Bold" pitchFamily="2" charset="-127"/>
                <a:cs typeface="NanumSquare Bold" pitchFamily="34" charset="-120"/>
              </a:rPr>
              <a:t> </a:t>
            </a:r>
            <a:r>
              <a:rPr lang="en-US" altLang="ko-KR" sz="2400" dirty="0" err="1">
                <a:solidFill>
                  <a:srgbClr val="FFFFFF"/>
                </a:solidFill>
                <a:latin typeface="페이퍼로지 7 Bold" pitchFamily="2" charset="-127"/>
                <a:ea typeface="페이퍼로지 7 Bold" pitchFamily="2" charset="-127"/>
                <a:cs typeface="NanumSquare Bold" pitchFamily="34" charset="-120"/>
              </a:rPr>
              <a:t>있는데</a:t>
            </a:r>
            <a:r>
              <a:rPr lang="en-US" altLang="ko-KR" sz="2400" dirty="0">
                <a:solidFill>
                  <a:srgbClr val="FFFFFF"/>
                </a:solidFill>
                <a:latin typeface="페이퍼로지 7 Bold" pitchFamily="2" charset="-127"/>
                <a:ea typeface="페이퍼로지 7 Bold" pitchFamily="2" charset="-127"/>
                <a:cs typeface="NanumSquare Bold" pitchFamily="34" charset="-120"/>
              </a:rPr>
              <a:t>…</a:t>
            </a:r>
          </a:p>
          <a:p>
            <a:pPr marL="0" indent="0" algn="ctr">
              <a:buNone/>
            </a:pPr>
            <a:r>
              <a:rPr lang="ko-KR" altLang="en-US" sz="2400" dirty="0">
                <a:solidFill>
                  <a:schemeClr val="bg1"/>
                </a:solidFill>
                <a:latin typeface="페이퍼로지 7 Bold" pitchFamily="2" charset="-127"/>
                <a:ea typeface="페이퍼로지 7 Bold" pitchFamily="2" charset="-127"/>
                <a:cs typeface="NanumSquare Bold" pitchFamily="34" charset="-120"/>
              </a:rPr>
              <a:t>보이스피싱 범죄</a:t>
            </a:r>
            <a:r>
              <a:rPr lang="en-US" altLang="ko-KR" sz="2400" dirty="0">
                <a:solidFill>
                  <a:schemeClr val="bg1"/>
                </a:solidFill>
                <a:latin typeface="페이퍼로지 7 Bold" pitchFamily="2" charset="-127"/>
                <a:ea typeface="페이퍼로지 7 Bold" pitchFamily="2" charset="-127"/>
                <a:cs typeface="NanumSquare Bold" pitchFamily="34" charset="-120"/>
              </a:rPr>
              <a:t> </a:t>
            </a:r>
            <a:r>
              <a:rPr lang="ko-KR" altLang="en-US" sz="2400" dirty="0">
                <a:solidFill>
                  <a:schemeClr val="bg1"/>
                </a:solidFill>
                <a:latin typeface="페이퍼로지 7 Bold" pitchFamily="2" charset="-127"/>
                <a:ea typeface="페이퍼로지 7 Bold" pitchFamily="2" charset="-127"/>
                <a:cs typeface="NanumSquare Bold" pitchFamily="34" charset="-120"/>
              </a:rPr>
              <a:t>피해는 </a:t>
            </a:r>
            <a:r>
              <a:rPr lang="ko-KR" altLang="en-US" sz="2400" dirty="0">
                <a:solidFill>
                  <a:srgbClr val="49A8FF"/>
                </a:solidFill>
                <a:latin typeface="페이퍼로지 7 Bold" pitchFamily="2" charset="-127"/>
                <a:ea typeface="페이퍼로지 7 Bold" pitchFamily="2" charset="-127"/>
                <a:cs typeface="NanumSquare Bold" pitchFamily="34" charset="-120"/>
              </a:rPr>
              <a:t>어째서 여전히 발생하고 있을까</a:t>
            </a:r>
            <a:r>
              <a:rPr lang="en-US" altLang="ko-KR" sz="2400" dirty="0">
                <a:solidFill>
                  <a:srgbClr val="49A8FF"/>
                </a:solidFill>
                <a:latin typeface="페이퍼로지 7 Bold" pitchFamily="2" charset="-127"/>
                <a:ea typeface="페이퍼로지 7 Bold" pitchFamily="2" charset="-127"/>
                <a:cs typeface="NanumSquare Bold" pitchFamily="34" charset="-120"/>
              </a:rPr>
              <a:t>?</a:t>
            </a:r>
          </a:p>
          <a:p>
            <a:pPr marL="0" indent="0" algn="ctr">
              <a:buNone/>
            </a:pPr>
            <a:r>
              <a:rPr lang="ko-KR" altLang="en-US" sz="2400" dirty="0">
                <a:solidFill>
                  <a:schemeClr val="bg1"/>
                </a:solidFill>
                <a:latin typeface="페이퍼로지 7 Bold" pitchFamily="2" charset="-127"/>
                <a:ea typeface="페이퍼로지 7 Bold" pitchFamily="2" charset="-127"/>
                <a:cs typeface="NanumSquare Bold" pitchFamily="34" charset="-120"/>
              </a:rPr>
              <a:t>그리고 </a:t>
            </a:r>
            <a:r>
              <a:rPr lang="en-US" altLang="ko-KR" sz="2400" dirty="0">
                <a:solidFill>
                  <a:schemeClr val="bg1"/>
                </a:solidFill>
                <a:latin typeface="페이퍼로지 7 Bold" pitchFamily="2" charset="-127"/>
                <a:ea typeface="페이퍼로지 7 Bold" pitchFamily="2" charset="-127"/>
                <a:cs typeface="NanumSquare Bold" pitchFamily="34" charset="-120"/>
              </a:rPr>
              <a:t>53%</a:t>
            </a:r>
            <a:r>
              <a:rPr lang="ko-KR" altLang="en-US" sz="2400" dirty="0">
                <a:solidFill>
                  <a:schemeClr val="bg1"/>
                </a:solidFill>
                <a:latin typeface="페이퍼로지 7 Bold" pitchFamily="2" charset="-127"/>
                <a:ea typeface="페이퍼로지 7 Bold" pitchFamily="2" charset="-127"/>
                <a:cs typeface="NanumSquare Bold" pitchFamily="34" charset="-120"/>
              </a:rPr>
              <a:t>의 피해액 감소에 만족하고 </a:t>
            </a:r>
            <a:r>
              <a:rPr lang="ko-KR" altLang="en-US" sz="2400" dirty="0">
                <a:solidFill>
                  <a:srgbClr val="49A8FF"/>
                </a:solidFill>
                <a:latin typeface="페이퍼로지 7 Bold" pitchFamily="2" charset="-127"/>
                <a:ea typeface="페이퍼로지 7 Bold" pitchFamily="2" charset="-127"/>
                <a:cs typeface="NanumSquare Bold" pitchFamily="34" charset="-120"/>
              </a:rPr>
              <a:t>안주해도 되는 걸까</a:t>
            </a:r>
            <a:r>
              <a:rPr lang="en-US" altLang="ko-KR" sz="2400" dirty="0">
                <a:solidFill>
                  <a:srgbClr val="49A8FF"/>
                </a:solidFill>
                <a:latin typeface="페이퍼로지 7 Bold" pitchFamily="2" charset="-127"/>
                <a:ea typeface="페이퍼로지 7 Bold" pitchFamily="2" charset="-127"/>
                <a:cs typeface="NanumSquare Bold" pitchFamily="34" charset="-120"/>
              </a:rPr>
              <a:t>?</a:t>
            </a:r>
          </a:p>
        </p:txBody>
      </p:sp>
      <p:sp>
        <p:nvSpPr>
          <p:cNvPr id="10" name="Shape 8"/>
          <p:cNvSpPr/>
          <p:nvPr/>
        </p:nvSpPr>
        <p:spPr>
          <a:xfrm>
            <a:off x="2752976" y="5773144"/>
            <a:ext cx="6686048" cy="488848"/>
          </a:xfrm>
          <a:prstGeom prst="roundRect">
            <a:avLst>
              <a:gd name="adj" fmla="val 22222"/>
            </a:avLst>
          </a:prstGeom>
          <a:solidFill>
            <a:srgbClr val="123153"/>
          </a:solidFill>
          <a:ln w="10160">
            <a:solidFill>
              <a:srgbClr val="274F78"/>
            </a:solidFill>
            <a:prstDash val="solid"/>
          </a:ln>
        </p:spPr>
        <p:txBody>
          <a:bodyPr anchor="ctr"/>
          <a:lstStyle/>
          <a:p>
            <a:pPr algn="ctr"/>
            <a:r>
              <a:rPr lang="ko-KR" altLang="en-US" sz="1400" b="1" dirty="0">
                <a:solidFill>
                  <a:srgbClr val="C5D6E8"/>
                </a:solidFill>
                <a:latin typeface="페이퍼로지 4 Regular" pitchFamily="2" charset="-127"/>
                <a:ea typeface="페이퍼로지 4 Regular" pitchFamily="2" charset="-127"/>
                <a:cs typeface="NanumSquare Bold" pitchFamily="34" charset="-120"/>
              </a:rPr>
              <a:t>기존 안전장치에서 지키지 못한 </a:t>
            </a:r>
            <a:r>
              <a:rPr lang="en-US" altLang="ko-KR" sz="1400" b="1" dirty="0">
                <a:solidFill>
                  <a:srgbClr val="FF4B16"/>
                </a:solidFill>
                <a:latin typeface="페이퍼로지 4 Regular" pitchFamily="2" charset="-127"/>
                <a:ea typeface="페이퍼로지 4 Regular" pitchFamily="2" charset="-127"/>
                <a:cs typeface="NanumSquare Bold" pitchFamily="34" charset="-120"/>
              </a:rPr>
              <a:t>43%</a:t>
            </a:r>
            <a:r>
              <a:rPr lang="en-US" altLang="ko-KR" sz="1400" b="1" dirty="0">
                <a:solidFill>
                  <a:srgbClr val="C5D6E8"/>
                </a:solidFill>
                <a:latin typeface="페이퍼로지 4 Regular" pitchFamily="2" charset="-127"/>
                <a:ea typeface="페이퍼로지 4 Regular" pitchFamily="2" charset="-127"/>
                <a:cs typeface="NanumSquare Bold" pitchFamily="34" charset="-120"/>
              </a:rPr>
              <a:t>...</a:t>
            </a:r>
            <a:r>
              <a:rPr lang="ko-KR" altLang="en-US" sz="1400" b="1" dirty="0">
                <a:solidFill>
                  <a:srgbClr val="C5D6E8"/>
                </a:solidFill>
                <a:latin typeface="페이퍼로지 4 Regular" pitchFamily="2" charset="-127"/>
                <a:ea typeface="페이퍼로지 4 Regular" pitchFamily="2" charset="-127"/>
                <a:cs typeface="NanumSquare Bold" pitchFamily="34" charset="-120"/>
              </a:rPr>
              <a:t> 우리가</a:t>
            </a:r>
            <a:r>
              <a:rPr lang="en-US" altLang="ko-KR" sz="1400" b="1" dirty="0">
                <a:solidFill>
                  <a:srgbClr val="C5D6E8"/>
                </a:solidFill>
                <a:latin typeface="페이퍼로지 4 Regular" pitchFamily="2" charset="-127"/>
                <a:ea typeface="페이퍼로지 4 Regular" pitchFamily="2" charset="-127"/>
                <a:cs typeface="NanumSquare Bold" pitchFamily="34" charset="-120"/>
              </a:rPr>
              <a:t> </a:t>
            </a:r>
            <a:r>
              <a:rPr lang="ko-KR" altLang="en-US" sz="1400" b="1" dirty="0">
                <a:solidFill>
                  <a:srgbClr val="C5D6E8"/>
                </a:solidFill>
                <a:latin typeface="페이퍼로지 4 Regular" pitchFamily="2" charset="-127"/>
                <a:ea typeface="페이퍼로지 4 Regular" pitchFamily="2" charset="-127"/>
                <a:cs typeface="NanumSquare Bold" pitchFamily="34" charset="-120"/>
              </a:rPr>
              <a:t>놓치고 있는 </a:t>
            </a:r>
            <a:r>
              <a:rPr lang="en-US" altLang="ko-KR" sz="1400" b="1" dirty="0">
                <a:solidFill>
                  <a:srgbClr val="FF4B16"/>
                </a:solidFill>
                <a:latin typeface="페이퍼로지 4 Regular" pitchFamily="2" charset="-127"/>
                <a:ea typeface="페이퍼로지 4 Regular" pitchFamily="2" charset="-127"/>
                <a:cs typeface="NanumSquare Bold" pitchFamily="34" charset="-120"/>
              </a:rPr>
              <a:t>[</a:t>
            </a:r>
            <a:r>
              <a:rPr lang="ko-KR" altLang="en-US" sz="1400" b="1" dirty="0">
                <a:solidFill>
                  <a:srgbClr val="FF4B16"/>
                </a:solidFill>
                <a:latin typeface="페이퍼로지 4 Regular" pitchFamily="2" charset="-127"/>
                <a:ea typeface="페이퍼로지 4 Regular" pitchFamily="2" charset="-127"/>
                <a:cs typeface="NanumSquare Bold" pitchFamily="34" charset="-120"/>
              </a:rPr>
              <a:t>빈틈</a:t>
            </a:r>
            <a:r>
              <a:rPr lang="en-US" altLang="ko-KR" sz="1400" b="1" dirty="0">
                <a:solidFill>
                  <a:srgbClr val="FF4B16"/>
                </a:solidFill>
                <a:latin typeface="페이퍼로지 4 Regular" pitchFamily="2" charset="-127"/>
                <a:ea typeface="페이퍼로지 4 Regular" pitchFamily="2" charset="-127"/>
                <a:cs typeface="NanumSquare Bold" pitchFamily="34" charset="-120"/>
              </a:rPr>
              <a:t>]</a:t>
            </a:r>
            <a:r>
              <a:rPr lang="ko-KR" altLang="en-US" sz="1400" b="1" dirty="0">
                <a:solidFill>
                  <a:srgbClr val="C5D6E8"/>
                </a:solidFill>
                <a:latin typeface="페이퍼로지 4 Regular" pitchFamily="2" charset="-127"/>
                <a:ea typeface="페이퍼로지 4 Regular" pitchFamily="2" charset="-127"/>
                <a:cs typeface="NanumSquare Bold" pitchFamily="34" charset="-120"/>
              </a:rPr>
              <a:t>이 있는게 아닐까</a:t>
            </a:r>
            <a:r>
              <a:rPr lang="en-US" altLang="ko-KR" sz="1400" b="1" dirty="0">
                <a:solidFill>
                  <a:srgbClr val="C5D6E8"/>
                </a:solidFill>
                <a:latin typeface="페이퍼로지 4 Regular" pitchFamily="2" charset="-127"/>
                <a:ea typeface="페이퍼로지 4 Regular" pitchFamily="2" charset="-127"/>
                <a:cs typeface="NanumSquare Bold" pitchFamily="34" charset="-120"/>
              </a:rPr>
              <a:t>?</a:t>
            </a:r>
          </a:p>
        </p:txBody>
      </p:sp>
      <p:grpSp>
        <p:nvGrpSpPr>
          <p:cNvPr id="69" name="Group 68">
            <a:extLst>
              <a:ext uri="{FF2B5EF4-FFF2-40B4-BE49-F238E27FC236}">
                <a16:creationId xmlns:a16="http://schemas.microsoft.com/office/drawing/2014/main" id="{ACF33884-D56D-4E3B-BCD0-93F3EBE02CE8}"/>
              </a:ext>
            </a:extLst>
          </p:cNvPr>
          <p:cNvGrpSpPr/>
          <p:nvPr/>
        </p:nvGrpSpPr>
        <p:grpSpPr>
          <a:xfrm>
            <a:off x="1211043" y="2293172"/>
            <a:ext cx="4640838" cy="3185144"/>
            <a:chOff x="1098655" y="2303503"/>
            <a:chExt cx="4640838" cy="3185144"/>
          </a:xfrm>
        </p:grpSpPr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55870A41-561B-46D8-872D-2DACE1D28AAF}"/>
                </a:ext>
              </a:extLst>
            </p:cNvPr>
            <p:cNvGrpSpPr/>
            <p:nvPr/>
          </p:nvGrpSpPr>
          <p:grpSpPr>
            <a:xfrm>
              <a:off x="1212362" y="2924064"/>
              <a:ext cx="4413424" cy="2564583"/>
              <a:chOff x="1032549" y="3249240"/>
              <a:chExt cx="4413424" cy="2564583"/>
            </a:xfrm>
          </p:grpSpPr>
          <p:sp>
            <p:nvSpPr>
              <p:cNvPr id="23" name="Shape 8">
                <a:extLst>
                  <a:ext uri="{FF2B5EF4-FFF2-40B4-BE49-F238E27FC236}">
                    <a16:creationId xmlns:a16="http://schemas.microsoft.com/office/drawing/2014/main" id="{1E82256C-508F-4718-BDA2-BC66C83B7F0E}"/>
                  </a:ext>
                </a:extLst>
              </p:cNvPr>
              <p:cNvSpPr/>
              <p:nvPr/>
            </p:nvSpPr>
            <p:spPr>
              <a:xfrm>
                <a:off x="1032549" y="3249240"/>
                <a:ext cx="4413424" cy="2564583"/>
              </a:xfrm>
              <a:prstGeom prst="roundRect">
                <a:avLst>
                  <a:gd name="adj" fmla="val 5818"/>
                </a:avLst>
              </a:prstGeom>
              <a:solidFill>
                <a:srgbClr val="FFFFFF"/>
              </a:solidFill>
              <a:ln w="10160">
                <a:solidFill>
                  <a:srgbClr val="DCE8FA"/>
                </a:solidFill>
                <a:prstDash val="solid"/>
              </a:ln>
            </p:spPr>
          </p:sp>
          <p:pic>
            <p:nvPicPr>
              <p:cNvPr id="27" name="Picture 26">
                <a:extLst>
                  <a:ext uri="{FF2B5EF4-FFF2-40B4-BE49-F238E27FC236}">
                    <a16:creationId xmlns:a16="http://schemas.microsoft.com/office/drawing/2014/main" id="{8ADDDFBD-5E3C-4896-BA4F-D0F3EA431CA0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/>
              <a:srcRect t="8179"/>
              <a:stretch/>
            </p:blipFill>
            <p:spPr>
              <a:xfrm>
                <a:off x="1087294" y="3401279"/>
                <a:ext cx="4303933" cy="2355183"/>
              </a:xfrm>
              <a:prstGeom prst="rect">
                <a:avLst/>
              </a:prstGeom>
            </p:spPr>
          </p:pic>
          <p:sp>
            <p:nvSpPr>
              <p:cNvPr id="28" name="Freeform: Shape 27">
                <a:extLst>
                  <a:ext uri="{FF2B5EF4-FFF2-40B4-BE49-F238E27FC236}">
                    <a16:creationId xmlns:a16="http://schemas.microsoft.com/office/drawing/2014/main" id="{0CE9D502-4A98-4EFF-A464-807AEFFEFAEB}"/>
                  </a:ext>
                </a:extLst>
              </p:cNvPr>
              <p:cNvSpPr/>
              <p:nvPr/>
            </p:nvSpPr>
            <p:spPr>
              <a:xfrm>
                <a:off x="4234875" y="3762257"/>
                <a:ext cx="487664" cy="229054"/>
              </a:xfrm>
              <a:custGeom>
                <a:avLst/>
                <a:gdLst>
                  <a:gd name="connsiteX0" fmla="*/ 50800 w 419100"/>
                  <a:gd name="connsiteY0" fmla="*/ 31750 h 196850"/>
                  <a:gd name="connsiteX1" fmla="*/ 133350 w 419100"/>
                  <a:gd name="connsiteY1" fmla="*/ 0 h 196850"/>
                  <a:gd name="connsiteX2" fmla="*/ 406400 w 419100"/>
                  <a:gd name="connsiteY2" fmla="*/ 0 h 196850"/>
                  <a:gd name="connsiteX3" fmla="*/ 419100 w 419100"/>
                  <a:gd name="connsiteY3" fmla="*/ 196850 h 196850"/>
                  <a:gd name="connsiteX4" fmla="*/ 0 w 419100"/>
                  <a:gd name="connsiteY4" fmla="*/ 152400 h 196850"/>
                  <a:gd name="connsiteX5" fmla="*/ 50800 w 419100"/>
                  <a:gd name="connsiteY5" fmla="*/ 31750 h 1968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19100" h="196850">
                    <a:moveTo>
                      <a:pt x="50800" y="31750"/>
                    </a:moveTo>
                    <a:lnTo>
                      <a:pt x="133350" y="0"/>
                    </a:lnTo>
                    <a:lnTo>
                      <a:pt x="406400" y="0"/>
                    </a:lnTo>
                    <a:lnTo>
                      <a:pt x="419100" y="196850"/>
                    </a:lnTo>
                    <a:lnTo>
                      <a:pt x="0" y="152400"/>
                    </a:lnTo>
                    <a:lnTo>
                      <a:pt x="50800" y="31750"/>
                    </a:lnTo>
                    <a:close/>
                  </a:path>
                </a:pathLst>
              </a:custGeom>
              <a:solidFill>
                <a:srgbClr val="E66867"/>
              </a:solidFill>
              <a:ln w="12700">
                <a:noFill/>
                <a:prstDash val="solid"/>
              </a:ln>
            </p:spPr>
            <p:txBody>
              <a:bodyPr rtlCol="0" anchor="ctr"/>
              <a:lstStyle/>
              <a:p>
                <a:pPr algn="ctr"/>
                <a:endParaRPr lang="ko-KR" altLang="en-US" sz="2400"/>
              </a:p>
            </p:txBody>
          </p:sp>
          <p:sp>
            <p:nvSpPr>
              <p:cNvPr id="29" name="Freeform: Shape 28">
                <a:extLst>
                  <a:ext uri="{FF2B5EF4-FFF2-40B4-BE49-F238E27FC236}">
                    <a16:creationId xmlns:a16="http://schemas.microsoft.com/office/drawing/2014/main" id="{C609C7C8-B81C-4E5A-8DE7-5B7392628E26}"/>
                  </a:ext>
                </a:extLst>
              </p:cNvPr>
              <p:cNvSpPr/>
              <p:nvPr/>
            </p:nvSpPr>
            <p:spPr>
              <a:xfrm>
                <a:off x="2995430" y="4328077"/>
                <a:ext cx="487664" cy="229054"/>
              </a:xfrm>
              <a:custGeom>
                <a:avLst/>
                <a:gdLst>
                  <a:gd name="connsiteX0" fmla="*/ 50800 w 419100"/>
                  <a:gd name="connsiteY0" fmla="*/ 31750 h 196850"/>
                  <a:gd name="connsiteX1" fmla="*/ 133350 w 419100"/>
                  <a:gd name="connsiteY1" fmla="*/ 0 h 196850"/>
                  <a:gd name="connsiteX2" fmla="*/ 406400 w 419100"/>
                  <a:gd name="connsiteY2" fmla="*/ 0 h 196850"/>
                  <a:gd name="connsiteX3" fmla="*/ 419100 w 419100"/>
                  <a:gd name="connsiteY3" fmla="*/ 196850 h 196850"/>
                  <a:gd name="connsiteX4" fmla="*/ 0 w 419100"/>
                  <a:gd name="connsiteY4" fmla="*/ 152400 h 196850"/>
                  <a:gd name="connsiteX5" fmla="*/ 50800 w 419100"/>
                  <a:gd name="connsiteY5" fmla="*/ 31750 h 1968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19100" h="196850">
                    <a:moveTo>
                      <a:pt x="50800" y="31750"/>
                    </a:moveTo>
                    <a:lnTo>
                      <a:pt x="133350" y="0"/>
                    </a:lnTo>
                    <a:lnTo>
                      <a:pt x="406400" y="0"/>
                    </a:lnTo>
                    <a:lnTo>
                      <a:pt x="419100" y="196850"/>
                    </a:lnTo>
                    <a:lnTo>
                      <a:pt x="0" y="152400"/>
                    </a:lnTo>
                    <a:lnTo>
                      <a:pt x="50800" y="31750"/>
                    </a:lnTo>
                    <a:close/>
                  </a:path>
                </a:pathLst>
              </a:custGeom>
              <a:solidFill>
                <a:srgbClr val="5E85B0"/>
              </a:solidFill>
              <a:ln w="12700">
                <a:noFill/>
                <a:prstDash val="solid"/>
              </a:ln>
            </p:spPr>
            <p:txBody>
              <a:bodyPr rtlCol="0" anchor="ctr"/>
              <a:lstStyle/>
              <a:p>
                <a:pPr algn="ctr"/>
                <a:endParaRPr lang="ko-KR" altLang="en-US" sz="2400"/>
              </a:p>
            </p:txBody>
          </p:sp>
          <p:sp>
            <p:nvSpPr>
              <p:cNvPr id="30" name="Freeform: Shape 29">
                <a:extLst>
                  <a:ext uri="{FF2B5EF4-FFF2-40B4-BE49-F238E27FC236}">
                    <a16:creationId xmlns:a16="http://schemas.microsoft.com/office/drawing/2014/main" id="{35A03C30-6B1A-4B88-A823-CDFF6D395EA1}"/>
                  </a:ext>
                </a:extLst>
              </p:cNvPr>
              <p:cNvSpPr/>
              <p:nvPr/>
            </p:nvSpPr>
            <p:spPr>
              <a:xfrm>
                <a:off x="1678927" y="4945044"/>
                <a:ext cx="487664" cy="229054"/>
              </a:xfrm>
              <a:custGeom>
                <a:avLst/>
                <a:gdLst>
                  <a:gd name="connsiteX0" fmla="*/ 50800 w 419100"/>
                  <a:gd name="connsiteY0" fmla="*/ 31750 h 196850"/>
                  <a:gd name="connsiteX1" fmla="*/ 133350 w 419100"/>
                  <a:gd name="connsiteY1" fmla="*/ 0 h 196850"/>
                  <a:gd name="connsiteX2" fmla="*/ 406400 w 419100"/>
                  <a:gd name="connsiteY2" fmla="*/ 0 h 196850"/>
                  <a:gd name="connsiteX3" fmla="*/ 419100 w 419100"/>
                  <a:gd name="connsiteY3" fmla="*/ 196850 h 196850"/>
                  <a:gd name="connsiteX4" fmla="*/ 0 w 419100"/>
                  <a:gd name="connsiteY4" fmla="*/ 152400 h 196850"/>
                  <a:gd name="connsiteX5" fmla="*/ 50800 w 419100"/>
                  <a:gd name="connsiteY5" fmla="*/ 31750 h 1968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19100" h="196850">
                    <a:moveTo>
                      <a:pt x="50800" y="31750"/>
                    </a:moveTo>
                    <a:lnTo>
                      <a:pt x="133350" y="0"/>
                    </a:lnTo>
                    <a:lnTo>
                      <a:pt x="406400" y="0"/>
                    </a:lnTo>
                    <a:lnTo>
                      <a:pt x="419100" y="196850"/>
                    </a:lnTo>
                    <a:lnTo>
                      <a:pt x="0" y="152400"/>
                    </a:lnTo>
                    <a:lnTo>
                      <a:pt x="50800" y="31750"/>
                    </a:lnTo>
                    <a:close/>
                  </a:path>
                </a:pathLst>
              </a:custGeom>
              <a:solidFill>
                <a:srgbClr val="5E85B0"/>
              </a:solidFill>
              <a:ln w="12700">
                <a:noFill/>
                <a:prstDash val="solid"/>
              </a:ln>
            </p:spPr>
            <p:txBody>
              <a:bodyPr rtlCol="0" anchor="ctr"/>
              <a:lstStyle/>
              <a:p>
                <a:pPr algn="ctr"/>
                <a:endParaRPr lang="ko-KR" altLang="en-US" sz="2400"/>
              </a:p>
            </p:txBody>
          </p:sp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64529F90-0D90-4D06-A22A-9BF6736AC066}"/>
                  </a:ext>
                </a:extLst>
              </p:cNvPr>
              <p:cNvSpPr txBox="1"/>
              <p:nvPr/>
            </p:nvSpPr>
            <p:spPr>
              <a:xfrm>
                <a:off x="4075288" y="3779761"/>
                <a:ext cx="821614" cy="21391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ko-KR" sz="800" dirty="0">
                    <a:solidFill>
                      <a:schemeClr val="bg1"/>
                    </a:solidFill>
                    <a:latin typeface="페이퍼로지 7 Bold" pitchFamily="2" charset="-127"/>
                    <a:ea typeface="페이퍼로지 7 Bold" pitchFamily="2" charset="-127"/>
                  </a:rPr>
                  <a:t>1</a:t>
                </a:r>
                <a:r>
                  <a:rPr lang="ko-KR" altLang="en-US" sz="800" dirty="0">
                    <a:solidFill>
                      <a:schemeClr val="bg1"/>
                    </a:solidFill>
                    <a:latin typeface="페이퍼로지 7 Bold" pitchFamily="2" charset="-127"/>
                    <a:ea typeface="페이퍼로지 7 Bold" pitchFamily="2" charset="-127"/>
                  </a:rPr>
                  <a:t>조</a:t>
                </a:r>
                <a:r>
                  <a:rPr lang="en-US" altLang="ko-KR" sz="800" dirty="0">
                    <a:solidFill>
                      <a:schemeClr val="bg1"/>
                    </a:solidFill>
                    <a:latin typeface="페이퍼로지 7 Bold" pitchFamily="2" charset="-127"/>
                    <a:ea typeface="페이퍼로지 7 Bold" pitchFamily="2" charset="-127"/>
                  </a:rPr>
                  <a:t>2,578</a:t>
                </a:r>
                <a:r>
                  <a:rPr lang="ko-KR" altLang="en-US" sz="800" dirty="0">
                    <a:solidFill>
                      <a:schemeClr val="bg1"/>
                    </a:solidFill>
                    <a:latin typeface="페이퍼로지 7 Bold" pitchFamily="2" charset="-127"/>
                    <a:ea typeface="페이퍼로지 7 Bold" pitchFamily="2" charset="-127"/>
                  </a:rPr>
                  <a:t>억원</a:t>
                </a:r>
              </a:p>
            </p:txBody>
          </p:sp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DCE70B62-55EB-473C-BA03-421B1681A667}"/>
                  </a:ext>
                </a:extLst>
              </p:cNvPr>
              <p:cNvSpPr txBox="1"/>
              <p:nvPr/>
            </p:nvSpPr>
            <p:spPr>
              <a:xfrm>
                <a:off x="2907242" y="4328077"/>
                <a:ext cx="664039" cy="21391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ko-KR" sz="800" dirty="0">
                    <a:solidFill>
                      <a:schemeClr val="bg1"/>
                    </a:solidFill>
                    <a:latin typeface="페이퍼로지 7 Bold" pitchFamily="2" charset="-127"/>
                    <a:ea typeface="페이퍼로지 7 Bold" pitchFamily="2" charset="-127"/>
                  </a:rPr>
                  <a:t>8,545</a:t>
                </a:r>
                <a:r>
                  <a:rPr lang="ko-KR" altLang="en-US" sz="800" dirty="0">
                    <a:solidFill>
                      <a:schemeClr val="bg1"/>
                    </a:solidFill>
                    <a:latin typeface="페이퍼로지 7 Bold" pitchFamily="2" charset="-127"/>
                    <a:ea typeface="페이퍼로지 7 Bold" pitchFamily="2" charset="-127"/>
                  </a:rPr>
                  <a:t>억원</a:t>
                </a:r>
              </a:p>
            </p:txBody>
          </p:sp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49E0FC46-BD5A-44EE-96E2-24AA444130B9}"/>
                  </a:ext>
                </a:extLst>
              </p:cNvPr>
              <p:cNvSpPr txBox="1"/>
              <p:nvPr/>
            </p:nvSpPr>
            <p:spPr>
              <a:xfrm>
                <a:off x="1664187" y="4901827"/>
                <a:ext cx="664039" cy="21391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ko-KR" sz="800" dirty="0">
                    <a:solidFill>
                      <a:schemeClr val="bg1"/>
                    </a:solidFill>
                    <a:latin typeface="페이퍼로지 7 Bold" pitchFamily="2" charset="-127"/>
                    <a:ea typeface="페이퍼로지 7 Bold" pitchFamily="2" charset="-127"/>
                  </a:rPr>
                  <a:t>4,472</a:t>
                </a:r>
                <a:r>
                  <a:rPr lang="ko-KR" altLang="en-US" sz="800" dirty="0">
                    <a:solidFill>
                      <a:schemeClr val="bg1"/>
                    </a:solidFill>
                    <a:latin typeface="페이퍼로지 7 Bold" pitchFamily="2" charset="-127"/>
                    <a:ea typeface="페이퍼로지 7 Bold" pitchFamily="2" charset="-127"/>
                  </a:rPr>
                  <a:t>억원</a:t>
                </a:r>
              </a:p>
            </p:txBody>
          </p:sp>
          <p:sp>
            <p:nvSpPr>
              <p:cNvPr id="34" name="Rectangle 33">
                <a:extLst>
                  <a:ext uri="{FF2B5EF4-FFF2-40B4-BE49-F238E27FC236}">
                    <a16:creationId xmlns:a16="http://schemas.microsoft.com/office/drawing/2014/main" id="{15AC449D-63FD-4FAC-BC84-018DCA6B81B3}"/>
                  </a:ext>
                </a:extLst>
              </p:cNvPr>
              <p:cNvSpPr/>
              <p:nvPr/>
            </p:nvSpPr>
            <p:spPr>
              <a:xfrm>
                <a:off x="1848280" y="5567957"/>
                <a:ext cx="2796677" cy="151946"/>
              </a:xfrm>
              <a:prstGeom prst="rect">
                <a:avLst/>
              </a:prstGeom>
              <a:solidFill>
                <a:schemeClr val="bg1"/>
              </a:solidFill>
              <a:ln w="12700">
                <a:noFill/>
                <a:prstDash val="solid"/>
              </a:ln>
            </p:spPr>
            <p:txBody>
              <a:bodyPr rtlCol="0" anchor="ctr"/>
              <a:lstStyle/>
              <a:p>
                <a:pPr algn="ctr"/>
                <a:endParaRPr lang="ko-KR" altLang="en-US" sz="2400"/>
              </a:p>
            </p:txBody>
          </p:sp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E132AA46-7D78-4876-B8DC-07219A1BC210}"/>
                  </a:ext>
                </a:extLst>
              </p:cNvPr>
              <p:cNvSpPr txBox="1"/>
              <p:nvPr/>
            </p:nvSpPr>
            <p:spPr>
              <a:xfrm>
                <a:off x="1767645" y="5536491"/>
                <a:ext cx="457124" cy="21391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ko-KR" sz="800" dirty="0">
                    <a:latin typeface="페이퍼로지 7 Bold" pitchFamily="2" charset="-127"/>
                    <a:ea typeface="페이퍼로지 7 Bold" pitchFamily="2" charset="-127"/>
                  </a:rPr>
                  <a:t>2023</a:t>
                </a:r>
                <a:endParaRPr lang="ko-KR" altLang="en-US" sz="800" dirty="0">
                  <a:latin typeface="페이퍼로지 7 Bold" pitchFamily="2" charset="-127"/>
                  <a:ea typeface="페이퍼로지 7 Bold" pitchFamily="2" charset="-127"/>
                </a:endParaRPr>
              </a:p>
            </p:txBody>
          </p:sp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CF857B92-D8C9-4FA5-A64C-2A057E220F10}"/>
                  </a:ext>
                </a:extLst>
              </p:cNvPr>
              <p:cNvSpPr txBox="1"/>
              <p:nvPr/>
            </p:nvSpPr>
            <p:spPr>
              <a:xfrm>
                <a:off x="3032853" y="5536491"/>
                <a:ext cx="457124" cy="21391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ko-KR" sz="800" dirty="0">
                    <a:latin typeface="페이퍼로지 7 Bold" pitchFamily="2" charset="-127"/>
                    <a:ea typeface="페이퍼로지 7 Bold" pitchFamily="2" charset="-127"/>
                  </a:rPr>
                  <a:t>2024</a:t>
                </a:r>
                <a:endParaRPr lang="ko-KR" altLang="en-US" sz="800" dirty="0">
                  <a:latin typeface="페이퍼로지 7 Bold" pitchFamily="2" charset="-127"/>
                  <a:ea typeface="페이퍼로지 7 Bold" pitchFamily="2" charset="-127"/>
                </a:endParaRPr>
              </a:p>
            </p:txBody>
          </p:sp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0E9A77ED-F1D8-4FC7-808D-E37C404A7CA9}"/>
                  </a:ext>
                </a:extLst>
              </p:cNvPr>
              <p:cNvSpPr txBox="1"/>
              <p:nvPr/>
            </p:nvSpPr>
            <p:spPr>
              <a:xfrm>
                <a:off x="4270268" y="5536491"/>
                <a:ext cx="457124" cy="21391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ko-KR" sz="800" dirty="0">
                    <a:latin typeface="페이퍼로지 7 Bold" pitchFamily="2" charset="-127"/>
                    <a:ea typeface="페이퍼로지 7 Bold" pitchFamily="2" charset="-127"/>
                  </a:rPr>
                  <a:t>2025</a:t>
                </a:r>
                <a:endParaRPr lang="ko-KR" altLang="en-US" sz="800" dirty="0">
                  <a:latin typeface="페이퍼로지 7 Bold" pitchFamily="2" charset="-127"/>
                  <a:ea typeface="페이퍼로지 7 Bold" pitchFamily="2" charset="-127"/>
                </a:endParaRPr>
              </a:p>
            </p:txBody>
          </p:sp>
          <p:sp>
            <p:nvSpPr>
              <p:cNvPr id="38" name="Rectangle 37">
                <a:extLst>
                  <a:ext uri="{FF2B5EF4-FFF2-40B4-BE49-F238E27FC236}">
                    <a16:creationId xmlns:a16="http://schemas.microsoft.com/office/drawing/2014/main" id="{CC42CBDA-FA6E-483F-A7ED-A9D5C8BDA779}"/>
                  </a:ext>
                </a:extLst>
              </p:cNvPr>
              <p:cNvSpPr/>
              <p:nvPr/>
            </p:nvSpPr>
            <p:spPr>
              <a:xfrm>
                <a:off x="4329379" y="3570236"/>
                <a:ext cx="335269" cy="116719"/>
              </a:xfrm>
              <a:prstGeom prst="rect">
                <a:avLst/>
              </a:prstGeom>
              <a:solidFill>
                <a:schemeClr val="bg1"/>
              </a:solidFill>
              <a:ln w="12700">
                <a:noFill/>
                <a:prstDash val="solid"/>
              </a:ln>
            </p:spPr>
            <p:txBody>
              <a:bodyPr rtlCol="0" anchor="ctr"/>
              <a:lstStyle/>
              <a:p>
                <a:pPr algn="ctr"/>
                <a:endParaRPr lang="ko-KR" altLang="en-US" sz="2400"/>
              </a:p>
            </p:txBody>
          </p:sp>
          <p:sp>
            <p:nvSpPr>
              <p:cNvPr id="39" name="Rectangle 38">
                <a:extLst>
                  <a:ext uri="{FF2B5EF4-FFF2-40B4-BE49-F238E27FC236}">
                    <a16:creationId xmlns:a16="http://schemas.microsoft.com/office/drawing/2014/main" id="{1D129A4D-4056-4EBB-8790-4D787591974D}"/>
                  </a:ext>
                </a:extLst>
              </p:cNvPr>
              <p:cNvSpPr/>
              <p:nvPr/>
            </p:nvSpPr>
            <p:spPr>
              <a:xfrm>
                <a:off x="3104678" y="3738794"/>
                <a:ext cx="272766" cy="139088"/>
              </a:xfrm>
              <a:prstGeom prst="rect">
                <a:avLst/>
              </a:prstGeom>
              <a:solidFill>
                <a:schemeClr val="bg1"/>
              </a:solidFill>
              <a:ln w="12700">
                <a:noFill/>
                <a:prstDash val="solid"/>
              </a:ln>
            </p:spPr>
            <p:txBody>
              <a:bodyPr rtlCol="0" anchor="ctr"/>
              <a:lstStyle/>
              <a:p>
                <a:pPr algn="ctr"/>
                <a:endParaRPr lang="ko-KR" altLang="en-US" sz="2400"/>
              </a:p>
            </p:txBody>
          </p:sp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7D075D39-1E77-4244-A163-8B99D040B560}"/>
                  </a:ext>
                </a:extLst>
              </p:cNvPr>
              <p:cNvSpPr txBox="1"/>
              <p:nvPr/>
            </p:nvSpPr>
            <p:spPr>
              <a:xfrm>
                <a:off x="4175340" y="3517506"/>
                <a:ext cx="643347" cy="21391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ko-KR" sz="800" dirty="0">
                    <a:latin typeface="페이퍼로지 7 Bold" pitchFamily="2" charset="-127"/>
                    <a:ea typeface="페이퍼로지 7 Bold" pitchFamily="2" charset="-127"/>
                  </a:rPr>
                  <a:t>23,260</a:t>
                </a:r>
                <a:r>
                  <a:rPr lang="ko-KR" altLang="en-US" sz="800" dirty="0">
                    <a:latin typeface="페이퍼로지 7 Bold" pitchFamily="2" charset="-127"/>
                    <a:ea typeface="페이퍼로지 7 Bold" pitchFamily="2" charset="-127"/>
                  </a:rPr>
                  <a:t>건</a:t>
                </a:r>
              </a:p>
            </p:txBody>
          </p:sp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71B775FF-A5B9-4BE9-9C1E-81448A4F4AC7}"/>
                  </a:ext>
                </a:extLst>
              </p:cNvPr>
              <p:cNvSpPr txBox="1"/>
              <p:nvPr/>
            </p:nvSpPr>
            <p:spPr>
              <a:xfrm>
                <a:off x="2941649" y="3698945"/>
                <a:ext cx="643347" cy="21391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ko-KR" sz="800" dirty="0">
                    <a:latin typeface="페이퍼로지 7 Bold" pitchFamily="2" charset="-127"/>
                    <a:ea typeface="페이퍼로지 7 Bold" pitchFamily="2" charset="-127"/>
                  </a:rPr>
                  <a:t>20,839</a:t>
                </a:r>
                <a:r>
                  <a:rPr lang="ko-KR" altLang="en-US" sz="800" dirty="0">
                    <a:latin typeface="페이퍼로지 7 Bold" pitchFamily="2" charset="-127"/>
                    <a:ea typeface="페이퍼로지 7 Bold" pitchFamily="2" charset="-127"/>
                  </a:rPr>
                  <a:t>건</a:t>
                </a:r>
              </a:p>
            </p:txBody>
          </p:sp>
          <p:sp>
            <p:nvSpPr>
              <p:cNvPr id="42" name="Rectangle 41">
                <a:extLst>
                  <a:ext uri="{FF2B5EF4-FFF2-40B4-BE49-F238E27FC236}">
                    <a16:creationId xmlns:a16="http://schemas.microsoft.com/office/drawing/2014/main" id="{B1B2856F-FCF3-43A9-B38A-287AF282279A}"/>
                  </a:ext>
                </a:extLst>
              </p:cNvPr>
              <p:cNvSpPr/>
              <p:nvPr/>
            </p:nvSpPr>
            <p:spPr>
              <a:xfrm>
                <a:off x="1850906" y="3933163"/>
                <a:ext cx="272766" cy="82713"/>
              </a:xfrm>
              <a:prstGeom prst="rect">
                <a:avLst/>
              </a:prstGeom>
              <a:solidFill>
                <a:schemeClr val="bg1"/>
              </a:solidFill>
              <a:ln w="12700">
                <a:noFill/>
                <a:prstDash val="solid"/>
              </a:ln>
            </p:spPr>
            <p:txBody>
              <a:bodyPr rtlCol="0" anchor="ctr"/>
              <a:lstStyle/>
              <a:p>
                <a:pPr algn="ctr"/>
                <a:endParaRPr lang="ko-KR" altLang="en-US" sz="2400"/>
              </a:p>
            </p:txBody>
          </p:sp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33DE967D-3AFC-49E7-808F-C44ED34D584B}"/>
                  </a:ext>
                </a:extLst>
              </p:cNvPr>
              <p:cNvSpPr txBox="1"/>
              <p:nvPr/>
            </p:nvSpPr>
            <p:spPr>
              <a:xfrm>
                <a:off x="1674532" y="3855641"/>
                <a:ext cx="643347" cy="21391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ko-KR" sz="800" dirty="0">
                    <a:latin typeface="페이퍼로지 7 Bold" pitchFamily="2" charset="-127"/>
                    <a:ea typeface="페이퍼로지 7 Bold" pitchFamily="2" charset="-127"/>
                  </a:rPr>
                  <a:t>18,902</a:t>
                </a:r>
                <a:r>
                  <a:rPr lang="ko-KR" altLang="en-US" sz="800" dirty="0">
                    <a:latin typeface="페이퍼로지 7 Bold" pitchFamily="2" charset="-127"/>
                    <a:ea typeface="페이퍼로지 7 Bold" pitchFamily="2" charset="-127"/>
                  </a:rPr>
                  <a:t>건</a:t>
                </a:r>
              </a:p>
            </p:txBody>
          </p:sp>
        </p:grp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2129DE3E-630F-4541-AD0C-6DC0DD11F9A8}"/>
                </a:ext>
              </a:extLst>
            </p:cNvPr>
            <p:cNvSpPr txBox="1"/>
            <p:nvPr/>
          </p:nvSpPr>
          <p:spPr>
            <a:xfrm>
              <a:off x="1098655" y="2303503"/>
              <a:ext cx="4640838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1400" dirty="0">
                  <a:solidFill>
                    <a:schemeClr val="bg1"/>
                  </a:solidFill>
                  <a:latin typeface="페이퍼로지 4 Regular" pitchFamily="2" charset="-127"/>
                  <a:ea typeface="페이퍼로지 4 Regular" pitchFamily="2" charset="-127"/>
                  <a:cs typeface="NanumSquare Bold" pitchFamily="34" charset="-120"/>
                </a:rPr>
                <a:t>여전히 발생하고 있는 보이스피싱</a:t>
              </a:r>
              <a:r>
                <a:rPr lang="en-US" altLang="ko-KR" sz="1400" dirty="0">
                  <a:solidFill>
                    <a:schemeClr val="bg1"/>
                  </a:solidFill>
                  <a:latin typeface="페이퍼로지 4 Regular" pitchFamily="2" charset="-127"/>
                  <a:ea typeface="페이퍼로지 4 Regular" pitchFamily="2" charset="-127"/>
                  <a:cs typeface="NanumSquare Bold" pitchFamily="34" charset="-120"/>
                </a:rPr>
                <a:t>…</a:t>
              </a:r>
            </a:p>
            <a:p>
              <a:pPr algn="ctr"/>
              <a:r>
                <a:rPr lang="ko-KR" altLang="en-US" sz="1400" dirty="0">
                  <a:solidFill>
                    <a:schemeClr val="bg1"/>
                  </a:solidFill>
                  <a:latin typeface="페이퍼로지 4 Regular" pitchFamily="2" charset="-127"/>
                  <a:ea typeface="페이퍼로지 4 Regular" pitchFamily="2" charset="-127"/>
                </a:rPr>
                <a:t>최근 </a:t>
              </a:r>
              <a:r>
                <a:rPr lang="en-US" altLang="ko-KR" sz="1400" dirty="0">
                  <a:solidFill>
                    <a:schemeClr val="bg1"/>
                  </a:solidFill>
                  <a:latin typeface="페이퍼로지 4 Regular" pitchFamily="2" charset="-127"/>
                  <a:ea typeface="페이퍼로지 4 Regular" pitchFamily="2" charset="-127"/>
                </a:rPr>
                <a:t>3</a:t>
              </a:r>
              <a:r>
                <a:rPr lang="ko-KR" altLang="en-US" sz="1400" dirty="0">
                  <a:solidFill>
                    <a:schemeClr val="bg1"/>
                  </a:solidFill>
                  <a:latin typeface="페이퍼로지 4 Regular" pitchFamily="2" charset="-127"/>
                  <a:ea typeface="페이퍼로지 4 Regular" pitchFamily="2" charset="-127"/>
                </a:rPr>
                <a:t>년간 보이스피싱 피해 수</a:t>
              </a:r>
              <a:r>
                <a:rPr lang="en-US" altLang="ko-KR" sz="1400" dirty="0">
                  <a:solidFill>
                    <a:schemeClr val="bg1"/>
                  </a:solidFill>
                  <a:latin typeface="페이퍼로지 4 Regular" pitchFamily="2" charset="-127"/>
                  <a:ea typeface="페이퍼로지 4 Regular" pitchFamily="2" charset="-127"/>
                </a:rPr>
                <a:t>, </a:t>
              </a:r>
              <a:r>
                <a:rPr lang="ko-KR" altLang="en-US" sz="1400" dirty="0">
                  <a:solidFill>
                    <a:schemeClr val="bg1"/>
                  </a:solidFill>
                  <a:latin typeface="페이퍼로지 4 Regular" pitchFamily="2" charset="-127"/>
                  <a:ea typeface="페이퍼로지 4 Regular" pitchFamily="2" charset="-127"/>
                </a:rPr>
                <a:t>피해액 증가</a:t>
              </a:r>
            </a:p>
          </p:txBody>
        </p:sp>
      </p:grpSp>
      <p:sp>
        <p:nvSpPr>
          <p:cNvPr id="26" name="TextBox 25">
            <a:extLst>
              <a:ext uri="{FF2B5EF4-FFF2-40B4-BE49-F238E27FC236}">
                <a16:creationId xmlns:a16="http://schemas.microsoft.com/office/drawing/2014/main" id="{98091484-B054-472B-9073-7E4ADF862D87}"/>
              </a:ext>
            </a:extLst>
          </p:cNvPr>
          <p:cNvSpPr txBox="1"/>
          <p:nvPr/>
        </p:nvSpPr>
        <p:spPr>
          <a:xfrm>
            <a:off x="6191101" y="2294115"/>
            <a:ext cx="4789856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altLang="ko-KR" sz="1400" dirty="0">
                <a:solidFill>
                  <a:srgbClr val="FFFFFF"/>
                </a:solidFill>
                <a:latin typeface="페이퍼로지 4 Regular" pitchFamily="2" charset="-127"/>
                <a:ea typeface="페이퍼로지 4 Regular" pitchFamily="2" charset="-127"/>
                <a:cs typeface="NanumSquare Bold" pitchFamily="34" charset="-120"/>
              </a:rPr>
              <a:t>ASAP </a:t>
            </a:r>
            <a:r>
              <a:rPr lang="ko-KR" altLang="en-US" sz="1400" dirty="0">
                <a:solidFill>
                  <a:srgbClr val="FFFFFF"/>
                </a:solidFill>
                <a:latin typeface="페이퍼로지 4 Regular" pitchFamily="2" charset="-127"/>
                <a:ea typeface="페이퍼로지 4 Regular" pitchFamily="2" charset="-127"/>
                <a:cs typeface="NanumSquare Bold" pitchFamily="34" charset="-120"/>
              </a:rPr>
              <a:t>출범 이후</a:t>
            </a:r>
            <a:r>
              <a:rPr lang="en-US" altLang="ko-KR" sz="1400" dirty="0">
                <a:solidFill>
                  <a:srgbClr val="FFFFFF"/>
                </a:solidFill>
                <a:latin typeface="페이퍼로지 4 Regular" pitchFamily="2" charset="-127"/>
                <a:ea typeface="페이퍼로지 4 Regular" pitchFamily="2" charset="-127"/>
                <a:cs typeface="NanumSquare Bold" pitchFamily="34" charset="-120"/>
              </a:rPr>
              <a:t>, 25</a:t>
            </a:r>
            <a:r>
              <a:rPr lang="ko-KR" altLang="en-US" sz="1400" dirty="0">
                <a:solidFill>
                  <a:srgbClr val="FFFFFF"/>
                </a:solidFill>
                <a:latin typeface="페이퍼로지 4 Regular" pitchFamily="2" charset="-127"/>
                <a:ea typeface="페이퍼로지 4 Regular" pitchFamily="2" charset="-127"/>
                <a:cs typeface="NanumSquare Bold" pitchFamily="34" charset="-120"/>
              </a:rPr>
              <a:t>년 동기 대비 </a:t>
            </a:r>
            <a:r>
              <a:rPr lang="en-US" altLang="ko-KR" sz="1400" dirty="0">
                <a:solidFill>
                  <a:srgbClr val="FFFFFF"/>
                </a:solidFill>
                <a:latin typeface="페이퍼로지 4 Regular" pitchFamily="2" charset="-127"/>
                <a:ea typeface="페이퍼로지 4 Regular" pitchFamily="2" charset="-127"/>
                <a:cs typeface="NanumSquare Bold" pitchFamily="34" charset="-120"/>
              </a:rPr>
              <a:t>26</a:t>
            </a:r>
            <a:r>
              <a:rPr lang="ko-KR" altLang="en-US" sz="1400" dirty="0">
                <a:solidFill>
                  <a:srgbClr val="FFFFFF"/>
                </a:solidFill>
                <a:latin typeface="페이퍼로지 4 Regular" pitchFamily="2" charset="-127"/>
                <a:ea typeface="페이퍼로지 4 Regular" pitchFamily="2" charset="-127"/>
                <a:cs typeface="NanumSquare Bold" pitchFamily="34" charset="-120"/>
              </a:rPr>
              <a:t>년 피해액 </a:t>
            </a:r>
            <a:r>
              <a:rPr lang="en-US" altLang="ko-KR" sz="1400" dirty="0">
                <a:solidFill>
                  <a:srgbClr val="FFFFFF"/>
                </a:solidFill>
                <a:latin typeface="페이퍼로지 4 Regular" pitchFamily="2" charset="-127"/>
                <a:ea typeface="페이퍼로지 4 Regular" pitchFamily="2" charset="-127"/>
                <a:cs typeface="NanumSquare Bold" pitchFamily="34" charset="-120"/>
              </a:rPr>
              <a:t>53% </a:t>
            </a:r>
            <a:r>
              <a:rPr lang="ko-KR" altLang="en-US" sz="1400" dirty="0">
                <a:solidFill>
                  <a:srgbClr val="FFFFFF"/>
                </a:solidFill>
                <a:latin typeface="페이퍼로지 4 Regular" pitchFamily="2" charset="-127"/>
                <a:ea typeface="페이퍼로지 4 Regular" pitchFamily="2" charset="-127"/>
                <a:cs typeface="NanumSquare Bold" pitchFamily="34" charset="-120"/>
              </a:rPr>
              <a:t>감소</a:t>
            </a:r>
            <a:r>
              <a:rPr lang="en-US" altLang="ko-KR" sz="1400" dirty="0">
                <a:solidFill>
                  <a:srgbClr val="FFFFFF"/>
                </a:solidFill>
                <a:latin typeface="페이퍼로지 4 Regular" pitchFamily="2" charset="-127"/>
                <a:ea typeface="페이퍼로지 4 Regular" pitchFamily="2" charset="-127"/>
                <a:cs typeface="NanumSquare Bold" pitchFamily="34" charset="-120"/>
              </a:rPr>
              <a:t>…</a:t>
            </a:r>
          </a:p>
          <a:p>
            <a:pPr marL="0" indent="0" algn="ctr">
              <a:buNone/>
            </a:pPr>
            <a:r>
              <a:rPr lang="ko-KR" altLang="en-US" sz="1400" dirty="0">
                <a:solidFill>
                  <a:srgbClr val="FFFFFF"/>
                </a:solidFill>
                <a:latin typeface="페이퍼로지 4 Regular" pitchFamily="2" charset="-127"/>
                <a:ea typeface="페이퍼로지 4 Regular" pitchFamily="2" charset="-127"/>
                <a:cs typeface="NanumSquare Bold" pitchFamily="34" charset="-120"/>
              </a:rPr>
              <a:t>사회의 노력으로 눈에 띄게 줄어든 보이스피싱 피해</a:t>
            </a:r>
            <a:r>
              <a:rPr lang="en-US" altLang="ko-KR" sz="1400" dirty="0">
                <a:solidFill>
                  <a:srgbClr val="FFFFFF"/>
                </a:solidFill>
                <a:latin typeface="페이퍼로지 4 Regular" pitchFamily="2" charset="-127"/>
                <a:ea typeface="페이퍼로지 4 Regular" pitchFamily="2" charset="-127"/>
                <a:cs typeface="NanumSquare Bold" pitchFamily="34" charset="-120"/>
              </a:rPr>
              <a:t>…</a:t>
            </a:r>
          </a:p>
          <a:p>
            <a:pPr marL="0" indent="0" algn="ctr">
              <a:buNone/>
            </a:pPr>
            <a:endParaRPr lang="en-US" altLang="ko-KR" sz="1400" dirty="0">
              <a:solidFill>
                <a:srgbClr val="FFFFFF"/>
              </a:solidFill>
              <a:latin typeface="페이퍼로지 4 Regular" pitchFamily="2" charset="-127"/>
              <a:ea typeface="페이퍼로지 4 Regular" pitchFamily="2" charset="-127"/>
              <a:cs typeface="NanumSquare Bold" pitchFamily="34" charset="-120"/>
            </a:endParaRPr>
          </a:p>
          <a:p>
            <a:pPr marL="0" indent="0" algn="ctr">
              <a:buNone/>
            </a:pPr>
            <a:r>
              <a:rPr lang="ko-KR" altLang="en-US" sz="1400" dirty="0">
                <a:solidFill>
                  <a:srgbClr val="FFFFFF"/>
                </a:solidFill>
                <a:latin typeface="페이퍼로지 4 Regular" pitchFamily="2" charset="-127"/>
                <a:ea typeface="페이퍼로지 4 Regular" pitchFamily="2" charset="-127"/>
                <a:cs typeface="NanumSquare Bold" pitchFamily="34" charset="-120"/>
              </a:rPr>
              <a:t>그러나</a:t>
            </a:r>
            <a:r>
              <a:rPr lang="en-US" altLang="ko-KR" sz="1400" dirty="0">
                <a:solidFill>
                  <a:srgbClr val="FFFFFF"/>
                </a:solidFill>
                <a:latin typeface="페이퍼로지 4 Regular" pitchFamily="2" charset="-127"/>
                <a:ea typeface="페이퍼로지 4 Regular" pitchFamily="2" charset="-127"/>
                <a:cs typeface="NanumSquare Bold" pitchFamily="34" charset="-120"/>
              </a:rPr>
              <a:t>, </a:t>
            </a:r>
            <a:r>
              <a:rPr lang="ko-KR" altLang="en-US" sz="1400" dirty="0">
                <a:solidFill>
                  <a:srgbClr val="FFFFFF"/>
                </a:solidFill>
                <a:latin typeface="페이퍼로지 4 Regular" pitchFamily="2" charset="-127"/>
                <a:ea typeface="페이퍼로지 4 Regular" pitchFamily="2" charset="-127"/>
                <a:cs typeface="NanumSquare Bold" pitchFamily="34" charset="-120"/>
              </a:rPr>
              <a:t>여전히 발생하고 있는 비극적 사건들</a:t>
            </a:r>
            <a:endParaRPr lang="en-US" altLang="ko-KR" sz="1400" dirty="0">
              <a:solidFill>
                <a:srgbClr val="FFFFFF"/>
              </a:solidFill>
              <a:latin typeface="페이퍼로지 4 Regular" pitchFamily="2" charset="-127"/>
              <a:ea typeface="페이퍼로지 4 Regular" pitchFamily="2" charset="-127"/>
              <a:cs typeface="NanumSquare Bold" pitchFamily="34" charset="-120"/>
            </a:endParaRPr>
          </a:p>
          <a:p>
            <a:pPr marL="0" indent="0" algn="ctr">
              <a:buNone/>
            </a:pPr>
            <a:r>
              <a:rPr lang="en-US" altLang="ko-KR" sz="1400" dirty="0">
                <a:solidFill>
                  <a:srgbClr val="FFFFFF"/>
                </a:solidFill>
                <a:latin typeface="페이퍼로지 4 Regular" pitchFamily="2" charset="-127"/>
                <a:ea typeface="페이퍼로지 4 Regular" pitchFamily="2" charset="-127"/>
                <a:cs typeface="NanumSquare Bold" pitchFamily="34" charset="-120"/>
              </a:rPr>
              <a:t>…</a:t>
            </a:r>
          </a:p>
        </p:txBody>
      </p:sp>
      <p:grpSp>
        <p:nvGrpSpPr>
          <p:cNvPr id="67" name="Group 66">
            <a:extLst>
              <a:ext uri="{FF2B5EF4-FFF2-40B4-BE49-F238E27FC236}">
                <a16:creationId xmlns:a16="http://schemas.microsoft.com/office/drawing/2014/main" id="{74392955-62C2-4F31-9B89-F8F7DA1ABA23}"/>
              </a:ext>
            </a:extLst>
          </p:cNvPr>
          <p:cNvGrpSpPr/>
          <p:nvPr/>
        </p:nvGrpSpPr>
        <p:grpSpPr>
          <a:xfrm>
            <a:off x="6410371" y="3614427"/>
            <a:ext cx="4351316" cy="963203"/>
            <a:chOff x="6522760" y="3628258"/>
            <a:chExt cx="4351316" cy="963203"/>
          </a:xfrm>
        </p:grpSpPr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F4253C18-8B24-4615-9F41-F80A70148FD5}"/>
                </a:ext>
              </a:extLst>
            </p:cNvPr>
            <p:cNvSpPr txBox="1"/>
            <p:nvPr/>
          </p:nvSpPr>
          <p:spPr>
            <a:xfrm>
              <a:off x="6522760" y="3628258"/>
              <a:ext cx="4351316" cy="26161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>
              <a:spAutoFit/>
            </a:bodyPr>
            <a:lstStyle/>
            <a:p>
              <a:pPr algn="ctr" fontAlgn="base"/>
              <a:r>
                <a:rPr lang="en-US" altLang="ko-KR" sz="1050" b="1" i="0" dirty="0">
                  <a:solidFill>
                    <a:srgbClr val="222222"/>
                  </a:solidFill>
                  <a:effectLst/>
                  <a:latin typeface="Noto Sans KR" panose="020B0200000000000000" pitchFamily="50" charset="-127"/>
                  <a:ea typeface="Noto Sans KR" panose="020B0200000000000000" pitchFamily="50" charset="-127"/>
                </a:rPr>
                <a:t>“</a:t>
              </a:r>
              <a:r>
                <a:rPr lang="ko-KR" altLang="en-US" sz="1050" b="1" i="0" dirty="0">
                  <a:solidFill>
                    <a:srgbClr val="222222"/>
                  </a:solidFill>
                  <a:effectLst/>
                  <a:latin typeface="Noto Sans KR" panose="020B0200000000000000" pitchFamily="50" charset="-127"/>
                  <a:ea typeface="Noto Sans KR" panose="020B0200000000000000" pitchFamily="50" charset="-127"/>
                </a:rPr>
                <a:t>보이스피싱 줄었다지만</a:t>
              </a:r>
              <a:r>
                <a:rPr lang="en-US" altLang="ko-KR" sz="1050" b="1" i="0" dirty="0">
                  <a:solidFill>
                    <a:srgbClr val="222222"/>
                  </a:solidFill>
                  <a:effectLst/>
                  <a:latin typeface="Noto Sans KR" panose="020B0200000000000000" pitchFamily="50" charset="-127"/>
                  <a:ea typeface="Noto Sans KR" panose="020B0200000000000000" pitchFamily="50" charset="-127"/>
                </a:rPr>
                <a:t>…5</a:t>
              </a:r>
              <a:r>
                <a:rPr lang="ko-KR" altLang="en-US" sz="1050" b="1" i="0" dirty="0">
                  <a:solidFill>
                    <a:srgbClr val="222222"/>
                  </a:solidFill>
                  <a:effectLst/>
                  <a:latin typeface="Noto Sans KR" panose="020B0200000000000000" pitchFamily="50" charset="-127"/>
                  <a:ea typeface="Noto Sans KR" panose="020B0200000000000000" pitchFamily="50" charset="-127"/>
                </a:rPr>
                <a:t>천만 원 피해에 </a:t>
              </a:r>
              <a:r>
                <a:rPr lang="en-US" altLang="ko-KR" sz="1050" b="1" i="0" dirty="0">
                  <a:solidFill>
                    <a:srgbClr val="FF4B16"/>
                  </a:solidFill>
                  <a:effectLst/>
                  <a:latin typeface="Noto Sans KR" panose="020B0200000000000000" pitchFamily="50" charset="-127"/>
                  <a:ea typeface="Noto Sans KR" panose="020B0200000000000000" pitchFamily="50" charset="-127"/>
                </a:rPr>
                <a:t>20</a:t>
              </a:r>
              <a:r>
                <a:rPr lang="ko-KR" altLang="en-US" sz="1050" b="1" i="0" dirty="0">
                  <a:solidFill>
                    <a:srgbClr val="FF4B16"/>
                  </a:solidFill>
                  <a:effectLst/>
                  <a:latin typeface="Noto Sans KR" panose="020B0200000000000000" pitchFamily="50" charset="-127"/>
                  <a:ea typeface="Noto Sans KR" panose="020B0200000000000000" pitchFamily="50" charset="-127"/>
                </a:rPr>
                <a:t>대 아들</a:t>
              </a:r>
              <a:r>
                <a:rPr lang="en-US" altLang="ko-KR" sz="1050" b="1" i="0" dirty="0">
                  <a:solidFill>
                    <a:srgbClr val="FF4B16"/>
                  </a:solidFill>
                  <a:effectLst/>
                  <a:latin typeface="Noto Sans KR" panose="020B0200000000000000" pitchFamily="50" charset="-127"/>
                  <a:ea typeface="Noto Sans KR" panose="020B0200000000000000" pitchFamily="50" charset="-127"/>
                </a:rPr>
                <a:t>, </a:t>
              </a:r>
              <a:r>
                <a:rPr lang="ko-KR" altLang="en-US" sz="1050" b="1" i="0" dirty="0">
                  <a:solidFill>
                    <a:srgbClr val="FF4B16"/>
                  </a:solidFill>
                  <a:effectLst/>
                  <a:latin typeface="Noto Sans KR" panose="020B0200000000000000" pitchFamily="50" charset="-127"/>
                  <a:ea typeface="Noto Sans KR" panose="020B0200000000000000" pitchFamily="50" charset="-127"/>
                </a:rPr>
                <a:t>엄마와 함께 숨져</a:t>
              </a:r>
              <a:r>
                <a:rPr lang="en-US" altLang="ko-KR" sz="1050" b="1" i="0" dirty="0">
                  <a:solidFill>
                    <a:srgbClr val="222222"/>
                  </a:solidFill>
                  <a:effectLst/>
                  <a:latin typeface="Noto Sans KR" panose="020B0200000000000000" pitchFamily="50" charset="-127"/>
                  <a:ea typeface="Noto Sans KR" panose="020B0200000000000000" pitchFamily="50" charset="-127"/>
                </a:rPr>
                <a:t>”</a:t>
              </a:r>
              <a:endParaRPr lang="ko-KR" altLang="en-US" sz="1050" i="0" dirty="0">
                <a:solidFill>
                  <a:srgbClr val="222222"/>
                </a:solidFill>
                <a:effectLst/>
                <a:latin typeface="페이퍼로지 4 Regular" pitchFamily="2" charset="-127"/>
                <a:ea typeface="페이퍼로지 4 Regular" pitchFamily="2" charset="-127"/>
              </a:endParaRPr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B1804E37-175A-49DF-A1AE-A8E99DC3BFD7}"/>
                </a:ext>
              </a:extLst>
            </p:cNvPr>
            <p:cNvSpPr txBox="1"/>
            <p:nvPr/>
          </p:nvSpPr>
          <p:spPr>
            <a:xfrm>
              <a:off x="6659400" y="3979054"/>
              <a:ext cx="4049326" cy="26161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>
              <a:spAutoFit/>
            </a:bodyPr>
            <a:lstStyle/>
            <a:p>
              <a:pPr algn="ctr" fontAlgn="base"/>
              <a:r>
                <a:rPr lang="en-US" altLang="ko-KR" sz="1050" b="1" i="0" dirty="0">
                  <a:effectLst/>
                  <a:latin typeface="Noto Sans KR" panose="020B0200000000000000" pitchFamily="50" charset="-127"/>
                  <a:ea typeface="Noto Sans KR" panose="020B0200000000000000" pitchFamily="50" charset="-127"/>
                </a:rPr>
                <a:t>“</a:t>
              </a:r>
              <a:r>
                <a:rPr lang="ko-KR" altLang="en-US" sz="1050" b="1" i="0" dirty="0">
                  <a:effectLst/>
                  <a:latin typeface="Noto Sans KR" panose="020B0200000000000000" pitchFamily="50" charset="-127"/>
                  <a:ea typeface="Noto Sans KR" panose="020B0200000000000000" pitchFamily="50" charset="-127"/>
                </a:rPr>
                <a:t>보이스피싱 피해 비관 </a:t>
              </a:r>
              <a:r>
                <a:rPr lang="ko-KR" altLang="en-US" sz="1050" b="1" i="0" dirty="0">
                  <a:solidFill>
                    <a:srgbClr val="FF4B16"/>
                  </a:solidFill>
                  <a:effectLst/>
                  <a:latin typeface="Noto Sans KR" panose="020B0200000000000000" pitchFamily="50" charset="-127"/>
                  <a:ea typeface="Noto Sans KR" panose="020B0200000000000000" pitchFamily="50" charset="-127"/>
                </a:rPr>
                <a:t>부부 극단선택</a:t>
              </a:r>
              <a:r>
                <a:rPr lang="en-US" altLang="ko-KR" sz="1050" b="1" i="0" dirty="0">
                  <a:effectLst/>
                  <a:latin typeface="Noto Sans KR" panose="020B0200000000000000" pitchFamily="50" charset="-127"/>
                  <a:ea typeface="Noto Sans KR" panose="020B0200000000000000" pitchFamily="50" charset="-127"/>
                </a:rPr>
                <a:t>…</a:t>
              </a:r>
              <a:r>
                <a:rPr lang="ko-KR" altLang="en-US" sz="1050" b="1" i="0" dirty="0">
                  <a:effectLst/>
                  <a:latin typeface="Noto Sans KR" panose="020B0200000000000000" pitchFamily="50" charset="-127"/>
                  <a:ea typeface="Noto Sans KR" panose="020B0200000000000000" pitchFamily="50" charset="-127"/>
                </a:rPr>
                <a:t>홀로 산 남편 자살방조 처벌</a:t>
              </a:r>
              <a:r>
                <a:rPr lang="en-US" altLang="ko-KR" sz="1050" b="1" i="0" dirty="0">
                  <a:effectLst/>
                  <a:latin typeface="Noto Sans KR" panose="020B0200000000000000" pitchFamily="50" charset="-127"/>
                  <a:ea typeface="Noto Sans KR" panose="020B0200000000000000" pitchFamily="50" charset="-127"/>
                </a:rPr>
                <a:t>”</a:t>
              </a:r>
              <a:endParaRPr lang="ko-KR" altLang="en-US" sz="1050" i="0" dirty="0">
                <a:effectLst/>
                <a:latin typeface="페이퍼로지 4 Regular" pitchFamily="2" charset="-127"/>
                <a:ea typeface="페이퍼로지 4 Regular" pitchFamily="2" charset="-127"/>
              </a:endParaRPr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C5293354-2278-488F-89E1-11BB4375AF62}"/>
                </a:ext>
              </a:extLst>
            </p:cNvPr>
            <p:cNvSpPr txBox="1"/>
            <p:nvPr/>
          </p:nvSpPr>
          <p:spPr>
            <a:xfrm>
              <a:off x="6713037" y="4329851"/>
              <a:ext cx="3942053" cy="26161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>
              <a:spAutoFit/>
            </a:bodyPr>
            <a:lstStyle/>
            <a:p>
              <a:pPr algn="ctr" fontAlgn="base"/>
              <a:r>
                <a:rPr lang="en-US" altLang="ko-KR" sz="1050" b="1" i="0" dirty="0">
                  <a:effectLst/>
                  <a:latin typeface="Noto Sans KR" panose="020B0200000000000000" pitchFamily="50" charset="-127"/>
                  <a:ea typeface="Noto Sans KR" panose="020B0200000000000000" pitchFamily="50" charset="-127"/>
                </a:rPr>
                <a:t>“</a:t>
              </a:r>
              <a:r>
                <a:rPr lang="ko-KR" altLang="en-US" sz="1050" b="1" i="0" dirty="0">
                  <a:effectLst/>
                  <a:latin typeface="Noto Sans KR" panose="020B0200000000000000" pitchFamily="50" charset="-127"/>
                  <a:ea typeface="Noto Sans KR" panose="020B0200000000000000" pitchFamily="50" charset="-127"/>
                </a:rPr>
                <a:t>보이스피싱에 속아 </a:t>
              </a:r>
              <a:r>
                <a:rPr lang="en-US" altLang="ko-KR" sz="1050" b="1" i="0" dirty="0">
                  <a:effectLst/>
                  <a:latin typeface="Noto Sans KR" panose="020B0200000000000000" pitchFamily="50" charset="-127"/>
                  <a:ea typeface="Noto Sans KR" panose="020B0200000000000000" pitchFamily="50" charset="-127"/>
                </a:rPr>
                <a:t>3</a:t>
              </a:r>
              <a:r>
                <a:rPr lang="ko-KR" altLang="en-US" sz="1050" b="1" i="0" dirty="0">
                  <a:effectLst/>
                  <a:latin typeface="Noto Sans KR" panose="020B0200000000000000" pitchFamily="50" charset="-127"/>
                  <a:ea typeface="Noto Sans KR" panose="020B0200000000000000" pitchFamily="50" charset="-127"/>
                </a:rPr>
                <a:t>억원 잃은 </a:t>
              </a:r>
              <a:r>
                <a:rPr lang="ko-KR" altLang="en-US" sz="1050" b="1" i="0" dirty="0">
                  <a:solidFill>
                    <a:srgbClr val="FF4B16"/>
                  </a:solidFill>
                  <a:effectLst/>
                  <a:latin typeface="Noto Sans KR" panose="020B0200000000000000" pitchFamily="50" charset="-127"/>
                  <a:ea typeface="Noto Sans KR" panose="020B0200000000000000" pitchFamily="50" charset="-127"/>
                </a:rPr>
                <a:t>피해자 생 마감</a:t>
              </a:r>
              <a:r>
                <a:rPr lang="en-US" altLang="ko-KR" sz="1050" b="1" i="0" dirty="0">
                  <a:effectLst/>
                  <a:latin typeface="Noto Sans KR" panose="020B0200000000000000" pitchFamily="50" charset="-127"/>
                  <a:ea typeface="Noto Sans KR" panose="020B0200000000000000" pitchFamily="50" charset="-127"/>
                </a:rPr>
                <a:t>…</a:t>
              </a:r>
              <a:r>
                <a:rPr lang="ko-KR" altLang="en-US" sz="1050" b="1" i="0" dirty="0">
                  <a:effectLst/>
                  <a:latin typeface="Noto Sans KR" panose="020B0200000000000000" pitchFamily="50" charset="-127"/>
                  <a:ea typeface="Noto Sans KR" panose="020B0200000000000000" pitchFamily="50" charset="-127"/>
                </a:rPr>
                <a:t>인출책 징역 </a:t>
              </a:r>
              <a:r>
                <a:rPr lang="en-US" altLang="ko-KR" sz="1050" b="1" i="0" dirty="0">
                  <a:effectLst/>
                  <a:latin typeface="Noto Sans KR" panose="020B0200000000000000" pitchFamily="50" charset="-127"/>
                  <a:ea typeface="Noto Sans KR" panose="020B0200000000000000" pitchFamily="50" charset="-127"/>
                </a:rPr>
                <a:t>1</a:t>
              </a:r>
              <a:r>
                <a:rPr lang="ko-KR" altLang="en-US" sz="1050" b="1" i="0" dirty="0">
                  <a:effectLst/>
                  <a:latin typeface="Noto Sans KR" panose="020B0200000000000000" pitchFamily="50" charset="-127"/>
                  <a:ea typeface="Noto Sans KR" panose="020B0200000000000000" pitchFamily="50" charset="-127"/>
                </a:rPr>
                <a:t>년</a:t>
              </a:r>
              <a:r>
                <a:rPr lang="en-US" altLang="ko-KR" sz="1050" b="1" i="0" dirty="0">
                  <a:effectLst/>
                  <a:latin typeface="Noto Sans KR" panose="020B0200000000000000" pitchFamily="50" charset="-127"/>
                  <a:ea typeface="Noto Sans KR" panose="020B0200000000000000" pitchFamily="50" charset="-127"/>
                </a:rPr>
                <a:t>”</a:t>
              </a:r>
              <a:endParaRPr lang="ko-KR" altLang="en-US" sz="1050" i="0" dirty="0">
                <a:effectLst/>
                <a:latin typeface="페이퍼로지 4 Regular" pitchFamily="2" charset="-127"/>
                <a:ea typeface="페이퍼로지 4 Regular" pitchFamily="2" charset="-127"/>
              </a:endParaRPr>
            </a:p>
          </p:txBody>
        </p:sp>
      </p:grpSp>
      <p:grpSp>
        <p:nvGrpSpPr>
          <p:cNvPr id="66" name="Group 65">
            <a:extLst>
              <a:ext uri="{FF2B5EF4-FFF2-40B4-BE49-F238E27FC236}">
                <a16:creationId xmlns:a16="http://schemas.microsoft.com/office/drawing/2014/main" id="{68648D27-D659-4872-A6D6-956992D62318}"/>
              </a:ext>
            </a:extLst>
          </p:cNvPr>
          <p:cNvGrpSpPr/>
          <p:nvPr/>
        </p:nvGrpSpPr>
        <p:grpSpPr>
          <a:xfrm>
            <a:off x="7108968" y="4870995"/>
            <a:ext cx="3038792" cy="612284"/>
            <a:chOff x="7249592" y="4848383"/>
            <a:chExt cx="3038792" cy="612284"/>
          </a:xfrm>
        </p:grpSpPr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21767CAF-0E74-4E26-93E7-9DACE1C609C6}"/>
                </a:ext>
              </a:extLst>
            </p:cNvPr>
            <p:cNvSpPr/>
            <p:nvPr/>
          </p:nvSpPr>
          <p:spPr>
            <a:xfrm>
              <a:off x="8261407" y="4848383"/>
              <a:ext cx="439227" cy="597490"/>
            </a:xfrm>
            <a:custGeom>
              <a:avLst/>
              <a:gdLst>
                <a:gd name="connsiteX0" fmla="*/ 210311 w 439227"/>
                <a:gd name="connsiteY0" fmla="*/ 0 h 597490"/>
                <a:gd name="connsiteX1" fmla="*/ 228915 w 439227"/>
                <a:gd name="connsiteY1" fmla="*/ 0 h 597490"/>
                <a:gd name="connsiteX2" fmla="*/ 359394 w 439227"/>
                <a:gd name="connsiteY2" fmla="*/ 130479 h 597490"/>
                <a:gd name="connsiteX3" fmla="*/ 321178 w 439227"/>
                <a:gd name="connsiteY3" fmla="*/ 222742 h 597490"/>
                <a:gd name="connsiteX4" fmla="*/ 320008 w 439227"/>
                <a:gd name="connsiteY4" fmla="*/ 223530 h 597490"/>
                <a:gd name="connsiteX5" fmla="*/ 361875 w 439227"/>
                <a:gd name="connsiteY5" fmla="*/ 231983 h 597490"/>
                <a:gd name="connsiteX6" fmla="*/ 439227 w 439227"/>
                <a:gd name="connsiteY6" fmla="*/ 348680 h 597490"/>
                <a:gd name="connsiteX7" fmla="*/ 439227 w 439227"/>
                <a:gd name="connsiteY7" fmla="*/ 597490 h 597490"/>
                <a:gd name="connsiteX8" fmla="*/ 0 w 439227"/>
                <a:gd name="connsiteY8" fmla="*/ 597490 h 597490"/>
                <a:gd name="connsiteX9" fmla="*/ 0 w 439227"/>
                <a:gd name="connsiteY9" fmla="*/ 348680 h 597490"/>
                <a:gd name="connsiteX10" fmla="*/ 77352 w 439227"/>
                <a:gd name="connsiteY10" fmla="*/ 231983 h 597490"/>
                <a:gd name="connsiteX11" fmla="*/ 119218 w 439227"/>
                <a:gd name="connsiteY11" fmla="*/ 223531 h 597490"/>
                <a:gd name="connsiteX12" fmla="*/ 118049 w 439227"/>
                <a:gd name="connsiteY12" fmla="*/ 222742 h 597490"/>
                <a:gd name="connsiteX13" fmla="*/ 79832 w 439227"/>
                <a:gd name="connsiteY13" fmla="*/ 130479 h 597490"/>
                <a:gd name="connsiteX14" fmla="*/ 210311 w 439227"/>
                <a:gd name="connsiteY14" fmla="*/ 0 h 597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439227" h="597490">
                  <a:moveTo>
                    <a:pt x="210311" y="0"/>
                  </a:moveTo>
                  <a:lnTo>
                    <a:pt x="228915" y="0"/>
                  </a:lnTo>
                  <a:cubicBezTo>
                    <a:pt x="300977" y="0"/>
                    <a:pt x="359394" y="58417"/>
                    <a:pt x="359394" y="130479"/>
                  </a:cubicBezTo>
                  <a:cubicBezTo>
                    <a:pt x="359394" y="166510"/>
                    <a:pt x="344790" y="199130"/>
                    <a:pt x="321178" y="222742"/>
                  </a:cubicBezTo>
                  <a:lnTo>
                    <a:pt x="320008" y="223530"/>
                  </a:lnTo>
                  <a:lnTo>
                    <a:pt x="361875" y="231983"/>
                  </a:lnTo>
                  <a:cubicBezTo>
                    <a:pt x="407332" y="251209"/>
                    <a:pt x="439227" y="296220"/>
                    <a:pt x="439227" y="348680"/>
                  </a:cubicBezTo>
                  <a:lnTo>
                    <a:pt x="439227" y="597490"/>
                  </a:lnTo>
                  <a:lnTo>
                    <a:pt x="0" y="597490"/>
                  </a:lnTo>
                  <a:lnTo>
                    <a:pt x="0" y="348680"/>
                  </a:lnTo>
                  <a:cubicBezTo>
                    <a:pt x="0" y="296220"/>
                    <a:pt x="31895" y="251209"/>
                    <a:pt x="77352" y="231983"/>
                  </a:cubicBezTo>
                  <a:lnTo>
                    <a:pt x="119218" y="223531"/>
                  </a:lnTo>
                  <a:lnTo>
                    <a:pt x="118049" y="222742"/>
                  </a:lnTo>
                  <a:cubicBezTo>
                    <a:pt x="94437" y="199130"/>
                    <a:pt x="79832" y="166510"/>
                    <a:pt x="79832" y="130479"/>
                  </a:cubicBezTo>
                  <a:cubicBezTo>
                    <a:pt x="79832" y="58417"/>
                    <a:pt x="138249" y="0"/>
                    <a:pt x="210311" y="0"/>
                  </a:cubicBezTo>
                  <a:close/>
                </a:path>
              </a:pathLst>
            </a:custGeom>
            <a:solidFill>
              <a:srgbClr val="49A8FF"/>
            </a:solidFill>
            <a:ln w="19050">
              <a:solidFill>
                <a:schemeClr val="bg1"/>
              </a:solidFill>
              <a:prstDash val="solid"/>
            </a:ln>
          </p:spPr>
          <p:txBody>
            <a:bodyPr wrap="square" rtlCol="0" anchor="ctr">
              <a:noAutofit/>
            </a:bodyPr>
            <a:lstStyle/>
            <a:p>
              <a:pPr algn="ctr"/>
              <a:endParaRPr lang="ko-KR" altLang="en-US" dirty="0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456054FC-42F8-4E05-8864-E15F8D597954}"/>
                </a:ext>
              </a:extLst>
            </p:cNvPr>
            <p:cNvSpPr txBox="1"/>
            <p:nvPr/>
          </p:nvSpPr>
          <p:spPr>
            <a:xfrm>
              <a:off x="7249592" y="5245223"/>
              <a:ext cx="1011815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ko-KR" altLang="en-US" sz="800" dirty="0">
                  <a:solidFill>
                    <a:schemeClr val="bg1"/>
                  </a:solidFill>
                  <a:latin typeface="페이퍼로지 4 Regular" pitchFamily="2" charset="-127"/>
                  <a:ea typeface="페이퍼로지 4 Regular" pitchFamily="2" charset="-127"/>
                </a:rPr>
                <a:t>사회가 지켜낸 </a:t>
              </a:r>
              <a:r>
                <a:rPr lang="en-US" altLang="ko-KR" sz="800" dirty="0">
                  <a:solidFill>
                    <a:srgbClr val="49A8FF"/>
                  </a:solidFill>
                  <a:latin typeface="페이퍼로지 9 Black" pitchFamily="2" charset="-127"/>
                  <a:ea typeface="페이퍼로지 9 Black" pitchFamily="2" charset="-127"/>
                </a:rPr>
                <a:t>53%</a:t>
              </a:r>
              <a:endParaRPr lang="ko-KR" altLang="en-US" sz="800" dirty="0">
                <a:solidFill>
                  <a:srgbClr val="49A8FF"/>
                </a:solidFill>
                <a:latin typeface="페이퍼로지 9 Black" pitchFamily="2" charset="-127"/>
                <a:ea typeface="페이퍼로지 9 Black" pitchFamily="2" charset="-127"/>
              </a:endParaRPr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948ECB64-EE12-4659-BDBB-E56510468378}"/>
                </a:ext>
              </a:extLst>
            </p:cNvPr>
            <p:cNvSpPr txBox="1"/>
            <p:nvPr/>
          </p:nvSpPr>
          <p:spPr>
            <a:xfrm>
              <a:off x="9183594" y="5149390"/>
              <a:ext cx="110479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800" dirty="0">
                  <a:solidFill>
                    <a:schemeClr val="bg1"/>
                  </a:solidFill>
                  <a:latin typeface="페이퍼로지 4 Regular" pitchFamily="2" charset="-127"/>
                  <a:ea typeface="페이퍼로지 4 Regular" pitchFamily="2" charset="-127"/>
                </a:rPr>
                <a:t>그렇지 못한 </a:t>
              </a:r>
              <a:r>
                <a:rPr lang="en-US" altLang="ko-KR" sz="1400" dirty="0">
                  <a:solidFill>
                    <a:srgbClr val="FF4B16"/>
                  </a:solidFill>
                  <a:latin typeface="페이퍼로지 9 Black" pitchFamily="2" charset="-127"/>
                  <a:ea typeface="페이퍼로지 9 Black" pitchFamily="2" charset="-127"/>
                </a:rPr>
                <a:t>47%</a:t>
              </a:r>
              <a:endParaRPr lang="ko-KR" altLang="en-US" sz="1400" dirty="0">
                <a:solidFill>
                  <a:srgbClr val="FF4B16"/>
                </a:solidFill>
                <a:latin typeface="페이퍼로지 9 Black" pitchFamily="2" charset="-127"/>
                <a:ea typeface="페이퍼로지 9 Black" pitchFamily="2" charset="-127"/>
              </a:endParaRPr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5CBD0AEA-4FBC-4668-AF87-53614FA0F902}"/>
                </a:ext>
              </a:extLst>
            </p:cNvPr>
            <p:cNvSpPr/>
            <p:nvPr/>
          </p:nvSpPr>
          <p:spPr>
            <a:xfrm rot="5400000">
              <a:off x="8609625" y="5248233"/>
              <a:ext cx="347541" cy="47740"/>
            </a:xfrm>
            <a:custGeom>
              <a:avLst/>
              <a:gdLst>
                <a:gd name="connsiteX0" fmla="*/ 0 w 347541"/>
                <a:gd name="connsiteY0" fmla="*/ 0 h 47740"/>
                <a:gd name="connsiteX1" fmla="*/ 347541 w 347541"/>
                <a:gd name="connsiteY1" fmla="*/ 0 h 47740"/>
                <a:gd name="connsiteX2" fmla="*/ 347541 w 347541"/>
                <a:gd name="connsiteY2" fmla="*/ 47740 h 47740"/>
                <a:gd name="connsiteX3" fmla="*/ 98731 w 347541"/>
                <a:gd name="connsiteY3" fmla="*/ 47740 h 47740"/>
                <a:gd name="connsiteX4" fmla="*/ 1002 w 347541"/>
                <a:gd name="connsiteY4" fmla="*/ 1651 h 47740"/>
                <a:gd name="connsiteX5" fmla="*/ 0 w 347541"/>
                <a:gd name="connsiteY5" fmla="*/ 0 h 477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47541" h="47740">
                  <a:moveTo>
                    <a:pt x="0" y="0"/>
                  </a:moveTo>
                  <a:lnTo>
                    <a:pt x="347541" y="0"/>
                  </a:lnTo>
                  <a:lnTo>
                    <a:pt x="347541" y="47740"/>
                  </a:lnTo>
                  <a:lnTo>
                    <a:pt x="98731" y="47740"/>
                  </a:lnTo>
                  <a:cubicBezTo>
                    <a:pt x="59386" y="47740"/>
                    <a:pt x="24231" y="29799"/>
                    <a:pt x="1002" y="1651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49A8FF"/>
            </a:solidFill>
            <a:ln w="19050">
              <a:solidFill>
                <a:schemeClr val="bg1"/>
              </a:solidFill>
              <a:prstDash val="solid"/>
            </a:ln>
          </p:spPr>
          <p:txBody>
            <a:bodyPr wrap="square" rtlCol="0" anchor="ctr">
              <a:noAutofit/>
            </a:bodyPr>
            <a:lstStyle/>
            <a:p>
              <a:pPr algn="ctr"/>
              <a:endParaRPr lang="ko-KR" altLang="en-US"/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206B044A-613C-4822-9C20-32DD858C8127}"/>
                </a:ext>
              </a:extLst>
            </p:cNvPr>
            <p:cNvSpPr/>
            <p:nvPr/>
          </p:nvSpPr>
          <p:spPr>
            <a:xfrm rot="5400000">
              <a:off x="8704264" y="4951385"/>
              <a:ext cx="597490" cy="391488"/>
            </a:xfrm>
            <a:custGeom>
              <a:avLst/>
              <a:gdLst>
                <a:gd name="connsiteX0" fmla="*/ 0 w 597490"/>
                <a:gd name="connsiteY0" fmla="*/ 228916 h 391488"/>
                <a:gd name="connsiteX1" fmla="*/ 0 w 597490"/>
                <a:gd name="connsiteY1" fmla="*/ 210312 h 391488"/>
                <a:gd name="connsiteX2" fmla="*/ 130479 w 597490"/>
                <a:gd name="connsiteY2" fmla="*/ 79833 h 391488"/>
                <a:gd name="connsiteX3" fmla="*/ 222742 w 597490"/>
                <a:gd name="connsiteY3" fmla="*/ 118049 h 391488"/>
                <a:gd name="connsiteX4" fmla="*/ 223530 w 597490"/>
                <a:gd name="connsiteY4" fmla="*/ 119219 h 391488"/>
                <a:gd name="connsiteX5" fmla="*/ 231983 w 597490"/>
                <a:gd name="connsiteY5" fmla="*/ 77352 h 391488"/>
                <a:gd name="connsiteX6" fmla="*/ 348680 w 597490"/>
                <a:gd name="connsiteY6" fmla="*/ 0 h 391488"/>
                <a:gd name="connsiteX7" fmla="*/ 597490 w 597490"/>
                <a:gd name="connsiteY7" fmla="*/ 0 h 391488"/>
                <a:gd name="connsiteX8" fmla="*/ 597490 w 597490"/>
                <a:gd name="connsiteY8" fmla="*/ 391488 h 391488"/>
                <a:gd name="connsiteX9" fmla="*/ 249949 w 597490"/>
                <a:gd name="connsiteY9" fmla="*/ 391488 h 391488"/>
                <a:gd name="connsiteX10" fmla="*/ 231983 w 597490"/>
                <a:gd name="connsiteY10" fmla="*/ 361875 h 391488"/>
                <a:gd name="connsiteX11" fmla="*/ 223531 w 597490"/>
                <a:gd name="connsiteY11" fmla="*/ 320009 h 391488"/>
                <a:gd name="connsiteX12" fmla="*/ 222742 w 597490"/>
                <a:gd name="connsiteY12" fmla="*/ 321179 h 391488"/>
                <a:gd name="connsiteX13" fmla="*/ 130479 w 597490"/>
                <a:gd name="connsiteY13" fmla="*/ 359395 h 391488"/>
                <a:gd name="connsiteX14" fmla="*/ 0 w 597490"/>
                <a:gd name="connsiteY14" fmla="*/ 228916 h 3914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597490" h="391488">
                  <a:moveTo>
                    <a:pt x="0" y="228916"/>
                  </a:moveTo>
                  <a:lnTo>
                    <a:pt x="0" y="210312"/>
                  </a:lnTo>
                  <a:cubicBezTo>
                    <a:pt x="0" y="138250"/>
                    <a:pt x="58417" y="79833"/>
                    <a:pt x="130479" y="79833"/>
                  </a:cubicBezTo>
                  <a:cubicBezTo>
                    <a:pt x="166510" y="79833"/>
                    <a:pt x="199130" y="94437"/>
                    <a:pt x="222742" y="118049"/>
                  </a:cubicBezTo>
                  <a:lnTo>
                    <a:pt x="223530" y="119219"/>
                  </a:lnTo>
                  <a:lnTo>
                    <a:pt x="231983" y="77352"/>
                  </a:lnTo>
                  <a:cubicBezTo>
                    <a:pt x="251209" y="31895"/>
                    <a:pt x="296220" y="0"/>
                    <a:pt x="348680" y="0"/>
                  </a:cubicBezTo>
                  <a:lnTo>
                    <a:pt x="597490" y="0"/>
                  </a:lnTo>
                  <a:lnTo>
                    <a:pt x="597490" y="391488"/>
                  </a:lnTo>
                  <a:lnTo>
                    <a:pt x="249949" y="391488"/>
                  </a:lnTo>
                  <a:lnTo>
                    <a:pt x="231983" y="361875"/>
                  </a:lnTo>
                  <a:lnTo>
                    <a:pt x="223531" y="320009"/>
                  </a:lnTo>
                  <a:lnTo>
                    <a:pt x="222742" y="321179"/>
                  </a:lnTo>
                  <a:cubicBezTo>
                    <a:pt x="199130" y="344791"/>
                    <a:pt x="166510" y="359395"/>
                    <a:pt x="130479" y="359395"/>
                  </a:cubicBezTo>
                  <a:cubicBezTo>
                    <a:pt x="58417" y="359395"/>
                    <a:pt x="0" y="300978"/>
                    <a:pt x="0" y="228916"/>
                  </a:cubicBezTo>
                  <a:close/>
                </a:path>
              </a:pathLst>
            </a:custGeom>
            <a:solidFill>
              <a:srgbClr val="FF4B16"/>
            </a:solidFill>
            <a:ln w="19050">
              <a:solidFill>
                <a:schemeClr val="bg1"/>
              </a:solidFill>
              <a:prstDash val="solid"/>
            </a:ln>
          </p:spPr>
          <p:txBody>
            <a:bodyPr wrap="square" rtlCol="0" anchor="ctr">
              <a:noAutofit/>
            </a:bodyPr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8701377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9F0324C-56AF-4E40-80F4-7180599B8B00}"/>
              </a:ext>
            </a:extLst>
          </p:cNvPr>
          <p:cNvSpPr/>
          <p:nvPr/>
        </p:nvSpPr>
        <p:spPr>
          <a:xfrm>
            <a:off x="295834" y="968188"/>
            <a:ext cx="11600332" cy="5074023"/>
          </a:xfrm>
          <a:prstGeom prst="rect">
            <a:avLst/>
          </a:prstGeom>
          <a:solidFill>
            <a:schemeClr val="tx1"/>
          </a:solidFill>
          <a:ln w="12700">
            <a:solidFill>
              <a:srgbClr val="0E2746"/>
            </a:solidFill>
            <a:prstDash val="solid"/>
          </a:ln>
        </p:spPr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bg1"/>
                </a:solidFill>
              </a:rPr>
              <a:t>그러려면</a:t>
            </a:r>
            <a:r>
              <a:rPr lang="en-US" altLang="ko-KR" dirty="0">
                <a:solidFill>
                  <a:schemeClr val="bg1"/>
                </a:solidFill>
              </a:rPr>
              <a:t>…</a:t>
            </a:r>
          </a:p>
          <a:p>
            <a:pPr algn="ctr"/>
            <a:endParaRPr lang="en-US" altLang="ko-KR" dirty="0">
              <a:solidFill>
                <a:schemeClr val="bg1"/>
              </a:solidFill>
            </a:endParaRPr>
          </a:p>
          <a:p>
            <a:pPr algn="ctr"/>
            <a:r>
              <a:rPr lang="ko-KR" altLang="en-US" dirty="0">
                <a:solidFill>
                  <a:schemeClr val="bg1"/>
                </a:solidFill>
              </a:rPr>
              <a:t>범죄자들의 전략</a:t>
            </a:r>
            <a:r>
              <a:rPr lang="en-US" altLang="ko-KR" dirty="0">
                <a:solidFill>
                  <a:schemeClr val="bg1"/>
                </a:solidFill>
              </a:rPr>
              <a:t>… -&gt; </a:t>
            </a:r>
            <a:r>
              <a:rPr lang="ko-KR" altLang="en-US" dirty="0">
                <a:solidFill>
                  <a:schemeClr val="bg1"/>
                </a:solidFill>
              </a:rPr>
              <a:t>판단이 힘들게 함</a:t>
            </a:r>
            <a:endParaRPr lang="en-US" altLang="ko-KR" dirty="0">
              <a:solidFill>
                <a:schemeClr val="bg1"/>
              </a:solidFill>
            </a:endParaRPr>
          </a:p>
          <a:p>
            <a:pPr algn="ctr"/>
            <a:r>
              <a:rPr lang="ko-KR" altLang="en-US" dirty="0">
                <a:solidFill>
                  <a:schemeClr val="bg1"/>
                </a:solidFill>
              </a:rPr>
              <a:t>피해자들의 상황</a:t>
            </a:r>
            <a:r>
              <a:rPr lang="en-US" altLang="ko-KR" dirty="0">
                <a:solidFill>
                  <a:schemeClr val="bg1"/>
                </a:solidFill>
              </a:rPr>
              <a:t>, </a:t>
            </a:r>
            <a:r>
              <a:rPr lang="ko-KR" altLang="en-US" dirty="0">
                <a:solidFill>
                  <a:schemeClr val="bg1"/>
                </a:solidFill>
              </a:rPr>
              <a:t>환경</a:t>
            </a:r>
            <a:r>
              <a:rPr lang="en-US" altLang="ko-KR" dirty="0">
                <a:solidFill>
                  <a:schemeClr val="bg1"/>
                </a:solidFill>
              </a:rPr>
              <a:t>, </a:t>
            </a:r>
            <a:r>
              <a:rPr lang="ko-KR" altLang="en-US" dirty="0">
                <a:solidFill>
                  <a:schemeClr val="bg1"/>
                </a:solidFill>
              </a:rPr>
              <a:t>취약점</a:t>
            </a:r>
            <a:r>
              <a:rPr lang="en-US" altLang="ko-KR" dirty="0">
                <a:solidFill>
                  <a:schemeClr val="bg1"/>
                </a:solidFill>
              </a:rPr>
              <a:t>… -&gt; </a:t>
            </a:r>
            <a:r>
              <a:rPr lang="ko-KR" altLang="en-US" dirty="0">
                <a:solidFill>
                  <a:schemeClr val="bg1"/>
                </a:solidFill>
              </a:rPr>
              <a:t>판단이 힘듦</a:t>
            </a:r>
            <a:r>
              <a:rPr lang="en-US" altLang="ko-KR" dirty="0">
                <a:solidFill>
                  <a:schemeClr val="bg1"/>
                </a:solidFill>
              </a:rPr>
              <a:t>..</a:t>
            </a:r>
          </a:p>
          <a:p>
            <a:pPr algn="ctr"/>
            <a:r>
              <a:rPr lang="ko-KR" altLang="en-US" dirty="0">
                <a:solidFill>
                  <a:schemeClr val="bg1"/>
                </a:solidFill>
              </a:rPr>
              <a:t>현재 서비스와 </a:t>
            </a:r>
            <a:r>
              <a:rPr lang="en-US" altLang="ko-KR" dirty="0">
                <a:solidFill>
                  <a:schemeClr val="bg1"/>
                </a:solidFill>
              </a:rPr>
              <a:t>AI</a:t>
            </a:r>
            <a:r>
              <a:rPr lang="ko-KR" altLang="en-US" dirty="0">
                <a:solidFill>
                  <a:schemeClr val="bg1"/>
                </a:solidFill>
              </a:rPr>
              <a:t>들의 한계점</a:t>
            </a:r>
            <a:r>
              <a:rPr lang="en-US" altLang="ko-KR" dirty="0">
                <a:solidFill>
                  <a:schemeClr val="bg1"/>
                </a:solidFill>
              </a:rPr>
              <a:t>…(AI</a:t>
            </a:r>
            <a:r>
              <a:rPr lang="ko-KR" altLang="en-US" dirty="0">
                <a:solidFill>
                  <a:schemeClr val="bg1"/>
                </a:solidFill>
              </a:rPr>
              <a:t>가 발전해서 많이 쓰기도 하고</a:t>
            </a:r>
            <a:r>
              <a:rPr lang="en-US" altLang="ko-KR" dirty="0">
                <a:solidFill>
                  <a:schemeClr val="bg1"/>
                </a:solidFill>
              </a:rPr>
              <a:t>… </a:t>
            </a:r>
            <a:r>
              <a:rPr lang="ko-KR" altLang="en-US" dirty="0">
                <a:solidFill>
                  <a:schemeClr val="bg1"/>
                </a:solidFill>
              </a:rPr>
              <a:t>효과적이긴하나</a:t>
            </a:r>
            <a:r>
              <a:rPr lang="en-US" altLang="ko-KR" dirty="0">
                <a:solidFill>
                  <a:schemeClr val="bg1"/>
                </a:solidFill>
              </a:rPr>
              <a:t>) -&gt; </a:t>
            </a:r>
            <a:r>
              <a:rPr lang="ko-KR" altLang="en-US" dirty="0">
                <a:solidFill>
                  <a:schemeClr val="bg1"/>
                </a:solidFill>
              </a:rPr>
              <a:t>판단</a:t>
            </a:r>
            <a:r>
              <a:rPr lang="en-US" altLang="ko-KR" dirty="0">
                <a:solidFill>
                  <a:schemeClr val="bg1"/>
                </a:solidFill>
              </a:rPr>
              <a:t>..</a:t>
            </a:r>
            <a:r>
              <a:rPr lang="ko-KR" altLang="en-US" dirty="0">
                <a:solidFill>
                  <a:schemeClr val="bg1"/>
                </a:solidFill>
              </a:rPr>
              <a:t>ㅠㅠ문제</a:t>
            </a:r>
            <a:r>
              <a:rPr lang="en-US" altLang="ko-KR" dirty="0">
                <a:solidFill>
                  <a:schemeClr val="bg1"/>
                </a:solidFill>
              </a:rPr>
              <a:t>…</a:t>
            </a:r>
            <a:r>
              <a:rPr lang="ko-KR" altLang="en-US" dirty="0">
                <a:solidFill>
                  <a:schemeClr val="bg1"/>
                </a:solidFill>
              </a:rPr>
              <a:t>ㅠ</a:t>
            </a:r>
            <a:endParaRPr lang="en-US" altLang="ko-KR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461021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Text 7">
            <a:extLst>
              <a:ext uri="{FF2B5EF4-FFF2-40B4-BE49-F238E27FC236}">
                <a16:creationId xmlns:a16="http://schemas.microsoft.com/office/drawing/2014/main" id="{B86AB141-D61D-4F98-88E7-DC95CF56A724}"/>
              </a:ext>
            </a:extLst>
          </p:cNvPr>
          <p:cNvSpPr txBox="1"/>
          <p:nvPr/>
        </p:nvSpPr>
        <p:spPr>
          <a:xfrm>
            <a:off x="599443" y="643651"/>
            <a:ext cx="10515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ko-KR" altLang="en-US" sz="1230" dirty="0">
                <a:solidFill>
                  <a:srgbClr val="66768F"/>
                </a:solidFill>
                <a:latin typeface="페이퍼로지 4 Regular" pitchFamily="2" charset="-127"/>
                <a:ea typeface="페이퍼로지 4 Regular" pitchFamily="2" charset="-127"/>
              </a:rPr>
              <a:t>보이스피싱 범죄에 노출된 금융소비자의 여정 속</a:t>
            </a:r>
            <a:r>
              <a:rPr lang="en-US" altLang="ko-KR" sz="1230" dirty="0">
                <a:solidFill>
                  <a:srgbClr val="66768F"/>
                </a:solidFill>
                <a:latin typeface="페이퍼로지 4 Regular" pitchFamily="2" charset="-127"/>
                <a:ea typeface="페이퍼로지 4 Regular" pitchFamily="2" charset="-127"/>
              </a:rPr>
              <a:t>… ASAP, FDS</a:t>
            </a:r>
            <a:r>
              <a:rPr lang="ko-KR" altLang="en-US" sz="1230" dirty="0">
                <a:solidFill>
                  <a:srgbClr val="66768F"/>
                </a:solidFill>
                <a:latin typeface="페이퍼로지 4 Regular" pitchFamily="2" charset="-127"/>
                <a:ea typeface="페이퍼로지 4 Regular" pitchFamily="2" charset="-127"/>
              </a:rPr>
              <a:t>를 비롯한 다양한 안정장치들</a:t>
            </a:r>
            <a:r>
              <a:rPr lang="en-US" altLang="ko-KR" sz="1230" dirty="0">
                <a:solidFill>
                  <a:srgbClr val="66768F"/>
                </a:solidFill>
                <a:latin typeface="페이퍼로지 4 Regular" pitchFamily="2" charset="-127"/>
                <a:ea typeface="페이퍼로지 4 Regular" pitchFamily="2" charset="-127"/>
              </a:rPr>
              <a:t>…</a:t>
            </a:r>
            <a:endParaRPr lang="en-US" altLang="ko-KR" sz="123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2" name="Shape 0"/>
          <p:cNvSpPr/>
          <p:nvPr/>
        </p:nvSpPr>
        <p:spPr>
          <a:xfrm>
            <a:off x="10844784" y="128016"/>
            <a:ext cx="1188720" cy="1188720"/>
          </a:xfrm>
          <a:prstGeom prst="ellipse">
            <a:avLst/>
          </a:prstGeom>
          <a:solidFill>
            <a:srgbClr val="EAF3FF"/>
          </a:solidFill>
          <a:ln w="10160">
            <a:solidFill>
              <a:srgbClr val="EAF3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448288" y="292608"/>
            <a:ext cx="310896" cy="310896"/>
          </a:xfrm>
          <a:prstGeom prst="ellipse">
            <a:avLst/>
          </a:prstGeom>
          <a:solidFill>
            <a:srgbClr val="49A8FF"/>
          </a:solidFill>
          <a:ln w="10160">
            <a:solidFill>
              <a:srgbClr val="49A8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844784" y="1024128"/>
            <a:ext cx="868680" cy="0"/>
          </a:xfrm>
          <a:prstGeom prst="line">
            <a:avLst/>
          </a:prstGeom>
          <a:noFill/>
          <a:ln w="13970">
            <a:solidFill>
              <a:srgbClr val="D6E8FF"/>
            </a:solidFill>
            <a:prstDash val="solid"/>
            <a:headEnd type="none"/>
            <a:tailEnd type="none"/>
          </a:ln>
        </p:spPr>
      </p:sp>
      <p:sp>
        <p:nvSpPr>
          <p:cNvPr id="5" name="Shape 3"/>
          <p:cNvSpPr/>
          <p:nvPr/>
        </p:nvSpPr>
        <p:spPr>
          <a:xfrm>
            <a:off x="11045952" y="1225296"/>
            <a:ext cx="667512" cy="0"/>
          </a:xfrm>
          <a:prstGeom prst="line">
            <a:avLst/>
          </a:prstGeom>
          <a:noFill/>
          <a:ln w="13970">
            <a:solidFill>
              <a:srgbClr val="D6E8FF"/>
            </a:solidFill>
            <a:prstDash val="solid"/>
            <a:headEnd type="none"/>
            <a:tailEnd type="none"/>
          </a:ln>
        </p:spPr>
      </p:sp>
      <p:sp>
        <p:nvSpPr>
          <p:cNvPr id="5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10528"/>
            <a:ext cx="27432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7B8CA8"/>
                </a:solidFill>
                <a:latin typeface="NanumSquare"/>
                <a:ea typeface="NanumSquare"/>
                <a:cs typeface="NanumSquare"/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  <p:sp>
        <p:nvSpPr>
          <p:cNvPr id="52" name="Text 5">
            <a:extLst>
              <a:ext uri="{FF2B5EF4-FFF2-40B4-BE49-F238E27FC236}">
                <a16:creationId xmlns:a16="http://schemas.microsoft.com/office/drawing/2014/main" id="{18BD87C1-342C-4A32-80E8-3279A30915AE}"/>
              </a:ext>
            </a:extLst>
          </p:cNvPr>
          <p:cNvSpPr txBox="1"/>
          <p:nvPr/>
        </p:nvSpPr>
        <p:spPr>
          <a:xfrm>
            <a:off x="-64242" y="162899"/>
            <a:ext cx="8961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E2746"/>
                </a:solidFill>
                <a:latin typeface="페이퍼로지 4 Regular" pitchFamily="2" charset="-127"/>
                <a:ea typeface="페이퍼로지 4 Regular" pitchFamily="2" charset="-127"/>
                <a:cs typeface="NanumSquare Bold" pitchFamily="34" charset="-120"/>
              </a:rPr>
              <a:t>현황분석</a:t>
            </a:r>
            <a:endParaRPr lang="en-US" sz="1050" dirty="0">
              <a:solidFill>
                <a:srgbClr val="0E2746"/>
              </a:solidFill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60" name="Text 6">
            <a:extLst>
              <a:ext uri="{FF2B5EF4-FFF2-40B4-BE49-F238E27FC236}">
                <a16:creationId xmlns:a16="http://schemas.microsoft.com/office/drawing/2014/main" id="{26523E4F-4D96-421D-9C85-0DBFC0114F74}"/>
              </a:ext>
            </a:extLst>
          </p:cNvPr>
          <p:cNvSpPr txBox="1"/>
          <p:nvPr/>
        </p:nvSpPr>
        <p:spPr>
          <a:xfrm>
            <a:off x="580644" y="857186"/>
            <a:ext cx="10698480" cy="90144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ko-KR" altLang="en-US" sz="2200" b="1" dirty="0">
                <a:solidFill>
                  <a:srgbClr val="10213D"/>
                </a:solidFill>
                <a:latin typeface="페이퍼로지 7 Bold" pitchFamily="2" charset="-127"/>
                <a:ea typeface="페이퍼로지 7 Bold" pitchFamily="2" charset="-127"/>
                <a:cs typeface="NanumSquare Bold" pitchFamily="34" charset="-120"/>
              </a:rPr>
              <a:t>기존 안전장치는 이미 여러 피해 단계에서 작동하고 있었다</a:t>
            </a:r>
            <a:r>
              <a:rPr lang="en-US" altLang="ko-KR" sz="2200" b="1" dirty="0">
                <a:solidFill>
                  <a:srgbClr val="10213D"/>
                </a:solidFill>
                <a:latin typeface="페이퍼로지 7 Bold" pitchFamily="2" charset="-127"/>
                <a:ea typeface="페이퍼로지 7 Bold" pitchFamily="2" charset="-127"/>
                <a:cs typeface="NanumSquare Bold" pitchFamily="34" charset="-120"/>
              </a:rPr>
              <a:t>…</a:t>
            </a:r>
          </a:p>
          <a:p>
            <a:r>
              <a:rPr lang="ko-KR" altLang="en-US" sz="2200" b="1" dirty="0">
                <a:solidFill>
                  <a:srgbClr val="10213D"/>
                </a:solidFill>
                <a:latin typeface="페이퍼로지 7 Bold" pitchFamily="2" charset="-127"/>
                <a:ea typeface="페이퍼로지 7 Bold" pitchFamily="2" charset="-127"/>
                <a:cs typeface="NanumSquare Bold" pitchFamily="34" charset="-120"/>
              </a:rPr>
              <a:t>그럼에도 해결되지 않는 영역과 우리가 놓치고 있는 공백은 무엇일까</a:t>
            </a:r>
            <a:r>
              <a:rPr lang="en-US" altLang="ko-KR" sz="2200" b="1" dirty="0">
                <a:solidFill>
                  <a:srgbClr val="10213D"/>
                </a:solidFill>
                <a:latin typeface="페이퍼로지 7 Bold" pitchFamily="2" charset="-127"/>
                <a:ea typeface="페이퍼로지 7 Bold" pitchFamily="2" charset="-127"/>
                <a:cs typeface="NanumSquare Bold" pitchFamily="34" charset="-120"/>
              </a:rPr>
              <a:t>?</a:t>
            </a:r>
          </a:p>
        </p:txBody>
      </p:sp>
      <p:graphicFrame>
        <p:nvGraphicFramePr>
          <p:cNvPr id="23" name="Table 22">
            <a:extLst>
              <a:ext uri="{FF2B5EF4-FFF2-40B4-BE49-F238E27FC236}">
                <a16:creationId xmlns:a16="http://schemas.microsoft.com/office/drawing/2014/main" id="{33DAD100-AA45-4F56-B2C4-2B207E7BD4E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37282147"/>
              </p:ext>
            </p:extLst>
          </p:nvPr>
        </p:nvGraphicFramePr>
        <p:xfrm>
          <a:off x="456819" y="2047875"/>
          <a:ext cx="7883008" cy="4112266"/>
        </p:xfrm>
        <a:graphic>
          <a:graphicData uri="http://schemas.openxmlformats.org/drawingml/2006/table">
            <a:tbl>
              <a:tblPr/>
              <a:tblGrid>
                <a:gridCol w="1202780">
                  <a:extLst>
                    <a:ext uri="{9D8B030D-6E8A-4147-A177-3AD203B41FA5}">
                      <a16:colId xmlns:a16="http://schemas.microsoft.com/office/drawing/2014/main" val="4137408631"/>
                    </a:ext>
                  </a:extLst>
                </a:gridCol>
                <a:gridCol w="1753643">
                  <a:extLst>
                    <a:ext uri="{9D8B030D-6E8A-4147-A177-3AD203B41FA5}">
                      <a16:colId xmlns:a16="http://schemas.microsoft.com/office/drawing/2014/main" val="2117270076"/>
                    </a:ext>
                  </a:extLst>
                </a:gridCol>
                <a:gridCol w="1950493">
                  <a:extLst>
                    <a:ext uri="{9D8B030D-6E8A-4147-A177-3AD203B41FA5}">
                      <a16:colId xmlns:a16="http://schemas.microsoft.com/office/drawing/2014/main" val="860866038"/>
                    </a:ext>
                  </a:extLst>
                </a:gridCol>
                <a:gridCol w="1412330">
                  <a:extLst>
                    <a:ext uri="{9D8B030D-6E8A-4147-A177-3AD203B41FA5}">
                      <a16:colId xmlns:a16="http://schemas.microsoft.com/office/drawing/2014/main" val="3299205817"/>
                    </a:ext>
                  </a:extLst>
                </a:gridCol>
                <a:gridCol w="1563762">
                  <a:extLst>
                    <a:ext uri="{9D8B030D-6E8A-4147-A177-3AD203B41FA5}">
                      <a16:colId xmlns:a16="http://schemas.microsoft.com/office/drawing/2014/main" val="197934767"/>
                    </a:ext>
                  </a:extLst>
                </a:gridCol>
              </a:tblGrid>
              <a:tr h="449779">
                <a:tc>
                  <a:txBody>
                    <a:bodyPr/>
                    <a:lstStyle/>
                    <a:p>
                      <a:pPr rtl="0"/>
                      <a:r>
                        <a:rPr lang="ko-KR" altLang="en-US" sz="1000" b="1" dirty="0">
                          <a:solidFill>
                            <a:schemeClr val="bg1"/>
                          </a:solidFill>
                          <a:latin typeface="페이퍼로지 7 Bold" pitchFamily="2" charset="-127"/>
                          <a:ea typeface="페이퍼로지 7 Bold" pitchFamily="2" charset="-127"/>
                        </a:rPr>
                        <a:t>피해 단계</a:t>
                      </a:r>
                    </a:p>
                  </a:txBody>
                  <a:tcPr marL="67990" marR="67990" marT="33995" marB="33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ko-KR" altLang="en-US" sz="1000" b="1" dirty="0">
                          <a:solidFill>
                            <a:schemeClr val="bg1"/>
                          </a:solidFill>
                          <a:latin typeface="페이퍼로지 7 Bold" pitchFamily="2" charset="-127"/>
                          <a:ea typeface="페이퍼로지 7 Bold" pitchFamily="2" charset="-127"/>
                        </a:rPr>
                        <a:t>대표 대응</a:t>
                      </a:r>
                    </a:p>
                  </a:txBody>
                  <a:tcPr marL="67990" marR="67990" marT="33995" marB="33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ko-KR" altLang="en-US" sz="1000" b="1" dirty="0">
                          <a:solidFill>
                            <a:schemeClr val="bg1"/>
                          </a:solidFill>
                          <a:latin typeface="페이퍼로지 7 Bold" pitchFamily="2" charset="-127"/>
                          <a:ea typeface="페이퍼로지 7 Bold" pitchFamily="2" charset="-127"/>
                        </a:rPr>
                        <a:t>주요 </a:t>
                      </a:r>
                      <a:r>
                        <a:rPr lang="en-US" sz="1000" b="1" dirty="0">
                          <a:solidFill>
                            <a:schemeClr val="bg1"/>
                          </a:solidFill>
                          <a:latin typeface="페이퍼로지 7 Bold" pitchFamily="2" charset="-127"/>
                          <a:ea typeface="페이퍼로지 7 Bold" pitchFamily="2" charset="-127"/>
                        </a:rPr>
                        <a:t>Trigger / </a:t>
                      </a:r>
                      <a:r>
                        <a:rPr lang="ko-KR" altLang="en-US" sz="1000" b="1" dirty="0">
                          <a:solidFill>
                            <a:schemeClr val="bg1"/>
                          </a:solidFill>
                          <a:latin typeface="페이퍼로지 7 Bold" pitchFamily="2" charset="-127"/>
                          <a:ea typeface="페이퍼로지 7 Bold" pitchFamily="2" charset="-127"/>
                        </a:rPr>
                        <a:t>정보</a:t>
                      </a:r>
                    </a:p>
                  </a:txBody>
                  <a:tcPr marL="67990" marR="67990" marT="33995" marB="33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ko-KR" altLang="en-US" sz="1000" b="1" dirty="0">
                          <a:solidFill>
                            <a:schemeClr val="bg1"/>
                          </a:solidFill>
                          <a:latin typeface="페이퍼로지 7 Bold" pitchFamily="2" charset="-127"/>
                          <a:ea typeface="페이퍼로지 7 Bold" pitchFamily="2" charset="-127"/>
                        </a:rPr>
                        <a:t>주요 조치</a:t>
                      </a:r>
                    </a:p>
                  </a:txBody>
                  <a:tcPr marL="67990" marR="67990" marT="33995" marB="33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ko-KR" altLang="en-US" sz="1000" b="1" dirty="0">
                          <a:solidFill>
                            <a:schemeClr val="bg1"/>
                          </a:solidFill>
                          <a:latin typeface="페이퍼로지 7 Bold" pitchFamily="2" charset="-127"/>
                          <a:ea typeface="페이퍼로지 7 Bold" pitchFamily="2" charset="-127"/>
                        </a:rPr>
                        <a:t>상태</a:t>
                      </a:r>
                    </a:p>
                  </a:txBody>
                  <a:tcPr marL="67990" marR="67990" marT="33995" marB="33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2088968"/>
                  </a:ext>
                </a:extLst>
              </a:tr>
              <a:tr h="449779">
                <a:tc>
                  <a:txBody>
                    <a:bodyPr/>
                    <a:lstStyle/>
                    <a:p>
                      <a:pPr rtl="0"/>
                      <a:r>
                        <a:rPr lang="ko-KR" altLang="en-US" sz="1000" b="1" dirty="0">
                          <a:latin typeface="페이퍼로지 4 Regular" pitchFamily="2" charset="-127"/>
                          <a:ea typeface="페이퍼로지 4 Regular" pitchFamily="2" charset="-127"/>
                        </a:rPr>
                        <a:t>전화 수신 전</a:t>
                      </a:r>
                      <a:endParaRPr lang="ko-KR" altLang="en-US" sz="1000" dirty="0"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67990" marR="67990" marT="33995" marB="33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ko-KR" altLang="en-US" sz="1000" dirty="0">
                          <a:latin typeface="페이퍼로지 4 Regular" pitchFamily="2" charset="-127"/>
                          <a:ea typeface="페이퍼로지 4 Regular" pitchFamily="2" charset="-127"/>
                        </a:rPr>
                        <a:t>위험번호</a:t>
                      </a:r>
                      <a:r>
                        <a:rPr lang="en-US" altLang="ko-KR" sz="1000" dirty="0">
                          <a:latin typeface="페이퍼로지 4 Regular" pitchFamily="2" charset="-127"/>
                          <a:ea typeface="페이퍼로지 4 Regular" pitchFamily="2" charset="-127"/>
                        </a:rPr>
                        <a:t>·AI </a:t>
                      </a:r>
                      <a:r>
                        <a:rPr lang="ko-KR" altLang="en-US" sz="1000" dirty="0">
                          <a:latin typeface="페이퍼로지 4 Regular" pitchFamily="2" charset="-127"/>
                          <a:ea typeface="페이퍼로지 4 Regular" pitchFamily="2" charset="-127"/>
                        </a:rPr>
                        <a:t>안심차단</a:t>
                      </a:r>
                    </a:p>
                  </a:txBody>
                  <a:tcPr marL="67990" marR="67990" marT="33995" marB="33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ko-KR" altLang="en-US" sz="1000" dirty="0">
                          <a:latin typeface="페이퍼로지 4 Regular" pitchFamily="2" charset="-127"/>
                          <a:ea typeface="페이퍼로지 4 Regular" pitchFamily="2" charset="-127"/>
                        </a:rPr>
                        <a:t>번호</a:t>
                      </a:r>
                      <a:r>
                        <a:rPr lang="en-US" altLang="ko-KR" sz="1000" dirty="0">
                          <a:latin typeface="페이퍼로지 4 Regular" pitchFamily="2" charset="-127"/>
                          <a:ea typeface="페이퍼로지 4 Regular" pitchFamily="2" charset="-127"/>
                        </a:rPr>
                        <a:t>·</a:t>
                      </a:r>
                      <a:r>
                        <a:rPr lang="ko-KR" altLang="en-US" sz="1000" dirty="0">
                          <a:latin typeface="페이퍼로지 4 Regular" pitchFamily="2" charset="-127"/>
                          <a:ea typeface="페이퍼로지 4 Regular" pitchFamily="2" charset="-127"/>
                        </a:rPr>
                        <a:t>신고</a:t>
                      </a:r>
                      <a:r>
                        <a:rPr lang="en-US" altLang="ko-KR" sz="1000" dirty="0">
                          <a:latin typeface="페이퍼로지 4 Regular" pitchFamily="2" charset="-127"/>
                          <a:ea typeface="페이퍼로지 4 Regular" pitchFamily="2" charset="-127"/>
                        </a:rPr>
                        <a:t>·</a:t>
                      </a:r>
                      <a:r>
                        <a:rPr lang="ko-KR" altLang="en-US" sz="1000" dirty="0">
                          <a:latin typeface="페이퍼로지 4 Regular" pitchFamily="2" charset="-127"/>
                          <a:ea typeface="페이퍼로지 4 Regular" pitchFamily="2" charset="-127"/>
                        </a:rPr>
                        <a:t>통신 위험정보</a:t>
                      </a:r>
                    </a:p>
                  </a:txBody>
                  <a:tcPr marL="67990" marR="67990" marT="33995" marB="33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ko-KR" altLang="en-US" sz="1000" dirty="0">
                          <a:latin typeface="페이퍼로지 4 Regular" pitchFamily="2" charset="-127"/>
                          <a:ea typeface="페이퍼로지 4 Regular" pitchFamily="2" charset="-127"/>
                        </a:rPr>
                        <a:t>차단</a:t>
                      </a:r>
                      <a:r>
                        <a:rPr lang="en-US" altLang="ko-KR" sz="1000" dirty="0">
                          <a:latin typeface="페이퍼로지 4 Regular" pitchFamily="2" charset="-127"/>
                          <a:ea typeface="페이퍼로지 4 Regular" pitchFamily="2" charset="-127"/>
                        </a:rPr>
                        <a:t>·</a:t>
                      </a:r>
                      <a:r>
                        <a:rPr lang="ko-KR" altLang="en-US" sz="1000" dirty="0">
                          <a:latin typeface="페이퍼로지 4 Regular" pitchFamily="2" charset="-127"/>
                          <a:ea typeface="페이퍼로지 4 Regular" pitchFamily="2" charset="-127"/>
                        </a:rPr>
                        <a:t>사전경고</a:t>
                      </a:r>
                    </a:p>
                  </a:txBody>
                  <a:tcPr marL="67990" marR="67990" marT="33995" marB="33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ko-KR" altLang="en-US" sz="1000" dirty="0">
                          <a:latin typeface="페이퍼로지 4 Regular" pitchFamily="2" charset="-127"/>
                          <a:ea typeface="페이퍼로지 4 Regular" pitchFamily="2" charset="-127"/>
                        </a:rPr>
                        <a:t>상용</a:t>
                      </a:r>
                    </a:p>
                  </a:txBody>
                  <a:tcPr marL="67990" marR="67990" marT="33995" marB="33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04273225"/>
                  </a:ext>
                </a:extLst>
              </a:tr>
              <a:tr h="449779">
                <a:tc>
                  <a:txBody>
                    <a:bodyPr/>
                    <a:lstStyle/>
                    <a:p>
                      <a:pPr rtl="0"/>
                      <a:r>
                        <a:rPr lang="ko-KR" altLang="en-US" sz="1000" b="1" dirty="0">
                          <a:latin typeface="페이퍼로지 4 Regular" pitchFamily="2" charset="-127"/>
                          <a:ea typeface="페이퍼로지 4 Regular" pitchFamily="2" charset="-127"/>
                        </a:rPr>
                        <a:t>통화 중</a:t>
                      </a:r>
                      <a:endParaRPr lang="ko-KR" altLang="en-US" sz="1000" dirty="0"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67990" marR="67990" marT="33995" marB="33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altLang="ko-KR" sz="1000">
                          <a:latin typeface="페이퍼로지 4 Regular" pitchFamily="2" charset="-127"/>
                          <a:ea typeface="페이퍼로지 4 Regular" pitchFamily="2" charset="-127"/>
                        </a:rPr>
                        <a:t>SKT </a:t>
                      </a:r>
                      <a:r>
                        <a:rPr lang="ko-KR" altLang="en-US" sz="1000">
                          <a:latin typeface="페이퍼로지 4 Regular" pitchFamily="2" charset="-127"/>
                          <a:ea typeface="페이퍼로지 4 Regular" pitchFamily="2" charset="-127"/>
                        </a:rPr>
                        <a:t>에이닷 </a:t>
                      </a:r>
                      <a:r>
                        <a:rPr lang="en-US" altLang="ko-KR" sz="1000">
                          <a:latin typeface="페이퍼로지 4 Regular" pitchFamily="2" charset="-127"/>
                          <a:ea typeface="페이퍼로지 4 Regular" pitchFamily="2" charset="-127"/>
                        </a:rPr>
                        <a:t>/ LG U+ </a:t>
                      </a:r>
                      <a:r>
                        <a:rPr lang="ko-KR" altLang="en-US" sz="1000">
                          <a:latin typeface="페이퍼로지 4 Regular" pitchFamily="2" charset="-127"/>
                          <a:ea typeface="페이퍼로지 4 Regular" pitchFamily="2" charset="-127"/>
                        </a:rPr>
                        <a:t>익시오</a:t>
                      </a:r>
                    </a:p>
                  </a:txBody>
                  <a:tcPr marL="67990" marR="67990" marT="33995" marB="33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ko-KR" altLang="en-US" sz="1000" dirty="0">
                          <a:latin typeface="페이퍼로지 4 Regular" pitchFamily="2" charset="-127"/>
                          <a:ea typeface="페이퍼로지 4 Regular" pitchFamily="2" charset="-127"/>
                        </a:rPr>
                        <a:t>통화내용</a:t>
                      </a:r>
                      <a:r>
                        <a:rPr lang="en-US" altLang="ko-KR" sz="1000" dirty="0">
                          <a:latin typeface="페이퍼로지 4 Regular" pitchFamily="2" charset="-127"/>
                          <a:ea typeface="페이퍼로지 4 Regular" pitchFamily="2" charset="-127"/>
                        </a:rPr>
                        <a:t>·</a:t>
                      </a:r>
                      <a:r>
                        <a:rPr lang="ko-KR" altLang="en-US" sz="1000" dirty="0">
                          <a:latin typeface="페이퍼로지 4 Regular" pitchFamily="2" charset="-127"/>
                          <a:ea typeface="페이퍼로지 4 Regular" pitchFamily="2" charset="-127"/>
                        </a:rPr>
                        <a:t>키워드</a:t>
                      </a:r>
                      <a:r>
                        <a:rPr lang="en-US" altLang="ko-KR" sz="1000" dirty="0">
                          <a:latin typeface="페이퍼로지 4 Regular" pitchFamily="2" charset="-127"/>
                          <a:ea typeface="페이퍼로지 4 Regular" pitchFamily="2" charset="-127"/>
                        </a:rPr>
                        <a:t>·</a:t>
                      </a:r>
                      <a:r>
                        <a:rPr lang="ko-KR" altLang="en-US" sz="1000" dirty="0">
                          <a:latin typeface="페이퍼로지 4 Regular" pitchFamily="2" charset="-127"/>
                          <a:ea typeface="페이퍼로지 4 Regular" pitchFamily="2" charset="-127"/>
                        </a:rPr>
                        <a:t>대화패턴</a:t>
                      </a:r>
                    </a:p>
                  </a:txBody>
                  <a:tcPr marL="67990" marR="67990" marT="33995" marB="33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ko-KR" altLang="en-US" sz="1000">
                          <a:latin typeface="페이퍼로지 4 Regular" pitchFamily="2" charset="-127"/>
                          <a:ea typeface="페이퍼로지 4 Regular" pitchFamily="2" charset="-127"/>
                        </a:rPr>
                        <a:t>실시간 위험경고</a:t>
                      </a:r>
                    </a:p>
                  </a:txBody>
                  <a:tcPr marL="67990" marR="67990" marT="33995" marB="33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ko-KR" altLang="en-US" sz="1000">
                          <a:latin typeface="페이퍼로지 4 Regular" pitchFamily="2" charset="-127"/>
                          <a:ea typeface="페이퍼로지 4 Regular" pitchFamily="2" charset="-127"/>
                        </a:rPr>
                        <a:t>상용</a:t>
                      </a:r>
                    </a:p>
                  </a:txBody>
                  <a:tcPr marL="67990" marR="67990" marT="33995" marB="33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48523604"/>
                  </a:ext>
                </a:extLst>
              </a:tr>
              <a:tr h="449779">
                <a:tc>
                  <a:txBody>
                    <a:bodyPr/>
                    <a:lstStyle/>
                    <a:p>
                      <a:pPr rtl="0"/>
                      <a:r>
                        <a:rPr lang="ko-KR" altLang="en-US" sz="1000" b="1" dirty="0">
                          <a:latin typeface="페이퍼로지 4 Regular" pitchFamily="2" charset="-127"/>
                          <a:ea typeface="페이퍼로지 4 Regular" pitchFamily="2" charset="-127"/>
                        </a:rPr>
                        <a:t>통화 중 제</a:t>
                      </a:r>
                      <a:r>
                        <a:rPr lang="en-US" altLang="ko-KR" sz="1000" b="1" dirty="0">
                          <a:latin typeface="페이퍼로지 4 Regular" pitchFamily="2" charset="-127"/>
                          <a:ea typeface="페이퍼로지 4 Regular" pitchFamily="2" charset="-127"/>
                        </a:rPr>
                        <a:t>3</a:t>
                      </a:r>
                      <a:r>
                        <a:rPr lang="ko-KR" altLang="en-US" sz="1000" b="1" dirty="0">
                          <a:latin typeface="페이퍼로지 4 Regular" pitchFamily="2" charset="-127"/>
                          <a:ea typeface="페이퍼로지 4 Regular" pitchFamily="2" charset="-127"/>
                        </a:rPr>
                        <a:t>자</a:t>
                      </a:r>
                      <a:endParaRPr lang="ko-KR" altLang="en-US" sz="1000" dirty="0"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67990" marR="67990" marT="33995" marB="33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000" dirty="0">
                          <a:latin typeface="페이퍼로지 4 Regular" pitchFamily="2" charset="-127"/>
                          <a:ea typeface="페이퍼로지 4 Regular" pitchFamily="2" charset="-127"/>
                        </a:rPr>
                        <a:t>SKT </a:t>
                      </a:r>
                      <a:r>
                        <a:rPr lang="ko-KR" altLang="en-US" sz="1000" dirty="0">
                          <a:latin typeface="페이퍼로지 4 Regular" pitchFamily="2" charset="-127"/>
                          <a:ea typeface="페이퍼로지 4 Regular" pitchFamily="2" charset="-127"/>
                        </a:rPr>
                        <a:t>가족 케어</a:t>
                      </a:r>
                    </a:p>
                  </a:txBody>
                  <a:tcPr marL="67990" marR="67990" marT="33995" marB="33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altLang="ko-KR" sz="1000" dirty="0">
                          <a:latin typeface="페이퍼로지 4 Regular" pitchFamily="2" charset="-127"/>
                          <a:ea typeface="페이퍼로지 4 Regular" pitchFamily="2" charset="-127"/>
                        </a:rPr>
                        <a:t>AI </a:t>
                      </a:r>
                      <a:r>
                        <a:rPr lang="ko-KR" altLang="en-US" sz="1000" dirty="0">
                          <a:latin typeface="페이퍼로지 4 Regular" pitchFamily="2" charset="-127"/>
                          <a:ea typeface="페이퍼로지 4 Regular" pitchFamily="2" charset="-127"/>
                        </a:rPr>
                        <a:t>보이스피싱 탐지 결과</a:t>
                      </a:r>
                    </a:p>
                  </a:txBody>
                  <a:tcPr marL="67990" marR="67990" marT="33995" marB="33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ko-KR" altLang="en-US" sz="1000" dirty="0">
                          <a:latin typeface="페이퍼로지 4 Regular" pitchFamily="2" charset="-127"/>
                          <a:ea typeface="페이퍼로지 4 Regular" pitchFamily="2" charset="-127"/>
                        </a:rPr>
                        <a:t>가족</a:t>
                      </a:r>
                      <a:r>
                        <a:rPr lang="en-US" altLang="ko-KR" sz="1000" dirty="0">
                          <a:latin typeface="페이퍼로지 4 Regular" pitchFamily="2" charset="-127"/>
                          <a:ea typeface="페이퍼로지 4 Regular" pitchFamily="2" charset="-127"/>
                        </a:rPr>
                        <a:t>·</a:t>
                      </a:r>
                      <a:r>
                        <a:rPr lang="ko-KR" altLang="en-US" sz="1000" dirty="0">
                          <a:latin typeface="페이퍼로지 4 Regular" pitchFamily="2" charset="-127"/>
                          <a:ea typeface="페이퍼로지 4 Regular" pitchFamily="2" charset="-127"/>
                        </a:rPr>
                        <a:t>지인 알림</a:t>
                      </a:r>
                    </a:p>
                  </a:txBody>
                  <a:tcPr marL="67990" marR="67990" marT="33995" marB="33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ko-KR" altLang="en-US" sz="1000" dirty="0">
                          <a:latin typeface="페이퍼로지 4 Regular" pitchFamily="2" charset="-127"/>
                          <a:ea typeface="페이퍼로지 4 Regular" pitchFamily="2" charset="-127"/>
                        </a:rPr>
                        <a:t>상용</a:t>
                      </a:r>
                    </a:p>
                  </a:txBody>
                  <a:tcPr marL="67990" marR="67990" marT="33995" marB="33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5571845"/>
                  </a:ext>
                </a:extLst>
              </a:tr>
              <a:tr h="257017">
                <a:tc>
                  <a:txBody>
                    <a:bodyPr/>
                    <a:lstStyle/>
                    <a:p>
                      <a:pPr rtl="0"/>
                      <a:r>
                        <a:rPr lang="ko-KR" altLang="en-US" sz="1000" b="1" dirty="0">
                          <a:latin typeface="페이퍼로지 4 Regular" pitchFamily="2" charset="-127"/>
                          <a:ea typeface="페이퍼로지 4 Regular" pitchFamily="2" charset="-127"/>
                        </a:rPr>
                        <a:t>음성</a:t>
                      </a:r>
                      <a:r>
                        <a:rPr lang="en-US" altLang="ko-KR" sz="1000" b="1" dirty="0">
                          <a:latin typeface="페이퍼로지 4 Regular" pitchFamily="2" charset="-127"/>
                          <a:ea typeface="페이퍼로지 4 Regular" pitchFamily="2" charset="-127"/>
                        </a:rPr>
                        <a:t>·</a:t>
                      </a:r>
                      <a:r>
                        <a:rPr lang="ko-KR" altLang="en-US" sz="1000" b="1" dirty="0">
                          <a:latin typeface="페이퍼로지 4 Regular" pitchFamily="2" charset="-127"/>
                          <a:ea typeface="페이퍼로지 4 Regular" pitchFamily="2" charset="-127"/>
                        </a:rPr>
                        <a:t>성문 탐지</a:t>
                      </a:r>
                      <a:endParaRPr lang="ko-KR" altLang="en-US" sz="1000" dirty="0"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67990" marR="67990" marT="33995" marB="33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000" dirty="0">
                          <a:latin typeface="페이퍼로지 4 Regular" pitchFamily="2" charset="-127"/>
                          <a:ea typeface="페이퍼로지 4 Regular" pitchFamily="2" charset="-127"/>
                        </a:rPr>
                        <a:t>LG U+·KT </a:t>
                      </a:r>
                      <a:r>
                        <a:rPr lang="ko-KR" altLang="en-US" sz="1000" dirty="0">
                          <a:latin typeface="페이퍼로지 4 Regular" pitchFamily="2" charset="-127"/>
                          <a:ea typeface="페이퍼로지 4 Regular" pitchFamily="2" charset="-127"/>
                        </a:rPr>
                        <a:t>등</a:t>
                      </a:r>
                    </a:p>
                  </a:txBody>
                  <a:tcPr marL="67990" marR="67990" marT="33995" marB="33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ko-KR" altLang="en-US" sz="1000" dirty="0">
                          <a:latin typeface="페이퍼로지 4 Regular" pitchFamily="2" charset="-127"/>
                          <a:ea typeface="페이퍼로지 4 Regular" pitchFamily="2" charset="-127"/>
                        </a:rPr>
                        <a:t>성문</a:t>
                      </a:r>
                      <a:r>
                        <a:rPr lang="en-US" altLang="ko-KR" sz="1000" dirty="0">
                          <a:latin typeface="페이퍼로지 4 Regular" pitchFamily="2" charset="-127"/>
                          <a:ea typeface="페이퍼로지 4 Regular" pitchFamily="2" charset="-127"/>
                        </a:rPr>
                        <a:t>·</a:t>
                      </a:r>
                      <a:r>
                        <a:rPr lang="ko-KR" altLang="en-US" sz="1000" dirty="0">
                          <a:latin typeface="페이퍼로지 4 Regular" pitchFamily="2" charset="-127"/>
                          <a:ea typeface="페이퍼로지 4 Regular" pitchFamily="2" charset="-127"/>
                        </a:rPr>
                        <a:t>음성 유사도</a:t>
                      </a:r>
                    </a:p>
                  </a:txBody>
                  <a:tcPr marL="67990" marR="67990" marT="33995" marB="33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ko-KR" altLang="en-US" sz="1000" dirty="0">
                          <a:latin typeface="페이퍼로지 4 Regular" pitchFamily="2" charset="-127"/>
                          <a:ea typeface="페이퍼로지 4 Regular" pitchFamily="2" charset="-127"/>
                        </a:rPr>
                        <a:t>탐지 정확도 보조</a:t>
                      </a:r>
                    </a:p>
                  </a:txBody>
                  <a:tcPr marL="67990" marR="67990" marT="33995" marB="33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ko-KR" altLang="en-US" sz="1000" dirty="0">
                          <a:latin typeface="페이퍼로지 4 Regular" pitchFamily="2" charset="-127"/>
                          <a:ea typeface="페이퍼로지 4 Regular" pitchFamily="2" charset="-127"/>
                        </a:rPr>
                        <a:t>실증</a:t>
                      </a:r>
                      <a:r>
                        <a:rPr lang="en-US" altLang="ko-KR" sz="1000" dirty="0">
                          <a:latin typeface="페이퍼로지 4 Regular" pitchFamily="2" charset="-127"/>
                          <a:ea typeface="페이퍼로지 4 Regular" pitchFamily="2" charset="-127"/>
                        </a:rPr>
                        <a:t>·</a:t>
                      </a:r>
                      <a:r>
                        <a:rPr lang="ko-KR" altLang="en-US" sz="1000" dirty="0">
                          <a:latin typeface="페이퍼로지 4 Regular" pitchFamily="2" charset="-127"/>
                          <a:ea typeface="페이퍼로지 4 Regular" pitchFamily="2" charset="-127"/>
                        </a:rPr>
                        <a:t>고도화 포함</a:t>
                      </a:r>
                    </a:p>
                  </a:txBody>
                  <a:tcPr marL="67990" marR="67990" marT="33995" marB="33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46506201"/>
                  </a:ext>
                </a:extLst>
              </a:tr>
              <a:tr h="449779">
                <a:tc>
                  <a:txBody>
                    <a:bodyPr/>
                    <a:lstStyle/>
                    <a:p>
                      <a:pPr rtl="0"/>
                      <a:r>
                        <a:rPr lang="ko-KR" altLang="en-US" sz="1000" b="1">
                          <a:latin typeface="페이퍼로지 4 Regular" pitchFamily="2" charset="-127"/>
                          <a:ea typeface="페이퍼로지 4 Regular" pitchFamily="2" charset="-127"/>
                        </a:rPr>
                        <a:t>통신 → 금융 연계</a:t>
                      </a:r>
                      <a:endParaRPr lang="ko-KR" altLang="en-US" sz="1000"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67990" marR="67990" marT="33995" marB="33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000" dirty="0">
                          <a:latin typeface="페이퍼로지 4 Regular" pitchFamily="2" charset="-127"/>
                          <a:ea typeface="페이퍼로지 4 Regular" pitchFamily="2" charset="-127"/>
                        </a:rPr>
                        <a:t>LG U+ × KB</a:t>
                      </a:r>
                      <a:r>
                        <a:rPr lang="ko-KR" altLang="en-US" sz="1000" dirty="0">
                          <a:latin typeface="페이퍼로지 4 Regular" pitchFamily="2" charset="-127"/>
                          <a:ea typeface="페이퍼로지 4 Regular" pitchFamily="2" charset="-127"/>
                        </a:rPr>
                        <a:t>국민은행</a:t>
                      </a:r>
                    </a:p>
                  </a:txBody>
                  <a:tcPr marL="67990" marR="67990" marT="33995" marB="33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ko-KR" altLang="en-US" sz="1000" dirty="0">
                          <a:latin typeface="페이퍼로지 4 Regular" pitchFamily="2" charset="-127"/>
                          <a:ea typeface="페이퍼로지 4 Regular" pitchFamily="2" charset="-127"/>
                        </a:rPr>
                        <a:t>피싱 의심정보</a:t>
                      </a:r>
                      <a:r>
                        <a:rPr lang="en-US" altLang="ko-KR" sz="1000" dirty="0">
                          <a:latin typeface="페이퍼로지 4 Regular" pitchFamily="2" charset="-127"/>
                          <a:ea typeface="페이퍼로지 4 Regular" pitchFamily="2" charset="-127"/>
                        </a:rPr>
                        <a:t>·</a:t>
                      </a:r>
                      <a:r>
                        <a:rPr lang="ko-KR" altLang="en-US" sz="1000" dirty="0">
                          <a:latin typeface="페이퍼로지 4 Regular" pitchFamily="2" charset="-127"/>
                          <a:ea typeface="페이퍼로지 4 Regular" pitchFamily="2" charset="-127"/>
                        </a:rPr>
                        <a:t>악성앱</a:t>
                      </a:r>
                      <a:r>
                        <a:rPr lang="en-US" altLang="ko-KR" sz="1000" dirty="0">
                          <a:latin typeface="페이퍼로지 4 Regular" pitchFamily="2" charset="-127"/>
                          <a:ea typeface="페이퍼로지 4 Regular" pitchFamily="2" charset="-127"/>
                        </a:rPr>
                        <a:t>·</a:t>
                      </a:r>
                      <a:r>
                        <a:rPr lang="ko-KR" altLang="en-US" sz="1000" dirty="0">
                          <a:latin typeface="페이퍼로지 4 Regular" pitchFamily="2" charset="-127"/>
                          <a:ea typeface="페이퍼로지 4 Regular" pitchFamily="2" charset="-127"/>
                        </a:rPr>
                        <a:t>위험 </a:t>
                      </a:r>
                      <a:r>
                        <a:rPr lang="en-US" altLang="ko-KR" sz="1000" dirty="0">
                          <a:latin typeface="페이퍼로지 4 Regular" pitchFamily="2" charset="-127"/>
                          <a:ea typeface="페이퍼로지 4 Regular" pitchFamily="2" charset="-127"/>
                        </a:rPr>
                        <a:t>URL</a:t>
                      </a:r>
                    </a:p>
                  </a:txBody>
                  <a:tcPr marL="67990" marR="67990" marT="33995" marB="33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ko-KR" altLang="en-US" sz="1000">
                          <a:latin typeface="페이퍼로지 4 Regular" pitchFamily="2" charset="-127"/>
                          <a:ea typeface="페이퍼로지 4 Regular" pitchFamily="2" charset="-127"/>
                        </a:rPr>
                        <a:t>금융보호 시스템 연계</a:t>
                      </a:r>
                    </a:p>
                  </a:txBody>
                  <a:tcPr marL="67990" marR="67990" marT="33995" marB="33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ko-KR" altLang="en-US" sz="1000" dirty="0">
                          <a:latin typeface="페이퍼로지 4 Regular" pitchFamily="2" charset="-127"/>
                          <a:ea typeface="페이퍼로지 4 Regular" pitchFamily="2" charset="-127"/>
                        </a:rPr>
                        <a:t>업무협약</a:t>
                      </a:r>
                      <a:r>
                        <a:rPr lang="en-US" altLang="ko-KR" sz="1000" dirty="0">
                          <a:latin typeface="페이퍼로지 4 Regular" pitchFamily="2" charset="-127"/>
                          <a:ea typeface="페이퍼로지 4 Regular" pitchFamily="2" charset="-127"/>
                        </a:rPr>
                        <a:t>·</a:t>
                      </a:r>
                      <a:r>
                        <a:rPr lang="ko-KR" altLang="en-US" sz="1000" dirty="0">
                          <a:latin typeface="페이퍼로지 4 Regular" pitchFamily="2" charset="-127"/>
                          <a:ea typeface="페이퍼로지 4 Regular" pitchFamily="2" charset="-127"/>
                        </a:rPr>
                        <a:t>추진</a:t>
                      </a:r>
                    </a:p>
                  </a:txBody>
                  <a:tcPr marL="67990" marR="67990" marT="33995" marB="33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6979364"/>
                  </a:ext>
                </a:extLst>
              </a:tr>
              <a:tr h="449779">
                <a:tc>
                  <a:txBody>
                    <a:bodyPr/>
                    <a:lstStyle/>
                    <a:p>
                      <a:pPr rtl="0"/>
                      <a:r>
                        <a:rPr lang="ko-KR" altLang="en-US" sz="1000" b="1" dirty="0">
                          <a:latin typeface="페이퍼로지 4 Regular" pitchFamily="2" charset="-127"/>
                          <a:ea typeface="페이퍼로지 4 Regular" pitchFamily="2" charset="-127"/>
                        </a:rPr>
                        <a:t>금융거래</a:t>
                      </a:r>
                      <a:endParaRPr lang="ko-KR" altLang="en-US" sz="1000" dirty="0"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67990" marR="67990" marT="33995" marB="33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000" dirty="0">
                          <a:latin typeface="페이퍼로지 4 Regular" pitchFamily="2" charset="-127"/>
                          <a:ea typeface="페이퍼로지 4 Regular" pitchFamily="2" charset="-127"/>
                        </a:rPr>
                        <a:t>FDS</a:t>
                      </a:r>
                    </a:p>
                  </a:txBody>
                  <a:tcPr marL="67990" marR="67990" marT="33995" marB="33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ko-KR" altLang="en-US" sz="1000" dirty="0">
                          <a:latin typeface="페이퍼로지 4 Regular" pitchFamily="2" charset="-127"/>
                          <a:ea typeface="페이퍼로지 4 Regular" pitchFamily="2" charset="-127"/>
                        </a:rPr>
                        <a:t>접속정보</a:t>
                      </a:r>
                      <a:r>
                        <a:rPr lang="en-US" altLang="ko-KR" sz="1000" dirty="0">
                          <a:latin typeface="페이퍼로지 4 Regular" pitchFamily="2" charset="-127"/>
                          <a:ea typeface="페이퍼로지 4 Regular" pitchFamily="2" charset="-127"/>
                        </a:rPr>
                        <a:t>·</a:t>
                      </a:r>
                      <a:r>
                        <a:rPr lang="ko-KR" altLang="en-US" sz="1000" dirty="0">
                          <a:latin typeface="페이퍼로지 4 Regular" pitchFamily="2" charset="-127"/>
                          <a:ea typeface="페이퍼로지 4 Regular" pitchFamily="2" charset="-127"/>
                        </a:rPr>
                        <a:t>거래내역</a:t>
                      </a:r>
                      <a:r>
                        <a:rPr lang="en-US" altLang="ko-KR" sz="1000" dirty="0">
                          <a:latin typeface="페이퍼로지 4 Regular" pitchFamily="2" charset="-127"/>
                          <a:ea typeface="페이퍼로지 4 Regular" pitchFamily="2" charset="-127"/>
                        </a:rPr>
                        <a:t>·</a:t>
                      </a:r>
                      <a:r>
                        <a:rPr lang="ko-KR" altLang="en-US" sz="1000" dirty="0">
                          <a:latin typeface="페이퍼로지 4 Regular" pitchFamily="2" charset="-127"/>
                          <a:ea typeface="페이퍼로지 4 Regular" pitchFamily="2" charset="-127"/>
                        </a:rPr>
                        <a:t>이상패턴</a:t>
                      </a:r>
                    </a:p>
                  </a:txBody>
                  <a:tcPr marL="67990" marR="67990" marT="33995" marB="33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ko-KR" altLang="en-US" sz="1000" dirty="0">
                          <a:latin typeface="페이퍼로지 4 Regular" pitchFamily="2" charset="-127"/>
                          <a:ea typeface="페이퍼로지 4 Regular" pitchFamily="2" charset="-127"/>
                        </a:rPr>
                        <a:t>탐지</a:t>
                      </a:r>
                      <a:r>
                        <a:rPr lang="en-US" altLang="ko-KR" sz="1000" dirty="0">
                          <a:latin typeface="페이퍼로지 4 Regular" pitchFamily="2" charset="-127"/>
                          <a:ea typeface="페이퍼로지 4 Regular" pitchFamily="2" charset="-127"/>
                        </a:rPr>
                        <a:t>·</a:t>
                      </a:r>
                      <a:r>
                        <a:rPr lang="ko-KR" altLang="en-US" sz="1000" dirty="0">
                          <a:latin typeface="페이퍼로지 4 Regular" pitchFamily="2" charset="-127"/>
                          <a:ea typeface="페이퍼로지 4 Regular" pitchFamily="2" charset="-127"/>
                        </a:rPr>
                        <a:t>거래제한</a:t>
                      </a:r>
                    </a:p>
                  </a:txBody>
                  <a:tcPr marL="67990" marR="67990" marT="33995" marB="33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ko-KR" altLang="en-US" sz="1000" dirty="0">
                          <a:latin typeface="페이퍼로지 4 Regular" pitchFamily="2" charset="-127"/>
                          <a:ea typeface="페이퍼로지 4 Regular" pitchFamily="2" charset="-127"/>
                        </a:rPr>
                        <a:t>운영</a:t>
                      </a:r>
                    </a:p>
                  </a:txBody>
                  <a:tcPr marL="67990" marR="67990" marT="33995" marB="33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36679651"/>
                  </a:ext>
                </a:extLst>
              </a:tr>
              <a:tr h="449779">
                <a:tc>
                  <a:txBody>
                    <a:bodyPr/>
                    <a:lstStyle/>
                    <a:p>
                      <a:pPr rtl="0"/>
                      <a:r>
                        <a:rPr lang="ko-KR" altLang="en-US" sz="1000" b="1" dirty="0">
                          <a:latin typeface="페이퍼로지 4 Regular" pitchFamily="2" charset="-127"/>
                          <a:ea typeface="페이퍼로지 4 Regular" pitchFamily="2" charset="-127"/>
                        </a:rPr>
                        <a:t>위험정보 공유</a:t>
                      </a:r>
                      <a:endParaRPr lang="ko-KR" altLang="en-US" sz="1000" dirty="0"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67990" marR="67990" marT="33995" marB="33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000" dirty="0">
                          <a:latin typeface="페이퍼로지 4 Regular" pitchFamily="2" charset="-127"/>
                          <a:ea typeface="페이퍼로지 4 Regular" pitchFamily="2" charset="-127"/>
                        </a:rPr>
                        <a:t>ASAP + FDS</a:t>
                      </a:r>
                    </a:p>
                  </a:txBody>
                  <a:tcPr marL="67990" marR="67990" marT="33995" marB="33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ko-KR" altLang="en-US" sz="1000" dirty="0">
                          <a:latin typeface="페이퍼로지 4 Regular" pitchFamily="2" charset="-127"/>
                          <a:ea typeface="페이퍼로지 4 Regular" pitchFamily="2" charset="-127"/>
                        </a:rPr>
                        <a:t>금융</a:t>
                      </a:r>
                      <a:r>
                        <a:rPr lang="en-US" altLang="ko-KR" sz="1000" dirty="0">
                          <a:latin typeface="페이퍼로지 4 Regular" pitchFamily="2" charset="-127"/>
                          <a:ea typeface="페이퍼로지 4 Regular" pitchFamily="2" charset="-127"/>
                        </a:rPr>
                        <a:t>·</a:t>
                      </a:r>
                      <a:r>
                        <a:rPr lang="ko-KR" altLang="en-US" sz="1000" dirty="0">
                          <a:latin typeface="페이퍼로지 4 Regular" pitchFamily="2" charset="-127"/>
                          <a:ea typeface="페이퍼로지 4 Regular" pitchFamily="2" charset="-127"/>
                        </a:rPr>
                        <a:t>통신</a:t>
                      </a:r>
                      <a:r>
                        <a:rPr lang="en-US" altLang="ko-KR" sz="1000" dirty="0">
                          <a:latin typeface="페이퍼로지 4 Regular" pitchFamily="2" charset="-127"/>
                          <a:ea typeface="페이퍼로지 4 Regular" pitchFamily="2" charset="-127"/>
                        </a:rPr>
                        <a:t>·</a:t>
                      </a:r>
                      <a:r>
                        <a:rPr lang="ko-KR" altLang="en-US" sz="1000" dirty="0">
                          <a:latin typeface="페이퍼로지 4 Regular" pitchFamily="2" charset="-127"/>
                          <a:ea typeface="페이퍼로지 4 Regular" pitchFamily="2" charset="-127"/>
                        </a:rPr>
                        <a:t>수사 위험정보</a:t>
                      </a:r>
                    </a:p>
                  </a:txBody>
                  <a:tcPr marL="67990" marR="67990" marT="33995" marB="33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ko-KR" altLang="en-US" sz="1000" dirty="0">
                          <a:latin typeface="페이퍼로지 4 Regular" pitchFamily="2" charset="-127"/>
                          <a:ea typeface="페이퍼로지 4 Regular" pitchFamily="2" charset="-127"/>
                        </a:rPr>
                        <a:t>지급정지</a:t>
                      </a:r>
                      <a:r>
                        <a:rPr lang="en-US" altLang="ko-KR" sz="1000" dirty="0">
                          <a:latin typeface="페이퍼로지 4 Regular" pitchFamily="2" charset="-127"/>
                          <a:ea typeface="페이퍼로지 4 Regular" pitchFamily="2" charset="-127"/>
                        </a:rPr>
                        <a:t>·</a:t>
                      </a:r>
                      <a:r>
                        <a:rPr lang="ko-KR" altLang="en-US" sz="1000" dirty="0">
                          <a:latin typeface="페이퍼로지 4 Regular" pitchFamily="2" charset="-127"/>
                          <a:ea typeface="페이퍼로지 4 Regular" pitchFamily="2" charset="-127"/>
                        </a:rPr>
                        <a:t>거래개입</a:t>
                      </a:r>
                    </a:p>
                  </a:txBody>
                  <a:tcPr marL="67990" marR="67990" marT="33995" marB="33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ko-KR" altLang="en-US" sz="1000" dirty="0">
                          <a:latin typeface="페이퍼로지 4 Regular" pitchFamily="2" charset="-127"/>
                          <a:ea typeface="페이퍼로지 4 Regular" pitchFamily="2" charset="-127"/>
                        </a:rPr>
                        <a:t>운영</a:t>
                      </a:r>
                      <a:r>
                        <a:rPr lang="en-US" altLang="ko-KR" sz="1000" dirty="0">
                          <a:latin typeface="페이퍼로지 4 Regular" pitchFamily="2" charset="-127"/>
                          <a:ea typeface="페이퍼로지 4 Regular" pitchFamily="2" charset="-127"/>
                        </a:rPr>
                        <a:t>·</a:t>
                      </a:r>
                      <a:r>
                        <a:rPr lang="ko-KR" altLang="en-US" sz="1000" dirty="0">
                          <a:latin typeface="페이퍼로지 4 Regular" pitchFamily="2" charset="-127"/>
                          <a:ea typeface="페이퍼로지 4 Regular" pitchFamily="2" charset="-127"/>
                        </a:rPr>
                        <a:t>고도화</a:t>
                      </a:r>
                    </a:p>
                  </a:txBody>
                  <a:tcPr marL="67990" marR="67990" marT="33995" marB="33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6591523"/>
                  </a:ext>
                </a:extLst>
              </a:tr>
              <a:tr h="449779">
                <a:tc>
                  <a:txBody>
                    <a:bodyPr/>
                    <a:lstStyle/>
                    <a:p>
                      <a:pPr rtl="0"/>
                      <a:r>
                        <a:rPr lang="ko-KR" altLang="en-US" sz="1000" b="1">
                          <a:latin typeface="페이퍼로지 4 Regular" pitchFamily="2" charset="-127"/>
                          <a:ea typeface="페이퍼로지 4 Regular" pitchFamily="2" charset="-127"/>
                        </a:rPr>
                        <a:t>송금 단계</a:t>
                      </a:r>
                      <a:endParaRPr lang="ko-KR" altLang="en-US" sz="1000"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67990" marR="67990" marT="33995" marB="33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ko-KR" altLang="en-US" sz="1000" dirty="0">
                          <a:latin typeface="페이퍼로지 4 Regular" pitchFamily="2" charset="-127"/>
                          <a:ea typeface="페이퍼로지 4 Regular" pitchFamily="2" charset="-127"/>
                        </a:rPr>
                        <a:t>지연이체</a:t>
                      </a:r>
                      <a:r>
                        <a:rPr lang="en-US" altLang="ko-KR" sz="1000" dirty="0">
                          <a:latin typeface="페이퍼로지 4 Regular" pitchFamily="2" charset="-127"/>
                          <a:ea typeface="페이퍼로지 4 Regular" pitchFamily="2" charset="-127"/>
                        </a:rPr>
                        <a:t>·</a:t>
                      </a:r>
                      <a:r>
                        <a:rPr lang="en-US" sz="1000" dirty="0">
                          <a:latin typeface="페이퍼로지 4 Regular" pitchFamily="2" charset="-127"/>
                          <a:ea typeface="페이퍼로지 4 Regular" pitchFamily="2" charset="-127"/>
                        </a:rPr>
                        <a:t>FDS Rule</a:t>
                      </a:r>
                    </a:p>
                  </a:txBody>
                  <a:tcPr marL="67990" marR="67990" marT="33995" marB="33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ko-KR" altLang="en-US" sz="1000" dirty="0">
                          <a:latin typeface="페이퍼로지 4 Regular" pitchFamily="2" charset="-127"/>
                          <a:ea typeface="페이퍼로지 4 Regular" pitchFamily="2" charset="-127"/>
                        </a:rPr>
                        <a:t>사전 설정 또는 위험정보</a:t>
                      </a:r>
                    </a:p>
                  </a:txBody>
                  <a:tcPr marL="67990" marR="67990" marT="33995" marB="33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ko-KR" altLang="en-US" sz="1000" dirty="0">
                          <a:latin typeface="페이퍼로지 4 Regular" pitchFamily="2" charset="-127"/>
                          <a:ea typeface="페이퍼로지 4 Regular" pitchFamily="2" charset="-127"/>
                        </a:rPr>
                        <a:t>거래지연</a:t>
                      </a:r>
                      <a:r>
                        <a:rPr lang="en-US" altLang="ko-KR" sz="1000" dirty="0">
                          <a:latin typeface="페이퍼로지 4 Regular" pitchFamily="2" charset="-127"/>
                          <a:ea typeface="페이퍼로지 4 Regular" pitchFamily="2" charset="-127"/>
                        </a:rPr>
                        <a:t>·</a:t>
                      </a:r>
                      <a:r>
                        <a:rPr lang="ko-KR" altLang="en-US" sz="1000" dirty="0">
                          <a:latin typeface="페이퍼로지 4 Regular" pitchFamily="2" charset="-127"/>
                          <a:ea typeface="페이퍼로지 4 Regular" pitchFamily="2" charset="-127"/>
                        </a:rPr>
                        <a:t>중단</a:t>
                      </a:r>
                    </a:p>
                  </a:txBody>
                  <a:tcPr marL="67990" marR="67990" marT="33995" marB="33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ko-KR" altLang="en-US" sz="1000">
                          <a:latin typeface="페이퍼로지 4 Regular" pitchFamily="2" charset="-127"/>
                          <a:ea typeface="페이퍼로지 4 Regular" pitchFamily="2" charset="-127"/>
                        </a:rPr>
                        <a:t>운영</a:t>
                      </a:r>
                    </a:p>
                  </a:txBody>
                  <a:tcPr marL="67990" marR="67990" marT="33995" marB="33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8597177"/>
                  </a:ext>
                </a:extLst>
              </a:tr>
              <a:tr h="257017">
                <a:tc>
                  <a:txBody>
                    <a:bodyPr/>
                    <a:lstStyle/>
                    <a:p>
                      <a:pPr rtl="0"/>
                      <a:r>
                        <a:rPr lang="ko-KR" altLang="en-US" sz="1000" b="1" dirty="0">
                          <a:latin typeface="페이퍼로지 4 Regular" pitchFamily="2" charset="-127"/>
                          <a:ea typeface="페이퍼로지 4 Regular" pitchFamily="2" charset="-127"/>
                        </a:rPr>
                        <a:t>피해 이후</a:t>
                      </a:r>
                      <a:endParaRPr lang="ko-KR" altLang="en-US" sz="1000" dirty="0"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67990" marR="67990" marT="33995" marB="33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ko-KR" altLang="en-US" sz="1000" dirty="0">
                          <a:latin typeface="페이퍼로지 4 Regular" pitchFamily="2" charset="-127"/>
                          <a:ea typeface="페이퍼로지 4 Regular" pitchFamily="2" charset="-127"/>
                        </a:rPr>
                        <a:t>지급정지</a:t>
                      </a:r>
                      <a:r>
                        <a:rPr lang="en-US" altLang="ko-KR" sz="1000" dirty="0">
                          <a:latin typeface="페이퍼로지 4 Regular" pitchFamily="2" charset="-127"/>
                          <a:ea typeface="페이퍼로지 4 Regular" pitchFamily="2" charset="-127"/>
                        </a:rPr>
                        <a:t>·</a:t>
                      </a:r>
                      <a:r>
                        <a:rPr lang="ko-KR" altLang="en-US" sz="1000" dirty="0">
                          <a:latin typeface="페이퍼로지 4 Regular" pitchFamily="2" charset="-127"/>
                          <a:ea typeface="페이퍼로지 4 Regular" pitchFamily="2" charset="-127"/>
                        </a:rPr>
                        <a:t>피해환급</a:t>
                      </a:r>
                    </a:p>
                  </a:txBody>
                  <a:tcPr marL="67990" marR="67990" marT="33995" marB="33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ko-KR" altLang="en-US" sz="1000" dirty="0">
                          <a:latin typeface="페이퍼로지 4 Regular" pitchFamily="2" charset="-127"/>
                          <a:ea typeface="페이퍼로지 4 Regular" pitchFamily="2" charset="-127"/>
                        </a:rPr>
                        <a:t>피해신고</a:t>
                      </a:r>
                    </a:p>
                  </a:txBody>
                  <a:tcPr marL="67990" marR="67990" marT="33995" marB="33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ko-KR" altLang="en-US" sz="1000" dirty="0">
                          <a:latin typeface="페이퍼로지 4 Regular" pitchFamily="2" charset="-127"/>
                          <a:ea typeface="페이퍼로지 4 Regular" pitchFamily="2" charset="-127"/>
                        </a:rPr>
                        <a:t>사후 피해구제</a:t>
                      </a:r>
                    </a:p>
                  </a:txBody>
                  <a:tcPr marL="67990" marR="67990" marT="33995" marB="33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ko-KR" altLang="en-US" sz="1000" dirty="0">
                          <a:latin typeface="페이퍼로지 4 Regular" pitchFamily="2" charset="-127"/>
                          <a:ea typeface="페이퍼로지 4 Regular" pitchFamily="2" charset="-127"/>
                        </a:rPr>
                        <a:t>운영</a:t>
                      </a:r>
                    </a:p>
                  </a:txBody>
                  <a:tcPr marL="67990" marR="67990" marT="33995" marB="33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71975689"/>
                  </a:ext>
                </a:extLst>
              </a:tr>
            </a:tbl>
          </a:graphicData>
        </a:graphic>
      </p:graphicFrame>
      <p:sp>
        <p:nvSpPr>
          <p:cNvPr id="6" name="Rectangle 5">
            <a:extLst>
              <a:ext uri="{FF2B5EF4-FFF2-40B4-BE49-F238E27FC236}">
                <a16:creationId xmlns:a16="http://schemas.microsoft.com/office/drawing/2014/main" id="{A69250FB-21EB-481E-8E37-E1DB3FD01FE7}"/>
              </a:ext>
            </a:extLst>
          </p:cNvPr>
          <p:cNvSpPr/>
          <p:nvPr/>
        </p:nvSpPr>
        <p:spPr>
          <a:xfrm>
            <a:off x="8448294" y="2047875"/>
            <a:ext cx="3400806" cy="4112266"/>
          </a:xfrm>
          <a:prstGeom prst="rect">
            <a:avLst/>
          </a:prstGeom>
          <a:solidFill>
            <a:schemeClr val="bg1"/>
          </a:solidFill>
          <a:ln w="12700">
            <a:solidFill>
              <a:srgbClr val="0E2746"/>
            </a:solidFill>
            <a:prstDash val="solid"/>
          </a:ln>
        </p:spPr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페이퍼로지 7 Bold" pitchFamily="2" charset="-127"/>
                <a:ea typeface="페이퍼로지 7 Bold" pitchFamily="2" charset="-127"/>
              </a:rPr>
              <a:t>전화 수신 전</a:t>
            </a:r>
            <a:endParaRPr kumimoji="0" lang="ko-KR" altLang="ko-KR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페이퍼로지 7 Bold" pitchFamily="2" charset="-127"/>
              <a:ea typeface="페이퍼로지 7 Bold" pitchFamily="2" charset="-127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페이퍼로지 7 Bold" pitchFamily="2" charset="-127"/>
                <a:ea typeface="페이퍼로지 7 Bold" pitchFamily="2" charset="-127"/>
              </a:rPr>
              <a:t>위험번호 / AI 안심차단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페이퍼로지 7 Bold" pitchFamily="2" charset="-127"/>
                <a:ea typeface="페이퍼로지 7 Bold" pitchFamily="2" charset="-127"/>
              </a:rPr>
              <a:t>↓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페이퍼로지 7 Bold" pitchFamily="2" charset="-127"/>
                <a:ea typeface="페이퍼로지 7 Bold" pitchFamily="2" charset="-127"/>
              </a:rPr>
              <a:t>번호·통신 위험정보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페이퍼로지 7 Bold" pitchFamily="2" charset="-127"/>
                <a:ea typeface="페이퍼로지 7 Bold" pitchFamily="2" charset="-127"/>
              </a:rPr>
              <a:t>↓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페이퍼로지 7 Bold" pitchFamily="2" charset="-127"/>
                <a:ea typeface="페이퍼로지 7 Bold" pitchFamily="2" charset="-127"/>
              </a:rPr>
              <a:t>통화 중</a:t>
            </a:r>
            <a:endParaRPr kumimoji="0" lang="ko-KR" altLang="ko-KR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페이퍼로지 7 Bold" pitchFamily="2" charset="-127"/>
              <a:ea typeface="페이퍼로지 7 Bold" pitchFamily="2" charset="-127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페이퍼로지 7 Bold" pitchFamily="2" charset="-127"/>
                <a:ea typeface="페이퍼로지 7 Bold" pitchFamily="2" charset="-127"/>
              </a:rPr>
              <a:t>SKT 에이닷 / LG U+ 익시오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페이퍼로지 7 Bold" pitchFamily="2" charset="-127"/>
                <a:ea typeface="페이퍼로지 7 Bold" pitchFamily="2" charset="-127"/>
              </a:rPr>
              <a:t>↓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페이퍼로지 7 Bold" pitchFamily="2" charset="-127"/>
                <a:ea typeface="페이퍼로지 7 Bold" pitchFamily="2" charset="-127"/>
              </a:rPr>
              <a:t>통화내용·대화패턴 AI 분석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페이퍼로지 7 Bold" pitchFamily="2" charset="-127"/>
                <a:ea typeface="페이퍼로지 7 Bold" pitchFamily="2" charset="-127"/>
              </a:rPr>
              <a:t>↓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페이퍼로지 7 Bold" pitchFamily="2" charset="-127"/>
                <a:ea typeface="페이퍼로지 7 Bold" pitchFamily="2" charset="-127"/>
              </a:rPr>
              <a:t>사용자 경고 / 일부 가족·지인 알림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페이퍼로지 7 Bold" pitchFamily="2" charset="-127"/>
                <a:ea typeface="페이퍼로지 7 Bold" pitchFamily="2" charset="-127"/>
              </a:rPr>
              <a:t>↓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페이퍼로지 7 Bold" pitchFamily="2" charset="-127"/>
                <a:ea typeface="페이퍼로지 7 Bold" pitchFamily="2" charset="-127"/>
              </a:rPr>
              <a:t>금융행동·송금</a:t>
            </a:r>
            <a:endParaRPr kumimoji="0" lang="ko-KR" altLang="ko-KR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페이퍼로지 7 Bold" pitchFamily="2" charset="-127"/>
              <a:ea typeface="페이퍼로지 7 Bold" pitchFamily="2" charset="-127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페이퍼로지 7 Bold" pitchFamily="2" charset="-127"/>
                <a:ea typeface="페이퍼로지 7 Bold" pitchFamily="2" charset="-127"/>
              </a:rPr>
              <a:t>ASAP + FDS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페이퍼로지 7 Bold" pitchFamily="2" charset="-127"/>
                <a:ea typeface="페이퍼로지 7 Bold" pitchFamily="2" charset="-127"/>
              </a:rPr>
              <a:t>↓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페이퍼로지 7 Bold" pitchFamily="2" charset="-127"/>
                <a:ea typeface="페이퍼로지 7 Bold" pitchFamily="2" charset="-127"/>
              </a:rPr>
              <a:t>계좌·거래·통신·수사 Risk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페이퍼로지 7 Bold" pitchFamily="2" charset="-127"/>
                <a:ea typeface="페이퍼로지 7 Bold" pitchFamily="2" charset="-127"/>
              </a:rPr>
              <a:t>↓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페이퍼로지 7 Bold" pitchFamily="2" charset="-127"/>
                <a:ea typeface="페이퍼로지 7 Bold" pitchFamily="2" charset="-127"/>
              </a:rPr>
              <a:t>추가확인 / 거래지연 / 지급정지 / 거래중단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페이퍼로지 7 Bold" pitchFamily="2" charset="-127"/>
                <a:ea typeface="페이퍼로지 7 Bold" pitchFamily="2" charset="-127"/>
              </a:rPr>
              <a:t>↓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페이퍼로지 7 Bold" pitchFamily="2" charset="-127"/>
                <a:ea typeface="페이퍼로지 7 Bold" pitchFamily="2" charset="-127"/>
              </a:rPr>
              <a:t>피해 이후</a:t>
            </a:r>
            <a:endParaRPr kumimoji="0" lang="ko-KR" altLang="ko-KR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페이퍼로지 7 Bold" pitchFamily="2" charset="-127"/>
              <a:ea typeface="페이퍼로지 7 Bold" pitchFamily="2" charset="-127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페이퍼로지 7 Bold" pitchFamily="2" charset="-127"/>
                <a:ea typeface="페이퍼로지 7 Bold" pitchFamily="2" charset="-127"/>
              </a:rPr>
              <a:t>신고 / 지급정지 / 피해환급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B88EB88-DB0A-466C-9B94-80BDD4D750EB}"/>
              </a:ext>
            </a:extLst>
          </p:cNvPr>
          <p:cNvSpPr/>
          <p:nvPr/>
        </p:nvSpPr>
        <p:spPr>
          <a:xfrm>
            <a:off x="8283702" y="2417984"/>
            <a:ext cx="2762250" cy="2611567"/>
          </a:xfrm>
          <a:prstGeom prst="rect">
            <a:avLst/>
          </a:prstGeom>
          <a:solidFill>
            <a:srgbClr val="FF0000"/>
          </a:solidFill>
          <a:ln w="12700">
            <a:solidFill>
              <a:srgbClr val="0E2746"/>
            </a:solidFill>
            <a:prstDash val="solid"/>
          </a:ln>
        </p:spPr>
        <p:txBody>
          <a:bodyPr rtlCol="0" anchor="ctr"/>
          <a:lstStyle/>
          <a:p>
            <a:pPr algn="ctr"/>
            <a:r>
              <a:rPr lang="ko-KR" altLang="en-US" dirty="0"/>
              <a:t>수정 필요</a:t>
            </a:r>
          </a:p>
        </p:txBody>
      </p:sp>
    </p:spTree>
    <p:extLst>
      <p:ext uri="{BB962C8B-B14F-4D97-AF65-F5344CB8AC3E}">
        <p14:creationId xmlns:p14="http://schemas.microsoft.com/office/powerpoint/2010/main" val="5515587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EF67805-0B01-4F68-8211-7D5FA8DD75A3}"/>
              </a:ext>
            </a:extLst>
          </p:cNvPr>
          <p:cNvSpPr/>
          <p:nvPr/>
        </p:nvSpPr>
        <p:spPr>
          <a:xfrm>
            <a:off x="1071282" y="968188"/>
            <a:ext cx="10049435" cy="5074023"/>
          </a:xfrm>
          <a:prstGeom prst="rect">
            <a:avLst/>
          </a:prstGeom>
          <a:solidFill>
            <a:schemeClr val="tx1"/>
          </a:solidFill>
          <a:ln w="12700">
            <a:solidFill>
              <a:srgbClr val="0E2746"/>
            </a:solidFill>
            <a:prstDash val="solid"/>
          </a:ln>
        </p:spPr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bg1"/>
                </a:solidFill>
              </a:rPr>
              <a:t>Ai </a:t>
            </a:r>
            <a:r>
              <a:rPr lang="ko-KR" altLang="en-US" dirty="0">
                <a:solidFill>
                  <a:schemeClr val="bg1"/>
                </a:solidFill>
              </a:rPr>
              <a:t>활용도 주로</a:t>
            </a:r>
            <a:r>
              <a:rPr lang="en-US" altLang="ko-KR" dirty="0">
                <a:solidFill>
                  <a:schemeClr val="bg1"/>
                </a:solidFill>
              </a:rPr>
              <a:t>… </a:t>
            </a:r>
            <a:r>
              <a:rPr lang="ko-KR" altLang="en-US" dirty="0">
                <a:solidFill>
                  <a:schemeClr val="bg1"/>
                </a:solidFill>
              </a:rPr>
              <a:t>진단</a:t>
            </a:r>
            <a:r>
              <a:rPr lang="en-US" altLang="ko-KR" dirty="0">
                <a:solidFill>
                  <a:schemeClr val="bg1"/>
                </a:solidFill>
              </a:rPr>
              <a:t> -&gt; </a:t>
            </a:r>
            <a:r>
              <a:rPr lang="ko-KR" altLang="en-US" dirty="0">
                <a:solidFill>
                  <a:schemeClr val="bg1"/>
                </a:solidFill>
              </a:rPr>
              <a:t>안내의 구조인데</a:t>
            </a:r>
            <a:r>
              <a:rPr lang="en-US" altLang="ko-KR" dirty="0">
                <a:solidFill>
                  <a:schemeClr val="bg1"/>
                </a:solidFill>
              </a:rPr>
              <a:t>…</a:t>
            </a:r>
          </a:p>
          <a:p>
            <a:pPr algn="ctr"/>
            <a:endParaRPr lang="en-US" altLang="ko-KR" dirty="0">
              <a:solidFill>
                <a:schemeClr val="bg1"/>
              </a:solidFill>
            </a:endParaRPr>
          </a:p>
          <a:p>
            <a:pPr algn="ctr"/>
            <a:r>
              <a:rPr lang="ko-KR" altLang="en-US" dirty="0">
                <a:solidFill>
                  <a:schemeClr val="bg1"/>
                </a:solidFill>
              </a:rPr>
              <a:t>이 경우에는</a:t>
            </a:r>
            <a:r>
              <a:rPr lang="en-US" altLang="ko-KR" dirty="0">
                <a:solidFill>
                  <a:schemeClr val="bg1"/>
                </a:solidFill>
              </a:rPr>
              <a:t>… </a:t>
            </a:r>
            <a:r>
              <a:rPr lang="ko-KR" altLang="en-US" dirty="0">
                <a:solidFill>
                  <a:schemeClr val="bg1"/>
                </a:solidFill>
              </a:rPr>
              <a:t>보통 최종 결정을 혼자 해야함</a:t>
            </a:r>
            <a:r>
              <a:rPr lang="en-US" altLang="ko-KR" dirty="0">
                <a:solidFill>
                  <a:schemeClr val="bg1"/>
                </a:solidFill>
              </a:rPr>
              <a:t>…</a:t>
            </a:r>
          </a:p>
          <a:p>
            <a:pPr algn="ctr"/>
            <a:endParaRPr lang="en-US" altLang="ko-KR" dirty="0">
              <a:solidFill>
                <a:schemeClr val="bg1"/>
              </a:solidFill>
            </a:endParaRPr>
          </a:p>
          <a:p>
            <a:pPr algn="ctr"/>
            <a:r>
              <a:rPr lang="ko-KR" altLang="en-US" dirty="0">
                <a:solidFill>
                  <a:schemeClr val="bg1"/>
                </a:solidFill>
              </a:rPr>
              <a:t>여기에서 생기는 문제를 막을 수 없더라</a:t>
            </a:r>
            <a:r>
              <a:rPr lang="en-US" altLang="ko-KR" dirty="0">
                <a:solidFill>
                  <a:schemeClr val="bg1"/>
                </a:solidFill>
              </a:rPr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37247650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DD5831F-DE66-4EDD-B960-CEFCC96C152C}"/>
              </a:ext>
            </a:extLst>
          </p:cNvPr>
          <p:cNvSpPr txBox="1"/>
          <p:nvPr/>
        </p:nvSpPr>
        <p:spPr>
          <a:xfrm>
            <a:off x="3043767" y="2136338"/>
            <a:ext cx="6104466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ko-KR" altLang="en-US" sz="1800" b="1" dirty="0">
                <a:solidFill>
                  <a:srgbClr val="C5D6E8"/>
                </a:solidFill>
                <a:latin typeface="NanumSquare Bold" pitchFamily="34" charset="0"/>
                <a:ea typeface="NanumSquare Bold" pitchFamily="34" charset="-122"/>
                <a:cs typeface="NanumSquare Bold" pitchFamily="34" charset="-120"/>
              </a:rPr>
              <a:t>그 문제가 무엇인지 알기위해</a:t>
            </a:r>
            <a:r>
              <a:rPr lang="en-US" altLang="ko-KR" sz="1800" b="1" dirty="0">
                <a:solidFill>
                  <a:srgbClr val="C5D6E8"/>
                </a:solidFill>
                <a:latin typeface="NanumSquare Bold" pitchFamily="34" charset="0"/>
                <a:ea typeface="NanumSquare Bold" pitchFamily="34" charset="-122"/>
                <a:cs typeface="NanumSquare Bold" pitchFamily="34" charset="-120"/>
              </a:rPr>
              <a:t>…</a:t>
            </a:r>
          </a:p>
          <a:p>
            <a:pPr algn="ctr"/>
            <a:endParaRPr lang="en-US" altLang="ko-KR" sz="1800" b="1" dirty="0">
              <a:solidFill>
                <a:srgbClr val="C5D6E8"/>
              </a:solidFill>
              <a:latin typeface="NanumSquare Bold" pitchFamily="34" charset="0"/>
              <a:ea typeface="NanumSquare Bold" pitchFamily="34" charset="-122"/>
              <a:cs typeface="NanumSquare Bold" pitchFamily="34" charset="-120"/>
            </a:endParaRPr>
          </a:p>
          <a:p>
            <a:pPr algn="ctr"/>
            <a:r>
              <a:rPr lang="ko-KR" altLang="en-US" sz="1800" b="1" dirty="0">
                <a:solidFill>
                  <a:srgbClr val="C5D6E8"/>
                </a:solidFill>
                <a:latin typeface="NanumSquare Bold" pitchFamily="34" charset="0"/>
                <a:ea typeface="NanumSquare Bold" pitchFamily="34" charset="-122"/>
                <a:cs typeface="NanumSquare Bold" pitchFamily="34" charset="-120"/>
              </a:rPr>
              <a:t>보이스피싱 범죄 수법</a:t>
            </a:r>
            <a:endParaRPr lang="en-US" altLang="ko-KR" sz="1800" b="1" dirty="0">
              <a:solidFill>
                <a:srgbClr val="C5D6E8"/>
              </a:solidFill>
              <a:latin typeface="NanumSquare Bold" pitchFamily="34" charset="0"/>
              <a:ea typeface="NanumSquare Bold" pitchFamily="34" charset="-122"/>
              <a:cs typeface="NanumSquare Bold" pitchFamily="34" charset="-120"/>
            </a:endParaRPr>
          </a:p>
          <a:p>
            <a:pPr algn="ctr"/>
            <a:r>
              <a:rPr lang="en-US" altLang="ko-KR" b="1" dirty="0">
                <a:solidFill>
                  <a:srgbClr val="C5D6E8"/>
                </a:solidFill>
                <a:latin typeface="NanumSquare Bold" pitchFamily="34" charset="0"/>
                <a:ea typeface="NanumSquare Bold" pitchFamily="34" charset="-122"/>
                <a:cs typeface="NanumSquare Bold" pitchFamily="34" charset="-120"/>
              </a:rPr>
              <a:t>|</a:t>
            </a:r>
            <a:br>
              <a:rPr lang="en-US" altLang="ko-KR" b="1" dirty="0">
                <a:solidFill>
                  <a:srgbClr val="C5D6E8"/>
                </a:solidFill>
                <a:latin typeface="NanumSquare Bold" pitchFamily="34" charset="0"/>
                <a:ea typeface="NanumSquare Bold" pitchFamily="34" charset="-122"/>
                <a:cs typeface="NanumSquare Bold" pitchFamily="34" charset="-120"/>
              </a:rPr>
            </a:br>
            <a:r>
              <a:rPr lang="ko-KR" altLang="en-US" b="1" dirty="0">
                <a:solidFill>
                  <a:srgbClr val="C5D6E8"/>
                </a:solidFill>
                <a:latin typeface="NanumSquare Bold" pitchFamily="34" charset="0"/>
                <a:ea typeface="NanumSquare Bold" pitchFamily="34" charset="-122"/>
                <a:cs typeface="NanumSquare Bold" pitchFamily="34" charset="-120"/>
              </a:rPr>
              <a:t>금융사용자가 처한 상황</a:t>
            </a:r>
            <a:endParaRPr lang="en-US" altLang="ko-KR" b="1" dirty="0">
              <a:solidFill>
                <a:srgbClr val="C5D6E8"/>
              </a:solidFill>
              <a:latin typeface="NanumSquare Bold" pitchFamily="34" charset="0"/>
              <a:ea typeface="NanumSquare Bold" pitchFamily="34" charset="-122"/>
              <a:cs typeface="NanumSquare Bold" pitchFamily="34" charset="-120"/>
            </a:endParaRPr>
          </a:p>
          <a:p>
            <a:pPr algn="ctr"/>
            <a:r>
              <a:rPr lang="en-US" altLang="ko-KR" sz="1800" b="1" dirty="0">
                <a:solidFill>
                  <a:srgbClr val="C5D6E8"/>
                </a:solidFill>
                <a:latin typeface="NanumSquare Bold" pitchFamily="34" charset="0"/>
                <a:ea typeface="NanumSquare Bold" pitchFamily="34" charset="-122"/>
                <a:cs typeface="NanumSquare Bold" pitchFamily="34" charset="-120"/>
              </a:rPr>
              <a:t>|</a:t>
            </a:r>
            <a:br>
              <a:rPr lang="en-US" altLang="ko-KR" sz="1800" b="1" dirty="0">
                <a:solidFill>
                  <a:srgbClr val="C5D6E8"/>
                </a:solidFill>
                <a:latin typeface="NanumSquare Bold" pitchFamily="34" charset="0"/>
                <a:ea typeface="NanumSquare Bold" pitchFamily="34" charset="-122"/>
                <a:cs typeface="NanumSquare Bold" pitchFamily="34" charset="-120"/>
              </a:rPr>
            </a:br>
            <a:r>
              <a:rPr lang="ko-KR" altLang="en-US" sz="1800" b="1" dirty="0">
                <a:solidFill>
                  <a:srgbClr val="C5D6E8"/>
                </a:solidFill>
                <a:latin typeface="NanumSquare Bold" pitchFamily="34" charset="0"/>
                <a:ea typeface="NanumSquare Bold" pitchFamily="34" charset="-122"/>
                <a:cs typeface="NanumSquare Bold" pitchFamily="34" charset="-120"/>
              </a:rPr>
              <a:t>기존 서비스들의 구조를</a:t>
            </a:r>
            <a:endParaRPr lang="en-US" altLang="ko-KR" sz="1800" b="1" dirty="0">
              <a:solidFill>
                <a:srgbClr val="C5D6E8"/>
              </a:solidFill>
              <a:latin typeface="NanumSquare Bold" pitchFamily="34" charset="0"/>
              <a:ea typeface="NanumSquare Bold" pitchFamily="34" charset="-122"/>
              <a:cs typeface="NanumSquare Bold" pitchFamily="34" charset="-120"/>
            </a:endParaRPr>
          </a:p>
          <a:p>
            <a:pPr algn="ctr"/>
            <a:endParaRPr lang="en-US" altLang="ko-KR" sz="1800" b="1" dirty="0">
              <a:solidFill>
                <a:srgbClr val="C5D6E8"/>
              </a:solidFill>
              <a:latin typeface="NanumSquare Bold" pitchFamily="34" charset="0"/>
              <a:ea typeface="NanumSquare Bold" pitchFamily="34" charset="-122"/>
              <a:cs typeface="NanumSquare Bold" pitchFamily="34" charset="-120"/>
            </a:endParaRPr>
          </a:p>
          <a:p>
            <a:pPr algn="ctr"/>
            <a:r>
              <a:rPr lang="ko-KR" altLang="en-US" sz="1800" b="1" dirty="0">
                <a:solidFill>
                  <a:srgbClr val="C5D6E8"/>
                </a:solidFill>
                <a:latin typeface="NanumSquare Bold" pitchFamily="34" charset="0"/>
                <a:ea typeface="NanumSquare Bold" pitchFamily="34" charset="-122"/>
                <a:cs typeface="NanumSquare Bold" pitchFamily="34" charset="-120"/>
              </a:rPr>
              <a:t>함께 살펴보았다</a:t>
            </a:r>
            <a:r>
              <a:rPr lang="en-US" altLang="ko-KR" sz="1800" b="1" dirty="0">
                <a:solidFill>
                  <a:srgbClr val="C5D6E8"/>
                </a:solidFill>
                <a:latin typeface="NanumSquare Bold" pitchFamily="34" charset="0"/>
                <a:ea typeface="NanumSquare Bold" pitchFamily="34" charset="-122"/>
                <a:cs typeface="NanumSquare Bold" pitchFamily="34" charset="-12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7500432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2CB6B84D-C629-453D-B32A-D4910AE72E07}"/>
              </a:ext>
            </a:extLst>
          </p:cNvPr>
          <p:cNvSpPr txBox="1"/>
          <p:nvPr/>
        </p:nvSpPr>
        <p:spPr>
          <a:xfrm>
            <a:off x="235712" y="892584"/>
            <a:ext cx="3382433" cy="563231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전화 수신 전</a:t>
            </a:r>
            <a:endParaRPr kumimoji="0" lang="ko-KR" altLang="ko-KR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위험번호 / AI 안심차단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↓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번호·통신 위험정보</a:t>
            </a:r>
            <a:endParaRPr kumimoji="0" lang="ko-KR" altLang="ko-KR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↓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통화 중</a:t>
            </a:r>
            <a:endParaRPr kumimoji="0" lang="ko-KR" altLang="ko-KR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SKT 에이닷 / LG U+ 익시오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↓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통화내용·대화패턴 AI 분석</a:t>
            </a:r>
            <a:endParaRPr kumimoji="0" lang="ko-KR" altLang="ko-KR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↓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사용자 경고 / 일부 가족·지인 알림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↓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━━━━━━━━━━━━━━━━━━━━</a:t>
            </a:r>
            <a:endParaRPr kumimoji="0" lang="ko-KR" altLang="ko-KR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latin typeface="Arial" panose="020B0604020202020204" pitchFamily="34" charset="0"/>
              </a:rPr>
              <a:t>추가 검증이 필요한 영역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latin typeface="Arial" panose="020B0604020202020204" pitchFamily="34" charset="0"/>
              </a:rPr>
              <a:t>“상대방이 말하는 사건·기관·송금 이유·절차가 실제로 맞는가?”</a:t>
            </a:r>
            <a:endParaRPr kumimoji="0" lang="ko-KR" altLang="ko-KR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highlight>
                <a:srgbClr val="FFFF00"/>
              </a:highlight>
              <a:latin typeface="Arial" panose="020B0604020202020204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latin typeface="Arial Unicode MS"/>
              </a:rPr>
              <a:t>주장 구조화</a:t>
            </a:r>
            <a:endParaRPr kumimoji="0" lang="ko-KR" altLang="ko-KR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highlight>
                <a:srgbClr val="FFFF00"/>
              </a:highlight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latin typeface="Arial Unicode MS"/>
              </a:rPr>
              <a:t>공식 기준과 진위검증</a:t>
            </a:r>
            <a:endParaRPr kumimoji="0" lang="ko-KR" altLang="ko-KR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highlight>
                <a:srgbClr val="FFFF00"/>
              </a:highlight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latin typeface="Arial Unicode MS"/>
              </a:rPr>
              <a:t>특정 거래 외부 공동검토</a:t>
            </a:r>
            <a:endParaRPr kumimoji="0" lang="ko-KR" altLang="ko-KR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highlight>
                <a:srgbClr val="FFFF00"/>
              </a:highlight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━━━━━━━━━━━━━━━━━━━━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↓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금융행동·송금</a:t>
            </a:r>
            <a:endParaRPr kumimoji="0" lang="ko-KR" altLang="ko-KR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ASAP + FDS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↓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계좌·거래·통신·수사 Risk</a:t>
            </a:r>
            <a:endParaRPr kumimoji="0" lang="ko-KR" altLang="ko-KR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↓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추가확인 / 거래지연 / 지급정지 / 거래중단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↓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피해 이후</a:t>
            </a:r>
            <a:endParaRPr kumimoji="0" lang="ko-KR" altLang="ko-KR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신고 / 지급정지 / 피해환급</a:t>
            </a:r>
          </a:p>
        </p:txBody>
      </p:sp>
    </p:spTree>
    <p:extLst>
      <p:ext uri="{BB962C8B-B14F-4D97-AF65-F5344CB8AC3E}">
        <p14:creationId xmlns:p14="http://schemas.microsoft.com/office/powerpoint/2010/main" val="338686401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844784" y="128016"/>
            <a:ext cx="1188720" cy="1188720"/>
          </a:xfrm>
          <a:prstGeom prst="ellipse">
            <a:avLst/>
          </a:prstGeom>
          <a:solidFill>
            <a:srgbClr val="EAF3FF"/>
          </a:solidFill>
          <a:ln w="10160">
            <a:solidFill>
              <a:srgbClr val="EAF3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448288" y="292608"/>
            <a:ext cx="310896" cy="310896"/>
          </a:xfrm>
          <a:prstGeom prst="ellipse">
            <a:avLst/>
          </a:prstGeom>
          <a:solidFill>
            <a:srgbClr val="49A8FF"/>
          </a:solidFill>
          <a:ln w="10160">
            <a:solidFill>
              <a:srgbClr val="49A8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844784" y="1024128"/>
            <a:ext cx="868680" cy="0"/>
          </a:xfrm>
          <a:prstGeom prst="line">
            <a:avLst/>
          </a:prstGeom>
          <a:noFill/>
          <a:ln w="13970">
            <a:solidFill>
              <a:srgbClr val="D6E8FF"/>
            </a:solidFill>
            <a:prstDash val="solid"/>
            <a:headEnd type="none"/>
            <a:tailEnd type="none"/>
          </a:ln>
        </p:spPr>
      </p:sp>
      <p:sp>
        <p:nvSpPr>
          <p:cNvPr id="5" name="Shape 3"/>
          <p:cNvSpPr/>
          <p:nvPr/>
        </p:nvSpPr>
        <p:spPr>
          <a:xfrm>
            <a:off x="11045952" y="1225296"/>
            <a:ext cx="667512" cy="0"/>
          </a:xfrm>
          <a:prstGeom prst="line">
            <a:avLst/>
          </a:prstGeom>
          <a:noFill/>
          <a:ln w="13970">
            <a:solidFill>
              <a:srgbClr val="D6E8FF"/>
            </a:solidFill>
            <a:prstDash val="solid"/>
            <a:headEnd type="none"/>
            <a:tailEnd type="none"/>
          </a:ln>
        </p:spPr>
      </p:sp>
      <p:sp>
        <p:nvSpPr>
          <p:cNvPr id="6" name="Shape 4"/>
          <p:cNvSpPr/>
          <p:nvPr/>
        </p:nvSpPr>
        <p:spPr>
          <a:xfrm>
            <a:off x="566928" y="347472"/>
            <a:ext cx="1115568" cy="310896"/>
          </a:xfrm>
          <a:prstGeom prst="roundRect">
            <a:avLst>
              <a:gd name="adj" fmla="val 50000"/>
            </a:avLst>
          </a:prstGeom>
          <a:solidFill>
            <a:srgbClr val="EAF3FF"/>
          </a:solidFill>
          <a:ln w="10160">
            <a:solidFill>
              <a:srgbClr val="D7E7F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76656" y="374904"/>
            <a:ext cx="8961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F5EFF"/>
                </a:solidFill>
                <a:latin typeface="NanumSquare Bold" pitchFamily="34" charset="0"/>
                <a:ea typeface="NanumSquare Bold" pitchFamily="34" charset="-122"/>
                <a:cs typeface="NanumSquare Bold" pitchFamily="34" charset="-120"/>
              </a:rPr>
              <a:t>문제도출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566928" y="850392"/>
            <a:ext cx="106984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0213D"/>
                </a:solidFill>
                <a:latin typeface="NanumSquare Bold" pitchFamily="34" charset="0"/>
                <a:ea typeface="NanumSquare Bold" pitchFamily="34" charset="-122"/>
                <a:cs typeface="NanumSquare Bold" pitchFamily="34" charset="-120"/>
              </a:rPr>
              <a:t>기존 보호체계가 개입하는 구간과, 통화 중 판단 공백</a:t>
            </a:r>
            <a:endParaRPr lang="en-US" sz="2800" dirty="0"/>
          </a:p>
        </p:txBody>
      </p:sp>
      <p:sp>
        <p:nvSpPr>
          <p:cNvPr id="9" name="Text 7"/>
          <p:cNvSpPr txBox="1"/>
          <p:nvPr/>
        </p:nvSpPr>
        <p:spPr>
          <a:xfrm>
            <a:off x="585216" y="1353312"/>
            <a:ext cx="10515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30" dirty="0">
                <a:solidFill>
                  <a:srgbClr val="66768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보이스피싱 진행 흐름을 시간축으로 놓고 기존 기능의 트리거·개입 시점을 구조적으로 보여주는 페이지</a:t>
            </a:r>
            <a:endParaRPr lang="en-US" sz="1230" dirty="0"/>
          </a:p>
        </p:txBody>
      </p:sp>
      <p:sp>
        <p:nvSpPr>
          <p:cNvPr id="10" name="Shape 8"/>
          <p:cNvSpPr/>
          <p:nvPr/>
        </p:nvSpPr>
        <p:spPr>
          <a:xfrm>
            <a:off x="804672" y="2761488"/>
            <a:ext cx="10479024" cy="0"/>
          </a:xfrm>
          <a:prstGeom prst="line">
            <a:avLst/>
          </a:prstGeom>
          <a:noFill/>
          <a:ln w="40640">
            <a:solidFill>
              <a:srgbClr val="AFC7E7"/>
            </a:solidFill>
            <a:prstDash val="solid"/>
            <a:headEnd type="none"/>
            <a:tailEnd type="none"/>
          </a:ln>
        </p:spPr>
      </p:sp>
      <p:sp>
        <p:nvSpPr>
          <p:cNvPr id="11" name="Shape 9"/>
          <p:cNvSpPr/>
          <p:nvPr/>
        </p:nvSpPr>
        <p:spPr>
          <a:xfrm>
            <a:off x="1005840" y="2587752"/>
            <a:ext cx="347472" cy="347472"/>
          </a:xfrm>
          <a:prstGeom prst="ellipse">
            <a:avLst/>
          </a:prstGeom>
          <a:solidFill>
            <a:srgbClr val="2F7CF6"/>
          </a:solidFill>
          <a:ln w="10160">
            <a:solidFill>
              <a:srgbClr val="2F7CF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21792" y="3090672"/>
            <a:ext cx="1115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40" b="1" dirty="0">
                <a:solidFill>
                  <a:srgbClr val="10213D"/>
                </a:solidFill>
                <a:latin typeface="NanumSquare Bold" pitchFamily="34" charset="0"/>
                <a:ea typeface="NanumSquare Bold" pitchFamily="34" charset="-122"/>
                <a:cs typeface="NanumSquare Bold" pitchFamily="34" charset="-120"/>
              </a:rPr>
              <a:t>통화 전</a:t>
            </a:r>
            <a:endParaRPr lang="en-US" sz="1240" dirty="0"/>
          </a:p>
        </p:txBody>
      </p:sp>
      <p:sp>
        <p:nvSpPr>
          <p:cNvPr id="13" name="Text 11"/>
          <p:cNvSpPr txBox="1"/>
          <p:nvPr/>
        </p:nvSpPr>
        <p:spPr>
          <a:xfrm>
            <a:off x="429768" y="3474720"/>
            <a:ext cx="149961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66768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예방교육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66768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스팸 차단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182112" y="2587752"/>
            <a:ext cx="347472" cy="347472"/>
          </a:xfrm>
          <a:prstGeom prst="ellipse">
            <a:avLst/>
          </a:prstGeom>
          <a:solidFill>
            <a:srgbClr val="1F5EFF"/>
          </a:solidFill>
          <a:ln w="10160">
            <a:solidFill>
              <a:srgbClr val="1F5EF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2798064" y="3090672"/>
            <a:ext cx="1115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40" b="1" dirty="0">
                <a:solidFill>
                  <a:srgbClr val="10213D"/>
                </a:solidFill>
                <a:latin typeface="NanumSquare Bold" pitchFamily="34" charset="0"/>
                <a:ea typeface="NanumSquare Bold" pitchFamily="34" charset="-122"/>
                <a:cs typeface="NanumSquare Bold" pitchFamily="34" charset="-120"/>
              </a:rPr>
              <a:t>접촉 단계</a:t>
            </a:r>
            <a:endParaRPr lang="en-US" sz="1240" dirty="0"/>
          </a:p>
        </p:txBody>
      </p:sp>
      <p:sp>
        <p:nvSpPr>
          <p:cNvPr id="16" name="Text 14"/>
          <p:cNvSpPr txBox="1"/>
          <p:nvPr/>
        </p:nvSpPr>
        <p:spPr>
          <a:xfrm>
            <a:off x="2606040" y="3474720"/>
            <a:ext cx="149961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66768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위험번호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66768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악성앱 탐지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504688" y="2587752"/>
            <a:ext cx="347472" cy="347472"/>
          </a:xfrm>
          <a:prstGeom prst="ellipse">
            <a:avLst/>
          </a:prstGeom>
          <a:solidFill>
            <a:srgbClr val="FF6478"/>
          </a:solidFill>
          <a:ln w="10160">
            <a:solidFill>
              <a:srgbClr val="FF6478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120640" y="3090672"/>
            <a:ext cx="1115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40" b="1" dirty="0">
                <a:solidFill>
                  <a:srgbClr val="10213D"/>
                </a:solidFill>
                <a:latin typeface="NanumSquare Bold" pitchFamily="34" charset="0"/>
                <a:ea typeface="NanumSquare Bold" pitchFamily="34" charset="-122"/>
                <a:cs typeface="NanumSquare Bold" pitchFamily="34" charset="-120"/>
              </a:rPr>
              <a:t>통화 중</a:t>
            </a:r>
            <a:endParaRPr lang="en-US" sz="1240" dirty="0"/>
          </a:p>
        </p:txBody>
      </p:sp>
      <p:sp>
        <p:nvSpPr>
          <p:cNvPr id="19" name="Text 17"/>
          <p:cNvSpPr txBox="1"/>
          <p:nvPr/>
        </p:nvSpPr>
        <p:spPr>
          <a:xfrm>
            <a:off x="4928616" y="3474720"/>
            <a:ext cx="149961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66768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판단 형성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66768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심리적 압박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7845552" y="2587752"/>
            <a:ext cx="347472" cy="347472"/>
          </a:xfrm>
          <a:prstGeom prst="ellipse">
            <a:avLst/>
          </a:prstGeom>
          <a:solidFill>
            <a:srgbClr val="1F5EFF"/>
          </a:solidFill>
          <a:ln w="10160">
            <a:solidFill>
              <a:srgbClr val="1F5EF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461504" y="3090672"/>
            <a:ext cx="1115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40" b="1" dirty="0">
                <a:solidFill>
                  <a:srgbClr val="10213D"/>
                </a:solidFill>
                <a:latin typeface="NanumSquare Bold" pitchFamily="34" charset="0"/>
                <a:ea typeface="NanumSquare Bold" pitchFamily="34" charset="-122"/>
                <a:cs typeface="NanumSquare Bold" pitchFamily="34" charset="-120"/>
              </a:rPr>
              <a:t>송금 시도</a:t>
            </a:r>
            <a:endParaRPr lang="en-US" sz="1240" dirty="0"/>
          </a:p>
        </p:txBody>
      </p:sp>
      <p:sp>
        <p:nvSpPr>
          <p:cNvPr id="22" name="Text 20"/>
          <p:cNvSpPr txBox="1"/>
          <p:nvPr/>
        </p:nvSpPr>
        <p:spPr>
          <a:xfrm>
            <a:off x="7269480" y="3474720"/>
            <a:ext cx="149961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66768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FDS · ASAP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66768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추가확인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10104120" y="2587752"/>
            <a:ext cx="347472" cy="347472"/>
          </a:xfrm>
          <a:prstGeom prst="ellipse">
            <a:avLst/>
          </a:prstGeom>
          <a:solidFill>
            <a:srgbClr val="102B4E"/>
          </a:solidFill>
          <a:ln w="10160">
            <a:solidFill>
              <a:srgbClr val="102B4E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9720072" y="3090672"/>
            <a:ext cx="1115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40" b="1" dirty="0">
                <a:solidFill>
                  <a:srgbClr val="10213D"/>
                </a:solidFill>
                <a:latin typeface="NanumSquare Bold" pitchFamily="34" charset="0"/>
                <a:ea typeface="NanumSquare Bold" pitchFamily="34" charset="-122"/>
                <a:cs typeface="NanumSquare Bold" pitchFamily="34" charset="-120"/>
              </a:rPr>
              <a:t>거래 후</a:t>
            </a:r>
            <a:endParaRPr lang="en-US" sz="1240" dirty="0"/>
          </a:p>
        </p:txBody>
      </p:sp>
      <p:sp>
        <p:nvSpPr>
          <p:cNvPr id="25" name="Text 23"/>
          <p:cNvSpPr txBox="1"/>
          <p:nvPr/>
        </p:nvSpPr>
        <p:spPr>
          <a:xfrm>
            <a:off x="9528048" y="3474720"/>
            <a:ext cx="149961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66768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지급정지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66768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피해구제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434840" y="1901952"/>
            <a:ext cx="2505456" cy="2670048"/>
          </a:xfrm>
          <a:prstGeom prst="roundRect">
            <a:avLst>
              <a:gd name="adj" fmla="val 7299"/>
            </a:avLst>
          </a:prstGeom>
          <a:solidFill>
            <a:srgbClr val="FFF6F7"/>
          </a:solidFill>
          <a:ln w="10160">
            <a:solidFill>
              <a:srgbClr val="FFD3D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010912" y="2112264"/>
            <a:ext cx="1353312" cy="310896"/>
          </a:xfrm>
          <a:prstGeom prst="roundRect">
            <a:avLst>
              <a:gd name="adj" fmla="val 50000"/>
            </a:avLst>
          </a:prstGeom>
          <a:solidFill>
            <a:srgbClr val="EAF3FF"/>
          </a:solidFill>
          <a:ln w="10160">
            <a:solidFill>
              <a:srgbClr val="D7E7FF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5084064" y="2139696"/>
            <a:ext cx="12070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F5EFF"/>
                </a:solidFill>
                <a:latin typeface="NanumSquare Bold" pitchFamily="34" charset="0"/>
                <a:ea typeface="NanumSquare Bold" pitchFamily="34" charset="-122"/>
                <a:cs typeface="NanumSquare Bold" pitchFamily="34" charset="-120"/>
              </a:rPr>
              <a:t>판단 공백</a:t>
            </a:r>
            <a:endParaRPr lang="en-US" sz="1050" dirty="0"/>
          </a:p>
        </p:txBody>
      </p:sp>
      <p:sp>
        <p:nvSpPr>
          <p:cNvPr id="29" name="Text 27"/>
          <p:cNvSpPr txBox="1"/>
          <p:nvPr/>
        </p:nvSpPr>
        <p:spPr>
          <a:xfrm>
            <a:off x="4736592" y="2660904"/>
            <a:ext cx="19019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A33E4E"/>
                </a:solidFill>
                <a:latin typeface="NanumSquare Bold" pitchFamily="34" charset="0"/>
                <a:ea typeface="NanumSquare Bold" pitchFamily="34" charset="-122"/>
                <a:cs typeface="NanumSquare Bold" pitchFamily="34" charset="-120"/>
              </a:rPr>
              <a:t>통화 내용이</a:t>
            </a:r>
            <a:endParaRPr lang="en-US" sz="1700" dirty="0"/>
          </a:p>
          <a:p>
            <a:pPr marL="0" indent="0" algn="ctr">
              <a:buNone/>
            </a:pPr>
            <a:r>
              <a:rPr lang="en-US" sz="1700" b="1" dirty="0">
                <a:solidFill>
                  <a:srgbClr val="A33E4E"/>
                </a:solidFill>
                <a:latin typeface="NanumSquare Bold" pitchFamily="34" charset="0"/>
                <a:ea typeface="NanumSquare Bold" pitchFamily="34" charset="-122"/>
                <a:cs typeface="NanumSquare Bold" pitchFamily="34" charset="-120"/>
              </a:rPr>
              <a:t>피해자의 판단을</a:t>
            </a:r>
            <a:endParaRPr lang="en-US" sz="1700" dirty="0"/>
          </a:p>
          <a:p>
            <a:pPr marL="0" indent="0" algn="ctr">
              <a:buNone/>
            </a:pPr>
            <a:r>
              <a:rPr lang="en-US" sz="1700" b="1" dirty="0">
                <a:solidFill>
                  <a:srgbClr val="A33E4E"/>
                </a:solidFill>
                <a:latin typeface="NanumSquare Bold" pitchFamily="34" charset="0"/>
                <a:ea typeface="NanumSquare Bold" pitchFamily="34" charset="-122"/>
                <a:cs typeface="NanumSquare Bold" pitchFamily="34" charset="-120"/>
              </a:rPr>
              <a:t>바꾸는 순간</a:t>
            </a:r>
            <a:endParaRPr lang="en-US" sz="1700" dirty="0"/>
          </a:p>
        </p:txBody>
      </p:sp>
      <p:sp>
        <p:nvSpPr>
          <p:cNvPr id="30" name="Text 28"/>
          <p:cNvSpPr txBox="1"/>
          <p:nvPr/>
        </p:nvSpPr>
        <p:spPr>
          <a:xfrm>
            <a:off x="4562856" y="3739896"/>
            <a:ext cx="2240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7E5360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기존 장치가 존재해도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7E5360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“상황의 진위”를 즉시 검증하기 어렵다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804672" y="5285232"/>
            <a:ext cx="10625328" cy="566928"/>
          </a:xfrm>
          <a:prstGeom prst="roundRect">
            <a:avLst>
              <a:gd name="adj" fmla="val 22581"/>
            </a:avLst>
          </a:prstGeom>
          <a:solidFill>
            <a:srgbClr val="EAF3FF"/>
          </a:solidFill>
          <a:ln w="10160">
            <a:solidFill>
              <a:srgbClr val="D7E7FF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1042416" y="5431536"/>
            <a:ext cx="10149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20" b="1" dirty="0">
                <a:solidFill>
                  <a:srgbClr val="1F5EFF"/>
                </a:solidFill>
                <a:latin typeface="NanumSquare Bold" pitchFamily="34" charset="0"/>
                <a:ea typeface="NanumSquare Bold" pitchFamily="34" charset="-122"/>
                <a:cs typeface="NanumSquare Bold" pitchFamily="34" charset="-120"/>
              </a:rPr>
              <a:t>핵심: 보호장치 사이의 빈 구간은 ‘통화 속 판단이 형성되는 시간’에 존재할 수 있다.</a:t>
            </a:r>
            <a:endParaRPr lang="en-US" sz="1320" dirty="0"/>
          </a:p>
        </p:txBody>
      </p:sp>
      <p:sp>
        <p:nvSpPr>
          <p:cNvPr id="3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10528"/>
            <a:ext cx="27432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B8CA8"/>
                </a:solidFill>
                <a:latin typeface="NanumSquare"/>
                <a:ea typeface="NanumSquare"/>
                <a:cs typeface="NanumSquare"/>
              </a:defRPr>
            </a:lvl1pPr>
          </a:lstStyle>
          <a:p>
            <a:pPr algn="r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3BC5BB59-1D02-4ABB-8083-EA7E83293219}"/>
              </a:ext>
            </a:extLst>
          </p:cNvPr>
          <p:cNvSpPr/>
          <p:nvPr/>
        </p:nvSpPr>
        <p:spPr>
          <a:xfrm>
            <a:off x="3352800" y="1727199"/>
            <a:ext cx="4986867" cy="3268133"/>
          </a:xfrm>
          <a:prstGeom prst="roundRect">
            <a:avLst/>
          </a:prstGeom>
          <a:solidFill>
            <a:schemeClr val="tx1"/>
          </a:solidFill>
          <a:ln w="12700">
            <a:solidFill>
              <a:srgbClr val="0E2746"/>
            </a:solidFill>
            <a:prstDash val="solid"/>
          </a:ln>
        </p:spPr>
        <p:txBody>
          <a:bodyPr rtlCol="0" anchor="ctr"/>
          <a:lstStyle/>
          <a:p>
            <a:pPr algn="ctr"/>
            <a:r>
              <a:rPr lang="ko-KR" altLang="en-US">
                <a:solidFill>
                  <a:schemeClr val="bg1"/>
                </a:solidFill>
              </a:rPr>
              <a:t>보이스피싱 수법 상세 </a:t>
            </a:r>
            <a:r>
              <a:rPr lang="ko-KR" altLang="en-US" dirty="0">
                <a:solidFill>
                  <a:schemeClr val="bg1"/>
                </a:solidFill>
              </a:rPr>
              <a:t>분석</a:t>
            </a:r>
            <a:r>
              <a:rPr lang="en-US" altLang="ko-KR" dirty="0">
                <a:solidFill>
                  <a:schemeClr val="bg1"/>
                </a:solidFill>
              </a:rPr>
              <a:t>!</a:t>
            </a:r>
            <a:endParaRPr lang="ko-KR" alt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4283045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844784" y="128016"/>
            <a:ext cx="1188720" cy="1188720"/>
          </a:xfrm>
          <a:prstGeom prst="ellipse">
            <a:avLst/>
          </a:prstGeom>
          <a:solidFill>
            <a:srgbClr val="10345A"/>
          </a:solidFill>
          <a:ln w="10160">
            <a:solidFill>
              <a:srgbClr val="10345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448288" y="292608"/>
            <a:ext cx="310896" cy="310896"/>
          </a:xfrm>
          <a:prstGeom prst="ellipse">
            <a:avLst/>
          </a:prstGeom>
          <a:solidFill>
            <a:srgbClr val="1F5EFF"/>
          </a:solidFill>
          <a:ln w="10160">
            <a:solidFill>
              <a:srgbClr val="1F5E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844784" y="1024128"/>
            <a:ext cx="868680" cy="0"/>
          </a:xfrm>
          <a:prstGeom prst="line">
            <a:avLst/>
          </a:prstGeom>
          <a:noFill/>
          <a:ln w="13970">
            <a:solidFill>
              <a:srgbClr val="2B5D8C"/>
            </a:solidFill>
            <a:prstDash val="solid"/>
            <a:headEnd type="none"/>
            <a:tailEnd type="none"/>
          </a:ln>
        </p:spPr>
      </p:sp>
      <p:sp>
        <p:nvSpPr>
          <p:cNvPr id="5" name="Shape 3"/>
          <p:cNvSpPr/>
          <p:nvPr/>
        </p:nvSpPr>
        <p:spPr>
          <a:xfrm>
            <a:off x="11045952" y="1225296"/>
            <a:ext cx="667512" cy="0"/>
          </a:xfrm>
          <a:prstGeom prst="line">
            <a:avLst/>
          </a:prstGeom>
          <a:noFill/>
          <a:ln w="13970">
            <a:solidFill>
              <a:srgbClr val="2B5D8C"/>
            </a:solidFill>
            <a:prstDash val="solid"/>
            <a:headEnd type="none"/>
            <a:tailEnd type="none"/>
          </a:ln>
        </p:spPr>
      </p:sp>
      <p:sp>
        <p:nvSpPr>
          <p:cNvPr id="6" name="Shape 4"/>
          <p:cNvSpPr/>
          <p:nvPr/>
        </p:nvSpPr>
        <p:spPr>
          <a:xfrm>
            <a:off x="566928" y="347472"/>
            <a:ext cx="1115568" cy="310896"/>
          </a:xfrm>
          <a:prstGeom prst="roundRect">
            <a:avLst>
              <a:gd name="adj" fmla="val 50000"/>
            </a:avLst>
          </a:prstGeom>
          <a:solidFill>
            <a:srgbClr val="18395D"/>
          </a:solidFill>
          <a:ln w="10160">
            <a:solidFill>
              <a:srgbClr val="244F7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76656" y="374904"/>
            <a:ext cx="8961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7500" lnSpcReduction="20000"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49A8FF"/>
                </a:solidFill>
                <a:latin typeface="NanumSquare Bold" pitchFamily="34" charset="0"/>
                <a:ea typeface="NanumSquare Bold" pitchFamily="34" charset="-122"/>
                <a:cs typeface="NanumSquare Bold" pitchFamily="34" charset="-120"/>
              </a:rPr>
              <a:t>보이스피싱 전략 분석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566928" y="850392"/>
            <a:ext cx="106984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NanumSquare Bold" pitchFamily="34" charset="0"/>
                <a:ea typeface="NanumSquare Bold" pitchFamily="34" charset="-122"/>
                <a:cs typeface="NanumSquare Bold" pitchFamily="34" charset="-120"/>
              </a:rPr>
              <a:t>보이스피싱은 ‘거짓 정보’뿐 아니라 ‘거짓 판단’을 유도한다</a:t>
            </a:r>
            <a:endParaRPr lang="en-US" sz="2800" dirty="0"/>
          </a:p>
        </p:txBody>
      </p:sp>
      <p:sp>
        <p:nvSpPr>
          <p:cNvPr id="9" name="Text 7"/>
          <p:cNvSpPr txBox="1"/>
          <p:nvPr/>
        </p:nvSpPr>
        <p:spPr>
          <a:xfrm>
            <a:off x="585216" y="1353312"/>
            <a:ext cx="10515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30" dirty="0">
                <a:solidFill>
                  <a:srgbClr val="9DB6D6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세 가지 전략이 결합해 피해자의 판단 환경 자체를 장악하는 구조</a:t>
            </a:r>
            <a:endParaRPr lang="en-US" sz="1230" dirty="0"/>
          </a:p>
        </p:txBody>
      </p:sp>
      <p:sp>
        <p:nvSpPr>
          <p:cNvPr id="10" name="Shape 8"/>
          <p:cNvSpPr/>
          <p:nvPr/>
        </p:nvSpPr>
        <p:spPr>
          <a:xfrm>
            <a:off x="758952" y="2039112"/>
            <a:ext cx="2944368" cy="2331720"/>
          </a:xfrm>
          <a:prstGeom prst="roundRect">
            <a:avLst>
              <a:gd name="adj" fmla="val 7843"/>
            </a:avLst>
          </a:prstGeom>
          <a:solidFill>
            <a:srgbClr val="12375D"/>
          </a:solidFill>
          <a:ln w="10160">
            <a:solidFill>
              <a:srgbClr val="2A588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96696" y="2267712"/>
            <a:ext cx="475488" cy="475488"/>
          </a:xfrm>
          <a:prstGeom prst="ellipse">
            <a:avLst/>
          </a:prstGeom>
          <a:solidFill>
            <a:srgbClr val="173A62"/>
          </a:solidFill>
          <a:ln w="10160">
            <a:solidFill>
              <a:srgbClr val="2B5D8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96696" y="2276856"/>
            <a:ext cx="475488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49A8FF"/>
                </a:solidFill>
                <a:latin typeface="NanumSquare Bold" pitchFamily="34" charset="0"/>
                <a:ea typeface="NanumSquare Bold" pitchFamily="34" charset="-122"/>
                <a:cs typeface="NanumSquare Bold" pitchFamily="34" charset="-120"/>
              </a:rPr>
              <a:t>01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1609344" y="2267712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20" b="1" dirty="0">
                <a:solidFill>
                  <a:srgbClr val="FFFFFF"/>
                </a:solidFill>
                <a:latin typeface="NanumSquare Bold" pitchFamily="34" charset="0"/>
                <a:ea typeface="NanumSquare Bold" pitchFamily="34" charset="-122"/>
                <a:cs typeface="NanumSquare Bold" pitchFamily="34" charset="-120"/>
              </a:rPr>
              <a:t>정보 우위</a:t>
            </a:r>
            <a:endParaRPr lang="en-US" sz="1620" dirty="0"/>
          </a:p>
        </p:txBody>
      </p:sp>
      <p:sp>
        <p:nvSpPr>
          <p:cNvPr id="14" name="Text 12"/>
          <p:cNvSpPr txBox="1"/>
          <p:nvPr/>
        </p:nvSpPr>
        <p:spPr>
          <a:xfrm>
            <a:off x="1005840" y="2971800"/>
            <a:ext cx="2432304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30" dirty="0">
                <a:solidFill>
                  <a:srgbClr val="BFD2E5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정교한 개인정보·절차 설명으로</a:t>
            </a:r>
            <a:endParaRPr lang="en-US" sz="1130" dirty="0"/>
          </a:p>
          <a:p>
            <a:pPr marL="0" indent="0" algn="l">
              <a:buNone/>
            </a:pPr>
            <a:r>
              <a:rPr lang="en-US" sz="1130" dirty="0">
                <a:solidFill>
                  <a:srgbClr val="BFD2E5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“상대가 더 많이 알고 있다”는 인상 형성</a:t>
            </a:r>
            <a:endParaRPr lang="en-US" sz="1130" dirty="0"/>
          </a:p>
        </p:txBody>
      </p:sp>
      <p:sp>
        <p:nvSpPr>
          <p:cNvPr id="15" name="Shape 13"/>
          <p:cNvSpPr/>
          <p:nvPr/>
        </p:nvSpPr>
        <p:spPr>
          <a:xfrm>
            <a:off x="4215384" y="2039112"/>
            <a:ext cx="2944368" cy="2331720"/>
          </a:xfrm>
          <a:prstGeom prst="roundRect">
            <a:avLst>
              <a:gd name="adj" fmla="val 7843"/>
            </a:avLst>
          </a:prstGeom>
          <a:solidFill>
            <a:srgbClr val="12375D"/>
          </a:solidFill>
          <a:ln w="10160">
            <a:solidFill>
              <a:srgbClr val="2A588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453128" y="2267712"/>
            <a:ext cx="475488" cy="475488"/>
          </a:xfrm>
          <a:prstGeom prst="ellipse">
            <a:avLst/>
          </a:prstGeom>
          <a:solidFill>
            <a:srgbClr val="173A62"/>
          </a:solidFill>
          <a:ln w="10160">
            <a:solidFill>
              <a:srgbClr val="2B5D8C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453128" y="2276856"/>
            <a:ext cx="475488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6FB8FF"/>
                </a:solidFill>
                <a:latin typeface="NanumSquare Bold" pitchFamily="34" charset="0"/>
                <a:ea typeface="NanumSquare Bold" pitchFamily="34" charset="-122"/>
                <a:cs typeface="NanumSquare Bold" pitchFamily="34" charset="-120"/>
              </a:rPr>
              <a:t>02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5065776" y="2267712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20" b="1" dirty="0">
                <a:solidFill>
                  <a:srgbClr val="FFFFFF"/>
                </a:solidFill>
                <a:latin typeface="NanumSquare Bold" pitchFamily="34" charset="0"/>
                <a:ea typeface="NanumSquare Bold" pitchFamily="34" charset="-122"/>
                <a:cs typeface="NanumSquare Bold" pitchFamily="34" charset="-120"/>
              </a:rPr>
              <a:t>심리적 압박</a:t>
            </a:r>
            <a:endParaRPr lang="en-US" sz="1620" dirty="0"/>
          </a:p>
        </p:txBody>
      </p:sp>
      <p:sp>
        <p:nvSpPr>
          <p:cNvPr id="19" name="Text 17"/>
          <p:cNvSpPr txBox="1"/>
          <p:nvPr/>
        </p:nvSpPr>
        <p:spPr>
          <a:xfrm>
            <a:off x="4462272" y="2971800"/>
            <a:ext cx="2432304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30" dirty="0">
                <a:solidFill>
                  <a:srgbClr val="BFD2E5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권위 · 공포 · 긴급성으로</a:t>
            </a:r>
            <a:endParaRPr lang="en-US" sz="1130" dirty="0"/>
          </a:p>
          <a:p>
            <a:pPr marL="0" indent="0" algn="l">
              <a:buNone/>
            </a:pPr>
            <a:r>
              <a:rPr lang="en-US" sz="1130" dirty="0">
                <a:solidFill>
                  <a:srgbClr val="BFD2E5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차분하게 비교·검토할 시간을 축소</a:t>
            </a:r>
            <a:endParaRPr lang="en-US" sz="1130" dirty="0"/>
          </a:p>
        </p:txBody>
      </p:sp>
      <p:sp>
        <p:nvSpPr>
          <p:cNvPr id="20" name="Shape 18"/>
          <p:cNvSpPr/>
          <p:nvPr/>
        </p:nvSpPr>
        <p:spPr>
          <a:xfrm>
            <a:off x="7671816" y="2039112"/>
            <a:ext cx="2944368" cy="2331720"/>
          </a:xfrm>
          <a:prstGeom prst="roundRect">
            <a:avLst>
              <a:gd name="adj" fmla="val 7843"/>
            </a:avLst>
          </a:prstGeom>
          <a:solidFill>
            <a:srgbClr val="12375D"/>
          </a:solidFill>
          <a:ln w="10160">
            <a:solidFill>
              <a:srgbClr val="2A588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909560" y="2267712"/>
            <a:ext cx="475488" cy="475488"/>
          </a:xfrm>
          <a:prstGeom prst="ellipse">
            <a:avLst/>
          </a:prstGeom>
          <a:solidFill>
            <a:srgbClr val="173A62"/>
          </a:solidFill>
          <a:ln w="10160">
            <a:solidFill>
              <a:srgbClr val="2B5D8C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909560" y="2276856"/>
            <a:ext cx="475488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9ACDFF"/>
                </a:solidFill>
                <a:latin typeface="NanumSquare Bold" pitchFamily="34" charset="0"/>
                <a:ea typeface="NanumSquare Bold" pitchFamily="34" charset="-122"/>
                <a:cs typeface="NanumSquare Bold" pitchFamily="34" charset="-120"/>
              </a:rPr>
              <a:t>03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8522208" y="2267712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20" b="1" dirty="0">
                <a:solidFill>
                  <a:srgbClr val="FFFFFF"/>
                </a:solidFill>
                <a:latin typeface="NanumSquare Bold" pitchFamily="34" charset="0"/>
                <a:ea typeface="NanumSquare Bold" pitchFamily="34" charset="-122"/>
                <a:cs typeface="NanumSquare Bold" pitchFamily="34" charset="-120"/>
              </a:rPr>
              <a:t>외부 검증 차단</a:t>
            </a:r>
            <a:endParaRPr lang="en-US" sz="1620" dirty="0"/>
          </a:p>
        </p:txBody>
      </p:sp>
      <p:sp>
        <p:nvSpPr>
          <p:cNvPr id="24" name="Text 22"/>
          <p:cNvSpPr txBox="1"/>
          <p:nvPr/>
        </p:nvSpPr>
        <p:spPr>
          <a:xfrm>
            <a:off x="7918704" y="2971800"/>
            <a:ext cx="2432304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30" dirty="0">
                <a:solidFill>
                  <a:srgbClr val="BFD2E5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비밀유지 · 연락 제한 ·</a:t>
            </a:r>
            <a:endParaRPr lang="en-US" sz="1130" dirty="0"/>
          </a:p>
          <a:p>
            <a:pPr marL="0" indent="0" algn="l">
              <a:buNone/>
            </a:pPr>
            <a:r>
              <a:rPr lang="en-US" sz="1130" dirty="0">
                <a:solidFill>
                  <a:srgbClr val="BFD2E5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확인 절차 방해로 독립적 판단을 차단</a:t>
            </a:r>
            <a:endParaRPr lang="en-US" sz="1130" dirty="0"/>
          </a:p>
        </p:txBody>
      </p:sp>
      <p:sp>
        <p:nvSpPr>
          <p:cNvPr id="25" name="Shape 23"/>
          <p:cNvSpPr/>
          <p:nvPr/>
        </p:nvSpPr>
        <p:spPr>
          <a:xfrm>
            <a:off x="3639312" y="3218688"/>
            <a:ext cx="402336" cy="0"/>
          </a:xfrm>
          <a:prstGeom prst="line">
            <a:avLst/>
          </a:prstGeom>
          <a:noFill/>
          <a:ln w="25400">
            <a:solidFill>
              <a:srgbClr val="49A8FF"/>
            </a:solidFill>
            <a:prstDash val="solid"/>
            <a:headEnd type="none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7095744" y="3218688"/>
            <a:ext cx="402336" cy="0"/>
          </a:xfrm>
          <a:prstGeom prst="line">
            <a:avLst/>
          </a:prstGeom>
          <a:noFill/>
          <a:ln w="25400">
            <a:solidFill>
              <a:srgbClr val="49A8FF"/>
            </a:solidFill>
            <a:prstDash val="solid"/>
            <a:headEnd type="none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3172968" y="4782312"/>
            <a:ext cx="5833872" cy="850392"/>
          </a:xfrm>
          <a:prstGeom prst="roundRect">
            <a:avLst>
              <a:gd name="adj" fmla="val 19355"/>
            </a:avLst>
          </a:prstGeom>
          <a:solidFill>
            <a:srgbClr val="1F5EFF"/>
          </a:solidFill>
          <a:ln w="10160">
            <a:solidFill>
              <a:srgbClr val="1F5EFF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3438144" y="5001768"/>
            <a:ext cx="5303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30" b="1" dirty="0">
                <a:solidFill>
                  <a:srgbClr val="FFFFFF"/>
                </a:solidFill>
                <a:latin typeface="NanumSquare Bold" pitchFamily="34" charset="0"/>
                <a:ea typeface="NanumSquare Bold" pitchFamily="34" charset="-122"/>
                <a:cs typeface="NanumSquare Bold" pitchFamily="34" charset="-120"/>
              </a:rPr>
              <a:t>세 요소가 결합하면 범죄자는 피해자의 “판단 환경”을 장악한다</a:t>
            </a:r>
            <a:endParaRPr lang="en-US" sz="1630" dirty="0"/>
          </a:p>
        </p:txBody>
      </p:sp>
      <p:sp>
        <p:nvSpPr>
          <p:cNvPr id="2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10528"/>
            <a:ext cx="27432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D86A6"/>
                </a:solidFill>
                <a:latin typeface="NanumSquare"/>
                <a:ea typeface="NanumSquare"/>
                <a:cs typeface="NanumSquare"/>
              </a:defRPr>
            </a:lvl1pPr>
          </a:lstStyle>
          <a:p>
            <a:pPr algn="r"/>
            <a:fld id="{F7021451-1387-4CA6-816F-3879F97B5CBC}" type="slidenum">
              <a:rPr lang="en-US" b="0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BD6FB03-DC66-44F9-B8C6-CA052B0E3538}"/>
              </a:ext>
            </a:extLst>
          </p:cNvPr>
          <p:cNvSpPr txBox="1"/>
          <p:nvPr/>
        </p:nvSpPr>
        <p:spPr>
          <a:xfrm>
            <a:off x="372534" y="365668"/>
            <a:ext cx="3602268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solidFill>
                  <a:schemeClr val="bg1"/>
                </a:solidFill>
              </a:rPr>
              <a:t>이런 방식에 사람들은 취약하다</a:t>
            </a:r>
            <a:r>
              <a:rPr lang="en-US" altLang="ko-KR" dirty="0">
                <a:solidFill>
                  <a:schemeClr val="bg1"/>
                </a:solidFill>
              </a:rPr>
              <a:t>…</a:t>
            </a:r>
          </a:p>
          <a:p>
            <a:r>
              <a:rPr lang="ko-KR" altLang="en-US" dirty="0">
                <a:solidFill>
                  <a:schemeClr val="bg1"/>
                </a:solidFill>
              </a:rPr>
              <a:t>연령별 취약성</a:t>
            </a:r>
            <a:r>
              <a:rPr lang="en-US" altLang="ko-KR" dirty="0">
                <a:solidFill>
                  <a:schemeClr val="bg1"/>
                </a:solidFill>
              </a:rPr>
              <a:t>…?</a:t>
            </a:r>
          </a:p>
          <a:p>
            <a:r>
              <a:rPr lang="ko-KR" altLang="en-US" dirty="0">
                <a:solidFill>
                  <a:schemeClr val="bg1"/>
                </a:solidFill>
              </a:rPr>
              <a:t>수법의 취약성</a:t>
            </a:r>
            <a:r>
              <a:rPr lang="en-US" altLang="ko-KR" dirty="0">
                <a:solidFill>
                  <a:schemeClr val="bg1"/>
                </a:solidFill>
              </a:rPr>
              <a:t>...!</a:t>
            </a:r>
            <a:endParaRPr lang="ko-KR" altLang="en-US" dirty="0">
              <a:solidFill>
                <a:schemeClr val="bg1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F6BEE45-68C9-4DBF-A291-79588BD658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99795" y="2133941"/>
            <a:ext cx="7240010" cy="657317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801F80D0-09F6-4E22-BC66-C9B7A6C7F561}"/>
              </a:ext>
            </a:extLst>
          </p:cNvPr>
          <p:cNvSpPr/>
          <p:nvPr/>
        </p:nvSpPr>
        <p:spPr>
          <a:xfrm>
            <a:off x="3178728" y="3261267"/>
            <a:ext cx="6002867" cy="2658534"/>
          </a:xfrm>
          <a:prstGeom prst="rect">
            <a:avLst/>
          </a:prstGeom>
          <a:solidFill>
            <a:schemeClr val="tx1"/>
          </a:solidFill>
          <a:ln w="12700">
            <a:solidFill>
              <a:srgbClr val="0E2746"/>
            </a:solidFill>
            <a:prstDash val="solid"/>
          </a:ln>
        </p:spPr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bg1"/>
                </a:solidFill>
              </a:rPr>
              <a:t>연령별 나이 비중 변화 데이터 등 각 연령과 사람들의 취약점 분석</a:t>
            </a:r>
          </a:p>
        </p:txBody>
      </p:sp>
    </p:spTree>
    <p:extLst>
      <p:ext uri="{BB962C8B-B14F-4D97-AF65-F5344CB8AC3E}">
        <p14:creationId xmlns:p14="http://schemas.microsoft.com/office/powerpoint/2010/main" val="107323280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844784" y="128016"/>
            <a:ext cx="1188720" cy="1188720"/>
          </a:xfrm>
          <a:prstGeom prst="ellipse">
            <a:avLst/>
          </a:prstGeom>
          <a:solidFill>
            <a:srgbClr val="EAF3FF"/>
          </a:solidFill>
          <a:ln w="10160">
            <a:solidFill>
              <a:srgbClr val="EAF3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448288" y="292608"/>
            <a:ext cx="310896" cy="310896"/>
          </a:xfrm>
          <a:prstGeom prst="ellipse">
            <a:avLst/>
          </a:prstGeom>
          <a:solidFill>
            <a:srgbClr val="49A8FF"/>
          </a:solidFill>
          <a:ln w="10160">
            <a:solidFill>
              <a:srgbClr val="49A8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844784" y="1024128"/>
            <a:ext cx="868680" cy="0"/>
          </a:xfrm>
          <a:prstGeom prst="line">
            <a:avLst/>
          </a:prstGeom>
          <a:noFill/>
          <a:ln w="13970">
            <a:solidFill>
              <a:srgbClr val="D6E8FF"/>
            </a:solidFill>
            <a:prstDash val="solid"/>
            <a:headEnd type="none"/>
            <a:tailEnd type="none"/>
          </a:ln>
        </p:spPr>
      </p:sp>
      <p:sp>
        <p:nvSpPr>
          <p:cNvPr id="5" name="Shape 3"/>
          <p:cNvSpPr/>
          <p:nvPr/>
        </p:nvSpPr>
        <p:spPr>
          <a:xfrm>
            <a:off x="11045952" y="1225296"/>
            <a:ext cx="667512" cy="0"/>
          </a:xfrm>
          <a:prstGeom prst="line">
            <a:avLst/>
          </a:prstGeom>
          <a:noFill/>
          <a:ln w="13970">
            <a:solidFill>
              <a:srgbClr val="D6E8FF"/>
            </a:solidFill>
            <a:prstDash val="solid"/>
            <a:headEnd type="none"/>
            <a:tailEnd type="none"/>
          </a:ln>
        </p:spPr>
      </p:sp>
      <p:sp>
        <p:nvSpPr>
          <p:cNvPr id="6" name="Shape 4"/>
          <p:cNvSpPr/>
          <p:nvPr/>
        </p:nvSpPr>
        <p:spPr>
          <a:xfrm>
            <a:off x="566928" y="347472"/>
            <a:ext cx="1115568" cy="310896"/>
          </a:xfrm>
          <a:prstGeom prst="roundRect">
            <a:avLst>
              <a:gd name="adj" fmla="val 50000"/>
            </a:avLst>
          </a:prstGeom>
          <a:solidFill>
            <a:srgbClr val="EAF3FF"/>
          </a:solidFill>
          <a:ln w="10160">
            <a:solidFill>
              <a:srgbClr val="D7E7F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76656" y="374904"/>
            <a:ext cx="8961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10000"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F5EFF"/>
                </a:solidFill>
                <a:latin typeface="NanumSquare Bold" pitchFamily="34" charset="0"/>
                <a:ea typeface="NanumSquare Bold" pitchFamily="34" charset="-122"/>
                <a:cs typeface="NanumSquare Bold" pitchFamily="34" charset="-120"/>
              </a:rPr>
              <a:t>피해자 취약점 분석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566928" y="850392"/>
            <a:ext cx="106984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0213D"/>
                </a:solidFill>
                <a:latin typeface="NanumSquare Bold" pitchFamily="34" charset="0"/>
                <a:ea typeface="NanumSquare Bold" pitchFamily="34" charset="-122"/>
                <a:cs typeface="NanumSquare Bold" pitchFamily="34" charset="-120"/>
              </a:rPr>
              <a:t>연령·유형별로 서로 다른 판단 공백이 나타난다</a:t>
            </a:r>
            <a:endParaRPr lang="en-US" sz="2800" dirty="0"/>
          </a:p>
        </p:txBody>
      </p:sp>
      <p:sp>
        <p:nvSpPr>
          <p:cNvPr id="9" name="Text 7"/>
          <p:cNvSpPr txBox="1"/>
          <p:nvPr/>
        </p:nvSpPr>
        <p:spPr>
          <a:xfrm>
            <a:off x="585216" y="1353312"/>
            <a:ext cx="10515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30" dirty="0">
                <a:solidFill>
                  <a:srgbClr val="66768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20대와 고령층의 취약성을 단순 “주의 부족”이 아니라 정보·경험·검증 구조의 차이로 설명</a:t>
            </a:r>
            <a:endParaRPr lang="en-US" sz="1230" dirty="0"/>
          </a:p>
        </p:txBody>
      </p:sp>
      <p:sp>
        <p:nvSpPr>
          <p:cNvPr id="10" name="Shape 8"/>
          <p:cNvSpPr/>
          <p:nvPr/>
        </p:nvSpPr>
        <p:spPr>
          <a:xfrm>
            <a:off x="676656" y="1883664"/>
            <a:ext cx="5175504" cy="3337560"/>
          </a:xfrm>
          <a:prstGeom prst="roundRect">
            <a:avLst>
              <a:gd name="adj" fmla="val 5479"/>
            </a:avLst>
          </a:prstGeom>
          <a:solidFill>
            <a:srgbClr val="FFFFFF"/>
          </a:solidFill>
          <a:ln w="10160">
            <a:solidFill>
              <a:srgbClr val="DCE8F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96112" y="2130552"/>
            <a:ext cx="932688" cy="310896"/>
          </a:xfrm>
          <a:prstGeom prst="roundRect">
            <a:avLst>
              <a:gd name="adj" fmla="val 50000"/>
            </a:avLst>
          </a:prstGeom>
          <a:solidFill>
            <a:srgbClr val="EAF3FF"/>
          </a:solidFill>
          <a:ln w="10160">
            <a:solidFill>
              <a:srgbClr val="D7E7F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69264" y="2157984"/>
            <a:ext cx="7863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F5EFF"/>
                </a:solidFill>
                <a:latin typeface="NanumSquare Bold" pitchFamily="34" charset="0"/>
                <a:ea typeface="NanumSquare Bold" pitchFamily="34" charset="-122"/>
                <a:cs typeface="NanumSquare Bold" pitchFamily="34" charset="-120"/>
              </a:rPr>
              <a:t>20대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896112" y="2615184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F5EFF"/>
                </a:solidFill>
                <a:latin typeface="NanumSquare Bold" pitchFamily="34" charset="0"/>
                <a:ea typeface="NanumSquare Bold" pitchFamily="34" charset="-122"/>
                <a:cs typeface="NanumSquare Bold" pitchFamily="34" charset="-120"/>
              </a:rPr>
              <a:t>판단 기준의 공백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896112" y="3136392"/>
            <a:ext cx="44074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20" dirty="0">
                <a:solidFill>
                  <a:srgbClr val="10213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금융·행정·수사 절차에 대한 경험이 적을 경우</a:t>
            </a:r>
            <a:endParaRPr lang="en-US" sz="1220" dirty="0"/>
          </a:p>
          <a:p>
            <a:pPr marL="0" indent="0" algn="l">
              <a:buNone/>
            </a:pPr>
            <a:r>
              <a:rPr lang="en-US" sz="1220" dirty="0">
                <a:solidFill>
                  <a:srgbClr val="10213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“정상적인 절차가 무엇인지” 비교할 기준점이 부족할 수 있다.</a:t>
            </a:r>
            <a:endParaRPr lang="en-US" sz="1220" dirty="0"/>
          </a:p>
        </p:txBody>
      </p:sp>
      <p:sp>
        <p:nvSpPr>
          <p:cNvPr id="15" name="Shape 13"/>
          <p:cNvSpPr/>
          <p:nvPr/>
        </p:nvSpPr>
        <p:spPr>
          <a:xfrm>
            <a:off x="896112" y="4242816"/>
            <a:ext cx="4425696" cy="621792"/>
          </a:xfrm>
          <a:prstGeom prst="roundRect">
            <a:avLst>
              <a:gd name="adj" fmla="val 17647"/>
            </a:avLst>
          </a:prstGeom>
          <a:solidFill>
            <a:srgbClr val="EAF3FF"/>
          </a:solidFill>
          <a:ln w="10160">
            <a:solidFill>
              <a:srgbClr val="D7E7F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051560" y="4407408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60" b="1" dirty="0">
                <a:solidFill>
                  <a:srgbClr val="1F5EFF"/>
                </a:solidFill>
                <a:latin typeface="NanumSquare Bold" pitchFamily="34" charset="0"/>
                <a:ea typeface="NanumSquare Bold" pitchFamily="34" charset="-122"/>
                <a:cs typeface="NanumSquare Bold" pitchFamily="34" charset="-120"/>
              </a:rPr>
              <a:t>주요 공격: 권위·기관사칭 → 정상 절차로 오인</a:t>
            </a:r>
            <a:endParaRPr lang="en-US" sz="1160" dirty="0"/>
          </a:p>
        </p:txBody>
      </p:sp>
      <p:sp>
        <p:nvSpPr>
          <p:cNvPr id="17" name="Shape 15"/>
          <p:cNvSpPr/>
          <p:nvPr/>
        </p:nvSpPr>
        <p:spPr>
          <a:xfrm>
            <a:off x="6108192" y="1883664"/>
            <a:ext cx="5175504" cy="3337560"/>
          </a:xfrm>
          <a:prstGeom prst="roundRect">
            <a:avLst>
              <a:gd name="adj" fmla="val 5479"/>
            </a:avLst>
          </a:prstGeom>
          <a:solidFill>
            <a:srgbClr val="FFFFFF"/>
          </a:solidFill>
          <a:ln w="10160">
            <a:solidFill>
              <a:srgbClr val="DCE8F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327648" y="2130552"/>
            <a:ext cx="932688" cy="310896"/>
          </a:xfrm>
          <a:prstGeom prst="roundRect">
            <a:avLst>
              <a:gd name="adj" fmla="val 50000"/>
            </a:avLst>
          </a:prstGeom>
          <a:solidFill>
            <a:srgbClr val="EAF3FF"/>
          </a:solidFill>
          <a:ln w="10160">
            <a:solidFill>
              <a:srgbClr val="D7E7F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400800" y="2157984"/>
            <a:ext cx="7863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F5EFF"/>
                </a:solidFill>
                <a:latin typeface="NanumSquare Bold" pitchFamily="34" charset="0"/>
                <a:ea typeface="NanumSquare Bold" pitchFamily="34" charset="-122"/>
                <a:cs typeface="NanumSquare Bold" pitchFamily="34" charset="-120"/>
              </a:rPr>
              <a:t>고령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6327648" y="2615184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02B4E"/>
                </a:solidFill>
                <a:latin typeface="NanumSquare Bold" pitchFamily="34" charset="0"/>
                <a:ea typeface="NanumSquare Bold" pitchFamily="34" charset="-122"/>
                <a:cs typeface="NanumSquare Bold" pitchFamily="34" charset="-120"/>
              </a:rPr>
              <a:t>정보·검증의 공백</a:t>
            </a:r>
            <a:endParaRPr lang="en-US" sz="2000" dirty="0"/>
          </a:p>
        </p:txBody>
      </p:sp>
      <p:sp>
        <p:nvSpPr>
          <p:cNvPr id="21" name="Text 19"/>
          <p:cNvSpPr txBox="1"/>
          <p:nvPr/>
        </p:nvSpPr>
        <p:spPr>
          <a:xfrm>
            <a:off x="6327648" y="3136392"/>
            <a:ext cx="44074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20" dirty="0">
                <a:solidFill>
                  <a:srgbClr val="10213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디지털·금융환경이 빠르게 변하면서</a:t>
            </a:r>
            <a:endParaRPr lang="en-US" sz="1220" dirty="0"/>
          </a:p>
          <a:p>
            <a:pPr marL="0" indent="0" algn="l">
              <a:buNone/>
            </a:pPr>
            <a:r>
              <a:rPr lang="en-US" sz="1220" dirty="0">
                <a:solidFill>
                  <a:srgbClr val="10213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공식 정보를 검색·비교·확인하는 과정 자체가 부담이 될 수 있다.</a:t>
            </a:r>
            <a:endParaRPr lang="en-US" sz="1220" dirty="0"/>
          </a:p>
        </p:txBody>
      </p:sp>
      <p:sp>
        <p:nvSpPr>
          <p:cNvPr id="22" name="Shape 20"/>
          <p:cNvSpPr/>
          <p:nvPr/>
        </p:nvSpPr>
        <p:spPr>
          <a:xfrm>
            <a:off x="6327648" y="4242816"/>
            <a:ext cx="4425696" cy="621792"/>
          </a:xfrm>
          <a:prstGeom prst="roundRect">
            <a:avLst>
              <a:gd name="adj" fmla="val 17647"/>
            </a:avLst>
          </a:prstGeom>
          <a:solidFill>
            <a:srgbClr val="EDF2F8"/>
          </a:solidFill>
          <a:ln w="10160">
            <a:solidFill>
              <a:srgbClr val="DCE5EF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473952" y="4407408"/>
            <a:ext cx="4133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35" b="1" dirty="0">
                <a:solidFill>
                  <a:srgbClr val="102B4E"/>
                </a:solidFill>
                <a:latin typeface="NanumSquare Bold" pitchFamily="34" charset="0"/>
                <a:ea typeface="NanumSquare Bold" pitchFamily="34" charset="-122"/>
                <a:cs typeface="NanumSquare Bold" pitchFamily="34" charset="-120"/>
              </a:rPr>
              <a:t>주요 공격: 반복 설명·다중 사칭 → 혼돈과 신뢰 강화</a:t>
            </a:r>
            <a:endParaRPr lang="en-US" sz="1135" dirty="0"/>
          </a:p>
        </p:txBody>
      </p:sp>
      <p:sp>
        <p:nvSpPr>
          <p:cNvPr id="24" name="Shape 22"/>
          <p:cNvSpPr/>
          <p:nvPr/>
        </p:nvSpPr>
        <p:spPr>
          <a:xfrm>
            <a:off x="676656" y="5458968"/>
            <a:ext cx="10607040" cy="402336"/>
          </a:xfrm>
          <a:prstGeom prst="roundRect">
            <a:avLst>
              <a:gd name="adj" fmla="val 31818"/>
            </a:avLst>
          </a:prstGeom>
          <a:solidFill>
            <a:srgbClr val="EAF3FF"/>
          </a:solidFill>
          <a:ln w="10160">
            <a:solidFill>
              <a:srgbClr val="D7E7FF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96112" y="5541264"/>
            <a:ext cx="101772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66768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하단에는 “연령별 피해 현황 그래프” 또는 관련 설문·논문 근거를 삽입</a:t>
            </a:r>
            <a:endParaRPr lang="en-US" sz="1050" dirty="0"/>
          </a:p>
        </p:txBody>
      </p:sp>
      <p:sp>
        <p:nvSpPr>
          <p:cNvPr id="2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10528"/>
            <a:ext cx="27432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B8CA8"/>
                </a:solidFill>
                <a:latin typeface="NanumSquare"/>
                <a:ea typeface="NanumSquare"/>
                <a:cs typeface="NanumSquare"/>
              </a:defRPr>
            </a:lvl1pPr>
          </a:lstStyle>
          <a:p>
            <a:pPr algn="r"/>
            <a:fld id="{F7021451-1387-4CA6-816F-3879F97B5CBC}" type="slidenum">
              <a:rPr lang="en-US" b="0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844784" y="128016"/>
            <a:ext cx="1188720" cy="1188720"/>
          </a:xfrm>
          <a:prstGeom prst="ellipse">
            <a:avLst/>
          </a:prstGeom>
          <a:solidFill>
            <a:srgbClr val="EAF3FF"/>
          </a:solidFill>
          <a:ln w="10160">
            <a:solidFill>
              <a:srgbClr val="EAF3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448288" y="292608"/>
            <a:ext cx="310896" cy="310896"/>
          </a:xfrm>
          <a:prstGeom prst="ellipse">
            <a:avLst/>
          </a:prstGeom>
          <a:solidFill>
            <a:srgbClr val="49A8FF"/>
          </a:solidFill>
          <a:ln w="10160">
            <a:solidFill>
              <a:srgbClr val="49A8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844784" y="1024128"/>
            <a:ext cx="868680" cy="0"/>
          </a:xfrm>
          <a:prstGeom prst="line">
            <a:avLst/>
          </a:prstGeom>
          <a:noFill/>
          <a:ln w="13970">
            <a:solidFill>
              <a:srgbClr val="D6E8FF"/>
            </a:solidFill>
            <a:prstDash val="solid"/>
            <a:headEnd type="none"/>
            <a:tailEnd type="none"/>
          </a:ln>
        </p:spPr>
      </p:sp>
      <p:sp>
        <p:nvSpPr>
          <p:cNvPr id="5" name="Shape 3"/>
          <p:cNvSpPr/>
          <p:nvPr/>
        </p:nvSpPr>
        <p:spPr>
          <a:xfrm>
            <a:off x="11045952" y="1225296"/>
            <a:ext cx="667512" cy="0"/>
          </a:xfrm>
          <a:prstGeom prst="line">
            <a:avLst/>
          </a:prstGeom>
          <a:noFill/>
          <a:ln w="13970">
            <a:solidFill>
              <a:srgbClr val="D6E8FF"/>
            </a:solidFill>
            <a:prstDash val="solid"/>
            <a:headEnd type="none"/>
            <a:tailEnd type="none"/>
          </a:ln>
        </p:spPr>
      </p:sp>
      <p:sp>
        <p:nvSpPr>
          <p:cNvPr id="6" name="Shape 4"/>
          <p:cNvSpPr/>
          <p:nvPr/>
        </p:nvSpPr>
        <p:spPr>
          <a:xfrm>
            <a:off x="566928" y="347472"/>
            <a:ext cx="1115568" cy="310896"/>
          </a:xfrm>
          <a:prstGeom prst="roundRect">
            <a:avLst>
              <a:gd name="adj" fmla="val 50000"/>
            </a:avLst>
          </a:prstGeom>
          <a:solidFill>
            <a:srgbClr val="EAF3FF"/>
          </a:solidFill>
          <a:ln w="10160">
            <a:solidFill>
              <a:srgbClr val="D7E7F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76656" y="374904"/>
            <a:ext cx="8961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10000"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F5EFF"/>
                </a:solidFill>
                <a:latin typeface="NanumSquare Bold" pitchFamily="34" charset="0"/>
                <a:ea typeface="NanumSquare Bold" pitchFamily="34" charset="-122"/>
                <a:cs typeface="NanumSquare Bold" pitchFamily="34" charset="-120"/>
              </a:rPr>
              <a:t>피해자 취약점 분석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566928" y="850392"/>
            <a:ext cx="106984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0213D"/>
                </a:solidFill>
                <a:latin typeface="NanumSquare Bold" pitchFamily="34" charset="0"/>
                <a:ea typeface="NanumSquare Bold" pitchFamily="34" charset="-122"/>
                <a:cs typeface="NanumSquare Bold" pitchFamily="34" charset="-120"/>
              </a:rPr>
              <a:t>핵심은 연령이 아니라, 취약성과 공격방식의 결합이다</a:t>
            </a:r>
            <a:endParaRPr lang="en-US" sz="2800" dirty="0"/>
          </a:p>
        </p:txBody>
      </p:sp>
      <p:sp>
        <p:nvSpPr>
          <p:cNvPr id="9" name="Text 7"/>
          <p:cNvSpPr txBox="1"/>
          <p:nvPr/>
        </p:nvSpPr>
        <p:spPr>
          <a:xfrm>
            <a:off x="585216" y="1353312"/>
            <a:ext cx="10515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30" dirty="0">
                <a:solidFill>
                  <a:srgbClr val="66768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20대·고령층을 넘어 일반 금융소비자도 특정 상황에서는 판단이 흔들릴 수 있다는 확장 메시지</a:t>
            </a:r>
            <a:endParaRPr lang="en-US" sz="1230" dirty="0"/>
          </a:p>
        </p:txBody>
      </p:sp>
      <p:sp>
        <p:nvSpPr>
          <p:cNvPr id="10" name="Text 8"/>
          <p:cNvSpPr txBox="1"/>
          <p:nvPr/>
        </p:nvSpPr>
        <p:spPr>
          <a:xfrm>
            <a:off x="694944" y="1984248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5EFF"/>
                </a:solidFill>
                <a:latin typeface="NanumSquare Bold" pitchFamily="34" charset="0"/>
                <a:ea typeface="NanumSquare Bold" pitchFamily="34" charset="-122"/>
                <a:cs typeface="NanumSquare Bold" pitchFamily="34" charset="-120"/>
              </a:rPr>
              <a:t>누구나</a:t>
            </a:r>
            <a:endParaRPr lang="en-US" sz="2800" dirty="0"/>
          </a:p>
        </p:txBody>
      </p:sp>
      <p:sp>
        <p:nvSpPr>
          <p:cNvPr id="11" name="Text 9"/>
          <p:cNvSpPr txBox="1"/>
          <p:nvPr/>
        </p:nvSpPr>
        <p:spPr>
          <a:xfrm>
            <a:off x="2203704" y="1984248"/>
            <a:ext cx="5029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0213D"/>
                </a:solidFill>
                <a:latin typeface="NanumSquare Bold" pitchFamily="34" charset="0"/>
                <a:ea typeface="NanumSquare Bold" pitchFamily="34" charset="-122"/>
                <a:cs typeface="NanumSquare Bold" pitchFamily="34" charset="-120"/>
              </a:rPr>
              <a:t>취약해질 수 있는 순간이 있다</a:t>
            </a:r>
            <a:endParaRPr lang="en-US" sz="2800" dirty="0"/>
          </a:p>
        </p:txBody>
      </p:sp>
      <p:sp>
        <p:nvSpPr>
          <p:cNvPr id="12" name="Shape 10"/>
          <p:cNvSpPr/>
          <p:nvPr/>
        </p:nvSpPr>
        <p:spPr>
          <a:xfrm>
            <a:off x="713232" y="2807208"/>
            <a:ext cx="2990088" cy="1874520"/>
          </a:xfrm>
          <a:prstGeom prst="roundRect">
            <a:avLst>
              <a:gd name="adj" fmla="val 8780"/>
            </a:avLst>
          </a:prstGeom>
          <a:solidFill>
            <a:srgbClr val="FFFFFF"/>
          </a:solidFill>
          <a:ln w="10160">
            <a:solidFill>
              <a:srgbClr val="DCE8F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14400" y="2999232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F5EFF"/>
                </a:solidFill>
                <a:latin typeface="NanumSquare Bold" pitchFamily="34" charset="0"/>
                <a:ea typeface="NanumSquare Bold" pitchFamily="34" charset="-122"/>
                <a:cs typeface="NanumSquare Bold" pitchFamily="34" charset="-120"/>
              </a:rPr>
              <a:t>01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914400" y="3364992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0213D"/>
                </a:solidFill>
                <a:latin typeface="NanumSquare Bold" pitchFamily="34" charset="0"/>
                <a:ea typeface="NanumSquare Bold" pitchFamily="34" charset="-122"/>
                <a:cs typeface="NanumSquare Bold" pitchFamily="34" charset="-120"/>
              </a:rPr>
              <a:t>정교한 개인정보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14400" y="3803904"/>
            <a:ext cx="250545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60" dirty="0">
                <a:solidFill>
                  <a:srgbClr val="66768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이름·직장·거래정보를 알고 접근</a:t>
            </a:r>
            <a:endParaRPr lang="en-US" sz="1060" dirty="0"/>
          </a:p>
          <a:p>
            <a:pPr marL="0" indent="0" algn="l">
              <a:buNone/>
            </a:pPr>
            <a:r>
              <a:rPr lang="en-US" sz="1060" dirty="0">
                <a:solidFill>
                  <a:srgbClr val="66768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→ “진짜 기관 같다”는 신뢰 강화</a:t>
            </a:r>
            <a:endParaRPr lang="en-US" sz="1060" dirty="0"/>
          </a:p>
        </p:txBody>
      </p:sp>
      <p:sp>
        <p:nvSpPr>
          <p:cNvPr id="16" name="Shape 14"/>
          <p:cNvSpPr/>
          <p:nvPr/>
        </p:nvSpPr>
        <p:spPr>
          <a:xfrm>
            <a:off x="4059936" y="2807208"/>
            <a:ext cx="2990088" cy="1874520"/>
          </a:xfrm>
          <a:prstGeom prst="roundRect">
            <a:avLst>
              <a:gd name="adj" fmla="val 8780"/>
            </a:avLst>
          </a:prstGeom>
          <a:solidFill>
            <a:srgbClr val="F1F6FF"/>
          </a:solidFill>
          <a:ln w="10160">
            <a:solidFill>
              <a:srgbClr val="D7E7F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261104" y="2999232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F5EFF"/>
                </a:solidFill>
                <a:latin typeface="NanumSquare Bold" pitchFamily="34" charset="0"/>
                <a:ea typeface="NanumSquare Bold" pitchFamily="34" charset="-122"/>
                <a:cs typeface="NanumSquare Bold" pitchFamily="34" charset="-120"/>
              </a:rPr>
              <a:t>02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4261104" y="3364992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0213D"/>
                </a:solidFill>
                <a:latin typeface="NanumSquare Bold" pitchFamily="34" charset="0"/>
                <a:ea typeface="NanumSquare Bold" pitchFamily="34" charset="-122"/>
                <a:cs typeface="NanumSquare Bold" pitchFamily="34" charset="-120"/>
              </a:rPr>
              <a:t>갑작스러운 공포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4261104" y="3803904"/>
            <a:ext cx="250545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60" dirty="0">
                <a:solidFill>
                  <a:srgbClr val="66768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수사·체포·자산동결 등 위협</a:t>
            </a:r>
            <a:endParaRPr lang="en-US" sz="1060" dirty="0"/>
          </a:p>
          <a:p>
            <a:pPr marL="0" indent="0" algn="l">
              <a:buNone/>
            </a:pPr>
            <a:r>
              <a:rPr lang="en-US" sz="1060" dirty="0">
                <a:solidFill>
                  <a:srgbClr val="66768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→ 차분한 판단보다 즉시 대응 선택</a:t>
            </a:r>
            <a:endParaRPr lang="en-US" sz="1060" dirty="0"/>
          </a:p>
        </p:txBody>
      </p:sp>
      <p:sp>
        <p:nvSpPr>
          <p:cNvPr id="20" name="Shape 18"/>
          <p:cNvSpPr/>
          <p:nvPr/>
        </p:nvSpPr>
        <p:spPr>
          <a:xfrm>
            <a:off x="7406640" y="2807208"/>
            <a:ext cx="2990088" cy="1874520"/>
          </a:xfrm>
          <a:prstGeom prst="roundRect">
            <a:avLst>
              <a:gd name="adj" fmla="val 8780"/>
            </a:avLst>
          </a:prstGeom>
          <a:solidFill>
            <a:srgbClr val="FFFFFF"/>
          </a:solidFill>
          <a:ln w="10160">
            <a:solidFill>
              <a:srgbClr val="DCE8FA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607808" y="2999232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F5EFF"/>
                </a:solidFill>
                <a:latin typeface="NanumSquare Bold" pitchFamily="34" charset="0"/>
                <a:ea typeface="NanumSquare Bold" pitchFamily="34" charset="-122"/>
                <a:cs typeface="NanumSquare Bold" pitchFamily="34" charset="-120"/>
              </a:rPr>
              <a:t>03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7607808" y="3364992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0213D"/>
                </a:solidFill>
                <a:latin typeface="NanumSquare Bold" pitchFamily="34" charset="0"/>
                <a:ea typeface="NanumSquare Bold" pitchFamily="34" charset="-122"/>
                <a:cs typeface="NanumSquare Bold" pitchFamily="34" charset="-120"/>
              </a:rPr>
              <a:t>충분하지 않은 시간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7607808" y="3803904"/>
            <a:ext cx="250545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60" dirty="0">
                <a:solidFill>
                  <a:srgbClr val="66768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지금 당장 처리해야 한다는 압박</a:t>
            </a:r>
            <a:endParaRPr lang="en-US" sz="1060" dirty="0"/>
          </a:p>
          <a:p>
            <a:pPr marL="0" indent="0" algn="l">
              <a:buNone/>
            </a:pPr>
            <a:r>
              <a:rPr lang="en-US" sz="1060" dirty="0">
                <a:solidFill>
                  <a:srgbClr val="66768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→ 가족·기관에 확인할 시간을 제거</a:t>
            </a:r>
            <a:endParaRPr lang="en-US" sz="1060" dirty="0"/>
          </a:p>
        </p:txBody>
      </p:sp>
      <p:sp>
        <p:nvSpPr>
          <p:cNvPr id="24" name="Shape 22"/>
          <p:cNvSpPr/>
          <p:nvPr/>
        </p:nvSpPr>
        <p:spPr>
          <a:xfrm>
            <a:off x="1353312" y="5102352"/>
            <a:ext cx="9491472" cy="749808"/>
          </a:xfrm>
          <a:prstGeom prst="roundRect">
            <a:avLst>
              <a:gd name="adj" fmla="val 21951"/>
            </a:avLst>
          </a:prstGeom>
          <a:solidFill>
            <a:srgbClr val="0B1F3A"/>
          </a:solidFill>
          <a:ln w="10160">
            <a:solidFill>
              <a:srgbClr val="0B1F3A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1664208" y="5321808"/>
            <a:ext cx="8869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20" b="1" dirty="0">
                <a:solidFill>
                  <a:srgbClr val="FFFFFF"/>
                </a:solidFill>
                <a:latin typeface="NanumSquare Bold" pitchFamily="34" charset="0"/>
                <a:ea typeface="NanumSquare Bold" pitchFamily="34" charset="-122"/>
                <a:cs typeface="NanumSquare Bold" pitchFamily="34" charset="-120"/>
              </a:rPr>
              <a:t>사람마다 취약성은 다르고, 범죄자는 그 취약성과 맞는 공격방식을 선택한다</a:t>
            </a:r>
            <a:endParaRPr lang="en-US" sz="1420" dirty="0"/>
          </a:p>
        </p:txBody>
      </p:sp>
      <p:sp>
        <p:nvSpPr>
          <p:cNvPr id="2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10528"/>
            <a:ext cx="27432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B8CA8"/>
                </a:solidFill>
                <a:latin typeface="NanumSquare"/>
                <a:ea typeface="NanumSquare"/>
                <a:cs typeface="NanumSquare"/>
              </a:defRPr>
            </a:lvl1pPr>
          </a:lstStyle>
          <a:p>
            <a:pPr algn="r"/>
            <a:fld id="{F7021451-1387-4CA6-816F-3879F97B5CBC}" type="slidenum">
              <a:rPr lang="en-US" b="0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844784" y="128016"/>
            <a:ext cx="1188720" cy="1188720"/>
          </a:xfrm>
          <a:prstGeom prst="ellipse">
            <a:avLst/>
          </a:prstGeom>
          <a:solidFill>
            <a:srgbClr val="EAF3FF"/>
          </a:solidFill>
          <a:ln w="10160">
            <a:solidFill>
              <a:srgbClr val="EAF3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448288" y="292608"/>
            <a:ext cx="310896" cy="310896"/>
          </a:xfrm>
          <a:prstGeom prst="ellipse">
            <a:avLst/>
          </a:prstGeom>
          <a:solidFill>
            <a:srgbClr val="49A8FF"/>
          </a:solidFill>
          <a:ln w="10160">
            <a:solidFill>
              <a:srgbClr val="49A8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844784" y="1024128"/>
            <a:ext cx="868680" cy="0"/>
          </a:xfrm>
          <a:prstGeom prst="line">
            <a:avLst/>
          </a:prstGeom>
          <a:noFill/>
          <a:ln w="13970">
            <a:solidFill>
              <a:srgbClr val="D6E8FF"/>
            </a:solidFill>
            <a:prstDash val="solid"/>
            <a:headEnd type="none"/>
            <a:tailEnd type="none"/>
          </a:ln>
        </p:spPr>
      </p:sp>
      <p:sp>
        <p:nvSpPr>
          <p:cNvPr id="5" name="Shape 3"/>
          <p:cNvSpPr/>
          <p:nvPr/>
        </p:nvSpPr>
        <p:spPr>
          <a:xfrm>
            <a:off x="11045952" y="1225296"/>
            <a:ext cx="667512" cy="0"/>
          </a:xfrm>
          <a:prstGeom prst="line">
            <a:avLst/>
          </a:prstGeom>
          <a:noFill/>
          <a:ln w="13970">
            <a:solidFill>
              <a:srgbClr val="D6E8FF"/>
            </a:solidFill>
            <a:prstDash val="solid"/>
            <a:headEnd type="none"/>
            <a:tailEnd type="none"/>
          </a:ln>
        </p:spPr>
      </p:sp>
      <p:sp>
        <p:nvSpPr>
          <p:cNvPr id="6" name="Shape 4"/>
          <p:cNvSpPr/>
          <p:nvPr/>
        </p:nvSpPr>
        <p:spPr>
          <a:xfrm>
            <a:off x="566928" y="347472"/>
            <a:ext cx="1115568" cy="310896"/>
          </a:xfrm>
          <a:prstGeom prst="roundRect">
            <a:avLst>
              <a:gd name="adj" fmla="val 50000"/>
            </a:avLst>
          </a:prstGeom>
          <a:solidFill>
            <a:srgbClr val="EAF3FF"/>
          </a:solidFill>
          <a:ln w="10160">
            <a:solidFill>
              <a:srgbClr val="D7E7F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76656" y="374904"/>
            <a:ext cx="8961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F5EFF"/>
                </a:solidFill>
                <a:latin typeface="NanumSquare Bold" pitchFamily="34" charset="0"/>
                <a:ea typeface="NanumSquare Bold" pitchFamily="34" charset="-122"/>
                <a:cs typeface="NanumSquare Bold" pitchFamily="34" charset="-120"/>
              </a:rPr>
              <a:t>문제정리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566928" y="850392"/>
            <a:ext cx="106984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0213D"/>
                </a:solidFill>
                <a:latin typeface="NanumSquare Bold" pitchFamily="34" charset="0"/>
                <a:ea typeface="NanumSquare Bold" pitchFamily="34" charset="-122"/>
                <a:cs typeface="NanumSquare Bold" pitchFamily="34" charset="-120"/>
              </a:rPr>
              <a:t>보이스피싱 피해가 발생하는 구조를 종합하면</a:t>
            </a:r>
            <a:endParaRPr lang="en-US" sz="2800" dirty="0"/>
          </a:p>
        </p:txBody>
      </p:sp>
      <p:sp>
        <p:nvSpPr>
          <p:cNvPr id="9" name="Text 7"/>
          <p:cNvSpPr txBox="1"/>
          <p:nvPr/>
        </p:nvSpPr>
        <p:spPr>
          <a:xfrm>
            <a:off x="585216" y="1353312"/>
            <a:ext cx="10515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30" dirty="0">
                <a:solidFill>
                  <a:srgbClr val="66768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범죄자의 전략 × 피해자의 취약성 × 외부 검증 제한이 결합해 잘못된 판단과 송금으로 이어지는 구조</a:t>
            </a:r>
            <a:endParaRPr lang="en-US" sz="1230" dirty="0"/>
          </a:p>
        </p:txBody>
      </p:sp>
      <p:sp>
        <p:nvSpPr>
          <p:cNvPr id="10" name="Shape 8"/>
          <p:cNvSpPr/>
          <p:nvPr/>
        </p:nvSpPr>
        <p:spPr>
          <a:xfrm>
            <a:off x="749808" y="2212848"/>
            <a:ext cx="2514600" cy="1426464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0160">
            <a:solidFill>
              <a:srgbClr val="DCE8F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32688" y="2414016"/>
            <a:ext cx="4023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F5EFF"/>
                </a:solidFill>
                <a:latin typeface="NanumSquare Bold" pitchFamily="34" charset="0"/>
                <a:ea typeface="NanumSquare Bold" pitchFamily="34" charset="-122"/>
                <a:cs typeface="NanumSquare Bold" pitchFamily="34" charset="-120"/>
              </a:rPr>
              <a:t>01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932688" y="2743200"/>
            <a:ext cx="2057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10213D"/>
                </a:solidFill>
                <a:latin typeface="NanumSquare Bold" pitchFamily="34" charset="0"/>
                <a:ea typeface="NanumSquare Bold" pitchFamily="34" charset="-122"/>
                <a:cs typeface="NanumSquare Bold" pitchFamily="34" charset="-120"/>
              </a:rPr>
              <a:t>범죄자의 전략</a:t>
            </a:r>
            <a:endParaRPr lang="en-US" sz="1450" dirty="0"/>
          </a:p>
        </p:txBody>
      </p:sp>
      <p:sp>
        <p:nvSpPr>
          <p:cNvPr id="13" name="Text 11"/>
          <p:cNvSpPr txBox="1"/>
          <p:nvPr/>
        </p:nvSpPr>
        <p:spPr>
          <a:xfrm>
            <a:off x="932688" y="3127248"/>
            <a:ext cx="20939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20" dirty="0">
                <a:solidFill>
                  <a:srgbClr val="66768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정보비대칭 · 권위 · 공포 · 긴급성</a:t>
            </a:r>
            <a:endParaRPr lang="en-US" sz="1020" dirty="0"/>
          </a:p>
        </p:txBody>
      </p:sp>
      <p:sp>
        <p:nvSpPr>
          <p:cNvPr id="14" name="Text 12"/>
          <p:cNvSpPr txBox="1"/>
          <p:nvPr/>
        </p:nvSpPr>
        <p:spPr>
          <a:xfrm>
            <a:off x="3374136" y="2633472"/>
            <a:ext cx="256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F5EFF"/>
                </a:solidFill>
                <a:latin typeface="NanumSquare Bold" pitchFamily="34" charset="0"/>
                <a:ea typeface="NanumSquare Bold" pitchFamily="34" charset="-122"/>
                <a:cs typeface="NanumSquare Bold" pitchFamily="34" charset="-120"/>
              </a:rPr>
              <a:t>×</a:t>
            </a:r>
            <a:endParaRPr lang="en-US" sz="2600" dirty="0"/>
          </a:p>
        </p:txBody>
      </p:sp>
      <p:sp>
        <p:nvSpPr>
          <p:cNvPr id="15" name="Shape 13"/>
          <p:cNvSpPr/>
          <p:nvPr/>
        </p:nvSpPr>
        <p:spPr>
          <a:xfrm>
            <a:off x="3730752" y="2212848"/>
            <a:ext cx="2514600" cy="1426464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0160">
            <a:solidFill>
              <a:srgbClr val="DCE8F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913632" y="2414016"/>
            <a:ext cx="4023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F5EFF"/>
                </a:solidFill>
                <a:latin typeface="NanumSquare Bold" pitchFamily="34" charset="0"/>
                <a:ea typeface="NanumSquare Bold" pitchFamily="34" charset="-122"/>
                <a:cs typeface="NanumSquare Bold" pitchFamily="34" charset="-120"/>
              </a:rPr>
              <a:t>02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3913632" y="2743200"/>
            <a:ext cx="2057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10213D"/>
                </a:solidFill>
                <a:latin typeface="NanumSquare Bold" pitchFamily="34" charset="0"/>
                <a:ea typeface="NanumSquare Bold" pitchFamily="34" charset="-122"/>
                <a:cs typeface="NanumSquare Bold" pitchFamily="34" charset="-120"/>
              </a:rPr>
              <a:t>피해자의 취약성</a:t>
            </a:r>
            <a:endParaRPr lang="en-US" sz="1450" dirty="0"/>
          </a:p>
        </p:txBody>
      </p:sp>
      <p:sp>
        <p:nvSpPr>
          <p:cNvPr id="18" name="Text 16"/>
          <p:cNvSpPr txBox="1"/>
          <p:nvPr/>
        </p:nvSpPr>
        <p:spPr>
          <a:xfrm>
            <a:off x="3913632" y="3127248"/>
            <a:ext cx="20939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20" dirty="0">
                <a:solidFill>
                  <a:srgbClr val="66768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경험 부족 · 정보격차 · 순간 부담</a:t>
            </a:r>
            <a:endParaRPr lang="en-US" sz="1020" dirty="0"/>
          </a:p>
        </p:txBody>
      </p:sp>
      <p:sp>
        <p:nvSpPr>
          <p:cNvPr id="19" name="Text 17"/>
          <p:cNvSpPr txBox="1"/>
          <p:nvPr/>
        </p:nvSpPr>
        <p:spPr>
          <a:xfrm>
            <a:off x="6355080" y="2633472"/>
            <a:ext cx="256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F5EFF"/>
                </a:solidFill>
                <a:latin typeface="NanumSquare Bold" pitchFamily="34" charset="0"/>
                <a:ea typeface="NanumSquare Bold" pitchFamily="34" charset="-122"/>
                <a:cs typeface="NanumSquare Bold" pitchFamily="34" charset="-120"/>
              </a:rPr>
              <a:t>×</a:t>
            </a:r>
            <a:endParaRPr lang="en-US" sz="2600" dirty="0"/>
          </a:p>
        </p:txBody>
      </p:sp>
      <p:sp>
        <p:nvSpPr>
          <p:cNvPr id="20" name="Shape 18"/>
          <p:cNvSpPr/>
          <p:nvPr/>
        </p:nvSpPr>
        <p:spPr>
          <a:xfrm>
            <a:off x="6711696" y="2212848"/>
            <a:ext cx="2514600" cy="1426464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0160">
            <a:solidFill>
              <a:srgbClr val="DCE8FA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894576" y="2414016"/>
            <a:ext cx="4023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F5EFF"/>
                </a:solidFill>
                <a:latin typeface="NanumSquare Bold" pitchFamily="34" charset="0"/>
                <a:ea typeface="NanumSquare Bold" pitchFamily="34" charset="-122"/>
                <a:cs typeface="NanumSquare Bold" pitchFamily="34" charset="-120"/>
              </a:rPr>
              <a:t>03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6894576" y="2743200"/>
            <a:ext cx="2057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10213D"/>
                </a:solidFill>
                <a:latin typeface="NanumSquare Bold" pitchFamily="34" charset="0"/>
                <a:ea typeface="NanumSquare Bold" pitchFamily="34" charset="-122"/>
                <a:cs typeface="NanumSquare Bold" pitchFamily="34" charset="-120"/>
              </a:rPr>
              <a:t>외부 검증 제한</a:t>
            </a:r>
            <a:endParaRPr lang="en-US" sz="1450" dirty="0"/>
          </a:p>
        </p:txBody>
      </p:sp>
      <p:sp>
        <p:nvSpPr>
          <p:cNvPr id="23" name="Text 21"/>
          <p:cNvSpPr txBox="1"/>
          <p:nvPr/>
        </p:nvSpPr>
        <p:spPr>
          <a:xfrm>
            <a:off x="6894576" y="3127248"/>
            <a:ext cx="20939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20" dirty="0">
                <a:solidFill>
                  <a:srgbClr val="66768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시간압박 · 비밀유지 · 확인 방해</a:t>
            </a:r>
            <a:endParaRPr lang="en-US" sz="1020" dirty="0"/>
          </a:p>
        </p:txBody>
      </p:sp>
      <p:sp>
        <p:nvSpPr>
          <p:cNvPr id="24" name="Shape 22"/>
          <p:cNvSpPr/>
          <p:nvPr/>
        </p:nvSpPr>
        <p:spPr>
          <a:xfrm>
            <a:off x="9381744" y="2926080"/>
            <a:ext cx="694944" cy="0"/>
          </a:xfrm>
          <a:prstGeom prst="line">
            <a:avLst/>
          </a:prstGeom>
          <a:noFill/>
          <a:ln w="27940">
            <a:solidFill>
              <a:srgbClr val="1F5EFF"/>
            </a:solidFill>
            <a:prstDash val="solid"/>
            <a:headEnd type="none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10149840" y="2331720"/>
            <a:ext cx="1426464" cy="1143000"/>
          </a:xfrm>
          <a:prstGeom prst="roundRect">
            <a:avLst>
              <a:gd name="adj" fmla="val 14400"/>
            </a:avLst>
          </a:prstGeom>
          <a:solidFill>
            <a:srgbClr val="1F5EFF"/>
          </a:solidFill>
          <a:ln w="10160">
            <a:solidFill>
              <a:srgbClr val="1F5EFF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10268712" y="2532888"/>
            <a:ext cx="1188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NanumSquare Bold" pitchFamily="34" charset="0"/>
                <a:ea typeface="NanumSquare Bold" pitchFamily="34" charset="-122"/>
                <a:cs typeface="NanumSquare Bold" pitchFamily="34" charset="-120"/>
              </a:rPr>
              <a:t>판단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NanumSquare Bold" pitchFamily="34" charset="0"/>
                <a:ea typeface="NanumSquare Bold" pitchFamily="34" charset="-122"/>
                <a:cs typeface="NanumSquare Bold" pitchFamily="34" charset="-120"/>
              </a:rPr>
              <a:t>환경 붕괴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10853928" y="3694176"/>
            <a:ext cx="0" cy="658368"/>
          </a:xfrm>
          <a:prstGeom prst="line">
            <a:avLst/>
          </a:prstGeom>
          <a:noFill/>
          <a:ln w="27940">
            <a:solidFill>
              <a:srgbClr val="1F5EFF"/>
            </a:solidFill>
            <a:prstDash val="solid"/>
            <a:headEnd type="none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8613648" y="4526280"/>
            <a:ext cx="2907792" cy="996696"/>
          </a:xfrm>
          <a:prstGeom prst="roundRect">
            <a:avLst>
              <a:gd name="adj" fmla="val 16514"/>
            </a:avLst>
          </a:prstGeom>
          <a:solidFill>
            <a:srgbClr val="0B1F3A"/>
          </a:solidFill>
          <a:ln w="10160">
            <a:solidFill>
              <a:srgbClr val="0B1F3A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8778240" y="4837176"/>
            <a:ext cx="2578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40" b="1" dirty="0">
                <a:solidFill>
                  <a:srgbClr val="FFFFFF"/>
                </a:solidFill>
                <a:latin typeface="NanumSquare Bold" pitchFamily="34" charset="0"/>
                <a:ea typeface="NanumSquare Bold" pitchFamily="34" charset="-122"/>
                <a:cs typeface="NanumSquare Bold" pitchFamily="34" charset="-120"/>
              </a:rPr>
              <a:t>잘못된 판단 → 송금 → 실제 피해</a:t>
            </a:r>
            <a:endParaRPr lang="en-US" sz="1340" dirty="0"/>
          </a:p>
        </p:txBody>
      </p:sp>
      <p:sp>
        <p:nvSpPr>
          <p:cNvPr id="30" name="Shape 28"/>
          <p:cNvSpPr/>
          <p:nvPr/>
        </p:nvSpPr>
        <p:spPr>
          <a:xfrm>
            <a:off x="749808" y="4315968"/>
            <a:ext cx="7223760" cy="1197864"/>
          </a:xfrm>
          <a:prstGeom prst="roundRect">
            <a:avLst>
              <a:gd name="adj" fmla="val 13740"/>
            </a:avLst>
          </a:prstGeom>
          <a:solidFill>
            <a:srgbClr val="EAF3FF"/>
          </a:solidFill>
          <a:ln w="10160">
            <a:solidFill>
              <a:srgbClr val="D7E7FF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987552" y="452628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F5EFF"/>
                </a:solidFill>
                <a:latin typeface="NanumSquare Bold" pitchFamily="34" charset="0"/>
                <a:ea typeface="NanumSquare Bold" pitchFamily="34" charset="-122"/>
                <a:cs typeface="NanumSquare Bold" pitchFamily="34" charset="-120"/>
              </a:rPr>
              <a:t>핵심 문제</a:t>
            </a:r>
            <a:endParaRPr lang="en-US" sz="1050" dirty="0"/>
          </a:p>
        </p:txBody>
      </p:sp>
      <p:sp>
        <p:nvSpPr>
          <p:cNvPr id="32" name="Text 30"/>
          <p:cNvSpPr txBox="1"/>
          <p:nvPr/>
        </p:nvSpPr>
        <p:spPr>
          <a:xfrm>
            <a:off x="2011680" y="4480560"/>
            <a:ext cx="56509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30" b="1" dirty="0">
                <a:solidFill>
                  <a:srgbClr val="10213D"/>
                </a:solidFill>
                <a:latin typeface="NanumSquare Bold" pitchFamily="34" charset="0"/>
                <a:ea typeface="NanumSquare Bold" pitchFamily="34" charset="-122"/>
                <a:cs typeface="NanumSquare Bold" pitchFamily="34" charset="-120"/>
              </a:rPr>
              <a:t>현재 상황이 정상인지 보이스피싱인지</a:t>
            </a:r>
            <a:endParaRPr lang="en-US" sz="1630" dirty="0"/>
          </a:p>
          <a:p>
            <a:pPr marL="0" indent="0" algn="l">
              <a:buNone/>
            </a:pPr>
            <a:r>
              <a:rPr lang="en-US" sz="1630" b="1" dirty="0">
                <a:solidFill>
                  <a:srgbClr val="10213D"/>
                </a:solidFill>
                <a:latin typeface="NanumSquare Bold" pitchFamily="34" charset="0"/>
                <a:ea typeface="NanumSquare Bold" pitchFamily="34" charset="-122"/>
                <a:cs typeface="NanumSquare Bold" pitchFamily="34" charset="-120"/>
              </a:rPr>
              <a:t>스스로 검증하기 어려워지는 순간이 존재한다</a:t>
            </a:r>
            <a:endParaRPr lang="en-US" sz="1630" dirty="0"/>
          </a:p>
        </p:txBody>
      </p:sp>
      <p:sp>
        <p:nvSpPr>
          <p:cNvPr id="3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10528"/>
            <a:ext cx="27432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B8CA8"/>
                </a:solidFill>
                <a:latin typeface="NanumSquare"/>
                <a:ea typeface="NanumSquare"/>
                <a:cs typeface="NanumSquare"/>
              </a:defRPr>
            </a:lvl1pPr>
          </a:lstStyle>
          <a:p>
            <a:pPr algn="r"/>
            <a:fld id="{F7021451-1387-4CA6-816F-3879F97B5CBC}" type="slidenum">
              <a:rPr lang="en-US" b="0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844784" y="128016"/>
            <a:ext cx="1188720" cy="1188720"/>
          </a:xfrm>
          <a:prstGeom prst="ellipse">
            <a:avLst/>
          </a:prstGeom>
          <a:solidFill>
            <a:srgbClr val="EAF3FF"/>
          </a:solidFill>
          <a:ln w="10160">
            <a:solidFill>
              <a:srgbClr val="EAF3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448288" y="292608"/>
            <a:ext cx="310896" cy="310896"/>
          </a:xfrm>
          <a:prstGeom prst="ellipse">
            <a:avLst/>
          </a:prstGeom>
          <a:solidFill>
            <a:srgbClr val="49A8FF"/>
          </a:solidFill>
          <a:ln w="10160">
            <a:solidFill>
              <a:srgbClr val="49A8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844784" y="1024128"/>
            <a:ext cx="868680" cy="0"/>
          </a:xfrm>
          <a:prstGeom prst="line">
            <a:avLst/>
          </a:prstGeom>
          <a:noFill/>
          <a:ln w="13970">
            <a:solidFill>
              <a:srgbClr val="D6E8FF"/>
            </a:solidFill>
            <a:prstDash val="solid"/>
            <a:headEnd type="none"/>
            <a:tailEnd type="none"/>
          </a:ln>
        </p:spPr>
      </p:sp>
      <p:sp>
        <p:nvSpPr>
          <p:cNvPr id="5" name="Shape 3"/>
          <p:cNvSpPr/>
          <p:nvPr/>
        </p:nvSpPr>
        <p:spPr>
          <a:xfrm>
            <a:off x="11045952" y="1225296"/>
            <a:ext cx="667512" cy="0"/>
          </a:xfrm>
          <a:prstGeom prst="line">
            <a:avLst/>
          </a:prstGeom>
          <a:noFill/>
          <a:ln w="13970">
            <a:solidFill>
              <a:srgbClr val="D6E8FF"/>
            </a:solidFill>
            <a:prstDash val="solid"/>
            <a:headEnd type="none"/>
            <a:tailEnd type="none"/>
          </a:ln>
        </p:spPr>
      </p:sp>
      <p:sp>
        <p:nvSpPr>
          <p:cNvPr id="6" name="Shape 4"/>
          <p:cNvSpPr/>
          <p:nvPr/>
        </p:nvSpPr>
        <p:spPr>
          <a:xfrm>
            <a:off x="566928" y="347472"/>
            <a:ext cx="1115568" cy="310896"/>
          </a:xfrm>
          <a:prstGeom prst="roundRect">
            <a:avLst>
              <a:gd name="adj" fmla="val 50000"/>
            </a:avLst>
          </a:prstGeom>
          <a:solidFill>
            <a:srgbClr val="EAF3FF"/>
          </a:solidFill>
          <a:ln w="10160">
            <a:solidFill>
              <a:srgbClr val="D7E7F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76656" y="374904"/>
            <a:ext cx="8961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F5EFF"/>
                </a:solidFill>
                <a:latin typeface="NanumSquare Bold" pitchFamily="34" charset="0"/>
                <a:ea typeface="NanumSquare Bold" pitchFamily="34" charset="-122"/>
                <a:cs typeface="NanumSquare Bold" pitchFamily="34" charset="-120"/>
              </a:rPr>
              <a:t>문제정의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566928" y="850392"/>
            <a:ext cx="106984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0213D"/>
                </a:solidFill>
                <a:latin typeface="NanumSquare Bold" pitchFamily="34" charset="0"/>
                <a:ea typeface="NanumSquare Bold" pitchFamily="34" charset="-122"/>
                <a:cs typeface="NanumSquare Bold" pitchFamily="34" charset="-120"/>
              </a:rPr>
              <a:t>조작된 상황에서도 피해자는 혼자 판단한다</a:t>
            </a:r>
            <a:endParaRPr lang="en-US" sz="2800" dirty="0"/>
          </a:p>
        </p:txBody>
      </p:sp>
      <p:sp>
        <p:nvSpPr>
          <p:cNvPr id="9" name="Text 7"/>
          <p:cNvSpPr txBox="1"/>
          <p:nvPr/>
        </p:nvSpPr>
        <p:spPr>
          <a:xfrm>
            <a:off x="585216" y="1353312"/>
            <a:ext cx="10515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30" dirty="0">
                <a:solidFill>
                  <a:srgbClr val="66768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문제의 본질을 “정보 부족”이 아니라 “판단과 금융행동의 개인 의존성”으로 정의</a:t>
            </a:r>
            <a:endParaRPr lang="en-US" sz="1230" dirty="0"/>
          </a:p>
        </p:txBody>
      </p:sp>
      <p:sp>
        <p:nvSpPr>
          <p:cNvPr id="10" name="Text 8"/>
          <p:cNvSpPr txBox="1"/>
          <p:nvPr/>
        </p:nvSpPr>
        <p:spPr>
          <a:xfrm>
            <a:off x="731520" y="1929384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20" b="1" dirty="0">
                <a:solidFill>
                  <a:srgbClr val="1F5EFF"/>
                </a:solidFill>
                <a:latin typeface="NanumSquare Bold" pitchFamily="34" charset="0"/>
                <a:ea typeface="NanumSquare Bold" pitchFamily="34" charset="-122"/>
                <a:cs typeface="NanumSquare Bold" pitchFamily="34" charset="-120"/>
              </a:rPr>
              <a:t>보이스피싱의 핵심 문제</a:t>
            </a:r>
            <a:endParaRPr lang="en-US" sz="1120" dirty="0"/>
          </a:p>
        </p:txBody>
      </p:sp>
      <p:sp>
        <p:nvSpPr>
          <p:cNvPr id="11" name="Text 9"/>
          <p:cNvSpPr txBox="1"/>
          <p:nvPr/>
        </p:nvSpPr>
        <p:spPr>
          <a:xfrm>
            <a:off x="731520" y="2304288"/>
            <a:ext cx="521208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0213D"/>
                </a:solidFill>
                <a:latin typeface="NanumSquare Bold" pitchFamily="34" charset="0"/>
                <a:ea typeface="NanumSquare Bold" pitchFamily="34" charset="-122"/>
                <a:cs typeface="NanumSquare Bold" pitchFamily="34" charset="-120"/>
              </a:rPr>
              <a:t>최종 판단과 금융행동이</a:t>
            </a:r>
            <a:endParaRPr lang="en-US" sz="2600" dirty="0"/>
          </a:p>
          <a:p>
            <a:pPr marL="0" indent="0" algn="l">
              <a:buNone/>
            </a:pPr>
            <a:r>
              <a:rPr lang="en-US" sz="2600" b="1" dirty="0">
                <a:solidFill>
                  <a:srgbClr val="10213D"/>
                </a:solidFill>
                <a:latin typeface="NanumSquare Bold" pitchFamily="34" charset="0"/>
                <a:ea typeface="NanumSquare Bold" pitchFamily="34" charset="-122"/>
                <a:cs typeface="NanumSquare Bold" pitchFamily="34" charset="-120"/>
              </a:rPr>
              <a:t>피해자 개인에게 크게 의존한다</a:t>
            </a:r>
            <a:endParaRPr lang="en-US" sz="2600" dirty="0"/>
          </a:p>
        </p:txBody>
      </p:sp>
      <p:sp>
        <p:nvSpPr>
          <p:cNvPr id="12" name="Shape 10"/>
          <p:cNvSpPr/>
          <p:nvPr/>
        </p:nvSpPr>
        <p:spPr>
          <a:xfrm>
            <a:off x="758952" y="3886200"/>
            <a:ext cx="1444752" cy="1005840"/>
          </a:xfrm>
          <a:prstGeom prst="roundRect">
            <a:avLst>
              <a:gd name="adj" fmla="val 16364"/>
            </a:avLst>
          </a:prstGeom>
          <a:solidFill>
            <a:srgbClr val="102B4E"/>
          </a:solidFill>
          <a:ln w="10160">
            <a:solidFill>
              <a:srgbClr val="102B4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86968" y="4059936"/>
            <a:ext cx="1188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FFFFFF"/>
                </a:solidFill>
                <a:latin typeface="NanumSquare Bold" pitchFamily="34" charset="0"/>
                <a:ea typeface="NanumSquare Bold" pitchFamily="34" charset="-122"/>
                <a:cs typeface="NanumSquare Bold" pitchFamily="34" charset="-120"/>
              </a:rPr>
              <a:t>범죄자의</a:t>
            </a:r>
            <a:endParaRPr lang="en-US" sz="1550" dirty="0"/>
          </a:p>
          <a:p>
            <a:pPr marL="0" indent="0" algn="ctr">
              <a:buNone/>
            </a:pPr>
            <a:r>
              <a:rPr lang="en-US" sz="1550" b="1" dirty="0">
                <a:solidFill>
                  <a:srgbClr val="FFFFFF"/>
                </a:solidFill>
                <a:latin typeface="NanumSquare Bold" pitchFamily="34" charset="0"/>
                <a:ea typeface="NanumSquare Bold" pitchFamily="34" charset="-122"/>
                <a:cs typeface="NanumSquare Bold" pitchFamily="34" charset="-120"/>
              </a:rPr>
              <a:t>조작</a:t>
            </a:r>
            <a:endParaRPr lang="en-US" sz="1550" dirty="0"/>
          </a:p>
        </p:txBody>
      </p:sp>
      <p:sp>
        <p:nvSpPr>
          <p:cNvPr id="14" name="Shape 12"/>
          <p:cNvSpPr/>
          <p:nvPr/>
        </p:nvSpPr>
        <p:spPr>
          <a:xfrm>
            <a:off x="2286000" y="4389120"/>
            <a:ext cx="475488" cy="0"/>
          </a:xfrm>
          <a:prstGeom prst="line">
            <a:avLst/>
          </a:prstGeom>
          <a:noFill/>
          <a:ln w="25400">
            <a:solidFill>
              <a:srgbClr val="DDE7F3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2944368" y="3886200"/>
            <a:ext cx="1444752" cy="1005840"/>
          </a:xfrm>
          <a:prstGeom prst="roundRect">
            <a:avLst>
              <a:gd name="adj" fmla="val 16364"/>
            </a:avLst>
          </a:prstGeom>
          <a:solidFill>
            <a:srgbClr val="2F7CF6"/>
          </a:solidFill>
          <a:ln w="10160">
            <a:solidFill>
              <a:srgbClr val="2F7CF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072384" y="4059936"/>
            <a:ext cx="1188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FFFFFF"/>
                </a:solidFill>
                <a:latin typeface="NanumSquare Bold" pitchFamily="34" charset="0"/>
                <a:ea typeface="NanumSquare Bold" pitchFamily="34" charset="-122"/>
                <a:cs typeface="NanumSquare Bold" pitchFamily="34" charset="-120"/>
              </a:rPr>
              <a:t>판단</a:t>
            </a:r>
            <a:endParaRPr lang="en-US" sz="1550" dirty="0"/>
          </a:p>
          <a:p>
            <a:pPr marL="0" indent="0" algn="ctr">
              <a:buNone/>
            </a:pPr>
            <a:r>
              <a:rPr lang="en-US" sz="1550" b="1" dirty="0">
                <a:solidFill>
                  <a:srgbClr val="FFFFFF"/>
                </a:solidFill>
                <a:latin typeface="NanumSquare Bold" pitchFamily="34" charset="0"/>
                <a:ea typeface="NanumSquare Bold" pitchFamily="34" charset="-122"/>
                <a:cs typeface="NanumSquare Bold" pitchFamily="34" charset="-120"/>
              </a:rPr>
              <a:t>흔들림</a:t>
            </a:r>
            <a:endParaRPr lang="en-US" sz="1550" dirty="0"/>
          </a:p>
        </p:txBody>
      </p:sp>
      <p:sp>
        <p:nvSpPr>
          <p:cNvPr id="17" name="Shape 15"/>
          <p:cNvSpPr/>
          <p:nvPr/>
        </p:nvSpPr>
        <p:spPr>
          <a:xfrm>
            <a:off x="4471416" y="4389120"/>
            <a:ext cx="475488" cy="0"/>
          </a:xfrm>
          <a:prstGeom prst="line">
            <a:avLst/>
          </a:prstGeom>
          <a:noFill/>
          <a:ln w="25400">
            <a:solidFill>
              <a:srgbClr val="DDE7F3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5129784" y="3886200"/>
            <a:ext cx="1444752" cy="1005840"/>
          </a:xfrm>
          <a:prstGeom prst="roundRect">
            <a:avLst>
              <a:gd name="adj" fmla="val 16364"/>
            </a:avLst>
          </a:prstGeom>
          <a:solidFill>
            <a:srgbClr val="1F5EFF"/>
          </a:solidFill>
          <a:ln w="10160">
            <a:solidFill>
              <a:srgbClr val="1F5EF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257800" y="4059936"/>
            <a:ext cx="1188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FFFFFF"/>
                </a:solidFill>
                <a:latin typeface="NanumSquare Bold" pitchFamily="34" charset="0"/>
                <a:ea typeface="NanumSquare Bold" pitchFamily="34" charset="-122"/>
                <a:cs typeface="NanumSquare Bold" pitchFamily="34" charset="-120"/>
              </a:rPr>
              <a:t>혼자</a:t>
            </a:r>
            <a:endParaRPr lang="en-US" sz="1550" dirty="0"/>
          </a:p>
          <a:p>
            <a:pPr marL="0" indent="0" algn="ctr">
              <a:buNone/>
            </a:pPr>
            <a:r>
              <a:rPr lang="en-US" sz="1550" b="1" dirty="0">
                <a:solidFill>
                  <a:srgbClr val="FFFFFF"/>
                </a:solidFill>
                <a:latin typeface="NanumSquare Bold" pitchFamily="34" charset="0"/>
                <a:ea typeface="NanumSquare Bold" pitchFamily="34" charset="-122"/>
                <a:cs typeface="NanumSquare Bold" pitchFamily="34" charset="-120"/>
              </a:rPr>
              <a:t>판단</a:t>
            </a:r>
            <a:endParaRPr lang="en-US" sz="1550" dirty="0"/>
          </a:p>
        </p:txBody>
      </p:sp>
      <p:sp>
        <p:nvSpPr>
          <p:cNvPr id="20" name="Shape 18"/>
          <p:cNvSpPr/>
          <p:nvPr/>
        </p:nvSpPr>
        <p:spPr>
          <a:xfrm>
            <a:off x="6656832" y="4389120"/>
            <a:ext cx="475488" cy="0"/>
          </a:xfrm>
          <a:prstGeom prst="line">
            <a:avLst/>
          </a:prstGeom>
          <a:noFill/>
          <a:ln w="25400">
            <a:solidFill>
              <a:srgbClr val="DDE7F3"/>
            </a:solidFill>
            <a:prstDash val="solid"/>
            <a:headEnd type="none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7315200" y="3886200"/>
            <a:ext cx="1444752" cy="1005840"/>
          </a:xfrm>
          <a:prstGeom prst="roundRect">
            <a:avLst>
              <a:gd name="adj" fmla="val 16364"/>
            </a:avLst>
          </a:prstGeom>
          <a:solidFill>
            <a:srgbClr val="2C6FE7"/>
          </a:solidFill>
          <a:ln w="10160">
            <a:solidFill>
              <a:srgbClr val="2C6FE7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443216" y="4059936"/>
            <a:ext cx="1188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FFFFFF"/>
                </a:solidFill>
                <a:latin typeface="NanumSquare Bold" pitchFamily="34" charset="0"/>
                <a:ea typeface="NanumSquare Bold" pitchFamily="34" charset="-122"/>
                <a:cs typeface="NanumSquare Bold" pitchFamily="34" charset="-120"/>
              </a:rPr>
              <a:t>송금</a:t>
            </a:r>
            <a:endParaRPr lang="en-US" sz="1550" dirty="0"/>
          </a:p>
        </p:txBody>
      </p:sp>
      <p:sp>
        <p:nvSpPr>
          <p:cNvPr id="23" name="Shape 21"/>
          <p:cNvSpPr/>
          <p:nvPr/>
        </p:nvSpPr>
        <p:spPr>
          <a:xfrm>
            <a:off x="8842248" y="4389120"/>
            <a:ext cx="475488" cy="0"/>
          </a:xfrm>
          <a:prstGeom prst="line">
            <a:avLst/>
          </a:prstGeom>
          <a:noFill/>
          <a:ln w="25400">
            <a:solidFill>
              <a:srgbClr val="DDE7F3"/>
            </a:solidFill>
            <a:prstDash val="solid"/>
            <a:headEnd type="none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9500616" y="3886200"/>
            <a:ext cx="1444752" cy="1005840"/>
          </a:xfrm>
          <a:prstGeom prst="roundRect">
            <a:avLst>
              <a:gd name="adj" fmla="val 16364"/>
            </a:avLst>
          </a:prstGeom>
          <a:solidFill>
            <a:srgbClr val="FF6478"/>
          </a:solidFill>
          <a:ln w="10160">
            <a:solidFill>
              <a:srgbClr val="FF6478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9628632" y="4059936"/>
            <a:ext cx="1188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FFFFFF"/>
                </a:solidFill>
                <a:latin typeface="NanumSquare Bold" pitchFamily="34" charset="0"/>
                <a:ea typeface="NanumSquare Bold" pitchFamily="34" charset="-122"/>
                <a:cs typeface="NanumSquare Bold" pitchFamily="34" charset="-120"/>
              </a:rPr>
              <a:t>피해</a:t>
            </a:r>
            <a:endParaRPr lang="en-US" sz="1550" dirty="0"/>
          </a:p>
        </p:txBody>
      </p:sp>
      <p:sp>
        <p:nvSpPr>
          <p:cNvPr id="26" name="Shape 24"/>
          <p:cNvSpPr/>
          <p:nvPr/>
        </p:nvSpPr>
        <p:spPr>
          <a:xfrm>
            <a:off x="6528816" y="3456432"/>
            <a:ext cx="0" cy="1920240"/>
          </a:xfrm>
          <a:prstGeom prst="line">
            <a:avLst/>
          </a:prstGeom>
          <a:noFill/>
          <a:ln w="20320">
            <a:solidFill>
              <a:srgbClr val="1F5EFF"/>
            </a:solidFill>
            <a:prstDash val="dash"/>
            <a:headEnd type="none"/>
            <a:tailEnd type="none"/>
          </a:ln>
        </p:spPr>
      </p:sp>
      <p:sp>
        <p:nvSpPr>
          <p:cNvPr id="27" name="Shape 25"/>
          <p:cNvSpPr/>
          <p:nvPr/>
        </p:nvSpPr>
        <p:spPr>
          <a:xfrm>
            <a:off x="5742432" y="3063240"/>
            <a:ext cx="1572768" cy="438912"/>
          </a:xfrm>
          <a:prstGeom prst="roundRect">
            <a:avLst>
              <a:gd name="adj" fmla="val 29167"/>
            </a:avLst>
          </a:prstGeom>
          <a:solidFill>
            <a:srgbClr val="FFFFFF"/>
          </a:solidFill>
          <a:ln w="10160">
            <a:solidFill>
              <a:srgbClr val="1F5EFF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5916168" y="3163824"/>
            <a:ext cx="12435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60" b="1" dirty="0">
                <a:solidFill>
                  <a:srgbClr val="1F5EFF"/>
                </a:solidFill>
                <a:latin typeface="NanumSquare Bold" pitchFamily="34" charset="0"/>
                <a:ea typeface="NanumSquare Bold" pitchFamily="34" charset="-122"/>
                <a:cs typeface="NanumSquare Bold" pitchFamily="34" charset="-120"/>
              </a:rPr>
              <a:t>외부 검증?</a:t>
            </a:r>
            <a:endParaRPr lang="en-US" sz="1160" dirty="0"/>
          </a:p>
        </p:txBody>
      </p:sp>
      <p:sp>
        <p:nvSpPr>
          <p:cNvPr id="29" name="Shape 27"/>
          <p:cNvSpPr/>
          <p:nvPr/>
        </p:nvSpPr>
        <p:spPr>
          <a:xfrm>
            <a:off x="2560320" y="5422392"/>
            <a:ext cx="7040880" cy="521208"/>
          </a:xfrm>
          <a:prstGeom prst="roundRect">
            <a:avLst>
              <a:gd name="adj" fmla="val 24561"/>
            </a:avLst>
          </a:prstGeom>
          <a:solidFill>
            <a:srgbClr val="EAF3FF"/>
          </a:solidFill>
          <a:ln w="10160">
            <a:solidFill>
              <a:srgbClr val="D7E7FF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2770632" y="5550408"/>
            <a:ext cx="6629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5EFF"/>
                </a:solidFill>
                <a:latin typeface="NanumSquare Bold" pitchFamily="34" charset="0"/>
                <a:ea typeface="NanumSquare Bold" pitchFamily="34" charset="-122"/>
                <a:cs typeface="NanumSquare Bold" pitchFamily="34" charset="-120"/>
              </a:rPr>
              <a:t>이 과정에 객관적인 제3자의 판단을 개입시킬 수 있다면?</a:t>
            </a:r>
            <a:endParaRPr lang="en-US" sz="1400" dirty="0"/>
          </a:p>
        </p:txBody>
      </p:sp>
      <p:sp>
        <p:nvSpPr>
          <p:cNvPr id="3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10528"/>
            <a:ext cx="27432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B8CA8"/>
                </a:solidFill>
                <a:latin typeface="NanumSquare"/>
                <a:ea typeface="NanumSquare"/>
                <a:cs typeface="NanumSquare"/>
              </a:defRPr>
            </a:lvl1pPr>
          </a:lstStyle>
          <a:p>
            <a:pPr algn="r"/>
            <a:fld id="{F7021451-1387-4CA6-816F-3879F97B5CBC}" type="slidenum">
              <a:rPr lang="en-US" b="0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844784" y="128016"/>
            <a:ext cx="1188720" cy="1188720"/>
          </a:xfrm>
          <a:prstGeom prst="ellipse">
            <a:avLst/>
          </a:prstGeom>
          <a:solidFill>
            <a:srgbClr val="EAF3FF"/>
          </a:solidFill>
          <a:ln w="10160">
            <a:solidFill>
              <a:srgbClr val="EAF3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448288" y="292608"/>
            <a:ext cx="310896" cy="310896"/>
          </a:xfrm>
          <a:prstGeom prst="ellipse">
            <a:avLst/>
          </a:prstGeom>
          <a:solidFill>
            <a:srgbClr val="49A8FF"/>
          </a:solidFill>
          <a:ln w="10160">
            <a:solidFill>
              <a:srgbClr val="49A8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844784" y="1024128"/>
            <a:ext cx="868680" cy="0"/>
          </a:xfrm>
          <a:prstGeom prst="line">
            <a:avLst/>
          </a:prstGeom>
          <a:noFill/>
          <a:ln w="13970">
            <a:solidFill>
              <a:srgbClr val="D6E8FF"/>
            </a:solidFill>
            <a:prstDash val="solid"/>
            <a:headEnd type="none"/>
            <a:tailEnd type="none"/>
          </a:ln>
        </p:spPr>
      </p:sp>
      <p:sp>
        <p:nvSpPr>
          <p:cNvPr id="5" name="Shape 3"/>
          <p:cNvSpPr/>
          <p:nvPr/>
        </p:nvSpPr>
        <p:spPr>
          <a:xfrm>
            <a:off x="11045952" y="1225296"/>
            <a:ext cx="667512" cy="0"/>
          </a:xfrm>
          <a:prstGeom prst="line">
            <a:avLst/>
          </a:prstGeom>
          <a:noFill/>
          <a:ln w="13970">
            <a:solidFill>
              <a:srgbClr val="D6E8FF"/>
            </a:solidFill>
            <a:prstDash val="solid"/>
            <a:headEnd type="none"/>
            <a:tailEnd type="none"/>
          </a:ln>
        </p:spPr>
      </p:sp>
      <p:sp>
        <p:nvSpPr>
          <p:cNvPr id="6" name="Shape 4"/>
          <p:cNvSpPr/>
          <p:nvPr/>
        </p:nvSpPr>
        <p:spPr>
          <a:xfrm>
            <a:off x="566928" y="347472"/>
            <a:ext cx="1115568" cy="310896"/>
          </a:xfrm>
          <a:prstGeom prst="roundRect">
            <a:avLst>
              <a:gd name="adj" fmla="val 50000"/>
            </a:avLst>
          </a:prstGeom>
          <a:solidFill>
            <a:srgbClr val="EAF3FF"/>
          </a:solidFill>
          <a:ln w="10160">
            <a:solidFill>
              <a:srgbClr val="D7E7F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76656" y="374904"/>
            <a:ext cx="8961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F5EFF"/>
                </a:solidFill>
                <a:latin typeface="NanumSquare Bold" pitchFamily="34" charset="0"/>
                <a:ea typeface="NanumSquare Bold" pitchFamily="34" charset="-122"/>
                <a:cs typeface="NanumSquare Bold" pitchFamily="34" charset="-120"/>
              </a:rPr>
              <a:t>인사이트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566928" y="850392"/>
            <a:ext cx="106984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0213D"/>
                </a:solidFill>
                <a:latin typeface="NanumSquare Bold" pitchFamily="34" charset="0"/>
                <a:ea typeface="NanumSquare Bold" pitchFamily="34" charset="-122"/>
                <a:cs typeface="NanumSquare Bold" pitchFamily="34" charset="-120"/>
              </a:rPr>
              <a:t>세 가지 인사이트가 하나의 방향을 가리킨다</a:t>
            </a:r>
            <a:endParaRPr lang="en-US" sz="2800" dirty="0"/>
          </a:p>
        </p:txBody>
      </p:sp>
      <p:sp>
        <p:nvSpPr>
          <p:cNvPr id="9" name="Text 7"/>
          <p:cNvSpPr txBox="1"/>
          <p:nvPr/>
        </p:nvSpPr>
        <p:spPr>
          <a:xfrm>
            <a:off x="585216" y="1353312"/>
            <a:ext cx="10515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30" dirty="0">
                <a:solidFill>
                  <a:srgbClr val="66768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예방정보를 더 주는 것보다, 판단이 흔들리는 순간에 독립 검증과 금융행동 지연을 결합해야 한다</a:t>
            </a:r>
            <a:endParaRPr lang="en-US" sz="1230" dirty="0"/>
          </a:p>
        </p:txBody>
      </p:sp>
      <p:sp>
        <p:nvSpPr>
          <p:cNvPr id="10" name="Shape 8"/>
          <p:cNvSpPr/>
          <p:nvPr/>
        </p:nvSpPr>
        <p:spPr>
          <a:xfrm>
            <a:off x="713232" y="1901952"/>
            <a:ext cx="10716768" cy="859536"/>
          </a:xfrm>
          <a:prstGeom prst="roundRect">
            <a:avLst>
              <a:gd name="adj" fmla="val 17021"/>
            </a:avLst>
          </a:prstGeom>
          <a:solidFill>
            <a:srgbClr val="FFFFFF"/>
          </a:solidFill>
          <a:ln w="10160">
            <a:solidFill>
              <a:srgbClr val="DCE8F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32688" y="2093976"/>
            <a:ext cx="438912" cy="438912"/>
          </a:xfrm>
          <a:prstGeom prst="ellipse">
            <a:avLst/>
          </a:prstGeom>
          <a:solidFill>
            <a:srgbClr val="102B4E"/>
          </a:solidFill>
          <a:ln w="10160">
            <a:solidFill>
              <a:srgbClr val="102B4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32688" y="2130552"/>
            <a:ext cx="438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NanumSquare Bold" pitchFamily="34" charset="0"/>
                <a:ea typeface="NanumSquare Bold" pitchFamily="34" charset="-122"/>
                <a:cs typeface="NanumSquare Bold" pitchFamily="34" charset="-120"/>
              </a:rPr>
              <a:t>01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1572768" y="2057400"/>
            <a:ext cx="43159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30" b="1" dirty="0">
                <a:solidFill>
                  <a:srgbClr val="10213D"/>
                </a:solidFill>
                <a:latin typeface="NanumSquare Bold" pitchFamily="34" charset="0"/>
                <a:ea typeface="NanumSquare Bold" pitchFamily="34" charset="-122"/>
                <a:cs typeface="NanumSquare Bold" pitchFamily="34" charset="-120"/>
              </a:rPr>
              <a:t>정보 부족만의 문제가 아니다</a:t>
            </a:r>
            <a:endParaRPr lang="en-US" sz="1530" dirty="0"/>
          </a:p>
        </p:txBody>
      </p:sp>
      <p:sp>
        <p:nvSpPr>
          <p:cNvPr id="14" name="Text 12"/>
          <p:cNvSpPr txBox="1"/>
          <p:nvPr/>
        </p:nvSpPr>
        <p:spPr>
          <a:xfrm>
            <a:off x="5641848" y="2066544"/>
            <a:ext cx="536752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150" dirty="0">
                <a:solidFill>
                  <a:srgbClr val="66768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보이스피싱은 피해자의 판단 환경 자체를 조작한다.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713232" y="2999232"/>
            <a:ext cx="10716768" cy="859536"/>
          </a:xfrm>
          <a:prstGeom prst="roundRect">
            <a:avLst>
              <a:gd name="adj" fmla="val 17021"/>
            </a:avLst>
          </a:prstGeom>
          <a:solidFill>
            <a:srgbClr val="EAF3FF"/>
          </a:solidFill>
          <a:ln w="10160">
            <a:solidFill>
              <a:srgbClr val="D7E7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32688" y="3191256"/>
            <a:ext cx="438912" cy="438912"/>
          </a:xfrm>
          <a:prstGeom prst="ellipse">
            <a:avLst/>
          </a:prstGeom>
          <a:solidFill>
            <a:srgbClr val="1F5EFF"/>
          </a:solidFill>
          <a:ln w="10160">
            <a:solidFill>
              <a:srgbClr val="1F5EF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32688" y="3227832"/>
            <a:ext cx="438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NanumSquare Bold" pitchFamily="34" charset="0"/>
                <a:ea typeface="NanumSquare Bold" pitchFamily="34" charset="-122"/>
                <a:cs typeface="NanumSquare Bold" pitchFamily="34" charset="-120"/>
              </a:rPr>
              <a:t>02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1572768" y="3154680"/>
            <a:ext cx="43159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30" b="1" dirty="0">
                <a:solidFill>
                  <a:srgbClr val="10213D"/>
                </a:solidFill>
                <a:latin typeface="NanumSquare Bold" pitchFamily="34" charset="0"/>
                <a:ea typeface="NanumSquare Bold" pitchFamily="34" charset="-122"/>
                <a:cs typeface="NanumSquare Bold" pitchFamily="34" charset="-120"/>
              </a:rPr>
              <a:t>피해자를 혼자 판단하게 두어서는 안 된다</a:t>
            </a:r>
            <a:endParaRPr lang="en-US" sz="1530" dirty="0"/>
          </a:p>
        </p:txBody>
      </p:sp>
      <p:sp>
        <p:nvSpPr>
          <p:cNvPr id="19" name="Text 17"/>
          <p:cNvSpPr txBox="1"/>
          <p:nvPr/>
        </p:nvSpPr>
        <p:spPr>
          <a:xfrm>
            <a:off x="5641848" y="3163824"/>
            <a:ext cx="536752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150" dirty="0">
                <a:solidFill>
                  <a:srgbClr val="66768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상황 밖에서 보는 독립적인 제3자의 검토가 필요하다.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713232" y="4096512"/>
            <a:ext cx="10716768" cy="859536"/>
          </a:xfrm>
          <a:prstGeom prst="roundRect">
            <a:avLst>
              <a:gd name="adj" fmla="val 17021"/>
            </a:avLst>
          </a:prstGeom>
          <a:solidFill>
            <a:srgbClr val="FFFFFF"/>
          </a:solidFill>
          <a:ln w="10160">
            <a:solidFill>
              <a:srgbClr val="DCE8F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32688" y="4288536"/>
            <a:ext cx="438912" cy="438912"/>
          </a:xfrm>
          <a:prstGeom prst="ellipse">
            <a:avLst/>
          </a:prstGeom>
          <a:solidFill>
            <a:srgbClr val="102B4E"/>
          </a:solidFill>
          <a:ln w="10160">
            <a:solidFill>
              <a:srgbClr val="102B4E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932688" y="4325112"/>
            <a:ext cx="438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NanumSquare Bold" pitchFamily="34" charset="0"/>
                <a:ea typeface="NanumSquare Bold" pitchFamily="34" charset="-122"/>
                <a:cs typeface="NanumSquare Bold" pitchFamily="34" charset="-120"/>
              </a:rPr>
              <a:t>03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1572768" y="4251960"/>
            <a:ext cx="43159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30" b="1" dirty="0">
                <a:solidFill>
                  <a:srgbClr val="10213D"/>
                </a:solidFill>
                <a:latin typeface="NanumSquare Bold" pitchFamily="34" charset="0"/>
                <a:ea typeface="NanumSquare Bold" pitchFamily="34" charset="-122"/>
                <a:cs typeface="NanumSquare Bold" pitchFamily="34" charset="-120"/>
              </a:rPr>
              <a:t>검증하는 동안 송금이 가능하면 늦을 수 있다</a:t>
            </a:r>
            <a:endParaRPr lang="en-US" sz="1530" dirty="0"/>
          </a:p>
        </p:txBody>
      </p:sp>
      <p:sp>
        <p:nvSpPr>
          <p:cNvPr id="24" name="Text 22"/>
          <p:cNvSpPr txBox="1"/>
          <p:nvPr/>
        </p:nvSpPr>
        <p:spPr>
          <a:xfrm>
            <a:off x="5641848" y="4261104"/>
            <a:ext cx="536752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150" dirty="0">
                <a:solidFill>
                  <a:srgbClr val="66768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외부 검증이 끝날 때까지 금융행동을 잠시 멈출 수 있어야 한다.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1874520" y="5358384"/>
            <a:ext cx="8412480" cy="603504"/>
          </a:xfrm>
          <a:prstGeom prst="roundRect">
            <a:avLst>
              <a:gd name="adj" fmla="val 24242"/>
            </a:avLst>
          </a:prstGeom>
          <a:solidFill>
            <a:srgbClr val="0B1F3A"/>
          </a:solidFill>
          <a:ln w="10160">
            <a:solidFill>
              <a:srgbClr val="0B1F3A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2157984" y="5522976"/>
            <a:ext cx="7818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40" b="1" dirty="0">
                <a:solidFill>
                  <a:srgbClr val="FFFFFF"/>
                </a:solidFill>
                <a:latin typeface="NanumSquare Bold" pitchFamily="34" charset="0"/>
                <a:ea typeface="NanumSquare Bold" pitchFamily="34" charset="-122"/>
                <a:cs typeface="NanumSquare Bold" pitchFamily="34" charset="-120"/>
              </a:rPr>
              <a:t>새로운 정보 하나가 아니라, “상황 밖에서 바라보는 독립적 외부 검증”이 필요하다</a:t>
            </a:r>
            <a:endParaRPr lang="en-US" sz="1340" dirty="0"/>
          </a:p>
        </p:txBody>
      </p:sp>
      <p:sp>
        <p:nvSpPr>
          <p:cNvPr id="2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10528"/>
            <a:ext cx="27432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B8CA8"/>
                </a:solidFill>
                <a:latin typeface="NanumSquare"/>
                <a:ea typeface="NanumSquare"/>
                <a:cs typeface="NanumSquare"/>
              </a:defRPr>
            </a:lvl1pPr>
          </a:lstStyle>
          <a:p>
            <a:pPr algn="r"/>
            <a:fld id="{F7021451-1387-4CA6-816F-3879F97B5CBC}" type="slidenum">
              <a:rPr lang="en-US" b="0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844784" y="128016"/>
            <a:ext cx="1188720" cy="1188720"/>
          </a:xfrm>
          <a:prstGeom prst="ellipse">
            <a:avLst/>
          </a:prstGeom>
          <a:solidFill>
            <a:srgbClr val="EAF3FF"/>
          </a:solidFill>
          <a:ln w="10160">
            <a:solidFill>
              <a:srgbClr val="EAF3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448288" y="292608"/>
            <a:ext cx="310896" cy="310896"/>
          </a:xfrm>
          <a:prstGeom prst="ellipse">
            <a:avLst/>
          </a:prstGeom>
          <a:solidFill>
            <a:srgbClr val="49A8FF"/>
          </a:solidFill>
          <a:ln w="10160">
            <a:solidFill>
              <a:srgbClr val="49A8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844784" y="1024128"/>
            <a:ext cx="868680" cy="0"/>
          </a:xfrm>
          <a:prstGeom prst="line">
            <a:avLst/>
          </a:prstGeom>
          <a:noFill/>
          <a:ln w="13970">
            <a:solidFill>
              <a:srgbClr val="D6E8FF"/>
            </a:solidFill>
            <a:prstDash val="solid"/>
            <a:headEnd type="none"/>
            <a:tailEnd type="none"/>
          </a:ln>
        </p:spPr>
      </p:sp>
      <p:sp>
        <p:nvSpPr>
          <p:cNvPr id="5" name="Shape 3"/>
          <p:cNvSpPr/>
          <p:nvPr/>
        </p:nvSpPr>
        <p:spPr>
          <a:xfrm>
            <a:off x="11045952" y="1225296"/>
            <a:ext cx="667512" cy="0"/>
          </a:xfrm>
          <a:prstGeom prst="line">
            <a:avLst/>
          </a:prstGeom>
          <a:noFill/>
          <a:ln w="13970">
            <a:solidFill>
              <a:srgbClr val="D6E8FF"/>
            </a:solidFill>
            <a:prstDash val="solid"/>
            <a:headEnd type="none"/>
            <a:tailEnd type="none"/>
          </a:ln>
        </p:spPr>
      </p:sp>
      <p:sp>
        <p:nvSpPr>
          <p:cNvPr id="6" name="Shape 4"/>
          <p:cNvSpPr/>
          <p:nvPr/>
        </p:nvSpPr>
        <p:spPr>
          <a:xfrm>
            <a:off x="566928" y="347472"/>
            <a:ext cx="1115568" cy="310896"/>
          </a:xfrm>
          <a:prstGeom prst="roundRect">
            <a:avLst>
              <a:gd name="adj" fmla="val 50000"/>
            </a:avLst>
          </a:prstGeom>
          <a:solidFill>
            <a:srgbClr val="EAF3FF"/>
          </a:solidFill>
          <a:ln w="10160">
            <a:solidFill>
              <a:srgbClr val="D7E7F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76656" y="374904"/>
            <a:ext cx="8961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F5EFF"/>
                </a:solidFill>
                <a:latin typeface="NanumSquare Bold" pitchFamily="34" charset="0"/>
                <a:ea typeface="NanumSquare Bold" pitchFamily="34" charset="-122"/>
                <a:cs typeface="NanumSquare Bold" pitchFamily="34" charset="-120"/>
              </a:rPr>
              <a:t>해결방안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566928" y="850392"/>
            <a:ext cx="106984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0213D"/>
                </a:solidFill>
                <a:latin typeface="NanumSquare Bold" pitchFamily="34" charset="0"/>
                <a:ea typeface="NanumSquare Bold" pitchFamily="34" charset="-122"/>
                <a:cs typeface="NanumSquare Bold" pitchFamily="34" charset="-120"/>
              </a:rPr>
              <a:t>판단과 송금 사이에 ‘금융 방지턱’을 만든다</a:t>
            </a:r>
            <a:endParaRPr lang="en-US" sz="2800" dirty="0"/>
          </a:p>
        </p:txBody>
      </p:sp>
      <p:sp>
        <p:nvSpPr>
          <p:cNvPr id="9" name="Text 7"/>
          <p:cNvSpPr txBox="1"/>
          <p:nvPr/>
        </p:nvSpPr>
        <p:spPr>
          <a:xfrm>
            <a:off x="585216" y="1353312"/>
            <a:ext cx="10515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30" dirty="0">
                <a:solidFill>
                  <a:srgbClr val="66768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잘못된 판단이 즉시 금융피해로 이어지지 않도록 한 번 더 멈춰 세우는 보호구간</a:t>
            </a:r>
            <a:endParaRPr lang="en-US" sz="1230" dirty="0"/>
          </a:p>
        </p:txBody>
      </p:sp>
      <p:sp>
        <p:nvSpPr>
          <p:cNvPr id="10" name="Shape 8"/>
          <p:cNvSpPr/>
          <p:nvPr/>
        </p:nvSpPr>
        <p:spPr>
          <a:xfrm>
            <a:off x="749808" y="1911096"/>
            <a:ext cx="1078992" cy="310896"/>
          </a:xfrm>
          <a:prstGeom prst="roundRect">
            <a:avLst>
              <a:gd name="adj" fmla="val 50000"/>
            </a:avLst>
          </a:prstGeom>
          <a:solidFill>
            <a:srgbClr val="EAF3FF"/>
          </a:solidFill>
          <a:ln w="10160">
            <a:solidFill>
              <a:srgbClr val="D7E7F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22960" y="1938528"/>
            <a:ext cx="9326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F5EFF"/>
                </a:solidFill>
                <a:latin typeface="NanumSquare Bold" pitchFamily="34" charset="0"/>
                <a:ea typeface="NanumSquare Bold" pitchFamily="34" charset="-122"/>
                <a:cs typeface="NanumSquare Bold" pitchFamily="34" charset="-120"/>
              </a:rPr>
              <a:t>기존 구조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768096" y="2743200"/>
            <a:ext cx="1115568" cy="658368"/>
          </a:xfrm>
          <a:prstGeom prst="roundRect">
            <a:avLst>
              <a:gd name="adj" fmla="val 19444"/>
            </a:avLst>
          </a:prstGeom>
          <a:solidFill>
            <a:srgbClr val="FFFFFF"/>
          </a:solidFill>
          <a:ln w="10160">
            <a:solidFill>
              <a:srgbClr val="DCE8F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41248" y="2926080"/>
            <a:ext cx="9692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20" b="1" dirty="0">
                <a:solidFill>
                  <a:srgbClr val="10213D"/>
                </a:solidFill>
                <a:latin typeface="NanumSquare Bold" pitchFamily="34" charset="0"/>
                <a:ea typeface="NanumSquare Bold" pitchFamily="34" charset="-122"/>
                <a:cs typeface="NanumSquare Bold" pitchFamily="34" charset="-120"/>
              </a:rPr>
              <a:t>조작</a:t>
            </a:r>
            <a:endParaRPr lang="en-US" sz="1220" dirty="0"/>
          </a:p>
        </p:txBody>
      </p:sp>
      <p:sp>
        <p:nvSpPr>
          <p:cNvPr id="14" name="Shape 12"/>
          <p:cNvSpPr/>
          <p:nvPr/>
        </p:nvSpPr>
        <p:spPr>
          <a:xfrm>
            <a:off x="1947672" y="3072384"/>
            <a:ext cx="228600" cy="0"/>
          </a:xfrm>
          <a:prstGeom prst="line">
            <a:avLst/>
          </a:prstGeom>
          <a:noFill/>
          <a:ln w="20320">
            <a:solidFill>
              <a:srgbClr val="AFC7E7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2194560" y="2743200"/>
            <a:ext cx="1115568" cy="658368"/>
          </a:xfrm>
          <a:prstGeom prst="roundRect">
            <a:avLst>
              <a:gd name="adj" fmla="val 19444"/>
            </a:avLst>
          </a:prstGeom>
          <a:solidFill>
            <a:srgbClr val="FFFFFF"/>
          </a:solidFill>
          <a:ln w="10160">
            <a:solidFill>
              <a:srgbClr val="DCE8F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2267712" y="2926080"/>
            <a:ext cx="9692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20" b="1" dirty="0">
                <a:solidFill>
                  <a:srgbClr val="10213D"/>
                </a:solidFill>
                <a:latin typeface="NanumSquare Bold" pitchFamily="34" charset="0"/>
                <a:ea typeface="NanumSquare Bold" pitchFamily="34" charset="-122"/>
                <a:cs typeface="NanumSquare Bold" pitchFamily="34" charset="-120"/>
              </a:rPr>
              <a:t>판단 흔들림</a:t>
            </a:r>
            <a:endParaRPr lang="en-US" sz="1220" dirty="0"/>
          </a:p>
        </p:txBody>
      </p:sp>
      <p:sp>
        <p:nvSpPr>
          <p:cNvPr id="17" name="Shape 15"/>
          <p:cNvSpPr/>
          <p:nvPr/>
        </p:nvSpPr>
        <p:spPr>
          <a:xfrm>
            <a:off x="3374136" y="3072384"/>
            <a:ext cx="228600" cy="0"/>
          </a:xfrm>
          <a:prstGeom prst="line">
            <a:avLst/>
          </a:prstGeom>
          <a:noFill/>
          <a:ln w="20320">
            <a:solidFill>
              <a:srgbClr val="AFC7E7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3986784" y="2743200"/>
            <a:ext cx="1115568" cy="658368"/>
          </a:xfrm>
          <a:prstGeom prst="roundRect">
            <a:avLst>
              <a:gd name="adj" fmla="val 19444"/>
            </a:avLst>
          </a:prstGeom>
          <a:solidFill>
            <a:srgbClr val="FFFFFF"/>
          </a:solidFill>
          <a:ln w="10160">
            <a:solidFill>
              <a:srgbClr val="DCE8FA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059936" y="2926080"/>
            <a:ext cx="9692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20" b="1" dirty="0">
                <a:solidFill>
                  <a:srgbClr val="10213D"/>
                </a:solidFill>
                <a:latin typeface="NanumSquare Bold" pitchFamily="34" charset="0"/>
                <a:ea typeface="NanumSquare Bold" pitchFamily="34" charset="-122"/>
                <a:cs typeface="NanumSquare Bold" pitchFamily="34" charset="-120"/>
              </a:rPr>
              <a:t>송금</a:t>
            </a:r>
            <a:endParaRPr lang="en-US" sz="1220" dirty="0"/>
          </a:p>
        </p:txBody>
      </p:sp>
      <p:sp>
        <p:nvSpPr>
          <p:cNvPr id="20" name="Shape 18"/>
          <p:cNvSpPr/>
          <p:nvPr/>
        </p:nvSpPr>
        <p:spPr>
          <a:xfrm>
            <a:off x="5166360" y="3072384"/>
            <a:ext cx="228600" cy="0"/>
          </a:xfrm>
          <a:prstGeom prst="line">
            <a:avLst/>
          </a:prstGeom>
          <a:noFill/>
          <a:ln w="20320">
            <a:solidFill>
              <a:srgbClr val="AFC7E7"/>
            </a:solidFill>
            <a:prstDash val="solid"/>
            <a:headEnd type="none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5413248" y="2743200"/>
            <a:ext cx="1115568" cy="658368"/>
          </a:xfrm>
          <a:prstGeom prst="roundRect">
            <a:avLst>
              <a:gd name="adj" fmla="val 19444"/>
            </a:avLst>
          </a:prstGeom>
          <a:solidFill>
            <a:srgbClr val="FFF1F3"/>
          </a:solidFill>
          <a:ln w="10160">
            <a:solidFill>
              <a:srgbClr val="FFD1D8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486400" y="2926080"/>
            <a:ext cx="9692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20" b="1" dirty="0">
                <a:solidFill>
                  <a:srgbClr val="A53F4D"/>
                </a:solidFill>
                <a:latin typeface="NanumSquare Bold" pitchFamily="34" charset="0"/>
                <a:ea typeface="NanumSquare Bold" pitchFamily="34" charset="-122"/>
                <a:cs typeface="NanumSquare Bold" pitchFamily="34" charset="-120"/>
              </a:rPr>
              <a:t>피해</a:t>
            </a:r>
            <a:endParaRPr lang="en-US" sz="1220" dirty="0"/>
          </a:p>
        </p:txBody>
      </p:sp>
      <p:sp>
        <p:nvSpPr>
          <p:cNvPr id="23" name="Shape 21"/>
          <p:cNvSpPr/>
          <p:nvPr/>
        </p:nvSpPr>
        <p:spPr>
          <a:xfrm>
            <a:off x="749808" y="3913632"/>
            <a:ext cx="1078992" cy="310896"/>
          </a:xfrm>
          <a:prstGeom prst="roundRect">
            <a:avLst>
              <a:gd name="adj" fmla="val 50000"/>
            </a:avLst>
          </a:prstGeom>
          <a:solidFill>
            <a:srgbClr val="EAF3FF"/>
          </a:solidFill>
          <a:ln w="10160">
            <a:solidFill>
              <a:srgbClr val="D7E7F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22960" y="3941064"/>
            <a:ext cx="9326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F5EFF"/>
                </a:solidFill>
                <a:latin typeface="NanumSquare Bold" pitchFamily="34" charset="0"/>
                <a:ea typeface="NanumSquare Bold" pitchFamily="34" charset="-122"/>
                <a:cs typeface="NanumSquare Bold" pitchFamily="34" charset="-120"/>
              </a:rPr>
              <a:t>제안 구조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768096" y="4608576"/>
            <a:ext cx="1463040" cy="786384"/>
          </a:xfrm>
          <a:prstGeom prst="roundRect">
            <a:avLst>
              <a:gd name="adj" fmla="val 16279"/>
            </a:avLst>
          </a:prstGeom>
          <a:solidFill>
            <a:srgbClr val="FFFFFF"/>
          </a:solidFill>
          <a:ln w="10160">
            <a:solidFill>
              <a:srgbClr val="DCE8FA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841248" y="4828032"/>
            <a:ext cx="13167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0213D"/>
                </a:solidFill>
                <a:latin typeface="NanumSquare Bold" pitchFamily="34" charset="0"/>
                <a:ea typeface="NanumSquare Bold" pitchFamily="34" charset="-122"/>
                <a:cs typeface="NanumSquare Bold" pitchFamily="34" charset="-120"/>
              </a:rPr>
              <a:t>조작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2304288" y="5001768"/>
            <a:ext cx="219456" cy="0"/>
          </a:xfrm>
          <a:prstGeom prst="line">
            <a:avLst/>
          </a:prstGeom>
          <a:noFill/>
          <a:ln w="21590">
            <a:solidFill>
              <a:srgbClr val="1F5EFF"/>
            </a:solidFill>
            <a:prstDash val="solid"/>
            <a:headEnd type="none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2194560" y="4608576"/>
            <a:ext cx="1463040" cy="786384"/>
          </a:xfrm>
          <a:prstGeom prst="roundRect">
            <a:avLst>
              <a:gd name="adj" fmla="val 16279"/>
            </a:avLst>
          </a:prstGeom>
          <a:solidFill>
            <a:srgbClr val="EAF3FF"/>
          </a:solidFill>
          <a:ln w="10160">
            <a:solidFill>
              <a:srgbClr val="DCE8FA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2267712" y="4828032"/>
            <a:ext cx="13167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0213D"/>
                </a:solidFill>
                <a:latin typeface="NanumSquare Bold" pitchFamily="34" charset="0"/>
                <a:ea typeface="NanumSquare Bold" pitchFamily="34" charset="-122"/>
                <a:cs typeface="NanumSquare Bold" pitchFamily="34" charset="-120"/>
              </a:rPr>
              <a:t>AI 위험탐지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3730752" y="5001768"/>
            <a:ext cx="219456" cy="0"/>
          </a:xfrm>
          <a:prstGeom prst="line">
            <a:avLst/>
          </a:prstGeom>
          <a:noFill/>
          <a:ln w="21590">
            <a:solidFill>
              <a:srgbClr val="1F5EFF"/>
            </a:solidFill>
            <a:prstDash val="solid"/>
            <a:headEnd type="none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3913632" y="4608576"/>
            <a:ext cx="1463040" cy="786384"/>
          </a:xfrm>
          <a:prstGeom prst="roundRect">
            <a:avLst>
              <a:gd name="adj" fmla="val 16279"/>
            </a:avLst>
          </a:prstGeom>
          <a:solidFill>
            <a:srgbClr val="1F5EFF"/>
          </a:solidFill>
          <a:ln w="10160">
            <a:solidFill>
              <a:srgbClr val="1F5EFF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3986784" y="4828032"/>
            <a:ext cx="13167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NanumSquare Bold" pitchFamily="34" charset="0"/>
                <a:ea typeface="NanumSquare Bold" pitchFamily="34" charset="-122"/>
                <a:cs typeface="NanumSquare Bold" pitchFamily="34" charset="-120"/>
              </a:rPr>
              <a:t>금융 방지턱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5449824" y="5001768"/>
            <a:ext cx="219456" cy="0"/>
          </a:xfrm>
          <a:prstGeom prst="line">
            <a:avLst/>
          </a:prstGeom>
          <a:noFill/>
          <a:ln w="21590">
            <a:solidFill>
              <a:srgbClr val="1F5EFF"/>
            </a:solidFill>
            <a:prstDash val="solid"/>
            <a:headEnd type="none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5742432" y="4608576"/>
            <a:ext cx="1463040" cy="786384"/>
          </a:xfrm>
          <a:prstGeom prst="roundRect">
            <a:avLst>
              <a:gd name="adj" fmla="val 16279"/>
            </a:avLst>
          </a:prstGeom>
          <a:solidFill>
            <a:srgbClr val="EAF3FF"/>
          </a:solidFill>
          <a:ln w="10160">
            <a:solidFill>
              <a:srgbClr val="DCE8FA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5815584" y="4828032"/>
            <a:ext cx="13167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0213D"/>
                </a:solidFill>
                <a:latin typeface="NanumSquare Bold" pitchFamily="34" charset="0"/>
                <a:ea typeface="NanumSquare Bold" pitchFamily="34" charset="-122"/>
                <a:cs typeface="NanumSquare Bold" pitchFamily="34" charset="-120"/>
              </a:rPr>
              <a:t>외부 독립검증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7278624" y="5001768"/>
            <a:ext cx="219456" cy="0"/>
          </a:xfrm>
          <a:prstGeom prst="line">
            <a:avLst/>
          </a:prstGeom>
          <a:noFill/>
          <a:ln w="21590">
            <a:solidFill>
              <a:srgbClr val="1F5EFF"/>
            </a:solidFill>
            <a:prstDash val="solid"/>
            <a:headEnd type="none"/>
            <a:tailEnd type="triangle"/>
          </a:ln>
        </p:spPr>
      </p:sp>
      <p:sp>
        <p:nvSpPr>
          <p:cNvPr id="37" name="Shape 35"/>
          <p:cNvSpPr/>
          <p:nvPr/>
        </p:nvSpPr>
        <p:spPr>
          <a:xfrm>
            <a:off x="7790688" y="4608576"/>
            <a:ext cx="1463040" cy="786384"/>
          </a:xfrm>
          <a:prstGeom prst="roundRect">
            <a:avLst>
              <a:gd name="adj" fmla="val 16279"/>
            </a:avLst>
          </a:prstGeom>
          <a:solidFill>
            <a:srgbClr val="FFFFFF"/>
          </a:solidFill>
          <a:ln w="10160">
            <a:solidFill>
              <a:srgbClr val="DCE8FA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7863840" y="4828032"/>
            <a:ext cx="13167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0213D"/>
                </a:solidFill>
                <a:latin typeface="NanumSquare Bold" pitchFamily="34" charset="0"/>
                <a:ea typeface="NanumSquare Bold" pitchFamily="34" charset="-122"/>
                <a:cs typeface="NanumSquare Bold" pitchFamily="34" charset="-120"/>
              </a:rPr>
              <a:t>안전한 재판단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9710928" y="1911096"/>
            <a:ext cx="1828800" cy="3483864"/>
          </a:xfrm>
          <a:prstGeom prst="roundRect">
            <a:avLst>
              <a:gd name="adj" fmla="val 10000"/>
            </a:avLst>
          </a:prstGeom>
          <a:solidFill>
            <a:srgbClr val="0B1F3A"/>
          </a:solidFill>
          <a:ln w="10160">
            <a:solidFill>
              <a:srgbClr val="0B1F3A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9976104" y="2185416"/>
            <a:ext cx="1298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9A8FF"/>
                </a:solidFill>
                <a:latin typeface="NanumSquare Bold" pitchFamily="34" charset="0"/>
                <a:ea typeface="NanumSquare Bold" pitchFamily="34" charset="-122"/>
                <a:cs typeface="NanumSquare Bold" pitchFamily="34" charset="-120"/>
              </a:rPr>
              <a:t>핵심 역할</a:t>
            </a:r>
            <a:endParaRPr lang="en-US" sz="1100" dirty="0"/>
          </a:p>
        </p:txBody>
      </p:sp>
      <p:sp>
        <p:nvSpPr>
          <p:cNvPr id="41" name="Text 39"/>
          <p:cNvSpPr txBox="1"/>
          <p:nvPr/>
        </p:nvSpPr>
        <p:spPr>
          <a:xfrm>
            <a:off x="9948672" y="2743200"/>
            <a:ext cx="135331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NanumSquare Bold" pitchFamily="34" charset="0"/>
                <a:ea typeface="NanumSquare Bold" pitchFamily="34" charset="-122"/>
                <a:cs typeface="NanumSquare Bold" pitchFamily="34" charset="-120"/>
              </a:rPr>
              <a:t>판단을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NanumSquare Bold" pitchFamily="34" charset="0"/>
                <a:ea typeface="NanumSquare Bold" pitchFamily="34" charset="-122"/>
                <a:cs typeface="NanumSquare Bold" pitchFamily="34" charset="-120"/>
              </a:rPr>
              <a:t>대신하지 않고</a:t>
            </a:r>
            <a:endParaRPr lang="en-US" sz="1800" dirty="0"/>
          </a:p>
        </p:txBody>
      </p:sp>
      <p:sp>
        <p:nvSpPr>
          <p:cNvPr id="42" name="Shape 40"/>
          <p:cNvSpPr/>
          <p:nvPr/>
        </p:nvSpPr>
        <p:spPr>
          <a:xfrm>
            <a:off x="10040112" y="3657600"/>
            <a:ext cx="1188720" cy="0"/>
          </a:xfrm>
          <a:prstGeom prst="line">
            <a:avLst/>
          </a:prstGeom>
          <a:noFill/>
          <a:ln w="12700">
            <a:solidFill>
              <a:srgbClr val="315B84"/>
            </a:solidFill>
            <a:prstDash val="solid"/>
            <a:headEnd type="none"/>
            <a:tailEnd type="none"/>
          </a:ln>
        </p:spPr>
      </p:sp>
      <p:sp>
        <p:nvSpPr>
          <p:cNvPr id="43" name="Text 41"/>
          <p:cNvSpPr txBox="1"/>
          <p:nvPr/>
        </p:nvSpPr>
        <p:spPr>
          <a:xfrm>
            <a:off x="9902952" y="3913632"/>
            <a:ext cx="1463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30" b="1" dirty="0">
                <a:solidFill>
                  <a:srgbClr val="D8E8F7"/>
                </a:solidFill>
                <a:latin typeface="NanumSquare Bold" pitchFamily="34" charset="0"/>
                <a:ea typeface="NanumSquare Bold" pitchFamily="34" charset="-122"/>
                <a:cs typeface="NanumSquare Bold" pitchFamily="34" charset="-120"/>
              </a:rPr>
              <a:t>피해로 연결되기 전에</a:t>
            </a:r>
            <a:endParaRPr lang="en-US" sz="1330" dirty="0"/>
          </a:p>
          <a:p>
            <a:pPr marL="0" indent="0" algn="ctr">
              <a:buNone/>
            </a:pPr>
            <a:r>
              <a:rPr lang="en-US" sz="1330" b="1" dirty="0">
                <a:solidFill>
                  <a:srgbClr val="D8E8F7"/>
                </a:solidFill>
                <a:latin typeface="NanumSquare Bold" pitchFamily="34" charset="0"/>
                <a:ea typeface="NanumSquare Bold" pitchFamily="34" charset="-122"/>
                <a:cs typeface="NanumSquare Bold" pitchFamily="34" charset="-120"/>
              </a:rPr>
              <a:t>한 번 더 멈춘다</a:t>
            </a:r>
            <a:endParaRPr lang="en-US" sz="1330" dirty="0"/>
          </a:p>
        </p:txBody>
      </p:sp>
      <p:sp>
        <p:nvSpPr>
          <p:cNvPr id="4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10528"/>
            <a:ext cx="27432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B8CA8"/>
                </a:solidFill>
                <a:latin typeface="NanumSquare"/>
                <a:ea typeface="NanumSquare"/>
                <a:cs typeface="NanumSquare"/>
              </a:defRPr>
            </a:lvl1pPr>
          </a:lstStyle>
          <a:p>
            <a:pPr algn="r"/>
            <a:fld id="{F7021451-1387-4CA6-816F-3879F97B5CBC}" type="slidenum">
              <a:rPr lang="en-US" b="0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844784" y="128016"/>
            <a:ext cx="1188720" cy="1188720"/>
          </a:xfrm>
          <a:prstGeom prst="ellipse">
            <a:avLst/>
          </a:prstGeom>
          <a:solidFill>
            <a:srgbClr val="10345A"/>
          </a:solidFill>
          <a:ln w="10160">
            <a:solidFill>
              <a:srgbClr val="10345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448288" y="292608"/>
            <a:ext cx="310896" cy="310896"/>
          </a:xfrm>
          <a:prstGeom prst="ellipse">
            <a:avLst/>
          </a:prstGeom>
          <a:solidFill>
            <a:srgbClr val="1F5EFF"/>
          </a:solidFill>
          <a:ln w="10160">
            <a:solidFill>
              <a:srgbClr val="1F5E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844784" y="1024128"/>
            <a:ext cx="868680" cy="0"/>
          </a:xfrm>
          <a:prstGeom prst="line">
            <a:avLst/>
          </a:prstGeom>
          <a:noFill/>
          <a:ln w="13970">
            <a:solidFill>
              <a:srgbClr val="2B5D8C"/>
            </a:solidFill>
            <a:prstDash val="solid"/>
            <a:headEnd type="none"/>
            <a:tailEnd type="none"/>
          </a:ln>
        </p:spPr>
      </p:sp>
      <p:sp>
        <p:nvSpPr>
          <p:cNvPr id="5" name="Shape 3"/>
          <p:cNvSpPr/>
          <p:nvPr/>
        </p:nvSpPr>
        <p:spPr>
          <a:xfrm>
            <a:off x="11045952" y="1225296"/>
            <a:ext cx="667512" cy="0"/>
          </a:xfrm>
          <a:prstGeom prst="line">
            <a:avLst/>
          </a:prstGeom>
          <a:noFill/>
          <a:ln w="13970">
            <a:solidFill>
              <a:srgbClr val="2B5D8C"/>
            </a:solidFill>
            <a:prstDash val="solid"/>
            <a:headEnd type="none"/>
            <a:tailEnd type="none"/>
          </a:ln>
        </p:spPr>
      </p:sp>
      <p:sp>
        <p:nvSpPr>
          <p:cNvPr id="6" name="Shape 4"/>
          <p:cNvSpPr/>
          <p:nvPr/>
        </p:nvSpPr>
        <p:spPr>
          <a:xfrm>
            <a:off x="566928" y="347472"/>
            <a:ext cx="1115568" cy="310896"/>
          </a:xfrm>
          <a:prstGeom prst="roundRect">
            <a:avLst>
              <a:gd name="adj" fmla="val 50000"/>
            </a:avLst>
          </a:prstGeom>
          <a:solidFill>
            <a:srgbClr val="18395D"/>
          </a:solidFill>
          <a:ln w="10160">
            <a:solidFill>
              <a:srgbClr val="244F7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76656" y="374904"/>
            <a:ext cx="8961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49A8FF"/>
                </a:solidFill>
                <a:latin typeface="NanumSquare Bold" pitchFamily="34" charset="0"/>
                <a:ea typeface="NanumSquare Bold" pitchFamily="34" charset="-122"/>
                <a:cs typeface="NanumSquare Bold" pitchFamily="34" charset="-120"/>
              </a:rPr>
              <a:t>서비스 제안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566928" y="850392"/>
            <a:ext cx="106984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NanumSquare Bold" pitchFamily="34" charset="0"/>
                <a:ea typeface="NanumSquare Bold" pitchFamily="34" charset="-122"/>
                <a:cs typeface="NanumSquare Bold" pitchFamily="34" charset="-120"/>
              </a:rPr>
              <a:t>AI 독립검증형 송금방지턱</a:t>
            </a:r>
            <a:endParaRPr lang="en-US" sz="2800" dirty="0"/>
          </a:p>
        </p:txBody>
      </p:sp>
      <p:sp>
        <p:nvSpPr>
          <p:cNvPr id="9" name="Text 7"/>
          <p:cNvSpPr txBox="1"/>
          <p:nvPr/>
        </p:nvSpPr>
        <p:spPr>
          <a:xfrm>
            <a:off x="585216" y="1353312"/>
            <a:ext cx="10515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30" dirty="0">
                <a:solidFill>
                  <a:srgbClr val="9DB6D6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통화 위험 탐지부터 다중검증까지 연결되는 5단계 금융안전 구조</a:t>
            </a:r>
            <a:endParaRPr lang="en-US" sz="1230" dirty="0"/>
          </a:p>
        </p:txBody>
      </p:sp>
      <p:sp>
        <p:nvSpPr>
          <p:cNvPr id="10" name="Shape 8"/>
          <p:cNvSpPr/>
          <p:nvPr/>
        </p:nvSpPr>
        <p:spPr>
          <a:xfrm>
            <a:off x="685800" y="2176272"/>
            <a:ext cx="1764792" cy="2962656"/>
          </a:xfrm>
          <a:prstGeom prst="roundRect">
            <a:avLst>
              <a:gd name="adj" fmla="val 10363"/>
            </a:avLst>
          </a:prstGeom>
          <a:solidFill>
            <a:srgbClr val="12375D"/>
          </a:solidFill>
          <a:ln w="10160">
            <a:solidFill>
              <a:srgbClr val="2B5D8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59536" y="2386584"/>
            <a:ext cx="420624" cy="420624"/>
          </a:xfrm>
          <a:prstGeom prst="ellipse">
            <a:avLst/>
          </a:prstGeom>
          <a:solidFill>
            <a:srgbClr val="173F68"/>
          </a:solidFill>
          <a:ln w="10160">
            <a:solidFill>
              <a:srgbClr val="2B5D8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59536" y="2450592"/>
            <a:ext cx="4206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20" b="1" dirty="0">
                <a:solidFill>
                  <a:srgbClr val="49A8FF"/>
                </a:solidFill>
                <a:latin typeface="NanumSquare Bold" pitchFamily="34" charset="0"/>
                <a:ea typeface="NanumSquare Bold" pitchFamily="34" charset="-122"/>
                <a:cs typeface="NanumSquare Bold" pitchFamily="34" charset="-120"/>
              </a:rPr>
              <a:t>01</a:t>
            </a:r>
            <a:endParaRPr lang="en-US" sz="1020" dirty="0"/>
          </a:p>
        </p:txBody>
      </p:sp>
      <p:sp>
        <p:nvSpPr>
          <p:cNvPr id="13" name="Text 11"/>
          <p:cNvSpPr txBox="1"/>
          <p:nvPr/>
        </p:nvSpPr>
        <p:spPr>
          <a:xfrm>
            <a:off x="859536" y="2999232"/>
            <a:ext cx="141732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NanumSquare Bold" pitchFamily="34" charset="0"/>
                <a:ea typeface="NanumSquare Bold" pitchFamily="34" charset="-122"/>
                <a:cs typeface="NanumSquare Bold" pitchFamily="34" charset="-120"/>
              </a:rPr>
              <a:t>AI 통화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NanumSquare Bold" pitchFamily="34" charset="0"/>
                <a:ea typeface="NanumSquare Bold" pitchFamily="34" charset="-122"/>
                <a:cs typeface="NanumSquare Bold" pitchFamily="34" charset="-120"/>
              </a:rPr>
              <a:t>위험 탐지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950976" y="3959352"/>
            <a:ext cx="1234440" cy="0"/>
          </a:xfrm>
          <a:prstGeom prst="line">
            <a:avLst/>
          </a:prstGeom>
          <a:noFill/>
          <a:ln w="11430">
            <a:solidFill>
              <a:srgbClr val="315A81"/>
            </a:solidFill>
            <a:prstDash val="solid"/>
            <a:headEnd type="none"/>
            <a:tailEnd type="none"/>
          </a:ln>
        </p:spPr>
      </p:sp>
      <p:sp>
        <p:nvSpPr>
          <p:cNvPr id="15" name="Text 13"/>
          <p:cNvSpPr txBox="1"/>
          <p:nvPr/>
        </p:nvSpPr>
        <p:spPr>
          <a:xfrm>
            <a:off x="832104" y="4169664"/>
            <a:ext cx="148132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30" dirty="0">
                <a:solidFill>
                  <a:srgbClr val="B9CDE0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사칭·권위·긴급성·</a:t>
            </a:r>
            <a:endParaRPr lang="en-US" sz="1030" dirty="0"/>
          </a:p>
          <a:p>
            <a:pPr marL="0" indent="0" algn="ctr">
              <a:buNone/>
            </a:pPr>
            <a:r>
              <a:rPr lang="en-US" sz="1030" dirty="0">
                <a:solidFill>
                  <a:srgbClr val="B9CDE0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금융행동 요구 신호</a:t>
            </a:r>
            <a:endParaRPr lang="en-US" sz="1030" dirty="0"/>
          </a:p>
        </p:txBody>
      </p:sp>
      <p:sp>
        <p:nvSpPr>
          <p:cNvPr id="16" name="Shape 14"/>
          <p:cNvSpPr/>
          <p:nvPr/>
        </p:nvSpPr>
        <p:spPr>
          <a:xfrm>
            <a:off x="2487168" y="3639312"/>
            <a:ext cx="347472" cy="0"/>
          </a:xfrm>
          <a:prstGeom prst="line">
            <a:avLst/>
          </a:prstGeom>
          <a:noFill/>
          <a:ln w="21590">
            <a:solidFill>
              <a:srgbClr val="49A8FF"/>
            </a:solidFill>
            <a:prstDash val="solid"/>
            <a:headEnd type="none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2953512" y="2176272"/>
            <a:ext cx="1764792" cy="2962656"/>
          </a:xfrm>
          <a:prstGeom prst="roundRect">
            <a:avLst>
              <a:gd name="adj" fmla="val 10363"/>
            </a:avLst>
          </a:prstGeom>
          <a:solidFill>
            <a:srgbClr val="12375D"/>
          </a:solidFill>
          <a:ln w="10160">
            <a:solidFill>
              <a:srgbClr val="2B5D8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127248" y="2386584"/>
            <a:ext cx="420624" cy="420624"/>
          </a:xfrm>
          <a:prstGeom prst="ellipse">
            <a:avLst/>
          </a:prstGeom>
          <a:solidFill>
            <a:srgbClr val="173F68"/>
          </a:solidFill>
          <a:ln w="10160">
            <a:solidFill>
              <a:srgbClr val="2B5D8C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3127248" y="2450592"/>
            <a:ext cx="4206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20" b="1" dirty="0">
                <a:solidFill>
                  <a:srgbClr val="65B9FF"/>
                </a:solidFill>
                <a:latin typeface="NanumSquare Bold" pitchFamily="34" charset="0"/>
                <a:ea typeface="NanumSquare Bold" pitchFamily="34" charset="-122"/>
                <a:cs typeface="NanumSquare Bold" pitchFamily="34" charset="-120"/>
              </a:rPr>
              <a:t>02</a:t>
            </a:r>
            <a:endParaRPr lang="en-US" sz="1020" dirty="0"/>
          </a:p>
        </p:txBody>
      </p:sp>
      <p:sp>
        <p:nvSpPr>
          <p:cNvPr id="20" name="Text 18"/>
          <p:cNvSpPr txBox="1"/>
          <p:nvPr/>
        </p:nvSpPr>
        <p:spPr>
          <a:xfrm>
            <a:off x="3127248" y="2999232"/>
            <a:ext cx="141732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NanumSquare Bold" pitchFamily="34" charset="0"/>
                <a:ea typeface="NanumSquare Bold" pitchFamily="34" charset="-122"/>
                <a:cs typeface="NanumSquare Bold" pitchFamily="34" charset="-120"/>
              </a:rPr>
              <a:t>위험도·근거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NanumSquare Bold" pitchFamily="34" charset="0"/>
                <a:ea typeface="NanumSquare Bold" pitchFamily="34" charset="-122"/>
                <a:cs typeface="NanumSquare Bold" pitchFamily="34" charset="-120"/>
              </a:rPr>
              <a:t>산출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3218688" y="3959352"/>
            <a:ext cx="1234440" cy="0"/>
          </a:xfrm>
          <a:prstGeom prst="line">
            <a:avLst/>
          </a:prstGeom>
          <a:noFill/>
          <a:ln w="11430">
            <a:solidFill>
              <a:srgbClr val="315A81"/>
            </a:solidFill>
            <a:prstDash val="solid"/>
            <a:headEnd type="none"/>
            <a:tailEnd type="none"/>
          </a:ln>
        </p:spPr>
      </p:sp>
      <p:sp>
        <p:nvSpPr>
          <p:cNvPr id="22" name="Text 20"/>
          <p:cNvSpPr txBox="1"/>
          <p:nvPr/>
        </p:nvSpPr>
        <p:spPr>
          <a:xfrm>
            <a:off x="3099816" y="4169664"/>
            <a:ext cx="148132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30" dirty="0">
                <a:solidFill>
                  <a:srgbClr val="B9CDE0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왜 위험한지</a:t>
            </a:r>
            <a:endParaRPr lang="en-US" sz="1030" dirty="0"/>
          </a:p>
          <a:p>
            <a:pPr marL="0" indent="0" algn="ctr">
              <a:buNone/>
            </a:pPr>
            <a:r>
              <a:rPr lang="en-US" sz="1030" dirty="0">
                <a:solidFill>
                  <a:srgbClr val="B9CDE0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근거와 함께 제시</a:t>
            </a:r>
            <a:endParaRPr lang="en-US" sz="1030" dirty="0"/>
          </a:p>
        </p:txBody>
      </p:sp>
      <p:sp>
        <p:nvSpPr>
          <p:cNvPr id="23" name="Shape 21"/>
          <p:cNvSpPr/>
          <p:nvPr/>
        </p:nvSpPr>
        <p:spPr>
          <a:xfrm>
            <a:off x="4754880" y="3639312"/>
            <a:ext cx="347472" cy="0"/>
          </a:xfrm>
          <a:prstGeom prst="line">
            <a:avLst/>
          </a:prstGeom>
          <a:noFill/>
          <a:ln w="21590">
            <a:solidFill>
              <a:srgbClr val="49A8FF"/>
            </a:solidFill>
            <a:prstDash val="solid"/>
            <a:headEnd type="none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5221224" y="2176272"/>
            <a:ext cx="1764792" cy="2962656"/>
          </a:xfrm>
          <a:prstGeom prst="roundRect">
            <a:avLst>
              <a:gd name="adj" fmla="val 10363"/>
            </a:avLst>
          </a:prstGeom>
          <a:solidFill>
            <a:srgbClr val="12375D"/>
          </a:solidFill>
          <a:ln w="10160">
            <a:solidFill>
              <a:srgbClr val="2B5D8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394960" y="2386584"/>
            <a:ext cx="420624" cy="420624"/>
          </a:xfrm>
          <a:prstGeom prst="ellipse">
            <a:avLst/>
          </a:prstGeom>
          <a:solidFill>
            <a:srgbClr val="173F68"/>
          </a:solidFill>
          <a:ln w="10160">
            <a:solidFill>
              <a:srgbClr val="2B5D8C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5394960" y="2450592"/>
            <a:ext cx="4206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20" b="1" dirty="0">
                <a:solidFill>
                  <a:srgbClr val="7CC8FF"/>
                </a:solidFill>
                <a:latin typeface="NanumSquare Bold" pitchFamily="34" charset="0"/>
                <a:ea typeface="NanumSquare Bold" pitchFamily="34" charset="-122"/>
                <a:cs typeface="NanumSquare Bold" pitchFamily="34" charset="-120"/>
              </a:rPr>
              <a:t>03</a:t>
            </a:r>
            <a:endParaRPr lang="en-US" sz="1020" dirty="0"/>
          </a:p>
        </p:txBody>
      </p:sp>
      <p:sp>
        <p:nvSpPr>
          <p:cNvPr id="27" name="Text 25"/>
          <p:cNvSpPr txBox="1"/>
          <p:nvPr/>
        </p:nvSpPr>
        <p:spPr>
          <a:xfrm>
            <a:off x="5394960" y="2999232"/>
            <a:ext cx="141732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NanumSquare Bold" pitchFamily="34" charset="0"/>
                <a:ea typeface="NanumSquare Bold" pitchFamily="34" charset="-122"/>
                <a:cs typeface="NanumSquare Bold" pitchFamily="34" charset="-120"/>
              </a:rPr>
              <a:t>역할별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NanumSquare Bold" pitchFamily="34" charset="0"/>
                <a:ea typeface="NanumSquare Bold" pitchFamily="34" charset="-122"/>
                <a:cs typeface="NanumSquare Bold" pitchFamily="34" charset="-120"/>
              </a:rPr>
              <a:t>맞춤 브리프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5486400" y="3959352"/>
            <a:ext cx="1234440" cy="0"/>
          </a:xfrm>
          <a:prstGeom prst="line">
            <a:avLst/>
          </a:prstGeom>
          <a:noFill/>
          <a:ln w="11430">
            <a:solidFill>
              <a:srgbClr val="315A81"/>
            </a:solidFill>
            <a:prstDash val="solid"/>
            <a:headEnd type="none"/>
            <a:tailEnd type="none"/>
          </a:ln>
        </p:spPr>
      </p:sp>
      <p:sp>
        <p:nvSpPr>
          <p:cNvPr id="29" name="Text 27"/>
          <p:cNvSpPr txBox="1"/>
          <p:nvPr/>
        </p:nvSpPr>
        <p:spPr>
          <a:xfrm>
            <a:off x="5367528" y="4169664"/>
            <a:ext cx="148132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30" dirty="0">
                <a:solidFill>
                  <a:srgbClr val="B9CDE0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피해자·신뢰인·</a:t>
            </a:r>
            <a:endParaRPr lang="en-US" sz="1030" dirty="0"/>
          </a:p>
          <a:p>
            <a:pPr marL="0" indent="0" algn="ctr">
              <a:buNone/>
            </a:pPr>
            <a:r>
              <a:rPr lang="en-US" sz="1030" dirty="0">
                <a:solidFill>
                  <a:srgbClr val="B9CDE0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금융기관별 정보 분리</a:t>
            </a:r>
            <a:endParaRPr lang="en-US" sz="1030" dirty="0"/>
          </a:p>
        </p:txBody>
      </p:sp>
      <p:sp>
        <p:nvSpPr>
          <p:cNvPr id="30" name="Shape 28"/>
          <p:cNvSpPr/>
          <p:nvPr/>
        </p:nvSpPr>
        <p:spPr>
          <a:xfrm>
            <a:off x="7022592" y="3639312"/>
            <a:ext cx="347472" cy="0"/>
          </a:xfrm>
          <a:prstGeom prst="line">
            <a:avLst/>
          </a:prstGeom>
          <a:noFill/>
          <a:ln w="21590">
            <a:solidFill>
              <a:srgbClr val="49A8FF"/>
            </a:solidFill>
            <a:prstDash val="solid"/>
            <a:headEnd type="none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7488936" y="2176272"/>
            <a:ext cx="1764792" cy="2962656"/>
          </a:xfrm>
          <a:prstGeom prst="roundRect">
            <a:avLst>
              <a:gd name="adj" fmla="val 10363"/>
            </a:avLst>
          </a:prstGeom>
          <a:solidFill>
            <a:srgbClr val="12375D"/>
          </a:solidFill>
          <a:ln w="10160">
            <a:solidFill>
              <a:srgbClr val="2B5D8C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662672" y="2386584"/>
            <a:ext cx="420624" cy="420624"/>
          </a:xfrm>
          <a:prstGeom prst="ellipse">
            <a:avLst/>
          </a:prstGeom>
          <a:solidFill>
            <a:srgbClr val="173F68"/>
          </a:solidFill>
          <a:ln w="10160">
            <a:solidFill>
              <a:srgbClr val="2B5D8C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7662672" y="2450592"/>
            <a:ext cx="4206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20" b="1" dirty="0">
                <a:solidFill>
                  <a:srgbClr val="95D2FF"/>
                </a:solidFill>
                <a:latin typeface="NanumSquare Bold" pitchFamily="34" charset="0"/>
                <a:ea typeface="NanumSquare Bold" pitchFamily="34" charset="-122"/>
                <a:cs typeface="NanumSquare Bold" pitchFamily="34" charset="-120"/>
              </a:rPr>
              <a:t>04</a:t>
            </a:r>
            <a:endParaRPr lang="en-US" sz="1020" dirty="0"/>
          </a:p>
        </p:txBody>
      </p:sp>
      <p:sp>
        <p:nvSpPr>
          <p:cNvPr id="34" name="Text 32"/>
          <p:cNvSpPr txBox="1"/>
          <p:nvPr/>
        </p:nvSpPr>
        <p:spPr>
          <a:xfrm>
            <a:off x="7662672" y="2999232"/>
            <a:ext cx="141732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NanumSquare Bold" pitchFamily="34" charset="0"/>
                <a:ea typeface="NanumSquare Bold" pitchFamily="34" charset="-122"/>
                <a:cs typeface="NanumSquare Bold" pitchFamily="34" charset="-120"/>
              </a:rPr>
              <a:t>송금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NanumSquare Bold" pitchFamily="34" charset="0"/>
                <a:ea typeface="NanumSquare Bold" pitchFamily="34" charset="-122"/>
                <a:cs typeface="NanumSquare Bold" pitchFamily="34" charset="-120"/>
              </a:rPr>
              <a:t>방지턱</a:t>
            </a:r>
            <a:endParaRPr lang="en-US" sz="1500" dirty="0"/>
          </a:p>
        </p:txBody>
      </p:sp>
      <p:sp>
        <p:nvSpPr>
          <p:cNvPr id="35" name="Shape 33"/>
          <p:cNvSpPr/>
          <p:nvPr/>
        </p:nvSpPr>
        <p:spPr>
          <a:xfrm>
            <a:off x="7754112" y="3959352"/>
            <a:ext cx="1234440" cy="0"/>
          </a:xfrm>
          <a:prstGeom prst="line">
            <a:avLst/>
          </a:prstGeom>
          <a:noFill/>
          <a:ln w="11430">
            <a:solidFill>
              <a:srgbClr val="315A81"/>
            </a:solidFill>
            <a:prstDash val="solid"/>
            <a:headEnd type="none"/>
            <a:tailEnd type="none"/>
          </a:ln>
        </p:spPr>
      </p:sp>
      <p:sp>
        <p:nvSpPr>
          <p:cNvPr id="36" name="Text 34"/>
          <p:cNvSpPr txBox="1"/>
          <p:nvPr/>
        </p:nvSpPr>
        <p:spPr>
          <a:xfrm>
            <a:off x="7635240" y="4169664"/>
            <a:ext cx="148132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30" dirty="0">
                <a:solidFill>
                  <a:srgbClr val="B9CDE0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신뢰인 공동검토</a:t>
            </a:r>
            <a:endParaRPr lang="en-US" sz="1030" dirty="0"/>
          </a:p>
          <a:p>
            <a:pPr marL="0" indent="0" algn="ctr">
              <a:buNone/>
            </a:pPr>
            <a:r>
              <a:rPr lang="en-US" sz="1030" dirty="0">
                <a:solidFill>
                  <a:srgbClr val="B9CDE0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및 일시 보류</a:t>
            </a:r>
            <a:endParaRPr lang="en-US" sz="1030" dirty="0"/>
          </a:p>
        </p:txBody>
      </p:sp>
      <p:sp>
        <p:nvSpPr>
          <p:cNvPr id="37" name="Shape 35"/>
          <p:cNvSpPr/>
          <p:nvPr/>
        </p:nvSpPr>
        <p:spPr>
          <a:xfrm>
            <a:off x="9290304" y="3639312"/>
            <a:ext cx="347472" cy="0"/>
          </a:xfrm>
          <a:prstGeom prst="line">
            <a:avLst/>
          </a:prstGeom>
          <a:noFill/>
          <a:ln w="21590">
            <a:solidFill>
              <a:srgbClr val="49A8FF"/>
            </a:solidFill>
            <a:prstDash val="solid"/>
            <a:headEnd type="none"/>
            <a:tailEnd type="triangle"/>
          </a:ln>
        </p:spPr>
      </p:sp>
      <p:sp>
        <p:nvSpPr>
          <p:cNvPr id="38" name="Shape 36"/>
          <p:cNvSpPr/>
          <p:nvPr/>
        </p:nvSpPr>
        <p:spPr>
          <a:xfrm>
            <a:off x="9756648" y="2176272"/>
            <a:ext cx="1764792" cy="2962656"/>
          </a:xfrm>
          <a:prstGeom prst="roundRect">
            <a:avLst>
              <a:gd name="adj" fmla="val 10363"/>
            </a:avLst>
          </a:prstGeom>
          <a:solidFill>
            <a:srgbClr val="12375D"/>
          </a:solidFill>
          <a:ln w="10160">
            <a:solidFill>
              <a:srgbClr val="2B5D8C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9930384" y="2386584"/>
            <a:ext cx="420624" cy="420624"/>
          </a:xfrm>
          <a:prstGeom prst="ellipse">
            <a:avLst/>
          </a:prstGeom>
          <a:solidFill>
            <a:srgbClr val="173F68"/>
          </a:solidFill>
          <a:ln w="10160">
            <a:solidFill>
              <a:srgbClr val="2B5D8C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9930384" y="2450592"/>
            <a:ext cx="4206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20" b="1" dirty="0">
                <a:solidFill>
                  <a:srgbClr val="AEDCFF"/>
                </a:solidFill>
                <a:latin typeface="NanumSquare Bold" pitchFamily="34" charset="0"/>
                <a:ea typeface="NanumSquare Bold" pitchFamily="34" charset="-122"/>
                <a:cs typeface="NanumSquare Bold" pitchFamily="34" charset="-120"/>
              </a:rPr>
              <a:t>05</a:t>
            </a:r>
            <a:endParaRPr lang="en-US" sz="1020" dirty="0"/>
          </a:p>
        </p:txBody>
      </p:sp>
      <p:sp>
        <p:nvSpPr>
          <p:cNvPr id="41" name="Text 39"/>
          <p:cNvSpPr txBox="1"/>
          <p:nvPr/>
        </p:nvSpPr>
        <p:spPr>
          <a:xfrm>
            <a:off x="9930384" y="2999232"/>
            <a:ext cx="141732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NanumSquare Bold" pitchFamily="34" charset="0"/>
                <a:ea typeface="NanumSquare Bold" pitchFamily="34" charset="-122"/>
                <a:cs typeface="NanumSquare Bold" pitchFamily="34" charset="-120"/>
              </a:rPr>
              <a:t>독립검증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NanumSquare Bold" pitchFamily="34" charset="0"/>
                <a:ea typeface="NanumSquare Bold" pitchFamily="34" charset="-122"/>
                <a:cs typeface="NanumSquare Bold" pitchFamily="34" charset="-120"/>
              </a:rPr>
              <a:t>연결</a:t>
            </a:r>
            <a:endParaRPr lang="en-US" sz="1500" dirty="0"/>
          </a:p>
        </p:txBody>
      </p:sp>
      <p:sp>
        <p:nvSpPr>
          <p:cNvPr id="42" name="Shape 40"/>
          <p:cNvSpPr/>
          <p:nvPr/>
        </p:nvSpPr>
        <p:spPr>
          <a:xfrm>
            <a:off x="10021824" y="3959352"/>
            <a:ext cx="1234440" cy="0"/>
          </a:xfrm>
          <a:prstGeom prst="line">
            <a:avLst/>
          </a:prstGeom>
          <a:noFill/>
          <a:ln w="11430">
            <a:solidFill>
              <a:srgbClr val="315A81"/>
            </a:solidFill>
            <a:prstDash val="solid"/>
            <a:headEnd type="none"/>
            <a:tailEnd type="none"/>
          </a:ln>
        </p:spPr>
      </p:sp>
      <p:sp>
        <p:nvSpPr>
          <p:cNvPr id="43" name="Text 41"/>
          <p:cNvSpPr txBox="1"/>
          <p:nvPr/>
        </p:nvSpPr>
        <p:spPr>
          <a:xfrm>
            <a:off x="9902952" y="4169664"/>
            <a:ext cx="148132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30" dirty="0">
                <a:solidFill>
                  <a:srgbClr val="B9CDE0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금융기관·공식기관</a:t>
            </a:r>
            <a:endParaRPr lang="en-US" sz="1030" dirty="0"/>
          </a:p>
          <a:p>
            <a:pPr marL="0" indent="0" algn="ctr">
              <a:buNone/>
            </a:pPr>
            <a:r>
              <a:rPr lang="en-US" sz="1030" dirty="0">
                <a:solidFill>
                  <a:srgbClr val="B9CDE0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진위확인</a:t>
            </a:r>
            <a:endParaRPr lang="en-US" sz="1030" dirty="0"/>
          </a:p>
        </p:txBody>
      </p:sp>
      <p:sp>
        <p:nvSpPr>
          <p:cNvPr id="44" name="Shape 42"/>
          <p:cNvSpPr/>
          <p:nvPr/>
        </p:nvSpPr>
        <p:spPr>
          <a:xfrm>
            <a:off x="1920240" y="5486400"/>
            <a:ext cx="8357616" cy="466344"/>
          </a:xfrm>
          <a:prstGeom prst="roundRect">
            <a:avLst>
              <a:gd name="adj" fmla="val 31373"/>
            </a:avLst>
          </a:prstGeom>
          <a:solidFill>
            <a:srgbClr val="102F50"/>
          </a:solidFill>
          <a:ln w="10160">
            <a:solidFill>
              <a:srgbClr val="2B5D8C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2157984" y="5596128"/>
            <a:ext cx="790041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40" b="1" dirty="0">
                <a:solidFill>
                  <a:srgbClr val="D4E4F3"/>
                </a:solidFill>
                <a:latin typeface="NanumSquare Bold" pitchFamily="34" charset="0"/>
                <a:ea typeface="NanumSquare Bold" pitchFamily="34" charset="-122"/>
                <a:cs typeface="NanumSquare Bold" pitchFamily="34" charset="-120"/>
              </a:rPr>
              <a:t>탐지 → 근거 → 공유 → 보류 → 검증 : “판단”과 “금융행동”을 동시에 보호</a:t>
            </a:r>
            <a:endParaRPr lang="en-US" sz="1240" dirty="0"/>
          </a:p>
        </p:txBody>
      </p:sp>
      <p:sp>
        <p:nvSpPr>
          <p:cNvPr id="4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10528"/>
            <a:ext cx="27432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D86A6"/>
                </a:solidFill>
                <a:latin typeface="NanumSquare"/>
                <a:ea typeface="NanumSquare"/>
                <a:cs typeface="NanumSquare"/>
              </a:defRPr>
            </a:lvl1pPr>
          </a:lstStyle>
          <a:p>
            <a:pPr algn="r"/>
            <a:fld id="{F7021451-1387-4CA6-816F-3879F97B5CBC}" type="slidenum">
              <a:rPr lang="en-US" b="0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844784" y="128016"/>
            <a:ext cx="1188720" cy="1188720"/>
          </a:xfrm>
          <a:prstGeom prst="ellipse">
            <a:avLst/>
          </a:prstGeom>
          <a:solidFill>
            <a:srgbClr val="EAF3FF"/>
          </a:solidFill>
          <a:ln w="10160">
            <a:solidFill>
              <a:srgbClr val="EAF3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448288" y="292608"/>
            <a:ext cx="310896" cy="310896"/>
          </a:xfrm>
          <a:prstGeom prst="ellipse">
            <a:avLst/>
          </a:prstGeom>
          <a:solidFill>
            <a:srgbClr val="49A8FF"/>
          </a:solidFill>
          <a:ln w="10160">
            <a:solidFill>
              <a:srgbClr val="49A8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844784" y="1024128"/>
            <a:ext cx="868680" cy="0"/>
          </a:xfrm>
          <a:prstGeom prst="line">
            <a:avLst/>
          </a:prstGeom>
          <a:noFill/>
          <a:ln w="13970">
            <a:solidFill>
              <a:srgbClr val="D6E8FF"/>
            </a:solidFill>
            <a:prstDash val="solid"/>
            <a:headEnd type="none"/>
            <a:tailEnd type="none"/>
          </a:ln>
        </p:spPr>
      </p:sp>
      <p:sp>
        <p:nvSpPr>
          <p:cNvPr id="5" name="Shape 3"/>
          <p:cNvSpPr/>
          <p:nvPr/>
        </p:nvSpPr>
        <p:spPr>
          <a:xfrm>
            <a:off x="11045952" y="1225296"/>
            <a:ext cx="667512" cy="0"/>
          </a:xfrm>
          <a:prstGeom prst="line">
            <a:avLst/>
          </a:prstGeom>
          <a:noFill/>
          <a:ln w="13970">
            <a:solidFill>
              <a:srgbClr val="D6E8FF"/>
            </a:solidFill>
            <a:prstDash val="solid"/>
            <a:headEnd type="none"/>
            <a:tailEnd type="none"/>
          </a:ln>
        </p:spPr>
      </p:sp>
      <p:sp>
        <p:nvSpPr>
          <p:cNvPr id="6" name="Shape 4"/>
          <p:cNvSpPr/>
          <p:nvPr/>
        </p:nvSpPr>
        <p:spPr>
          <a:xfrm>
            <a:off x="566928" y="347472"/>
            <a:ext cx="1115568" cy="310896"/>
          </a:xfrm>
          <a:prstGeom prst="roundRect">
            <a:avLst>
              <a:gd name="adj" fmla="val 50000"/>
            </a:avLst>
          </a:prstGeom>
          <a:solidFill>
            <a:srgbClr val="EAF3FF"/>
          </a:solidFill>
          <a:ln w="10160">
            <a:solidFill>
              <a:srgbClr val="D7E7F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76656" y="374904"/>
            <a:ext cx="8961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F5EFF"/>
                </a:solidFill>
                <a:latin typeface="NanumSquare Bold" pitchFamily="34" charset="0"/>
                <a:ea typeface="NanumSquare Bold" pitchFamily="34" charset="-122"/>
                <a:cs typeface="NanumSquare Bold" pitchFamily="34" charset="-120"/>
              </a:rPr>
              <a:t>서비스 구조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566928" y="850392"/>
            <a:ext cx="106984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0213D"/>
                </a:solidFill>
                <a:latin typeface="NanumSquare Bold" pitchFamily="34" charset="0"/>
                <a:ea typeface="NanumSquare Bold" pitchFamily="34" charset="-122"/>
                <a:cs typeface="NanumSquare Bold" pitchFamily="34" charset="-120"/>
              </a:rPr>
              <a:t>관계자마다 서로 다른 역할로 개입한다</a:t>
            </a:r>
            <a:endParaRPr lang="en-US" sz="2800" dirty="0"/>
          </a:p>
        </p:txBody>
      </p:sp>
      <p:sp>
        <p:nvSpPr>
          <p:cNvPr id="9" name="Text 7"/>
          <p:cNvSpPr txBox="1"/>
          <p:nvPr/>
        </p:nvSpPr>
        <p:spPr>
          <a:xfrm>
            <a:off x="585216" y="1353312"/>
            <a:ext cx="10515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30" dirty="0">
                <a:solidFill>
                  <a:srgbClr val="66768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동일한 정보를 모두에게 보내지 않고, 각 주체에게 필요한 정보와 권한만 제공</a:t>
            </a:r>
            <a:endParaRPr lang="en-US" sz="1230" dirty="0"/>
          </a:p>
        </p:txBody>
      </p:sp>
      <p:sp>
        <p:nvSpPr>
          <p:cNvPr id="10" name="Shape 8"/>
          <p:cNvSpPr/>
          <p:nvPr/>
        </p:nvSpPr>
        <p:spPr>
          <a:xfrm>
            <a:off x="713232" y="1847088"/>
            <a:ext cx="1444752" cy="493776"/>
          </a:xfrm>
          <a:prstGeom prst="roundRect">
            <a:avLst>
              <a:gd name="adj" fmla="val 11111"/>
            </a:avLst>
          </a:prstGeom>
          <a:solidFill>
            <a:srgbClr val="0B1F3A"/>
          </a:solidFill>
          <a:ln w="10160">
            <a:solidFill>
              <a:srgbClr val="0B1F3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86384" y="1947672"/>
            <a:ext cx="1298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NanumSquare Bold" pitchFamily="34" charset="0"/>
                <a:ea typeface="NanumSquare Bold" pitchFamily="34" charset="-122"/>
                <a:cs typeface="NanumSquare Bold" pitchFamily="34" charset="-120"/>
              </a:rPr>
              <a:t>주체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2240280" y="1847088"/>
            <a:ext cx="4023360" cy="493776"/>
          </a:xfrm>
          <a:prstGeom prst="roundRect">
            <a:avLst>
              <a:gd name="adj" fmla="val 11111"/>
            </a:avLst>
          </a:prstGeom>
          <a:solidFill>
            <a:srgbClr val="0B1F3A"/>
          </a:solidFill>
          <a:ln w="10160">
            <a:solidFill>
              <a:srgbClr val="0B1F3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313432" y="1947672"/>
            <a:ext cx="3877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 err="1">
                <a:solidFill>
                  <a:srgbClr val="FFFFFF"/>
                </a:solidFill>
                <a:latin typeface="NanumSquare Bold" pitchFamily="34" charset="0"/>
                <a:ea typeface="NanumSquare Bold" pitchFamily="34" charset="-122"/>
                <a:cs typeface="NanumSquare Bold" pitchFamily="34" charset="-120"/>
              </a:rPr>
              <a:t>Llm</a:t>
            </a:r>
            <a:r>
              <a:rPr lang="ko-KR" altLang="en-US" sz="1150" b="1" dirty="0">
                <a:solidFill>
                  <a:srgbClr val="FFFFFF"/>
                </a:solidFill>
                <a:latin typeface="NanumSquare Bold" pitchFamily="34" charset="0"/>
                <a:ea typeface="NanumSquare Bold" pitchFamily="34" charset="-122"/>
                <a:cs typeface="NanumSquare Bold" pitchFamily="34" charset="-120"/>
              </a:rPr>
              <a:t>이 당사자</a:t>
            </a:r>
            <a:r>
              <a:rPr lang="en-US" altLang="ko-KR" sz="1150" b="1" dirty="0">
                <a:solidFill>
                  <a:srgbClr val="FFFFFF"/>
                </a:solidFill>
                <a:latin typeface="NanumSquare Bold" pitchFamily="34" charset="0"/>
                <a:ea typeface="NanumSquare Bold" pitchFamily="34" charset="-122"/>
                <a:cs typeface="NanumSquare Bold" pitchFamily="34" charset="-120"/>
              </a:rPr>
              <a:t>(</a:t>
            </a:r>
            <a:r>
              <a:rPr lang="ko-KR" altLang="en-US" sz="1150" b="1" dirty="0">
                <a:solidFill>
                  <a:srgbClr val="FFFFFF"/>
                </a:solidFill>
                <a:latin typeface="NanumSquare Bold" pitchFamily="34" charset="0"/>
                <a:ea typeface="NanumSquare Bold" pitchFamily="34" charset="-122"/>
                <a:cs typeface="NanumSquare Bold" pitchFamily="34" charset="-120"/>
              </a:rPr>
              <a:t>대상</a:t>
            </a:r>
            <a:r>
              <a:rPr lang="en-US" altLang="ko-KR" sz="1150" b="1" dirty="0">
                <a:solidFill>
                  <a:srgbClr val="FFFFFF"/>
                </a:solidFill>
                <a:latin typeface="NanumSquare Bold" pitchFamily="34" charset="0"/>
                <a:ea typeface="NanumSquare Bold" pitchFamily="34" charset="-122"/>
                <a:cs typeface="NanumSquare Bold" pitchFamily="34" charset="-120"/>
              </a:rPr>
              <a:t>)</a:t>
            </a:r>
            <a:r>
              <a:rPr lang="ko-KR" altLang="en-US" sz="1150" b="1" dirty="0">
                <a:solidFill>
                  <a:srgbClr val="FFFFFF"/>
                </a:solidFill>
                <a:latin typeface="NanumSquare Bold" pitchFamily="34" charset="0"/>
                <a:ea typeface="NanumSquare Bold" pitchFamily="34" charset="-122"/>
                <a:cs typeface="NanumSquare Bold" pitchFamily="34" charset="-120"/>
              </a:rPr>
              <a:t>들에게 </a:t>
            </a:r>
            <a:r>
              <a:rPr lang="en-US" sz="1150" b="1" dirty="0" err="1">
                <a:solidFill>
                  <a:srgbClr val="FFFFFF"/>
                </a:solidFill>
                <a:latin typeface="NanumSquare Bold" pitchFamily="34" charset="0"/>
                <a:ea typeface="NanumSquare Bold" pitchFamily="34" charset="-122"/>
                <a:cs typeface="NanumSquare Bold" pitchFamily="34" charset="-120"/>
              </a:rPr>
              <a:t>제공</a:t>
            </a:r>
            <a:r>
              <a:rPr lang="en-US" sz="1150" b="1" dirty="0">
                <a:solidFill>
                  <a:srgbClr val="FFFFFF"/>
                </a:solidFill>
                <a:latin typeface="NanumSquare Bold" pitchFamily="34" charset="0"/>
                <a:ea typeface="NanumSquare Bold" pitchFamily="34" charset="-122"/>
                <a:cs typeface="NanumSquare Bold" pitchFamily="34" charset="-120"/>
              </a:rPr>
              <a:t> 정보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382512" y="1847088"/>
            <a:ext cx="2697480" cy="493776"/>
          </a:xfrm>
          <a:prstGeom prst="roundRect">
            <a:avLst>
              <a:gd name="adj" fmla="val 11111"/>
            </a:avLst>
          </a:prstGeom>
          <a:solidFill>
            <a:srgbClr val="0B1F3A"/>
          </a:solidFill>
          <a:ln w="10160">
            <a:solidFill>
              <a:srgbClr val="0B1F3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55664" y="1947672"/>
            <a:ext cx="25511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NanumSquare Bold" pitchFamily="34" charset="0"/>
                <a:ea typeface="NanumSquare Bold" pitchFamily="34" charset="-122"/>
                <a:cs typeface="NanumSquare Bold" pitchFamily="34" charset="-120"/>
              </a:rPr>
              <a:t>핵심 역할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9189720" y="1847088"/>
            <a:ext cx="2267712" cy="493776"/>
          </a:xfrm>
          <a:prstGeom prst="roundRect">
            <a:avLst>
              <a:gd name="adj" fmla="val 11111"/>
            </a:avLst>
          </a:prstGeom>
          <a:solidFill>
            <a:srgbClr val="0B1F3A"/>
          </a:solidFill>
          <a:ln w="10160">
            <a:solidFill>
              <a:srgbClr val="0B1F3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262872" y="1947672"/>
            <a:ext cx="21214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NanumSquare Bold" pitchFamily="34" charset="0"/>
                <a:ea typeface="NanumSquare Bold" pitchFamily="34" charset="-122"/>
                <a:cs typeface="NanumSquare Bold" pitchFamily="34" charset="-120"/>
              </a:rPr>
              <a:t>접근 원칙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713232" y="2414016"/>
            <a:ext cx="1444752" cy="64008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0160">
            <a:solidFill>
              <a:srgbClr val="D7E7F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04672" y="2523744"/>
            <a:ext cx="12618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5EFF"/>
                </a:solidFill>
                <a:latin typeface="NanumSquare Bold" pitchFamily="34" charset="0"/>
                <a:ea typeface="NanumSquare Bold" pitchFamily="34" charset="-122"/>
                <a:cs typeface="NanumSquare Bold" pitchFamily="34" charset="-120"/>
              </a:rPr>
              <a:t>피해자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2240280" y="2414016"/>
            <a:ext cx="4023360" cy="64008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0160">
            <a:solidFill>
              <a:srgbClr val="DCE8FA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2331720" y="2523744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70" dirty="0">
                <a:solidFill>
                  <a:srgbClr val="10213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위험도 · 근거 · 행동 안내</a:t>
            </a:r>
            <a:endParaRPr lang="en-US" sz="1070" dirty="0"/>
          </a:p>
        </p:txBody>
      </p:sp>
      <p:sp>
        <p:nvSpPr>
          <p:cNvPr id="22" name="Shape 20"/>
          <p:cNvSpPr/>
          <p:nvPr/>
        </p:nvSpPr>
        <p:spPr>
          <a:xfrm>
            <a:off x="6382512" y="2414016"/>
            <a:ext cx="2697480" cy="64008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0160">
            <a:solidFill>
              <a:srgbClr val="DCE8FA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473952" y="2523744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70" dirty="0">
                <a:solidFill>
                  <a:srgbClr val="10213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통화 종료 · 재확인</a:t>
            </a:r>
            <a:endParaRPr lang="en-US" sz="1070" dirty="0"/>
          </a:p>
        </p:txBody>
      </p:sp>
      <p:sp>
        <p:nvSpPr>
          <p:cNvPr id="24" name="Shape 22"/>
          <p:cNvSpPr/>
          <p:nvPr/>
        </p:nvSpPr>
        <p:spPr>
          <a:xfrm>
            <a:off x="9189720" y="2414016"/>
            <a:ext cx="2267712" cy="64008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0160">
            <a:solidFill>
              <a:srgbClr val="DCE8FA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9281160" y="2523744"/>
            <a:ext cx="20848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70" dirty="0">
                <a:solidFill>
                  <a:srgbClr val="10213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본인 의사결정 지원</a:t>
            </a:r>
            <a:endParaRPr lang="en-US" sz="1070" dirty="0"/>
          </a:p>
        </p:txBody>
      </p:sp>
      <p:sp>
        <p:nvSpPr>
          <p:cNvPr id="26" name="Shape 24"/>
          <p:cNvSpPr/>
          <p:nvPr/>
        </p:nvSpPr>
        <p:spPr>
          <a:xfrm>
            <a:off x="713232" y="3127248"/>
            <a:ext cx="1444752" cy="640080"/>
          </a:xfrm>
          <a:prstGeom prst="roundRect">
            <a:avLst>
              <a:gd name="adj" fmla="val 5714"/>
            </a:avLst>
          </a:prstGeom>
          <a:solidFill>
            <a:srgbClr val="F1F6FF"/>
          </a:solidFill>
          <a:ln w="10160">
            <a:solidFill>
              <a:srgbClr val="D7E7FF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804672" y="3236976"/>
            <a:ext cx="12618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5EFF"/>
                </a:solidFill>
                <a:latin typeface="NanumSquare Bold" pitchFamily="34" charset="0"/>
                <a:ea typeface="NanumSquare Bold" pitchFamily="34" charset="-122"/>
                <a:cs typeface="NanumSquare Bold" pitchFamily="34" charset="-120"/>
              </a:rPr>
              <a:t>신뢰인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2240280" y="3127248"/>
            <a:ext cx="4023360" cy="640080"/>
          </a:xfrm>
          <a:prstGeom prst="roundRect">
            <a:avLst>
              <a:gd name="adj" fmla="val 5714"/>
            </a:avLst>
          </a:prstGeom>
          <a:solidFill>
            <a:srgbClr val="F1F6FF"/>
          </a:solidFill>
          <a:ln w="10160">
            <a:solidFill>
              <a:srgbClr val="DCE8FA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2331720" y="3236976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70" dirty="0">
                <a:solidFill>
                  <a:srgbClr val="10213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상황요약 · AI 분석 · 요구금액</a:t>
            </a:r>
            <a:endParaRPr lang="en-US" sz="1070" dirty="0"/>
          </a:p>
        </p:txBody>
      </p:sp>
      <p:sp>
        <p:nvSpPr>
          <p:cNvPr id="30" name="Shape 28"/>
          <p:cNvSpPr/>
          <p:nvPr/>
        </p:nvSpPr>
        <p:spPr>
          <a:xfrm>
            <a:off x="6382512" y="3127248"/>
            <a:ext cx="2697480" cy="640080"/>
          </a:xfrm>
          <a:prstGeom prst="roundRect">
            <a:avLst>
              <a:gd name="adj" fmla="val 5714"/>
            </a:avLst>
          </a:prstGeom>
          <a:solidFill>
            <a:srgbClr val="F1F6FF"/>
          </a:solidFill>
          <a:ln w="10160">
            <a:solidFill>
              <a:srgbClr val="DCE8FA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473952" y="3236976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70" dirty="0">
                <a:solidFill>
                  <a:srgbClr val="10213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거래별 공동검토</a:t>
            </a:r>
            <a:endParaRPr lang="en-US" sz="1070" dirty="0"/>
          </a:p>
        </p:txBody>
      </p:sp>
      <p:sp>
        <p:nvSpPr>
          <p:cNvPr id="32" name="Shape 30"/>
          <p:cNvSpPr/>
          <p:nvPr/>
        </p:nvSpPr>
        <p:spPr>
          <a:xfrm>
            <a:off x="9189720" y="3127248"/>
            <a:ext cx="2267712" cy="640080"/>
          </a:xfrm>
          <a:prstGeom prst="roundRect">
            <a:avLst>
              <a:gd name="adj" fmla="val 5714"/>
            </a:avLst>
          </a:prstGeom>
          <a:solidFill>
            <a:srgbClr val="F1F6FF"/>
          </a:solidFill>
          <a:ln w="10160">
            <a:solidFill>
              <a:srgbClr val="DCE8FA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9281160" y="3236976"/>
            <a:ext cx="20848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70" dirty="0">
                <a:solidFill>
                  <a:srgbClr val="10213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최소 필요 정보</a:t>
            </a:r>
            <a:endParaRPr lang="en-US" sz="1070" dirty="0"/>
          </a:p>
        </p:txBody>
      </p:sp>
      <p:sp>
        <p:nvSpPr>
          <p:cNvPr id="34" name="Shape 32"/>
          <p:cNvSpPr/>
          <p:nvPr/>
        </p:nvSpPr>
        <p:spPr>
          <a:xfrm>
            <a:off x="713232" y="3840480"/>
            <a:ext cx="1444752" cy="64008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0160">
            <a:solidFill>
              <a:srgbClr val="D7E7FF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804672" y="3950208"/>
            <a:ext cx="12618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5EFF"/>
                </a:solidFill>
                <a:latin typeface="NanumSquare Bold" pitchFamily="34" charset="0"/>
                <a:ea typeface="NanumSquare Bold" pitchFamily="34" charset="-122"/>
                <a:cs typeface="NanumSquare Bold" pitchFamily="34" charset="-120"/>
              </a:rPr>
              <a:t>금융기관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2240280" y="3840480"/>
            <a:ext cx="4023360" cy="64008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0160">
            <a:solidFill>
              <a:srgbClr val="DCE8FA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2331720" y="3950208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70" dirty="0">
                <a:solidFill>
                  <a:srgbClr val="10213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거래위험 · 요구금액</a:t>
            </a:r>
            <a:endParaRPr lang="en-US" sz="1070" dirty="0"/>
          </a:p>
        </p:txBody>
      </p:sp>
      <p:sp>
        <p:nvSpPr>
          <p:cNvPr id="38" name="Shape 36"/>
          <p:cNvSpPr/>
          <p:nvPr/>
        </p:nvSpPr>
        <p:spPr>
          <a:xfrm>
            <a:off x="6382512" y="3840480"/>
            <a:ext cx="2697480" cy="64008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0160">
            <a:solidFill>
              <a:srgbClr val="DCE8FA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6473952" y="3950208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70" dirty="0">
                <a:solidFill>
                  <a:srgbClr val="10213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추가확인 · 보류 · 차단</a:t>
            </a:r>
            <a:endParaRPr lang="en-US" sz="1070" dirty="0"/>
          </a:p>
        </p:txBody>
      </p:sp>
      <p:sp>
        <p:nvSpPr>
          <p:cNvPr id="40" name="Shape 38"/>
          <p:cNvSpPr/>
          <p:nvPr/>
        </p:nvSpPr>
        <p:spPr>
          <a:xfrm>
            <a:off x="9189720" y="3840480"/>
            <a:ext cx="2267712" cy="64008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0160">
            <a:solidFill>
              <a:srgbClr val="DCE8FA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9281160" y="3950208"/>
            <a:ext cx="20848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70" dirty="0">
                <a:solidFill>
                  <a:srgbClr val="10213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금융행동 보호</a:t>
            </a:r>
            <a:endParaRPr lang="en-US" sz="1070" dirty="0"/>
          </a:p>
        </p:txBody>
      </p:sp>
      <p:sp>
        <p:nvSpPr>
          <p:cNvPr id="42" name="Shape 40"/>
          <p:cNvSpPr/>
          <p:nvPr/>
        </p:nvSpPr>
        <p:spPr>
          <a:xfrm>
            <a:off x="713232" y="4553712"/>
            <a:ext cx="1444752" cy="640080"/>
          </a:xfrm>
          <a:prstGeom prst="roundRect">
            <a:avLst>
              <a:gd name="adj" fmla="val 5714"/>
            </a:avLst>
          </a:prstGeom>
          <a:solidFill>
            <a:srgbClr val="F1F6FF"/>
          </a:solidFill>
          <a:ln w="10160">
            <a:solidFill>
              <a:srgbClr val="D7E7FF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804672" y="4663440"/>
            <a:ext cx="12618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5EFF"/>
                </a:solidFill>
                <a:latin typeface="NanumSquare Bold" pitchFamily="34" charset="0"/>
                <a:ea typeface="NanumSquare Bold" pitchFamily="34" charset="-122"/>
                <a:cs typeface="NanumSquare Bold" pitchFamily="34" charset="-120"/>
              </a:rPr>
              <a:t>기관 담당자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2240280" y="4553712"/>
            <a:ext cx="4023360" cy="640080"/>
          </a:xfrm>
          <a:prstGeom prst="roundRect">
            <a:avLst>
              <a:gd name="adj" fmla="val 5714"/>
            </a:avLst>
          </a:prstGeom>
          <a:solidFill>
            <a:srgbClr val="F1F6FF"/>
          </a:solidFill>
          <a:ln w="10160">
            <a:solidFill>
              <a:srgbClr val="DCE8FA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2331720" y="466344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70" dirty="0">
                <a:solidFill>
                  <a:srgbClr val="10213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사칭정보 · 확인요청</a:t>
            </a:r>
            <a:endParaRPr lang="en-US" sz="1070" dirty="0"/>
          </a:p>
        </p:txBody>
      </p:sp>
      <p:sp>
        <p:nvSpPr>
          <p:cNvPr id="46" name="Shape 44"/>
          <p:cNvSpPr/>
          <p:nvPr/>
        </p:nvSpPr>
        <p:spPr>
          <a:xfrm>
            <a:off x="6382512" y="4553712"/>
            <a:ext cx="2697480" cy="640080"/>
          </a:xfrm>
          <a:prstGeom prst="roundRect">
            <a:avLst>
              <a:gd name="adj" fmla="val 5714"/>
            </a:avLst>
          </a:prstGeom>
          <a:solidFill>
            <a:srgbClr val="F1F6FF"/>
          </a:solidFill>
          <a:ln w="10160">
            <a:solidFill>
              <a:srgbClr val="DCE8FA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6473952" y="4663440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70" dirty="0">
                <a:solidFill>
                  <a:srgbClr val="10213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공식 진위검증</a:t>
            </a:r>
            <a:endParaRPr lang="en-US" sz="1070" dirty="0"/>
          </a:p>
        </p:txBody>
      </p:sp>
      <p:sp>
        <p:nvSpPr>
          <p:cNvPr id="48" name="Shape 46"/>
          <p:cNvSpPr/>
          <p:nvPr/>
        </p:nvSpPr>
        <p:spPr>
          <a:xfrm>
            <a:off x="9189720" y="4553712"/>
            <a:ext cx="2267712" cy="640080"/>
          </a:xfrm>
          <a:prstGeom prst="roundRect">
            <a:avLst>
              <a:gd name="adj" fmla="val 5714"/>
            </a:avLst>
          </a:prstGeom>
          <a:solidFill>
            <a:srgbClr val="F1F6FF"/>
          </a:solidFill>
          <a:ln w="10160">
            <a:solidFill>
              <a:srgbClr val="DCE8FA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9281160" y="4663440"/>
            <a:ext cx="20848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70" dirty="0">
                <a:solidFill>
                  <a:srgbClr val="10213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진위확인만 제공</a:t>
            </a:r>
            <a:endParaRPr lang="en-US" sz="1070" dirty="0"/>
          </a:p>
        </p:txBody>
      </p:sp>
      <p:sp>
        <p:nvSpPr>
          <p:cNvPr id="50" name="Shape 48"/>
          <p:cNvSpPr/>
          <p:nvPr/>
        </p:nvSpPr>
        <p:spPr>
          <a:xfrm>
            <a:off x="713232" y="5468112"/>
            <a:ext cx="10744200" cy="457200"/>
          </a:xfrm>
          <a:prstGeom prst="roundRect">
            <a:avLst>
              <a:gd name="adj" fmla="val 28000"/>
            </a:avLst>
          </a:prstGeom>
          <a:solidFill>
            <a:srgbClr val="EAF3FF"/>
          </a:solidFill>
          <a:ln w="10160">
            <a:solidFill>
              <a:srgbClr val="D7E7FF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941832" y="5568696"/>
            <a:ext cx="10259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80" b="1" dirty="0">
                <a:solidFill>
                  <a:srgbClr val="1F5EFF"/>
                </a:solidFill>
                <a:latin typeface="NanumSquare Bold" pitchFamily="34" charset="0"/>
                <a:ea typeface="NanumSquare Bold" pitchFamily="34" charset="-122"/>
                <a:cs typeface="NanumSquare Bold" pitchFamily="34" charset="-120"/>
              </a:rPr>
              <a:t>PRIVACY BY ROLE  |  필요한 정보만 · 필요한 주체에게 · 필요한 순간에</a:t>
            </a:r>
            <a:endParaRPr lang="en-US" sz="1180" dirty="0"/>
          </a:p>
        </p:txBody>
      </p:sp>
      <p:sp>
        <p:nvSpPr>
          <p:cNvPr id="52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10528"/>
            <a:ext cx="27432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B8CA8"/>
                </a:solidFill>
                <a:latin typeface="NanumSquare"/>
                <a:ea typeface="NanumSquare"/>
                <a:cs typeface="NanumSquare"/>
              </a:defRPr>
            </a:lvl1pPr>
          </a:lstStyle>
          <a:p>
            <a:pPr algn="r"/>
            <a:fld id="{F7021451-1387-4CA6-816F-3879F97B5CBC}" type="slidenum">
              <a:rPr lang="en-US" b="0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844784" y="128016"/>
            <a:ext cx="1188720" cy="1188720"/>
          </a:xfrm>
          <a:prstGeom prst="ellipse">
            <a:avLst/>
          </a:prstGeom>
          <a:solidFill>
            <a:srgbClr val="10345A"/>
          </a:solidFill>
          <a:ln w="10160">
            <a:solidFill>
              <a:srgbClr val="10345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448288" y="292608"/>
            <a:ext cx="310896" cy="310896"/>
          </a:xfrm>
          <a:prstGeom prst="ellipse">
            <a:avLst/>
          </a:prstGeom>
          <a:solidFill>
            <a:srgbClr val="1F5EFF"/>
          </a:solidFill>
          <a:ln w="10160">
            <a:solidFill>
              <a:srgbClr val="1F5E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844784" y="1024128"/>
            <a:ext cx="868680" cy="0"/>
          </a:xfrm>
          <a:prstGeom prst="line">
            <a:avLst/>
          </a:prstGeom>
          <a:noFill/>
          <a:ln w="13970">
            <a:solidFill>
              <a:srgbClr val="2B5D8C"/>
            </a:solidFill>
            <a:prstDash val="solid"/>
            <a:headEnd type="none"/>
            <a:tailEnd type="none"/>
          </a:ln>
        </p:spPr>
      </p:sp>
      <p:sp>
        <p:nvSpPr>
          <p:cNvPr id="5" name="Shape 3"/>
          <p:cNvSpPr/>
          <p:nvPr/>
        </p:nvSpPr>
        <p:spPr>
          <a:xfrm>
            <a:off x="11045952" y="1225296"/>
            <a:ext cx="667512" cy="0"/>
          </a:xfrm>
          <a:prstGeom prst="line">
            <a:avLst/>
          </a:prstGeom>
          <a:noFill/>
          <a:ln w="13970">
            <a:solidFill>
              <a:srgbClr val="2B5D8C"/>
            </a:solidFill>
            <a:prstDash val="solid"/>
            <a:headEnd type="none"/>
            <a:tailEnd type="none"/>
          </a:ln>
        </p:spPr>
      </p:sp>
      <p:sp>
        <p:nvSpPr>
          <p:cNvPr id="6" name="Shape 4"/>
          <p:cNvSpPr/>
          <p:nvPr/>
        </p:nvSpPr>
        <p:spPr>
          <a:xfrm>
            <a:off x="658368" y="585216"/>
            <a:ext cx="1133856" cy="310896"/>
          </a:xfrm>
          <a:prstGeom prst="roundRect">
            <a:avLst>
              <a:gd name="adj" fmla="val 50000"/>
            </a:avLst>
          </a:prstGeom>
          <a:solidFill>
            <a:srgbClr val="18395D"/>
          </a:solidFill>
          <a:ln w="10160">
            <a:solidFill>
              <a:srgbClr val="244F7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612648"/>
            <a:ext cx="9875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49A8FF"/>
                </a:solidFill>
                <a:latin typeface="NanumSquare Bold" pitchFamily="34" charset="0"/>
                <a:ea typeface="NanumSquare Bold" pitchFamily="34" charset="-122"/>
                <a:cs typeface="NanumSquare Bold" pitchFamily="34" charset="-120"/>
              </a:rPr>
              <a:t>CLOSING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676656" y="1572768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3100" b="1" dirty="0">
                <a:solidFill>
                  <a:srgbClr val="FFFFFF"/>
                </a:solidFill>
                <a:latin typeface="NanumSquare Bold" pitchFamily="34" charset="0"/>
                <a:ea typeface="NanumSquare Bold" pitchFamily="34" charset="-122"/>
                <a:cs typeface="NanumSquare Bold" pitchFamily="34" charset="-120"/>
              </a:rPr>
              <a:t>판단을 대신하지 않는다.</a:t>
            </a:r>
            <a:endParaRPr lang="en-US" sz="3100" dirty="0"/>
          </a:p>
        </p:txBody>
      </p:sp>
      <p:sp>
        <p:nvSpPr>
          <p:cNvPr id="9" name="Text 7"/>
          <p:cNvSpPr txBox="1"/>
          <p:nvPr/>
        </p:nvSpPr>
        <p:spPr>
          <a:xfrm>
            <a:off x="676656" y="2258568"/>
            <a:ext cx="7498080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49A8FF"/>
                </a:solidFill>
                <a:latin typeface="NanumSquare Bold" pitchFamily="34" charset="0"/>
                <a:ea typeface="NanumSquare Bold" pitchFamily="34" charset="-122"/>
                <a:cs typeface="NanumSquare Bold" pitchFamily="34" charset="-120"/>
              </a:rPr>
              <a:t>피해로 연결되기 전에</a:t>
            </a:r>
            <a:endParaRPr lang="en-US" sz="3400" dirty="0"/>
          </a:p>
          <a:p>
            <a:pPr marL="0" indent="0" algn="l">
              <a:buNone/>
            </a:pPr>
            <a:r>
              <a:rPr lang="en-US" sz="3400" b="1" dirty="0">
                <a:solidFill>
                  <a:srgbClr val="49A8FF"/>
                </a:solidFill>
                <a:latin typeface="NanumSquare Bold" pitchFamily="34" charset="0"/>
                <a:ea typeface="NanumSquare Bold" pitchFamily="34" charset="-122"/>
                <a:cs typeface="NanumSquare Bold" pitchFamily="34" charset="-120"/>
              </a:rPr>
              <a:t>한 번 더 멈춘다.</a:t>
            </a:r>
            <a:endParaRPr lang="en-US" sz="3400" dirty="0"/>
          </a:p>
        </p:txBody>
      </p:sp>
      <p:sp>
        <p:nvSpPr>
          <p:cNvPr id="10" name="Text 8"/>
          <p:cNvSpPr txBox="1"/>
          <p:nvPr/>
        </p:nvSpPr>
        <p:spPr>
          <a:xfrm>
            <a:off x="713232" y="3776472"/>
            <a:ext cx="7086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50" dirty="0">
                <a:solidFill>
                  <a:srgbClr val="BDD0E4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AI가 위험을 탐지하고, 외부의 독립적인 주체가 상황을 검증하며,</a:t>
            </a:r>
            <a:endParaRPr lang="en-US" sz="1450" dirty="0"/>
          </a:p>
          <a:p>
            <a:pPr marL="0" indent="0" algn="l">
              <a:buNone/>
            </a:pPr>
            <a:r>
              <a:rPr lang="en-US" sz="1450" dirty="0">
                <a:solidFill>
                  <a:srgbClr val="BDD0E4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검증이 끝날 때까지 위험한 금융거래를 잠시 보류하는 구조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8339328" y="1353312"/>
            <a:ext cx="2962656" cy="4005072"/>
          </a:xfrm>
          <a:prstGeom prst="roundRect">
            <a:avLst>
              <a:gd name="adj" fmla="val 7407"/>
            </a:avLst>
          </a:prstGeom>
          <a:solidFill>
            <a:srgbClr val="103256"/>
          </a:solidFill>
          <a:ln w="10160">
            <a:solidFill>
              <a:srgbClr val="2A5A87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668512" y="1847088"/>
            <a:ext cx="621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49A8FF"/>
                </a:solidFill>
                <a:latin typeface="NanumSquare Bold" pitchFamily="34" charset="0"/>
                <a:ea typeface="NanumSquare Bold" pitchFamily="34" charset="-122"/>
                <a:cs typeface="NanumSquare Bold" pitchFamily="34" charset="-120"/>
              </a:rPr>
              <a:t>AI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9308592" y="2020824"/>
            <a:ext cx="502920" cy="0"/>
          </a:xfrm>
          <a:prstGeom prst="line">
            <a:avLst/>
          </a:prstGeom>
          <a:noFill/>
          <a:ln w="21590">
            <a:solidFill>
              <a:srgbClr val="49A8FF"/>
            </a:solidFill>
            <a:prstDash val="solid"/>
            <a:headEnd type="none"/>
            <a:tailEnd type="triangle"/>
          </a:ln>
        </p:spPr>
      </p:sp>
      <p:sp>
        <p:nvSpPr>
          <p:cNvPr id="14" name="Text 12"/>
          <p:cNvSpPr txBox="1"/>
          <p:nvPr/>
        </p:nvSpPr>
        <p:spPr>
          <a:xfrm>
            <a:off x="9893808" y="1847088"/>
            <a:ext cx="841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NanumSquare Bold" pitchFamily="34" charset="0"/>
                <a:ea typeface="NanumSquare Bold" pitchFamily="34" charset="-122"/>
                <a:cs typeface="NanumSquare Bold" pitchFamily="34" charset="-120"/>
              </a:rPr>
              <a:t>검증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10040112" y="2386584"/>
            <a:ext cx="0" cy="548640"/>
          </a:xfrm>
          <a:prstGeom prst="line">
            <a:avLst/>
          </a:prstGeom>
          <a:noFill/>
          <a:ln w="21590">
            <a:solidFill>
              <a:srgbClr val="49A8FF"/>
            </a:solidFill>
            <a:prstDash val="solid"/>
            <a:headEnd type="none"/>
            <a:tailEnd type="triangle"/>
          </a:ln>
        </p:spPr>
      </p:sp>
      <p:sp>
        <p:nvSpPr>
          <p:cNvPr id="16" name="Text 14"/>
          <p:cNvSpPr txBox="1"/>
          <p:nvPr/>
        </p:nvSpPr>
        <p:spPr>
          <a:xfrm>
            <a:off x="9217152" y="3081528"/>
            <a:ext cx="1316736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NanumSquare Bold" pitchFamily="34" charset="0"/>
                <a:ea typeface="NanumSquare Bold" pitchFamily="34" charset="-122"/>
                <a:cs typeface="NanumSquare Bold" pitchFamily="34" charset="-120"/>
              </a:rPr>
              <a:t>송금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NanumSquare Bold" pitchFamily="34" charset="0"/>
                <a:ea typeface="NanumSquare Bold" pitchFamily="34" charset="-122"/>
                <a:cs typeface="NanumSquare Bold" pitchFamily="34" charset="-120"/>
              </a:rPr>
              <a:t>방지턱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8732520" y="4325112"/>
            <a:ext cx="2139696" cy="0"/>
          </a:xfrm>
          <a:prstGeom prst="line">
            <a:avLst/>
          </a:prstGeom>
          <a:noFill/>
          <a:ln w="12700">
            <a:solidFill>
              <a:srgbClr val="315C85"/>
            </a:solidFill>
            <a:prstDash val="solid"/>
            <a:headEnd type="none"/>
            <a:tailEnd type="none"/>
          </a:ln>
        </p:spPr>
      </p:sp>
      <p:sp>
        <p:nvSpPr>
          <p:cNvPr id="18" name="Text 16"/>
          <p:cNvSpPr txBox="1"/>
          <p:nvPr/>
        </p:nvSpPr>
        <p:spPr>
          <a:xfrm>
            <a:off x="8814816" y="4590288"/>
            <a:ext cx="197510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C8DAEB"/>
                </a:solidFill>
                <a:latin typeface="NanumSquare Bold" pitchFamily="34" charset="0"/>
                <a:ea typeface="NanumSquare Bold" pitchFamily="34" charset="-122"/>
                <a:cs typeface="NanumSquare Bold" pitchFamily="34" charset="-120"/>
              </a:rPr>
              <a:t>AI 독립검증형</a:t>
            </a:r>
            <a:endParaRPr lang="en-US" sz="1450" dirty="0"/>
          </a:p>
          <a:p>
            <a:pPr marL="0" indent="0" algn="ctr">
              <a:buNone/>
            </a:pPr>
            <a:r>
              <a:rPr lang="en-US" sz="1450" b="1" dirty="0">
                <a:solidFill>
                  <a:srgbClr val="C8DAEB"/>
                </a:solidFill>
                <a:latin typeface="NanumSquare Bold" pitchFamily="34" charset="0"/>
                <a:ea typeface="NanumSquare Bold" pitchFamily="34" charset="-122"/>
                <a:cs typeface="NanumSquare Bold" pitchFamily="34" charset="-120"/>
              </a:rPr>
              <a:t>송금방지턱</a:t>
            </a:r>
            <a:endParaRPr lang="en-US" sz="1450" dirty="0"/>
          </a:p>
        </p:txBody>
      </p:sp>
      <p:sp>
        <p:nvSpPr>
          <p:cNvPr id="19" name="Text 17"/>
          <p:cNvSpPr txBox="1"/>
          <p:nvPr/>
        </p:nvSpPr>
        <p:spPr>
          <a:xfrm>
            <a:off x="713232" y="5907024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6484A5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BLUE PROPOSAL TEMPLATE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10528"/>
            <a:ext cx="27432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D86A6"/>
                </a:solidFill>
                <a:latin typeface="NanumSquare"/>
                <a:ea typeface="NanumSquare"/>
                <a:cs typeface="NanumSquare"/>
              </a:defRPr>
            </a:lvl1pPr>
          </a:lstStyle>
          <a:p>
            <a:pPr algn="r"/>
            <a:fld id="{F7021451-1387-4CA6-816F-3879F97B5CBC}" type="slidenum">
              <a:rPr lang="en-US" b="0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DD5831F-DE66-4EDD-B960-CEFCC96C152C}"/>
              </a:ext>
            </a:extLst>
          </p:cNvPr>
          <p:cNvSpPr txBox="1"/>
          <p:nvPr/>
        </p:nvSpPr>
        <p:spPr>
          <a:xfrm>
            <a:off x="3043767" y="2136338"/>
            <a:ext cx="6104466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altLang="ko-KR" sz="1800" b="1" dirty="0">
                <a:solidFill>
                  <a:srgbClr val="C5D6E8"/>
                </a:solidFill>
                <a:latin typeface="NanumSquare Bold" pitchFamily="34" charset="0"/>
                <a:ea typeface="NanumSquare Bold" pitchFamily="34" charset="-122"/>
                <a:cs typeface="NanumSquare Bold" pitchFamily="34" charset="-120"/>
              </a:rPr>
              <a:t>AI</a:t>
            </a:r>
            <a:r>
              <a:rPr lang="ko-KR" altLang="en-US" sz="1800" b="1" dirty="0">
                <a:solidFill>
                  <a:srgbClr val="C5D6E8"/>
                </a:solidFill>
                <a:latin typeface="NanumSquare Bold" pitchFamily="34" charset="0"/>
                <a:ea typeface="NanumSquare Bold" pitchFamily="34" charset="-122"/>
                <a:cs typeface="NanumSquare Bold" pitchFamily="34" charset="-120"/>
              </a:rPr>
              <a:t>를</a:t>
            </a:r>
            <a:endParaRPr lang="en-US" altLang="ko-KR" b="1" dirty="0">
              <a:solidFill>
                <a:srgbClr val="C5D6E8"/>
              </a:solidFill>
              <a:latin typeface="NanumSquare Bold" pitchFamily="34" charset="0"/>
              <a:ea typeface="NanumSquare Bold" pitchFamily="34" charset="-122"/>
              <a:cs typeface="NanumSquare Bold" pitchFamily="34" charset="-120"/>
            </a:endParaRPr>
          </a:p>
          <a:p>
            <a:pPr marL="0" indent="0" algn="ctr">
              <a:buNone/>
            </a:pPr>
            <a:endParaRPr lang="en-US" altLang="ko-KR" sz="1800" b="1" dirty="0">
              <a:solidFill>
                <a:srgbClr val="C5D6E8"/>
              </a:solidFill>
              <a:latin typeface="NanumSquare Bold" pitchFamily="34" charset="0"/>
              <a:ea typeface="NanumSquare Bold" pitchFamily="34" charset="-122"/>
              <a:cs typeface="NanumSquare Bold" pitchFamily="34" charset="-120"/>
            </a:endParaRPr>
          </a:p>
          <a:p>
            <a:pPr marL="0" indent="0" algn="ctr">
              <a:buNone/>
            </a:pPr>
            <a:r>
              <a:rPr lang="ko-KR" altLang="en-US" b="1" dirty="0">
                <a:solidFill>
                  <a:srgbClr val="C5D6E8"/>
                </a:solidFill>
                <a:latin typeface="NanumSquare Bold" pitchFamily="34" charset="0"/>
                <a:ea typeface="NanumSquare Bold" pitchFamily="34" charset="-122"/>
                <a:cs typeface="NanumSquare Bold" pitchFamily="34" charset="-120"/>
              </a:rPr>
              <a:t>어떻게</a:t>
            </a:r>
            <a:r>
              <a:rPr lang="en-US" altLang="ko-KR" b="1" dirty="0">
                <a:solidFill>
                  <a:srgbClr val="C5D6E8"/>
                </a:solidFill>
                <a:latin typeface="NanumSquare Bold" pitchFamily="34" charset="0"/>
                <a:ea typeface="NanumSquare Bold" pitchFamily="34" charset="-122"/>
                <a:cs typeface="NanumSquare Bold" pitchFamily="34" charset="-120"/>
              </a:rPr>
              <a:t>?</a:t>
            </a:r>
          </a:p>
          <a:p>
            <a:pPr marL="0" indent="0" algn="ctr">
              <a:buNone/>
            </a:pPr>
            <a:r>
              <a:rPr lang="ko-KR" altLang="en-US" b="1" dirty="0">
                <a:solidFill>
                  <a:srgbClr val="C5D6E8"/>
                </a:solidFill>
                <a:latin typeface="NanumSquare Bold" pitchFamily="34" charset="0"/>
                <a:ea typeface="NanumSquare Bold" pitchFamily="34" charset="-122"/>
                <a:cs typeface="NanumSquare Bold" pitchFamily="34" charset="-120"/>
              </a:rPr>
              <a:t>왜</a:t>
            </a:r>
            <a:r>
              <a:rPr lang="en-US" altLang="ko-KR" b="1" dirty="0">
                <a:solidFill>
                  <a:srgbClr val="C5D6E8"/>
                </a:solidFill>
                <a:latin typeface="NanumSquare Bold" pitchFamily="34" charset="0"/>
                <a:ea typeface="NanumSquare Bold" pitchFamily="34" charset="-122"/>
                <a:cs typeface="NanumSquare Bold" pitchFamily="34" charset="-120"/>
              </a:rPr>
              <a:t>?</a:t>
            </a:r>
          </a:p>
          <a:p>
            <a:pPr marL="0" indent="0" algn="ctr">
              <a:buNone/>
            </a:pPr>
            <a:endParaRPr lang="en-US" altLang="ko-KR" b="1" dirty="0">
              <a:solidFill>
                <a:srgbClr val="C5D6E8"/>
              </a:solidFill>
              <a:latin typeface="NanumSquare Bold" pitchFamily="34" charset="0"/>
              <a:ea typeface="NanumSquare Bold" pitchFamily="34" charset="-122"/>
              <a:cs typeface="NanumSquare Bold" pitchFamily="34" charset="-120"/>
            </a:endParaRPr>
          </a:p>
          <a:p>
            <a:pPr marL="0" indent="0" algn="ctr">
              <a:buNone/>
            </a:pPr>
            <a:r>
              <a:rPr lang="ko-KR" altLang="en-US" b="1" dirty="0">
                <a:solidFill>
                  <a:srgbClr val="C5D6E8"/>
                </a:solidFill>
                <a:latin typeface="NanumSquare Bold" pitchFamily="34" charset="0"/>
                <a:ea typeface="NanumSquare Bold" pitchFamily="34" charset="-122"/>
                <a:cs typeface="NanumSquare Bold" pitchFamily="34" charset="-120"/>
              </a:rPr>
              <a:t>사용하는가</a:t>
            </a:r>
            <a:endParaRPr lang="en-US" altLang="ko-KR" b="1" dirty="0">
              <a:solidFill>
                <a:srgbClr val="C5D6E8"/>
              </a:solidFill>
              <a:latin typeface="NanumSquare Bold" pitchFamily="34" charset="0"/>
              <a:ea typeface="NanumSquare Bold" pitchFamily="34" charset="-122"/>
              <a:cs typeface="NanumSquare Bold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74616840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9039167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6D83CD05-1C0E-4A92-8144-C841C3C659DF}"/>
              </a:ext>
            </a:extLst>
          </p:cNvPr>
          <p:cNvGrpSpPr/>
          <p:nvPr/>
        </p:nvGrpSpPr>
        <p:grpSpPr>
          <a:xfrm>
            <a:off x="10844784" y="128016"/>
            <a:ext cx="1188720" cy="1188720"/>
            <a:chOff x="10844784" y="128016"/>
            <a:chExt cx="1188720" cy="1188720"/>
          </a:xfrm>
        </p:grpSpPr>
        <p:sp>
          <p:nvSpPr>
            <p:cNvPr id="53" name="Shape 0">
              <a:extLst>
                <a:ext uri="{FF2B5EF4-FFF2-40B4-BE49-F238E27FC236}">
                  <a16:creationId xmlns:a16="http://schemas.microsoft.com/office/drawing/2014/main" id="{8180EA9B-D86F-480A-827F-E6A6E0D31C69}"/>
                </a:ext>
              </a:extLst>
            </p:cNvPr>
            <p:cNvSpPr/>
            <p:nvPr/>
          </p:nvSpPr>
          <p:spPr>
            <a:xfrm>
              <a:off x="10844784" y="128016"/>
              <a:ext cx="1188720" cy="1188720"/>
            </a:xfrm>
            <a:prstGeom prst="ellipse">
              <a:avLst/>
            </a:prstGeom>
            <a:solidFill>
              <a:srgbClr val="EAF3FF"/>
            </a:solidFill>
            <a:ln w="10160">
              <a:solidFill>
                <a:srgbClr val="EAF3FF"/>
              </a:solidFill>
              <a:prstDash val="solid"/>
            </a:ln>
          </p:spPr>
        </p:sp>
        <p:sp>
          <p:nvSpPr>
            <p:cNvPr id="54" name="Shape 1">
              <a:extLst>
                <a:ext uri="{FF2B5EF4-FFF2-40B4-BE49-F238E27FC236}">
                  <a16:creationId xmlns:a16="http://schemas.microsoft.com/office/drawing/2014/main" id="{A1E94AE9-4178-4DF3-81BE-A4F0E14FB13D}"/>
                </a:ext>
              </a:extLst>
            </p:cNvPr>
            <p:cNvSpPr/>
            <p:nvPr/>
          </p:nvSpPr>
          <p:spPr>
            <a:xfrm>
              <a:off x="11448288" y="292608"/>
              <a:ext cx="310896" cy="310896"/>
            </a:xfrm>
            <a:prstGeom prst="ellipse">
              <a:avLst/>
            </a:prstGeom>
            <a:solidFill>
              <a:srgbClr val="49A8FF"/>
            </a:solidFill>
            <a:ln w="10160">
              <a:solidFill>
                <a:srgbClr val="49A8FF"/>
              </a:solidFill>
              <a:prstDash val="solid"/>
            </a:ln>
          </p:spPr>
        </p:sp>
        <p:sp>
          <p:nvSpPr>
            <p:cNvPr id="55" name="Shape 2">
              <a:extLst>
                <a:ext uri="{FF2B5EF4-FFF2-40B4-BE49-F238E27FC236}">
                  <a16:creationId xmlns:a16="http://schemas.microsoft.com/office/drawing/2014/main" id="{0261E3B0-CF1D-4497-96E2-3E47E2AE44B6}"/>
                </a:ext>
              </a:extLst>
            </p:cNvPr>
            <p:cNvSpPr/>
            <p:nvPr/>
          </p:nvSpPr>
          <p:spPr>
            <a:xfrm>
              <a:off x="10844784" y="1024128"/>
              <a:ext cx="868680" cy="0"/>
            </a:xfrm>
            <a:prstGeom prst="line">
              <a:avLst/>
            </a:prstGeom>
            <a:noFill/>
            <a:ln w="13970">
              <a:solidFill>
                <a:srgbClr val="D6E8FF"/>
              </a:solidFill>
              <a:prstDash val="solid"/>
              <a:headEnd type="none"/>
              <a:tailEnd type="none"/>
            </a:ln>
          </p:spPr>
        </p:sp>
        <p:sp>
          <p:nvSpPr>
            <p:cNvPr id="56" name="Shape 3">
              <a:extLst>
                <a:ext uri="{FF2B5EF4-FFF2-40B4-BE49-F238E27FC236}">
                  <a16:creationId xmlns:a16="http://schemas.microsoft.com/office/drawing/2014/main" id="{77510202-A46B-4098-B6BE-16242DFE16B5}"/>
                </a:ext>
              </a:extLst>
            </p:cNvPr>
            <p:cNvSpPr/>
            <p:nvPr/>
          </p:nvSpPr>
          <p:spPr>
            <a:xfrm>
              <a:off x="11045952" y="1225296"/>
              <a:ext cx="667512" cy="0"/>
            </a:xfrm>
            <a:prstGeom prst="line">
              <a:avLst/>
            </a:prstGeom>
            <a:noFill/>
            <a:ln w="13970">
              <a:solidFill>
                <a:srgbClr val="D6E8FF"/>
              </a:solidFill>
              <a:prstDash val="solid"/>
              <a:headEnd type="none"/>
              <a:tailEnd type="none"/>
            </a:ln>
          </p:spPr>
        </p:sp>
      </p:grpSp>
      <p:sp>
        <p:nvSpPr>
          <p:cNvPr id="57" name="Text 5">
            <a:extLst>
              <a:ext uri="{FF2B5EF4-FFF2-40B4-BE49-F238E27FC236}">
                <a16:creationId xmlns:a16="http://schemas.microsoft.com/office/drawing/2014/main" id="{14DC0ADE-DD2D-4DB4-9ADF-13F891CE62C7}"/>
              </a:ext>
            </a:extLst>
          </p:cNvPr>
          <p:cNvSpPr txBox="1"/>
          <p:nvPr/>
        </p:nvSpPr>
        <p:spPr>
          <a:xfrm>
            <a:off x="-64242" y="162899"/>
            <a:ext cx="8961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E2746"/>
                </a:solidFill>
                <a:latin typeface="페이퍼로지 4 Regular" pitchFamily="2" charset="-127"/>
                <a:ea typeface="페이퍼로지 4 Regular" pitchFamily="2" charset="-127"/>
                <a:cs typeface="NanumSquare Bold" pitchFamily="34" charset="-120"/>
              </a:rPr>
              <a:t>현황분석</a:t>
            </a:r>
            <a:endParaRPr lang="en-US" sz="1050" dirty="0">
              <a:solidFill>
                <a:srgbClr val="0E2746"/>
              </a:solidFill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58" name="Text 6">
            <a:extLst>
              <a:ext uri="{FF2B5EF4-FFF2-40B4-BE49-F238E27FC236}">
                <a16:creationId xmlns:a16="http://schemas.microsoft.com/office/drawing/2014/main" id="{A3AB1DBD-1697-472F-9AD7-5B9857EAF0DD}"/>
              </a:ext>
            </a:extLst>
          </p:cNvPr>
          <p:cNvSpPr txBox="1"/>
          <p:nvPr/>
        </p:nvSpPr>
        <p:spPr>
          <a:xfrm>
            <a:off x="594360" y="778923"/>
            <a:ext cx="11164824" cy="90144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ko-KR" altLang="en-US" sz="2200" dirty="0">
                <a:solidFill>
                  <a:srgbClr val="0E2746"/>
                </a:solidFill>
                <a:latin typeface="페이퍼로지 7 Bold" pitchFamily="2" charset="-127"/>
                <a:ea typeface="페이퍼로지 7 Bold" pitchFamily="2" charset="-127"/>
                <a:cs typeface="NanumSquare" pitchFamily="34" charset="-120"/>
              </a:rPr>
              <a:t>최근 </a:t>
            </a:r>
            <a:r>
              <a:rPr lang="en-US" altLang="ko-KR" sz="2200" dirty="0">
                <a:solidFill>
                  <a:srgbClr val="0E2746"/>
                </a:solidFill>
                <a:latin typeface="페이퍼로지 7 Bold" pitchFamily="2" charset="-127"/>
                <a:ea typeface="페이퍼로지 7 Bold" pitchFamily="2" charset="-127"/>
                <a:cs typeface="NanumSquare" pitchFamily="34" charset="-120"/>
              </a:rPr>
              <a:t>3</a:t>
            </a:r>
            <a:r>
              <a:rPr lang="ko-KR" altLang="en-US" sz="2200" dirty="0">
                <a:solidFill>
                  <a:srgbClr val="0E2746"/>
                </a:solidFill>
                <a:latin typeface="페이퍼로지 7 Bold" pitchFamily="2" charset="-127"/>
                <a:ea typeface="페이퍼로지 7 Bold" pitchFamily="2" charset="-127"/>
                <a:cs typeface="NanumSquare" pitchFamily="34" charset="-120"/>
              </a:rPr>
              <a:t>년 동안 보이스피싱 피해 </a:t>
            </a:r>
            <a:r>
              <a:rPr lang="en-US" altLang="ko-KR" sz="2200" dirty="0">
                <a:solidFill>
                  <a:srgbClr val="FF4B16"/>
                </a:solidFill>
                <a:latin typeface="페이퍼로지 7 Bold" pitchFamily="2" charset="-127"/>
                <a:ea typeface="페이퍼로지 7 Bold" pitchFamily="2" charset="-127"/>
                <a:cs typeface="NanumSquare" pitchFamily="34" charset="-120"/>
              </a:rPr>
              <a:t>63,101</a:t>
            </a:r>
            <a:r>
              <a:rPr lang="ko-KR" altLang="en-US" sz="2200" dirty="0">
                <a:solidFill>
                  <a:srgbClr val="FF4B16"/>
                </a:solidFill>
                <a:latin typeface="페이퍼로지 7 Bold" pitchFamily="2" charset="-127"/>
                <a:ea typeface="페이퍼로지 7 Bold" pitchFamily="2" charset="-127"/>
                <a:cs typeface="NanumSquare" pitchFamily="34" charset="-120"/>
              </a:rPr>
              <a:t>건</a:t>
            </a:r>
            <a:r>
              <a:rPr lang="en-US" altLang="ko-KR" sz="2200" dirty="0">
                <a:solidFill>
                  <a:srgbClr val="0E2746"/>
                </a:solidFill>
                <a:latin typeface="페이퍼로지 7 Bold" pitchFamily="2" charset="-127"/>
                <a:ea typeface="페이퍼로지 7 Bold" pitchFamily="2" charset="-127"/>
                <a:cs typeface="NanumSquare" pitchFamily="34" charset="-120"/>
              </a:rPr>
              <a:t>, </a:t>
            </a:r>
            <a:r>
              <a:rPr lang="ko-KR" altLang="en-US" sz="2200" dirty="0">
                <a:solidFill>
                  <a:srgbClr val="0E2746"/>
                </a:solidFill>
                <a:latin typeface="페이퍼로지 7 Bold" pitchFamily="2" charset="-127"/>
                <a:ea typeface="페이퍼로지 7 Bold" pitchFamily="2" charset="-127"/>
                <a:cs typeface="NanumSquare" pitchFamily="34" charset="-120"/>
              </a:rPr>
              <a:t>누적 피해액 </a:t>
            </a:r>
            <a:r>
              <a:rPr lang="en-US" altLang="ko-KR" sz="2200" dirty="0">
                <a:solidFill>
                  <a:srgbClr val="FF4B16"/>
                </a:solidFill>
                <a:latin typeface="페이퍼로지 7 Bold" pitchFamily="2" charset="-127"/>
                <a:ea typeface="페이퍼로지 7 Bold" pitchFamily="2" charset="-127"/>
                <a:cs typeface="NanumSquare" pitchFamily="34" charset="-120"/>
              </a:rPr>
              <a:t>2</a:t>
            </a:r>
            <a:r>
              <a:rPr lang="ko-KR" altLang="en-US" sz="2200" dirty="0">
                <a:solidFill>
                  <a:srgbClr val="FF4B16"/>
                </a:solidFill>
                <a:latin typeface="페이퍼로지 7 Bold" pitchFamily="2" charset="-127"/>
                <a:ea typeface="페이퍼로지 7 Bold" pitchFamily="2" charset="-127"/>
                <a:cs typeface="NanumSquare" pitchFamily="34" charset="-120"/>
              </a:rPr>
              <a:t>조</a:t>
            </a:r>
            <a:r>
              <a:rPr lang="en-US" altLang="ko-KR" sz="2200" dirty="0">
                <a:solidFill>
                  <a:srgbClr val="FF4B16"/>
                </a:solidFill>
                <a:latin typeface="페이퍼로지 7 Bold" pitchFamily="2" charset="-127"/>
                <a:ea typeface="페이퍼로지 7 Bold" pitchFamily="2" charset="-127"/>
                <a:cs typeface="NanumSquare" pitchFamily="34" charset="-120"/>
              </a:rPr>
              <a:t> 5,595</a:t>
            </a:r>
            <a:r>
              <a:rPr lang="ko-KR" altLang="en-US" sz="2200" dirty="0">
                <a:solidFill>
                  <a:srgbClr val="FF4B16"/>
                </a:solidFill>
                <a:latin typeface="페이퍼로지 7 Bold" pitchFamily="2" charset="-127"/>
                <a:ea typeface="페이퍼로지 7 Bold" pitchFamily="2" charset="-127"/>
                <a:cs typeface="NanumSquare" pitchFamily="34" charset="-120"/>
              </a:rPr>
              <a:t>억원</a:t>
            </a:r>
            <a:r>
              <a:rPr lang="en-US" altLang="ko-KR" sz="2200" dirty="0">
                <a:solidFill>
                  <a:srgbClr val="0E2746"/>
                </a:solidFill>
                <a:latin typeface="페이퍼로지 7 Bold" pitchFamily="2" charset="-127"/>
                <a:ea typeface="페이퍼로지 7 Bold" pitchFamily="2" charset="-127"/>
                <a:cs typeface="NanumSquare" pitchFamily="34" charset="-120"/>
              </a:rPr>
              <a:t>, </a:t>
            </a:r>
            <a:r>
              <a:rPr lang="ko-KR" altLang="en-US" sz="2200" dirty="0">
                <a:solidFill>
                  <a:srgbClr val="0E2746"/>
                </a:solidFill>
                <a:latin typeface="페이퍼로지 7 Bold" pitchFamily="2" charset="-127"/>
                <a:ea typeface="페이퍼로지 7 Bold" pitchFamily="2" charset="-127"/>
                <a:cs typeface="NanumSquare" pitchFamily="34" charset="-120"/>
              </a:rPr>
              <a:t>평균 피해액 </a:t>
            </a:r>
            <a:r>
              <a:rPr lang="ko-KR" altLang="en-US" sz="2200" dirty="0">
                <a:solidFill>
                  <a:srgbClr val="FF4B16"/>
                </a:solidFill>
                <a:latin typeface="페이퍼로지 7 Bold" pitchFamily="2" charset="-127"/>
                <a:ea typeface="페이퍼로지 7 Bold" pitchFamily="2" charset="-127"/>
                <a:cs typeface="NanumSquare" pitchFamily="34" charset="-120"/>
              </a:rPr>
              <a:t>우상향</a:t>
            </a:r>
            <a:endParaRPr lang="en-US" altLang="ko-KR" sz="2200" dirty="0">
              <a:solidFill>
                <a:srgbClr val="FF4B16"/>
              </a:solidFill>
              <a:latin typeface="페이퍼로지 7 Bold" pitchFamily="2" charset="-127"/>
              <a:ea typeface="페이퍼로지 7 Bold" pitchFamily="2" charset="-127"/>
              <a:cs typeface="NanumSquare" pitchFamily="34" charset="-120"/>
            </a:endParaRPr>
          </a:p>
          <a:p>
            <a:r>
              <a:rPr lang="ko-KR" altLang="en-US" sz="2200" dirty="0">
                <a:solidFill>
                  <a:srgbClr val="0E2746"/>
                </a:solidFill>
                <a:latin typeface="페이퍼로지 7 Bold" pitchFamily="2" charset="-127"/>
                <a:ea typeface="페이퍼로지 7 Bold" pitchFamily="2" charset="-127"/>
              </a:rPr>
              <a:t>단순 금전적</a:t>
            </a:r>
            <a:r>
              <a:rPr lang="en-US" altLang="ko-KR" sz="2200" dirty="0">
                <a:solidFill>
                  <a:srgbClr val="0E2746"/>
                </a:solidFill>
                <a:latin typeface="페이퍼로지 7 Bold" pitchFamily="2" charset="-127"/>
                <a:ea typeface="페이퍼로지 7 Bold" pitchFamily="2" charset="-127"/>
              </a:rPr>
              <a:t>·</a:t>
            </a:r>
            <a:r>
              <a:rPr lang="ko-KR" altLang="en-US" sz="2200" dirty="0">
                <a:solidFill>
                  <a:srgbClr val="0E2746"/>
                </a:solidFill>
                <a:latin typeface="페이퍼로지 7 Bold" pitchFamily="2" charset="-127"/>
                <a:ea typeface="페이퍼로지 7 Bold" pitchFamily="2" charset="-127"/>
              </a:rPr>
              <a:t>경제적 손실 뿐 아니라</a:t>
            </a:r>
            <a:r>
              <a:rPr lang="en-US" altLang="ko-KR" sz="2200" dirty="0">
                <a:solidFill>
                  <a:srgbClr val="0E2746"/>
                </a:solidFill>
                <a:latin typeface="페이퍼로지 7 Bold" pitchFamily="2" charset="-127"/>
                <a:ea typeface="페이퍼로지 7 Bold" pitchFamily="2" charset="-127"/>
              </a:rPr>
              <a:t>, </a:t>
            </a:r>
            <a:r>
              <a:rPr lang="ko-KR" altLang="en-US" sz="2200" dirty="0">
                <a:solidFill>
                  <a:srgbClr val="0E2746"/>
                </a:solidFill>
                <a:latin typeface="페이퍼로지 7 Bold" pitchFamily="2" charset="-127"/>
                <a:ea typeface="페이퍼로지 7 Bold" pitchFamily="2" charset="-127"/>
              </a:rPr>
              <a:t>극단적 선택까지 이어지는 심각한 상황</a:t>
            </a:r>
            <a:endParaRPr lang="en-US" altLang="ko-KR" sz="2200" dirty="0">
              <a:solidFill>
                <a:srgbClr val="0E2746"/>
              </a:solidFill>
              <a:latin typeface="페이퍼로지 7 Bold" pitchFamily="2" charset="-127"/>
              <a:ea typeface="페이퍼로지 7 Bold" pitchFamily="2" charset="-127"/>
            </a:endParaRPr>
          </a:p>
        </p:txBody>
      </p:sp>
      <p:sp>
        <p:nvSpPr>
          <p:cNvPr id="59" name="Text 7">
            <a:extLst>
              <a:ext uri="{FF2B5EF4-FFF2-40B4-BE49-F238E27FC236}">
                <a16:creationId xmlns:a16="http://schemas.microsoft.com/office/drawing/2014/main" id="{7CC2DE4C-207C-45EF-9A0E-5F6667FDA2C7}"/>
              </a:ext>
            </a:extLst>
          </p:cNvPr>
          <p:cNvSpPr txBox="1"/>
          <p:nvPr/>
        </p:nvSpPr>
        <p:spPr>
          <a:xfrm>
            <a:off x="594360" y="580520"/>
            <a:ext cx="10515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ko-KR" altLang="en-US" sz="1230" dirty="0">
                <a:solidFill>
                  <a:srgbClr val="66768F"/>
                </a:solidFill>
                <a:latin typeface="페이퍼로지 4 Regular" pitchFamily="2" charset="-127"/>
                <a:ea typeface="페이퍼로지 4 Regular" pitchFamily="2" charset="-127"/>
                <a:cs typeface="NanumSquare" pitchFamily="34" charset="-120"/>
              </a:rPr>
              <a:t>대한민국은 아직 보이스피싱 범죄와 전쟁중</a:t>
            </a:r>
            <a:r>
              <a:rPr lang="en-US" altLang="ko-KR" sz="1230" dirty="0">
                <a:solidFill>
                  <a:srgbClr val="66768F"/>
                </a:solidFill>
                <a:latin typeface="페이퍼로지 4 Regular" pitchFamily="2" charset="-127"/>
                <a:ea typeface="페이퍼로지 4 Regular" pitchFamily="2" charset="-127"/>
                <a:cs typeface="NanumSquare" pitchFamily="34" charset="-120"/>
              </a:rPr>
              <a:t>…</a:t>
            </a:r>
            <a:endParaRPr lang="en-US" sz="123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101" name="Slide Number Placeholder 0">
            <a:extLst>
              <a:ext uri="{FF2B5EF4-FFF2-40B4-BE49-F238E27FC236}">
                <a16:creationId xmlns:a16="http://schemas.microsoft.com/office/drawing/2014/main" id="{B62526B2-5F3F-4EBB-A2DC-93B7F89FFF3E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475720" y="6510528"/>
            <a:ext cx="27432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7B8CA8"/>
                </a:solidFill>
                <a:latin typeface="NanumSquare"/>
                <a:ea typeface="NanumSquare"/>
                <a:cs typeface="NanumSquare"/>
              </a:defRPr>
            </a:lvl1pPr>
          </a:lstStyle>
          <a:p>
            <a:pPr algn="r"/>
            <a:fld id="{F7021451-1387-4CA6-816F-3879F97B5CBC}" type="slidenum">
              <a:rPr lang="en-US" b="0"/>
              <a:t>27</a:t>
            </a:fld>
            <a:endParaRPr lang="en-US"/>
          </a:p>
        </p:txBody>
      </p:sp>
      <p:sp>
        <p:nvSpPr>
          <p:cNvPr id="97" name="Shape 44">
            <a:extLst>
              <a:ext uri="{FF2B5EF4-FFF2-40B4-BE49-F238E27FC236}">
                <a16:creationId xmlns:a16="http://schemas.microsoft.com/office/drawing/2014/main" id="{A76E8C5A-17D3-408B-A296-8675D799E942}"/>
              </a:ext>
            </a:extLst>
          </p:cNvPr>
          <p:cNvSpPr/>
          <p:nvPr/>
        </p:nvSpPr>
        <p:spPr>
          <a:xfrm>
            <a:off x="600456" y="4521201"/>
            <a:ext cx="10991088" cy="1736164"/>
          </a:xfrm>
          <a:prstGeom prst="roundRect">
            <a:avLst>
              <a:gd name="adj" fmla="val 14754"/>
            </a:avLst>
          </a:prstGeom>
          <a:solidFill>
            <a:srgbClr val="EAF3FF"/>
          </a:solidFill>
          <a:ln w="10160">
            <a:solidFill>
              <a:srgbClr val="D7E7FF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C16B820F-AFB7-48E0-9EB6-DDB131DC1B40}"/>
              </a:ext>
            </a:extLst>
          </p:cNvPr>
          <p:cNvGrpSpPr/>
          <p:nvPr/>
        </p:nvGrpSpPr>
        <p:grpSpPr>
          <a:xfrm>
            <a:off x="810836" y="4683614"/>
            <a:ext cx="6480610" cy="1409774"/>
            <a:chOff x="804672" y="4974712"/>
            <a:chExt cx="6480610" cy="1409774"/>
          </a:xfrm>
        </p:grpSpPr>
        <p:sp>
          <p:nvSpPr>
            <p:cNvPr id="98" name="Text 45">
              <a:extLst>
                <a:ext uri="{FF2B5EF4-FFF2-40B4-BE49-F238E27FC236}">
                  <a16:creationId xmlns:a16="http://schemas.microsoft.com/office/drawing/2014/main" id="{4F2E3DE0-CD98-4D61-9489-686484F3DB48}"/>
                </a:ext>
              </a:extLst>
            </p:cNvPr>
            <p:cNvSpPr txBox="1"/>
            <p:nvPr/>
          </p:nvSpPr>
          <p:spPr>
            <a:xfrm>
              <a:off x="804672" y="4987290"/>
              <a:ext cx="539496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 algn="l">
                <a:buNone/>
              </a:pPr>
              <a:endParaRPr lang="en-US" sz="1050" dirty="0"/>
            </a:p>
          </p:txBody>
        </p:sp>
        <p:sp>
          <p:nvSpPr>
            <p:cNvPr id="111" name="TextBox 110">
              <a:extLst>
                <a:ext uri="{FF2B5EF4-FFF2-40B4-BE49-F238E27FC236}">
                  <a16:creationId xmlns:a16="http://schemas.microsoft.com/office/drawing/2014/main" id="{C1E646E0-5120-4849-9996-97AD67287F74}"/>
                </a:ext>
              </a:extLst>
            </p:cNvPr>
            <p:cNvSpPr txBox="1"/>
            <p:nvPr/>
          </p:nvSpPr>
          <p:spPr>
            <a:xfrm>
              <a:off x="894649" y="5324056"/>
              <a:ext cx="6390633" cy="276999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>
              <a:spAutoFit/>
            </a:bodyPr>
            <a:lstStyle/>
            <a:p>
              <a:pPr fontAlgn="base"/>
              <a:r>
                <a:rPr lang="en-US" altLang="ko-KR" sz="1200" b="1" i="0" dirty="0">
                  <a:solidFill>
                    <a:srgbClr val="222222"/>
                  </a:solidFill>
                  <a:effectLst/>
                  <a:latin typeface="Noto Sans KR" panose="020B0200000000000000" pitchFamily="50" charset="-127"/>
                  <a:ea typeface="Noto Sans KR" panose="020B0200000000000000" pitchFamily="50" charset="-127"/>
                </a:rPr>
                <a:t>“</a:t>
              </a:r>
              <a:r>
                <a:rPr lang="ko-KR" altLang="en-US" sz="1200" b="1" i="0" dirty="0">
                  <a:solidFill>
                    <a:srgbClr val="222222"/>
                  </a:solidFill>
                  <a:effectLst/>
                  <a:latin typeface="Noto Sans KR" panose="020B0200000000000000" pitchFamily="50" charset="-127"/>
                  <a:ea typeface="Noto Sans KR" panose="020B0200000000000000" pitchFamily="50" charset="-127"/>
                </a:rPr>
                <a:t>보이스피싱 줄었다지만</a:t>
              </a:r>
              <a:r>
                <a:rPr lang="en-US" altLang="ko-KR" sz="1200" b="1" i="0" dirty="0">
                  <a:solidFill>
                    <a:srgbClr val="222222"/>
                  </a:solidFill>
                  <a:effectLst/>
                  <a:latin typeface="Noto Sans KR" panose="020B0200000000000000" pitchFamily="50" charset="-127"/>
                  <a:ea typeface="Noto Sans KR" panose="020B0200000000000000" pitchFamily="50" charset="-127"/>
                </a:rPr>
                <a:t>…5</a:t>
              </a:r>
              <a:r>
                <a:rPr lang="ko-KR" altLang="en-US" sz="1200" b="1" i="0" dirty="0">
                  <a:solidFill>
                    <a:srgbClr val="222222"/>
                  </a:solidFill>
                  <a:effectLst/>
                  <a:latin typeface="Noto Sans KR" panose="020B0200000000000000" pitchFamily="50" charset="-127"/>
                  <a:ea typeface="Noto Sans KR" panose="020B0200000000000000" pitchFamily="50" charset="-127"/>
                </a:rPr>
                <a:t>천만 원 피해에 </a:t>
              </a:r>
              <a:r>
                <a:rPr lang="en-US" altLang="ko-KR" sz="1200" b="1" i="0" dirty="0">
                  <a:solidFill>
                    <a:srgbClr val="FF4B16"/>
                  </a:solidFill>
                  <a:effectLst/>
                  <a:latin typeface="Noto Sans KR" panose="020B0200000000000000" pitchFamily="50" charset="-127"/>
                  <a:ea typeface="Noto Sans KR" panose="020B0200000000000000" pitchFamily="50" charset="-127"/>
                </a:rPr>
                <a:t>20</a:t>
              </a:r>
              <a:r>
                <a:rPr lang="ko-KR" altLang="en-US" sz="1200" b="1" i="0" dirty="0">
                  <a:solidFill>
                    <a:srgbClr val="FF4B16"/>
                  </a:solidFill>
                  <a:effectLst/>
                  <a:latin typeface="Noto Sans KR" panose="020B0200000000000000" pitchFamily="50" charset="-127"/>
                  <a:ea typeface="Noto Sans KR" panose="020B0200000000000000" pitchFamily="50" charset="-127"/>
                </a:rPr>
                <a:t>대 아들</a:t>
              </a:r>
              <a:r>
                <a:rPr lang="en-US" altLang="ko-KR" sz="1200" b="1" i="0" dirty="0">
                  <a:solidFill>
                    <a:srgbClr val="FF4B16"/>
                  </a:solidFill>
                  <a:effectLst/>
                  <a:latin typeface="Noto Sans KR" panose="020B0200000000000000" pitchFamily="50" charset="-127"/>
                  <a:ea typeface="Noto Sans KR" panose="020B0200000000000000" pitchFamily="50" charset="-127"/>
                </a:rPr>
                <a:t>, </a:t>
              </a:r>
              <a:r>
                <a:rPr lang="ko-KR" altLang="en-US" sz="1200" b="1" i="0" dirty="0">
                  <a:solidFill>
                    <a:srgbClr val="FF4B16"/>
                  </a:solidFill>
                  <a:effectLst/>
                  <a:latin typeface="Noto Sans KR" panose="020B0200000000000000" pitchFamily="50" charset="-127"/>
                  <a:ea typeface="Noto Sans KR" panose="020B0200000000000000" pitchFamily="50" charset="-127"/>
                </a:rPr>
                <a:t>엄마와 함께 숨져</a:t>
              </a:r>
              <a:r>
                <a:rPr lang="en-US" altLang="ko-KR" sz="1200" b="1" i="0" dirty="0">
                  <a:solidFill>
                    <a:srgbClr val="222222"/>
                  </a:solidFill>
                  <a:effectLst/>
                  <a:latin typeface="Noto Sans KR" panose="020B0200000000000000" pitchFamily="50" charset="-127"/>
                  <a:ea typeface="Noto Sans KR" panose="020B0200000000000000" pitchFamily="50" charset="-127"/>
                </a:rPr>
                <a:t>”</a:t>
              </a:r>
              <a:r>
                <a:rPr lang="ko-KR" altLang="en-US" sz="1200" b="1" i="0" dirty="0">
                  <a:solidFill>
                    <a:srgbClr val="222222"/>
                  </a:solidFill>
                  <a:effectLst/>
                  <a:latin typeface="Noto Sans KR" panose="020B0200000000000000" pitchFamily="50" charset="-127"/>
                  <a:ea typeface="Noto Sans KR" panose="020B0200000000000000" pitchFamily="50" charset="-127"/>
                </a:rPr>
                <a:t> </a:t>
              </a:r>
              <a:r>
                <a:rPr lang="en-US" altLang="ko-KR" sz="1200" i="0" dirty="0">
                  <a:solidFill>
                    <a:srgbClr val="222222"/>
                  </a:solidFill>
                  <a:effectLst/>
                  <a:latin typeface="페이퍼로지 4 Regular" pitchFamily="2" charset="-127"/>
                  <a:ea typeface="페이퍼로지 4 Regular" pitchFamily="2" charset="-127"/>
                </a:rPr>
                <a:t>(KBS</a:t>
              </a:r>
              <a:r>
                <a:rPr lang="ko-KR" altLang="en-US" sz="1200" i="0" dirty="0">
                  <a:solidFill>
                    <a:srgbClr val="222222"/>
                  </a:solidFill>
                  <a:effectLst/>
                  <a:latin typeface="페이퍼로지 4 Regular" pitchFamily="2" charset="-127"/>
                  <a:ea typeface="페이퍼로지 4 Regular" pitchFamily="2" charset="-127"/>
                </a:rPr>
                <a:t>뉴스 </a:t>
              </a:r>
              <a:r>
                <a:rPr lang="en-US" altLang="ko-KR" sz="1200" i="0" dirty="0">
                  <a:solidFill>
                    <a:srgbClr val="222222"/>
                  </a:solidFill>
                  <a:effectLst/>
                  <a:latin typeface="페이퍼로지 4 Regular" pitchFamily="2" charset="-127"/>
                  <a:ea typeface="페이퍼로지 4 Regular" pitchFamily="2" charset="-127"/>
                </a:rPr>
                <a:t>2026.06.22)</a:t>
              </a:r>
              <a:endParaRPr lang="ko-KR" altLang="en-US" sz="1200" i="0" dirty="0">
                <a:solidFill>
                  <a:srgbClr val="222222"/>
                </a:solidFill>
                <a:effectLst/>
                <a:latin typeface="페이퍼로지 4 Regular" pitchFamily="2" charset="-127"/>
                <a:ea typeface="페이퍼로지 4 Regular" pitchFamily="2" charset="-127"/>
              </a:endParaRPr>
            </a:p>
          </p:txBody>
        </p:sp>
        <p:sp>
          <p:nvSpPr>
            <p:cNvPr id="112" name="TextBox 111">
              <a:extLst>
                <a:ext uri="{FF2B5EF4-FFF2-40B4-BE49-F238E27FC236}">
                  <a16:creationId xmlns:a16="http://schemas.microsoft.com/office/drawing/2014/main" id="{69DBA008-F345-4089-8070-1624E61E661A}"/>
                </a:ext>
              </a:extLst>
            </p:cNvPr>
            <p:cNvSpPr txBox="1"/>
            <p:nvPr/>
          </p:nvSpPr>
          <p:spPr>
            <a:xfrm>
              <a:off x="826725" y="4974712"/>
              <a:ext cx="4228078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indent="0">
                <a:buNone/>
              </a:pPr>
              <a:r>
                <a:rPr lang="ko-KR" altLang="en-US" sz="1200" dirty="0">
                  <a:solidFill>
                    <a:srgbClr val="0E2746"/>
                  </a:solidFill>
                  <a:latin typeface="페이퍼로지 7 Bold" pitchFamily="2" charset="-127"/>
                  <a:ea typeface="페이퍼로지 7 Bold" pitchFamily="2" charset="-127"/>
                </a:rPr>
                <a:t>극단적인 선택 까지 이어지는 보이스피싱 범죄의 심각성</a:t>
              </a:r>
              <a:endParaRPr lang="en-US" altLang="ko-KR" sz="1200" dirty="0">
                <a:solidFill>
                  <a:srgbClr val="0E2746"/>
                </a:solidFill>
                <a:latin typeface="페이퍼로지 7 Bold" pitchFamily="2" charset="-127"/>
                <a:ea typeface="페이퍼로지 7 Bold" pitchFamily="2" charset="-127"/>
              </a:endParaRPr>
            </a:p>
          </p:txBody>
        </p:sp>
        <p:sp>
          <p:nvSpPr>
            <p:cNvPr id="118" name="TextBox 117">
              <a:extLst>
                <a:ext uri="{FF2B5EF4-FFF2-40B4-BE49-F238E27FC236}">
                  <a16:creationId xmlns:a16="http://schemas.microsoft.com/office/drawing/2014/main" id="{2F6B1490-F183-46C5-891C-4DF4DDEBC613}"/>
                </a:ext>
              </a:extLst>
            </p:cNvPr>
            <p:cNvSpPr txBox="1"/>
            <p:nvPr/>
          </p:nvSpPr>
          <p:spPr>
            <a:xfrm>
              <a:off x="894649" y="5711305"/>
              <a:ext cx="5918527" cy="276999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>
              <a:spAutoFit/>
            </a:bodyPr>
            <a:lstStyle/>
            <a:p>
              <a:pPr fontAlgn="base"/>
              <a:r>
                <a:rPr lang="en-US" altLang="ko-KR" sz="1200" b="1" i="0" dirty="0">
                  <a:effectLst/>
                  <a:latin typeface="Noto Sans KR" panose="020B0200000000000000" pitchFamily="50" charset="-127"/>
                  <a:ea typeface="Noto Sans KR" panose="020B0200000000000000" pitchFamily="50" charset="-127"/>
                </a:rPr>
                <a:t>“</a:t>
              </a:r>
              <a:r>
                <a:rPr lang="ko-KR" altLang="en-US" sz="1200" b="1" i="0" dirty="0">
                  <a:effectLst/>
                  <a:latin typeface="Noto Sans KR" panose="020B0200000000000000" pitchFamily="50" charset="-127"/>
                  <a:ea typeface="Noto Sans KR" panose="020B0200000000000000" pitchFamily="50" charset="-127"/>
                </a:rPr>
                <a:t>보이스피싱에 속아 </a:t>
              </a:r>
              <a:r>
                <a:rPr lang="en-US" altLang="ko-KR" sz="1200" b="1" i="0" dirty="0">
                  <a:effectLst/>
                  <a:latin typeface="Noto Sans KR" panose="020B0200000000000000" pitchFamily="50" charset="-127"/>
                  <a:ea typeface="Noto Sans KR" panose="020B0200000000000000" pitchFamily="50" charset="-127"/>
                </a:rPr>
                <a:t>3</a:t>
              </a:r>
              <a:r>
                <a:rPr lang="ko-KR" altLang="en-US" sz="1200" b="1" i="0" dirty="0">
                  <a:effectLst/>
                  <a:latin typeface="Noto Sans KR" panose="020B0200000000000000" pitchFamily="50" charset="-127"/>
                  <a:ea typeface="Noto Sans KR" panose="020B0200000000000000" pitchFamily="50" charset="-127"/>
                </a:rPr>
                <a:t>억원 잃은 </a:t>
              </a:r>
              <a:r>
                <a:rPr lang="ko-KR" altLang="en-US" sz="1200" b="1" i="0" dirty="0">
                  <a:solidFill>
                    <a:srgbClr val="FF4B16"/>
                  </a:solidFill>
                  <a:effectLst/>
                  <a:latin typeface="Noto Sans KR" panose="020B0200000000000000" pitchFamily="50" charset="-127"/>
                  <a:ea typeface="Noto Sans KR" panose="020B0200000000000000" pitchFamily="50" charset="-127"/>
                </a:rPr>
                <a:t>피해자 생 마감</a:t>
              </a:r>
              <a:r>
                <a:rPr lang="en-US" altLang="ko-KR" sz="1200" b="1" i="0" dirty="0">
                  <a:effectLst/>
                  <a:latin typeface="Noto Sans KR" panose="020B0200000000000000" pitchFamily="50" charset="-127"/>
                  <a:ea typeface="Noto Sans KR" panose="020B0200000000000000" pitchFamily="50" charset="-127"/>
                </a:rPr>
                <a:t>…</a:t>
              </a:r>
              <a:r>
                <a:rPr lang="ko-KR" altLang="en-US" sz="1200" b="1" i="0" dirty="0">
                  <a:effectLst/>
                  <a:latin typeface="Noto Sans KR" panose="020B0200000000000000" pitchFamily="50" charset="-127"/>
                  <a:ea typeface="Noto Sans KR" panose="020B0200000000000000" pitchFamily="50" charset="-127"/>
                </a:rPr>
                <a:t>인출책 징역 </a:t>
              </a:r>
              <a:r>
                <a:rPr lang="en-US" altLang="ko-KR" sz="1200" b="1" i="0" dirty="0">
                  <a:effectLst/>
                  <a:latin typeface="Noto Sans KR" panose="020B0200000000000000" pitchFamily="50" charset="-127"/>
                  <a:ea typeface="Noto Sans KR" panose="020B0200000000000000" pitchFamily="50" charset="-127"/>
                </a:rPr>
                <a:t>1</a:t>
              </a:r>
              <a:r>
                <a:rPr lang="ko-KR" altLang="en-US" sz="1200" b="1" i="0" dirty="0">
                  <a:effectLst/>
                  <a:latin typeface="Noto Sans KR" panose="020B0200000000000000" pitchFamily="50" charset="-127"/>
                  <a:ea typeface="Noto Sans KR" panose="020B0200000000000000" pitchFamily="50" charset="-127"/>
                </a:rPr>
                <a:t>년</a:t>
              </a:r>
              <a:r>
                <a:rPr lang="en-US" altLang="ko-KR" sz="1200" b="1" i="0" dirty="0">
                  <a:effectLst/>
                  <a:latin typeface="Noto Sans KR" panose="020B0200000000000000" pitchFamily="50" charset="-127"/>
                  <a:ea typeface="Noto Sans KR" panose="020B0200000000000000" pitchFamily="50" charset="-127"/>
                </a:rPr>
                <a:t>”</a:t>
              </a:r>
              <a:r>
                <a:rPr lang="ko-KR" altLang="en-US" sz="1200" b="1" i="0" dirty="0">
                  <a:effectLst/>
                  <a:latin typeface="Noto Sans KR" panose="020B0200000000000000" pitchFamily="50" charset="-127"/>
                  <a:ea typeface="Noto Sans KR" panose="020B0200000000000000" pitchFamily="50" charset="-127"/>
                </a:rPr>
                <a:t> </a:t>
              </a:r>
              <a:r>
                <a:rPr lang="en-US" altLang="ko-KR" sz="1200" i="0" dirty="0">
                  <a:effectLst/>
                  <a:latin typeface="페이퍼로지 4 Regular" pitchFamily="2" charset="-127"/>
                  <a:ea typeface="페이퍼로지 4 Regular" pitchFamily="2" charset="-127"/>
                </a:rPr>
                <a:t>(</a:t>
              </a:r>
              <a:r>
                <a:rPr lang="ko-KR" altLang="en-US" sz="1200" i="0" dirty="0">
                  <a:effectLst/>
                  <a:latin typeface="페이퍼로지 4 Regular" pitchFamily="2" charset="-127"/>
                  <a:ea typeface="페이퍼로지 4 Regular" pitchFamily="2" charset="-127"/>
                </a:rPr>
                <a:t>연합뉴스 </a:t>
              </a:r>
              <a:r>
                <a:rPr lang="en-US" altLang="ko-KR" sz="1200" i="0" dirty="0">
                  <a:effectLst/>
                  <a:latin typeface="페이퍼로지 4 Regular" pitchFamily="2" charset="-127"/>
                  <a:ea typeface="페이퍼로지 4 Regular" pitchFamily="2" charset="-127"/>
                </a:rPr>
                <a:t>2026.05.27)</a:t>
              </a:r>
              <a:endParaRPr lang="ko-KR" altLang="en-US" sz="1200" i="0" dirty="0">
                <a:effectLst/>
                <a:latin typeface="페이퍼로지 4 Regular" pitchFamily="2" charset="-127"/>
                <a:ea typeface="페이퍼로지 4 Regular" pitchFamily="2" charset="-127"/>
              </a:endParaRPr>
            </a:p>
          </p:txBody>
        </p:sp>
        <p:sp>
          <p:nvSpPr>
            <p:cNvPr id="131" name="TextBox 130">
              <a:extLst>
                <a:ext uri="{FF2B5EF4-FFF2-40B4-BE49-F238E27FC236}">
                  <a16:creationId xmlns:a16="http://schemas.microsoft.com/office/drawing/2014/main" id="{7AD6700A-593D-446A-8111-A37932502880}"/>
                </a:ext>
              </a:extLst>
            </p:cNvPr>
            <p:cNvSpPr txBox="1"/>
            <p:nvPr/>
          </p:nvSpPr>
          <p:spPr>
            <a:xfrm>
              <a:off x="894649" y="6107487"/>
              <a:ext cx="6173663" cy="276999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>
              <a:spAutoFit/>
            </a:bodyPr>
            <a:lstStyle/>
            <a:p>
              <a:pPr fontAlgn="base"/>
              <a:r>
                <a:rPr lang="en-US" altLang="ko-KR" sz="1200" b="1" i="0" dirty="0">
                  <a:effectLst/>
                  <a:latin typeface="Noto Sans KR" panose="020B0200000000000000" pitchFamily="50" charset="-127"/>
                  <a:ea typeface="Noto Sans KR" panose="020B0200000000000000" pitchFamily="50" charset="-127"/>
                </a:rPr>
                <a:t>“</a:t>
              </a:r>
              <a:r>
                <a:rPr lang="ko-KR" altLang="en-US" sz="1200" b="1" i="0" dirty="0">
                  <a:effectLst/>
                  <a:latin typeface="Noto Sans KR" panose="020B0200000000000000" pitchFamily="50" charset="-127"/>
                  <a:ea typeface="Noto Sans KR" panose="020B0200000000000000" pitchFamily="50" charset="-127"/>
                </a:rPr>
                <a:t>보이스피싱 피해 비관 </a:t>
              </a:r>
              <a:r>
                <a:rPr lang="ko-KR" altLang="en-US" sz="1200" b="1" i="0" dirty="0">
                  <a:solidFill>
                    <a:srgbClr val="FF4B16"/>
                  </a:solidFill>
                  <a:effectLst/>
                  <a:latin typeface="Noto Sans KR" panose="020B0200000000000000" pitchFamily="50" charset="-127"/>
                  <a:ea typeface="Noto Sans KR" panose="020B0200000000000000" pitchFamily="50" charset="-127"/>
                </a:rPr>
                <a:t>부부 극단선택</a:t>
              </a:r>
              <a:r>
                <a:rPr lang="en-US" altLang="ko-KR" sz="1200" b="1" i="0" dirty="0">
                  <a:effectLst/>
                  <a:latin typeface="Noto Sans KR" panose="020B0200000000000000" pitchFamily="50" charset="-127"/>
                  <a:ea typeface="Noto Sans KR" panose="020B0200000000000000" pitchFamily="50" charset="-127"/>
                </a:rPr>
                <a:t>…</a:t>
              </a:r>
              <a:r>
                <a:rPr lang="ko-KR" altLang="en-US" sz="1200" b="1" i="0" dirty="0">
                  <a:effectLst/>
                  <a:latin typeface="Noto Sans KR" panose="020B0200000000000000" pitchFamily="50" charset="-127"/>
                  <a:ea typeface="Noto Sans KR" panose="020B0200000000000000" pitchFamily="50" charset="-127"/>
                </a:rPr>
                <a:t>홀로 산 남편 자살방조 처벌</a:t>
              </a:r>
              <a:r>
                <a:rPr lang="en-US" altLang="ko-KR" sz="1200" b="1" i="0" dirty="0">
                  <a:effectLst/>
                  <a:latin typeface="Noto Sans KR" panose="020B0200000000000000" pitchFamily="50" charset="-127"/>
                  <a:ea typeface="Noto Sans KR" panose="020B0200000000000000" pitchFamily="50" charset="-127"/>
                </a:rPr>
                <a:t>”</a:t>
              </a:r>
              <a:r>
                <a:rPr lang="ko-KR" altLang="en-US" sz="1200" b="1" i="0" dirty="0">
                  <a:effectLst/>
                  <a:latin typeface="Noto Sans KR" panose="020B0200000000000000" pitchFamily="50" charset="-127"/>
                  <a:ea typeface="Noto Sans KR" panose="020B0200000000000000" pitchFamily="50" charset="-127"/>
                </a:rPr>
                <a:t> </a:t>
              </a:r>
              <a:r>
                <a:rPr lang="en-US" altLang="ko-KR" sz="1200" i="0" dirty="0">
                  <a:effectLst/>
                  <a:latin typeface="페이퍼로지 4 Regular" pitchFamily="2" charset="-127"/>
                  <a:ea typeface="페이퍼로지 4 Regular" pitchFamily="2" charset="-127"/>
                </a:rPr>
                <a:t>(</a:t>
              </a:r>
              <a:r>
                <a:rPr lang="ko-KR" altLang="en-US" sz="1200" i="0" dirty="0">
                  <a:effectLst/>
                  <a:latin typeface="페이퍼로지 4 Regular" pitchFamily="2" charset="-127"/>
                  <a:ea typeface="페이퍼로지 4 Regular" pitchFamily="2" charset="-127"/>
                </a:rPr>
                <a:t>연합뉴스</a:t>
              </a:r>
              <a:r>
                <a:rPr lang="en-US" altLang="ko-KR" sz="1200" i="0" dirty="0">
                  <a:effectLst/>
                  <a:latin typeface="페이퍼로지 4 Regular" pitchFamily="2" charset="-127"/>
                  <a:ea typeface="페이퍼로지 4 Regular" pitchFamily="2" charset="-127"/>
                </a:rPr>
                <a:t>TV</a:t>
              </a:r>
              <a:r>
                <a:rPr lang="ko-KR" altLang="en-US" sz="1200" i="0" dirty="0">
                  <a:effectLst/>
                  <a:latin typeface="페이퍼로지 4 Regular" pitchFamily="2" charset="-127"/>
                  <a:ea typeface="페이퍼로지 4 Regular" pitchFamily="2" charset="-127"/>
                </a:rPr>
                <a:t> </a:t>
              </a:r>
              <a:r>
                <a:rPr lang="en-US" altLang="ko-KR" sz="1200" i="0" dirty="0">
                  <a:effectLst/>
                  <a:latin typeface="페이퍼로지 4 Regular" pitchFamily="2" charset="-127"/>
                  <a:ea typeface="페이퍼로지 4 Regular" pitchFamily="2" charset="-127"/>
                </a:rPr>
                <a:t>2026.07.26)</a:t>
              </a:r>
              <a:endParaRPr lang="ko-KR" altLang="en-US" sz="1200" i="0" dirty="0">
                <a:effectLst/>
                <a:latin typeface="페이퍼로지 4 Regular" pitchFamily="2" charset="-127"/>
                <a:ea typeface="페이퍼로지 4 Regular" pitchFamily="2" charset="-127"/>
              </a:endParaRPr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FD715506-C7C5-46AF-97DD-9E8720001060}"/>
              </a:ext>
            </a:extLst>
          </p:cNvPr>
          <p:cNvGrpSpPr/>
          <p:nvPr/>
        </p:nvGrpSpPr>
        <p:grpSpPr>
          <a:xfrm>
            <a:off x="7655688" y="4616027"/>
            <a:ext cx="3656903" cy="1551360"/>
            <a:chOff x="7640448" y="4533932"/>
            <a:chExt cx="3656903" cy="1551360"/>
          </a:xfrm>
        </p:grpSpPr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6AA21B39-CDD9-416A-94A5-F7D48DFFB9B7}"/>
                </a:ext>
              </a:extLst>
            </p:cNvPr>
            <p:cNvGrpSpPr/>
            <p:nvPr/>
          </p:nvGrpSpPr>
          <p:grpSpPr>
            <a:xfrm>
              <a:off x="7640448" y="4533932"/>
              <a:ext cx="3656903" cy="1551360"/>
              <a:chOff x="7640448" y="4533932"/>
              <a:chExt cx="3656903" cy="1551360"/>
            </a:xfrm>
          </p:grpSpPr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C88D801F-1FFC-4DB5-BA05-2750BEE7D95D}"/>
                  </a:ext>
                </a:extLst>
              </p:cNvPr>
              <p:cNvSpPr/>
              <p:nvPr/>
            </p:nvSpPr>
            <p:spPr>
              <a:xfrm>
                <a:off x="7656784" y="4794782"/>
                <a:ext cx="3640567" cy="1290510"/>
              </a:xfrm>
              <a:prstGeom prst="rect">
                <a:avLst/>
              </a:prstGeom>
              <a:solidFill>
                <a:schemeClr val="bg1"/>
              </a:solidFill>
              <a:ln w="12700">
                <a:noFill/>
                <a:prstDash val="solid"/>
              </a:ln>
            </p:spPr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137" name="Rectangle 136">
                <a:extLst>
                  <a:ext uri="{FF2B5EF4-FFF2-40B4-BE49-F238E27FC236}">
                    <a16:creationId xmlns:a16="http://schemas.microsoft.com/office/drawing/2014/main" id="{5650DA10-F948-4096-918C-238B8CB95A93}"/>
                  </a:ext>
                </a:extLst>
              </p:cNvPr>
              <p:cNvSpPr/>
              <p:nvPr/>
            </p:nvSpPr>
            <p:spPr>
              <a:xfrm>
                <a:off x="7724678" y="4887453"/>
                <a:ext cx="3512773" cy="152226"/>
              </a:xfrm>
              <a:prstGeom prst="rect">
                <a:avLst/>
              </a:prstGeom>
              <a:solidFill>
                <a:srgbClr val="FF4B16"/>
              </a:solidFill>
              <a:ln w="12700">
                <a:noFill/>
                <a:prstDash val="solid"/>
              </a:ln>
            </p:spPr>
            <p:txBody>
              <a:bodyPr rtlCol="0" anchor="ctr"/>
              <a:lstStyle/>
              <a:p>
                <a:r>
                  <a:rPr lang="ko-KR" altLang="en-US" sz="1000" dirty="0">
                    <a:solidFill>
                      <a:schemeClr val="bg1"/>
                    </a:solidFill>
                    <a:latin typeface="페이퍼로지 4 Regular" pitchFamily="2" charset="-127"/>
                    <a:ea typeface="페이퍼로지 4 Regular" pitchFamily="2" charset="-127"/>
                  </a:rPr>
                  <a:t>두려움과 분노</a:t>
                </a:r>
                <a:r>
                  <a:rPr lang="en-US" altLang="ko-KR" sz="1000" dirty="0">
                    <a:solidFill>
                      <a:schemeClr val="bg1"/>
                    </a:solidFill>
                    <a:latin typeface="페이퍼로지 4 Regular" pitchFamily="2" charset="-127"/>
                    <a:ea typeface="페이퍼로지 4 Regular" pitchFamily="2" charset="-127"/>
                  </a:rPr>
                  <a:t>, </a:t>
                </a:r>
                <a:r>
                  <a:rPr lang="ko-KR" altLang="en-US" sz="1000" dirty="0">
                    <a:solidFill>
                      <a:schemeClr val="bg1"/>
                    </a:solidFill>
                    <a:latin typeface="페이퍼로지 4 Regular" pitchFamily="2" charset="-127"/>
                    <a:ea typeface="페이퍼로지 4 Regular" pitchFamily="2" charset="-127"/>
                  </a:rPr>
                  <a:t>죄책감 느낀다</a:t>
                </a:r>
              </a:p>
            </p:txBody>
          </p:sp>
          <p:sp>
            <p:nvSpPr>
              <p:cNvPr id="138" name="Rectangle 137">
                <a:extLst>
                  <a:ext uri="{FF2B5EF4-FFF2-40B4-BE49-F238E27FC236}">
                    <a16:creationId xmlns:a16="http://schemas.microsoft.com/office/drawing/2014/main" id="{C96D9C1A-8A8D-4FA9-8E69-1BD016277053}"/>
                  </a:ext>
                </a:extLst>
              </p:cNvPr>
              <p:cNvSpPr/>
              <p:nvPr/>
            </p:nvSpPr>
            <p:spPr>
              <a:xfrm>
                <a:off x="7724678" y="5087078"/>
                <a:ext cx="2931106" cy="152226"/>
              </a:xfrm>
              <a:prstGeom prst="rect">
                <a:avLst/>
              </a:prstGeom>
              <a:solidFill>
                <a:srgbClr val="FF4B16"/>
              </a:solidFill>
              <a:ln w="12700">
                <a:noFill/>
                <a:prstDash val="solid"/>
              </a:ln>
            </p:spPr>
            <p:txBody>
              <a:bodyPr rtlCol="0" anchor="ctr"/>
              <a:lstStyle/>
              <a:p>
                <a:r>
                  <a:rPr lang="ko-KR" altLang="en-US" sz="1000" dirty="0">
                    <a:solidFill>
                      <a:schemeClr val="bg1"/>
                    </a:solidFill>
                    <a:latin typeface="페이퍼로지 4 Regular" pitchFamily="2" charset="-127"/>
                    <a:ea typeface="페이퍼로지 4 Regular" pitchFamily="2" charset="-127"/>
                  </a:rPr>
                  <a:t>밤에 잠이 잘 안 온다</a:t>
                </a:r>
              </a:p>
            </p:txBody>
          </p:sp>
          <p:sp>
            <p:nvSpPr>
              <p:cNvPr id="139" name="Rectangle 138">
                <a:extLst>
                  <a:ext uri="{FF2B5EF4-FFF2-40B4-BE49-F238E27FC236}">
                    <a16:creationId xmlns:a16="http://schemas.microsoft.com/office/drawing/2014/main" id="{F3D7BAF9-07DE-400A-AC59-9FF748362373}"/>
                  </a:ext>
                </a:extLst>
              </p:cNvPr>
              <p:cNvSpPr/>
              <p:nvPr/>
            </p:nvSpPr>
            <p:spPr>
              <a:xfrm>
                <a:off x="7724678" y="5286703"/>
                <a:ext cx="1993067" cy="152226"/>
              </a:xfrm>
              <a:prstGeom prst="rect">
                <a:avLst/>
              </a:prstGeom>
              <a:solidFill>
                <a:srgbClr val="FF4B16"/>
              </a:solidFill>
              <a:ln w="12700">
                <a:noFill/>
                <a:prstDash val="solid"/>
              </a:ln>
            </p:spPr>
            <p:txBody>
              <a:bodyPr rtlCol="0" anchor="ctr"/>
              <a:lstStyle/>
              <a:p>
                <a:r>
                  <a:rPr lang="ko-KR" altLang="en-US" sz="1000" dirty="0">
                    <a:solidFill>
                      <a:schemeClr val="bg1"/>
                    </a:solidFill>
                    <a:latin typeface="페이퍼로지 4 Regular" pitchFamily="2" charset="-127"/>
                    <a:ea typeface="페이퍼로지 4 Regular" pitchFamily="2" charset="-127"/>
                  </a:rPr>
                  <a:t>주변에 대한 과도한 경계심이 생긴다</a:t>
                </a:r>
              </a:p>
            </p:txBody>
          </p:sp>
          <p:grpSp>
            <p:nvGrpSpPr>
              <p:cNvPr id="16" name="Group 15">
                <a:extLst>
                  <a:ext uri="{FF2B5EF4-FFF2-40B4-BE49-F238E27FC236}">
                    <a16:creationId xmlns:a16="http://schemas.microsoft.com/office/drawing/2014/main" id="{78B5CB79-EE6B-47C6-8864-0A3C9BD3740E}"/>
                  </a:ext>
                </a:extLst>
              </p:cNvPr>
              <p:cNvGrpSpPr/>
              <p:nvPr/>
            </p:nvGrpSpPr>
            <p:grpSpPr>
              <a:xfrm>
                <a:off x="7724678" y="4887453"/>
                <a:ext cx="3512773" cy="751101"/>
                <a:chOff x="7724678" y="4937557"/>
                <a:chExt cx="3512773" cy="751101"/>
              </a:xfrm>
            </p:grpSpPr>
            <p:sp>
              <p:nvSpPr>
                <p:cNvPr id="134" name="Rectangle 133">
                  <a:extLst>
                    <a:ext uri="{FF2B5EF4-FFF2-40B4-BE49-F238E27FC236}">
                      <a16:creationId xmlns:a16="http://schemas.microsoft.com/office/drawing/2014/main" id="{AEC622F5-EDC0-4894-A4DF-14A87444EAE9}"/>
                    </a:ext>
                  </a:extLst>
                </p:cNvPr>
                <p:cNvSpPr/>
                <p:nvPr/>
              </p:nvSpPr>
              <p:spPr>
                <a:xfrm>
                  <a:off x="8863296" y="5536432"/>
                  <a:ext cx="2374155" cy="152226"/>
                </a:xfrm>
                <a:prstGeom prst="rect">
                  <a:avLst/>
                </a:prstGeom>
                <a:noFill/>
                <a:ln w="12700">
                  <a:noFill/>
                  <a:prstDash val="solid"/>
                </a:ln>
              </p:spPr>
              <p:txBody>
                <a:bodyPr rtlCol="0" anchor="ctr"/>
                <a:lstStyle/>
                <a:p>
                  <a:r>
                    <a:rPr lang="ko-KR" altLang="en-US" sz="1000" dirty="0">
                      <a:latin typeface="페이퍼로지 4 Regular" pitchFamily="2" charset="-127"/>
                      <a:ea typeface="페이퍼로지 4 Regular" pitchFamily="2" charset="-127"/>
                    </a:rPr>
                    <a:t>병원에서 우울증 치료 등을 받는다 </a:t>
                  </a:r>
                  <a:r>
                    <a:rPr lang="en-US" altLang="ko-KR" sz="1000" dirty="0">
                      <a:latin typeface="페이퍼로지 7 Bold" pitchFamily="2" charset="-127"/>
                      <a:ea typeface="페이퍼로지 7 Bold" pitchFamily="2" charset="-127"/>
                    </a:rPr>
                    <a:t>25.4%</a:t>
                  </a:r>
                  <a:endParaRPr lang="ko-KR" altLang="en-US" sz="1000" dirty="0">
                    <a:latin typeface="페이퍼로지 4 Regular" pitchFamily="2" charset="-127"/>
                    <a:ea typeface="페이퍼로지 4 Regular" pitchFamily="2" charset="-127"/>
                  </a:endParaRPr>
                </a:p>
              </p:txBody>
            </p:sp>
            <p:sp>
              <p:nvSpPr>
                <p:cNvPr id="140" name="Rectangle 139">
                  <a:extLst>
                    <a:ext uri="{FF2B5EF4-FFF2-40B4-BE49-F238E27FC236}">
                      <a16:creationId xmlns:a16="http://schemas.microsoft.com/office/drawing/2014/main" id="{830D2552-CE5F-4566-9324-CCAA6DE748F6}"/>
                    </a:ext>
                  </a:extLst>
                </p:cNvPr>
                <p:cNvSpPr/>
                <p:nvPr/>
              </p:nvSpPr>
              <p:spPr>
                <a:xfrm>
                  <a:off x="7724678" y="5536432"/>
                  <a:ext cx="1194300" cy="152226"/>
                </a:xfrm>
                <a:prstGeom prst="rect">
                  <a:avLst/>
                </a:prstGeom>
                <a:solidFill>
                  <a:srgbClr val="FF4B16"/>
                </a:solidFill>
                <a:ln w="12700">
                  <a:noFill/>
                  <a:prstDash val="solid"/>
                </a:ln>
              </p:spPr>
              <p:txBody>
                <a:bodyPr rtlCol="0" anchor="ctr"/>
                <a:lstStyle/>
                <a:p>
                  <a:pPr algn="r"/>
                  <a:endParaRPr lang="ko-KR" altLang="en-US" sz="1000" dirty="0">
                    <a:solidFill>
                      <a:schemeClr val="bg1"/>
                    </a:solidFill>
                    <a:latin typeface="페이퍼로지 7 Bold" pitchFamily="2" charset="-127"/>
                    <a:ea typeface="페이퍼로지 7 Bold" pitchFamily="2" charset="-127"/>
                  </a:endParaRPr>
                </a:p>
              </p:txBody>
            </p:sp>
            <p:sp>
              <p:nvSpPr>
                <p:cNvPr id="148" name="Rectangle 147">
                  <a:extLst>
                    <a:ext uri="{FF2B5EF4-FFF2-40B4-BE49-F238E27FC236}">
                      <a16:creationId xmlns:a16="http://schemas.microsoft.com/office/drawing/2014/main" id="{67598F49-4387-4F12-AD03-C4CE346ED14C}"/>
                    </a:ext>
                  </a:extLst>
                </p:cNvPr>
                <p:cNvSpPr/>
                <p:nvPr/>
              </p:nvSpPr>
              <p:spPr>
                <a:xfrm>
                  <a:off x="8863297" y="5137182"/>
                  <a:ext cx="1792487" cy="149100"/>
                </a:xfrm>
                <a:prstGeom prst="rect">
                  <a:avLst/>
                </a:prstGeom>
                <a:noFill/>
                <a:ln w="12700">
                  <a:noFill/>
                  <a:prstDash val="solid"/>
                </a:ln>
              </p:spPr>
              <p:txBody>
                <a:bodyPr rtlCol="0" anchor="ctr"/>
                <a:lstStyle/>
                <a:p>
                  <a:pPr algn="r"/>
                  <a:r>
                    <a:rPr lang="en-US" altLang="ko-KR" sz="1000" dirty="0">
                      <a:solidFill>
                        <a:schemeClr val="bg1"/>
                      </a:solidFill>
                      <a:latin typeface="페이퍼로지 7 Bold" pitchFamily="2" charset="-127"/>
                      <a:ea typeface="페이퍼로지 7 Bold" pitchFamily="2" charset="-127"/>
                    </a:rPr>
                    <a:t>63.5%</a:t>
                  </a:r>
                  <a:endParaRPr lang="ko-KR" altLang="en-US" sz="1000" dirty="0">
                    <a:solidFill>
                      <a:schemeClr val="bg1"/>
                    </a:solidFill>
                    <a:latin typeface="페이퍼로지 7 Bold" pitchFamily="2" charset="-127"/>
                    <a:ea typeface="페이퍼로지 7 Bold" pitchFamily="2" charset="-127"/>
                  </a:endParaRPr>
                </a:p>
              </p:txBody>
            </p:sp>
            <p:sp>
              <p:nvSpPr>
                <p:cNvPr id="149" name="Rectangle 148">
                  <a:extLst>
                    <a:ext uri="{FF2B5EF4-FFF2-40B4-BE49-F238E27FC236}">
                      <a16:creationId xmlns:a16="http://schemas.microsoft.com/office/drawing/2014/main" id="{3EE56CF6-75C1-4D6A-8DBB-C3071FCE4454}"/>
                    </a:ext>
                  </a:extLst>
                </p:cNvPr>
                <p:cNvSpPr/>
                <p:nvPr/>
              </p:nvSpPr>
              <p:spPr>
                <a:xfrm>
                  <a:off x="8863296" y="4937557"/>
                  <a:ext cx="2374155" cy="152226"/>
                </a:xfrm>
                <a:prstGeom prst="rect">
                  <a:avLst/>
                </a:prstGeom>
                <a:noFill/>
                <a:ln w="12700">
                  <a:noFill/>
                  <a:prstDash val="solid"/>
                </a:ln>
              </p:spPr>
              <p:txBody>
                <a:bodyPr rtlCol="0" anchor="ctr"/>
                <a:lstStyle/>
                <a:p>
                  <a:pPr algn="r"/>
                  <a:r>
                    <a:rPr lang="en-US" altLang="ko-KR" sz="1000" dirty="0">
                      <a:solidFill>
                        <a:schemeClr val="bg1"/>
                      </a:solidFill>
                      <a:latin typeface="페이퍼로지 7 Bold" pitchFamily="2" charset="-127"/>
                      <a:ea typeface="페이퍼로지 7 Bold" pitchFamily="2" charset="-127"/>
                    </a:rPr>
                    <a:t>76.2%</a:t>
                  </a:r>
                  <a:endParaRPr lang="ko-KR" altLang="en-US" sz="1000" dirty="0">
                    <a:solidFill>
                      <a:schemeClr val="bg1"/>
                    </a:solidFill>
                    <a:latin typeface="페이퍼로지 7 Bold" pitchFamily="2" charset="-127"/>
                    <a:ea typeface="페이퍼로지 7 Bold" pitchFamily="2" charset="-127"/>
                  </a:endParaRPr>
                </a:p>
              </p:txBody>
            </p:sp>
            <p:sp>
              <p:nvSpPr>
                <p:cNvPr id="150" name="Rectangle 149">
                  <a:extLst>
                    <a:ext uri="{FF2B5EF4-FFF2-40B4-BE49-F238E27FC236}">
                      <a16:creationId xmlns:a16="http://schemas.microsoft.com/office/drawing/2014/main" id="{81244667-105A-4A8E-A1ED-B8687ADE3F94}"/>
                    </a:ext>
                  </a:extLst>
                </p:cNvPr>
                <p:cNvSpPr/>
                <p:nvPr/>
              </p:nvSpPr>
              <p:spPr>
                <a:xfrm>
                  <a:off x="8863297" y="5339933"/>
                  <a:ext cx="1423703" cy="149100"/>
                </a:xfrm>
                <a:prstGeom prst="rect">
                  <a:avLst/>
                </a:prstGeom>
                <a:noFill/>
                <a:ln w="12700">
                  <a:noFill/>
                  <a:prstDash val="solid"/>
                </a:ln>
              </p:spPr>
              <p:txBody>
                <a:bodyPr rtlCol="0" anchor="ctr"/>
                <a:lstStyle/>
                <a:p>
                  <a:pPr algn="r"/>
                  <a:r>
                    <a:rPr lang="en-US" altLang="ko-KR" sz="1000" dirty="0">
                      <a:latin typeface="페이퍼로지 7 Bold" pitchFamily="2" charset="-127"/>
                      <a:ea typeface="페이퍼로지 7 Bold" pitchFamily="2" charset="-127"/>
                    </a:rPr>
                    <a:t>42.9%</a:t>
                  </a:r>
                  <a:endParaRPr lang="ko-KR" altLang="en-US" sz="1000" dirty="0">
                    <a:latin typeface="페이퍼로지 7 Bold" pitchFamily="2" charset="-127"/>
                    <a:ea typeface="페이퍼로지 7 Bold" pitchFamily="2" charset="-127"/>
                  </a:endParaRPr>
                </a:p>
              </p:txBody>
            </p:sp>
          </p:grpSp>
          <p:grpSp>
            <p:nvGrpSpPr>
              <p:cNvPr id="15" name="Group 14">
                <a:extLst>
                  <a:ext uri="{FF2B5EF4-FFF2-40B4-BE49-F238E27FC236}">
                    <a16:creationId xmlns:a16="http://schemas.microsoft.com/office/drawing/2014/main" id="{AA0F438C-D494-4FDF-997C-8B697CDADD29}"/>
                  </a:ext>
                </a:extLst>
              </p:cNvPr>
              <p:cNvGrpSpPr/>
              <p:nvPr/>
            </p:nvGrpSpPr>
            <p:grpSpPr>
              <a:xfrm>
                <a:off x="7724680" y="5685954"/>
                <a:ext cx="3512771" cy="152226"/>
                <a:chOff x="7724680" y="5685954"/>
                <a:chExt cx="3512771" cy="152226"/>
              </a:xfrm>
            </p:grpSpPr>
            <p:sp>
              <p:nvSpPr>
                <p:cNvPr id="135" name="Rectangle 134">
                  <a:extLst>
                    <a:ext uri="{FF2B5EF4-FFF2-40B4-BE49-F238E27FC236}">
                      <a16:creationId xmlns:a16="http://schemas.microsoft.com/office/drawing/2014/main" id="{153C3079-5F4A-46C5-84EA-640947F7D515}"/>
                    </a:ext>
                  </a:extLst>
                </p:cNvPr>
                <p:cNvSpPr/>
                <p:nvPr/>
              </p:nvSpPr>
              <p:spPr>
                <a:xfrm>
                  <a:off x="7981950" y="5685954"/>
                  <a:ext cx="3255501" cy="152226"/>
                </a:xfrm>
                <a:prstGeom prst="rect">
                  <a:avLst/>
                </a:prstGeom>
                <a:noFill/>
                <a:ln w="12700">
                  <a:noFill/>
                  <a:prstDash val="solid"/>
                </a:ln>
              </p:spPr>
              <p:txBody>
                <a:bodyPr rtlCol="0" anchor="ctr"/>
                <a:lstStyle/>
                <a:p>
                  <a:r>
                    <a:rPr lang="ko-KR" altLang="en-US" sz="1000" dirty="0">
                      <a:latin typeface="페이퍼로지 4 Regular" pitchFamily="2" charset="-127"/>
                      <a:ea typeface="페이퍼로지 4 Regular" pitchFamily="2" charset="-127"/>
                    </a:rPr>
                    <a:t>극단적인 생각을 한다 </a:t>
                  </a:r>
                  <a:r>
                    <a:rPr lang="en-US" altLang="ko-KR" sz="1000" dirty="0">
                      <a:latin typeface="페이퍼로지 7 Bold" pitchFamily="2" charset="-127"/>
                      <a:ea typeface="페이퍼로지 7 Bold" pitchFamily="2" charset="-127"/>
                    </a:rPr>
                    <a:t>6.3%</a:t>
                  </a:r>
                  <a:endParaRPr lang="ko-KR" altLang="en-US" sz="1000" dirty="0">
                    <a:latin typeface="페이퍼로지 7 Bold" pitchFamily="2" charset="-127"/>
                    <a:ea typeface="페이퍼로지 7 Bold" pitchFamily="2" charset="-127"/>
                  </a:endParaRPr>
                </a:p>
              </p:txBody>
            </p:sp>
            <p:sp>
              <p:nvSpPr>
                <p:cNvPr id="141" name="Rectangle 140">
                  <a:extLst>
                    <a:ext uri="{FF2B5EF4-FFF2-40B4-BE49-F238E27FC236}">
                      <a16:creationId xmlns:a16="http://schemas.microsoft.com/office/drawing/2014/main" id="{33FECE70-51A5-47D3-8535-037BD6E0CE0F}"/>
                    </a:ext>
                  </a:extLst>
                </p:cNvPr>
                <p:cNvSpPr/>
                <p:nvPr/>
              </p:nvSpPr>
              <p:spPr>
                <a:xfrm>
                  <a:off x="7724680" y="5685954"/>
                  <a:ext cx="317705" cy="152226"/>
                </a:xfrm>
                <a:prstGeom prst="rect">
                  <a:avLst/>
                </a:prstGeom>
                <a:solidFill>
                  <a:srgbClr val="FF4B16"/>
                </a:solidFill>
                <a:ln w="12700">
                  <a:noFill/>
                  <a:prstDash val="solid"/>
                </a:ln>
              </p:spPr>
              <p:txBody>
                <a:bodyPr rtlCol="0" anchor="ctr"/>
                <a:lstStyle/>
                <a:p>
                  <a:pPr algn="r"/>
                  <a:endParaRPr lang="ko-KR" altLang="en-US" sz="1000" dirty="0">
                    <a:latin typeface="페이퍼로지 7 Bold" pitchFamily="2" charset="-127"/>
                    <a:ea typeface="페이퍼로지 7 Bold" pitchFamily="2" charset="-127"/>
                  </a:endParaRPr>
                </a:p>
              </p:txBody>
            </p:sp>
          </p:grpSp>
          <p:sp>
            <p:nvSpPr>
              <p:cNvPr id="142" name="TextBox 141">
                <a:extLst>
                  <a:ext uri="{FF2B5EF4-FFF2-40B4-BE49-F238E27FC236}">
                    <a16:creationId xmlns:a16="http://schemas.microsoft.com/office/drawing/2014/main" id="{35A2F2F7-75DB-4643-B439-DAF5D708D01D}"/>
                  </a:ext>
                </a:extLst>
              </p:cNvPr>
              <p:cNvSpPr txBox="1"/>
              <p:nvPr/>
            </p:nvSpPr>
            <p:spPr>
              <a:xfrm>
                <a:off x="7642195" y="5885237"/>
                <a:ext cx="3374034" cy="20005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ko-KR" altLang="en-US" sz="700" dirty="0">
                    <a:latin typeface="페이퍼로지 4 Regular" pitchFamily="2" charset="-127"/>
                    <a:ea typeface="페이퍼로지 4 Regular" pitchFamily="2" charset="-127"/>
                  </a:rPr>
                  <a:t>중앙일보</a:t>
                </a:r>
                <a:r>
                  <a:rPr lang="en-US" altLang="ko-KR" sz="700" dirty="0">
                    <a:latin typeface="페이퍼로지 4 Regular" pitchFamily="2" charset="-127"/>
                    <a:ea typeface="페이퍼로지 4 Regular" pitchFamily="2" charset="-127"/>
                  </a:rPr>
                  <a:t>,</a:t>
                </a:r>
                <a:r>
                  <a:rPr lang="ko-KR" altLang="en-US" sz="700" dirty="0">
                    <a:latin typeface="페이퍼로지 4 Regular" pitchFamily="2" charset="-127"/>
                    <a:ea typeface="페이퍼로지 4 Regular" pitchFamily="2" charset="-127"/>
                  </a:rPr>
                  <a:t> 보이스피싱예방협회 </a:t>
                </a:r>
                <a:r>
                  <a:rPr lang="en-US" altLang="ko-KR" sz="700" dirty="0">
                    <a:latin typeface="페이퍼로지 4 Regular" pitchFamily="2" charset="-127"/>
                    <a:ea typeface="페이퍼로지 4 Regular" pitchFamily="2" charset="-127"/>
                  </a:rPr>
                  <a:t>(2021.10.28 ~ 2021.11. 28)</a:t>
                </a:r>
                <a:endParaRPr lang="ko-KR" altLang="en-US" sz="700" dirty="0">
                  <a:latin typeface="페이퍼로지 4 Regular" pitchFamily="2" charset="-127"/>
                  <a:ea typeface="페이퍼로지 4 Regular" pitchFamily="2" charset="-127"/>
                </a:endParaRPr>
              </a:p>
            </p:txBody>
          </p:sp>
          <p:sp>
            <p:nvSpPr>
              <p:cNvPr id="143" name="TextBox 142">
                <a:extLst>
                  <a:ext uri="{FF2B5EF4-FFF2-40B4-BE49-F238E27FC236}">
                    <a16:creationId xmlns:a16="http://schemas.microsoft.com/office/drawing/2014/main" id="{BA86F9F0-D5C2-4671-AF9B-AA1B1AB15CFD}"/>
                  </a:ext>
                </a:extLst>
              </p:cNvPr>
              <p:cNvSpPr txBox="1"/>
              <p:nvPr/>
            </p:nvSpPr>
            <p:spPr>
              <a:xfrm>
                <a:off x="7640448" y="4533932"/>
                <a:ext cx="3593006" cy="24622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ko-KR" altLang="en-US" sz="1000" dirty="0">
                    <a:latin typeface="페이퍼로지 7 Bold" pitchFamily="2" charset="-127"/>
                    <a:ea typeface="페이퍼로지 7 Bold" pitchFamily="2" charset="-127"/>
                  </a:rPr>
                  <a:t>보이스피싱 피해로 인한 정신적 피해 </a:t>
                </a:r>
                <a:r>
                  <a:rPr lang="ko-KR" altLang="en-US" sz="800" dirty="0">
                    <a:latin typeface="페이퍼로지 4 Regular" pitchFamily="2" charset="-127"/>
                    <a:ea typeface="페이퍼로지 4 Regular" pitchFamily="2" charset="-127"/>
                  </a:rPr>
                  <a:t>피해자 </a:t>
                </a:r>
                <a:r>
                  <a:rPr lang="en-US" altLang="ko-KR" sz="800" dirty="0">
                    <a:latin typeface="페이퍼로지 4 Regular" pitchFamily="2" charset="-127"/>
                    <a:ea typeface="페이퍼로지 4 Regular" pitchFamily="2" charset="-127"/>
                  </a:rPr>
                  <a:t>60</a:t>
                </a:r>
                <a:r>
                  <a:rPr lang="ko-KR" altLang="en-US" sz="800" dirty="0">
                    <a:latin typeface="페이퍼로지 4 Regular" pitchFamily="2" charset="-127"/>
                    <a:ea typeface="페이퍼로지 4 Regular" pitchFamily="2" charset="-127"/>
                  </a:rPr>
                  <a:t>명</a:t>
                </a:r>
                <a:r>
                  <a:rPr lang="en-US" altLang="ko-KR" sz="800" dirty="0">
                    <a:latin typeface="페이퍼로지 4 Regular" pitchFamily="2" charset="-127"/>
                    <a:ea typeface="페이퍼로지 4 Regular" pitchFamily="2" charset="-127"/>
                  </a:rPr>
                  <a:t>(</a:t>
                </a:r>
                <a:r>
                  <a:rPr lang="ko-KR" altLang="en-US" sz="800" dirty="0">
                    <a:latin typeface="페이퍼로지 4 Regular" pitchFamily="2" charset="-127"/>
                    <a:ea typeface="페이퍼로지 4 Regular" pitchFamily="2" charset="-127"/>
                  </a:rPr>
                  <a:t>중복응답</a:t>
                </a:r>
                <a:r>
                  <a:rPr lang="en-US" altLang="ko-KR" sz="800" dirty="0">
                    <a:latin typeface="페이퍼로지 4 Regular" pitchFamily="2" charset="-127"/>
                    <a:ea typeface="페이퍼로지 4 Regular" pitchFamily="2" charset="-127"/>
                  </a:rPr>
                  <a:t>, </a:t>
                </a:r>
                <a:r>
                  <a:rPr lang="ko-KR" altLang="en-US" sz="800" dirty="0">
                    <a:latin typeface="페이퍼로지 4 Regular" pitchFamily="2" charset="-127"/>
                    <a:ea typeface="페이퍼로지 4 Regular" pitchFamily="2" charset="-127"/>
                  </a:rPr>
                  <a:t>미응답 </a:t>
                </a:r>
                <a:r>
                  <a:rPr lang="en-US" altLang="ko-KR" sz="800" dirty="0">
                    <a:latin typeface="페이퍼로지 4 Regular" pitchFamily="2" charset="-127"/>
                    <a:ea typeface="페이퍼로지 4 Regular" pitchFamily="2" charset="-127"/>
                  </a:rPr>
                  <a:t>3</a:t>
                </a:r>
                <a:r>
                  <a:rPr lang="ko-KR" altLang="en-US" sz="800" dirty="0">
                    <a:latin typeface="페이퍼로지 4 Regular" pitchFamily="2" charset="-127"/>
                    <a:ea typeface="페이퍼로지 4 Regular" pitchFamily="2" charset="-127"/>
                  </a:rPr>
                  <a:t>명 제외</a:t>
                </a:r>
                <a:r>
                  <a:rPr lang="en-US" altLang="ko-KR" sz="800" dirty="0">
                    <a:latin typeface="페이퍼로지 4 Regular" pitchFamily="2" charset="-127"/>
                    <a:ea typeface="페이퍼로지 4 Regular" pitchFamily="2" charset="-127"/>
                  </a:rPr>
                  <a:t>)</a:t>
                </a:r>
                <a:endParaRPr lang="ko-KR" altLang="en-US" sz="800" dirty="0">
                  <a:latin typeface="페이퍼로지 4 Regular" pitchFamily="2" charset="-127"/>
                  <a:ea typeface="페이퍼로지 4 Regular" pitchFamily="2" charset="-127"/>
                </a:endParaRPr>
              </a:p>
            </p:txBody>
          </p:sp>
        </p:grp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66EEECBB-BB64-41A1-A769-5B4184A6ED6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20681" y="5872878"/>
              <a:ext cx="3512773" cy="1270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C59C38F3-DD12-4712-89C3-9BF15E7AF1AD}"/>
              </a:ext>
            </a:extLst>
          </p:cNvPr>
          <p:cNvGrpSpPr/>
          <p:nvPr/>
        </p:nvGrpSpPr>
        <p:grpSpPr>
          <a:xfrm>
            <a:off x="1919951" y="1775283"/>
            <a:ext cx="3792913" cy="2514600"/>
            <a:chOff x="1919951" y="1775283"/>
            <a:chExt cx="3792913" cy="2514600"/>
          </a:xfrm>
        </p:grpSpPr>
        <p:sp>
          <p:nvSpPr>
            <p:cNvPr id="61" name="Shape 8">
              <a:extLst>
                <a:ext uri="{FF2B5EF4-FFF2-40B4-BE49-F238E27FC236}">
                  <a16:creationId xmlns:a16="http://schemas.microsoft.com/office/drawing/2014/main" id="{FDEF35F2-D1F4-4887-A609-BA9297CA0228}"/>
                </a:ext>
              </a:extLst>
            </p:cNvPr>
            <p:cNvSpPr/>
            <p:nvPr/>
          </p:nvSpPr>
          <p:spPr>
            <a:xfrm>
              <a:off x="1919951" y="1775283"/>
              <a:ext cx="3792913" cy="2514600"/>
            </a:xfrm>
            <a:prstGeom prst="roundRect">
              <a:avLst>
                <a:gd name="adj" fmla="val 5818"/>
              </a:avLst>
            </a:prstGeom>
            <a:solidFill>
              <a:srgbClr val="FFFFFF"/>
            </a:solidFill>
            <a:ln w="10160">
              <a:solidFill>
                <a:srgbClr val="DCE8FA"/>
              </a:solidFill>
              <a:prstDash val="solid"/>
            </a:ln>
          </p:spPr>
        </p:sp>
        <p:sp>
          <p:nvSpPr>
            <p:cNvPr id="106" name="TextBox 105">
              <a:extLst>
                <a:ext uri="{FF2B5EF4-FFF2-40B4-BE49-F238E27FC236}">
                  <a16:creationId xmlns:a16="http://schemas.microsoft.com/office/drawing/2014/main" id="{7A855B79-622D-459E-A7F5-4F42EB704F63}"/>
                </a:ext>
              </a:extLst>
            </p:cNvPr>
            <p:cNvSpPr txBox="1"/>
            <p:nvPr/>
          </p:nvSpPr>
          <p:spPr>
            <a:xfrm>
              <a:off x="2073268" y="1868848"/>
              <a:ext cx="3486278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1000" b="1" dirty="0">
                  <a:solidFill>
                    <a:srgbClr val="10213D"/>
                  </a:solidFill>
                  <a:latin typeface="페이퍼로지 7 Bold" pitchFamily="2" charset="-127"/>
                  <a:ea typeface="페이퍼로지 7 Bold" pitchFamily="2" charset="-127"/>
                  <a:cs typeface="NanumSquare Bold" pitchFamily="34" charset="-120"/>
                </a:rPr>
                <a:t>최근 </a:t>
              </a:r>
              <a:r>
                <a:rPr lang="en-US" altLang="ko-KR" sz="1000" b="1" dirty="0">
                  <a:solidFill>
                    <a:srgbClr val="10213D"/>
                  </a:solidFill>
                  <a:latin typeface="페이퍼로지 7 Bold" pitchFamily="2" charset="-127"/>
                  <a:ea typeface="페이퍼로지 7 Bold" pitchFamily="2" charset="-127"/>
                  <a:cs typeface="NanumSquare Bold" pitchFamily="34" charset="-120"/>
                </a:rPr>
                <a:t>3</a:t>
              </a:r>
              <a:r>
                <a:rPr lang="ko-KR" altLang="en-US" sz="1000" b="1" dirty="0">
                  <a:solidFill>
                    <a:srgbClr val="10213D"/>
                  </a:solidFill>
                  <a:latin typeface="페이퍼로지 7 Bold" pitchFamily="2" charset="-127"/>
                  <a:ea typeface="페이퍼로지 7 Bold" pitchFamily="2" charset="-127"/>
                  <a:cs typeface="NanumSquare Bold" pitchFamily="34" charset="-120"/>
                </a:rPr>
                <a:t>년 동안 보이스피싱 피해 수</a:t>
              </a:r>
              <a:r>
                <a:rPr lang="en-US" altLang="ko-KR" sz="1000" b="1" dirty="0">
                  <a:solidFill>
                    <a:srgbClr val="10213D"/>
                  </a:solidFill>
                  <a:latin typeface="페이퍼로지 7 Bold" pitchFamily="2" charset="-127"/>
                  <a:ea typeface="페이퍼로지 7 Bold" pitchFamily="2" charset="-127"/>
                  <a:cs typeface="NanumSquare Bold" pitchFamily="34" charset="-120"/>
                </a:rPr>
                <a:t>, </a:t>
              </a:r>
              <a:r>
                <a:rPr lang="ko-KR" altLang="en-US" sz="1000" b="1" dirty="0">
                  <a:solidFill>
                    <a:srgbClr val="10213D"/>
                  </a:solidFill>
                  <a:latin typeface="페이퍼로지 7 Bold" pitchFamily="2" charset="-127"/>
                  <a:ea typeface="페이퍼로지 7 Bold" pitchFamily="2" charset="-127"/>
                  <a:cs typeface="NanumSquare Bold" pitchFamily="34" charset="-120"/>
                </a:rPr>
                <a:t>피해액</a:t>
              </a:r>
              <a:endParaRPr lang="ko-KR" altLang="en-US" sz="1000" dirty="0"/>
            </a:p>
          </p:txBody>
        </p:sp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8FFC5723-4DEE-4D04-A123-AE63B579566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t="8179"/>
            <a:stretch/>
          </p:blipFill>
          <p:spPr>
            <a:xfrm>
              <a:off x="1966999" y="2186073"/>
              <a:ext cx="3698816" cy="2024053"/>
            </a:xfrm>
            <a:prstGeom prst="rect">
              <a:avLst/>
            </a:prstGeom>
          </p:spPr>
        </p:pic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5F7FA650-E59B-4D90-AE83-565419B0F87C}"/>
                </a:ext>
              </a:extLst>
            </p:cNvPr>
            <p:cNvSpPr/>
            <p:nvPr/>
          </p:nvSpPr>
          <p:spPr>
            <a:xfrm>
              <a:off x="4672042" y="2496299"/>
              <a:ext cx="419100" cy="196850"/>
            </a:xfrm>
            <a:custGeom>
              <a:avLst/>
              <a:gdLst>
                <a:gd name="connsiteX0" fmla="*/ 50800 w 419100"/>
                <a:gd name="connsiteY0" fmla="*/ 31750 h 196850"/>
                <a:gd name="connsiteX1" fmla="*/ 133350 w 419100"/>
                <a:gd name="connsiteY1" fmla="*/ 0 h 196850"/>
                <a:gd name="connsiteX2" fmla="*/ 406400 w 419100"/>
                <a:gd name="connsiteY2" fmla="*/ 0 h 196850"/>
                <a:gd name="connsiteX3" fmla="*/ 419100 w 419100"/>
                <a:gd name="connsiteY3" fmla="*/ 196850 h 196850"/>
                <a:gd name="connsiteX4" fmla="*/ 0 w 419100"/>
                <a:gd name="connsiteY4" fmla="*/ 152400 h 196850"/>
                <a:gd name="connsiteX5" fmla="*/ 50800 w 419100"/>
                <a:gd name="connsiteY5" fmla="*/ 31750 h 1968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19100" h="196850">
                  <a:moveTo>
                    <a:pt x="50800" y="31750"/>
                  </a:moveTo>
                  <a:lnTo>
                    <a:pt x="133350" y="0"/>
                  </a:lnTo>
                  <a:lnTo>
                    <a:pt x="406400" y="0"/>
                  </a:lnTo>
                  <a:lnTo>
                    <a:pt x="419100" y="196850"/>
                  </a:lnTo>
                  <a:lnTo>
                    <a:pt x="0" y="152400"/>
                  </a:lnTo>
                  <a:lnTo>
                    <a:pt x="50800" y="31750"/>
                  </a:lnTo>
                  <a:close/>
                </a:path>
              </a:pathLst>
            </a:custGeom>
            <a:solidFill>
              <a:srgbClr val="E66867"/>
            </a:solidFill>
            <a:ln w="12700">
              <a:noFill/>
              <a:prstDash val="solid"/>
            </a:ln>
          </p:spPr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7" name="Freeform: Shape 106">
              <a:extLst>
                <a:ext uri="{FF2B5EF4-FFF2-40B4-BE49-F238E27FC236}">
                  <a16:creationId xmlns:a16="http://schemas.microsoft.com/office/drawing/2014/main" id="{2728A668-21CC-46BF-889F-22359C7120BA}"/>
                </a:ext>
              </a:extLst>
            </p:cNvPr>
            <p:cNvSpPr/>
            <p:nvPr/>
          </p:nvSpPr>
          <p:spPr>
            <a:xfrm>
              <a:off x="3606857" y="2982567"/>
              <a:ext cx="419100" cy="196850"/>
            </a:xfrm>
            <a:custGeom>
              <a:avLst/>
              <a:gdLst>
                <a:gd name="connsiteX0" fmla="*/ 50800 w 419100"/>
                <a:gd name="connsiteY0" fmla="*/ 31750 h 196850"/>
                <a:gd name="connsiteX1" fmla="*/ 133350 w 419100"/>
                <a:gd name="connsiteY1" fmla="*/ 0 h 196850"/>
                <a:gd name="connsiteX2" fmla="*/ 406400 w 419100"/>
                <a:gd name="connsiteY2" fmla="*/ 0 h 196850"/>
                <a:gd name="connsiteX3" fmla="*/ 419100 w 419100"/>
                <a:gd name="connsiteY3" fmla="*/ 196850 h 196850"/>
                <a:gd name="connsiteX4" fmla="*/ 0 w 419100"/>
                <a:gd name="connsiteY4" fmla="*/ 152400 h 196850"/>
                <a:gd name="connsiteX5" fmla="*/ 50800 w 419100"/>
                <a:gd name="connsiteY5" fmla="*/ 31750 h 1968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19100" h="196850">
                  <a:moveTo>
                    <a:pt x="50800" y="31750"/>
                  </a:moveTo>
                  <a:lnTo>
                    <a:pt x="133350" y="0"/>
                  </a:lnTo>
                  <a:lnTo>
                    <a:pt x="406400" y="0"/>
                  </a:lnTo>
                  <a:lnTo>
                    <a:pt x="419100" y="196850"/>
                  </a:lnTo>
                  <a:lnTo>
                    <a:pt x="0" y="152400"/>
                  </a:lnTo>
                  <a:lnTo>
                    <a:pt x="50800" y="31750"/>
                  </a:lnTo>
                  <a:close/>
                </a:path>
              </a:pathLst>
            </a:custGeom>
            <a:solidFill>
              <a:srgbClr val="5E85B0"/>
            </a:solidFill>
            <a:ln w="12700">
              <a:noFill/>
              <a:prstDash val="solid"/>
            </a:ln>
          </p:spPr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8" name="Freeform: Shape 107">
              <a:extLst>
                <a:ext uri="{FF2B5EF4-FFF2-40B4-BE49-F238E27FC236}">
                  <a16:creationId xmlns:a16="http://schemas.microsoft.com/office/drawing/2014/main" id="{5EC85894-88E6-4F07-8E66-A466C89171BD}"/>
                </a:ext>
              </a:extLst>
            </p:cNvPr>
            <p:cNvSpPr/>
            <p:nvPr/>
          </p:nvSpPr>
          <p:spPr>
            <a:xfrm>
              <a:off x="2475450" y="3512791"/>
              <a:ext cx="419100" cy="196850"/>
            </a:xfrm>
            <a:custGeom>
              <a:avLst/>
              <a:gdLst>
                <a:gd name="connsiteX0" fmla="*/ 50800 w 419100"/>
                <a:gd name="connsiteY0" fmla="*/ 31750 h 196850"/>
                <a:gd name="connsiteX1" fmla="*/ 133350 w 419100"/>
                <a:gd name="connsiteY1" fmla="*/ 0 h 196850"/>
                <a:gd name="connsiteX2" fmla="*/ 406400 w 419100"/>
                <a:gd name="connsiteY2" fmla="*/ 0 h 196850"/>
                <a:gd name="connsiteX3" fmla="*/ 419100 w 419100"/>
                <a:gd name="connsiteY3" fmla="*/ 196850 h 196850"/>
                <a:gd name="connsiteX4" fmla="*/ 0 w 419100"/>
                <a:gd name="connsiteY4" fmla="*/ 152400 h 196850"/>
                <a:gd name="connsiteX5" fmla="*/ 50800 w 419100"/>
                <a:gd name="connsiteY5" fmla="*/ 31750 h 1968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19100" h="196850">
                  <a:moveTo>
                    <a:pt x="50800" y="31750"/>
                  </a:moveTo>
                  <a:lnTo>
                    <a:pt x="133350" y="0"/>
                  </a:lnTo>
                  <a:lnTo>
                    <a:pt x="406400" y="0"/>
                  </a:lnTo>
                  <a:lnTo>
                    <a:pt x="419100" y="196850"/>
                  </a:lnTo>
                  <a:lnTo>
                    <a:pt x="0" y="152400"/>
                  </a:lnTo>
                  <a:lnTo>
                    <a:pt x="50800" y="31750"/>
                  </a:lnTo>
                  <a:close/>
                </a:path>
              </a:pathLst>
            </a:custGeom>
            <a:solidFill>
              <a:srgbClr val="5E85B0"/>
            </a:solidFill>
            <a:ln w="12700">
              <a:noFill/>
              <a:prstDash val="solid"/>
            </a:ln>
          </p:spPr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8489E0E6-8AB9-4BC7-B11E-6A1D96655615}"/>
                </a:ext>
              </a:extLst>
            </p:cNvPr>
            <p:cNvSpPr txBox="1"/>
            <p:nvPr/>
          </p:nvSpPr>
          <p:spPr>
            <a:xfrm>
              <a:off x="4555960" y="2511342"/>
              <a:ext cx="663964" cy="18466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600" dirty="0">
                  <a:solidFill>
                    <a:schemeClr val="bg1"/>
                  </a:solidFill>
                  <a:latin typeface="페이퍼로지 7 Bold" pitchFamily="2" charset="-127"/>
                  <a:ea typeface="페이퍼로지 7 Bold" pitchFamily="2" charset="-127"/>
                </a:rPr>
                <a:t>1</a:t>
              </a:r>
              <a:r>
                <a:rPr lang="ko-KR" altLang="en-US" sz="600" dirty="0">
                  <a:solidFill>
                    <a:schemeClr val="bg1"/>
                  </a:solidFill>
                  <a:latin typeface="페이퍼로지 7 Bold" pitchFamily="2" charset="-127"/>
                  <a:ea typeface="페이퍼로지 7 Bold" pitchFamily="2" charset="-127"/>
                </a:rPr>
                <a:t>조</a:t>
              </a:r>
              <a:r>
                <a:rPr lang="en-US" altLang="ko-KR" sz="600" dirty="0">
                  <a:solidFill>
                    <a:schemeClr val="bg1"/>
                  </a:solidFill>
                  <a:latin typeface="페이퍼로지 7 Bold" pitchFamily="2" charset="-127"/>
                  <a:ea typeface="페이퍼로지 7 Bold" pitchFamily="2" charset="-127"/>
                </a:rPr>
                <a:t>2,578</a:t>
              </a:r>
              <a:r>
                <a:rPr lang="ko-KR" altLang="en-US" sz="600" dirty="0">
                  <a:solidFill>
                    <a:schemeClr val="bg1"/>
                  </a:solidFill>
                  <a:latin typeface="페이퍼로지 7 Bold" pitchFamily="2" charset="-127"/>
                  <a:ea typeface="페이퍼로지 7 Bold" pitchFamily="2" charset="-127"/>
                </a:rPr>
                <a:t>억원</a:t>
              </a:r>
            </a:p>
          </p:txBody>
        </p:sp>
        <p:sp>
          <p:nvSpPr>
            <p:cNvPr id="109" name="TextBox 108">
              <a:extLst>
                <a:ext uri="{FF2B5EF4-FFF2-40B4-BE49-F238E27FC236}">
                  <a16:creationId xmlns:a16="http://schemas.microsoft.com/office/drawing/2014/main" id="{3C943AF0-406E-4014-976C-76FA4313DF4F}"/>
                </a:ext>
              </a:extLst>
            </p:cNvPr>
            <p:cNvSpPr txBox="1"/>
            <p:nvPr/>
          </p:nvSpPr>
          <p:spPr>
            <a:xfrm>
              <a:off x="3543736" y="2982567"/>
              <a:ext cx="545342" cy="18466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600" dirty="0">
                  <a:solidFill>
                    <a:schemeClr val="bg1"/>
                  </a:solidFill>
                  <a:latin typeface="페이퍼로지 7 Bold" pitchFamily="2" charset="-127"/>
                  <a:ea typeface="페이퍼로지 7 Bold" pitchFamily="2" charset="-127"/>
                </a:rPr>
                <a:t>8,545</a:t>
              </a:r>
              <a:r>
                <a:rPr lang="ko-KR" altLang="en-US" sz="600" dirty="0">
                  <a:solidFill>
                    <a:schemeClr val="bg1"/>
                  </a:solidFill>
                  <a:latin typeface="페이퍼로지 7 Bold" pitchFamily="2" charset="-127"/>
                  <a:ea typeface="페이퍼로지 7 Bold" pitchFamily="2" charset="-127"/>
                </a:rPr>
                <a:t>억원</a:t>
              </a:r>
            </a:p>
          </p:txBody>
        </p:sp>
        <p:sp>
          <p:nvSpPr>
            <p:cNvPr id="110" name="TextBox 109">
              <a:extLst>
                <a:ext uri="{FF2B5EF4-FFF2-40B4-BE49-F238E27FC236}">
                  <a16:creationId xmlns:a16="http://schemas.microsoft.com/office/drawing/2014/main" id="{68EFCB8E-12A4-419B-948F-489429AF1ED8}"/>
                </a:ext>
              </a:extLst>
            </p:cNvPr>
            <p:cNvSpPr txBox="1"/>
            <p:nvPr/>
          </p:nvSpPr>
          <p:spPr>
            <a:xfrm>
              <a:off x="2475450" y="3475650"/>
              <a:ext cx="545342" cy="18466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600" dirty="0">
                  <a:solidFill>
                    <a:schemeClr val="bg1"/>
                  </a:solidFill>
                  <a:latin typeface="페이퍼로지 7 Bold" pitchFamily="2" charset="-127"/>
                  <a:ea typeface="페이퍼로지 7 Bold" pitchFamily="2" charset="-127"/>
                </a:rPr>
                <a:t>4,472</a:t>
              </a:r>
              <a:r>
                <a:rPr lang="ko-KR" altLang="en-US" sz="600" dirty="0">
                  <a:solidFill>
                    <a:schemeClr val="bg1"/>
                  </a:solidFill>
                  <a:latin typeface="페이퍼로지 7 Bold" pitchFamily="2" charset="-127"/>
                  <a:ea typeface="페이퍼로지 7 Bold" pitchFamily="2" charset="-127"/>
                </a:rPr>
                <a:t>억원</a:t>
              </a:r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434D1721-0F44-4001-ADBD-3E9A3C2A3D87}"/>
                </a:ext>
              </a:extLst>
            </p:cNvPr>
            <p:cNvSpPr/>
            <p:nvPr/>
          </p:nvSpPr>
          <p:spPr>
            <a:xfrm>
              <a:off x="2620992" y="4048125"/>
              <a:ext cx="2403475" cy="130583"/>
            </a:xfrm>
            <a:prstGeom prst="rect">
              <a:avLst/>
            </a:prstGeom>
            <a:solidFill>
              <a:schemeClr val="bg1"/>
            </a:solidFill>
            <a:ln w="12700">
              <a:noFill/>
              <a:prstDash val="solid"/>
            </a:ln>
          </p:spPr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4" name="TextBox 113">
              <a:extLst>
                <a:ext uri="{FF2B5EF4-FFF2-40B4-BE49-F238E27FC236}">
                  <a16:creationId xmlns:a16="http://schemas.microsoft.com/office/drawing/2014/main" id="{2D2BF741-D119-4911-90BB-F040E7318E90}"/>
                </a:ext>
              </a:extLst>
            </p:cNvPr>
            <p:cNvSpPr txBox="1"/>
            <p:nvPr/>
          </p:nvSpPr>
          <p:spPr>
            <a:xfrm>
              <a:off x="2553196" y="4021083"/>
              <a:ext cx="389850" cy="18466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600" dirty="0">
                  <a:latin typeface="페이퍼로지 7 Bold" pitchFamily="2" charset="-127"/>
                  <a:ea typeface="페이퍼로지 7 Bold" pitchFamily="2" charset="-127"/>
                </a:rPr>
                <a:t>2023</a:t>
              </a:r>
              <a:endParaRPr lang="ko-KR" altLang="en-US" sz="600" dirty="0">
                <a:latin typeface="페이퍼로지 7 Bold" pitchFamily="2" charset="-127"/>
                <a:ea typeface="페이퍼로지 7 Bold" pitchFamily="2" charset="-127"/>
              </a:endParaRPr>
            </a:p>
          </p:txBody>
        </p:sp>
        <p:sp>
          <p:nvSpPr>
            <p:cNvPr id="115" name="TextBox 114">
              <a:extLst>
                <a:ext uri="{FF2B5EF4-FFF2-40B4-BE49-F238E27FC236}">
                  <a16:creationId xmlns:a16="http://schemas.microsoft.com/office/drawing/2014/main" id="{A4CE8A04-3A89-45D7-BEE1-2EC5B28651D0}"/>
                </a:ext>
              </a:extLst>
            </p:cNvPr>
            <p:cNvSpPr txBox="1"/>
            <p:nvPr/>
          </p:nvSpPr>
          <p:spPr>
            <a:xfrm>
              <a:off x="3640520" y="4021083"/>
              <a:ext cx="389850" cy="18466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600" dirty="0">
                  <a:latin typeface="페이퍼로지 7 Bold" pitchFamily="2" charset="-127"/>
                  <a:ea typeface="페이퍼로지 7 Bold" pitchFamily="2" charset="-127"/>
                </a:rPr>
                <a:t>2024</a:t>
              </a:r>
              <a:endParaRPr lang="ko-KR" altLang="en-US" sz="600" dirty="0">
                <a:latin typeface="페이퍼로지 7 Bold" pitchFamily="2" charset="-127"/>
                <a:ea typeface="페이퍼로지 7 Bold" pitchFamily="2" charset="-127"/>
              </a:endParaRPr>
            </a:p>
          </p:txBody>
        </p:sp>
        <p:sp>
          <p:nvSpPr>
            <p:cNvPr id="116" name="TextBox 115">
              <a:extLst>
                <a:ext uri="{FF2B5EF4-FFF2-40B4-BE49-F238E27FC236}">
                  <a16:creationId xmlns:a16="http://schemas.microsoft.com/office/drawing/2014/main" id="{4A21AB6A-B73B-49BF-8F2B-43C4CF722297}"/>
                </a:ext>
              </a:extLst>
            </p:cNvPr>
            <p:cNvSpPr txBox="1"/>
            <p:nvPr/>
          </p:nvSpPr>
          <p:spPr>
            <a:xfrm>
              <a:off x="4703960" y="4021083"/>
              <a:ext cx="389850" cy="18466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600" dirty="0">
                  <a:latin typeface="페이퍼로지 7 Bold" pitchFamily="2" charset="-127"/>
                  <a:ea typeface="페이퍼로지 7 Bold" pitchFamily="2" charset="-127"/>
                </a:rPr>
                <a:t>2025</a:t>
              </a:r>
              <a:endParaRPr lang="ko-KR" altLang="en-US" sz="600" dirty="0">
                <a:latin typeface="페이퍼로지 7 Bold" pitchFamily="2" charset="-127"/>
                <a:ea typeface="페이퍼로지 7 Bold" pitchFamily="2" charset="-127"/>
              </a:endParaRPr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34EC5B3E-8FE6-4BD4-9B6D-8500FBAA2732}"/>
                </a:ext>
              </a:extLst>
            </p:cNvPr>
            <p:cNvSpPr/>
            <p:nvPr/>
          </p:nvSpPr>
          <p:spPr>
            <a:xfrm>
              <a:off x="4753258" y="2331276"/>
              <a:ext cx="288131" cy="100309"/>
            </a:xfrm>
            <a:prstGeom prst="rect">
              <a:avLst/>
            </a:prstGeom>
            <a:solidFill>
              <a:schemeClr val="bg1"/>
            </a:solidFill>
            <a:ln w="12700">
              <a:noFill/>
              <a:prstDash val="solid"/>
            </a:ln>
          </p:spPr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4" name="Rectangle 123">
              <a:extLst>
                <a:ext uri="{FF2B5EF4-FFF2-40B4-BE49-F238E27FC236}">
                  <a16:creationId xmlns:a16="http://schemas.microsoft.com/office/drawing/2014/main" id="{B7AD2F61-975F-41C4-9789-1180181056D9}"/>
                </a:ext>
              </a:extLst>
            </p:cNvPr>
            <p:cNvSpPr/>
            <p:nvPr/>
          </p:nvSpPr>
          <p:spPr>
            <a:xfrm>
              <a:off x="3700745" y="2476135"/>
              <a:ext cx="234416" cy="119533"/>
            </a:xfrm>
            <a:prstGeom prst="rect">
              <a:avLst/>
            </a:prstGeom>
            <a:solidFill>
              <a:schemeClr val="bg1"/>
            </a:solidFill>
            <a:ln w="12700">
              <a:noFill/>
              <a:prstDash val="solid"/>
            </a:ln>
          </p:spPr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5" name="TextBox 124">
              <a:extLst>
                <a:ext uri="{FF2B5EF4-FFF2-40B4-BE49-F238E27FC236}">
                  <a16:creationId xmlns:a16="http://schemas.microsoft.com/office/drawing/2014/main" id="{A122DE53-CFC1-469F-AFC5-1680C72FDA61}"/>
                </a:ext>
              </a:extLst>
            </p:cNvPr>
            <p:cNvSpPr txBox="1"/>
            <p:nvPr/>
          </p:nvSpPr>
          <p:spPr>
            <a:xfrm>
              <a:off x="4632667" y="2285959"/>
              <a:ext cx="529312" cy="18466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600" dirty="0">
                  <a:latin typeface="페이퍼로지 7 Bold" pitchFamily="2" charset="-127"/>
                  <a:ea typeface="페이퍼로지 7 Bold" pitchFamily="2" charset="-127"/>
                </a:rPr>
                <a:t>23,260</a:t>
              </a:r>
              <a:r>
                <a:rPr lang="ko-KR" altLang="en-US" sz="600" dirty="0">
                  <a:latin typeface="페이퍼로지 7 Bold" pitchFamily="2" charset="-127"/>
                  <a:ea typeface="페이퍼로지 7 Bold" pitchFamily="2" charset="-127"/>
                </a:rPr>
                <a:t>건</a:t>
              </a:r>
            </a:p>
          </p:txBody>
        </p:sp>
        <p:sp>
          <p:nvSpPr>
            <p:cNvPr id="126" name="TextBox 125">
              <a:extLst>
                <a:ext uri="{FF2B5EF4-FFF2-40B4-BE49-F238E27FC236}">
                  <a16:creationId xmlns:a16="http://schemas.microsoft.com/office/drawing/2014/main" id="{C287651B-CC2C-4231-A006-2DB4404D736B}"/>
                </a:ext>
              </a:extLst>
            </p:cNvPr>
            <p:cNvSpPr txBox="1"/>
            <p:nvPr/>
          </p:nvSpPr>
          <p:spPr>
            <a:xfrm>
              <a:off x="3572429" y="2441886"/>
              <a:ext cx="529312" cy="18466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600" dirty="0">
                  <a:latin typeface="페이퍼로지 7 Bold" pitchFamily="2" charset="-127"/>
                  <a:ea typeface="페이퍼로지 7 Bold" pitchFamily="2" charset="-127"/>
                </a:rPr>
                <a:t>20,839</a:t>
              </a:r>
              <a:r>
                <a:rPr lang="ko-KR" altLang="en-US" sz="600" dirty="0">
                  <a:latin typeface="페이퍼로지 7 Bold" pitchFamily="2" charset="-127"/>
                  <a:ea typeface="페이퍼로지 7 Bold" pitchFamily="2" charset="-127"/>
                </a:rPr>
                <a:t>건</a:t>
              </a:r>
            </a:p>
          </p:txBody>
        </p:sp>
        <p:sp>
          <p:nvSpPr>
            <p:cNvPr id="128" name="Rectangle 127">
              <a:extLst>
                <a:ext uri="{FF2B5EF4-FFF2-40B4-BE49-F238E27FC236}">
                  <a16:creationId xmlns:a16="http://schemas.microsoft.com/office/drawing/2014/main" id="{B3DC7ABC-F765-4827-842F-F76605CAF12C}"/>
                </a:ext>
              </a:extLst>
            </p:cNvPr>
            <p:cNvSpPr/>
            <p:nvPr/>
          </p:nvSpPr>
          <p:spPr>
            <a:xfrm>
              <a:off x="2623249" y="2643173"/>
              <a:ext cx="234416" cy="71084"/>
            </a:xfrm>
            <a:prstGeom prst="rect">
              <a:avLst/>
            </a:prstGeom>
            <a:solidFill>
              <a:schemeClr val="bg1"/>
            </a:solidFill>
            <a:ln w="12700">
              <a:noFill/>
              <a:prstDash val="solid"/>
            </a:ln>
          </p:spPr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7" name="TextBox 126">
              <a:extLst>
                <a:ext uri="{FF2B5EF4-FFF2-40B4-BE49-F238E27FC236}">
                  <a16:creationId xmlns:a16="http://schemas.microsoft.com/office/drawing/2014/main" id="{03BFCFC4-3A47-47CD-A7EA-EB271A31B9F0}"/>
                </a:ext>
              </a:extLst>
            </p:cNvPr>
            <p:cNvSpPr txBox="1"/>
            <p:nvPr/>
          </p:nvSpPr>
          <p:spPr>
            <a:xfrm>
              <a:off x="2483465" y="2576551"/>
              <a:ext cx="529312" cy="18466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600" dirty="0">
                  <a:latin typeface="페이퍼로지 7 Bold" pitchFamily="2" charset="-127"/>
                  <a:ea typeface="페이퍼로지 7 Bold" pitchFamily="2" charset="-127"/>
                </a:rPr>
                <a:t>18,902</a:t>
              </a:r>
              <a:r>
                <a:rPr lang="ko-KR" altLang="en-US" sz="600" dirty="0">
                  <a:latin typeface="페이퍼로지 7 Bold" pitchFamily="2" charset="-127"/>
                  <a:ea typeface="페이퍼로지 7 Bold" pitchFamily="2" charset="-127"/>
                </a:rPr>
                <a:t>건</a:t>
              </a:r>
            </a:p>
          </p:txBody>
        </p: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39CB2445-6554-4212-901E-9C6B7D7612C4}"/>
              </a:ext>
            </a:extLst>
          </p:cNvPr>
          <p:cNvGrpSpPr/>
          <p:nvPr/>
        </p:nvGrpSpPr>
        <p:grpSpPr>
          <a:xfrm>
            <a:off x="5826188" y="1775283"/>
            <a:ext cx="4445862" cy="2514600"/>
            <a:chOff x="4630032" y="1775283"/>
            <a:chExt cx="4445862" cy="2514600"/>
          </a:xfrm>
        </p:grpSpPr>
        <p:sp>
          <p:nvSpPr>
            <p:cNvPr id="119" name="Shape 8">
              <a:extLst>
                <a:ext uri="{FF2B5EF4-FFF2-40B4-BE49-F238E27FC236}">
                  <a16:creationId xmlns:a16="http://schemas.microsoft.com/office/drawing/2014/main" id="{DFF93096-BD0A-4BBF-8479-B0600EFEC37F}"/>
                </a:ext>
              </a:extLst>
            </p:cNvPr>
            <p:cNvSpPr/>
            <p:nvPr/>
          </p:nvSpPr>
          <p:spPr>
            <a:xfrm>
              <a:off x="4630032" y="1775283"/>
              <a:ext cx="4445862" cy="2514600"/>
            </a:xfrm>
            <a:prstGeom prst="roundRect">
              <a:avLst>
                <a:gd name="adj" fmla="val 5818"/>
              </a:avLst>
            </a:prstGeom>
            <a:solidFill>
              <a:srgbClr val="FFFFFF"/>
            </a:solidFill>
            <a:ln w="10160">
              <a:solidFill>
                <a:srgbClr val="DCE8FA"/>
              </a:solidFill>
              <a:prstDash val="solid"/>
            </a:ln>
          </p:spPr>
        </p:sp>
        <p:graphicFrame>
          <p:nvGraphicFramePr>
            <p:cNvPr id="40" name="Chart 39">
              <a:extLst>
                <a:ext uri="{FF2B5EF4-FFF2-40B4-BE49-F238E27FC236}">
                  <a16:creationId xmlns:a16="http://schemas.microsoft.com/office/drawing/2014/main" id="{46FDFEB3-28D8-47BD-9371-4A09F7B17AFE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518509086"/>
                </p:ext>
              </p:extLst>
            </p:nvPr>
          </p:nvGraphicFramePr>
          <p:xfrm>
            <a:off x="4748159" y="2132738"/>
            <a:ext cx="4258123" cy="2093358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4"/>
            </a:graphicData>
          </a:graphic>
        </p:graphicFrame>
      </p:grpSp>
      <p:sp>
        <p:nvSpPr>
          <p:cNvPr id="145" name="TextBox 144">
            <a:extLst>
              <a:ext uri="{FF2B5EF4-FFF2-40B4-BE49-F238E27FC236}">
                <a16:creationId xmlns:a16="http://schemas.microsoft.com/office/drawing/2014/main" id="{892428CB-C9D5-47A0-80BE-D571E28C0841}"/>
              </a:ext>
            </a:extLst>
          </p:cNvPr>
          <p:cNvSpPr txBox="1"/>
          <p:nvPr/>
        </p:nvSpPr>
        <p:spPr>
          <a:xfrm>
            <a:off x="6305980" y="1868848"/>
            <a:ext cx="348627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000" b="1" dirty="0">
                <a:solidFill>
                  <a:srgbClr val="10213D"/>
                </a:solidFill>
                <a:latin typeface="페이퍼로지 7 Bold" pitchFamily="2" charset="-127"/>
                <a:ea typeface="페이퍼로지 7 Bold" pitchFamily="2" charset="-127"/>
                <a:cs typeface="NanumSquare Bold" pitchFamily="34" charset="-120"/>
              </a:rPr>
              <a:t>년도별 </a:t>
            </a:r>
            <a:r>
              <a:rPr lang="en-US" altLang="ko-KR" sz="1000" b="1" dirty="0">
                <a:solidFill>
                  <a:srgbClr val="10213D"/>
                </a:solidFill>
                <a:latin typeface="페이퍼로지 7 Bold" pitchFamily="2" charset="-127"/>
                <a:ea typeface="페이퍼로지 7 Bold" pitchFamily="2" charset="-127"/>
                <a:cs typeface="NanumSquare Bold" pitchFamily="34" charset="-120"/>
              </a:rPr>
              <a:t>1</a:t>
            </a:r>
            <a:r>
              <a:rPr lang="ko-KR" altLang="en-US" sz="1000" b="1" dirty="0">
                <a:solidFill>
                  <a:srgbClr val="10213D"/>
                </a:solidFill>
                <a:latin typeface="페이퍼로지 7 Bold" pitchFamily="2" charset="-127"/>
                <a:ea typeface="페이퍼로지 7 Bold" pitchFamily="2" charset="-127"/>
                <a:cs typeface="NanumSquare Bold" pitchFamily="34" charset="-120"/>
              </a:rPr>
              <a:t>개 사건 평균 피해액 추이</a:t>
            </a:r>
            <a:endParaRPr lang="ko-KR" altLang="en-US" sz="1000" dirty="0"/>
          </a:p>
        </p:txBody>
      </p:sp>
    </p:spTree>
    <p:extLst>
      <p:ext uri="{BB962C8B-B14F-4D97-AF65-F5344CB8AC3E}">
        <p14:creationId xmlns:p14="http://schemas.microsoft.com/office/powerpoint/2010/main" val="31909148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1"/>
        </a:solidFill>
        <a:ln w="12700">
          <a:solidFill>
            <a:srgbClr val="0E2746"/>
          </a:solidFill>
          <a:prstDash val="solid"/>
        </a:ln>
      </a:spPr>
      <a:bodyPr/>
      <a:lstStyle/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1280</TotalTime>
  <Words>2845</Words>
  <Application>Microsoft Office PowerPoint</Application>
  <PresentationFormat>Widescreen</PresentationFormat>
  <Paragraphs>574</Paragraphs>
  <Slides>27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7" baseType="lpstr">
      <vt:lpstr>Arial Unicode MS</vt:lpstr>
      <vt:lpstr>NanumSquare</vt:lpstr>
      <vt:lpstr>NanumSquare Bold</vt:lpstr>
      <vt:lpstr>Noto Sans KR</vt:lpstr>
      <vt:lpstr>맑은 고딕</vt:lpstr>
      <vt:lpstr>페이퍼로지 4 Regular</vt:lpstr>
      <vt:lpstr>페이퍼로지 7 Bold</vt:lpstr>
      <vt:lpstr>페이퍼로지 9 Black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mbc</dc:creator>
  <cp:lastModifiedBy>mbc</cp:lastModifiedBy>
  <cp:revision>166</cp:revision>
  <dcterms:created xsi:type="dcterms:W3CDTF">2026-08-25T03:40:06Z</dcterms:created>
  <dcterms:modified xsi:type="dcterms:W3CDTF">2026-08-27T05:27:10Z</dcterms:modified>
</cp:coreProperties>
</file>