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72" r:id="rId2"/>
    <p:sldId id="290" r:id="rId3"/>
    <p:sldId id="289" r:id="rId4"/>
    <p:sldId id="258" r:id="rId5"/>
    <p:sldId id="305" r:id="rId6"/>
    <p:sldId id="304" r:id="rId7"/>
    <p:sldId id="298" r:id="rId8"/>
    <p:sldId id="303" r:id="rId9"/>
    <p:sldId id="286" r:id="rId10"/>
    <p:sldId id="301" r:id="rId11"/>
    <p:sldId id="295" r:id="rId12"/>
    <p:sldId id="296" r:id="rId13"/>
    <p:sldId id="261" r:id="rId14"/>
    <p:sldId id="293" r:id="rId15"/>
    <p:sldId id="262" r:id="rId16"/>
    <p:sldId id="294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302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6"/>
    <a:srgbClr val="0E2746"/>
    <a:srgbClr val="49A8FF"/>
    <a:srgbClr val="2F7CF6"/>
    <a:srgbClr val="F7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94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D40B9-442F-4379-B62C-50857005B014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3AA1BA-B990-416E-92A8-7DD9498551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655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3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https://news.kbs.co.kr/news/pc/view/view.do?ncd=8591764</a:t>
            </a:r>
          </a:p>
          <a:p>
            <a:r>
              <a:rPr lang="en-US" dirty="0"/>
              <a:t>https://www.yna.co.kr/view/AKR20260527080100055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499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45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515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825F1-9B96-434A-8F84-8E13385EE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88E24B-0332-48A5-BE72-7D6D7D5BCF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54645-9418-4B00-808B-DCEA688D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10861-48B6-481D-92FB-14BBA4611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56A97-60F8-410D-AC45-02B24A7A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32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4A16-7AFC-4E56-8116-359F22C1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6CDDD-6F0D-43D5-ACE9-CEE3629D5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E97C0-0245-40CD-B32D-9A086157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61660-6F35-43EF-AA03-C9BAD6FB6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300E5-7CAF-4E82-8745-DD95AF19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367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94B64-C4A1-4716-B6AA-9B1CFFB1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953C3-DC54-4B4F-936F-728ADFFFC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72A36-20C6-4384-9DB7-D8B15FB2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DDD8A-B8D6-4223-B25E-1D027961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D1C47-2930-4438-B29E-CB3587BB9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87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5231-41DC-42AC-A996-A58765762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FDF20-D71D-4455-9FB6-D9529AB5AD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126F5-90A0-49BC-B18A-E120A5B5A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1EDDDC-330C-4B8D-A3A2-D04878B3B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1BFB2-4AEF-4875-B5DD-4B00B66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F090D-5DD0-45A9-A07D-462AFDBB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258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0F6A-6F0D-4372-BB37-75AFDBB6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F6076-985E-4AE1-A13D-DB6E53A0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903C3-EFE3-4915-98D7-E22FC994D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1897D4-6C75-4354-835C-B88FCF75CA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3F3649-5C4B-4FA7-9082-F0226512E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454A8-E9EA-42F6-B46C-170C30CBF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F80141-BAED-4F7F-8403-7075ADB8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EE564-FC66-4A86-AF92-DFB13604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157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1065A-E81B-4517-B4E7-4EC02FF7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36D705-C0B5-4213-A274-07C65FD1F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75015-697E-45BF-8C33-976681E86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FBA8F-2031-4F60-BBFC-E8758451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289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832EF1-D7E3-4909-8D32-C27D2E2BD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FA86A5-7B94-431F-ADF6-637C10AC5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0DB09-3EFF-4D81-B13F-8437B391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795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F734-C3B4-497A-94B3-566C3A207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284BF-856F-48C1-9D83-76115021E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37885-2C0F-46EA-AC64-F71778F37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B7929-0F58-4F77-9E7D-3404B37A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A31AD-4D8D-49B5-BF0A-E76592F0B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E14CB-8911-447F-84E7-92D96B9B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28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BFE16-EF20-469F-B4C1-2BB4ADBB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EEDCF2-7A87-4013-8665-D8A009774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7F6E-DEF1-4591-8CE4-5034CEFDB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3A68D-BD39-409C-85CD-07FE60E79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A09B-3F3E-43B2-B916-AB219179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F1E6-7205-4AAA-A142-33EFA8824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4085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16845-87EE-49C4-A54D-4DD88F5DE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F6E6A-4977-4CEC-A8D9-7064A84627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C0440-3E4A-48C3-AACE-31A03175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55132-9CD7-4D8C-9500-57BA9DAA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2DDC-0868-49FA-A7B5-3DBED67D5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1331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2B7006-E9B3-4984-8A5C-936F1BA9A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041A9-D43B-4632-BCCA-A9418D8DC2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B6C7C-AFE8-4214-B42F-E7F256617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B8BBB-3BCE-46E4-84F5-006AEA9EF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E7C3B-1CFD-4E17-ABB5-5ABD3B81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99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B4B4F1C-6A2C-42AD-91C2-CF0DFB3D0BC7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23227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ARK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96E590-9872-4B78-AF25-07765B3C7807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24446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6F8AB425-CE47-448A-A682-729483C69FDC}"/>
              </a:ext>
            </a:extLst>
          </p:cNvPr>
          <p:cNvSpPr/>
          <p:nvPr userDrawn="1"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0294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IGHT">
    <p:bg>
      <p:bgPr>
        <a:solidFill>
          <a:srgbClr val="F7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9BABCA-8F5D-4C86-A07A-BAECAF610FF4}"/>
              </a:ext>
            </a:extLst>
          </p:cNvPr>
          <p:cNvSpPr/>
          <p:nvPr userDrawn="1"/>
        </p:nvSpPr>
        <p:spPr>
          <a:xfrm>
            <a:off x="0" y="73152"/>
            <a:ext cx="12191695" cy="6784848"/>
          </a:xfrm>
          <a:prstGeom prst="rect">
            <a:avLst/>
          </a:prstGeom>
          <a:solidFill>
            <a:srgbClr val="F7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64808"/>
            <a:ext cx="11109960" cy="0"/>
          </a:xfrm>
          <a:prstGeom prst="line">
            <a:avLst/>
          </a:prstGeom>
          <a:noFill/>
          <a:ln w="10160">
            <a:solidFill>
              <a:srgbClr val="DCE8F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60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EEB8-1A5C-44A5-B5C2-7E736071E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C1D718-3418-4B18-B782-CCF9CEDA8F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CCEB8-E72F-428B-8B58-F801AD8B6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F8D4E-5FA8-4A72-865B-9A72DC512BFC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2DB2-CDF2-401D-A12A-A35C25BBD6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13C4-3B0A-46FB-A37B-2C939FBD85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49241-5778-423C-A2FB-A524109A9B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  <p:sldLayoutId id="214748366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sc.go.kr/no010101/87565?curPage=1&amp;srchBeginDt=&amp;srchCtgry=&amp;srchEndDt=0&amp;srchKey=&amp;srchText=&amp;utm_source=chatgpt.com" TargetMode="External"/><Relationship Id="rId3" Type="http://schemas.openxmlformats.org/officeDocument/2006/relationships/hyperlink" Target="https://blog.naver.com/blogfsc/224162941029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s://www.fsc.go.kr/no010101/87474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4.png"/><Relationship Id="rId9" Type="http://schemas.openxmlformats.org/officeDocument/2006/relationships/hyperlink" Target="https://www.newspim.com/news/view/20260820000801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bn.co.kr/news/articleView.html?idxno=1721028" TargetMode="External"/><Relationship Id="rId3" Type="http://schemas.openxmlformats.org/officeDocument/2006/relationships/hyperlink" Target="https://m.blog.naver.com/blogfsc/224058546330" TargetMode="External"/><Relationship Id="rId7" Type="http://schemas.openxmlformats.org/officeDocument/2006/relationships/hyperlink" Target="https://biz.heraldcorp.com/article/10830628" TargetMode="External"/><Relationship Id="rId2" Type="http://schemas.openxmlformats.org/officeDocument/2006/relationships/hyperlink" Target="https://www.korea.kr/news/policyNewsView.do?newsId=148960626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fsc.go.kr/eng/pr010101/85525" TargetMode="External"/><Relationship Id="rId11" Type="http://schemas.openxmlformats.org/officeDocument/2006/relationships/hyperlink" Target="https://www.khan.co.kr/article/202406032117005" TargetMode="External"/><Relationship Id="rId5" Type="http://schemas.openxmlformats.org/officeDocument/2006/relationships/hyperlink" Target="https://blog.naver.com/with_msip/224202495822?viewType=pc" TargetMode="External"/><Relationship Id="rId10" Type="http://schemas.openxmlformats.org/officeDocument/2006/relationships/hyperlink" Target="https://www.fsc.go.kr/no010101/82392?srchCtgry=&amp;curPage=&amp;srchKey=&amp;srchText=&amp;srchBeginDt=&amp;srchEndDt=" TargetMode="External"/><Relationship Id="rId4" Type="http://schemas.openxmlformats.org/officeDocument/2006/relationships/hyperlink" Target="https://whox2.com/kt/vfd" TargetMode="External"/><Relationship Id="rId9" Type="http://schemas.openxmlformats.org/officeDocument/2006/relationships/hyperlink" Target="https://www.koreancenter.or.kr/news/articleView.html?idxno=1397518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slownews.kr/134149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C0C0CB8F-415D-407B-8561-941E5B4C4356}"/>
              </a:ext>
            </a:extLst>
          </p:cNvPr>
          <p:cNvSpPr txBox="1"/>
          <p:nvPr/>
        </p:nvSpPr>
        <p:spPr>
          <a:xfrm>
            <a:off x="491798" y="3677109"/>
            <a:ext cx="6104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AI </a:t>
            </a:r>
            <a:r>
              <a:rPr lang="ko-KR" altLang="en-US" sz="140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독립검증 기반 보이스피싱 금융안전 서비스 제안서</a:t>
            </a:r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1E31A4B3-526D-4E88-A19C-2D7AFA70D160}"/>
              </a:ext>
            </a:extLst>
          </p:cNvPr>
          <p:cNvSpPr txBox="1"/>
          <p:nvPr/>
        </p:nvSpPr>
        <p:spPr>
          <a:xfrm>
            <a:off x="547516" y="6501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ko-KR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Team. </a:t>
            </a:r>
            <a:r>
              <a:rPr lang="ko-KR" altLang="en-US" sz="1050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</a:rPr>
              <a:t>가드레일즈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7B1A6ED6-773F-42B8-8ED8-17738C505C8C}"/>
              </a:ext>
            </a:extLst>
          </p:cNvPr>
          <p:cNvSpPr/>
          <p:nvPr/>
        </p:nvSpPr>
        <p:spPr>
          <a:xfrm>
            <a:off x="7048500" y="0"/>
            <a:ext cx="5140452" cy="6858000"/>
          </a:xfrm>
          <a:prstGeom prst="rect">
            <a:avLst/>
          </a:prstGeom>
          <a:solidFill>
            <a:srgbClr val="0E2746"/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E268D-001A-4A65-B643-028EB914480F}"/>
              </a:ext>
            </a:extLst>
          </p:cNvPr>
          <p:cNvGrpSpPr/>
          <p:nvPr/>
        </p:nvGrpSpPr>
        <p:grpSpPr>
          <a:xfrm>
            <a:off x="547517" y="766064"/>
            <a:ext cx="5294484" cy="3352801"/>
            <a:chOff x="550563" y="766064"/>
            <a:chExt cx="5689815" cy="3352801"/>
          </a:xfrm>
        </p:grpSpPr>
        <p:sp>
          <p:nvSpPr>
            <p:cNvPr id="59" name="Shape 9">
              <a:extLst>
                <a:ext uri="{FF2B5EF4-FFF2-40B4-BE49-F238E27FC236}">
                  <a16:creationId xmlns:a16="http://schemas.microsoft.com/office/drawing/2014/main" id="{634C45B3-C238-4E3E-AEED-0B9672BB4F65}"/>
                </a:ext>
              </a:extLst>
            </p:cNvPr>
            <p:cNvSpPr/>
            <p:nvPr/>
          </p:nvSpPr>
          <p:spPr>
            <a:xfrm>
              <a:off x="550563" y="766064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</p:sp>
        <p:sp>
          <p:nvSpPr>
            <p:cNvPr id="57" name="Shape 9">
              <a:extLst>
                <a:ext uri="{FF2B5EF4-FFF2-40B4-BE49-F238E27FC236}">
                  <a16:creationId xmlns:a16="http://schemas.microsoft.com/office/drawing/2014/main" id="{09CB9E57-402C-4513-8361-0726DA1036CA}"/>
                </a:ext>
              </a:extLst>
            </p:cNvPr>
            <p:cNvSpPr/>
            <p:nvPr/>
          </p:nvSpPr>
          <p:spPr>
            <a:xfrm>
              <a:off x="550563" y="3543131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8" name="Shape 9">
              <a:extLst>
                <a:ext uri="{FF2B5EF4-FFF2-40B4-BE49-F238E27FC236}">
                  <a16:creationId xmlns:a16="http://schemas.microsoft.com/office/drawing/2014/main" id="{7C5AD97E-4F05-4367-AE0F-6916A16D68BF}"/>
                </a:ext>
              </a:extLst>
            </p:cNvPr>
            <p:cNvSpPr/>
            <p:nvPr/>
          </p:nvSpPr>
          <p:spPr>
            <a:xfrm>
              <a:off x="550563" y="4118865"/>
              <a:ext cx="5689815" cy="0"/>
            </a:xfrm>
            <a:prstGeom prst="line">
              <a:avLst/>
            </a:prstGeom>
            <a:noFill/>
            <a:ln w="12700">
              <a:solidFill>
                <a:srgbClr val="2A537D"/>
              </a:solidFill>
              <a:prstDash val="solid"/>
              <a:headEnd type="none"/>
              <a:tailEnd type="none"/>
            </a:ln>
          </p:spPr>
          <p:txBody>
            <a:bodyPr/>
            <a:lstStyle/>
            <a:p>
              <a:endParaRPr lang="ko-KR" altLang="en-US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72DDACD-5AE2-44C9-8A2E-B51DE4B0AB0E}"/>
              </a:ext>
            </a:extLst>
          </p:cNvPr>
          <p:cNvGrpSpPr/>
          <p:nvPr/>
        </p:nvGrpSpPr>
        <p:grpSpPr>
          <a:xfrm>
            <a:off x="547516" y="593683"/>
            <a:ext cx="6104020" cy="2949448"/>
            <a:chOff x="550564" y="585216"/>
            <a:chExt cx="6104020" cy="2949448"/>
          </a:xfrm>
        </p:grpSpPr>
        <p:sp>
          <p:nvSpPr>
            <p:cNvPr id="7" name="Shape 5"/>
            <p:cNvSpPr/>
            <p:nvPr/>
          </p:nvSpPr>
          <p:spPr>
            <a:xfrm>
              <a:off x="550564" y="585216"/>
              <a:ext cx="2240280" cy="310896"/>
            </a:xfrm>
            <a:prstGeom prst="roundRect">
              <a:avLst>
                <a:gd name="adj" fmla="val 50000"/>
              </a:avLst>
            </a:prstGeom>
            <a:solidFill>
              <a:srgbClr val="18395D"/>
            </a:solidFill>
            <a:ln w="10160">
              <a:solidFill>
                <a:srgbClr val="244F78"/>
              </a:solidFill>
              <a:prstDash val="solid"/>
            </a:ln>
          </p:spPr>
        </p:sp>
        <p:sp>
          <p:nvSpPr>
            <p:cNvPr id="8" name="Text 6"/>
            <p:cNvSpPr txBox="1"/>
            <p:nvPr/>
          </p:nvSpPr>
          <p:spPr>
            <a:xfrm>
              <a:off x="623716" y="621792"/>
              <a:ext cx="2093976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2026 </a:t>
              </a:r>
              <a:r>
                <a:rPr lang="ko-KR" alt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금융 </a:t>
              </a:r>
              <a:r>
                <a:rPr lang="en-US" sz="1050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AI Challenge</a:t>
              </a:r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50564" y="850392"/>
              <a:ext cx="6104020" cy="26842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보이스피싱이 만든 혼란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 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속에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금융소비자가 혼자 있지 않도록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함께 확인하고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  <a:p>
              <a:pPr marL="0" indent="0" algn="l">
                <a:buNone/>
              </a:pP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한 번 더 막아주는 </a:t>
              </a:r>
              <a:r>
                <a:rPr lang="en-US" altLang="ko-KR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AI</a:t>
              </a:r>
              <a:r>
                <a:rPr lang="ko-KR" altLang="en-US" sz="2800" b="1" dirty="0">
                  <a:solidFill>
                    <a:srgbClr val="0E2746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솔루션</a:t>
              </a:r>
              <a:endParaRPr lang="en-US" altLang="ko-KR" sz="2800" b="1" dirty="0">
                <a:solidFill>
                  <a:srgbClr val="0E2746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</p:grp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84BCE10-6885-4AD1-A68A-60F056C73D54}"/>
              </a:ext>
            </a:extLst>
          </p:cNvPr>
          <p:cNvSpPr/>
          <p:nvPr/>
        </p:nvSpPr>
        <p:spPr>
          <a:xfrm>
            <a:off x="7953865" y="766064"/>
            <a:ext cx="3340100" cy="65183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스마트폰 디바이스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안에 앱 로고</a:t>
            </a:r>
          </a:p>
        </p:txBody>
      </p:sp>
    </p:spTree>
    <p:extLst>
      <p:ext uri="{BB962C8B-B14F-4D97-AF65-F5344CB8AC3E}">
        <p14:creationId xmlns:p14="http://schemas.microsoft.com/office/powerpoint/2010/main" val="2218240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44">
            <a:extLst>
              <a:ext uri="{FF2B5EF4-FFF2-40B4-BE49-F238E27FC236}">
                <a16:creationId xmlns:a16="http://schemas.microsoft.com/office/drawing/2014/main" id="{A76E8C5A-17D3-408B-A296-8675D799E942}"/>
              </a:ext>
            </a:extLst>
          </p:cNvPr>
          <p:cNvSpPr/>
          <p:nvPr/>
        </p:nvSpPr>
        <p:spPr>
          <a:xfrm>
            <a:off x="585216" y="4521201"/>
            <a:ext cx="10991088" cy="1736164"/>
          </a:xfrm>
          <a:prstGeom prst="roundRect">
            <a:avLst>
              <a:gd name="adj" fmla="val 14754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D83CD05-1C0E-4A92-8144-C841C3C659DF}"/>
              </a:ext>
            </a:extLst>
          </p:cNvPr>
          <p:cNvGrpSpPr/>
          <p:nvPr/>
        </p:nvGrpSpPr>
        <p:grpSpPr>
          <a:xfrm>
            <a:off x="10844784" y="128016"/>
            <a:ext cx="1188720" cy="1188720"/>
            <a:chOff x="10844784" y="128016"/>
            <a:chExt cx="1188720" cy="1188720"/>
          </a:xfrm>
        </p:grpSpPr>
        <p:sp>
          <p:nvSpPr>
            <p:cNvPr id="53" name="Shape 0">
              <a:extLst>
                <a:ext uri="{FF2B5EF4-FFF2-40B4-BE49-F238E27FC236}">
                  <a16:creationId xmlns:a16="http://schemas.microsoft.com/office/drawing/2014/main" id="{8180EA9B-D86F-480A-827F-E6A6E0D31C69}"/>
                </a:ext>
              </a:extLst>
            </p:cNvPr>
            <p:cNvSpPr/>
            <p:nvPr/>
          </p:nvSpPr>
          <p:spPr>
            <a:xfrm>
              <a:off x="10844784" y="128016"/>
              <a:ext cx="1188720" cy="1188720"/>
            </a:xfrm>
            <a:prstGeom prst="ellipse">
              <a:avLst/>
            </a:prstGeom>
            <a:solidFill>
              <a:srgbClr val="EAF3FF"/>
            </a:solidFill>
            <a:ln w="10160">
              <a:solidFill>
                <a:srgbClr val="EAF3FF"/>
              </a:solidFill>
              <a:prstDash val="solid"/>
            </a:ln>
          </p:spPr>
        </p:sp>
        <p:sp>
          <p:nvSpPr>
            <p:cNvPr id="54" name="Shape 1">
              <a:extLst>
                <a:ext uri="{FF2B5EF4-FFF2-40B4-BE49-F238E27FC236}">
                  <a16:creationId xmlns:a16="http://schemas.microsoft.com/office/drawing/2014/main" id="{A1E94AE9-4178-4DF3-81BE-A4F0E14FB13D}"/>
                </a:ext>
              </a:extLst>
            </p:cNvPr>
            <p:cNvSpPr/>
            <p:nvPr/>
          </p:nvSpPr>
          <p:spPr>
            <a:xfrm>
              <a:off x="11448288" y="292608"/>
              <a:ext cx="310896" cy="310896"/>
            </a:xfrm>
            <a:prstGeom prst="ellipse">
              <a:avLst/>
            </a:prstGeom>
            <a:solidFill>
              <a:srgbClr val="49A8FF"/>
            </a:solidFill>
            <a:ln w="10160">
              <a:solidFill>
                <a:srgbClr val="49A8FF"/>
              </a:solidFill>
              <a:prstDash val="solid"/>
            </a:ln>
          </p:spPr>
        </p:sp>
        <p:sp>
          <p:nvSpPr>
            <p:cNvPr id="55" name="Shape 2">
              <a:extLst>
                <a:ext uri="{FF2B5EF4-FFF2-40B4-BE49-F238E27FC236}">
                  <a16:creationId xmlns:a16="http://schemas.microsoft.com/office/drawing/2014/main" id="{0261E3B0-CF1D-4497-96E2-3E47E2AE44B6}"/>
                </a:ext>
              </a:extLst>
            </p:cNvPr>
            <p:cNvSpPr/>
            <p:nvPr/>
          </p:nvSpPr>
          <p:spPr>
            <a:xfrm>
              <a:off x="10844784" y="1024128"/>
              <a:ext cx="868680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  <p:sp>
          <p:nvSpPr>
            <p:cNvPr id="56" name="Shape 3">
              <a:extLst>
                <a:ext uri="{FF2B5EF4-FFF2-40B4-BE49-F238E27FC236}">
                  <a16:creationId xmlns:a16="http://schemas.microsoft.com/office/drawing/2014/main" id="{77510202-A46B-4098-B6BE-16242DFE16B5}"/>
                </a:ext>
              </a:extLst>
            </p:cNvPr>
            <p:cNvSpPr/>
            <p:nvPr/>
          </p:nvSpPr>
          <p:spPr>
            <a:xfrm>
              <a:off x="11045952" y="1225296"/>
              <a:ext cx="667512" cy="0"/>
            </a:xfrm>
            <a:prstGeom prst="line">
              <a:avLst/>
            </a:prstGeom>
            <a:noFill/>
            <a:ln w="13970">
              <a:solidFill>
                <a:srgbClr val="D6E8FF"/>
              </a:solidFill>
              <a:prstDash val="solid"/>
              <a:headEnd type="none"/>
              <a:tailEnd type="none"/>
            </a:ln>
          </p:spPr>
        </p:sp>
      </p:grpSp>
      <p:sp>
        <p:nvSpPr>
          <p:cNvPr id="57" name="Text 5">
            <a:extLst>
              <a:ext uri="{FF2B5EF4-FFF2-40B4-BE49-F238E27FC236}">
                <a16:creationId xmlns:a16="http://schemas.microsoft.com/office/drawing/2014/main" id="{14DC0ADE-DD2D-4DB4-9ADF-13F891CE62C7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58" name="Text 6">
            <a:extLst>
              <a:ext uri="{FF2B5EF4-FFF2-40B4-BE49-F238E27FC236}">
                <a16:creationId xmlns:a16="http://schemas.microsoft.com/office/drawing/2014/main" id="{A3AB1DBD-1697-472F-9AD7-5B9857EAF0DD}"/>
              </a:ext>
            </a:extLst>
          </p:cNvPr>
          <p:cNvSpPr txBox="1"/>
          <p:nvPr/>
        </p:nvSpPr>
        <p:spPr>
          <a:xfrm>
            <a:off x="585216" y="780078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최근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년 동안 보이스피싱 피해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건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누적 피해액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, 1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개 사건 피해액 평균 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0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  <a:cs typeface="NanumSquare" pitchFamily="34" charset="-120"/>
              </a:rPr>
              <a:t>원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  <a:cs typeface="NanumSquare" pitchFamily="34" charset="-120"/>
            </a:endParaRPr>
          </a:p>
          <a:p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단순 금전적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·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경제적 손실 뿐 아니라</a:t>
            </a:r>
            <a:r>
              <a:rPr lang="en-US" altLang="ko-KR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, </a:t>
            </a:r>
            <a:r>
              <a:rPr lang="ko-KR" altLang="en-US" sz="2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rPr>
              <a:t>극단적 선택까지 이어지는 심각한 상황</a:t>
            </a:r>
            <a:endParaRPr lang="en-US" altLang="ko-KR" sz="2200" dirty="0">
              <a:solidFill>
                <a:srgbClr val="0E2746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59" name="Text 7">
            <a:extLst>
              <a:ext uri="{FF2B5EF4-FFF2-40B4-BE49-F238E27FC236}">
                <a16:creationId xmlns:a16="http://schemas.microsoft.com/office/drawing/2014/main" id="{7CC2DE4C-207C-45EF-9A0E-5F6667FDA2C7}"/>
              </a:ext>
            </a:extLst>
          </p:cNvPr>
          <p:cNvSpPr txBox="1"/>
          <p:nvPr/>
        </p:nvSpPr>
        <p:spPr>
          <a:xfrm>
            <a:off x="585216" y="58052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대한민국은 아직 보이스피싱 범죄와 전쟁중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</a:t>
            </a:r>
            <a:endParaRPr lang="en-US" sz="1230" dirty="0"/>
          </a:p>
        </p:txBody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FDEF35F2-D1F4-4887-A609-BA9297CA0228}"/>
              </a:ext>
            </a:extLst>
          </p:cNvPr>
          <p:cNvSpPr/>
          <p:nvPr/>
        </p:nvSpPr>
        <p:spPr>
          <a:xfrm>
            <a:off x="594360" y="1775283"/>
            <a:ext cx="2743200" cy="251460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01" name="Slide Number Placeholder 0">
            <a:extLst>
              <a:ext uri="{FF2B5EF4-FFF2-40B4-BE49-F238E27FC236}">
                <a16:creationId xmlns:a16="http://schemas.microsoft.com/office/drawing/2014/main" id="{B62526B2-5F3F-4EBB-A2DC-93B7F89FFF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6B820F-AFB7-48E0-9EB6-DDB131DC1B40}"/>
              </a:ext>
            </a:extLst>
          </p:cNvPr>
          <p:cNvGrpSpPr/>
          <p:nvPr/>
        </p:nvGrpSpPr>
        <p:grpSpPr>
          <a:xfrm>
            <a:off x="804672" y="4673132"/>
            <a:ext cx="6480610" cy="1409774"/>
            <a:chOff x="804672" y="4974712"/>
            <a:chExt cx="6480610" cy="1409774"/>
          </a:xfrm>
        </p:grpSpPr>
        <p:sp>
          <p:nvSpPr>
            <p:cNvPr id="98" name="Text 45">
              <a:extLst>
                <a:ext uri="{FF2B5EF4-FFF2-40B4-BE49-F238E27FC236}">
                  <a16:creationId xmlns:a16="http://schemas.microsoft.com/office/drawing/2014/main" id="{4F2E3DE0-CD98-4D61-9489-686484F3DB48}"/>
                </a:ext>
              </a:extLst>
            </p:cNvPr>
            <p:cNvSpPr txBox="1"/>
            <p:nvPr/>
          </p:nvSpPr>
          <p:spPr>
            <a:xfrm>
              <a:off x="804672" y="4987290"/>
              <a:ext cx="53949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endParaRPr lang="en-US" sz="1050" dirty="0"/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1E646E0-5120-4849-9996-97AD67287F74}"/>
                </a:ext>
              </a:extLst>
            </p:cNvPr>
            <p:cNvSpPr txBox="1"/>
            <p:nvPr/>
          </p:nvSpPr>
          <p:spPr>
            <a:xfrm>
              <a:off x="894649" y="5324056"/>
              <a:ext cx="639063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줄었다지만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…5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천만 원 피해에 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20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대 아들</a:t>
              </a:r>
              <a:r>
                <a:rPr lang="en-US" altLang="ko-KR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엄마와 함께 숨져</a:t>
              </a:r>
              <a:r>
                <a:rPr lang="en-US" altLang="ko-KR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solidFill>
                    <a:srgbClr val="222222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(KBS</a:t>
              </a:r>
              <a:r>
                <a:rPr lang="ko-KR" altLang="en-US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뉴스 </a:t>
              </a:r>
              <a:r>
                <a:rPr lang="en-US" altLang="ko-KR" sz="1200" i="0" dirty="0">
                  <a:solidFill>
                    <a:srgbClr val="222222"/>
                  </a:solidFill>
                  <a:effectLst/>
                  <a:latin typeface="페이퍼로지 4 Regular" pitchFamily="2" charset="-127"/>
                  <a:ea typeface="페이퍼로지 4 Regular" pitchFamily="2" charset="-127"/>
                </a:rPr>
                <a:t>2026.06.22)</a:t>
              </a:r>
              <a:endParaRPr lang="ko-KR" altLang="en-US" sz="1200" i="0" dirty="0">
                <a:solidFill>
                  <a:srgbClr val="222222"/>
                </a:solidFill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69DBA008-F345-4089-8070-1624E61E661A}"/>
                </a:ext>
              </a:extLst>
            </p:cNvPr>
            <p:cNvSpPr txBox="1"/>
            <p:nvPr/>
          </p:nvSpPr>
          <p:spPr>
            <a:xfrm>
              <a:off x="826725" y="4974712"/>
              <a:ext cx="422807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buNone/>
              </a:pPr>
              <a:r>
                <a:rPr lang="ko-KR" altLang="en-US" sz="1200" dirty="0">
                  <a:solidFill>
                    <a:srgbClr val="0E2746"/>
                  </a:solidFill>
                  <a:latin typeface="페이퍼로지 7 Bold" pitchFamily="2" charset="-127"/>
                  <a:ea typeface="페이퍼로지 7 Bold" pitchFamily="2" charset="-127"/>
                </a:rPr>
                <a:t>극단적인 선택 까지 이어지는 보이스피싱 범죄의 심각성</a:t>
              </a:r>
              <a:endParaRPr lang="en-US" altLang="ko-KR" sz="1200" dirty="0">
                <a:solidFill>
                  <a:srgbClr val="0E2746"/>
                </a:solidFill>
                <a:latin typeface="페이퍼로지 7 Bold" pitchFamily="2" charset="-127"/>
                <a:ea typeface="페이퍼로지 7 Bold" pitchFamily="2" charset="-127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6B1490-F183-46C5-891C-4DF4DDEBC613}"/>
                </a:ext>
              </a:extLst>
            </p:cNvPr>
            <p:cNvSpPr txBox="1"/>
            <p:nvPr/>
          </p:nvSpPr>
          <p:spPr>
            <a:xfrm>
              <a:off x="894649" y="5711305"/>
              <a:ext cx="5918527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보이스피싱에 속아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3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억원 잃은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피해자 생 마감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인출책 징역 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년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2026.05.27)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AD6700A-593D-446A-8111-A37932502880}"/>
                </a:ext>
              </a:extLst>
            </p:cNvPr>
            <p:cNvSpPr txBox="1"/>
            <p:nvPr/>
          </p:nvSpPr>
          <p:spPr>
            <a:xfrm>
              <a:off x="894649" y="6107487"/>
              <a:ext cx="6173663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fontAlgn="base"/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“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보이스피싱 피해 비관 </a:t>
              </a:r>
              <a:r>
                <a:rPr lang="ko-KR" altLang="en-US" sz="1200" b="1" i="0" dirty="0">
                  <a:solidFill>
                    <a:srgbClr val="FF4B16"/>
                  </a:solidFill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부부 극단선택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…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홀로 산 남편 자살방조 처벌</a:t>
              </a:r>
              <a:r>
                <a:rPr lang="en-US" altLang="ko-KR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”</a:t>
              </a:r>
              <a:r>
                <a:rPr lang="ko-KR" altLang="en-US" sz="1200" b="1" i="0" dirty="0">
                  <a:effectLst/>
                  <a:latin typeface="Noto Sans KR" panose="020B0200000000000000" pitchFamily="50" charset="-127"/>
                  <a:ea typeface="Noto Sans KR" panose="020B0200000000000000" pitchFamily="50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연합뉴스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TV</a:t>
              </a:r>
              <a:r>
                <a:rPr lang="ko-KR" altLang="en-US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20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2026.07.26)</a:t>
              </a:r>
              <a:endParaRPr lang="ko-KR" altLang="en-US" sz="1200" i="0" dirty="0">
                <a:effectLst/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D715506-C7C5-46AF-97DD-9E8720001060}"/>
              </a:ext>
            </a:extLst>
          </p:cNvPr>
          <p:cNvGrpSpPr/>
          <p:nvPr/>
        </p:nvGrpSpPr>
        <p:grpSpPr>
          <a:xfrm>
            <a:off x="7640448" y="4635730"/>
            <a:ext cx="3656903" cy="1551360"/>
            <a:chOff x="7640448" y="4533932"/>
            <a:chExt cx="3656903" cy="15513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6AA21B39-CDD9-416A-94A5-F7D48DFFB9B7}"/>
                </a:ext>
              </a:extLst>
            </p:cNvPr>
            <p:cNvGrpSpPr/>
            <p:nvPr/>
          </p:nvGrpSpPr>
          <p:grpSpPr>
            <a:xfrm>
              <a:off x="7640448" y="4533932"/>
              <a:ext cx="3656903" cy="1551360"/>
              <a:chOff x="7640448" y="4533932"/>
              <a:chExt cx="3656903" cy="15513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88D801F-1FFC-4DB5-BA05-2750BEE7D95D}"/>
                  </a:ext>
                </a:extLst>
              </p:cNvPr>
              <p:cNvSpPr/>
              <p:nvPr/>
            </p:nvSpPr>
            <p:spPr>
              <a:xfrm>
                <a:off x="7656784" y="4794782"/>
                <a:ext cx="3640567" cy="1290510"/>
              </a:xfrm>
              <a:prstGeom prst="rect">
                <a:avLst/>
              </a:prstGeom>
              <a:solidFill>
                <a:schemeClr val="bg1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650DA10-F948-4096-918C-238B8CB95A93}"/>
                  </a:ext>
                </a:extLst>
              </p:cNvPr>
              <p:cNvSpPr/>
              <p:nvPr/>
            </p:nvSpPr>
            <p:spPr>
              <a:xfrm>
                <a:off x="7724678" y="4887453"/>
                <a:ext cx="3512773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두려움과 분노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죄책감 느낀다</a:t>
                </a: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C96D9C1A-8A8D-4FA9-8E69-1BD016277053}"/>
                  </a:ext>
                </a:extLst>
              </p:cNvPr>
              <p:cNvSpPr/>
              <p:nvPr/>
            </p:nvSpPr>
            <p:spPr>
              <a:xfrm>
                <a:off x="7724678" y="5087078"/>
                <a:ext cx="2931106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밤에 잠이 잘 안 온다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3D7BAF9-07DE-400A-AC59-9FF748362373}"/>
                  </a:ext>
                </a:extLst>
              </p:cNvPr>
              <p:cNvSpPr/>
              <p:nvPr/>
            </p:nvSpPr>
            <p:spPr>
              <a:xfrm>
                <a:off x="7724678" y="5286703"/>
                <a:ext cx="1993067" cy="152226"/>
              </a:xfrm>
              <a:prstGeom prst="rect">
                <a:avLst/>
              </a:prstGeom>
              <a:solidFill>
                <a:srgbClr val="FF4B16"/>
              </a:solidFill>
              <a:ln w="12700">
                <a:noFill/>
                <a:prstDash val="solid"/>
              </a:ln>
            </p:spPr>
            <p:txBody>
              <a:bodyPr rtlCol="0" anchor="ctr"/>
              <a:lstStyle/>
              <a:p>
                <a:r>
                  <a:rPr lang="ko-KR" altLang="en-US" sz="1000" dirty="0">
                    <a:solidFill>
                      <a:schemeClr val="bg1"/>
                    </a:solidFill>
                    <a:latin typeface="페이퍼로지 4 Regular" pitchFamily="2" charset="-127"/>
                    <a:ea typeface="페이퍼로지 4 Regular" pitchFamily="2" charset="-127"/>
                  </a:rPr>
                  <a:t>주변에 대한 과도한 경계심이 생긴다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8B5CB79-EE6B-47C6-8864-0A3C9BD3740E}"/>
                  </a:ext>
                </a:extLst>
              </p:cNvPr>
              <p:cNvGrpSpPr/>
              <p:nvPr/>
            </p:nvGrpSpPr>
            <p:grpSpPr>
              <a:xfrm>
                <a:off x="7724678" y="4887453"/>
                <a:ext cx="3512773" cy="751101"/>
                <a:chOff x="7724678" y="4937557"/>
                <a:chExt cx="3512773" cy="751101"/>
              </a:xfrm>
            </p:grpSpPr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AEC622F5-EDC0-4894-A4DF-14A87444EAE9}"/>
                    </a:ext>
                  </a:extLst>
                </p:cNvPr>
                <p:cNvSpPr/>
                <p:nvPr/>
              </p:nvSpPr>
              <p:spPr>
                <a:xfrm>
                  <a:off x="8863296" y="5536432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병원에서 우울증 치료 등을 받는다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25.4%</a:t>
                  </a:r>
                  <a:endParaRPr lang="ko-KR" altLang="en-US" sz="10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830D2552-CE5F-4566-9324-CCAA6DE748F6}"/>
                    </a:ext>
                  </a:extLst>
                </p:cNvPr>
                <p:cNvSpPr/>
                <p:nvPr/>
              </p:nvSpPr>
              <p:spPr>
                <a:xfrm>
                  <a:off x="7724678" y="5536432"/>
                  <a:ext cx="1194300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67598F49-4387-4F12-AD03-C4CE346ED14C}"/>
                    </a:ext>
                  </a:extLst>
                </p:cNvPr>
                <p:cNvSpPr/>
                <p:nvPr/>
              </p:nvSpPr>
              <p:spPr>
                <a:xfrm>
                  <a:off x="8863297" y="5137182"/>
                  <a:ext cx="1792487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63.5%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3EE56CF6-75C1-4D6A-8DBB-C3071FCE4454}"/>
                    </a:ext>
                  </a:extLst>
                </p:cNvPr>
                <p:cNvSpPr/>
                <p:nvPr/>
              </p:nvSpPr>
              <p:spPr>
                <a:xfrm>
                  <a:off x="8863296" y="4937557"/>
                  <a:ext cx="2374155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solidFill>
                        <a:schemeClr val="bg1"/>
                      </a:solidFill>
                      <a:latin typeface="페이퍼로지 7 Bold" pitchFamily="2" charset="-127"/>
                      <a:ea typeface="페이퍼로지 7 Bold" pitchFamily="2" charset="-127"/>
                    </a:rPr>
                    <a:t>76.2%</a:t>
                  </a:r>
                  <a:endParaRPr lang="ko-KR" altLang="en-US" sz="1000" dirty="0">
                    <a:solidFill>
                      <a:schemeClr val="bg1"/>
                    </a:solidFill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81244667-105A-4A8E-A1ED-B8687ADE3F94}"/>
                    </a:ext>
                  </a:extLst>
                </p:cNvPr>
                <p:cNvSpPr/>
                <p:nvPr/>
              </p:nvSpPr>
              <p:spPr>
                <a:xfrm>
                  <a:off x="8863297" y="5339933"/>
                  <a:ext cx="1423703" cy="149100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42.9%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AA0F438C-D494-4FDF-997C-8B697CDADD29}"/>
                  </a:ext>
                </a:extLst>
              </p:cNvPr>
              <p:cNvGrpSpPr/>
              <p:nvPr/>
            </p:nvGrpSpPr>
            <p:grpSpPr>
              <a:xfrm>
                <a:off x="7724680" y="5685954"/>
                <a:ext cx="3512771" cy="152226"/>
                <a:chOff x="7724680" y="5685954"/>
                <a:chExt cx="3512771" cy="152226"/>
              </a:xfrm>
            </p:grpSpPr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153C3079-5F4A-46C5-84EA-640947F7D515}"/>
                    </a:ext>
                  </a:extLst>
                </p:cNvPr>
                <p:cNvSpPr/>
                <p:nvPr/>
              </p:nvSpPr>
              <p:spPr>
                <a:xfrm>
                  <a:off x="7981950" y="5685954"/>
                  <a:ext cx="3255501" cy="152226"/>
                </a:xfrm>
                <a:prstGeom prst="rect">
                  <a:avLst/>
                </a:prstGeom>
                <a:noFill/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r>
                    <a:rPr lang="ko-KR" altLang="en-US" sz="1000" dirty="0">
                      <a:latin typeface="페이퍼로지 4 Regular" pitchFamily="2" charset="-127"/>
                      <a:ea typeface="페이퍼로지 4 Regular" pitchFamily="2" charset="-127"/>
                    </a:rPr>
                    <a:t>극단적인 생각을 한다 </a:t>
                  </a:r>
                  <a:r>
                    <a:rPr lang="en-US" altLang="ko-KR" sz="1000" dirty="0">
                      <a:latin typeface="페이퍼로지 7 Bold" pitchFamily="2" charset="-127"/>
                      <a:ea typeface="페이퍼로지 7 Bold" pitchFamily="2" charset="-127"/>
                    </a:rPr>
                    <a:t>6.3%</a:t>
                  </a:r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3FECE70-51A5-47D3-8535-037BD6E0CE0F}"/>
                    </a:ext>
                  </a:extLst>
                </p:cNvPr>
                <p:cNvSpPr/>
                <p:nvPr/>
              </p:nvSpPr>
              <p:spPr>
                <a:xfrm>
                  <a:off x="7724680" y="5685954"/>
                  <a:ext cx="317705" cy="152226"/>
                </a:xfrm>
                <a:prstGeom prst="rect">
                  <a:avLst/>
                </a:prstGeom>
                <a:solidFill>
                  <a:srgbClr val="FF4B16"/>
                </a:solidFill>
                <a:ln w="12700">
                  <a:noFill/>
                  <a:prstDash val="solid"/>
                </a:ln>
              </p:spPr>
              <p:txBody>
                <a:bodyPr rtlCol="0" anchor="ctr"/>
                <a:lstStyle/>
                <a:p>
                  <a:pPr algn="r"/>
                  <a:endParaRPr lang="ko-KR" altLang="en-US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5A2F2F7-75DB-4643-B439-DAF5D708D01D}"/>
                  </a:ext>
                </a:extLst>
              </p:cNvPr>
              <p:cNvSpPr txBox="1"/>
              <p:nvPr/>
            </p:nvSpPr>
            <p:spPr>
              <a:xfrm>
                <a:off x="7642195" y="5885237"/>
                <a:ext cx="3374034" cy="2000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중앙일보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,</a:t>
                </a:r>
                <a:r>
                  <a:rPr lang="ko-KR" altLang="en-US" sz="700" dirty="0">
                    <a:latin typeface="페이퍼로지 4 Regular" pitchFamily="2" charset="-127"/>
                    <a:ea typeface="페이퍼로지 4 Regular" pitchFamily="2" charset="-127"/>
                  </a:rPr>
                  <a:t> 보이스피싱예방협회 </a:t>
                </a:r>
                <a:r>
                  <a:rPr lang="en-US" altLang="ko-KR" sz="700" dirty="0">
                    <a:latin typeface="페이퍼로지 4 Regular" pitchFamily="2" charset="-127"/>
                    <a:ea typeface="페이퍼로지 4 Regular" pitchFamily="2" charset="-127"/>
                  </a:rPr>
                  <a:t>(2021.10.28 ~ 2021.11. 28)</a:t>
                </a:r>
                <a:endParaRPr lang="ko-KR" altLang="en-US" sz="7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A86F9F0-D5C2-4671-AF9B-AA1B1AB15CFD}"/>
                  </a:ext>
                </a:extLst>
              </p:cNvPr>
              <p:cNvSpPr txBox="1"/>
              <p:nvPr/>
            </p:nvSpPr>
            <p:spPr>
              <a:xfrm>
                <a:off x="7640448" y="4533932"/>
                <a:ext cx="3593006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000" dirty="0">
                    <a:latin typeface="페이퍼로지 7 Bold" pitchFamily="2" charset="-127"/>
                    <a:ea typeface="페이퍼로지 7 Bold" pitchFamily="2" charset="-127"/>
                  </a:rPr>
                  <a:t>보이스피싱 피해로 인한 정신적 피해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피해자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60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(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중복응답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, 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미응답 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3</a:t>
                </a: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명 제외</a:t>
                </a:r>
                <a:r>
                  <a:rPr lang="en-US" altLang="ko-KR" sz="800" dirty="0">
                    <a:latin typeface="페이퍼로지 4 Regular" pitchFamily="2" charset="-127"/>
                    <a:ea typeface="페이퍼로지 4 Regular" pitchFamily="2" charset="-127"/>
                  </a:rPr>
                  <a:t>)</a:t>
                </a:r>
                <a:endParaRPr lang="ko-KR" altLang="en-US" sz="8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EEECBB-BB64-41A1-A769-5B4184A6ED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20681" y="5872878"/>
              <a:ext cx="3512773" cy="1270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8173CF09-ABB3-4B3D-B8C2-78C646071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448" y="2162294"/>
            <a:ext cx="3520830" cy="184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1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E8D74D-AC22-40D6-AD00-C60A385F8D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20" r="5720"/>
          <a:stretch/>
        </p:blipFill>
        <p:spPr>
          <a:xfrm>
            <a:off x="0" y="-12700"/>
            <a:ext cx="12192000" cy="68834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513B6724-1F32-4AB3-95A3-5DF13A0497FF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rgbClr val="0E2746"/>
            </a:solidFill>
            <a:prstDash val="solid"/>
          </a:ln>
        </p:spPr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1842F57-B99E-45AA-9322-69849BDD5513}"/>
              </a:ext>
            </a:extLst>
          </p:cNvPr>
          <p:cNvGrpSpPr/>
          <p:nvPr/>
        </p:nvGrpSpPr>
        <p:grpSpPr>
          <a:xfrm>
            <a:off x="676209" y="614224"/>
            <a:ext cx="10701275" cy="5835195"/>
            <a:chOff x="676209" y="626924"/>
            <a:chExt cx="10701275" cy="583519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8ADCEB-E50C-42A8-8F4D-A33A939F0E5D}"/>
                </a:ext>
              </a:extLst>
            </p:cNvPr>
            <p:cNvSpPr txBox="1"/>
            <p:nvPr/>
          </p:nvSpPr>
          <p:spPr>
            <a:xfrm>
              <a:off x="3051175" y="626924"/>
              <a:ext cx="6102350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사람의 불안과 취약점을 이용해</a:t>
              </a:r>
              <a:endParaRPr lang="en-US" altLang="ko-KR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b="1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잘못된 판단을 유도하는 금융 범죄</a:t>
              </a:r>
            </a:p>
            <a:p>
              <a:pPr marL="0" indent="0" algn="ctr">
                <a:buNone/>
              </a:pPr>
              <a:r>
                <a:rPr lang="ko-KR" altLang="en-US" sz="5400" b="1" dirty="0">
                  <a:solidFill>
                    <a:schemeClr val="bg1"/>
                  </a:solidFill>
                  <a:latin typeface="페이퍼로지 9 Black" pitchFamily="2" charset="-127"/>
                  <a:ea typeface="페이퍼로지 9 Black" pitchFamily="2" charset="-127"/>
                  <a:cs typeface="NanumSquare Bold" pitchFamily="34" charset="-120"/>
                </a:rPr>
                <a:t>보이스피싱</a:t>
              </a:r>
              <a:endParaRPr lang="en-US" altLang="ko-KR" sz="5400" b="1" dirty="0">
                <a:solidFill>
                  <a:schemeClr val="bg1"/>
                </a:solidFill>
                <a:latin typeface="페이퍼로지 9 Black" pitchFamily="2" charset="-127"/>
                <a:ea typeface="페이퍼로지 9 Black" pitchFamily="2" charset="-127"/>
                <a:cs typeface="NanumSquare Bold" pitchFamily="34" charset="-12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82EADBD-3891-42CD-8D93-52D2B87ED37A}"/>
                </a:ext>
              </a:extLst>
            </p:cNvPr>
            <p:cNvSpPr txBox="1"/>
            <p:nvPr/>
          </p:nvSpPr>
          <p:spPr>
            <a:xfrm>
              <a:off x="2749550" y="5261790"/>
              <a:ext cx="66898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딥페이크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전화 가로채기</a:t>
              </a:r>
              <a:r>
                <a:rPr lang="en-US" altLang="ko-KR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… </a:t>
              </a: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끝없이 발전하는 수법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페이퍼로지 4 Regular" pitchFamily="2" charset="-127"/>
                  <a:ea typeface="페이퍼로지 4 Regular" pitchFamily="2" charset="-127"/>
                </a:rPr>
                <a:t>피해를 막기위한 정부와 금융 기관의 끝없는 사투</a:t>
              </a:r>
              <a:endParaRPr lang="en-US" altLang="ko-KR" sz="1400" dirty="0">
                <a:solidFill>
                  <a:schemeClr val="bg1"/>
                </a:solidFill>
                <a:latin typeface="페이퍼로지 4 Regular" pitchFamily="2" charset="-127"/>
                <a:ea typeface="페이퍼로지 4 Regular" pitchFamily="2" charset="-127"/>
              </a:endParaRPr>
            </a:p>
            <a:p>
              <a:pPr marL="0" indent="0" algn="ctr">
                <a:buNone/>
              </a:pPr>
              <a:endParaRPr lang="en-US" altLang="ko-KR" sz="400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</a:endParaRPr>
            </a:p>
            <a:p>
              <a:pPr marL="0" indent="0" algn="ctr">
                <a:buNone/>
              </a:pP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원이라도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단 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1</a:t>
              </a:r>
              <a:r>
                <a:rPr lang="ko-KR" altLang="en-US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명이라도</a:t>
              </a:r>
              <a:r>
                <a:rPr lang="en-US" altLang="ko-KR" sz="2000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 </a:t>
              </a: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더 지키기 위해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  <a:p>
              <a:pPr marL="0" indent="0" algn="ctr"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함께 고민하고 해결해야 할 중대한 사회적 문제</a:t>
              </a:r>
              <a:endParaRPr lang="en-US" altLang="ko-KR" sz="2000" b="1" dirty="0">
                <a:solidFill>
                  <a:schemeClr val="bg1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9ADD5DB-927E-4576-9A6F-EF9B87C9EA69}"/>
                </a:ext>
              </a:extLst>
            </p:cNvPr>
            <p:cNvSpPr/>
            <p:nvPr/>
          </p:nvSpPr>
          <p:spPr>
            <a:xfrm>
              <a:off x="676209" y="2561458"/>
              <a:ext cx="3359152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노인들에게 ‘100억원’ 뜯어낸 피싱 일당… 112 신고 전화까지 가로챘다 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매일경제</a:t>
              </a:r>
              <a:r>
                <a:rPr lang="en-US" altLang="ko-KR" sz="1400" b="0" i="0" dirty="0">
                  <a:effectLst/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B43EDA0-F05D-4C52-A723-643E3D87EDEC}"/>
                </a:ext>
              </a:extLst>
            </p:cNvPr>
            <p:cNvSpPr/>
            <p:nvPr/>
          </p:nvSpPr>
          <p:spPr>
            <a:xfrm>
              <a:off x="7921497" y="2824411"/>
              <a:ext cx="293687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보이스피싱 피해액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반토막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’… </a:t>
              </a:r>
            </a:p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월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337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억원으로 올해 최저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한국일보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43F7C86-A66C-4412-878D-BBA05B9DA175}"/>
                </a:ext>
              </a:extLst>
            </p:cNvPr>
            <p:cNvSpPr/>
            <p:nvPr/>
          </p:nvSpPr>
          <p:spPr>
            <a:xfrm>
              <a:off x="2093784" y="3428155"/>
              <a:ext cx="3214816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오늘 소방점검 나가요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"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전화에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덜컥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’..</a:t>
              </a:r>
            </a:p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알고보니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'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노쇼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’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제주방송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BD81DD3-DA06-47E6-8A81-238A4BEB83AC}"/>
                </a:ext>
              </a:extLst>
            </p:cNvPr>
            <p:cNvSpPr/>
            <p:nvPr/>
          </p:nvSpPr>
          <p:spPr>
            <a:xfrm>
              <a:off x="7402384" y="3984946"/>
              <a:ext cx="3975100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경찰청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-KT,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협업으로 보이스피싱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구매대행 사기 불법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010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번호 변작 중계소 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115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개소 단속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정책브리핑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7E3725-0C33-4292-A88D-07EA5E88446D}"/>
                </a:ext>
              </a:extLst>
            </p:cNvPr>
            <p:cNvSpPr txBox="1"/>
            <p:nvPr/>
          </p:nvSpPr>
          <p:spPr>
            <a:xfrm>
              <a:off x="5421715" y="1945024"/>
              <a:ext cx="13612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범죄 </a:t>
              </a:r>
              <a:r>
                <a:rPr lang="en-US" altLang="ko-KR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vs </a:t>
              </a:r>
              <a:r>
                <a:rPr lang="ko-KR" altLang="en-US" dirty="0">
                  <a:solidFill>
                    <a:schemeClr val="bg1"/>
                  </a:solidFill>
                  <a:latin typeface="페이퍼로지 7 Bold" pitchFamily="2" charset="-127"/>
                  <a:ea typeface="페이퍼로지 7 Bold" pitchFamily="2" charset="-127"/>
                </a:rPr>
                <a:t>대책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5F2574-374C-4458-803C-1D887BF70E66}"/>
                </a:ext>
              </a:extLst>
            </p:cNvPr>
            <p:cNvSpPr/>
            <p:nvPr/>
          </p:nvSpPr>
          <p:spPr>
            <a:xfrm>
              <a:off x="1269936" y="4301036"/>
              <a:ext cx="2765425" cy="545534"/>
            </a:xfrm>
            <a:prstGeom prst="rect">
              <a:avLst/>
            </a:prstGeom>
            <a:solidFill>
              <a:schemeClr val="bg1"/>
            </a:solidFill>
            <a:ln w="12700">
              <a:noFill/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algn="ctr"/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대출 미끼로 계좌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·OTP 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받아 보이스피싱 자금세탁</a:t>
              </a:r>
              <a:r>
                <a:rPr lang="en-US" altLang="ko-KR" sz="1400" dirty="0">
                  <a:latin typeface="페이퍼로지 7 Bold" pitchFamily="2" charset="-127"/>
                  <a:ea typeface="페이퍼로지 7 Bold" pitchFamily="2" charset="-127"/>
                </a:rPr>
                <a:t>…3</a:t>
              </a:r>
              <a:r>
                <a:rPr lang="ko-KR" altLang="en-US" sz="1400" dirty="0">
                  <a:latin typeface="페이퍼로지 7 Bold" pitchFamily="2" charset="-127"/>
                  <a:ea typeface="페이퍼로지 7 Bold" pitchFamily="2" charset="-127"/>
                </a:rPr>
                <a:t>명 구속 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(</a:t>
              </a:r>
              <a:r>
                <a:rPr lang="ko-KR" altLang="en-US" sz="1400" dirty="0">
                  <a:latin typeface="페이퍼로지 4 Regular" pitchFamily="2" charset="-127"/>
                  <a:ea typeface="페이퍼로지 4 Regular" pitchFamily="2" charset="-127"/>
                </a:rPr>
                <a:t>서울신문</a:t>
              </a:r>
              <a:r>
                <a:rPr lang="en-US" altLang="ko-KR" sz="1400" dirty="0">
                  <a:latin typeface="페이퍼로지 4 Regular" pitchFamily="2" charset="-127"/>
                  <a:ea typeface="페이퍼로지 4 Regular" pitchFamily="2" charset="-127"/>
                </a:rPr>
                <a:t>)</a:t>
              </a:r>
              <a:endParaRPr lang="ko-KR" altLang="en-US" sz="1400" dirty="0"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42581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734130" y="806730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보이스피싱 범죄 피해를 막고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줄이고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도와줄 수 있는 대책을 마련하기 위해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은행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각자의 자리에서 노력하고 있다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729441" y="593195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범죄로부터 소중한 국민의 재산과 생명을 지키기 위해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…</a:t>
            </a:r>
            <a:endParaRPr lang="en-US" altLang="ko-KR" sz="1230" dirty="0"/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3078A156-9BD4-4B2C-8818-C873541FE1FE}"/>
              </a:ext>
            </a:extLst>
          </p:cNvPr>
          <p:cNvGrpSpPr/>
          <p:nvPr/>
        </p:nvGrpSpPr>
        <p:grpSpPr>
          <a:xfrm>
            <a:off x="989537" y="5557693"/>
            <a:ext cx="10212928" cy="773508"/>
            <a:chOff x="989537" y="5557693"/>
            <a:chExt cx="10212928" cy="773508"/>
          </a:xfrm>
        </p:grpSpPr>
        <p:sp>
          <p:nvSpPr>
            <p:cNvPr id="46" name="Shape 44"/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47" name="Text 45"/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특히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인공지능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(AI)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와 빅데이터를 적극 활용하여 실시간 분석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차단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조치하고 있고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</a:t>
              </a:r>
            </a:p>
            <a:p>
              <a:pPr marL="0" indent="0" algn="ctr">
                <a:buNone/>
              </a:pP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최신 기술을 활용하고 협업 체계를 구축하며 다양한 </a:t>
              </a:r>
              <a:r>
                <a:rPr lang="en-US" sz="1520" b="1" dirty="0" err="1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안전장치</a:t>
              </a:r>
              <a:r>
                <a:rPr 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개발과 제도 개선이 활발하게 이루어지고 있다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649D8BAD-1665-4D6F-983B-6C0A73436477}"/>
              </a:ext>
            </a:extLst>
          </p:cNvPr>
          <p:cNvGrpSpPr/>
          <p:nvPr/>
        </p:nvGrpSpPr>
        <p:grpSpPr>
          <a:xfrm>
            <a:off x="759391" y="1909343"/>
            <a:ext cx="10673219" cy="3422455"/>
            <a:chOff x="580527" y="1844623"/>
            <a:chExt cx="10673219" cy="342245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87A687C-E086-49AD-B17E-3AA81A103D3D}"/>
                </a:ext>
              </a:extLst>
            </p:cNvPr>
            <p:cNvGrpSpPr/>
            <p:nvPr/>
          </p:nvGrpSpPr>
          <p:grpSpPr>
            <a:xfrm>
              <a:off x="580527" y="1844623"/>
              <a:ext cx="10673219" cy="3422455"/>
              <a:chOff x="586093" y="1735608"/>
              <a:chExt cx="10673219" cy="3422455"/>
            </a:xfrm>
          </p:grpSpPr>
          <p:sp>
            <p:nvSpPr>
              <p:cNvPr id="10" name="Shape 8"/>
              <p:cNvSpPr/>
              <p:nvPr/>
            </p:nvSpPr>
            <p:spPr>
              <a:xfrm>
                <a:off x="586093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</p:sp>
          <p:sp>
            <p:nvSpPr>
              <p:cNvPr id="22" name="Shape 20"/>
              <p:cNvSpPr/>
              <p:nvPr/>
            </p:nvSpPr>
            <p:spPr>
              <a:xfrm>
                <a:off x="4185781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34" name="Shape 32"/>
              <p:cNvSpPr/>
              <p:nvPr/>
            </p:nvSpPr>
            <p:spPr>
              <a:xfrm>
                <a:off x="7785469" y="1735608"/>
                <a:ext cx="3473843" cy="3422455"/>
              </a:xfrm>
              <a:prstGeom prst="roundRect">
                <a:avLst>
                  <a:gd name="adj" fmla="val 5405"/>
                </a:avLst>
              </a:prstGeom>
              <a:solidFill>
                <a:srgbClr val="FFFFFF"/>
              </a:solidFill>
              <a:ln w="10160">
                <a:solidFill>
                  <a:srgbClr val="DCE8FA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C0B95D-B25B-43EF-A360-B3D890DD9167}"/>
                </a:ext>
              </a:extLst>
            </p:cNvPr>
            <p:cNvGrpSpPr/>
            <p:nvPr/>
          </p:nvGrpSpPr>
          <p:grpSpPr>
            <a:xfrm>
              <a:off x="749968" y="1967786"/>
              <a:ext cx="10094815" cy="475488"/>
              <a:chOff x="749968" y="1967786"/>
              <a:chExt cx="10094815" cy="475488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749968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1216B33-CA83-41B7-ABAA-90D9A227C2D0}"/>
                  </a:ext>
                </a:extLst>
              </p:cNvPr>
              <p:cNvGrpSpPr/>
              <p:nvPr/>
            </p:nvGrpSpPr>
            <p:grpSpPr>
              <a:xfrm>
                <a:off x="761283" y="1992590"/>
                <a:ext cx="2503285" cy="448056"/>
                <a:chOff x="725424" y="1999106"/>
                <a:chExt cx="2503285" cy="448056"/>
              </a:xfrm>
            </p:grpSpPr>
            <p:sp>
              <p:nvSpPr>
                <p:cNvPr id="12" name="Text 10"/>
                <p:cNvSpPr txBox="1"/>
                <p:nvPr/>
              </p:nvSpPr>
              <p:spPr>
                <a:xfrm>
                  <a:off x="725424" y="1999106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F5E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01</a:t>
                  </a:r>
                  <a:endParaRPr lang="en-US" sz="16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금융기관</a:t>
                  </a:r>
                  <a:r>
                    <a:rPr lang="en-US" altLang="ko-KR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·</a:t>
                  </a:r>
                  <a:r>
                    <a:rPr lang="ko-KR" altLang="en-US" sz="1620" b="1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은행</a:t>
                  </a:r>
                  <a:endParaRPr lang="en-US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57" name="Shape 9">
                <a:extLst>
                  <a:ext uri="{FF2B5EF4-FFF2-40B4-BE49-F238E27FC236}">
                    <a16:creationId xmlns:a16="http://schemas.microsoft.com/office/drawing/2014/main" id="{DD769627-C9E7-41C2-B6FE-22791B7D0B6C}"/>
                  </a:ext>
                </a:extLst>
              </p:cNvPr>
              <p:cNvSpPr/>
              <p:nvPr/>
            </p:nvSpPr>
            <p:spPr>
              <a:xfrm>
                <a:off x="4341329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F964D1DB-BDC2-4629-9FE3-BA6C34077CD3}"/>
                  </a:ext>
                </a:extLst>
              </p:cNvPr>
              <p:cNvGrpSpPr/>
              <p:nvPr/>
            </p:nvGrpSpPr>
            <p:grpSpPr>
              <a:xfrm>
                <a:off x="4346001" y="1990054"/>
                <a:ext cx="2509928" cy="448056"/>
                <a:chOff x="718781" y="1994033"/>
                <a:chExt cx="2509928" cy="448056"/>
              </a:xfrm>
            </p:grpSpPr>
            <p:sp>
              <p:nvSpPr>
                <p:cNvPr id="59" name="Text 10">
                  <a:extLst>
                    <a:ext uri="{FF2B5EF4-FFF2-40B4-BE49-F238E27FC236}">
                      <a16:creationId xmlns:a16="http://schemas.microsoft.com/office/drawing/2014/main" id="{27D72A6B-8151-44EC-8DCA-C1F7F0B49680}"/>
                    </a:ext>
                  </a:extLst>
                </p:cNvPr>
                <p:cNvSpPr txBox="1"/>
                <p:nvPr/>
              </p:nvSpPr>
              <p:spPr>
                <a:xfrm>
                  <a:off x="718781" y="1994033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2F7CF6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2</a:t>
                  </a:r>
                  <a:endParaRPr lang="en-US" sz="1600" dirty="0">
                    <a:solidFill>
                      <a:srgbClr val="2F7CF6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2" name="Text 11">
                  <a:extLst>
                    <a:ext uri="{FF2B5EF4-FFF2-40B4-BE49-F238E27FC236}">
                      <a16:creationId xmlns:a16="http://schemas.microsoft.com/office/drawing/2014/main" id="{7E39A5C8-EFF4-4D1F-A422-7810807E1826}"/>
                    </a:ext>
                  </a:extLst>
                </p:cNvPr>
                <p:cNvSpPr txBox="1"/>
                <p:nvPr/>
              </p:nvSpPr>
              <p:spPr>
                <a:xfrm>
                  <a:off x="1326757" y="2007046"/>
                  <a:ext cx="1901952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정부·공공기관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  <p:sp>
            <p:nvSpPr>
              <p:cNvPr id="64" name="Shape 9">
                <a:extLst>
                  <a:ext uri="{FF2B5EF4-FFF2-40B4-BE49-F238E27FC236}">
                    <a16:creationId xmlns:a16="http://schemas.microsoft.com/office/drawing/2014/main" id="{15B61A14-5EDC-428A-A5CA-3FAD34AE93DD}"/>
                  </a:ext>
                </a:extLst>
              </p:cNvPr>
              <p:cNvSpPr/>
              <p:nvPr/>
            </p:nvSpPr>
            <p:spPr>
              <a:xfrm>
                <a:off x="7946853" y="1967786"/>
                <a:ext cx="475488" cy="475488"/>
              </a:xfrm>
              <a:prstGeom prst="ellipse">
                <a:avLst/>
              </a:prstGeom>
              <a:solidFill>
                <a:srgbClr val="EAF3FF"/>
              </a:solidFill>
              <a:ln w="10160">
                <a:solidFill>
                  <a:srgbClr val="D7E7FF"/>
                </a:solidFill>
                <a:prstDash val="solid"/>
              </a:ln>
            </p:spPr>
            <p:txBody>
              <a:bodyPr/>
              <a:lstStyle/>
              <a:p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4678AE84-686A-4BAE-A653-546969E73231}"/>
                  </a:ext>
                </a:extLst>
              </p:cNvPr>
              <p:cNvGrpSpPr/>
              <p:nvPr/>
            </p:nvGrpSpPr>
            <p:grpSpPr>
              <a:xfrm>
                <a:off x="7954473" y="1986074"/>
                <a:ext cx="2890310" cy="448056"/>
                <a:chOff x="721729" y="1986074"/>
                <a:chExt cx="2890310" cy="448056"/>
              </a:xfrm>
            </p:grpSpPr>
            <p:sp>
              <p:nvSpPr>
                <p:cNvPr id="66" name="Text 10">
                  <a:extLst>
                    <a:ext uri="{FF2B5EF4-FFF2-40B4-BE49-F238E27FC236}">
                      <a16:creationId xmlns:a16="http://schemas.microsoft.com/office/drawing/2014/main" id="{2F3E720C-B899-4F92-BAA2-ED6FED174CCA}"/>
                    </a:ext>
                  </a:extLst>
                </p:cNvPr>
                <p:cNvSpPr txBox="1"/>
                <p:nvPr/>
              </p:nvSpPr>
              <p:spPr>
                <a:xfrm>
                  <a:off x="721729" y="1986074"/>
                  <a:ext cx="475488" cy="44805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0</a:t>
                  </a:r>
                  <a:r>
                    <a:rPr lang="en-US" altLang="ko-KR" sz="1600" b="1" dirty="0">
                      <a:solidFill>
                        <a:srgbClr val="49A8FF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 Bold" pitchFamily="34" charset="-120"/>
                    </a:rPr>
                    <a:t>3</a:t>
                  </a:r>
                  <a:endParaRPr lang="en-US" sz="1600" dirty="0">
                    <a:solidFill>
                      <a:srgbClr val="49A8FF"/>
                    </a:solidFill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  <p:sp>
              <p:nvSpPr>
                <p:cNvPr id="67" name="Text 11">
                  <a:extLst>
                    <a:ext uri="{FF2B5EF4-FFF2-40B4-BE49-F238E27FC236}">
                      <a16:creationId xmlns:a16="http://schemas.microsoft.com/office/drawing/2014/main" id="{D1DF7AED-949A-4A37-B186-5B80E15BEB3D}"/>
                    </a:ext>
                  </a:extLst>
                </p:cNvPr>
                <p:cNvSpPr txBox="1"/>
                <p:nvPr/>
              </p:nvSpPr>
              <p:spPr>
                <a:xfrm>
                  <a:off x="1326756" y="2007046"/>
                  <a:ext cx="2285283" cy="38404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en-US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금융</a:t>
                  </a:r>
                  <a:r>
                    <a:rPr lang="en-US" altLang="ko-KR" sz="1620" b="1" dirty="0" err="1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 Bold" pitchFamily="34" charset="-120"/>
                    </a:rPr>
                    <a:t>통신사·보안업체</a:t>
                  </a:r>
                  <a:endParaRPr lang="en-US" altLang="ko-KR" sz="162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</p:grpSp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035F51FC-ACBE-4B66-A3AB-2CA6FF47C992}"/>
                </a:ext>
              </a:extLst>
            </p:cNvPr>
            <p:cNvGrpSpPr/>
            <p:nvPr/>
          </p:nvGrpSpPr>
          <p:grpSpPr>
            <a:xfrm>
              <a:off x="796565" y="2585446"/>
              <a:ext cx="2888053" cy="614349"/>
              <a:chOff x="796565" y="2491362"/>
              <a:chExt cx="2888053" cy="614349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5" name="Text 13"/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ASAP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플랫폼 </a:t>
                </a:r>
                <a:endParaRPr lang="en-US" altLang="ko-KR" sz="1000" dirty="0">
                  <a:latin typeface="페이퍼로지 7 Bold" pitchFamily="2" charset="-127"/>
                  <a:ea typeface="페이퍼로지 7 Bold" pitchFamily="2" charset="-127"/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303F7BDC-0128-43C0-AF3E-34FEEE94B193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7783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금융회사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통신사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수사기관이 보이스피싱과 관련된 외부</a:t>
                </a:r>
                <a:endParaRPr lang="en-US" altLang="ko-KR" sz="900" dirty="0">
                  <a:solidFill>
                    <a:srgbClr val="10213D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위험 정보를 실시간으로 공유하고 차단하는 </a:t>
                </a:r>
                <a:r>
                  <a:rPr lang="en-US" altLang="ko-KR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AI</a:t>
                </a:r>
                <a:r>
                  <a:rPr lang="ko-KR" altLang="en-US" sz="900" dirty="0">
                    <a:solidFill>
                      <a:srgbClr val="FF4B16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기반 플랫폼</a:t>
                </a:r>
                <a:endParaRPr lang="ko-KR" altLang="en-US" sz="9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20FD6DE2-A11F-468B-A7D3-0184BDCBF15F}"/>
                </a:ext>
              </a:extLst>
            </p:cNvPr>
            <p:cNvGrpSpPr/>
            <p:nvPr/>
          </p:nvGrpSpPr>
          <p:grpSpPr>
            <a:xfrm>
              <a:off x="796565" y="3212531"/>
              <a:ext cx="3047142" cy="752848"/>
              <a:chOff x="796565" y="2491362"/>
              <a:chExt cx="3047142" cy="752848"/>
            </a:xfrm>
          </p:grpSpPr>
          <p:sp>
            <p:nvSpPr>
              <p:cNvPr id="99" name="Shape 12">
                <a:extLst>
                  <a:ext uri="{FF2B5EF4-FFF2-40B4-BE49-F238E27FC236}">
                    <a16:creationId xmlns:a16="http://schemas.microsoft.com/office/drawing/2014/main" id="{EB72D09C-0131-4404-96B0-C5C1D23AD146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0" name="Text 13">
                <a:extLst>
                  <a:ext uri="{FF2B5EF4-FFF2-40B4-BE49-F238E27FC236}">
                    <a16:creationId xmlns:a16="http://schemas.microsoft.com/office/drawing/2014/main" id="{2D5D472E-D64B-44B1-82B1-A1FB676BD43D}"/>
                  </a:ext>
                </a:extLst>
              </p:cNvPr>
              <p:cNvSpPr txBox="1"/>
              <p:nvPr/>
            </p:nvSpPr>
            <p:spPr>
              <a:xfrm>
                <a:off x="997733" y="2491362"/>
                <a:ext cx="228600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FDS 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이상거래 탐지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211D9CDD-CB64-457D-8AF7-8D86970B0A84}"/>
                  </a:ext>
                </a:extLst>
              </p:cNvPr>
              <p:cNvSpPr txBox="1"/>
              <p:nvPr/>
            </p:nvSpPr>
            <p:spPr>
              <a:xfrm>
                <a:off x="906293" y="2736379"/>
                <a:ext cx="2937414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전자금융거래 시 단말기 정보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접속위치</a:t>
                </a:r>
                <a:r>
                  <a:rPr lang="en-US" altLang="ko-KR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, </a:t>
                </a:r>
                <a:r>
                  <a:rPr lang="ko-KR" altLang="en-US" sz="9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평소 거래 패턴등을 실시간으로 분석하여 의심스러운 부정 거래를 탐치하고 차단하는 이상거래 탐지 시스템</a:t>
                </a:r>
                <a:endParaRPr lang="ko-KR" altLang="en-US" sz="900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7BBF2746-B58F-4409-86F5-702788857728}"/>
                </a:ext>
              </a:extLst>
            </p:cNvPr>
            <p:cNvGrpSpPr/>
            <p:nvPr/>
          </p:nvGrpSpPr>
          <p:grpSpPr>
            <a:xfrm>
              <a:off x="796565" y="3990937"/>
              <a:ext cx="2966904" cy="952903"/>
              <a:chOff x="796565" y="2491362"/>
              <a:chExt cx="2966904" cy="952903"/>
            </a:xfrm>
          </p:grpSpPr>
          <p:sp>
            <p:nvSpPr>
              <p:cNvPr id="103" name="Shape 12">
                <a:extLst>
                  <a:ext uri="{FF2B5EF4-FFF2-40B4-BE49-F238E27FC236}">
                    <a16:creationId xmlns:a16="http://schemas.microsoft.com/office/drawing/2014/main" id="{2AE99B93-85EF-4941-90DF-B14B33B660FF}"/>
                  </a:ext>
                </a:extLst>
              </p:cNvPr>
              <p:cNvSpPr/>
              <p:nvPr/>
            </p:nvSpPr>
            <p:spPr>
              <a:xfrm>
                <a:off x="796565" y="2601090"/>
                <a:ext cx="109728" cy="109728"/>
              </a:xfrm>
              <a:prstGeom prst="ellipse">
                <a:avLst/>
              </a:prstGeom>
              <a:solidFill>
                <a:srgbClr val="1F5EFF"/>
              </a:solidFill>
              <a:ln w="10160">
                <a:solidFill>
                  <a:srgbClr val="1F5EFF"/>
                </a:solidFill>
                <a:prstDash val="solid"/>
              </a:ln>
            </p:spPr>
          </p:sp>
          <p:sp>
            <p:nvSpPr>
              <p:cNvPr id="104" name="Text 13">
                <a:extLst>
                  <a:ext uri="{FF2B5EF4-FFF2-40B4-BE49-F238E27FC236}">
                    <a16:creationId xmlns:a16="http://schemas.microsoft.com/office/drawing/2014/main" id="{91F752C7-787F-40FB-A79F-7F58594334DD}"/>
                  </a:ext>
                </a:extLst>
              </p:cNvPr>
              <p:cNvSpPr txBox="1"/>
              <p:nvPr/>
            </p:nvSpPr>
            <p:spPr>
              <a:xfrm>
                <a:off x="997732" y="2491362"/>
                <a:ext cx="2686885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지연이체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지급정지</a:t>
                </a:r>
                <a:r>
                  <a:rPr lang="en-US" altLang="ko-KR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rPr>
                  <a:t>전자금융사기 예방서비스 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D89F6C0A-CE7D-4377-99D3-E82568841B16}"/>
                  </a:ext>
                </a:extLst>
              </p:cNvPr>
              <p:cNvSpPr txBox="1"/>
              <p:nvPr/>
            </p:nvSpPr>
            <p:spPr>
              <a:xfrm>
                <a:off x="938662" y="2736379"/>
                <a:ext cx="2824807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지연이체 이체 시 수취인 계좌에 일정시간</a:t>
                </a:r>
                <a:r>
                  <a:rPr lang="en-US" altLang="ko-KR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(</a:t>
                </a: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최소 </a:t>
                </a:r>
                <a:r>
                  <a:rPr lang="en-US" altLang="ko-KR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3</a:t>
                </a: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시간</a:t>
                </a:r>
                <a:r>
                  <a:rPr lang="en-US" altLang="ko-KR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)</a:t>
                </a: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경과 후 입금되도록 하는 서비스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지급정지 전기통신금융사기 피해금이 들어간 계좌를 신혹시</a:t>
                </a:r>
                <a:br>
                  <a:rPr lang="en-US" altLang="ko-KR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</a:br>
                <a:r>
                  <a:rPr lang="ko-KR" altLang="en-US" sz="800" dirty="0">
                    <a:solidFill>
                      <a:srgbClr val="10213D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rPr>
                  <a:t>묶어 추가 인출을 막는 절차</a:t>
                </a:r>
                <a:endParaRPr lang="en-US" altLang="ko-KR" sz="800" dirty="0">
                  <a:solidFill>
                    <a:srgbClr val="10213D"/>
                  </a:solidFill>
                  <a:latin typeface="페이퍼로지 4 Regular" pitchFamily="2" charset="-127"/>
                  <a:ea typeface="페이퍼로지 4 Regular" pitchFamily="2" charset="-127"/>
                  <a:cs typeface="NanumSquare" pitchFamily="34" charset="-12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800" dirty="0">
                    <a:latin typeface="페이퍼로지 4 Regular" pitchFamily="2" charset="-127"/>
                    <a:ea typeface="페이퍼로지 4 Regular" pitchFamily="2" charset="-127"/>
                  </a:rPr>
                  <a:t>금융자산을 보호하기 위해 본인확인 절차를 강화하는 서비스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4E2107FB-F873-4983-BE64-7F11CCE295C3}"/>
                </a:ext>
              </a:extLst>
            </p:cNvPr>
            <p:cNvGrpSpPr/>
            <p:nvPr/>
          </p:nvGrpSpPr>
          <p:grpSpPr>
            <a:xfrm>
              <a:off x="4384972" y="2585446"/>
              <a:ext cx="2766786" cy="614349"/>
              <a:chOff x="4384972" y="2585446"/>
              <a:chExt cx="2766786" cy="614349"/>
            </a:xfrm>
          </p:grpSpPr>
          <p:sp>
            <p:nvSpPr>
              <p:cNvPr id="26" name="Shape 24"/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CE3EB3BF-9ECC-4A3B-9952-516B4C2FC656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661306" cy="614349"/>
                <a:chOff x="906293" y="2491362"/>
                <a:chExt cx="2661306" cy="614349"/>
              </a:xfrm>
            </p:grpSpPr>
            <p:sp>
              <p:nvSpPr>
                <p:cNvPr id="109" name="Text 13">
                  <a:extLst>
                    <a:ext uri="{FF2B5EF4-FFF2-40B4-BE49-F238E27FC236}">
                      <a16:creationId xmlns:a16="http://schemas.microsoft.com/office/drawing/2014/main" id="{C18901BD-E1CC-4FFE-894F-775B066395D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신고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피해구제 제도 및 체계 개선</a:t>
                  </a:r>
                  <a:endParaRPr lang="en-US" altLang="ko-KR" sz="1000" dirty="0">
                    <a:latin typeface="페이퍼로지 7 Bold" pitchFamily="2" charset="-127"/>
                    <a:ea typeface="페이퍼로지 7 Bold" pitchFamily="2" charset="-127"/>
                  </a:endParaRP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D1A5D58-7F3B-45EF-917A-954C9192C90B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66130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원스톱 신고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단계별 피해 구제 절차 등</a:t>
                  </a:r>
                  <a:endParaRPr lang="en-US" altLang="ko-KR" sz="900" dirty="0"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</a:rPr>
                    <a:t>보이스피싱 피해구제 제도와 계좌 지급정지 접근성 강화</a:t>
                  </a:r>
                </a:p>
              </p:txBody>
            </p:sp>
          </p:grp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1FA11A45-E01D-4438-A224-C9D990430FBE}"/>
                </a:ext>
              </a:extLst>
            </p:cNvPr>
            <p:cNvGrpSpPr/>
            <p:nvPr/>
          </p:nvGrpSpPr>
          <p:grpSpPr>
            <a:xfrm>
              <a:off x="4384972" y="3212531"/>
              <a:ext cx="2543968" cy="614349"/>
              <a:chOff x="4384972" y="2585446"/>
              <a:chExt cx="2543968" cy="614349"/>
            </a:xfrm>
          </p:grpSpPr>
          <p:sp>
            <p:nvSpPr>
              <p:cNvPr id="113" name="Shape 24">
                <a:extLst>
                  <a:ext uri="{FF2B5EF4-FFF2-40B4-BE49-F238E27FC236}">
                    <a16:creationId xmlns:a16="http://schemas.microsoft.com/office/drawing/2014/main" id="{78311CB7-38E7-41C6-86B5-0BEB525459FB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653BE3CF-3381-4032-BE64-B1AD59E3A731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438488" cy="614349"/>
                <a:chOff x="906293" y="2491362"/>
                <a:chExt cx="2438488" cy="614349"/>
              </a:xfrm>
            </p:grpSpPr>
            <p:sp>
              <p:nvSpPr>
                <p:cNvPr id="115" name="Text 13">
                  <a:extLst>
                    <a:ext uri="{FF2B5EF4-FFF2-40B4-BE49-F238E27FC236}">
                      <a16:creationId xmlns:a16="http://schemas.microsoft.com/office/drawing/2014/main" id="{C619FD46-F5E9-4160-8AC1-3828DE5A7294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예방교육 </a:t>
                  </a:r>
                  <a:r>
                    <a:rPr lang="en-US" altLang="ko-KR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· </a:t>
                  </a:r>
                  <a:r>
                    <a:rPr lang="ko-KR" altLang="en-US" sz="100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홍보</a:t>
                  </a:r>
                  <a:endParaRPr lang="ko-KR" altLang="en-US" sz="1000" dirty="0">
                    <a:solidFill>
                      <a:srgbClr val="10213D"/>
                    </a:solidFill>
                    <a:latin typeface="페이퍼로지 7 Bold" pitchFamily="2" charset="-127"/>
                    <a:ea typeface="페이퍼로지 7 Bold" pitchFamily="2" charset="-127"/>
                    <a:cs typeface="NanumSquare" pitchFamily="34" charset="-120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B13986B-82BF-46A0-BC9D-2E44EE978B10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4384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범정부 대응 및 콘텐츠 배포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생활 밀착형 현장홍보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</a:p>
                <a:p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찾아가는 현장교육</a:t>
                  </a:r>
                  <a:endParaRPr lang="ko-KR" altLang="en-US" sz="9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8A1977-7C20-4B32-9C0E-CD5436D48C75}"/>
                </a:ext>
              </a:extLst>
            </p:cNvPr>
            <p:cNvGrpSpPr/>
            <p:nvPr/>
          </p:nvGrpSpPr>
          <p:grpSpPr>
            <a:xfrm>
              <a:off x="4384972" y="3882182"/>
              <a:ext cx="3093799" cy="614349"/>
              <a:chOff x="4384972" y="2585446"/>
              <a:chExt cx="3093799" cy="614349"/>
            </a:xfrm>
          </p:grpSpPr>
          <p:sp>
            <p:nvSpPr>
              <p:cNvPr id="119" name="Shape 24">
                <a:extLst>
                  <a:ext uri="{FF2B5EF4-FFF2-40B4-BE49-F238E27FC236}">
                    <a16:creationId xmlns:a16="http://schemas.microsoft.com/office/drawing/2014/main" id="{4541929F-BB7D-4D3A-BF63-55E2FCC62316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2F7CF6"/>
              </a:solidFill>
              <a:ln w="10160">
                <a:solidFill>
                  <a:srgbClr val="2F7CF6"/>
                </a:solidFill>
                <a:prstDash val="solid"/>
              </a:ln>
            </p:spPr>
          </p: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20FAF6DA-F591-4D8E-BE73-CC99AA1640D5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988319" cy="614349"/>
                <a:chOff x="906293" y="2491362"/>
                <a:chExt cx="2988319" cy="614349"/>
              </a:xfrm>
            </p:grpSpPr>
            <p:sp>
              <p:nvSpPr>
                <p:cNvPr id="121" name="Text 13">
                  <a:extLst>
                    <a:ext uri="{FF2B5EF4-FFF2-40B4-BE49-F238E27FC236}">
                      <a16:creationId xmlns:a16="http://schemas.microsoft.com/office/drawing/2014/main" id="{DEC6BCC0-173F-4F90-854F-D1F3BF4AA74E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286000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공식기관 확인 채널</a:t>
                  </a:r>
                </a:p>
              </p:txBody>
            </p:sp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ABFD11CC-A553-4181-8FD5-7191E4D18FC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98831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서류의 진위여부를 실시간으로 확인할 수 있는 공식채널 운영</a:t>
                  </a:r>
                  <a:b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콜센터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카카오톡 오픈채팅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운영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검찰 찐센터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KISA </a:t>
                  </a:r>
                  <a:r>
                    <a:rPr lang="ko-KR" altLang="en-US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보호나라</a:t>
                  </a:r>
                  <a:r>
                    <a:rPr lang="en-US" altLang="ko-KR" sz="900" dirty="0">
                      <a:solidFill>
                        <a:srgbClr val="10213D"/>
                      </a:solidFill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  <a:endParaRPr lang="ko-KR" altLang="en-US" sz="9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61261165-349A-4EFC-B7EA-A255EA6AD00D}"/>
                </a:ext>
              </a:extLst>
            </p:cNvPr>
            <p:cNvGrpSpPr/>
            <p:nvPr/>
          </p:nvGrpSpPr>
          <p:grpSpPr>
            <a:xfrm>
              <a:off x="4559618" y="4589897"/>
              <a:ext cx="2749676" cy="524166"/>
              <a:chOff x="5435730" y="4579898"/>
              <a:chExt cx="1359538" cy="249846"/>
            </a:xfrm>
          </p:grpSpPr>
          <p:pic>
            <p:nvPicPr>
              <p:cNvPr id="123" name="그림 7">
                <a:extLst>
                  <a:ext uri="{FF2B5EF4-FFF2-40B4-BE49-F238E27FC236}">
                    <a16:creationId xmlns:a16="http://schemas.microsoft.com/office/drawing/2014/main" id="{551562FA-CF08-4976-9E26-E2576CD6036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7198" t="5136" r="17871" b="88464"/>
              <a:stretch/>
            </p:blipFill>
            <p:spPr>
              <a:xfrm>
                <a:off x="6389981" y="4627592"/>
                <a:ext cx="405287" cy="148890"/>
              </a:xfrm>
              <a:prstGeom prst="rect">
                <a:avLst/>
              </a:prstGeom>
            </p:spPr>
          </p:pic>
          <p:pic>
            <p:nvPicPr>
              <p:cNvPr id="124" name="그림 7">
                <a:extLst>
                  <a:ext uri="{FF2B5EF4-FFF2-40B4-BE49-F238E27FC236}">
                    <a16:creationId xmlns:a16="http://schemas.microsoft.com/office/drawing/2014/main" id="{CE3306C8-485E-4D4B-A9B4-1F7029797B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4004" t="3308" r="61422" b="85951"/>
              <a:stretch/>
            </p:blipFill>
            <p:spPr>
              <a:xfrm>
                <a:off x="5435730" y="4579898"/>
                <a:ext cx="938445" cy="249846"/>
              </a:xfrm>
              <a:prstGeom prst="rect">
                <a:avLst/>
              </a:prstGeom>
            </p:spPr>
          </p:pic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F0298854-A292-42A7-98D2-719628F27749}"/>
                </a:ext>
              </a:extLst>
            </p:cNvPr>
            <p:cNvGrpSpPr/>
            <p:nvPr/>
          </p:nvGrpSpPr>
          <p:grpSpPr>
            <a:xfrm>
              <a:off x="8014716" y="2585446"/>
              <a:ext cx="2896629" cy="891348"/>
              <a:chOff x="4384972" y="2585446"/>
              <a:chExt cx="2896629" cy="891348"/>
            </a:xfrm>
          </p:grpSpPr>
          <p:sp>
            <p:nvSpPr>
              <p:cNvPr id="127" name="Shape 24">
                <a:extLst>
                  <a:ext uri="{FF2B5EF4-FFF2-40B4-BE49-F238E27FC236}">
                    <a16:creationId xmlns:a16="http://schemas.microsoft.com/office/drawing/2014/main" id="{CE3B36F3-21BA-452F-A3AB-DAB4970248FF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9615BA18-3CA4-48BB-A642-C29D2E15D9DF}"/>
                  </a:ext>
                </a:extLst>
              </p:cNvPr>
              <p:cNvGrpSpPr/>
              <p:nvPr/>
            </p:nvGrpSpPr>
            <p:grpSpPr>
              <a:xfrm>
                <a:off x="4490452" y="2585446"/>
                <a:ext cx="2791149" cy="891348"/>
                <a:chOff x="906293" y="2491362"/>
                <a:chExt cx="2791149" cy="891348"/>
              </a:xfrm>
            </p:grpSpPr>
            <p:sp>
              <p:nvSpPr>
                <p:cNvPr id="129" name="Text 13">
                  <a:extLst>
                    <a:ext uri="{FF2B5EF4-FFF2-40B4-BE49-F238E27FC236}">
                      <a16:creationId xmlns:a16="http://schemas.microsoft.com/office/drawing/2014/main" id="{09FC5D82-21D2-46DB-93A7-8EC391C1667D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통신사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통화 비서 앱 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-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스팸번호 탐지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악성 앱 차단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9F9B7EA9-7248-46A7-97E4-CA2D5546080D}"/>
                    </a:ext>
                  </a:extLst>
                </p:cNvPr>
                <p:cNvSpPr txBox="1"/>
                <p:nvPr/>
              </p:nvSpPr>
              <p:spPr>
                <a:xfrm>
                  <a:off x="906293" y="2736379"/>
                  <a:ext cx="2791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주요 통신사 앱별 탐지 서비스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예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: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에이닷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익시오 등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 중 실시간으로 보이스피싱을 감지하고 차단하는</a:t>
                  </a:r>
                  <a:b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</a:b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강력한 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보안 기능을 제공</a:t>
                  </a:r>
                  <a:endParaRPr lang="en-US" altLang="ko-KR" sz="900" dirty="0"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AI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분석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경찰청 연계 통해 보이스피싱 및 악성 앱 탐지</a:t>
                  </a:r>
                  <a:endParaRPr lang="ko-KR" altLang="en-US" sz="9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0B9F7FD3-263B-4E20-8ED9-18AECC8E0FC0}"/>
                </a:ext>
              </a:extLst>
            </p:cNvPr>
            <p:cNvGrpSpPr/>
            <p:nvPr/>
          </p:nvGrpSpPr>
          <p:grpSpPr>
            <a:xfrm>
              <a:off x="8014716" y="3518926"/>
              <a:ext cx="3008885" cy="614349"/>
              <a:chOff x="4384972" y="2585446"/>
              <a:chExt cx="3008885" cy="614349"/>
            </a:xfrm>
          </p:grpSpPr>
          <p:sp>
            <p:nvSpPr>
              <p:cNvPr id="142" name="Shape 24">
                <a:extLst>
                  <a:ext uri="{FF2B5EF4-FFF2-40B4-BE49-F238E27FC236}">
                    <a16:creationId xmlns:a16="http://schemas.microsoft.com/office/drawing/2014/main" id="{76902399-4275-49F1-BFFD-DC4226CB7C4D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7253D61C-BA3A-403C-9659-B8290B7FFBD7}"/>
                  </a:ext>
                </a:extLst>
              </p:cNvPr>
              <p:cNvGrpSpPr/>
              <p:nvPr/>
            </p:nvGrpSpPr>
            <p:grpSpPr>
              <a:xfrm>
                <a:off x="4490453" y="2585446"/>
                <a:ext cx="2903404" cy="614349"/>
                <a:chOff x="906294" y="2491362"/>
                <a:chExt cx="2903404" cy="614349"/>
              </a:xfrm>
            </p:grpSpPr>
            <p:sp>
              <p:nvSpPr>
                <p:cNvPr id="144" name="Text 13">
                  <a:extLst>
                    <a:ext uri="{FF2B5EF4-FFF2-40B4-BE49-F238E27FC236}">
                      <a16:creationId xmlns:a16="http://schemas.microsoft.com/office/drawing/2014/main" id="{3ADFD593-0590-4BEE-A48F-E672E9662770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 차단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D55843D0-373E-4604-8EE2-F83BBC98EBF0}"/>
                    </a:ext>
                  </a:extLst>
                </p:cNvPr>
                <p:cNvSpPr txBox="1"/>
                <p:nvPr/>
              </p:nvSpPr>
              <p:spPr>
                <a:xfrm>
                  <a:off x="906294" y="2736379"/>
                  <a:ext cx="29034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보이스피싱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 스미싱 예방을 위해 타인의 번호나 없는 번호로 발신번호를 조작하는 발신번호 변작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행위 차단</a:t>
                  </a:r>
                  <a:endParaRPr lang="ko-KR" altLang="en-US" sz="9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7E4731EE-3BF1-4C54-B72C-ED9ED85A04E0}"/>
                </a:ext>
              </a:extLst>
            </p:cNvPr>
            <p:cNvGrpSpPr/>
            <p:nvPr/>
          </p:nvGrpSpPr>
          <p:grpSpPr>
            <a:xfrm>
              <a:off x="8014716" y="4220282"/>
              <a:ext cx="2902547" cy="891348"/>
              <a:chOff x="4384972" y="2585446"/>
              <a:chExt cx="2902547" cy="891348"/>
            </a:xfrm>
          </p:grpSpPr>
          <p:sp>
            <p:nvSpPr>
              <p:cNvPr id="149" name="Shape 24">
                <a:extLst>
                  <a:ext uri="{FF2B5EF4-FFF2-40B4-BE49-F238E27FC236}">
                    <a16:creationId xmlns:a16="http://schemas.microsoft.com/office/drawing/2014/main" id="{014F2127-2028-4391-87BE-9DC38BCA0562}"/>
                  </a:ext>
                </a:extLst>
              </p:cNvPr>
              <p:cNvSpPr/>
              <p:nvPr/>
            </p:nvSpPr>
            <p:spPr>
              <a:xfrm>
                <a:off x="4384972" y="2695174"/>
                <a:ext cx="109728" cy="109728"/>
              </a:xfrm>
              <a:prstGeom prst="ellipse">
                <a:avLst/>
              </a:prstGeom>
              <a:solidFill>
                <a:srgbClr val="49A8FF"/>
              </a:solidFill>
              <a:ln w="10160">
                <a:solidFill>
                  <a:srgbClr val="49A8FF"/>
                </a:solidFill>
                <a:prstDash val="solid"/>
              </a:ln>
            </p:spPr>
          </p: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7BEC9321-8467-4AD7-A11F-971C0CD3F188}"/>
                  </a:ext>
                </a:extLst>
              </p:cNvPr>
              <p:cNvGrpSpPr/>
              <p:nvPr/>
            </p:nvGrpSpPr>
            <p:grpSpPr>
              <a:xfrm>
                <a:off x="4490453" y="2585446"/>
                <a:ext cx="2797066" cy="891348"/>
                <a:chOff x="906294" y="2491362"/>
                <a:chExt cx="2797066" cy="891348"/>
              </a:xfrm>
            </p:grpSpPr>
            <p:sp>
              <p:nvSpPr>
                <p:cNvPr id="151" name="Text 13">
                  <a:extLst>
                    <a:ext uri="{FF2B5EF4-FFF2-40B4-BE49-F238E27FC236}">
                      <a16:creationId xmlns:a16="http://schemas.microsoft.com/office/drawing/2014/main" id="{933BE645-218C-4CC1-BFE7-31CE22F0AC28}"/>
                    </a:ext>
                  </a:extLst>
                </p:cNvPr>
                <p:cNvSpPr txBox="1"/>
                <p:nvPr/>
              </p:nvSpPr>
              <p:spPr>
                <a:xfrm>
                  <a:off x="997733" y="2491362"/>
                  <a:ext cx="2684964" cy="31089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>
                  <a:normAutofit/>
                </a:bodyPr>
                <a:lstStyle/>
                <a:p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발신번호 변작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(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거짓표시</a:t>
                  </a:r>
                  <a:r>
                    <a:rPr lang="en-US" altLang="ko-KR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) </a:t>
                  </a:r>
                  <a:r>
                    <a:rPr lang="ko-KR" altLang="en-US" sz="1000" dirty="0">
                      <a:solidFill>
                        <a:srgbClr val="10213D"/>
                      </a:solidFill>
                      <a:latin typeface="페이퍼로지 7 Bold" pitchFamily="2" charset="-127"/>
                      <a:ea typeface="페이퍼로지 7 Bold" pitchFamily="2" charset="-127"/>
                      <a:cs typeface="NanumSquare" pitchFamily="34" charset="-120"/>
                    </a:rPr>
                    <a:t>차단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5C4D6FCC-F66D-400E-8F4D-ECD11D459E5C}"/>
                    </a:ext>
                  </a:extLst>
                </p:cNvPr>
                <p:cNvSpPr txBox="1"/>
                <p:nvPr/>
              </p:nvSpPr>
              <p:spPr>
                <a:xfrm>
                  <a:off x="906294" y="2736379"/>
                  <a:ext cx="279706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인공지능과 빅데이터를 활용해 통화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/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문자 기반의 위험 신호를 실시간으로 감지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차단</a:t>
                  </a:r>
                  <a:endParaRPr lang="en-US" altLang="ko-KR" sz="900" dirty="0">
                    <a:latin typeface="페이퍼로지 4 Regular" pitchFamily="2" charset="-127"/>
                    <a:ea typeface="페이퍼로지 4 Regular" pitchFamily="2" charset="-127"/>
                    <a:cs typeface="NanumSquare" pitchFamily="34" charset="-12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음성패턴 분석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통화내용 실시간 분석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비정상 회선 이용패턴</a:t>
                  </a:r>
                  <a:r>
                    <a:rPr lang="en-US" altLang="ko-KR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, </a:t>
                  </a:r>
                  <a:r>
                    <a:rPr lang="ko-KR" altLang="en-US" sz="900" dirty="0">
                      <a:latin typeface="페이퍼로지 4 Regular" pitchFamily="2" charset="-127"/>
                      <a:ea typeface="페이퍼로지 4 Regular" pitchFamily="2" charset="-127"/>
                      <a:cs typeface="NanumSquare" pitchFamily="34" charset="-120"/>
                    </a:rPr>
                    <a:t>유관기관 실시간 정보 공유</a:t>
                  </a:r>
                  <a:endParaRPr lang="ko-KR" altLang="en-US" sz="900" dirty="0">
                    <a:latin typeface="페이퍼로지 4 Regular" pitchFamily="2" charset="-127"/>
                    <a:ea typeface="페이퍼로지 4 Regular" pitchFamily="2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7">
            <a:extLst>
              <a:ext uri="{FF2B5EF4-FFF2-40B4-BE49-F238E27FC236}">
                <a16:creationId xmlns:a16="http://schemas.microsoft.com/office/drawing/2014/main" id="{B86AB141-D61D-4F98-88E7-DC95CF56A724}"/>
              </a:ext>
            </a:extLst>
          </p:cNvPr>
          <p:cNvSpPr txBox="1"/>
          <p:nvPr/>
        </p:nvSpPr>
        <p:spPr>
          <a:xfrm>
            <a:off x="599443" y="643651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대표적으로 성과를 내고 있는 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 ASAP(</a:t>
            </a:r>
            <a:r>
              <a:rPr lang="ko-KR" alt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에이셉</a:t>
            </a:r>
            <a:r>
              <a:rPr lang="en-US" altLang="ko-KR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)</a:t>
            </a:r>
            <a:endParaRPr lang="en-US" altLang="ko-KR" sz="1230" dirty="0"/>
          </a:p>
        </p:txBody>
      </p:sp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18BD87C1-342C-4A32-80E8-3279A30915AE}"/>
              </a:ext>
            </a:extLst>
          </p:cNvPr>
          <p:cNvSpPr txBox="1"/>
          <p:nvPr/>
        </p:nvSpPr>
        <p:spPr>
          <a:xfrm>
            <a:off x="-64242" y="162899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E2746"/>
                </a:solidFill>
                <a:latin typeface="페이퍼로지 4 Regular" pitchFamily="2" charset="-127"/>
                <a:ea typeface="페이퍼로지 4 Regular" pitchFamily="2" charset="-127"/>
                <a:cs typeface="NanumSquare Bold" pitchFamily="34" charset="-120"/>
              </a:rPr>
              <a:t>현황분석</a:t>
            </a:r>
            <a:endParaRPr lang="en-US" sz="1050" dirty="0">
              <a:solidFill>
                <a:srgbClr val="0E274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26523E4F-4D96-421D-9C85-0DBFC0114F74}"/>
              </a:ext>
            </a:extLst>
          </p:cNvPr>
          <p:cNvSpPr txBox="1"/>
          <p:nvPr/>
        </p:nvSpPr>
        <p:spPr>
          <a:xfrm>
            <a:off x="580644" y="857186"/>
            <a:ext cx="10698480" cy="9014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금융위원회와 금융보안원을 중심으로 체계화된 보이스피싱 정보공유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분석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AI 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플랫폼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ASAP</a:t>
            </a:r>
          </a:p>
          <a:p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출범 이후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9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개월 간 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663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억</a:t>
            </a:r>
            <a:r>
              <a:rPr lang="en-US" altLang="ko-KR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6000</a:t>
            </a:r>
            <a:r>
              <a:rPr lang="ko-KR" altLang="en-US" sz="22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만원 규모의 피해를 사전 차단하는 실제 성과로 이어졌다</a:t>
            </a:r>
            <a:endParaRPr lang="en-US" altLang="ko-KR" sz="2200" b="1" dirty="0">
              <a:solidFill>
                <a:srgbClr val="10213D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370F84A-68A6-4889-BA6C-32408CAF19F2}"/>
              </a:ext>
            </a:extLst>
          </p:cNvPr>
          <p:cNvGrpSpPr/>
          <p:nvPr/>
        </p:nvGrpSpPr>
        <p:grpSpPr>
          <a:xfrm>
            <a:off x="576893" y="1811225"/>
            <a:ext cx="11038215" cy="3821479"/>
            <a:chOff x="432816" y="1901468"/>
            <a:chExt cx="11038215" cy="3821479"/>
          </a:xfrm>
        </p:grpSpPr>
        <p:sp>
          <p:nvSpPr>
            <p:cNvPr id="81" name="Shape 8">
              <a:extLst>
                <a:ext uri="{FF2B5EF4-FFF2-40B4-BE49-F238E27FC236}">
                  <a16:creationId xmlns:a16="http://schemas.microsoft.com/office/drawing/2014/main" id="{372E1C90-42E9-4CBF-81B0-76E43E875362}"/>
                </a:ext>
              </a:extLst>
            </p:cNvPr>
            <p:cNvSpPr/>
            <p:nvPr/>
          </p:nvSpPr>
          <p:spPr>
            <a:xfrm>
              <a:off x="432816" y="1901468"/>
              <a:ext cx="5896266" cy="3821479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pic>
          <p:nvPicPr>
            <p:cNvPr id="80" name="그림 7">
              <a:extLst>
                <a:ext uri="{FF2B5EF4-FFF2-40B4-BE49-F238E27FC236}">
                  <a16:creationId xmlns:a16="http://schemas.microsoft.com/office/drawing/2014/main" id="{E668F3AE-32D0-B134-C7D2-A51000B58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06" t="18162" r="3581" b="6222"/>
            <a:stretch/>
          </p:blipFill>
          <p:spPr>
            <a:xfrm>
              <a:off x="670587" y="3464256"/>
              <a:ext cx="5420724" cy="2153462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866EF50-0FEC-4AF4-A807-8A42ED37A943}"/>
                </a:ext>
              </a:extLst>
            </p:cNvPr>
            <p:cNvSpPr txBox="1"/>
            <p:nvPr/>
          </p:nvSpPr>
          <p:spPr>
            <a:xfrm>
              <a:off x="553718" y="2035587"/>
              <a:ext cx="482074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보이스피싱 정보공유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·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분석 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AI 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플랫폼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(ASAP)</a:t>
              </a:r>
              <a:endParaRPr lang="ko-KR" altLang="en-US" sz="14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8A72F21-C9A8-43CF-9D50-07139CD417B7}"/>
                </a:ext>
              </a:extLst>
            </p:cNvPr>
            <p:cNvSpPr txBox="1"/>
            <p:nvPr/>
          </p:nvSpPr>
          <p:spPr>
            <a:xfrm>
              <a:off x="553718" y="2342234"/>
              <a:ext cx="5654462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가동 및 법적 기반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2025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10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 출범 이후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2026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년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8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월부터 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통신사기피해환급법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'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개정에 따라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                               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정보 주체의 동의 없이도 관계기관 간 의심 정보 공동 활용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이 본격 시행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참여 기관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금융위원회와 금융보안원을 중심으로 은행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증권사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제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2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통신사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수사기관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가상자산거래소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공유 정보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사기 이용 계좌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악성앱 탐지 정보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피싱사이트 접속 이력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의심 및 범죄이용 전화번호 등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기대 효과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: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각 기관이 분산된 정보를 즉시 공유하여 신속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한 계좌 지급정지 및 비정상 거래 차단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범죄 수사에 활용</a:t>
              </a:r>
              <a:endParaRPr lang="en-US" altLang="ko-KR" sz="1000" dirty="0">
                <a:latin typeface="페이퍼로지 4 Regular" pitchFamily="2" charset="-127"/>
                <a:ea typeface="페이퍼로지 4 Regular" pitchFamily="2" charset="-127"/>
              </a:endParaRPr>
            </a:p>
            <a:p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FDS </a:t>
              </a:r>
              <a:r>
                <a:rPr lang="ko-KR" altLang="en-US" sz="1000" dirty="0">
                  <a:latin typeface="페이퍼로지 7 Bold" pitchFamily="2" charset="-127"/>
                  <a:ea typeface="페이퍼로지 7 Bold" pitchFamily="2" charset="-127"/>
                </a:rPr>
                <a:t>활용 </a:t>
              </a:r>
              <a:r>
                <a:rPr lang="en-US" altLang="ko-KR" sz="1000" dirty="0">
                  <a:latin typeface="페이퍼로지 7 Bold" pitchFamily="2" charset="-127"/>
                  <a:ea typeface="페이퍼로지 7 Bold" pitchFamily="2" charset="-127"/>
                </a:rPr>
                <a:t>: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금융회사가 운영</a:t>
              </a:r>
              <a:r>
                <a:rPr lang="en-US" altLang="ko-KR" sz="1000" dirty="0">
                  <a:latin typeface="페이퍼로지 4 Regular" pitchFamily="2" charset="-127"/>
                  <a:ea typeface="페이퍼로지 4 Regular" pitchFamily="2" charset="-127"/>
                </a:rPr>
                <a:t>, </a:t>
              </a:r>
              <a:r>
                <a:rPr lang="ko-KR" altLang="en-US" sz="1000" dirty="0">
                  <a:latin typeface="페이퍼로지 4 Regular" pitchFamily="2" charset="-127"/>
                  <a:ea typeface="페이퍼로지 4 Regular" pitchFamily="2" charset="-127"/>
                </a:rPr>
                <a:t>평소와 다른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이상한 자금이체나 거래를 자동으로 찾아내는 보안 시스템 </a:t>
              </a:r>
              <a:r>
                <a:rPr lang="en-US" altLang="ko-KR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FDS </a:t>
              </a:r>
              <a:r>
                <a:rPr lang="ko-KR" altLang="en-US" sz="1000" dirty="0">
                  <a:solidFill>
                    <a:srgbClr val="FF4B16"/>
                  </a:solidFill>
                  <a:latin typeface="페이퍼로지 4 Regular" pitchFamily="2" charset="-127"/>
                  <a:ea typeface="페이퍼로지 4 Regular" pitchFamily="2" charset="-127"/>
                </a:rPr>
                <a:t>활용</a:t>
              </a:r>
            </a:p>
          </p:txBody>
        </p:sp>
        <p:sp>
          <p:nvSpPr>
            <p:cNvPr id="88" name="Shape 8">
              <a:extLst>
                <a:ext uri="{FF2B5EF4-FFF2-40B4-BE49-F238E27FC236}">
                  <a16:creationId xmlns:a16="http://schemas.microsoft.com/office/drawing/2014/main" id="{A6E48D8D-F246-47B4-9FDB-5F1AECC542EB}"/>
                </a:ext>
              </a:extLst>
            </p:cNvPr>
            <p:cNvSpPr/>
            <p:nvPr/>
          </p:nvSpPr>
          <p:spPr>
            <a:xfrm>
              <a:off x="6539546" y="1901468"/>
              <a:ext cx="4931485" cy="3821479"/>
            </a:xfrm>
            <a:prstGeom prst="roundRect">
              <a:avLst>
                <a:gd name="adj" fmla="val 5818"/>
              </a:avLst>
            </a:prstGeom>
            <a:solidFill>
              <a:srgbClr val="FFFFFF"/>
            </a:solidFill>
            <a:ln w="10160">
              <a:solidFill>
                <a:srgbClr val="DCE8FA"/>
              </a:solidFill>
              <a:prstDash val="solid"/>
            </a:ln>
          </p:spPr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94D85F3B-306F-4E6C-9DCA-8D7C4B0D8278}"/>
                </a:ext>
              </a:extLst>
            </p:cNvPr>
            <p:cNvSpPr txBox="1"/>
            <p:nvPr/>
          </p:nvSpPr>
          <p:spPr>
            <a:xfrm>
              <a:off x="6703506" y="2035587"/>
              <a:ext cx="397974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성과에 대한 내용들을 가독성 좋게</a:t>
              </a:r>
              <a:r>
                <a:rPr lang="en-US" altLang="ko-KR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, </a:t>
              </a:r>
              <a:r>
                <a:rPr lang="ko-KR" altLang="en-US" sz="1400" b="1" dirty="0">
                  <a:solidFill>
                    <a:srgbClr val="10213D"/>
                  </a:solidFill>
                  <a:latin typeface="페이퍼로지 7 Bold" pitchFamily="2" charset="-127"/>
                  <a:ea typeface="페이퍼로지 7 Bold" pitchFamily="2" charset="-127"/>
                  <a:cs typeface="NanumSquare Bold" pitchFamily="34" charset="-120"/>
                </a:rPr>
                <a:t>혹은 그래프</a:t>
              </a:r>
              <a:endParaRPr lang="en-US" altLang="ko-KR" sz="1400" b="1" dirty="0">
                <a:solidFill>
                  <a:srgbClr val="10213D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B2E5A33-3FFF-4B4C-BD77-28ADFC79B401}"/>
              </a:ext>
            </a:extLst>
          </p:cNvPr>
          <p:cNvGrpSpPr/>
          <p:nvPr/>
        </p:nvGrpSpPr>
        <p:grpSpPr>
          <a:xfrm>
            <a:off x="771146" y="5802475"/>
            <a:ext cx="10704574" cy="538281"/>
            <a:chOff x="989537" y="5557693"/>
            <a:chExt cx="10212928" cy="773508"/>
          </a:xfrm>
        </p:grpSpPr>
        <p:sp>
          <p:nvSpPr>
            <p:cNvPr id="96" name="Shape 44">
              <a:extLst>
                <a:ext uri="{FF2B5EF4-FFF2-40B4-BE49-F238E27FC236}">
                  <a16:creationId xmlns:a16="http://schemas.microsoft.com/office/drawing/2014/main" id="{731F3A17-9EC7-457A-9066-89707FAB988C}"/>
                </a:ext>
              </a:extLst>
            </p:cNvPr>
            <p:cNvSpPr/>
            <p:nvPr/>
          </p:nvSpPr>
          <p:spPr>
            <a:xfrm>
              <a:off x="1057656" y="5587831"/>
              <a:ext cx="10076688" cy="713232"/>
            </a:xfrm>
            <a:prstGeom prst="roundRect">
              <a:avLst>
                <a:gd name="adj" fmla="val 20513"/>
              </a:avLst>
            </a:prstGeom>
            <a:solidFill>
              <a:srgbClr val="0B1F3A"/>
            </a:solidFill>
            <a:ln w="10160">
              <a:solidFill>
                <a:srgbClr val="0B1F3A"/>
              </a:solidFill>
              <a:prstDash val="solid"/>
            </a:ln>
          </p:spPr>
        </p:sp>
        <p:sp>
          <p:nvSpPr>
            <p:cNvPr id="106" name="Text 45">
              <a:extLst>
                <a:ext uri="{FF2B5EF4-FFF2-40B4-BE49-F238E27FC236}">
                  <a16:creationId xmlns:a16="http://schemas.microsoft.com/office/drawing/2014/main" id="{816798D6-68D0-4DF8-A408-120BDDD003E6}"/>
                </a:ext>
              </a:extLst>
            </p:cNvPr>
            <p:cNvSpPr txBox="1"/>
            <p:nvPr/>
          </p:nvSpPr>
          <p:spPr>
            <a:xfrm>
              <a:off x="989537" y="5557693"/>
              <a:ext cx="10212928" cy="7735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AI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와 빅데이터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,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진보적인 법률 개정과 협업 체계를 통한 공격적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·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선재적 방어  </a:t>
              </a:r>
              <a:r>
                <a:rPr lang="en-US" altLang="ko-KR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  <a:sym typeface="Wingdings" panose="05000000000000000000" pitchFamily="2" charset="2"/>
                </a:rPr>
                <a:t> </a:t>
              </a:r>
              <a:r>
                <a:rPr lang="ko-KR" altLang="en-US" sz="1520" b="1" dirty="0">
                  <a:solidFill>
                    <a:srgbClr val="FFFFFF"/>
                  </a:solidFill>
                  <a:latin typeface="페이퍼로지 7 Bold" pitchFamily="2" charset="-127"/>
                  <a:ea typeface="페이퍼로지 7 Bold" pitchFamily="2" charset="-127"/>
                </a:rPr>
                <a:t> 높은 성과로 이어짐</a:t>
              </a:r>
              <a:endParaRPr lang="en-US" sz="1520" dirty="0">
                <a:latin typeface="페이퍼로지 7 Bold" pitchFamily="2" charset="-127"/>
                <a:ea typeface="페이퍼로지 7 Bold" pitchFamily="2" charset="-127"/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C1FD29E-C8D6-4DF3-AA5C-BBD17BDA7BEB}"/>
              </a:ext>
            </a:extLst>
          </p:cNvPr>
          <p:cNvSpPr/>
          <p:nvPr/>
        </p:nvSpPr>
        <p:spPr>
          <a:xfrm>
            <a:off x="7136466" y="4320409"/>
            <a:ext cx="3401978" cy="40309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24</a:t>
            </a:r>
            <a:r>
              <a:rPr lang="ko-KR" altLang="en-US" dirty="0">
                <a:solidFill>
                  <a:schemeClr val="bg1"/>
                </a:solidFill>
              </a:rPr>
              <a:t>년 </a:t>
            </a:r>
            <a:r>
              <a:rPr lang="en-US" altLang="ko-KR" dirty="0">
                <a:solidFill>
                  <a:schemeClr val="bg1"/>
                </a:solidFill>
              </a:rPr>
              <a:t>10</a:t>
            </a:r>
            <a:r>
              <a:rPr lang="ko-KR" altLang="en-US" dirty="0">
                <a:solidFill>
                  <a:schemeClr val="bg1"/>
                </a:solidFill>
              </a:rPr>
              <a:t>월</a:t>
            </a:r>
            <a:r>
              <a:rPr lang="en-US" altLang="ko-KR" dirty="0">
                <a:solidFill>
                  <a:schemeClr val="bg1"/>
                </a:solidFill>
              </a:rPr>
              <a:t>~2510</a:t>
            </a:r>
            <a:r>
              <a:rPr lang="ko-KR" altLang="en-US" dirty="0">
                <a:solidFill>
                  <a:schemeClr val="bg1"/>
                </a:solidFill>
              </a:rPr>
              <a:t>얼</a:t>
            </a:r>
          </a:p>
        </p:txBody>
      </p:sp>
      <p:pic>
        <p:nvPicPr>
          <p:cNvPr id="108" name="그림 13">
            <a:extLst>
              <a:ext uri="{FF2B5EF4-FFF2-40B4-BE49-F238E27FC236}">
                <a16:creationId xmlns:a16="http://schemas.microsoft.com/office/drawing/2014/main" id="{F8469232-ECEA-4844-B2BB-F20EDFDDEA6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0964" t="57249" r="13270" b="11885"/>
          <a:stretch/>
        </p:blipFill>
        <p:spPr>
          <a:xfrm>
            <a:off x="6985285" y="2418684"/>
            <a:ext cx="3521350" cy="1407236"/>
          </a:xfrm>
          <a:prstGeom prst="rect">
            <a:avLst/>
          </a:prstGeom>
        </p:spPr>
      </p:pic>
      <p:sp>
        <p:nvSpPr>
          <p:cNvPr id="117" name="Rectangle 116">
            <a:extLst>
              <a:ext uri="{FF2B5EF4-FFF2-40B4-BE49-F238E27FC236}">
                <a16:creationId xmlns:a16="http://schemas.microsoft.com/office/drawing/2014/main" id="{E033AFA2-717F-4997-B79E-FB27654F7B14}"/>
              </a:ext>
            </a:extLst>
          </p:cNvPr>
          <p:cNvSpPr/>
          <p:nvPr/>
        </p:nvSpPr>
        <p:spPr>
          <a:xfrm>
            <a:off x="7136466" y="4894296"/>
            <a:ext cx="2442755" cy="40309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24</a:t>
            </a:r>
            <a:r>
              <a:rPr lang="ko-KR" altLang="en-US" dirty="0">
                <a:solidFill>
                  <a:schemeClr val="bg1"/>
                </a:solidFill>
              </a:rPr>
              <a:t>년 </a:t>
            </a:r>
            <a:r>
              <a:rPr lang="en-US" altLang="ko-KR" dirty="0">
                <a:solidFill>
                  <a:schemeClr val="bg1"/>
                </a:solidFill>
              </a:rPr>
              <a:t>10</a:t>
            </a:r>
            <a:r>
              <a:rPr lang="ko-KR" altLang="en-US" dirty="0">
                <a:solidFill>
                  <a:schemeClr val="bg1"/>
                </a:solidFill>
              </a:rPr>
              <a:t>월</a:t>
            </a:r>
            <a:r>
              <a:rPr lang="en-US" altLang="ko-KR" dirty="0">
                <a:solidFill>
                  <a:schemeClr val="bg1"/>
                </a:solidFill>
              </a:rPr>
              <a:t>~2510</a:t>
            </a:r>
            <a:r>
              <a:rPr lang="ko-KR" altLang="en-US" dirty="0">
                <a:solidFill>
                  <a:schemeClr val="bg1"/>
                </a:solidFill>
              </a:rPr>
              <a:t>얼</a:t>
            </a:r>
          </a:p>
        </p:txBody>
      </p:sp>
    </p:spTree>
    <p:extLst>
      <p:ext uri="{BB962C8B-B14F-4D97-AF65-F5344CB8AC3E}">
        <p14:creationId xmlns:p14="http://schemas.microsoft.com/office/powerpoint/2010/main" val="1310816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E09CDEBD-8A8C-E78D-C48A-43C83AE3ED91}"/>
              </a:ext>
            </a:extLst>
          </p:cNvPr>
          <p:cNvSpPr/>
          <p:nvPr/>
        </p:nvSpPr>
        <p:spPr>
          <a:xfrm>
            <a:off x="323850" y="2695575"/>
            <a:ext cx="2924175" cy="2343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1731D10-2AB8-E14C-CE4B-2BF0243DD73C}"/>
              </a:ext>
            </a:extLst>
          </p:cNvPr>
          <p:cNvSpPr/>
          <p:nvPr/>
        </p:nvSpPr>
        <p:spPr>
          <a:xfrm>
            <a:off x="4724399" y="1257299"/>
            <a:ext cx="3288507" cy="4995709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986D8-2EB3-4921-5250-5451181AE4FA}"/>
              </a:ext>
            </a:extLst>
          </p:cNvPr>
          <p:cNvSpPr txBox="1"/>
          <p:nvPr/>
        </p:nvSpPr>
        <p:spPr>
          <a:xfrm>
            <a:off x="0" y="145303"/>
            <a:ext cx="395684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hlinkClick r:id="rId2"/>
              </a:rPr>
              <a:t>https://www.fsc.go.kr/no010101/87474</a:t>
            </a:r>
            <a:r>
              <a:rPr lang="en-US" altLang="ko-KR" sz="1000" dirty="0"/>
              <a:t> asap</a:t>
            </a:r>
            <a:r>
              <a:rPr lang="ko-KR" altLang="en-US" sz="1000" dirty="0"/>
              <a:t>링크</a:t>
            </a:r>
            <a:r>
              <a:rPr lang="en-US" altLang="ko-KR" sz="1000" dirty="0"/>
              <a:t>(</a:t>
            </a:r>
            <a:r>
              <a:rPr lang="ko-KR" altLang="en-US" sz="1000" dirty="0"/>
              <a:t>금융위원회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>
                <a:hlinkClick r:id="rId3"/>
              </a:rPr>
              <a:t>https://blog.naver.com/blogfsc/224162941029</a:t>
            </a:r>
            <a:r>
              <a:rPr lang="en-US" altLang="ko-KR" sz="1000" dirty="0"/>
              <a:t> (</a:t>
            </a:r>
            <a:r>
              <a:rPr lang="ko-KR" altLang="en-US" sz="1000" dirty="0"/>
              <a:t>금융위원회 </a:t>
            </a:r>
            <a:r>
              <a:rPr lang="ko-KR" altLang="en-US" sz="1000" dirty="0" err="1"/>
              <a:t>공식블로그</a:t>
            </a:r>
            <a:r>
              <a:rPr lang="ko-KR" altLang="en-US" sz="1000" dirty="0"/>
              <a:t> 성과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668F3AE-32D0-B134-C7D2-A51000B58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9894" y="110152"/>
            <a:ext cx="2310280" cy="11337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EA6596-FE18-413E-5DCC-B9D87587E72C}"/>
              </a:ext>
            </a:extLst>
          </p:cNvPr>
          <p:cNvSpPr txBox="1"/>
          <p:nvPr/>
        </p:nvSpPr>
        <p:spPr>
          <a:xfrm>
            <a:off x="3956844" y="123521"/>
            <a:ext cx="15430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체계정리 다시 해야함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https://www.fsc.go.kr/no040103/85532?utm_source=chatgpt.com</a:t>
            </a:r>
            <a:endParaRPr lang="ko-KR" altLang="en-US" sz="1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0899F63-D753-7D1D-437D-FE7932F4E1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2886" y="1279082"/>
            <a:ext cx="2672875" cy="15225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B84E349-DB09-0C18-CFD5-69A3A0F37413}"/>
              </a:ext>
            </a:extLst>
          </p:cNvPr>
          <p:cNvSpPr txBox="1"/>
          <p:nvPr/>
        </p:nvSpPr>
        <p:spPr>
          <a:xfrm>
            <a:off x="4903787" y="2904393"/>
            <a:ext cx="2933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</a:rPr>
              <a:t>https://www.mk.co.kr/news/economy/12132059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8D437CF-1ADD-FB60-62D5-E1471239DE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2565" y="926165"/>
            <a:ext cx="3925980" cy="385120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E1637F5-C667-7BE8-5405-19C3EF6D7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5761" y="3163982"/>
            <a:ext cx="1527542" cy="152842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4329AE7-028C-25C9-E263-89198758C92C}"/>
              </a:ext>
            </a:extLst>
          </p:cNvPr>
          <p:cNvSpPr txBox="1"/>
          <p:nvPr/>
        </p:nvSpPr>
        <p:spPr>
          <a:xfrm>
            <a:off x="4341957" y="3209196"/>
            <a:ext cx="21243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bg1"/>
                </a:solidFill>
                <a:hlinkClick r:id="rId8"/>
              </a:rPr>
              <a:t>https://www.fsc.go.kr/no010101/87565?curPage=1&amp;srchBeginDt=&amp;srchCtgry=&amp;srchEndDt=0&amp;srchKey=&amp;srchText=&amp;utm_source=chatgpt.com</a:t>
            </a:r>
            <a:r>
              <a:rPr lang="en-US" altLang="ko-KR" sz="800" dirty="0">
                <a:solidFill>
                  <a:schemeClr val="bg1"/>
                </a:solidFill>
              </a:rPr>
              <a:t> </a:t>
            </a:r>
            <a:r>
              <a:rPr lang="ko-KR" altLang="en-US" sz="800" dirty="0">
                <a:solidFill>
                  <a:schemeClr val="bg1"/>
                </a:solidFill>
              </a:rPr>
              <a:t>위자료 원본문서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06D8C0-06E2-1C44-A1A9-2954E80FBB64}"/>
              </a:ext>
            </a:extLst>
          </p:cNvPr>
          <p:cNvSpPr txBox="1"/>
          <p:nvPr/>
        </p:nvSpPr>
        <p:spPr>
          <a:xfrm>
            <a:off x="4274740" y="3793971"/>
            <a:ext cx="21243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hlinkClick r:id="rId9"/>
              </a:rPr>
              <a:t>https://www.newspim.com/news/view/20260820000801?utm_source=chatgpt.com</a:t>
            </a:r>
            <a:r>
              <a:rPr lang="en-US" altLang="ko-KR" sz="1000" dirty="0">
                <a:solidFill>
                  <a:schemeClr val="bg1"/>
                </a:solidFill>
              </a:rPr>
              <a:t> </a:t>
            </a:r>
            <a:r>
              <a:rPr lang="ko-KR" altLang="en-US" sz="1000" dirty="0">
                <a:solidFill>
                  <a:schemeClr val="bg1"/>
                </a:solidFill>
              </a:rPr>
              <a:t>원본 신문기사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D32FAD-CB6D-3842-8EDC-252D144F7F1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4946" y="5118295"/>
            <a:ext cx="959835" cy="10553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A1B639-D3EA-3EFF-7BF5-774DF4D660BC}"/>
              </a:ext>
            </a:extLst>
          </p:cNvPr>
          <p:cNvSpPr txBox="1"/>
          <p:nvPr/>
        </p:nvSpPr>
        <p:spPr>
          <a:xfrm>
            <a:off x="6843499" y="4777366"/>
            <a:ext cx="11727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9</a:t>
            </a:r>
            <a:r>
              <a:rPr lang="ko-KR" altLang="en-US" sz="1100" dirty="0">
                <a:solidFill>
                  <a:schemeClr val="bg1"/>
                </a:solidFill>
              </a:rPr>
              <a:t>개 항목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781A89D-BE34-D2AF-D7D6-D903C47084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3787" y="4608568"/>
            <a:ext cx="1113932" cy="156512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D84AC60-6D4C-41A7-E6CE-7D2E2DEFF292}"/>
              </a:ext>
            </a:extLst>
          </p:cNvPr>
          <p:cNvSpPr txBox="1"/>
          <p:nvPr/>
        </p:nvSpPr>
        <p:spPr>
          <a:xfrm>
            <a:off x="243864" y="6267141"/>
            <a:ext cx="41408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FDS</a:t>
            </a:r>
            <a:r>
              <a:rPr lang="ko-KR" altLang="en-US" sz="1000" dirty="0"/>
              <a:t>와 </a:t>
            </a:r>
            <a:r>
              <a:rPr lang="en-US" altLang="ko-KR" sz="1000" dirty="0"/>
              <a:t>ASAP</a:t>
            </a:r>
            <a:r>
              <a:rPr lang="ko-KR" altLang="en-US" sz="1000" dirty="0"/>
              <a:t>연관성</a:t>
            </a:r>
            <a:endParaRPr lang="en-US" altLang="ko-KR" sz="1000" dirty="0"/>
          </a:p>
          <a:p>
            <a:r>
              <a:rPr lang="en-US" altLang="ko-KR" sz="1000" dirty="0"/>
              <a:t>https://www.donga.com/news/It/article/all/20251205/132912056/1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303329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7BD624E-7C93-491A-A2DD-6CF524932698}"/>
              </a:ext>
            </a:extLst>
          </p:cNvPr>
          <p:cNvSpPr txBox="1"/>
          <p:nvPr/>
        </p:nvSpPr>
        <p:spPr>
          <a:xfrm>
            <a:off x="241300" y="2218541"/>
            <a:ext cx="1131570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1.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실시간 분석 체계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작동 방식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과기정통부와 이동통신사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(SKT, KT, LGU+),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삼성전자 등이 협력하여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분석 서비스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sngStrike" dirty="0"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sngStrike" dirty="0">
                <a:effectLst/>
                <a:latin typeface="Arial" panose="020B0604020202020204" pitchFamily="34" charset="0"/>
              </a:rPr>
              <a:t>(On-Device)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</a:t>
            </a:r>
            <a:r>
              <a:rPr lang="ko-KR" altLang="en-US" sz="1000" b="0" u="none" strike="sngStrike" dirty="0">
                <a:effectLst/>
                <a:latin typeface="Arial" panose="020B0604020202020204" pitchFamily="34" charset="0"/>
              </a:rPr>
              <a:t>스마트폰 내부의 </a:t>
            </a:r>
            <a:r>
              <a:rPr lang="en-US" altLang="ko-KR" sz="1000" b="0" u="none" strike="sng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sngStrike" dirty="0">
                <a:effectLst/>
                <a:latin typeface="Arial" panose="020B0604020202020204" pitchFamily="34" charset="0"/>
              </a:rPr>
              <a:t>엔진이 실시간 통화 내용을 텍스트로 바꾸고 문맥을 분석합니다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예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: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검찰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등기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자금 이체 등의 키워드나 유도 패턴 감지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3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3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실시간 위험 경고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보이스피싱 확률이 높다고 판단되면 통화 중인 화면에 즉시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팝업 경고나 진동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알림음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울려 사용자가 정신을 차리도록 차단합니다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2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5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개인정보 원천 보호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통화 내용 전체를 외부 서버나 다른 기관으로 전송하면 불법 도청이 되므로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모든 음성 분석은 전송 없이 핸드폰 안에서만 처리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494E3A-1BCD-4956-A307-8BE9D4A2AD89}"/>
              </a:ext>
            </a:extLst>
          </p:cNvPr>
          <p:cNvSpPr txBox="1"/>
          <p:nvPr/>
        </p:nvSpPr>
        <p:spPr>
          <a:xfrm>
            <a:off x="241300" y="3342206"/>
            <a:ext cx="610446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2. 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플랫폼과의 실시간 연계 방식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그렇다면 분석된 정보가 어떻게 ‘공격적 방어’로 이어질까요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?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대신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 금융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·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수사망인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ASAP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  <a:hlinkClick r:id="rId6"/>
              </a:rPr>
              <a:t>플랫폼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으로 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즉시 공유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6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의심 전화번호 긴급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통신사가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분석을 통해 피싱으로 확정 지은 번호나 악성앱 제어 서버 정보를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에 공유하면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해당 번호가 즉시 전 금융권에 타전됩니다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송금 순간 원천 차단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피해자가 통화를 끊지 못한 채 은행 앱을 켜서 돈을 보내려고 하면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은행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FDS(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이상금융거래탐지시스템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ASAP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통해 전달받은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피싱 통화 이력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을 대조하여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이체 버튼을 누르는 순간 송금을 멈추고 계좌를 묶어버립니다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8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9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12F76E-8F13-4ECF-A0D5-041817995F5B}"/>
              </a:ext>
            </a:extLst>
          </p:cNvPr>
          <p:cNvSpPr txBox="1"/>
          <p:nvPr/>
        </p:nvSpPr>
        <p:spPr>
          <a:xfrm>
            <a:off x="241300" y="4856478"/>
            <a:ext cx="610446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법적 한계와 정부의 대안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통화 내용 자체를 실시간으로 기관끼리 돌려보지 못하는 이유는 명확합니다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통신비밀보호법 제한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대한민국 법상 당사자 동의 없는 실시간 통화 내용의 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3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자 제공 및 공유는 엄격히 금지됩니다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사기범의 목소리뿐 아니라 피해자의 사생활도 섞여 있기 때문입니다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우회적 데이터 공유 체계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: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 대신 금융감독원과 국립과학수사연구원은 이미 사기가 완료되어 신고된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과거 보이스피싱 음성 녹음 데이터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를 비식별화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삭제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)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처리한 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민간 통신사와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기업에 제공하고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통신사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AI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는 이 데이터를 학습하여 최신 피싱 대화 패턴을 더 똑똑하게 잡아내고 있습니다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0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11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  <a:p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개인정보 침해를 최소화하면서도 시스템 간 연계를 극대화하기 위해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현재 기술은 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'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통화 내용 분석은 내 핸드폰 안에서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온디바이스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), </a:t>
            </a:r>
            <a:r>
              <a:rPr lang="ko-KR" altLang="en-US" sz="1000" b="1" u="none" strike="noStrike" dirty="0">
                <a:effectLst/>
                <a:latin typeface="Arial" panose="020B0604020202020204" pitchFamily="34" charset="0"/>
              </a:rPr>
              <a:t>위험 신호 공유는 국가 체계로</a:t>
            </a:r>
            <a:r>
              <a:rPr lang="en-US" altLang="ko-KR" sz="1000" b="1" u="none" strike="noStrike" dirty="0">
                <a:effectLst/>
                <a:latin typeface="Arial" panose="020B0604020202020204" pitchFamily="34" charset="0"/>
              </a:rPr>
              <a:t>(ASAP)'</a:t>
            </a:r>
            <a:r>
              <a:rPr lang="ko-KR" altLang="en-US" sz="1000" b="0" u="none" strike="noStrike" dirty="0">
                <a:effectLst/>
                <a:latin typeface="Arial" panose="020B0604020202020204" pitchFamily="34" charset="0"/>
              </a:rPr>
              <a:t>라는 가장 빠르고 공격적인 타협점을 찾아 운영 중입니다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. [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4"/>
              </a:rPr>
              <a:t>1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, 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  <a:hlinkClick r:id="rId7"/>
              </a:rPr>
              <a:t>2</a:t>
            </a:r>
            <a:r>
              <a:rPr lang="en-US" altLang="ko-KR" sz="1000" b="0" u="none" strike="noStrike" dirty="0">
                <a:effectLst/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ED0BAF-B918-4A86-84AD-C6C86BE01B18}"/>
              </a:ext>
            </a:extLst>
          </p:cNvPr>
          <p:cNvSpPr txBox="1"/>
          <p:nvPr/>
        </p:nvSpPr>
        <p:spPr>
          <a:xfrm>
            <a:off x="241300" y="940987"/>
            <a:ext cx="43476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통화 내용을 실시간으로 분석해 즉시 공유하고 방어하는 기술</a:t>
            </a:r>
            <a:r>
              <a:rPr lang="ko-KR" altLang="en-US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은 현재 보이스피싱을 막는 가장 강력하고 공격적인 무기로 도입되어 작동하고 있음</a:t>
            </a:r>
            <a:r>
              <a:rPr lang="en-US" altLang="ko-KR" sz="1000" b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US" altLang="ko-KR" sz="1000" dirty="0">
              <a:solidFill>
                <a:srgbClr val="FF0000"/>
              </a:solidFill>
              <a:latin typeface="Arial" panose="020B0604020202020204" pitchFamily="34" charset="0"/>
              <a:sym typeface="Wingdings" panose="05000000000000000000" pitchFamily="2" charset="2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000" dirty="0">
                <a:solidFill>
                  <a:srgbClr val="FF0000"/>
                </a:solidFill>
              </a:rPr>
              <a:t>‘즉시 공유’ 부분은 개인정보 보호와 통신비밀보호법이라는 큰 법적 장벽 때문에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“통화 내용 원본 공유”가 아닌 “실시간 온디바이스</a:t>
            </a:r>
            <a:r>
              <a:rPr lang="en-US" altLang="ko-KR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(On-Device) AI </a:t>
            </a:r>
            <a:r>
              <a:rPr lang="ko-KR" altLang="en-US" sz="1000" b="1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분석 및 위험 신호 공유” 방식</a:t>
            </a:r>
            <a:r>
              <a:rPr lang="ko-KR" altLang="en-US" sz="1000" dirty="0">
                <a:solidFill>
                  <a:srgbClr val="FF0000"/>
                </a:solidFill>
              </a:rPr>
              <a:t>으로 구현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FF6348-3E03-47F2-BCFA-60358A280A32}"/>
              </a:ext>
            </a:extLst>
          </p:cNvPr>
          <p:cNvSpPr/>
          <p:nvPr/>
        </p:nvSpPr>
        <p:spPr>
          <a:xfrm>
            <a:off x="6256867" y="652221"/>
            <a:ext cx="3217333" cy="1176867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우리도 온디바이스로 할거임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0AE052-821C-43CB-B50B-BF2A5A7FB5BB}"/>
              </a:ext>
            </a:extLst>
          </p:cNvPr>
          <p:cNvSpPr/>
          <p:nvPr/>
        </p:nvSpPr>
        <p:spPr>
          <a:xfrm>
            <a:off x="6515100" y="3342206"/>
            <a:ext cx="5435600" cy="3227626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분석 결과물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징후</a:t>
            </a:r>
            <a:r>
              <a:rPr lang="en-US" altLang="ko-KR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) </a:t>
            </a:r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을 </a:t>
            </a:r>
            <a:r>
              <a:rPr lang="ko-KR" altLang="en-US" dirty="0">
                <a:solidFill>
                  <a:schemeClr val="bg1"/>
                </a:solidFill>
              </a:rPr>
              <a:t>즉시공유함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그리고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의심 전화번호 긴급 차단</a:t>
            </a:r>
            <a:endParaRPr lang="en-US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en-US" sz="1800" b="1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송금 순 의심 전화번호 긴급 차단 간 원천 차단</a:t>
            </a:r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b="1" dirty="0">
                <a:solidFill>
                  <a:schemeClr val="bg1"/>
                </a:solidFill>
                <a:latin typeface="Arial" panose="020B0604020202020204" pitchFamily="34" charset="0"/>
              </a:rPr>
              <a:t>등</a:t>
            </a:r>
            <a:r>
              <a:rPr lang="en-US" altLang="ko-KR" b="1" dirty="0">
                <a:solidFill>
                  <a:schemeClr val="bg1"/>
                </a:solidFill>
                <a:latin typeface="Arial" panose="020B0604020202020204" pitchFamily="34" charset="0"/>
              </a:rPr>
              <a:t>…</a:t>
            </a:r>
          </a:p>
          <a:p>
            <a:pPr algn="ctr"/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법과 기술의 영역에서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… </a:t>
            </a:r>
            <a:r>
              <a:rPr lang="ko-KR" altLang="en-US" b="1" dirty="0">
                <a:solidFill>
                  <a:srgbClr val="FF0000"/>
                </a:solidFill>
                <a:latin typeface="Arial" panose="020B0604020202020204" pitchFamily="34" charset="0"/>
              </a:rPr>
              <a:t>진보적이라 해야하나</a:t>
            </a:r>
            <a:r>
              <a:rPr lang="en-US" altLang="ko-KR" b="1" dirty="0">
                <a:solidFill>
                  <a:srgbClr val="FF0000"/>
                </a:solidFill>
                <a:latin typeface="Arial" panose="020B0604020202020204" pitchFamily="34" charset="0"/>
              </a:rPr>
              <a:t>?</a:t>
            </a:r>
          </a:p>
          <a:p>
            <a:pPr algn="ctr"/>
            <a:endParaRPr lang="en-US" altLang="ko-KR" sz="1800" b="1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예전보다 공격적으로 방어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공격적방어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이는</a:t>
            </a:r>
            <a:r>
              <a:rPr lang="en-US" altLang="ko-KR" dirty="0">
                <a:solidFill>
                  <a:schemeClr val="bg1"/>
                </a:solidFill>
              </a:rPr>
              <a:t>… </a:t>
            </a:r>
            <a:r>
              <a:rPr lang="ko-KR" altLang="en-US" dirty="0">
                <a:solidFill>
                  <a:schemeClr val="bg1"/>
                </a:solidFill>
              </a:rPr>
              <a:t>우리 서비스도 더 공격적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도전적이어도 됨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2958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2C67E8-BECB-4223-9E34-413C4CC976C7}"/>
              </a:ext>
            </a:extLst>
          </p:cNvPr>
          <p:cNvSpPr txBox="1"/>
          <p:nvPr/>
        </p:nvSpPr>
        <p:spPr>
          <a:xfrm>
            <a:off x="359834" y="387971"/>
            <a:ext cx="610446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📢 전체 피해자 약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58%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가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2030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지난해 기관 사칭형 보이스피싱 연령대별 피해자는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이하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4661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840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440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908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60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1944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▲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70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대 이상 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726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명으로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다양한 연령대에서 피해가 발생했다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이 같은 통계에 따르면 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전체 피해자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9519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 중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57.7%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해당하는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5501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명이 </a:t>
            </a:r>
            <a:r>
              <a:rPr lang="en-US" altLang="ko-KR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20·30 </a:t>
            </a:r>
            <a:r>
              <a:rPr lang="ko-KR" altLang="en-US" b="1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청년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에 해당해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“</a:t>
            </a:r>
            <a:r>
              <a:rPr lang="ko-KR" altLang="en-US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보이스피싱 피해는 전자기기 사용 등에 어려움이 있는 노년층에 집중된다”는 편견은 실제 현실과는 거리가 있었다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algn="l"/>
            <a:endParaRPr lang="en-US" altLang="ko-KR" dirty="0">
              <a:solidFill>
                <a:srgbClr val="2D374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l"/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  <a:hlinkClick r:id="rId2"/>
              </a:rPr>
              <a:t>https://slownews.kr/134149</a:t>
            </a:r>
            <a:r>
              <a:rPr lang="en-US" altLang="ko-KR" b="0" i="0" dirty="0">
                <a:solidFill>
                  <a:srgbClr val="2D374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9AAF485-49B8-4C67-8ABA-5444F0C2EA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660"/>
          <a:stretch/>
        </p:blipFill>
        <p:spPr bwMode="auto">
          <a:xfrm>
            <a:off x="7482182" y="1126067"/>
            <a:ext cx="4349984" cy="2779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2560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658368" y="585216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1024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731520"/>
            <a:ext cx="5392948" cy="1375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금융기관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정부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공공기관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통신사 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· 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보안업체가 마련한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많은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안전장치</a:t>
            </a: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가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이미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존재하고 실제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효과도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있는데</a:t>
            </a:r>
            <a:r>
              <a:rPr 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…</a:t>
            </a:r>
            <a:endParaRPr lang="en-US" altLang="ko-KR" dirty="0">
              <a:solidFill>
                <a:srgbClr val="FFFFFF"/>
              </a:solidFill>
              <a:latin typeface="페이퍼로지 7 Bold" pitchFamily="2" charset="-127"/>
              <a:ea typeface="페이퍼로지 7 Bold" pitchFamily="2" charset="-127"/>
              <a:cs typeface="NanumSquare Bold" pitchFamily="34" charset="-120"/>
            </a:endParaRPr>
          </a:p>
          <a:p>
            <a:pPr marL="0" indent="0" algn="l">
              <a:buNone/>
            </a:pPr>
            <a:r>
              <a:rPr lang="ko-KR" altLang="en-US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왜 보이스피싱 피해는 여전히 발생하고 있을까</a:t>
            </a:r>
            <a:r>
              <a:rPr lang="en-US" altLang="ko-KR" dirty="0">
                <a:solidFill>
                  <a:srgbClr val="FFFFFF"/>
                </a:solidFill>
                <a:latin typeface="페이퍼로지 7 Bold" pitchFamily="2" charset="-127"/>
                <a:ea typeface="페이퍼로지 7 Bold" pitchFamily="2" charset="-127"/>
                <a:cs typeface="NanumSquare Bold" pitchFamily="34" charset="-120"/>
              </a:rPr>
              <a:t>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46F48BE-8EEC-4F2F-B9D7-F907ACFE0119}"/>
              </a:ext>
            </a:extLst>
          </p:cNvPr>
          <p:cNvGrpSpPr/>
          <p:nvPr/>
        </p:nvGrpSpPr>
        <p:grpSpPr>
          <a:xfrm>
            <a:off x="6019336" y="5430438"/>
            <a:ext cx="5639264" cy="614762"/>
            <a:chOff x="1626786" y="4270248"/>
            <a:chExt cx="2708316" cy="658368"/>
          </a:xfrm>
        </p:grpSpPr>
        <p:sp>
          <p:nvSpPr>
            <p:cNvPr id="10" name="Shape 8"/>
            <p:cNvSpPr/>
            <p:nvPr/>
          </p:nvSpPr>
          <p:spPr>
            <a:xfrm>
              <a:off x="1626786" y="4270248"/>
              <a:ext cx="2708316" cy="658368"/>
            </a:xfrm>
            <a:prstGeom prst="roundRect">
              <a:avLst>
                <a:gd name="adj" fmla="val 22222"/>
              </a:avLst>
            </a:prstGeom>
            <a:solidFill>
              <a:srgbClr val="123153"/>
            </a:solidFill>
            <a:ln w="10160">
              <a:solidFill>
                <a:srgbClr val="274F78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1911569" y="4270248"/>
              <a:ext cx="2138751" cy="65836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기존 안전장치에서 우리가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 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놓치고 있는 </a:t>
              </a:r>
              <a:r>
                <a:rPr lang="en-US" sz="1340" b="1" dirty="0" err="1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공백</a:t>
              </a:r>
              <a:r>
                <a:rPr lang="ko-KR" altLang="en-US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이 있는게 아닐까</a:t>
              </a:r>
              <a:r>
                <a:rPr lang="en-US" altLang="ko-KR" sz="1340" b="1" dirty="0">
                  <a:solidFill>
                    <a:srgbClr val="C5D6E8"/>
                  </a:solidFill>
                  <a:latin typeface="NanumSquare Bold" pitchFamily="34" charset="0"/>
                  <a:ea typeface="NanumSquare Bold" pitchFamily="34" charset="-122"/>
                  <a:cs typeface="NanumSquare Bold" pitchFamily="34" charset="-120"/>
                </a:rPr>
                <a:t>?</a:t>
              </a:r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44784" y="6510528"/>
            <a:ext cx="905256" cy="5486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E20767-A385-4BE8-BFBE-7E7A5D3376D7}"/>
              </a:ext>
            </a:extLst>
          </p:cNvPr>
          <p:cNvGrpSpPr/>
          <p:nvPr/>
        </p:nvGrpSpPr>
        <p:grpSpPr>
          <a:xfrm>
            <a:off x="6021155" y="1556532"/>
            <a:ext cx="6170845" cy="3657597"/>
            <a:chOff x="591989" y="2587755"/>
            <a:chExt cx="6170845" cy="36575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6FBA526-3B54-405B-9FBA-787E9BC27460}"/>
                </a:ext>
              </a:extLst>
            </p:cNvPr>
            <p:cNvGrpSpPr/>
            <p:nvPr/>
          </p:nvGrpSpPr>
          <p:grpSpPr>
            <a:xfrm>
              <a:off x="658368" y="3108908"/>
              <a:ext cx="6104466" cy="3136444"/>
              <a:chOff x="658368" y="2870200"/>
              <a:chExt cx="6104466" cy="3136444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4AD41D3-954E-4B95-943D-89CBBF89C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656" y="2870200"/>
                <a:ext cx="5466292" cy="2921000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04AF33-D5D0-4EF9-BA92-CE13442388FB}"/>
                  </a:ext>
                </a:extLst>
              </p:cNvPr>
              <p:cNvSpPr txBox="1"/>
              <p:nvPr/>
            </p:nvSpPr>
            <p:spPr>
              <a:xfrm>
                <a:off x="658368" y="5791200"/>
                <a:ext cx="6104466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l">
                  <a:buNone/>
                </a:pP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*</a:t>
                </a:r>
                <a:r>
                  <a:rPr lang="ko-KR" altLang="en-US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경찰청 보이스피싱 현황 공공데이터 </a:t>
                </a:r>
                <a:r>
                  <a:rPr lang="en-US" altLang="ko-KR" sz="800" dirty="0">
                    <a:solidFill>
                      <a:srgbClr val="FFFFFF"/>
                    </a:solidFill>
                    <a:latin typeface="페이퍼로지 4 Regular" pitchFamily="2" charset="-127"/>
                    <a:ea typeface="페이퍼로지 4 Regular" pitchFamily="2" charset="-127"/>
                    <a:cs typeface="NanumSquare Bold" pitchFamily="34" charset="-120"/>
                  </a:rPr>
                  <a:t>2016~2025</a:t>
                </a:r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798FE8C-65A9-4E7B-9D44-F7EE79DD2225}"/>
                </a:ext>
              </a:extLst>
            </p:cNvPr>
            <p:cNvSpPr/>
            <p:nvPr/>
          </p:nvSpPr>
          <p:spPr>
            <a:xfrm>
              <a:off x="4326467" y="4242140"/>
              <a:ext cx="1286934" cy="592666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8091484-B054-472B-9073-7E4ADF862D87}"/>
                </a:ext>
              </a:extLst>
            </p:cNvPr>
            <p:cNvSpPr txBox="1"/>
            <p:nvPr/>
          </p:nvSpPr>
          <p:spPr>
            <a:xfrm>
              <a:off x="591989" y="2587755"/>
              <a:ext cx="610446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2019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감소하던 피해 수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2023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이후 반등하기 시작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  <a:p>
              <a:pPr marL="0" indent="0" algn="l">
                <a:buNone/>
              </a:pP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2025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년 피해 수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23,360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건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, 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피해금액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1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조 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2578</a:t>
              </a:r>
              <a:r>
                <a:rPr lang="ko-KR" altLang="en-US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억 으로 적지 않은 피해 발생</a:t>
              </a:r>
              <a:r>
                <a:rPr lang="en-US" altLang="ko-KR" sz="1200" dirty="0">
                  <a:solidFill>
                    <a:srgbClr val="FFFFFF"/>
                  </a:solidFill>
                  <a:latin typeface="페이퍼로지 4 Regular" pitchFamily="2" charset="-127"/>
                  <a:ea typeface="페이퍼로지 4 Regular" pitchFamily="2" charset="-127"/>
                  <a:cs typeface="NanumSquare Bold" pitchFamily="34" charset="-120"/>
                </a:rPr>
                <a:t>…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308394A-5261-49B6-8A77-8FEBF26CA8A2}"/>
              </a:ext>
            </a:extLst>
          </p:cNvPr>
          <p:cNvSpPr/>
          <p:nvPr/>
        </p:nvSpPr>
        <p:spPr>
          <a:xfrm>
            <a:off x="838200" y="2107178"/>
            <a:ext cx="4521200" cy="3938022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ASAP 등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위험정보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이상거래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탐지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지연이체</a:t>
            </a:r>
            <a:r>
              <a:rPr lang="en-US" altLang="ko-KR" sz="1800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 · </a:t>
            </a:r>
            <a:r>
              <a:rPr lang="en-US" altLang="ko-KR" sz="1800" dirty="0" err="1">
                <a:solidFill>
                  <a:schemeClr val="bg1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altLang="ko-KR" sz="1800" dirty="0">
              <a:solidFill>
                <a:schemeClr val="bg1"/>
              </a:solidFill>
              <a:latin typeface="NanumSquare" pitchFamily="34" charset="0"/>
              <a:ea typeface="NanumSquare" pitchFamily="34" charset="-122"/>
              <a:cs typeface="NanumSquare" pitchFamily="34" charset="-120"/>
            </a:endParaRPr>
          </a:p>
          <a:p>
            <a:pPr algn="ctr"/>
            <a:endParaRPr lang="en-US" altLang="ko-KR" dirty="0">
              <a:solidFill>
                <a:schemeClr val="bg1"/>
              </a:solidFill>
              <a:latin typeface="NanumSquare" pitchFamily="34" charset="0"/>
              <a:ea typeface="NanumSquare" pitchFamily="34" charset="-122"/>
            </a:endParaRPr>
          </a:p>
          <a:p>
            <a:pPr algn="ctr"/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---&gt; </a:t>
            </a:r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이렇게나 많고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전문적이고</a:t>
            </a:r>
            <a:r>
              <a:rPr lang="en-US" altLang="ko-KR" dirty="0">
                <a:solidFill>
                  <a:schemeClr val="bg1"/>
                </a:solidFill>
                <a:latin typeface="NanumSquare" pitchFamily="34" charset="0"/>
                <a:ea typeface="NanumSquare" pitchFamily="34" charset="-122"/>
              </a:rPr>
              <a:t>,</a:t>
            </a:r>
          </a:p>
          <a:p>
            <a:pPr algn="ctr"/>
            <a:r>
              <a:rPr lang="ko-KR" altLang="en-US" dirty="0">
                <a:solidFill>
                  <a:schemeClr val="bg1"/>
                </a:solidFill>
              </a:rPr>
              <a:t>체계적이지만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137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그 문제가 무엇인지 알기위해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범죄 수법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금융사용자가 처한 상황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|</a:t>
            </a:r>
            <a:b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</a:b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서비스들의 구조를</a:t>
            </a: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algn="ctr"/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함께 살펴보았다</a:t>
            </a: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0043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8495487" y="1721977"/>
            <a:ext cx="3382433" cy="4893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피해 당사자가 직접 판단하고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대응해야 하는 구조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! (</a:t>
            </a:r>
            <a:r>
              <a:rPr lang="ko-KR" altLang="en-US" sz="1200" b="1" dirty="0">
                <a:highlight>
                  <a:srgbClr val="FFFF00"/>
                </a:highlight>
                <a:latin typeface="Arial" panose="020B0604020202020204" pitchFamily="34" charset="0"/>
              </a:rPr>
              <a:t>여기에 우리가 개입</a:t>
            </a:r>
            <a:r>
              <a:rPr lang="en-US" altLang="ko-KR" sz="1200" b="1" dirty="0">
                <a:highlight>
                  <a:srgbClr val="FFFF00"/>
                </a:highlight>
                <a:latin typeface="Arial" panose="020B0604020202020204" pitchFamily="34" charset="0"/>
              </a:rPr>
              <a:t>)</a:t>
            </a:r>
            <a:endParaRPr kumimoji="0" lang="en-US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F2397A-76C4-4A78-91B5-B035F5E58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290824"/>
              </p:ext>
            </p:extLst>
          </p:nvPr>
        </p:nvGraphicFramePr>
        <p:xfrm>
          <a:off x="314080" y="2625595"/>
          <a:ext cx="7883008" cy="3687762"/>
        </p:xfrm>
        <a:graphic>
          <a:graphicData uri="http://schemas.openxmlformats.org/drawingml/2006/table">
            <a:tbl>
              <a:tblPr/>
              <a:tblGrid>
                <a:gridCol w="1202780">
                  <a:extLst>
                    <a:ext uri="{9D8B030D-6E8A-4147-A177-3AD203B41FA5}">
                      <a16:colId xmlns:a16="http://schemas.microsoft.com/office/drawing/2014/main" val="4137408631"/>
                    </a:ext>
                  </a:extLst>
                </a:gridCol>
                <a:gridCol w="1753643">
                  <a:extLst>
                    <a:ext uri="{9D8B030D-6E8A-4147-A177-3AD203B41FA5}">
                      <a16:colId xmlns:a16="http://schemas.microsoft.com/office/drawing/2014/main" val="2117270076"/>
                    </a:ext>
                  </a:extLst>
                </a:gridCol>
                <a:gridCol w="1950493">
                  <a:extLst>
                    <a:ext uri="{9D8B030D-6E8A-4147-A177-3AD203B41FA5}">
                      <a16:colId xmlns:a16="http://schemas.microsoft.com/office/drawing/2014/main" val="860866038"/>
                    </a:ext>
                  </a:extLst>
                </a:gridCol>
                <a:gridCol w="1412330">
                  <a:extLst>
                    <a:ext uri="{9D8B030D-6E8A-4147-A177-3AD203B41FA5}">
                      <a16:colId xmlns:a16="http://schemas.microsoft.com/office/drawing/2014/main" val="3299205817"/>
                    </a:ext>
                  </a:extLst>
                </a:gridCol>
                <a:gridCol w="1563762">
                  <a:extLst>
                    <a:ext uri="{9D8B030D-6E8A-4147-A177-3AD203B41FA5}">
                      <a16:colId xmlns:a16="http://schemas.microsoft.com/office/drawing/2014/main" val="197934767"/>
                    </a:ext>
                  </a:extLst>
                </a:gridCol>
              </a:tblGrid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피해 단계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대표 대응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Trigger /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주요 조치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>
                          <a:solidFill>
                            <a:schemeClr val="bg1"/>
                          </a:solidFill>
                        </a:rPr>
                        <a:t>상태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88968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전화 수신 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위험번호</a:t>
                      </a:r>
                      <a:r>
                        <a:rPr lang="en-US" altLang="ko-KR" sz="1000" dirty="0"/>
                        <a:t>·AI </a:t>
                      </a:r>
                      <a:r>
                        <a:rPr lang="ko-KR" altLang="en-US" sz="1000" dirty="0"/>
                        <a:t>안심차단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번호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신고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통신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차단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사전경고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273225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/>
                        <a:t>SKT </a:t>
                      </a:r>
                      <a:r>
                        <a:rPr lang="ko-KR" altLang="en-US" sz="1000"/>
                        <a:t>에이닷 </a:t>
                      </a:r>
                      <a:r>
                        <a:rPr lang="en-US" altLang="ko-KR" sz="1000"/>
                        <a:t>/ LG U+ </a:t>
                      </a:r>
                      <a:r>
                        <a:rPr lang="ko-KR" altLang="en-US" sz="1000"/>
                        <a:t>익시오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통화내용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키워드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대화패턴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실시간 위험경고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852360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통화 중 제</a:t>
                      </a:r>
                      <a:r>
                        <a:rPr lang="en-US" altLang="ko-KR" sz="1000" b="1" dirty="0"/>
                        <a:t>3</a:t>
                      </a:r>
                      <a:r>
                        <a:rPr lang="ko-KR" altLang="en-US" sz="1000" b="1" dirty="0"/>
                        <a:t>자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SKT </a:t>
                      </a:r>
                      <a:r>
                        <a:rPr lang="ko-KR" altLang="en-US" sz="1000" dirty="0"/>
                        <a:t>가족 케어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dirty="0"/>
                        <a:t>AI </a:t>
                      </a:r>
                      <a:r>
                        <a:rPr lang="ko-KR" altLang="en-US" sz="1000" dirty="0"/>
                        <a:t>보이스피싱 탐지 결과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가족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지인 알림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상용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5571845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음성</a:t>
                      </a:r>
                      <a:r>
                        <a:rPr lang="en-US" altLang="ko-KR" sz="1000" b="1" dirty="0"/>
                        <a:t>·</a:t>
                      </a:r>
                      <a:r>
                        <a:rPr lang="ko-KR" altLang="en-US" sz="1000" b="1" dirty="0"/>
                        <a:t>성문 탐지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LG U+·KT </a:t>
                      </a:r>
                      <a:r>
                        <a:rPr lang="ko-KR" altLang="en-US" sz="1000"/>
                        <a:t>등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성문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음성 유사도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탐지 정확도 보조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실증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고도화 포함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650620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통신 → 금융 연계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LG U+ × KB</a:t>
                      </a:r>
                      <a:r>
                        <a:rPr lang="ko-KR" altLang="en-US" sz="1000" dirty="0"/>
                        <a:t>국민은행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피싱 의심정보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악성앱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위험 </a:t>
                      </a:r>
                      <a:r>
                        <a:rPr lang="en-US" altLang="ko-KR" sz="1000" dirty="0"/>
                        <a:t>URL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금융보호 시스템 연계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업무협약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추진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979364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금융거래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 dirty="0"/>
                        <a:t>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접속정보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거래내역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이상패턴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탐지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거래제한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679651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위험정보 공유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000"/>
                        <a:t>ASAP + FDS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금융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통신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수사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거래개입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고도화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591523"/>
                  </a:ext>
                </a:extLst>
              </a:tr>
              <a:tr h="403349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/>
                        <a:t>송금 단계</a:t>
                      </a:r>
                      <a:endParaRPr lang="ko-KR" altLang="en-US" sz="100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지연이체</a:t>
                      </a:r>
                      <a:r>
                        <a:rPr lang="en-US" altLang="ko-KR" sz="1000" dirty="0"/>
                        <a:t>·</a:t>
                      </a:r>
                      <a:r>
                        <a:rPr lang="en-US" sz="1000" dirty="0"/>
                        <a:t>FDS Rule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사전 설정 또는 위험정보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거래지연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중단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8597177"/>
                  </a:ext>
                </a:extLst>
              </a:tr>
              <a:tr h="230485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1" dirty="0"/>
                        <a:t>피해 이후</a:t>
                      </a:r>
                      <a:endParaRPr lang="ko-KR" altLang="en-US" sz="100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/>
                        <a:t>지급정지</a:t>
                      </a:r>
                      <a:r>
                        <a:rPr lang="en-US" altLang="ko-KR" sz="1000"/>
                        <a:t>·</a:t>
                      </a:r>
                      <a:r>
                        <a:rPr lang="ko-KR" altLang="en-US" sz="1000"/>
                        <a:t>피해환급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피해신고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사후 피해구제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dirty="0"/>
                        <a:t>운영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1975689"/>
                  </a:ext>
                </a:extLst>
              </a:tr>
            </a:tbl>
          </a:graphicData>
        </a:graphic>
      </p:graphicFrame>
      <p:sp>
        <p:nvSpPr>
          <p:cNvPr id="4" name="Text 6">
            <a:extLst>
              <a:ext uri="{FF2B5EF4-FFF2-40B4-BE49-F238E27FC236}">
                <a16:creationId xmlns:a16="http://schemas.microsoft.com/office/drawing/2014/main" id="{054710C3-BE6B-4DA0-97FE-1021660BD7A2}"/>
              </a:ext>
            </a:extLst>
          </p:cNvPr>
          <p:cNvSpPr txBox="1"/>
          <p:nvPr/>
        </p:nvSpPr>
        <p:spPr>
          <a:xfrm>
            <a:off x="448395" y="169738"/>
            <a:ext cx="10698480" cy="119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이러한 기존의 서비스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체계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,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시스템 등에 대해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더 자세히 살펴보면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</a:p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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기존 서비스들은 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(a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b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, c </a:t>
            </a:r>
            <a:r>
              <a:rPr lang="ko-KR" alt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뭐가 특징이더라</a:t>
            </a:r>
            <a:r>
              <a:rPr lang="en-US" altLang="ko-KR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sym typeface="Wingdings" panose="05000000000000000000" pitchFamily="2" charset="2"/>
              </a:rPr>
              <a:t>!)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F776F-D09D-4BDF-B45A-2416C5C22AE5}"/>
              </a:ext>
            </a:extLst>
          </p:cNvPr>
          <p:cNvSpPr txBox="1"/>
          <p:nvPr/>
        </p:nvSpPr>
        <p:spPr>
          <a:xfrm>
            <a:off x="314080" y="2173301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기존의 서비스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BECDB-1A13-4FC6-B2A7-2DA40A9E6119}"/>
              </a:ext>
            </a:extLst>
          </p:cNvPr>
          <p:cNvSpPr txBox="1"/>
          <p:nvPr/>
        </p:nvSpPr>
        <p:spPr>
          <a:xfrm>
            <a:off x="8388130" y="1285863"/>
            <a:ext cx="1951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좀 더 쉽게보면</a:t>
            </a:r>
            <a:r>
              <a:rPr lang="en-US" altLang="ko-KR" sz="1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…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2676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B6B84D-C629-453D-B32A-D4910AE72E07}"/>
              </a:ext>
            </a:extLst>
          </p:cNvPr>
          <p:cNvSpPr txBox="1"/>
          <p:nvPr/>
        </p:nvSpPr>
        <p:spPr>
          <a:xfrm>
            <a:off x="235712" y="892584"/>
            <a:ext cx="3382433" cy="5632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전화 수신 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 / AI 안심차단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번호·통신 위험정보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SKT 에이닷 / LG U+ 익시오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통화내용·대화패턴 AI 분석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 경고 / 일부 가족·지인 알림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  <a:endParaRPr kumimoji="0" lang="ko-KR" altLang="ko-KR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추가 검증이 필요한 영역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" panose="020B0604020202020204" pitchFamily="34" charset="0"/>
              </a:rPr>
              <a:t>“상대방이 말하는 사건·기관·송금 이유·절차가 실제로 맞는가?”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주장 구조화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공식 기준과 진위검증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latin typeface="Arial Unicode MS"/>
              </a:rPr>
              <a:t>특정 거래 외부 공동검토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FFFF00"/>
              </a:highlight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━━━━━━━━━━━━━━━━━━━━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금융행동·송금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ASAP + FDS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계좌·거래·통신·수사 Risk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추가확인 / 거래지연 / 지급정지 / 거래중단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↓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피해 이후</a:t>
            </a:r>
            <a:endParaRPr kumimoji="0" lang="ko-KR" altLang="ko-K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신고 / 지급정지 / 피해환급</a:t>
            </a:r>
          </a:p>
        </p:txBody>
      </p:sp>
    </p:spTree>
    <p:extLst>
      <p:ext uri="{BB962C8B-B14F-4D97-AF65-F5344CB8AC3E}">
        <p14:creationId xmlns:p14="http://schemas.microsoft.com/office/powerpoint/2010/main" val="3386864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문제도출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보호체계가 개입하는 구간과, 통화 중 판단 공백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 진행 흐름을 시간축으로 놓고 기존 기능의 트리거·개입 시점을 구조적으로 보여주는 페이지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804672" y="2761488"/>
            <a:ext cx="10479024" cy="0"/>
          </a:xfrm>
          <a:prstGeom prst="line">
            <a:avLst/>
          </a:prstGeom>
          <a:noFill/>
          <a:ln w="40640">
            <a:solidFill>
              <a:srgbClr val="AFC7E7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05840" y="2587752"/>
            <a:ext cx="347472" cy="347472"/>
          </a:xfrm>
          <a:prstGeom prst="ellipse">
            <a:avLst/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전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42976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예방교육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스팸 차단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9806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접촉 단계</a:t>
            </a:r>
            <a:endParaRPr lang="en-US" sz="124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위험번호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악성앱 탐지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04688" y="2587752"/>
            <a:ext cx="347472" cy="347472"/>
          </a:xfrm>
          <a:prstGeom prst="ellipse">
            <a:avLst/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20640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중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4928616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판단 형성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심리적 압박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45552" y="2587752"/>
            <a:ext cx="347472" cy="34747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 시도</a:t>
            </a:r>
            <a:endParaRPr lang="en-US" sz="124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FDS · ASAP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04120" y="2587752"/>
            <a:ext cx="347472" cy="34747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0072" y="309067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거래 후</a:t>
            </a:r>
            <a:endParaRPr lang="en-US" sz="1240" dirty="0"/>
          </a:p>
        </p:txBody>
      </p:sp>
      <p:sp>
        <p:nvSpPr>
          <p:cNvPr id="25" name="Text 23"/>
          <p:cNvSpPr txBox="1"/>
          <p:nvPr/>
        </p:nvSpPr>
        <p:spPr>
          <a:xfrm>
            <a:off x="9528048" y="3474720"/>
            <a:ext cx="1499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지급정지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피해구제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1901952"/>
            <a:ext cx="2505456" cy="2670048"/>
          </a:xfrm>
          <a:prstGeom prst="roundRect">
            <a:avLst>
              <a:gd name="adj" fmla="val 7299"/>
            </a:avLst>
          </a:prstGeom>
          <a:solidFill>
            <a:srgbClr val="FFF6F7"/>
          </a:solidFill>
          <a:ln w="10160">
            <a:solidFill>
              <a:srgbClr val="FFD3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10912" y="2112264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84064" y="2139696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공백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66090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통화 내용이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판단을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A33E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바꾸는 순간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562856" y="3739896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기존 장치가 존재해도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7E536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“상황의 진위”를 즉시 검증하기 어렵다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4672" y="5285232"/>
            <a:ext cx="10625328" cy="566928"/>
          </a:xfrm>
          <a:prstGeom prst="roundRect">
            <a:avLst>
              <a:gd name="adj" fmla="val 2258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42416" y="543153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핵심: 보호장치 사이의 빈 구간은 ‘통화 속 판단이 형성되는 시간’에 존재할 수 있다.</a:t>
            </a:r>
            <a:endParaRPr lang="en-US" sz="132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BC5BB59-1D02-4ABB-8083-EA7E83293219}"/>
              </a:ext>
            </a:extLst>
          </p:cNvPr>
          <p:cNvSpPr/>
          <p:nvPr/>
        </p:nvSpPr>
        <p:spPr>
          <a:xfrm>
            <a:off x="3352800" y="1727199"/>
            <a:ext cx="4986867" cy="3268133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>
                <a:solidFill>
                  <a:schemeClr val="bg1"/>
                </a:solidFill>
              </a:rPr>
              <a:t>보이스피싱 수법 상세 </a:t>
            </a:r>
            <a:r>
              <a:rPr lang="ko-KR" altLang="en-US" dirty="0">
                <a:solidFill>
                  <a:schemeClr val="bg1"/>
                </a:solidFill>
              </a:rPr>
              <a:t>분석</a:t>
            </a:r>
            <a:r>
              <a:rPr lang="en-US" altLang="ko-KR" dirty="0">
                <a:solidFill>
                  <a:schemeClr val="bg1"/>
                </a:solidFill>
              </a:rPr>
              <a:t>!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2830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전략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보이스피싱은 ‘거짓 정보’뿐 아니라 ‘거짓 판단’을 유도한다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세 가지 전략이 결합해 피해자의 판단 환경 자체를 장악하는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58952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9344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우위</a:t>
            </a:r>
            <a:endParaRPr lang="en-US" sz="162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정교한 개인정보·절차 설명으로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“상대가 더 많이 알고 있다”는 인상 형성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215384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53128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53128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B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65776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심리적 압박</a:t>
            </a:r>
            <a:endParaRPr lang="en-US" sz="1620" dirty="0"/>
          </a:p>
        </p:txBody>
      </p:sp>
      <p:sp>
        <p:nvSpPr>
          <p:cNvPr id="19" name="Text 17"/>
          <p:cNvSpPr txBox="1"/>
          <p:nvPr/>
        </p:nvSpPr>
        <p:spPr>
          <a:xfrm>
            <a:off x="4462272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권위 · 공포 · 긴급성으로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차분하게 비교·검토할 시간을 축소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671816" y="2039112"/>
            <a:ext cx="2944368" cy="2331720"/>
          </a:xfrm>
          <a:prstGeom prst="roundRect">
            <a:avLst>
              <a:gd name="adj" fmla="val 7843"/>
            </a:avLst>
          </a:prstGeom>
          <a:solidFill>
            <a:srgbClr val="12375D"/>
          </a:solidFill>
          <a:ln w="10160">
            <a:solidFill>
              <a:srgbClr val="2A58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2267712"/>
            <a:ext cx="475488" cy="475488"/>
          </a:xfrm>
          <a:prstGeom prst="ellipse">
            <a:avLst/>
          </a:prstGeom>
          <a:solidFill>
            <a:srgbClr val="173A62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276856"/>
            <a:ext cx="475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CD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522208" y="226771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차단</a:t>
            </a:r>
            <a:endParaRPr lang="en-US" sz="1620" dirty="0"/>
          </a:p>
        </p:txBody>
      </p:sp>
      <p:sp>
        <p:nvSpPr>
          <p:cNvPr id="24" name="Text 22"/>
          <p:cNvSpPr txBox="1"/>
          <p:nvPr/>
        </p:nvSpPr>
        <p:spPr>
          <a:xfrm>
            <a:off x="7918704" y="2971800"/>
            <a:ext cx="24323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비밀유지 · 연락 제한 ·</a:t>
            </a:r>
            <a:endParaRPr lang="en-US" sz="1130" dirty="0"/>
          </a:p>
          <a:p>
            <a:pPr marL="0" indent="0" algn="l">
              <a:buNone/>
            </a:pPr>
            <a:r>
              <a:rPr lang="en-US" sz="1130" dirty="0">
                <a:solidFill>
                  <a:srgbClr val="BFD2E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확인 절차 방해로 독립적 판단을 차단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3639312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3218688"/>
            <a:ext cx="402336" cy="0"/>
          </a:xfrm>
          <a:prstGeom prst="line">
            <a:avLst/>
          </a:prstGeom>
          <a:noFill/>
          <a:ln w="2540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172968" y="4782312"/>
            <a:ext cx="5833872" cy="850392"/>
          </a:xfrm>
          <a:prstGeom prst="roundRect">
            <a:avLst>
              <a:gd name="adj" fmla="val 19355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38144" y="5001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3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요소가 결합하면 범죄자는 피해자의 “판단 환경”을 장악한다</a:t>
            </a:r>
            <a:endParaRPr lang="en-US" sz="163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D6FB03-DC66-44F9-B8C6-CA052B0E3538}"/>
              </a:ext>
            </a:extLst>
          </p:cNvPr>
          <p:cNvSpPr txBox="1"/>
          <p:nvPr/>
        </p:nvSpPr>
        <p:spPr>
          <a:xfrm>
            <a:off x="372534" y="365668"/>
            <a:ext cx="36022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이런 방식에 사람들은 취약하다</a:t>
            </a:r>
            <a:r>
              <a:rPr lang="en-US" altLang="ko-KR" dirty="0">
                <a:solidFill>
                  <a:schemeClr val="bg1"/>
                </a:solidFill>
              </a:rPr>
              <a:t>…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연령별 취약성</a:t>
            </a:r>
            <a:r>
              <a:rPr lang="en-US" altLang="ko-KR" dirty="0">
                <a:solidFill>
                  <a:schemeClr val="bg1"/>
                </a:solidFill>
              </a:rPr>
              <a:t>…?</a:t>
            </a:r>
          </a:p>
          <a:p>
            <a:r>
              <a:rPr lang="ko-KR" altLang="en-US" dirty="0">
                <a:solidFill>
                  <a:schemeClr val="bg1"/>
                </a:solidFill>
              </a:rPr>
              <a:t>수법의 취약성</a:t>
            </a:r>
            <a:r>
              <a:rPr lang="en-US" altLang="ko-KR" dirty="0">
                <a:solidFill>
                  <a:schemeClr val="bg1"/>
                </a:solidFill>
              </a:rPr>
              <a:t>...!</a:t>
            </a:r>
            <a:endParaRPr lang="ko-KR" alt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6BEE45-68C9-4DBF-A291-79588BD65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795" y="2133941"/>
            <a:ext cx="7240010" cy="65731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80D0-09F6-4E22-BC66-C9B7A6C7F561}"/>
              </a:ext>
            </a:extLst>
          </p:cNvPr>
          <p:cNvSpPr/>
          <p:nvPr/>
        </p:nvSpPr>
        <p:spPr>
          <a:xfrm>
            <a:off x="3178728" y="3261267"/>
            <a:ext cx="6002867" cy="2658534"/>
          </a:xfrm>
          <a:prstGeom prst="rect">
            <a:avLst/>
          </a:prstGeom>
          <a:solidFill>
            <a:schemeClr val="tx1"/>
          </a:solidFill>
          <a:ln w="12700">
            <a:solidFill>
              <a:srgbClr val="0E2746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연령별 나이 비중 변화 데이터 등 각 연령과 사람들의 취약점 분석</a:t>
            </a:r>
          </a:p>
        </p:txBody>
      </p:sp>
    </p:spTree>
    <p:extLst>
      <p:ext uri="{BB962C8B-B14F-4D97-AF65-F5344CB8AC3E}">
        <p14:creationId xmlns:p14="http://schemas.microsoft.com/office/powerpoint/2010/main" val="1073232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연령·유형별로 서로 다른 판단 공백이 나타난다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20대와 고령층의 취약성을 단순 “주의 부족”이 아니라 정보·경험·검증 구조의 차이로 설명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76656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9264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20대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기준의 공백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금융·행정·수사 절차에 대한 경험이 적을 경우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“정상적인 절차가 무엇인지” 비교할 기준점이 부족할 수 있다.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96112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4407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권위·기관사칭 → 정상 절차로 오인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108192" y="1883664"/>
            <a:ext cx="5175504" cy="333756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2130552"/>
            <a:ext cx="93268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21579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고령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61518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정보·검증의 공백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136392"/>
            <a:ext cx="4407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디지털·금융환경이 빠르게 변하면서</a:t>
            </a:r>
            <a:endParaRPr lang="en-US" sz="1220" dirty="0"/>
          </a:p>
          <a:p>
            <a:pPr marL="0" indent="0" algn="l">
              <a:buNone/>
            </a:pPr>
            <a:r>
              <a:rPr lang="en-US" sz="122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정보를 검색·비교·확인하는 과정 자체가 부담이 될 수 있다.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6327648" y="4242816"/>
            <a:ext cx="4425696" cy="621792"/>
          </a:xfrm>
          <a:prstGeom prst="roundRect">
            <a:avLst>
              <a:gd name="adj" fmla="val 17647"/>
            </a:avLst>
          </a:prstGeom>
          <a:solidFill>
            <a:srgbClr val="EDF2F8"/>
          </a:solidFill>
          <a:ln w="10160">
            <a:solidFill>
              <a:srgbClr val="DCE5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440740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5" b="1" dirty="0">
                <a:solidFill>
                  <a:srgbClr val="102B4E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주요 공격: 반복 설명·다중 사칭 → 혼돈과 신뢰 강화</a:t>
            </a:r>
            <a:endParaRPr lang="en-US" sz="1135" dirty="0"/>
          </a:p>
        </p:txBody>
      </p:sp>
      <p:sp>
        <p:nvSpPr>
          <p:cNvPr id="24" name="Shape 22"/>
          <p:cNvSpPr/>
          <p:nvPr/>
        </p:nvSpPr>
        <p:spPr>
          <a:xfrm>
            <a:off x="676656" y="5458968"/>
            <a:ext cx="10607040" cy="402336"/>
          </a:xfrm>
          <a:prstGeom prst="roundRect">
            <a:avLst>
              <a:gd name="adj" fmla="val 31818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" y="5541264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하단에는 “연령별 피해 현황 그래프” 또는 관련 설문·논문 근거를 삽입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취약점 분석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핵심은 연령이 아니라, 취약성과 공격방식의 결합이다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20대·고령층을 넘어 일반 금융소비자도 특정 상황에서는 판단이 흔들릴 수 있다는 확장 메시지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842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누구나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03704" y="19842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취약해질 수 있는 순간이 있다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정교한 개인정보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이름·직장·거래정보를 알고 접근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“진짜 기관 같다”는 신뢰 강화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4059936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61104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갑작스러운 공포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261104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수사·체포·자산동결 등 위협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차분한 판단보다 즉시 대응 선택</a:t>
            </a:r>
            <a:endParaRPr lang="en-US" sz="1060" dirty="0"/>
          </a:p>
        </p:txBody>
      </p:sp>
      <p:sp>
        <p:nvSpPr>
          <p:cNvPr id="20" name="Shape 18"/>
          <p:cNvSpPr/>
          <p:nvPr/>
        </p:nvSpPr>
        <p:spPr>
          <a:xfrm>
            <a:off x="7406640" y="2807208"/>
            <a:ext cx="2990088" cy="187452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29992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07808" y="336499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충분하지 않은 시간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607808" y="3803904"/>
            <a:ext cx="25054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지금 당장 처리해야 한다는 압박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 가족·기관에 확인할 시간을 제거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1353312" y="5102352"/>
            <a:ext cx="9491472" cy="749808"/>
          </a:xfrm>
          <a:prstGeom prst="roundRect">
            <a:avLst>
              <a:gd name="adj" fmla="val 2195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64208" y="5321808"/>
            <a:ext cx="8869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사람마다 취약성은 다르고, 범죄자는 그 취약성과 맞는 공격방식을 선택한다</a:t>
            </a:r>
            <a:endParaRPr lang="en-US" sz="142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문제정리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 피해가 발생하는 구조를 종합하면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범죄자의 전략 × 피해자의 취약성 × 외부 검증 제한이 결합해 잘못된 판단과 송금으로 이어지는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 전략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정보비대칭 · 권위 · 공포 · 긴급성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3374136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3730752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13632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피해자의 취약성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경험 부족 · 정보격차 · 순간 부담</a:t>
            </a:r>
            <a:endParaRPr lang="en-US" sz="102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633472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×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711696" y="2212848"/>
            <a:ext cx="2514600" cy="142646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94576" y="2414016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27432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 제한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94576" y="3127248"/>
            <a:ext cx="2093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시간압박 · 비밀유지 · 확인 방해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9381744" y="2926080"/>
            <a:ext cx="694944" cy="0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49840" y="2331720"/>
            <a:ext cx="1426464" cy="1143000"/>
          </a:xfrm>
          <a:prstGeom prst="roundRect">
            <a:avLst>
              <a:gd name="adj" fmla="val 14400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68712" y="253288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환경 붕괴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0853928" y="3694176"/>
            <a:ext cx="0" cy="658368"/>
          </a:xfrm>
          <a:prstGeom prst="line">
            <a:avLst/>
          </a:prstGeom>
          <a:noFill/>
          <a:ln w="2794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13648" y="4526280"/>
            <a:ext cx="2907792" cy="996696"/>
          </a:xfrm>
          <a:prstGeom prst="roundRect">
            <a:avLst>
              <a:gd name="adj" fmla="val 16514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0" y="483717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잘못된 판단 → 송금 → 실제 피해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49808" y="4315968"/>
            <a:ext cx="7223760" cy="1197864"/>
          </a:xfrm>
          <a:prstGeom prst="roundRect">
            <a:avLst>
              <a:gd name="adj" fmla="val 1374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7552" y="4526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문제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480560"/>
            <a:ext cx="5650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현재 상황이 정상인지 보이스피싱인지</a:t>
            </a:r>
            <a:endParaRPr lang="en-US" sz="1630" dirty="0"/>
          </a:p>
          <a:p>
            <a:pPr marL="0" indent="0" algn="l">
              <a:buNone/>
            </a:pPr>
            <a:r>
              <a:rPr lang="en-US" sz="16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스스로 검증하기 어려워지는 순간이 존재한다</a:t>
            </a:r>
            <a:endParaRPr lang="en-US" sz="163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문제정의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조작된 상황에서도 피해자는 혼자 판단한다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문제의 본질을 “정보 부족”이 아니라 “판단과 금융행동의 개인 의존성”으로 정의</a:t>
            </a:r>
            <a:endParaRPr lang="en-US" sz="123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192938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보이스피싱의 핵심 문제</a:t>
            </a:r>
            <a:endParaRPr lang="en-US" sz="112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304288"/>
            <a:ext cx="5212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최종 판단과 금융행동이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 개인에게 크게 의존한다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58952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범죄자의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286000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44368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F7CF6"/>
          </a:solidFill>
          <a:ln w="10160">
            <a:solidFill>
              <a:srgbClr val="2F7C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2384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흔들림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471416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29784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57800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혼자</a:t>
            </a:r>
            <a:endParaRPr lang="en-US" sz="1550" dirty="0"/>
          </a:p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656832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15200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2C6FE7"/>
          </a:solidFill>
          <a:ln w="10160">
            <a:solidFill>
              <a:srgbClr val="2C6F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43216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8842248" y="4389120"/>
            <a:ext cx="475488" cy="0"/>
          </a:xfrm>
          <a:prstGeom prst="line">
            <a:avLst/>
          </a:prstGeom>
          <a:noFill/>
          <a:ln w="25400">
            <a:solidFill>
              <a:srgbClr val="DDE7F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0616" y="3886200"/>
            <a:ext cx="1444752" cy="1005840"/>
          </a:xfrm>
          <a:prstGeom prst="roundRect">
            <a:avLst>
              <a:gd name="adj" fmla="val 16364"/>
            </a:avLst>
          </a:prstGeom>
          <a:solidFill>
            <a:srgbClr val="FF6478"/>
          </a:solidFill>
          <a:ln w="10160">
            <a:solidFill>
              <a:srgbClr val="FF6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40599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528816" y="3456432"/>
            <a:ext cx="0" cy="1920240"/>
          </a:xfrm>
          <a:prstGeom prst="line">
            <a:avLst/>
          </a:prstGeom>
          <a:noFill/>
          <a:ln w="20320">
            <a:solidFill>
              <a:srgbClr val="1F5EFF"/>
            </a:solidFill>
            <a:prstDash val="dash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742432" y="3063240"/>
            <a:ext cx="1572768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16382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검증?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2560320" y="5422392"/>
            <a:ext cx="7040880" cy="521208"/>
          </a:xfrm>
          <a:prstGeom prst="roundRect">
            <a:avLst>
              <a:gd name="adj" fmla="val 2456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770632" y="5550408"/>
            <a:ext cx="662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과정에 객관적인 제3자의 판단을 개입시킬 수 있다면?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인사이트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세 가지 인사이트가 하나의 방향을 가리킨다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예방정보를 더 주는 것보다, 판단이 흔들리는 순간에 독립 검증과 금융행동 지연을 결합해야 한다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90195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09397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213055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05740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정보 부족만의 문제가 아니다</a:t>
            </a:r>
            <a:endParaRPr lang="en-US" sz="1530" dirty="0"/>
          </a:p>
        </p:txBody>
      </p:sp>
      <p:sp>
        <p:nvSpPr>
          <p:cNvPr id="14" name="Text 12"/>
          <p:cNvSpPr txBox="1"/>
          <p:nvPr/>
        </p:nvSpPr>
        <p:spPr>
          <a:xfrm>
            <a:off x="5641848" y="206654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보이스피싱은 피해자의 판단 환경 자체를 조작한다.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299923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191256"/>
            <a:ext cx="438912" cy="438912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" y="322783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15468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피해자를 혼자 판단하게 두어서는 안 된다</a:t>
            </a:r>
            <a:endParaRPr lang="en-US" sz="1530" dirty="0"/>
          </a:p>
        </p:txBody>
      </p:sp>
      <p:sp>
        <p:nvSpPr>
          <p:cNvPr id="19" name="Text 17"/>
          <p:cNvSpPr txBox="1"/>
          <p:nvPr/>
        </p:nvSpPr>
        <p:spPr>
          <a:xfrm>
            <a:off x="5641848" y="316382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 밖에서 보는 독립적인 제3자의 검토가 필요하다.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3232" y="4096512"/>
            <a:ext cx="10716768" cy="859536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288536"/>
            <a:ext cx="438912" cy="438912"/>
          </a:xfrm>
          <a:prstGeom prst="ellipse">
            <a:avLst/>
          </a:prstGeom>
          <a:solidFill>
            <a:srgbClr val="102B4E"/>
          </a:solidFill>
          <a:ln w="10160">
            <a:solidFill>
              <a:srgbClr val="102B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4251960"/>
            <a:ext cx="4315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검증하는 동안 송금이 가능하면 늦을 수 있다</a:t>
            </a:r>
            <a:endParaRPr lang="en-US" sz="153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4261104"/>
            <a:ext cx="53675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검증이 끝날 때까지 금융행동을 잠시 멈출 수 있어야 한다.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74520" y="5358384"/>
            <a:ext cx="8412480" cy="603504"/>
          </a:xfrm>
          <a:prstGeom prst="roundRect">
            <a:avLst>
              <a:gd name="adj" fmla="val 24242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57984" y="552297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4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새로운 정보 하나가 아니라, “상황 밖에서 바라보는 독립적 외부 검증”이 필요하다</a:t>
            </a:r>
            <a:endParaRPr lang="en-US" sz="134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해결방안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판단과 송금 사이에 ‘금융 방지턱’을 만든다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판단이 즉시 금융피해로 이어지지 않도록 한 번 더 멈춰 세우는 보호구간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49808" y="1911096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1938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기존 구조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8096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1947672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194560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67712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 흔들림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374136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86784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59936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5166360" y="3072384"/>
            <a:ext cx="228600" cy="0"/>
          </a:xfrm>
          <a:prstGeom prst="line">
            <a:avLst/>
          </a:prstGeom>
          <a:noFill/>
          <a:ln w="20320">
            <a:solidFill>
              <a:srgbClr val="AFC7E7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13248" y="2743200"/>
            <a:ext cx="1115568" cy="658368"/>
          </a:xfrm>
          <a:prstGeom prst="roundRect">
            <a:avLst>
              <a:gd name="adj" fmla="val 19444"/>
            </a:avLst>
          </a:prstGeom>
          <a:solidFill>
            <a:srgbClr val="FFF1F3"/>
          </a:solidFill>
          <a:ln w="10160">
            <a:solidFill>
              <a:srgbClr val="FFD1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0" y="292608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A53F4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749808" y="3913632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394106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제안 구조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8096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조작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304288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94560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67712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위험탐지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30752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9136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867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 방지턱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498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742432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EAF3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815584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외부 독립검증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278624" y="5001768"/>
            <a:ext cx="219456" cy="0"/>
          </a:xfrm>
          <a:prstGeom prst="line">
            <a:avLst/>
          </a:prstGeom>
          <a:noFill/>
          <a:ln w="21590">
            <a:solidFill>
              <a:srgbClr val="1F5EFF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90688" y="4608576"/>
            <a:ext cx="146304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0" y="4828032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안전한 재판단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710928" y="1911096"/>
            <a:ext cx="1828800" cy="3483864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76104" y="218541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948672" y="2743200"/>
            <a:ext cx="1353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대신하지 않고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0040112" y="3657600"/>
            <a:ext cx="1188720" cy="0"/>
          </a:xfrm>
          <a:prstGeom prst="line">
            <a:avLst/>
          </a:prstGeom>
          <a:noFill/>
          <a:ln w="12700">
            <a:solidFill>
              <a:srgbClr val="315B84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391363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1330" dirty="0"/>
          </a:p>
          <a:p>
            <a:pPr marL="0" indent="0" algn="ctr">
              <a:buNone/>
            </a:pPr>
            <a:r>
              <a:rPr lang="en-US" sz="1330" b="1" dirty="0">
                <a:solidFill>
                  <a:srgbClr val="D8E8F7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</a:t>
            </a:r>
            <a:endParaRPr lang="en-US" sz="133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제안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 송금방지턱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9DB6D6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위험 탐지부터 다중검증까지 연결되는 5단계 금융안전 구조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685800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01</a:t>
            </a:r>
            <a:endParaRPr lang="en-US" sz="102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통화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 탐지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 txBox="1"/>
          <p:nvPr/>
        </p:nvSpPr>
        <p:spPr>
          <a:xfrm>
            <a:off x="832104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사칭·권위·긴급성·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요구 신호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2487168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953512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7248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7248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5B9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02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위험도·근거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산출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218688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3099816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왜 위험한지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근거와 함께 제시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754880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221224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94960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94960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7CC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03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역할별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맞춤 브리프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0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367528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피해자·신뢰인·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금융기관별 정보 분리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7022592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88936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62672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62672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95D2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04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662672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754112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 txBox="1"/>
          <p:nvPr/>
        </p:nvSpPr>
        <p:spPr>
          <a:xfrm>
            <a:off x="7635240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신뢰인 공동검토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및 일시 보류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9290304" y="3639312"/>
            <a:ext cx="347472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756648" y="2176272"/>
            <a:ext cx="1764792" cy="2962656"/>
          </a:xfrm>
          <a:prstGeom prst="roundRect">
            <a:avLst>
              <a:gd name="adj" fmla="val 10363"/>
            </a:avLst>
          </a:prstGeom>
          <a:solidFill>
            <a:srgbClr val="12375D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30384" y="2386584"/>
            <a:ext cx="420624" cy="420624"/>
          </a:xfrm>
          <a:prstGeom prst="ellipse">
            <a:avLst/>
          </a:prstGeom>
          <a:solidFill>
            <a:srgbClr val="173F68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930384" y="245059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AEDC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05</a:t>
            </a:r>
            <a:endParaRPr lang="en-US" sz="1020" dirty="0"/>
          </a:p>
        </p:txBody>
      </p:sp>
      <p:sp>
        <p:nvSpPr>
          <p:cNvPr id="41" name="Text 39"/>
          <p:cNvSpPr txBox="1"/>
          <p:nvPr/>
        </p:nvSpPr>
        <p:spPr>
          <a:xfrm>
            <a:off x="9930384" y="2999232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독립검증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연결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10021824" y="3959352"/>
            <a:ext cx="1234440" cy="0"/>
          </a:xfrm>
          <a:prstGeom prst="line">
            <a:avLst/>
          </a:prstGeom>
          <a:noFill/>
          <a:ln w="11430">
            <a:solidFill>
              <a:srgbClr val="315A81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 txBox="1"/>
          <p:nvPr/>
        </p:nvSpPr>
        <p:spPr>
          <a:xfrm>
            <a:off x="9902952" y="4169664"/>
            <a:ext cx="1481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금융기관·공식기관</a:t>
            </a:r>
            <a:endParaRPr lang="en-US" sz="1030" dirty="0"/>
          </a:p>
          <a:p>
            <a:pPr marL="0" indent="0" algn="ctr">
              <a:buNone/>
            </a:pPr>
            <a:r>
              <a:rPr lang="en-US" sz="1030" dirty="0">
                <a:solidFill>
                  <a:srgbClr val="B9CDE0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</a:t>
            </a:r>
            <a:endParaRPr lang="en-US" sz="1030" dirty="0"/>
          </a:p>
        </p:txBody>
      </p:sp>
      <p:sp>
        <p:nvSpPr>
          <p:cNvPr id="44" name="Shape 42"/>
          <p:cNvSpPr/>
          <p:nvPr/>
        </p:nvSpPr>
        <p:spPr>
          <a:xfrm>
            <a:off x="1920240" y="5486400"/>
            <a:ext cx="8357616" cy="466344"/>
          </a:xfrm>
          <a:prstGeom prst="roundRect">
            <a:avLst>
              <a:gd name="adj" fmla="val 31373"/>
            </a:avLst>
          </a:prstGeom>
          <a:solidFill>
            <a:srgbClr val="102F50"/>
          </a:solidFill>
          <a:ln w="10160">
            <a:solidFill>
              <a:srgbClr val="2B5D8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157984" y="5596128"/>
            <a:ext cx="79004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D4E4F3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탐지 → 근거 → 공유 → 보류 → 검증 : “판단”과 “금융행동”을 동시에 보호</a:t>
            </a:r>
            <a:endParaRPr lang="en-US" sz="124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EAF3FF"/>
          </a:solidFill>
          <a:ln w="10160">
            <a:solidFill>
              <a:srgbClr val="EAF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49A8FF"/>
          </a:solidFill>
          <a:ln w="10160">
            <a:solidFill>
              <a:srgbClr val="49A8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D6E8FF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566928" y="347472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37490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서비스 구조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85039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0213D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관계자마다 서로 다른 역할로 개입한다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135331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66768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동일한 정보를 모두에게 보내지 않고, 각 주체에게 필요한 정보와 권한만 제공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713232" y="1847088"/>
            <a:ext cx="144475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주체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40280" y="1847088"/>
            <a:ext cx="402336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13432" y="194767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Llm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이 당사자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(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대상</a:t>
            </a:r>
            <a:r>
              <a:rPr lang="en-US" altLang="ko-KR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)</a:t>
            </a:r>
            <a:r>
              <a:rPr lang="ko-KR" alt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들에게 </a:t>
            </a:r>
            <a:r>
              <a:rPr lang="en-US" sz="1150" b="1" dirty="0" err="1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제공</a:t>
            </a: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 정보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82512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1947672"/>
            <a:ext cx="2551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핵심 역할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89720" y="1847088"/>
            <a:ext cx="2267712" cy="493776"/>
          </a:xfrm>
          <a:prstGeom prst="roundRect">
            <a:avLst>
              <a:gd name="adj" fmla="val 1111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2872" y="194767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접근 원칙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3232" y="2414016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252374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40280" y="2414016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1720" y="252374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위험도 · 근거 · 행동 안내</a:t>
            </a:r>
            <a:endParaRPr lang="en-US" sz="1070" dirty="0"/>
          </a:p>
        </p:txBody>
      </p:sp>
      <p:sp>
        <p:nvSpPr>
          <p:cNvPr id="22" name="Shape 20"/>
          <p:cNvSpPr/>
          <p:nvPr/>
        </p:nvSpPr>
        <p:spPr>
          <a:xfrm>
            <a:off x="6382512" y="2414016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73952" y="25237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통화 종료 · 재확인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9189720" y="2414016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81160" y="2523744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본인 의사결정 지원</a:t>
            </a:r>
            <a:endParaRPr lang="en-US" sz="1070" dirty="0"/>
          </a:p>
        </p:txBody>
      </p:sp>
      <p:sp>
        <p:nvSpPr>
          <p:cNvPr id="26" name="Shape 24"/>
          <p:cNvSpPr/>
          <p:nvPr/>
        </p:nvSpPr>
        <p:spPr>
          <a:xfrm>
            <a:off x="713232" y="3127248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23697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신뢰인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40280" y="3127248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331720" y="32369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상황요약 · AI 분석 · 요구금액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6382512" y="3127248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73952" y="32369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거래별 공동검토</a:t>
            </a:r>
            <a:endParaRPr lang="en-US" sz="1070" dirty="0"/>
          </a:p>
        </p:txBody>
      </p:sp>
      <p:sp>
        <p:nvSpPr>
          <p:cNvPr id="32" name="Shape 30"/>
          <p:cNvSpPr/>
          <p:nvPr/>
        </p:nvSpPr>
        <p:spPr>
          <a:xfrm>
            <a:off x="9189720" y="3127248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81160" y="3236976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최소 필요 정보</a:t>
            </a:r>
            <a:endParaRPr lang="en-US" sz="1070" dirty="0"/>
          </a:p>
        </p:txBody>
      </p:sp>
      <p:sp>
        <p:nvSpPr>
          <p:cNvPr id="34" name="Shape 32"/>
          <p:cNvSpPr/>
          <p:nvPr/>
        </p:nvSpPr>
        <p:spPr>
          <a:xfrm>
            <a:off x="713232" y="3840480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" y="395020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금융기관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40280" y="3840480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317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거래위험 · 요구금액</a:t>
            </a:r>
            <a:endParaRPr lang="en-US" sz="1070" dirty="0"/>
          </a:p>
        </p:txBody>
      </p:sp>
      <p:sp>
        <p:nvSpPr>
          <p:cNvPr id="38" name="Shape 36"/>
          <p:cNvSpPr/>
          <p:nvPr/>
        </p:nvSpPr>
        <p:spPr>
          <a:xfrm>
            <a:off x="6382512" y="3840480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73952" y="395020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추가확인 · 보류 · 차단</a:t>
            </a:r>
            <a:endParaRPr lang="en-US" sz="1070" dirty="0"/>
          </a:p>
        </p:txBody>
      </p:sp>
      <p:sp>
        <p:nvSpPr>
          <p:cNvPr id="40" name="Shape 38"/>
          <p:cNvSpPr/>
          <p:nvPr/>
        </p:nvSpPr>
        <p:spPr>
          <a:xfrm>
            <a:off x="9189720" y="3840480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81160" y="3950208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금융행동 보호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713232" y="4553712"/>
            <a:ext cx="144475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663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기관 담당자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40280" y="4553712"/>
            <a:ext cx="402336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33172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사칭정보 · 확인요청</a:t>
            </a:r>
            <a:endParaRPr lang="en-US" sz="1070" dirty="0"/>
          </a:p>
        </p:txBody>
      </p:sp>
      <p:sp>
        <p:nvSpPr>
          <p:cNvPr id="46" name="Shape 44"/>
          <p:cNvSpPr/>
          <p:nvPr/>
        </p:nvSpPr>
        <p:spPr>
          <a:xfrm>
            <a:off x="6382512" y="4553712"/>
            <a:ext cx="2697480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3952" y="46634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공식 진위검증</a:t>
            </a:r>
            <a:endParaRPr lang="en-US" sz="1070" dirty="0"/>
          </a:p>
        </p:txBody>
      </p:sp>
      <p:sp>
        <p:nvSpPr>
          <p:cNvPr id="48" name="Shape 46"/>
          <p:cNvSpPr/>
          <p:nvPr/>
        </p:nvSpPr>
        <p:spPr>
          <a:xfrm>
            <a:off x="9189720" y="4553712"/>
            <a:ext cx="2267712" cy="640080"/>
          </a:xfrm>
          <a:prstGeom prst="roundRect">
            <a:avLst>
              <a:gd name="adj" fmla="val 5714"/>
            </a:avLst>
          </a:prstGeom>
          <a:solidFill>
            <a:srgbClr val="F1F6FF"/>
          </a:solidFill>
          <a:ln w="10160">
            <a:solidFill>
              <a:srgbClr val="DCE8F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281160" y="466344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10213D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진위확인만 제공</a:t>
            </a:r>
            <a:endParaRPr lang="en-US" sz="1070" dirty="0"/>
          </a:p>
        </p:txBody>
      </p:sp>
      <p:sp>
        <p:nvSpPr>
          <p:cNvPr id="50" name="Shape 48"/>
          <p:cNvSpPr/>
          <p:nvPr/>
        </p:nvSpPr>
        <p:spPr>
          <a:xfrm>
            <a:off x="713232" y="5468112"/>
            <a:ext cx="10744200" cy="457200"/>
          </a:xfrm>
          <a:prstGeom prst="roundRect">
            <a:avLst>
              <a:gd name="adj" fmla="val 28000"/>
            </a:avLst>
          </a:prstGeom>
          <a:solidFill>
            <a:srgbClr val="EAF3FF"/>
          </a:solidFill>
          <a:ln w="10160">
            <a:solidFill>
              <a:srgbClr val="D7E7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" y="5568696"/>
            <a:ext cx="10259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F5E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PRIVACY BY ROLE  |  필요한 정보만 · 필요한 주체에게 · 필요한 순간에</a:t>
            </a:r>
            <a:endParaRPr lang="en-US" sz="118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B8CA8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4784" y="128016"/>
            <a:ext cx="1188720" cy="1188720"/>
          </a:xfrm>
          <a:prstGeom prst="ellipse">
            <a:avLst/>
          </a:prstGeom>
          <a:solidFill>
            <a:srgbClr val="10345A"/>
          </a:solidFill>
          <a:ln w="10160">
            <a:solidFill>
              <a:srgbClr val="103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48288" y="292608"/>
            <a:ext cx="310896" cy="310896"/>
          </a:xfrm>
          <a:prstGeom prst="ellipse">
            <a:avLst/>
          </a:prstGeom>
          <a:solidFill>
            <a:srgbClr val="1F5EFF"/>
          </a:solidFill>
          <a:ln w="10160">
            <a:solidFill>
              <a:srgbClr val="1F5E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44784" y="1024128"/>
            <a:ext cx="868680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1045952" y="1225296"/>
            <a:ext cx="667512" cy="0"/>
          </a:xfrm>
          <a:prstGeom prst="line">
            <a:avLst/>
          </a:prstGeom>
          <a:noFill/>
          <a:ln w="13970">
            <a:solidFill>
              <a:srgbClr val="2B5D8C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58368" y="58521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18395D"/>
          </a:solidFill>
          <a:ln w="10160">
            <a:solidFill>
              <a:srgbClr val="244F7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612648"/>
            <a:ext cx="987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CLOSING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57276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판단을 대신하지 않는다.</a:t>
            </a:r>
            <a:endParaRPr lang="en-US" sz="31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58568"/>
            <a:ext cx="7498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피해로 연결되기 전에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한 번 더 멈춘다.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76472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AI가 위험을 탐지하고, 외부의 독립적인 주체가 상황을 검증하며,</a:t>
            </a:r>
            <a:endParaRPr lang="en-US" sz="1450" dirty="0"/>
          </a:p>
          <a:p>
            <a:pPr marL="0" indent="0" algn="l">
              <a:buNone/>
            </a:pPr>
            <a:r>
              <a:rPr lang="en-US" sz="1450" dirty="0">
                <a:solidFill>
                  <a:srgbClr val="BDD0E4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검증이 끝날 때까지 위험한 금융거래를 잠시 보류하는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339328" y="1353312"/>
            <a:ext cx="2962656" cy="4005072"/>
          </a:xfrm>
          <a:prstGeom prst="roundRect">
            <a:avLst>
              <a:gd name="adj" fmla="val 7407"/>
            </a:avLst>
          </a:prstGeom>
          <a:solidFill>
            <a:srgbClr val="103256"/>
          </a:solidFill>
          <a:ln w="10160">
            <a:solidFill>
              <a:srgbClr val="2A5A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68512" y="184708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9A8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308592" y="2020824"/>
            <a:ext cx="502920" cy="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9893808" y="1847088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검증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40112" y="2386584"/>
            <a:ext cx="0" cy="548640"/>
          </a:xfrm>
          <a:prstGeom prst="line">
            <a:avLst/>
          </a:prstGeom>
          <a:noFill/>
          <a:ln w="21590">
            <a:solidFill>
              <a:srgbClr val="49A8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9217152" y="3081528"/>
            <a:ext cx="13167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방지턱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732520" y="4325112"/>
            <a:ext cx="2139696" cy="0"/>
          </a:xfrm>
          <a:prstGeom prst="line">
            <a:avLst/>
          </a:prstGeom>
          <a:noFill/>
          <a:ln w="12700">
            <a:solidFill>
              <a:srgbClr val="315C8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8814816" y="4590288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 독립검증형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C8DAEB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송금방지턱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9070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484A5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BLUE PROPOSAL TEMPLATE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10528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D86A6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D5831F-DE66-4EDD-B960-CEFCC96C152C}"/>
              </a:ext>
            </a:extLst>
          </p:cNvPr>
          <p:cNvSpPr txBox="1"/>
          <p:nvPr/>
        </p:nvSpPr>
        <p:spPr>
          <a:xfrm>
            <a:off x="3043767" y="2136338"/>
            <a:ext cx="61044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ko-KR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AI</a:t>
            </a:r>
            <a:r>
              <a:rPr lang="ko-KR" altLang="en-US" sz="1800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를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endParaRPr lang="en-US" altLang="ko-KR" sz="1800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어떻게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왜</a:t>
            </a:r>
            <a:r>
              <a:rPr lang="en-US" altLang="ko-KR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?</a:t>
            </a:r>
          </a:p>
          <a:p>
            <a:pPr marL="0" indent="0" algn="ctr">
              <a:buNone/>
            </a:pP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  <a:p>
            <a:pPr marL="0" indent="0" algn="ctr">
              <a:buNone/>
            </a:pPr>
            <a:r>
              <a:rPr lang="ko-KR" altLang="en-US" b="1" dirty="0">
                <a:solidFill>
                  <a:srgbClr val="C5D6E8"/>
                </a:solidFill>
                <a:latin typeface="NanumSquare Bold" pitchFamily="34" charset="0"/>
                <a:ea typeface="NanumSquare Bold" pitchFamily="34" charset="-122"/>
                <a:cs typeface="NanumSquare Bold" pitchFamily="34" charset="-120"/>
              </a:rPr>
              <a:t>사용하는가</a:t>
            </a:r>
            <a:endParaRPr lang="en-US" altLang="ko-KR" b="1" dirty="0">
              <a:solidFill>
                <a:srgbClr val="C5D6E8"/>
              </a:solidFill>
              <a:latin typeface="NanumSquare Bold" pitchFamily="34" charset="0"/>
              <a:ea typeface="NanumSquare Bold" pitchFamily="34" charset="-122"/>
              <a:cs typeface="NanumSquare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46168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12700">
          <a:solidFill>
            <a:srgbClr val="0E2746"/>
          </a:solidFill>
          <a:prstDash val="solid"/>
        </a:ln>
      </a:spPr>
      <a:bodyPr/>
      <a:lstStyle/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</TotalTime>
  <Words>3052</Words>
  <Application>Microsoft Office PowerPoint</Application>
  <PresentationFormat>Widescreen</PresentationFormat>
  <Paragraphs>525</Paragraphs>
  <Slides>26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Arial Unicode MS</vt:lpstr>
      <vt:lpstr>NanumSquare</vt:lpstr>
      <vt:lpstr>NanumSquare Bold</vt:lpstr>
      <vt:lpstr>Noto Sans KR</vt:lpstr>
      <vt:lpstr>맑은 고딕</vt:lpstr>
      <vt:lpstr>페이퍼로지 4 Regular</vt:lpstr>
      <vt:lpstr>페이퍼로지 7 Bold</vt:lpstr>
      <vt:lpstr>페이퍼로지 9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mbc</dc:creator>
  <cp:lastModifiedBy>mbc</cp:lastModifiedBy>
  <cp:revision>95</cp:revision>
  <dcterms:created xsi:type="dcterms:W3CDTF">2026-08-25T03:40:06Z</dcterms:created>
  <dcterms:modified xsi:type="dcterms:W3CDTF">2026-08-26T08:58:24Z</dcterms:modified>
</cp:coreProperties>
</file>