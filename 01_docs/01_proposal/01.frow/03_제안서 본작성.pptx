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2" r:id="rId2"/>
    <p:sldId id="289" r:id="rId3"/>
    <p:sldId id="307" r:id="rId4"/>
    <p:sldId id="258" r:id="rId5"/>
    <p:sldId id="305" r:id="rId6"/>
    <p:sldId id="286" r:id="rId7"/>
    <p:sldId id="312" r:id="rId8"/>
    <p:sldId id="313" r:id="rId9"/>
    <p:sldId id="262" r:id="rId10"/>
    <p:sldId id="294" r:id="rId11"/>
    <p:sldId id="314" r:id="rId12"/>
    <p:sldId id="315" r:id="rId13"/>
    <p:sldId id="264" r:id="rId14"/>
    <p:sldId id="316" r:id="rId15"/>
    <p:sldId id="306" r:id="rId16"/>
    <p:sldId id="309" r:id="rId17"/>
    <p:sldId id="296" r:id="rId18"/>
    <p:sldId id="261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302" r:id="rId27"/>
    <p:sldId id="308" r:id="rId28"/>
    <p:sldId id="29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bc" initials="m" lastIdx="1" clrIdx="0">
    <p:extLst>
      <p:ext uri="{19B8F6BF-5375-455C-9EA6-DF929625EA0E}">
        <p15:presenceInfo xmlns:p15="http://schemas.microsoft.com/office/powerpoint/2012/main" userId="mb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6"/>
    <a:srgbClr val="0B1F3A"/>
    <a:srgbClr val="E66867"/>
    <a:srgbClr val="49A8FF"/>
    <a:srgbClr val="002060"/>
    <a:srgbClr val="E56766"/>
    <a:srgbClr val="5E85B0"/>
    <a:srgbClr val="2F7CF6"/>
    <a:srgbClr val="10213D"/>
    <a:srgbClr val="0E2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60"/>
  </p:normalViewPr>
  <p:slideViewPr>
    <p:cSldViewPr snapToGrid="0">
      <p:cViewPr>
        <p:scale>
          <a:sx n="100" d="100"/>
          <a:sy n="100" d="100"/>
        </p:scale>
        <p:origin x="91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Pt>
            <c:idx val="9"/>
            <c:marker>
              <c:symbol val="circle"/>
              <c:size val="5"/>
              <c:spPr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4BD-4353-81B5-3CAA4CB197C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rgbClr val="E66867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862</c:v>
                </c:pt>
                <c:pt idx="1">
                  <c:v>1018</c:v>
                </c:pt>
                <c:pt idx="2">
                  <c:v>1184</c:v>
                </c:pt>
                <c:pt idx="3">
                  <c:v>1699</c:v>
                </c:pt>
                <c:pt idx="4">
                  <c:v>2210</c:v>
                </c:pt>
                <c:pt idx="5">
                  <c:v>2500</c:v>
                </c:pt>
                <c:pt idx="6">
                  <c:v>2491</c:v>
                </c:pt>
                <c:pt idx="7">
                  <c:v>2366</c:v>
                </c:pt>
                <c:pt idx="8">
                  <c:v>4100</c:v>
                </c:pt>
                <c:pt idx="9">
                  <c:v>5384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4BD-4353-81B5-3CAA4CB197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42624"/>
        <c:axId val="630342952"/>
      </c:lineChart>
      <c:catAx>
        <c:axId val="63034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952"/>
        <c:crosses val="autoZero"/>
        <c:auto val="1"/>
        <c:lblAlgn val="ctr"/>
        <c:lblOffset val="100"/>
        <c:noMultiLvlLbl val="0"/>
      </c:catAx>
      <c:valAx>
        <c:axId val="630342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피해금액 (억원)</c:v>
                </c:pt>
              </c:strCache>
            </c:strRef>
          </c:tx>
          <c:spPr>
            <a:solidFill>
              <a:srgbClr val="5E85B0"/>
            </a:solidFill>
            <a:ln>
              <a:noFill/>
            </a:ln>
            <a:effectLst/>
          </c:spPr>
          <c:invertIfNegative val="0"/>
          <c:dPt>
            <c:idx val="9"/>
            <c:invertIfNegative val="0"/>
            <c:bubble3D val="0"/>
            <c:spPr>
              <a:solidFill>
                <a:srgbClr val="E567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1BC5-4D74-A2C0-0B00A1C835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1468</c:v>
                </c:pt>
                <c:pt idx="1">
                  <c:v>2470</c:v>
                </c:pt>
                <c:pt idx="2">
                  <c:v>4040</c:v>
                </c:pt>
                <c:pt idx="3">
                  <c:v>6398</c:v>
                </c:pt>
                <c:pt idx="4">
                  <c:v>7000</c:v>
                </c:pt>
                <c:pt idx="5">
                  <c:v>7744</c:v>
                </c:pt>
                <c:pt idx="6">
                  <c:v>5438</c:v>
                </c:pt>
                <c:pt idx="7">
                  <c:v>4472</c:v>
                </c:pt>
                <c:pt idx="8">
                  <c:v>8545</c:v>
                </c:pt>
                <c:pt idx="9">
                  <c:v>12578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252944200"/>
        <c:axId val="25294288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발생건수 (건)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나눔스퀘어_ac Bold" panose="020B0600000101010101" pitchFamily="50" charset="-127"/>
                      <a:ea typeface="나눔스퀘어_ac Bold" panose="020B0600000101010101" pitchFamily="50" charset="-127"/>
                      <a:cs typeface="+mn-cs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1BC5-4D74-A2C0-0B00A1C835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17040</c:v>
                </c:pt>
                <c:pt idx="1">
                  <c:v>24259</c:v>
                </c:pt>
                <c:pt idx="2">
                  <c:v>34132</c:v>
                </c:pt>
                <c:pt idx="3">
                  <c:v>37667</c:v>
                </c:pt>
                <c:pt idx="4">
                  <c:v>31681</c:v>
                </c:pt>
                <c:pt idx="5">
                  <c:v>30982</c:v>
                </c:pt>
                <c:pt idx="6">
                  <c:v>21832</c:v>
                </c:pt>
                <c:pt idx="7">
                  <c:v>18902</c:v>
                </c:pt>
                <c:pt idx="8">
                  <c:v>20839</c:v>
                </c:pt>
                <c:pt idx="9">
                  <c:v>23360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33958696"/>
        <c:axId val="833957384"/>
      </c:lineChart>
      <c:catAx>
        <c:axId val="252944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2888"/>
        <c:crosses val="autoZero"/>
        <c:auto val="1"/>
        <c:lblAlgn val="ctr"/>
        <c:lblOffset val="100"/>
        <c:noMultiLvlLbl val="0"/>
      </c:catAx>
      <c:valAx>
        <c:axId val="252942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4200"/>
        <c:crosses val="autoZero"/>
        <c:crossBetween val="between"/>
      </c:valAx>
      <c:valAx>
        <c:axId val="83395738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833958696"/>
        <c:crosses val="max"/>
        <c:crossBetween val="between"/>
      </c:valAx>
      <c:catAx>
        <c:axId val="83395869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339573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Pt>
            <c:idx val="9"/>
            <c:marker>
              <c:symbol val="circle"/>
              <c:size val="5"/>
              <c:spPr>
                <a:solidFill>
                  <a:srgbClr val="FF4B16"/>
                </a:solidFill>
                <a:ln w="9525">
                  <a:solidFill>
                    <a:schemeClr val="accent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4BD-4353-81B5-3CAA4CB197C4}"/>
              </c:ext>
            </c:extLst>
          </c:dPt>
          <c:dLbls>
            <c:dLbl>
              <c:idx val="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700" b="0" i="0" u="none" strike="noStrike" kern="1200" baseline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  <a:cs typeface="+mn-cs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F4BD-4353-81B5-3CAA4CB197C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rgbClr val="FF4B16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862</c:v>
                </c:pt>
                <c:pt idx="1">
                  <c:v>1018</c:v>
                </c:pt>
                <c:pt idx="2">
                  <c:v>1184</c:v>
                </c:pt>
                <c:pt idx="3">
                  <c:v>1699</c:v>
                </c:pt>
                <c:pt idx="4">
                  <c:v>2210</c:v>
                </c:pt>
                <c:pt idx="5">
                  <c:v>2500</c:v>
                </c:pt>
                <c:pt idx="6">
                  <c:v>2491</c:v>
                </c:pt>
                <c:pt idx="7">
                  <c:v>2366</c:v>
                </c:pt>
                <c:pt idx="8">
                  <c:v>4100</c:v>
                </c:pt>
                <c:pt idx="9">
                  <c:v>5384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4BD-4353-81B5-3CAA4CB197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42624"/>
        <c:axId val="630342952"/>
      </c:lineChart>
      <c:catAx>
        <c:axId val="63034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+mn-cs"/>
              </a:defRPr>
            </a:pPr>
            <a:endParaRPr lang="ko-KR"/>
          </a:p>
        </c:txPr>
        <c:crossAx val="630342952"/>
        <c:crosses val="autoZero"/>
        <c:auto val="1"/>
        <c:lblAlgn val="ctr"/>
        <c:lblOffset val="100"/>
        <c:noMultiLvlLbl val="0"/>
      </c:catAx>
      <c:valAx>
        <c:axId val="630342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+mn-cs"/>
              </a:defRPr>
            </a:pPr>
            <a:endParaRPr lang="ko-KR"/>
          </a:p>
        </c:txPr>
        <c:crossAx val="63034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페이퍼로지 4 Regular" pitchFamily="2" charset="-127"/>
          <a:ea typeface="페이퍼로지 4 Regular" pitchFamily="2" charset="-127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89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5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5982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8097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31050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34794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91585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7675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94359" y="677610"/>
            <a:ext cx="11016615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2026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이후 동안 보이스피싱 피해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260,694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6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조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 153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억원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평균 피해액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우상향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…</a:t>
            </a:r>
          </a:p>
          <a:p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 이어지는 심각한 상황</a:t>
            </a:r>
            <a:endParaRPr lang="en-US" altLang="ko-KR" sz="20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94360" y="5466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600456" y="4575007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10836" y="4737420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99811" y="4682175"/>
            <a:ext cx="3656903" cy="1521828"/>
            <a:chOff x="7640448" y="4563464"/>
            <a:chExt cx="3656903" cy="152182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63464"/>
              <a:ext cx="3656903" cy="1521828"/>
              <a:chOff x="7640448" y="4563464"/>
              <a:chExt cx="3656903" cy="15218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63464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0484559-C80C-4C9F-8C93-F7FCC1E4A777}"/>
              </a:ext>
            </a:extLst>
          </p:cNvPr>
          <p:cNvGrpSpPr/>
          <p:nvPr/>
        </p:nvGrpSpPr>
        <p:grpSpPr>
          <a:xfrm>
            <a:off x="1127834" y="1655222"/>
            <a:ext cx="9936332" cy="2776910"/>
            <a:chOff x="2156114" y="1775283"/>
            <a:chExt cx="9077128" cy="2536789"/>
          </a:xfrm>
        </p:grpSpPr>
        <p:sp>
          <p:nvSpPr>
            <p:cNvPr id="79" name="Shape 8">
              <a:extLst>
                <a:ext uri="{FF2B5EF4-FFF2-40B4-BE49-F238E27FC236}">
                  <a16:creationId xmlns:a16="http://schemas.microsoft.com/office/drawing/2014/main" id="{16834A81-4253-48AC-B97E-FD07265A8D95}"/>
                </a:ext>
              </a:extLst>
            </p:cNvPr>
            <p:cNvSpPr/>
            <p:nvPr/>
          </p:nvSpPr>
          <p:spPr>
            <a:xfrm>
              <a:off x="2156114" y="1775283"/>
              <a:ext cx="4445862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855B79-622D-459E-A7F5-4F42EB704F63}"/>
                </a:ext>
              </a:extLst>
            </p:cNvPr>
            <p:cNvSpPr txBox="1"/>
            <p:nvPr/>
          </p:nvSpPr>
          <p:spPr>
            <a:xfrm>
              <a:off x="2635906" y="1849987"/>
              <a:ext cx="3486278" cy="2249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2016~2025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피해 발생 수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피해액</a:t>
              </a:r>
              <a:endParaRPr lang="ko-KR" altLang="en-US" sz="1000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BEED6A9-5F2A-494A-887C-CC454F317B02}"/>
                </a:ext>
              </a:extLst>
            </p:cNvPr>
            <p:cNvGrpSpPr/>
            <p:nvPr/>
          </p:nvGrpSpPr>
          <p:grpSpPr>
            <a:xfrm>
              <a:off x="6787380" y="1775283"/>
              <a:ext cx="4445862" cy="2514600"/>
              <a:chOff x="5826188" y="1775283"/>
              <a:chExt cx="4445862" cy="251460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39CB2445-6554-4212-901E-9C6B7D7612C4}"/>
                  </a:ext>
                </a:extLst>
              </p:cNvPr>
              <p:cNvGrpSpPr/>
              <p:nvPr/>
            </p:nvGrpSpPr>
            <p:grpSpPr>
              <a:xfrm>
                <a:off x="5826188" y="1775283"/>
                <a:ext cx="4445862" cy="2514600"/>
                <a:chOff x="4630032" y="1775283"/>
                <a:chExt cx="4445862" cy="2514600"/>
              </a:xfrm>
            </p:grpSpPr>
            <p:sp>
              <p:nvSpPr>
                <p:cNvPr id="119" name="Shape 8">
                  <a:extLst>
                    <a:ext uri="{FF2B5EF4-FFF2-40B4-BE49-F238E27FC236}">
                      <a16:creationId xmlns:a16="http://schemas.microsoft.com/office/drawing/2014/main" id="{DFF93096-BD0A-4BBF-8479-B0600EFEC37F}"/>
                    </a:ext>
                  </a:extLst>
                </p:cNvPr>
                <p:cNvSpPr/>
                <p:nvPr/>
              </p:nvSpPr>
              <p:spPr>
                <a:xfrm>
                  <a:off x="4630032" y="1775283"/>
                  <a:ext cx="4445862" cy="2514600"/>
                </a:xfrm>
                <a:prstGeom prst="roundRect">
                  <a:avLst>
                    <a:gd name="adj" fmla="val 5818"/>
                  </a:avLst>
                </a:prstGeom>
                <a:solidFill>
                  <a:srgbClr val="FFFFFF"/>
                </a:solidFill>
                <a:ln w="10160">
                  <a:solidFill>
                    <a:srgbClr val="DCE8FA"/>
                  </a:solidFill>
                  <a:prstDash val="solid"/>
                </a:ln>
              </p:spPr>
            </p:sp>
            <p:graphicFrame>
              <p:nvGraphicFramePr>
                <p:cNvPr id="40" name="Chart 39">
                  <a:extLst>
                    <a:ext uri="{FF2B5EF4-FFF2-40B4-BE49-F238E27FC236}">
                      <a16:creationId xmlns:a16="http://schemas.microsoft.com/office/drawing/2014/main" id="{46FDFEB3-28D8-47BD-9371-4A09F7B17AFE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681701987"/>
                    </p:ext>
                  </p:extLst>
                </p:nvPr>
              </p:nvGraphicFramePr>
              <p:xfrm>
                <a:off x="4735830" y="2099334"/>
                <a:ext cx="4282782" cy="210548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892428CB-C9D5-47A0-80BE-D571E28C0841}"/>
                  </a:ext>
                </a:extLst>
              </p:cNvPr>
              <p:cNvSpPr txBox="1"/>
              <p:nvPr/>
            </p:nvSpPr>
            <p:spPr>
              <a:xfrm>
                <a:off x="6305980" y="1849987"/>
                <a:ext cx="3486278" cy="224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년도별 </a:t>
                </a:r>
                <a:r>
                  <a:rPr lang="en-US" altLang="ko-KR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1</a:t>
                </a:r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개 사건 평균 피해액 추이</a:t>
                </a:r>
                <a:endParaRPr lang="ko-KR" altLang="en-US" sz="1000" dirty="0"/>
              </a:p>
            </p:txBody>
          </p:sp>
        </p:grpSp>
        <p:graphicFrame>
          <p:nvGraphicFramePr>
            <p:cNvPr id="22" name="Chart 21">
              <a:extLst>
                <a:ext uri="{FF2B5EF4-FFF2-40B4-BE49-F238E27FC236}">
                  <a16:creationId xmlns:a16="http://schemas.microsoft.com/office/drawing/2014/main" id="{278C99B9-09AF-4A69-9C94-12332440301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97957959"/>
                </p:ext>
              </p:extLst>
            </p:nvPr>
          </p:nvGraphicFramePr>
          <p:xfrm>
            <a:off x="2237232" y="2092640"/>
            <a:ext cx="4277868" cy="22194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45" name="Text 11">
            <a:extLst>
              <a:ext uri="{FF2B5EF4-FFF2-40B4-BE49-F238E27FC236}">
                <a16:creationId xmlns:a16="http://schemas.microsoft.com/office/drawing/2014/main" id="{041DA88E-E5DF-430D-B96E-E2B22D0D9A56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1021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734130" y="806730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 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도와줄 수 있는 대책을 마련하기 위해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각자의 자리에서 노력하고 있다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729441" y="593195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보이스피싱 범죄로부터 소중한 국민의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158065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3078A156-9BD4-4B2C-8818-C873541FE1FE}"/>
              </a:ext>
            </a:extLst>
          </p:cNvPr>
          <p:cNvGrpSpPr/>
          <p:nvPr/>
        </p:nvGrpSpPr>
        <p:grpSpPr>
          <a:xfrm>
            <a:off x="628649" y="5452905"/>
            <a:ext cx="10936817" cy="773508"/>
            <a:chOff x="989537" y="5557693"/>
            <a:chExt cx="10212928" cy="773508"/>
          </a:xfrm>
        </p:grpSpPr>
        <p:sp>
          <p:nvSpPr>
            <p:cNvPr id="46" name="Shape 44"/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47" name="Text 45"/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특히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인공지능</a:t>
              </a:r>
              <a:r>
                <a:rPr lang="en-US" altLang="ko-KR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(AI)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와 빅데이터 등 최신 기술을 적극 활용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하여 실시간 분석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차단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조치하고 있고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</a:t>
              </a:r>
            </a:p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유기적인 공동 협업 체계를 구축하며 다양한 </a:t>
              </a:r>
              <a:r>
                <a:rPr lang="en-US" sz="1520" b="1" dirty="0" err="1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안전장치</a:t>
              </a:r>
              <a:r>
                <a:rPr 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개발과 제도 개선이 활발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하게 이루어지고 있다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49D8BAD-1665-4D6F-983B-6C0A73436477}"/>
              </a:ext>
            </a:extLst>
          </p:cNvPr>
          <p:cNvGrpSpPr/>
          <p:nvPr/>
        </p:nvGrpSpPr>
        <p:grpSpPr>
          <a:xfrm>
            <a:off x="729441" y="1791637"/>
            <a:ext cx="10673219" cy="3422455"/>
            <a:chOff x="580527" y="1844623"/>
            <a:chExt cx="10673219" cy="3422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87A687C-E086-49AD-B17E-3AA81A103D3D}"/>
                </a:ext>
              </a:extLst>
            </p:cNvPr>
            <p:cNvGrpSpPr/>
            <p:nvPr/>
          </p:nvGrpSpPr>
          <p:grpSpPr>
            <a:xfrm>
              <a:off x="580527" y="1844623"/>
              <a:ext cx="10673219" cy="3422455"/>
              <a:chOff x="586093" y="1735608"/>
              <a:chExt cx="10673219" cy="3422455"/>
            </a:xfrm>
          </p:grpSpPr>
          <p:sp>
            <p:nvSpPr>
              <p:cNvPr id="10" name="Shape 8"/>
              <p:cNvSpPr/>
              <p:nvPr/>
            </p:nvSpPr>
            <p:spPr>
              <a:xfrm>
                <a:off x="586093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sp>
            <p:nvSpPr>
              <p:cNvPr id="22" name="Shape 20"/>
              <p:cNvSpPr/>
              <p:nvPr/>
            </p:nvSpPr>
            <p:spPr>
              <a:xfrm>
                <a:off x="4185781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34" name="Shape 32"/>
              <p:cNvSpPr/>
              <p:nvPr/>
            </p:nvSpPr>
            <p:spPr>
              <a:xfrm>
                <a:off x="7785469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C0B95D-B25B-43EF-A360-B3D890DD9167}"/>
                </a:ext>
              </a:extLst>
            </p:cNvPr>
            <p:cNvGrpSpPr/>
            <p:nvPr/>
          </p:nvGrpSpPr>
          <p:grpSpPr>
            <a:xfrm>
              <a:off x="749968" y="1967786"/>
              <a:ext cx="10094815" cy="475488"/>
              <a:chOff x="749968" y="1967786"/>
              <a:chExt cx="10094815" cy="475488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749968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1216B33-CA83-41B7-ABAA-90D9A227C2D0}"/>
                  </a:ext>
                </a:extLst>
              </p:cNvPr>
              <p:cNvGrpSpPr/>
              <p:nvPr/>
            </p:nvGrpSpPr>
            <p:grpSpPr>
              <a:xfrm>
                <a:off x="761283" y="1992590"/>
                <a:ext cx="2503285" cy="448056"/>
                <a:chOff x="725424" y="1999106"/>
                <a:chExt cx="2503285" cy="448056"/>
              </a:xfrm>
            </p:grpSpPr>
            <p:sp>
              <p:nvSpPr>
                <p:cNvPr id="12" name="Text 10"/>
                <p:cNvSpPr txBox="1"/>
                <p:nvPr/>
              </p:nvSpPr>
              <p:spPr>
                <a:xfrm>
                  <a:off x="725424" y="1999106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F5E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01</a:t>
                  </a:r>
                  <a:endParaRPr lang="en-US" sz="16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금융기관</a:t>
                  </a:r>
                  <a:r>
                    <a:rPr lang="en-US" altLang="ko-KR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·</a:t>
                  </a:r>
                  <a:r>
                    <a:rPr lang="ko-KR" altLang="en-US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은행</a:t>
                  </a:r>
                  <a:endParaRPr lang="en-US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57" name="Shape 9">
                <a:extLst>
                  <a:ext uri="{FF2B5EF4-FFF2-40B4-BE49-F238E27FC236}">
                    <a16:creationId xmlns:a16="http://schemas.microsoft.com/office/drawing/2014/main" id="{DD769627-C9E7-41C2-B6FE-22791B7D0B6C}"/>
                  </a:ext>
                </a:extLst>
              </p:cNvPr>
              <p:cNvSpPr/>
              <p:nvPr/>
            </p:nvSpPr>
            <p:spPr>
              <a:xfrm>
                <a:off x="4341329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964D1DB-BDC2-4629-9FE3-BA6C34077CD3}"/>
                  </a:ext>
                </a:extLst>
              </p:cNvPr>
              <p:cNvGrpSpPr/>
              <p:nvPr/>
            </p:nvGrpSpPr>
            <p:grpSpPr>
              <a:xfrm>
                <a:off x="4346001" y="1990054"/>
                <a:ext cx="2509928" cy="448056"/>
                <a:chOff x="718781" y="1994033"/>
                <a:chExt cx="2509928" cy="448056"/>
              </a:xfrm>
            </p:grpSpPr>
            <p:sp>
              <p:nvSpPr>
                <p:cNvPr id="59" name="Text 10">
                  <a:extLst>
                    <a:ext uri="{FF2B5EF4-FFF2-40B4-BE49-F238E27FC236}">
                      <a16:creationId xmlns:a16="http://schemas.microsoft.com/office/drawing/2014/main" id="{27D72A6B-8151-44EC-8DCA-C1F7F0B49680}"/>
                    </a:ext>
                  </a:extLst>
                </p:cNvPr>
                <p:cNvSpPr txBox="1"/>
                <p:nvPr/>
              </p:nvSpPr>
              <p:spPr>
                <a:xfrm>
                  <a:off x="718781" y="1994033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2</a:t>
                  </a:r>
                  <a:endParaRPr lang="en-US" sz="1600" dirty="0">
                    <a:solidFill>
                      <a:srgbClr val="2F7CF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2" name="Text 11">
                  <a:extLst>
                    <a:ext uri="{FF2B5EF4-FFF2-40B4-BE49-F238E27FC236}">
                      <a16:creationId xmlns:a16="http://schemas.microsoft.com/office/drawing/2014/main" id="{7E39A5C8-EFF4-4D1F-A422-7810807E1826}"/>
                    </a:ext>
                  </a:extLst>
                </p:cNvPr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정부·공공기관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64" name="Shape 9">
                <a:extLst>
                  <a:ext uri="{FF2B5EF4-FFF2-40B4-BE49-F238E27FC236}">
                    <a16:creationId xmlns:a16="http://schemas.microsoft.com/office/drawing/2014/main" id="{15B61A14-5EDC-428A-A5CA-3FAD34AE93DD}"/>
                  </a:ext>
                </a:extLst>
              </p:cNvPr>
              <p:cNvSpPr/>
              <p:nvPr/>
            </p:nvSpPr>
            <p:spPr>
              <a:xfrm>
                <a:off x="7946853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4678AE84-686A-4BAE-A653-546969E73231}"/>
                  </a:ext>
                </a:extLst>
              </p:cNvPr>
              <p:cNvGrpSpPr/>
              <p:nvPr/>
            </p:nvGrpSpPr>
            <p:grpSpPr>
              <a:xfrm>
                <a:off x="7954473" y="1986074"/>
                <a:ext cx="2890310" cy="448056"/>
                <a:chOff x="721729" y="1986074"/>
                <a:chExt cx="2890310" cy="448056"/>
              </a:xfrm>
            </p:grpSpPr>
            <p:sp>
              <p:nvSpPr>
                <p:cNvPr id="66" name="Text 10">
                  <a:extLst>
                    <a:ext uri="{FF2B5EF4-FFF2-40B4-BE49-F238E27FC236}">
                      <a16:creationId xmlns:a16="http://schemas.microsoft.com/office/drawing/2014/main" id="{2F3E720C-B899-4F92-BAA2-ED6FED174CCA}"/>
                    </a:ext>
                  </a:extLst>
                </p:cNvPr>
                <p:cNvSpPr txBox="1"/>
                <p:nvPr/>
              </p:nvSpPr>
              <p:spPr>
                <a:xfrm>
                  <a:off x="721729" y="1986074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3</a:t>
                  </a:r>
                  <a:endParaRPr lang="en-US" sz="1600" dirty="0">
                    <a:solidFill>
                      <a:srgbClr val="49A8FF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7" name="Text 11">
                  <a:extLst>
                    <a:ext uri="{FF2B5EF4-FFF2-40B4-BE49-F238E27FC236}">
                      <a16:creationId xmlns:a16="http://schemas.microsoft.com/office/drawing/2014/main" id="{D1DF7AED-949A-4A37-B186-5B80E15BEB3D}"/>
                    </a:ext>
                  </a:extLst>
                </p:cNvPr>
                <p:cNvSpPr txBox="1"/>
                <p:nvPr/>
              </p:nvSpPr>
              <p:spPr>
                <a:xfrm>
                  <a:off x="1326756" y="2007046"/>
                  <a:ext cx="2285283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</a:t>
                  </a: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통신사·보안업체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035F51FC-ACBE-4B66-A3AB-2CA6FF47C992}"/>
                </a:ext>
              </a:extLst>
            </p:cNvPr>
            <p:cNvGrpSpPr/>
            <p:nvPr/>
          </p:nvGrpSpPr>
          <p:grpSpPr>
            <a:xfrm>
              <a:off x="796565" y="2585446"/>
              <a:ext cx="2888053" cy="614349"/>
              <a:chOff x="796565" y="2491362"/>
              <a:chExt cx="2888053" cy="614349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5" name="Text 13"/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ASAP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플랫폼 </a:t>
                </a:r>
                <a:endParaRPr lang="en-US" altLang="ko-KR" sz="10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03F7BDC-0128-43C0-AF3E-34FEEE94B193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7783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금융회사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통신사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수사기관이 보이스피싱과 관련된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외부</a:t>
                </a:r>
                <a:endParaRPr lang="en-US" altLang="ko-KR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위험 정보를 실시간으로 공유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하고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차단하는 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AI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기반 플랫폼</a:t>
                </a:r>
                <a:endParaRPr lang="ko-KR" altLang="en-US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0FD6DE2-A11F-468B-A7D3-0184BDCBF15F}"/>
                </a:ext>
              </a:extLst>
            </p:cNvPr>
            <p:cNvGrpSpPr/>
            <p:nvPr/>
          </p:nvGrpSpPr>
          <p:grpSpPr>
            <a:xfrm>
              <a:off x="796565" y="3212531"/>
              <a:ext cx="3047142" cy="752848"/>
              <a:chOff x="796565" y="2491362"/>
              <a:chExt cx="3047142" cy="752848"/>
            </a:xfrm>
          </p:grpSpPr>
          <p:sp>
            <p:nvSpPr>
              <p:cNvPr id="99" name="Shape 12">
                <a:extLst>
                  <a:ext uri="{FF2B5EF4-FFF2-40B4-BE49-F238E27FC236}">
                    <a16:creationId xmlns:a16="http://schemas.microsoft.com/office/drawing/2014/main" id="{EB72D09C-0131-4404-96B0-C5C1D23AD146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0" name="Text 13">
                <a:extLst>
                  <a:ext uri="{FF2B5EF4-FFF2-40B4-BE49-F238E27FC236}">
                    <a16:creationId xmlns:a16="http://schemas.microsoft.com/office/drawing/2014/main" id="{2D5D472E-D64B-44B1-82B1-A1FB676BD43D}"/>
                  </a:ext>
                </a:extLst>
              </p:cNvPr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FDS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이상거래 탐지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211D9CDD-CB64-457D-8AF7-8D86970B0A84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937414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전자금융거래 시 단말기 정보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접속위치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평소 거래 패턴등을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실시간으로 분석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하여 의심스러운 부정 거래를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탐치하고 차단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이상거래 탐지 시스템</a:t>
                </a:r>
                <a:endParaRPr lang="ko-KR" altLang="en-US" sz="9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7BBF2746-B58F-4409-86F5-702788857728}"/>
                </a:ext>
              </a:extLst>
            </p:cNvPr>
            <p:cNvGrpSpPr/>
            <p:nvPr/>
          </p:nvGrpSpPr>
          <p:grpSpPr>
            <a:xfrm>
              <a:off x="796565" y="3990937"/>
              <a:ext cx="3129846" cy="1168347"/>
              <a:chOff x="796565" y="2491362"/>
              <a:chExt cx="3129846" cy="1168347"/>
            </a:xfrm>
          </p:grpSpPr>
          <p:sp>
            <p:nvSpPr>
              <p:cNvPr id="103" name="Shape 12">
                <a:extLst>
                  <a:ext uri="{FF2B5EF4-FFF2-40B4-BE49-F238E27FC236}">
                    <a16:creationId xmlns:a16="http://schemas.microsoft.com/office/drawing/2014/main" id="{2AE99B93-85EF-4941-90DF-B14B33B660FF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4" name="Text 13">
                <a:extLst>
                  <a:ext uri="{FF2B5EF4-FFF2-40B4-BE49-F238E27FC236}">
                    <a16:creationId xmlns:a16="http://schemas.microsoft.com/office/drawing/2014/main" id="{91F752C7-787F-40FB-A79F-7F58594334DD}"/>
                  </a:ext>
                </a:extLst>
              </p:cNvPr>
              <p:cNvSpPr txBox="1"/>
              <p:nvPr/>
            </p:nvSpPr>
            <p:spPr>
              <a:xfrm>
                <a:off x="997732" y="2491362"/>
                <a:ext cx="2686885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전자금융사기 예방서비스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D89F6C0A-CE7D-4377-99D3-E82568841B16}"/>
                  </a:ext>
                </a:extLst>
              </p:cNvPr>
              <p:cNvSpPr txBox="1"/>
              <p:nvPr/>
            </p:nvSpPr>
            <p:spPr>
              <a:xfrm>
                <a:off x="870154" y="2736379"/>
                <a:ext cx="3056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 이체 시 수취인 계좌에 일정시간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최소 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3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경과 후 입금되도록 하는 서비스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전자금융범죄 등의 피해가 발생했을 때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범죄자가 계좌에서 돈을 빼가지 못하도록 은행이 해당 계좌의 입출금 및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이체 거래를 즉시 차단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동결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긴급 법적 조치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금융자산을 보호하기 위해 본인확인 절차를 강화하는 서비스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4E2107FB-F873-4983-BE64-7F11CCE295C3}"/>
                </a:ext>
              </a:extLst>
            </p:cNvPr>
            <p:cNvGrpSpPr/>
            <p:nvPr/>
          </p:nvGrpSpPr>
          <p:grpSpPr>
            <a:xfrm>
              <a:off x="4384972" y="2585446"/>
              <a:ext cx="2766786" cy="614349"/>
              <a:chOff x="4384972" y="2585446"/>
              <a:chExt cx="2766786" cy="614349"/>
            </a:xfrm>
          </p:grpSpPr>
          <p:sp>
            <p:nvSpPr>
              <p:cNvPr id="26" name="Shape 24"/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CE3EB3BF-9ECC-4A3B-9952-516B4C2FC656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661306" cy="614349"/>
                <a:chOff x="906293" y="2491362"/>
                <a:chExt cx="2661306" cy="614349"/>
              </a:xfrm>
            </p:grpSpPr>
            <p:sp>
              <p:nvSpPr>
                <p:cNvPr id="109" name="Text 13">
                  <a:extLst>
                    <a:ext uri="{FF2B5EF4-FFF2-40B4-BE49-F238E27FC236}">
                      <a16:creationId xmlns:a16="http://schemas.microsoft.com/office/drawing/2014/main" id="{C18901BD-E1CC-4FFE-894F-775B066395D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신고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피해구제 제도 및 체계 개선</a:t>
                  </a:r>
                  <a:endParaRPr lang="en-US" altLang="ko-KR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D1A5D58-7F3B-45EF-917A-954C9192C90B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6613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원스톱 신고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단계별 피해 구제 절차 등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</a:rPr>
                    <a:t>보이스피싱 피해구제 제도와 계좌 지급정지 접근성 강화</a:t>
                  </a:r>
                </a:p>
              </p:txBody>
            </p:sp>
          </p:grp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1FA11A45-E01D-4438-A224-C9D990430FBE}"/>
                </a:ext>
              </a:extLst>
            </p:cNvPr>
            <p:cNvGrpSpPr/>
            <p:nvPr/>
          </p:nvGrpSpPr>
          <p:grpSpPr>
            <a:xfrm>
              <a:off x="4384972" y="3212531"/>
              <a:ext cx="2543968" cy="614349"/>
              <a:chOff x="4384972" y="2585446"/>
              <a:chExt cx="2543968" cy="614349"/>
            </a:xfrm>
          </p:grpSpPr>
          <p:sp>
            <p:nvSpPr>
              <p:cNvPr id="113" name="Shape 24">
                <a:extLst>
                  <a:ext uri="{FF2B5EF4-FFF2-40B4-BE49-F238E27FC236}">
                    <a16:creationId xmlns:a16="http://schemas.microsoft.com/office/drawing/2014/main" id="{78311CB7-38E7-41C6-86B5-0BEB525459FB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53BE3CF-3381-4032-BE64-B1AD59E3A731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438488" cy="614349"/>
                <a:chOff x="906293" y="2491362"/>
                <a:chExt cx="2438488" cy="614349"/>
              </a:xfrm>
            </p:grpSpPr>
            <p:sp>
              <p:nvSpPr>
                <p:cNvPr id="115" name="Text 13">
                  <a:extLst>
                    <a:ext uri="{FF2B5EF4-FFF2-40B4-BE49-F238E27FC236}">
                      <a16:creationId xmlns:a16="http://schemas.microsoft.com/office/drawing/2014/main" id="{C619FD46-F5E9-4160-8AC1-3828DE5A7294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예방교육 </a:t>
                  </a:r>
                  <a:r>
                    <a:rPr lang="en-US" altLang="ko-KR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 </a:t>
                  </a:r>
                  <a:r>
                    <a:rPr lang="ko-KR" altLang="en-US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홍보</a:t>
                  </a:r>
                  <a:endPara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B13986B-82BF-46A0-BC9D-2E44EE978B10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4384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범정부 대응 및 콘텐츠 배포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생활 밀착형 현장홍보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찾아가는 현장교육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8A1977-7C20-4B32-9C0E-CD5436D48C75}"/>
                </a:ext>
              </a:extLst>
            </p:cNvPr>
            <p:cNvGrpSpPr/>
            <p:nvPr/>
          </p:nvGrpSpPr>
          <p:grpSpPr>
            <a:xfrm>
              <a:off x="4384972" y="3882182"/>
              <a:ext cx="3093799" cy="614349"/>
              <a:chOff x="4384972" y="2585446"/>
              <a:chExt cx="3093799" cy="614349"/>
            </a:xfrm>
          </p:grpSpPr>
          <p:sp>
            <p:nvSpPr>
              <p:cNvPr id="119" name="Shape 24">
                <a:extLst>
                  <a:ext uri="{FF2B5EF4-FFF2-40B4-BE49-F238E27FC236}">
                    <a16:creationId xmlns:a16="http://schemas.microsoft.com/office/drawing/2014/main" id="{4541929F-BB7D-4D3A-BF63-55E2FCC62316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20FAF6DA-F591-4D8E-BE73-CC99AA1640D5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988319" cy="614349"/>
                <a:chOff x="906293" y="2491362"/>
                <a:chExt cx="2988319" cy="614349"/>
              </a:xfrm>
            </p:grpSpPr>
            <p:sp>
              <p:nvSpPr>
                <p:cNvPr id="121" name="Text 13">
                  <a:extLst>
                    <a:ext uri="{FF2B5EF4-FFF2-40B4-BE49-F238E27FC236}">
                      <a16:creationId xmlns:a16="http://schemas.microsoft.com/office/drawing/2014/main" id="{DEC6BCC0-173F-4F90-854F-D1F3BF4AA74E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공식기관 확인 채널</a:t>
                  </a:r>
                </a:p>
              </p:txBody>
            </p:sp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ABFD11CC-A553-4181-8FD5-7191E4D18FC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988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서류의 진위여부를 실시간으로 확인할 수 있는 공식채널 운영</a:t>
                  </a:r>
                  <a:b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콜센터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카카오톡 오픈채팅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운영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검찰 찐센터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KISA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보호나라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61261165-349A-4EFC-B7EA-A255EA6AD00D}"/>
                </a:ext>
              </a:extLst>
            </p:cNvPr>
            <p:cNvGrpSpPr/>
            <p:nvPr/>
          </p:nvGrpSpPr>
          <p:grpSpPr>
            <a:xfrm>
              <a:off x="4559618" y="4589897"/>
              <a:ext cx="2749676" cy="524166"/>
              <a:chOff x="5435730" y="4579898"/>
              <a:chExt cx="1359538" cy="249846"/>
            </a:xfrm>
          </p:grpSpPr>
          <p:pic>
            <p:nvPicPr>
              <p:cNvPr id="123" name="그림 7">
                <a:extLst>
                  <a:ext uri="{FF2B5EF4-FFF2-40B4-BE49-F238E27FC236}">
                    <a16:creationId xmlns:a16="http://schemas.microsoft.com/office/drawing/2014/main" id="{551562FA-CF08-4976-9E26-E2576CD6036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7198" t="5136" r="17871" b="88464"/>
              <a:stretch/>
            </p:blipFill>
            <p:spPr>
              <a:xfrm>
                <a:off x="6389981" y="4627592"/>
                <a:ext cx="405287" cy="148890"/>
              </a:xfrm>
              <a:prstGeom prst="rect">
                <a:avLst/>
              </a:prstGeom>
            </p:spPr>
          </p:pic>
          <p:pic>
            <p:nvPicPr>
              <p:cNvPr id="124" name="그림 7">
                <a:extLst>
                  <a:ext uri="{FF2B5EF4-FFF2-40B4-BE49-F238E27FC236}">
                    <a16:creationId xmlns:a16="http://schemas.microsoft.com/office/drawing/2014/main" id="{CE3306C8-485E-4D4B-A9B4-1F7029797B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4004" t="3308" r="61422" b="85951"/>
              <a:stretch/>
            </p:blipFill>
            <p:spPr>
              <a:xfrm>
                <a:off x="5435730" y="4579898"/>
                <a:ext cx="938445" cy="249846"/>
              </a:xfrm>
              <a:prstGeom prst="rect">
                <a:avLst/>
              </a:prstGeom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0298854-A292-42A7-98D2-719628F27749}"/>
                </a:ext>
              </a:extLst>
            </p:cNvPr>
            <p:cNvGrpSpPr/>
            <p:nvPr/>
          </p:nvGrpSpPr>
          <p:grpSpPr>
            <a:xfrm>
              <a:off x="8014716" y="2585446"/>
              <a:ext cx="2896629" cy="891348"/>
              <a:chOff x="4384972" y="2585446"/>
              <a:chExt cx="2896629" cy="891348"/>
            </a:xfrm>
          </p:grpSpPr>
          <p:sp>
            <p:nvSpPr>
              <p:cNvPr id="127" name="Shape 24">
                <a:extLst>
                  <a:ext uri="{FF2B5EF4-FFF2-40B4-BE49-F238E27FC236}">
                    <a16:creationId xmlns:a16="http://schemas.microsoft.com/office/drawing/2014/main" id="{CE3B36F3-21BA-452F-A3AB-DAB4970248FF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9615BA18-3CA4-48BB-A642-C29D2E15D9DF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791149" cy="891348"/>
                <a:chOff x="906293" y="2491362"/>
                <a:chExt cx="2791149" cy="891348"/>
              </a:xfrm>
            </p:grpSpPr>
            <p:sp>
              <p:nvSpPr>
                <p:cNvPr id="129" name="Text 13">
                  <a:extLst>
                    <a:ext uri="{FF2B5EF4-FFF2-40B4-BE49-F238E27FC236}">
                      <a16:creationId xmlns:a16="http://schemas.microsoft.com/office/drawing/2014/main" id="{09FC5D82-21D2-46DB-93A7-8EC391C1667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통신사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통화 비서 앱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-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스팸번호 탐지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악성 앱 차단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9F9B7EA9-7248-46A7-97E4-CA2D5546080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791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주요 통신사 별 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탐지 서비스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예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: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에이닷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익시오 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 중 실시간으로 보이스피싱을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감지하고 차단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하는</a:t>
                  </a:r>
                  <a:b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강력한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보안 기능을 제공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경찰청 연계 통해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 및 악성 앱 탐지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0B9F7FD3-263B-4E20-8ED9-18AECC8E0FC0}"/>
                </a:ext>
              </a:extLst>
            </p:cNvPr>
            <p:cNvGrpSpPr/>
            <p:nvPr/>
          </p:nvGrpSpPr>
          <p:grpSpPr>
            <a:xfrm>
              <a:off x="8014716" y="3518926"/>
              <a:ext cx="3008885" cy="614349"/>
              <a:chOff x="4384972" y="2585446"/>
              <a:chExt cx="3008885" cy="614349"/>
            </a:xfrm>
          </p:grpSpPr>
          <p:sp>
            <p:nvSpPr>
              <p:cNvPr id="142" name="Shape 24">
                <a:extLst>
                  <a:ext uri="{FF2B5EF4-FFF2-40B4-BE49-F238E27FC236}">
                    <a16:creationId xmlns:a16="http://schemas.microsoft.com/office/drawing/2014/main" id="{76902399-4275-49F1-BFFD-DC4226CB7C4D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7253D61C-BA3A-403C-9659-B8290B7FFBD7}"/>
                  </a:ext>
                </a:extLst>
              </p:cNvPr>
              <p:cNvGrpSpPr/>
              <p:nvPr/>
            </p:nvGrpSpPr>
            <p:grpSpPr>
              <a:xfrm>
                <a:off x="4490453" y="2585446"/>
                <a:ext cx="2903404" cy="614349"/>
                <a:chOff x="906294" y="2491362"/>
                <a:chExt cx="2903404" cy="614349"/>
              </a:xfrm>
            </p:grpSpPr>
            <p:sp>
              <p:nvSpPr>
                <p:cNvPr id="144" name="Text 13">
                  <a:extLst>
                    <a:ext uri="{FF2B5EF4-FFF2-40B4-BE49-F238E27FC236}">
                      <a16:creationId xmlns:a16="http://schemas.microsoft.com/office/drawing/2014/main" id="{3ADFD593-0590-4BEE-A48F-E672E9662770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 차단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D55843D0-373E-4604-8EE2-F83BBC98EBF0}"/>
                    </a:ext>
                  </a:extLst>
                </p:cNvPr>
                <p:cNvSpPr txBox="1"/>
                <p:nvPr/>
              </p:nvSpPr>
              <p:spPr>
                <a:xfrm>
                  <a:off x="906294" y="2736379"/>
                  <a:ext cx="29034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스미싱 예방을 위해 타인의 번호나 없는 번호로 발신번호를 조작하는 발신번호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변작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행위 차단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7E4731EE-3BF1-4C54-B72C-ED9ED85A04E0}"/>
                </a:ext>
              </a:extLst>
            </p:cNvPr>
            <p:cNvGrpSpPr/>
            <p:nvPr/>
          </p:nvGrpSpPr>
          <p:grpSpPr>
            <a:xfrm>
              <a:off x="8014716" y="4193332"/>
              <a:ext cx="2902547" cy="891348"/>
              <a:chOff x="4384972" y="2558496"/>
              <a:chExt cx="2902547" cy="891348"/>
            </a:xfrm>
          </p:grpSpPr>
          <p:sp>
            <p:nvSpPr>
              <p:cNvPr id="149" name="Shape 24">
                <a:extLst>
                  <a:ext uri="{FF2B5EF4-FFF2-40B4-BE49-F238E27FC236}">
                    <a16:creationId xmlns:a16="http://schemas.microsoft.com/office/drawing/2014/main" id="{014F2127-2028-4391-87BE-9DC38BCA0562}"/>
                  </a:ext>
                </a:extLst>
              </p:cNvPr>
              <p:cNvSpPr/>
              <p:nvPr/>
            </p:nvSpPr>
            <p:spPr>
              <a:xfrm>
                <a:off x="4384972" y="266822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7BEC9321-8467-4AD7-A11F-971C0CD3F188}"/>
                  </a:ext>
                </a:extLst>
              </p:cNvPr>
              <p:cNvGrpSpPr/>
              <p:nvPr/>
            </p:nvGrpSpPr>
            <p:grpSpPr>
              <a:xfrm>
                <a:off x="4490453" y="2558496"/>
                <a:ext cx="2797066" cy="891348"/>
                <a:chOff x="906294" y="2464412"/>
                <a:chExt cx="2797066" cy="891348"/>
              </a:xfrm>
            </p:grpSpPr>
            <p:sp>
              <p:nvSpPr>
                <p:cNvPr id="151" name="Text 13">
                  <a:extLst>
                    <a:ext uri="{FF2B5EF4-FFF2-40B4-BE49-F238E27FC236}">
                      <a16:creationId xmlns:a16="http://schemas.microsoft.com/office/drawing/2014/main" id="{933BE645-218C-4CC1-BFE7-31CE22F0AC28}"/>
                    </a:ext>
                  </a:extLst>
                </p:cNvPr>
                <p:cNvSpPr txBox="1"/>
                <p:nvPr/>
              </p:nvSpPr>
              <p:spPr>
                <a:xfrm>
                  <a:off x="997733" y="246441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차단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5C4D6FCC-F66D-400E-8F4D-ECD11D459E5C}"/>
                    </a:ext>
                  </a:extLst>
                </p:cNvPr>
                <p:cNvSpPr txBox="1"/>
                <p:nvPr/>
              </p:nvSpPr>
              <p:spPr>
                <a:xfrm>
                  <a:off x="906294" y="2709429"/>
                  <a:ext cx="27970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인공지능과 빅데이터를 활용해 통화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/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문자 기반의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위험 신호를 실시간으로 감지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차단</a:t>
                  </a:r>
                  <a:endPara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음성패턴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통화내용 실시간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비정상 회선 이용패턴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유관기관 실시간 정보 공유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56628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대표적으로 성과를 내고 있는 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AI ASAP(</a:t>
            </a: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에이셉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)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730471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금융위원회와 금융보안원을 중심으로 체계화된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보이스피싱 정보공유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분석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AI 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ASAP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출범 이후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9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개월 간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663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억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6000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만원 규모의 피해를 사전 차단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하는 실제 성과로 이어졌다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0744D3-2F9D-4B31-9CF2-F9C3060180B7}"/>
              </a:ext>
            </a:extLst>
          </p:cNvPr>
          <p:cNvGrpSpPr/>
          <p:nvPr/>
        </p:nvGrpSpPr>
        <p:grpSpPr>
          <a:xfrm>
            <a:off x="534543" y="1737360"/>
            <a:ext cx="5975498" cy="3886691"/>
            <a:chOff x="534543" y="1818173"/>
            <a:chExt cx="5975498" cy="3886691"/>
          </a:xfrm>
        </p:grpSpPr>
        <p:sp>
          <p:nvSpPr>
            <p:cNvPr id="81" name="Shape 8">
              <a:extLst>
                <a:ext uri="{FF2B5EF4-FFF2-40B4-BE49-F238E27FC236}">
                  <a16:creationId xmlns:a16="http://schemas.microsoft.com/office/drawing/2014/main" id="{372E1C90-42E9-4CBF-81B0-76E43E875362}"/>
                </a:ext>
              </a:extLst>
            </p:cNvPr>
            <p:cNvSpPr/>
            <p:nvPr/>
          </p:nvSpPr>
          <p:spPr>
            <a:xfrm>
              <a:off x="534543" y="1818173"/>
              <a:ext cx="5975498" cy="3886691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pic>
          <p:nvPicPr>
            <p:cNvPr id="80" name="그림 7">
              <a:extLst>
                <a:ext uri="{FF2B5EF4-FFF2-40B4-BE49-F238E27FC236}">
                  <a16:creationId xmlns:a16="http://schemas.microsoft.com/office/drawing/2014/main" id="{E668F3AE-32D0-B134-C7D2-A51000B58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06" t="18162" r="3581" b="6222"/>
            <a:stretch/>
          </p:blipFill>
          <p:spPr>
            <a:xfrm>
              <a:off x="804107" y="3439092"/>
              <a:ext cx="5420724" cy="2153462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866EF50-0FEC-4AF4-A807-8A42ED37A943}"/>
                </a:ext>
              </a:extLst>
            </p:cNvPr>
            <p:cNvSpPr txBox="1"/>
            <p:nvPr/>
          </p:nvSpPr>
          <p:spPr>
            <a:xfrm>
              <a:off x="687238" y="1961214"/>
              <a:ext cx="482074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정보공유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분석 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AI 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플랫폼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(ASAP)</a:t>
              </a:r>
              <a:endParaRPr lang="ko-KR" altLang="en-US" sz="14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8A72F21-C9A8-43CF-9D50-07139CD417B7}"/>
                </a:ext>
              </a:extLst>
            </p:cNvPr>
            <p:cNvSpPr txBox="1"/>
            <p:nvPr/>
          </p:nvSpPr>
          <p:spPr>
            <a:xfrm>
              <a:off x="687237" y="2300177"/>
              <a:ext cx="5711069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가동 및 법적 기반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2025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10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 출범 이후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2026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8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월부터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통신사기피해환급법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개정에 따라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                                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정보 주체의 동의 없이도 관계기관 간 의심 정보 공동 활용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이 본격 시행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참여 기관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금융위원회와 금융보안원을 중심으로 은행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증권사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제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수사기관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가상자산거래소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공유 정보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사기 이용 계좌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악성앱 탐지 정보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피싱사이트 접속 이력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의심 및 범죄이용 전화번호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기대 효과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각 기관이 분산된 정보를 즉시 공유하여 신속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한 계좌 지급정지 및 비정상 거래 차단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범죄 수사에 활용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FDS </a:t>
              </a:r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활용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금융회사가 운영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평소와 다른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이상한 자금이체나 거래를 자동으로 찾아내는 보안 시스템 </a:t>
              </a:r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FDS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활용</a:t>
              </a:r>
            </a:p>
          </p:txBody>
        </p:sp>
      </p:grpSp>
      <p:sp>
        <p:nvSpPr>
          <p:cNvPr id="88" name="Shape 8">
            <a:extLst>
              <a:ext uri="{FF2B5EF4-FFF2-40B4-BE49-F238E27FC236}">
                <a16:creationId xmlns:a16="http://schemas.microsoft.com/office/drawing/2014/main" id="{A6E48D8D-F246-47B4-9FDB-5F1AECC542EB}"/>
              </a:ext>
            </a:extLst>
          </p:cNvPr>
          <p:cNvSpPr/>
          <p:nvPr/>
        </p:nvSpPr>
        <p:spPr>
          <a:xfrm>
            <a:off x="6641273" y="1737360"/>
            <a:ext cx="4931485" cy="3886691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D85F3B-306F-4E6C-9DCA-8D7C4B0D8278}"/>
              </a:ext>
            </a:extLst>
          </p:cNvPr>
          <p:cNvSpPr txBox="1"/>
          <p:nvPr/>
        </p:nvSpPr>
        <p:spPr>
          <a:xfrm>
            <a:off x="6869594" y="1852046"/>
            <a:ext cx="39797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ASAP </a:t>
            </a:r>
            <a:r>
              <a:rPr lang="ko-KR" altLang="en-US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플랫폼의 출범 이후 핵심 성과 </a:t>
            </a:r>
            <a:endParaRPr lang="en-US" altLang="ko-KR" sz="14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B2E5A33-3FFF-4B4C-BD77-28ADFC79B401}"/>
              </a:ext>
            </a:extLst>
          </p:cNvPr>
          <p:cNvGrpSpPr/>
          <p:nvPr/>
        </p:nvGrpSpPr>
        <p:grpSpPr>
          <a:xfrm>
            <a:off x="438150" y="5828116"/>
            <a:ext cx="11274173" cy="538281"/>
            <a:chOff x="989537" y="5557693"/>
            <a:chExt cx="10212928" cy="773508"/>
          </a:xfrm>
        </p:grpSpPr>
        <p:sp>
          <p:nvSpPr>
            <p:cNvPr id="96" name="Shape 44">
              <a:extLst>
                <a:ext uri="{FF2B5EF4-FFF2-40B4-BE49-F238E27FC236}">
                  <a16:creationId xmlns:a16="http://schemas.microsoft.com/office/drawing/2014/main" id="{731F3A17-9EC7-457A-9066-89707FAB988C}"/>
                </a:ext>
              </a:extLst>
            </p:cNvPr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106" name="Text 45">
              <a:extLst>
                <a:ext uri="{FF2B5EF4-FFF2-40B4-BE49-F238E27FC236}">
                  <a16:creationId xmlns:a16="http://schemas.microsoft.com/office/drawing/2014/main" id="{816798D6-68D0-4DF8-A408-120BDDD003E6}"/>
                </a:ext>
              </a:extLst>
            </p:cNvPr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AI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와 빅데이터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진보적인 법률 개정과 협업 체계를 통한 공격적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선재적 방어  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sym typeface="Wingdings" panose="05000000000000000000" pitchFamily="2" charset="2"/>
                </a:rPr>
                <a:t>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 전년 동기 대비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약 </a:t>
              </a:r>
              <a:r>
                <a:rPr lang="en-US" altLang="ko-KR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53%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피해액 방어라는 높은 성과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로 이어졌다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7267692-95D0-4E39-B1AD-313903CC8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67492"/>
              </p:ext>
            </p:extLst>
          </p:nvPr>
        </p:nvGraphicFramePr>
        <p:xfrm>
          <a:off x="6940645" y="2194181"/>
          <a:ext cx="4332741" cy="1112520"/>
        </p:xfrm>
        <a:graphic>
          <a:graphicData uri="http://schemas.openxmlformats.org/drawingml/2006/table">
            <a:tbl>
              <a:tblPr/>
              <a:tblGrid>
                <a:gridCol w="1047786">
                  <a:extLst>
                    <a:ext uri="{9D8B030D-6E8A-4147-A177-3AD203B41FA5}">
                      <a16:colId xmlns:a16="http://schemas.microsoft.com/office/drawing/2014/main" val="1611604226"/>
                    </a:ext>
                  </a:extLst>
                </a:gridCol>
                <a:gridCol w="1548005">
                  <a:extLst>
                    <a:ext uri="{9D8B030D-6E8A-4147-A177-3AD203B41FA5}">
                      <a16:colId xmlns:a16="http://schemas.microsoft.com/office/drawing/2014/main" val="4243154311"/>
                    </a:ext>
                  </a:extLst>
                </a:gridCol>
                <a:gridCol w="1736950">
                  <a:extLst>
                    <a:ext uri="{9D8B030D-6E8A-4147-A177-3AD203B41FA5}">
                      <a16:colId xmlns:a16="http://schemas.microsoft.com/office/drawing/2014/main" val="2761314812"/>
                    </a:ext>
                  </a:extLst>
                </a:gridCol>
              </a:tblGrid>
              <a:tr h="18835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12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2025.10.29 ~ 2026.01.21)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약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9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개월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 ~ 2026.07</a:t>
                      </a:r>
                      <a:r>
                        <a:rPr lang="ko-KR" altLang="en-US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월 말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76352"/>
                  </a:ext>
                </a:extLst>
              </a:tr>
              <a:tr h="18016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은행권 수사기관</a:t>
                      </a:r>
                      <a:endParaRPr lang="en-US" altLang="ko-KR" sz="800" dirty="0"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정보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14.8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46.3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1872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>
                          <a:latin typeface="페이퍼로지 7 Bold" pitchFamily="2" charset="-127"/>
                          <a:ea typeface="페이퍼로지 7 Bold" pitchFamily="2" charset="-127"/>
                        </a:rPr>
                        <a:t>계좌 지급정지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2,705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7,009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9267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피해 사전 차단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186.5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663.6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632259"/>
                  </a:ext>
                </a:extLst>
              </a:tr>
            </a:tbl>
          </a:graphicData>
        </a:graphic>
      </p:graphicFrame>
      <p:grpSp>
        <p:nvGrpSpPr>
          <p:cNvPr id="87" name="Group 86">
            <a:extLst>
              <a:ext uri="{FF2B5EF4-FFF2-40B4-BE49-F238E27FC236}">
                <a16:creationId xmlns:a16="http://schemas.microsoft.com/office/drawing/2014/main" id="{C2E3F610-B35F-45DB-BBD3-8EB9FD153FF8}"/>
              </a:ext>
            </a:extLst>
          </p:cNvPr>
          <p:cNvGrpSpPr/>
          <p:nvPr/>
        </p:nvGrpSpPr>
        <p:grpSpPr>
          <a:xfrm>
            <a:off x="6880605" y="3412145"/>
            <a:ext cx="4452820" cy="1508855"/>
            <a:chOff x="6900722" y="3613172"/>
            <a:chExt cx="4452820" cy="196345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19B5089-3FB1-43A2-9B72-CCD30BF61D8C}"/>
                </a:ext>
              </a:extLst>
            </p:cNvPr>
            <p:cNvGrpSpPr/>
            <p:nvPr/>
          </p:nvGrpSpPr>
          <p:grpSpPr>
            <a:xfrm>
              <a:off x="6907208" y="4589098"/>
              <a:ext cx="4444875" cy="987532"/>
              <a:chOff x="6907208" y="4589098"/>
              <a:chExt cx="4444875" cy="987532"/>
            </a:xfrm>
          </p:grpSpPr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DF1209D8-D9DA-47FD-BEAF-5CDC80460CAD}"/>
                  </a:ext>
                </a:extLst>
              </p:cNvPr>
              <p:cNvGrpSpPr/>
              <p:nvPr/>
            </p:nvGrpSpPr>
            <p:grpSpPr>
              <a:xfrm>
                <a:off x="6909933" y="4589098"/>
                <a:ext cx="4416750" cy="797140"/>
                <a:chOff x="6909933" y="4638806"/>
                <a:chExt cx="4416750" cy="79714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AF035335-5549-4D57-B7A4-921CCE59D407}"/>
                    </a:ext>
                  </a:extLst>
                </p:cNvPr>
                <p:cNvGrpSpPr/>
                <p:nvPr/>
              </p:nvGrpSpPr>
              <p:grpSpPr>
                <a:xfrm>
                  <a:off x="6968542" y="4882176"/>
                  <a:ext cx="4358141" cy="553770"/>
                  <a:chOff x="6968542" y="4744258"/>
                  <a:chExt cx="4358141" cy="413305"/>
                </a:xfrm>
              </p:grpSpPr>
              <p:sp>
                <p:nvSpPr>
                  <p:cNvPr id="139" name="Rectangle 138">
                    <a:extLst>
                      <a:ext uri="{FF2B5EF4-FFF2-40B4-BE49-F238E27FC236}">
                        <a16:creationId xmlns:a16="http://schemas.microsoft.com/office/drawing/2014/main" id="{41AE67AD-B9B8-40DF-9448-F51E5E6EB1AE}"/>
                      </a:ext>
                    </a:extLst>
                  </p:cNvPr>
                  <p:cNvSpPr/>
                  <p:nvPr/>
                </p:nvSpPr>
                <p:spPr>
                  <a:xfrm>
                    <a:off x="6968542" y="4744258"/>
                    <a:ext cx="2141992" cy="413305"/>
                  </a:xfrm>
                  <a:prstGeom prst="rect">
                    <a:avLst/>
                  </a:prstGeom>
                  <a:solidFill>
                    <a:srgbClr val="00206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1,328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49.1%)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791CBE85-2624-4CCD-9B03-5B88D0E8C53D}"/>
                      </a:ext>
                    </a:extLst>
                  </p:cNvPr>
                  <p:cNvSpPr/>
                  <p:nvPr/>
                </p:nvSpPr>
                <p:spPr>
                  <a:xfrm>
                    <a:off x="9107358" y="4744258"/>
                    <a:ext cx="2025777" cy="413305"/>
                  </a:xfrm>
                  <a:prstGeom prst="rect">
                    <a:avLst/>
                  </a:prstGeom>
                  <a:solidFill>
                    <a:srgbClr val="5E85B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1,250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46.2%)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80BECE0E-F3C7-4852-96B7-5FDCEE448308}"/>
                      </a:ext>
                    </a:extLst>
                  </p:cNvPr>
                  <p:cNvSpPr/>
                  <p:nvPr/>
                </p:nvSpPr>
                <p:spPr>
                  <a:xfrm>
                    <a:off x="11133136" y="4744258"/>
                    <a:ext cx="98298" cy="413305"/>
                  </a:xfrm>
                  <a:prstGeom prst="rect">
                    <a:avLst/>
                  </a:prstGeom>
                  <a:solidFill>
                    <a:srgbClr val="2F7CF6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5B45C7CC-4FE9-47B8-A816-C1985FE01E16}"/>
                      </a:ext>
                    </a:extLst>
                  </p:cNvPr>
                  <p:cNvSpPr/>
                  <p:nvPr/>
                </p:nvSpPr>
                <p:spPr>
                  <a:xfrm>
                    <a:off x="11225084" y="4744258"/>
                    <a:ext cx="101599" cy="413305"/>
                  </a:xfrm>
                  <a:prstGeom prst="rect">
                    <a:avLst/>
                  </a:prstGeom>
                  <a:solidFill>
                    <a:srgbClr val="49A8FF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</p:grp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D8D12947-8E65-40B3-A525-5A287ADA8B2A}"/>
                    </a:ext>
                  </a:extLst>
                </p:cNvPr>
                <p:cNvSpPr txBox="1"/>
                <p:nvPr/>
              </p:nvSpPr>
              <p:spPr>
                <a:xfrm>
                  <a:off x="6909933" y="4654579"/>
                  <a:ext cx="2141992" cy="2594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rtl="0"/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피해방지 건수 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(2,705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)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A21BDF8A-9CC3-477E-B3E5-B6272F32E405}"/>
                    </a:ext>
                  </a:extLst>
                </p:cNvPr>
                <p:cNvSpPr txBox="1"/>
                <p:nvPr/>
              </p:nvSpPr>
              <p:spPr>
                <a:xfrm>
                  <a:off x="8920162" y="4638806"/>
                  <a:ext cx="233417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사기이용계좌 정보 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55</a:t>
                  </a:r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(2.0%)</a:t>
                  </a:r>
                  <a:endPara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81ADE4-E51E-4EB8-8484-15125DE343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230521" y="4657650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AC47B40-FD1A-4F45-8E48-6F005AB3E0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99747" y="4719547"/>
                  <a:ext cx="0" cy="169772"/>
                </a:xfrm>
                <a:prstGeom prst="line">
                  <a:avLst/>
                </a:prstGeom>
                <a:ln w="28575">
                  <a:solidFill>
                    <a:srgbClr val="2F7CF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36555E7C-425E-4079-87B1-C470269898ED}"/>
                  </a:ext>
                </a:extLst>
              </p:cNvPr>
              <p:cNvGrpSpPr/>
              <p:nvPr/>
            </p:nvGrpSpPr>
            <p:grpSpPr>
              <a:xfrm>
                <a:off x="9882317" y="5345667"/>
                <a:ext cx="1469766" cy="230963"/>
                <a:chOff x="9856917" y="5345667"/>
                <a:chExt cx="1469766" cy="230963"/>
              </a:xfrm>
            </p:grpSpPr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9B95F796-2F08-446E-A1DB-01D3A370AA4E}"/>
                    </a:ext>
                  </a:extLst>
                </p:cNvPr>
                <p:cNvSpPr txBox="1"/>
                <p:nvPr/>
              </p:nvSpPr>
              <p:spPr>
                <a:xfrm>
                  <a:off x="9856917" y="5361186"/>
                  <a:ext cx="1469766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기타 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72</a:t>
                  </a:r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(2.7%)</a:t>
                  </a:r>
                  <a:endPara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19B4FE53-15CC-4901-A172-3B82093CC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275883" y="5345667"/>
                  <a:ext cx="0" cy="200563"/>
                </a:xfrm>
                <a:prstGeom prst="line">
                  <a:avLst/>
                </a:prstGeom>
                <a:ln w="28575">
                  <a:solidFill>
                    <a:srgbClr val="49A8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5CD0C00-1002-4547-94C5-4857AE291FEA}"/>
                  </a:ext>
                </a:extLst>
              </p:cNvPr>
              <p:cNvSpPr txBox="1"/>
              <p:nvPr/>
            </p:nvSpPr>
            <p:spPr>
              <a:xfrm>
                <a:off x="6907208" y="5373434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F406ED3-91ED-40FA-A5F6-5EB54373632C}"/>
                </a:ext>
              </a:extLst>
            </p:cNvPr>
            <p:cNvGrpSpPr/>
            <p:nvPr/>
          </p:nvGrpSpPr>
          <p:grpSpPr>
            <a:xfrm>
              <a:off x="6900722" y="3613172"/>
              <a:ext cx="4452820" cy="989286"/>
              <a:chOff x="6900722" y="3613172"/>
              <a:chExt cx="4452820" cy="989286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1EC7DBF-425A-4A6D-8C7C-96CE3884C086}"/>
                  </a:ext>
                </a:extLst>
              </p:cNvPr>
              <p:cNvGrpSpPr/>
              <p:nvPr/>
            </p:nvGrpSpPr>
            <p:grpSpPr>
              <a:xfrm>
                <a:off x="6968542" y="3858962"/>
                <a:ext cx="4358141" cy="553770"/>
                <a:chOff x="6968542" y="4034171"/>
                <a:chExt cx="4358141" cy="553770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0C0C6537-ECA2-4D39-9F34-0A75EC4F8FD6}"/>
                    </a:ext>
                  </a:extLst>
                </p:cNvPr>
                <p:cNvSpPr/>
                <p:nvPr/>
              </p:nvSpPr>
              <p:spPr>
                <a:xfrm>
                  <a:off x="6968542" y="4034171"/>
                  <a:ext cx="950212" cy="553770"/>
                </a:xfrm>
                <a:prstGeom prst="rect">
                  <a:avLst/>
                </a:prstGeom>
                <a:solidFill>
                  <a:srgbClr val="00206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41.0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(22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.0%)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0EE53028-AEF5-4508-BF9B-F1FFEBF7F663}"/>
                    </a:ext>
                  </a:extLst>
                </p:cNvPr>
                <p:cNvSpPr/>
                <p:nvPr/>
              </p:nvSpPr>
              <p:spPr>
                <a:xfrm>
                  <a:off x="10625139" y="4034171"/>
                  <a:ext cx="369092" cy="553770"/>
                </a:xfrm>
                <a:prstGeom prst="rect">
                  <a:avLst/>
                </a:prstGeom>
                <a:solidFill>
                  <a:srgbClr val="2F7CF6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9640938D-6415-4975-AE42-4A9F6CC71DFD}"/>
                    </a:ext>
                  </a:extLst>
                </p:cNvPr>
                <p:cNvSpPr/>
                <p:nvPr/>
              </p:nvSpPr>
              <p:spPr>
                <a:xfrm>
                  <a:off x="7918755" y="4034171"/>
                  <a:ext cx="2770246" cy="553770"/>
                </a:xfrm>
                <a:prstGeom prst="rect">
                  <a:avLst/>
                </a:prstGeom>
                <a:solidFill>
                  <a:srgbClr val="5E85B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118.4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9835F2DD-3120-471C-8951-D64FF8D0174D}"/>
                    </a:ext>
                  </a:extLst>
                </p:cNvPr>
                <p:cNvSpPr/>
                <p:nvPr/>
              </p:nvSpPr>
              <p:spPr>
                <a:xfrm>
                  <a:off x="10931968" y="4034171"/>
                  <a:ext cx="394715" cy="553770"/>
                </a:xfrm>
                <a:prstGeom prst="rect">
                  <a:avLst/>
                </a:prstGeom>
                <a:solidFill>
                  <a:srgbClr val="49A8FF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</p:grp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A77F4D8-08BA-428A-9C85-1616EDB599DB}"/>
                  </a:ext>
                </a:extLst>
              </p:cNvPr>
              <p:cNvSpPr txBox="1"/>
              <p:nvPr/>
            </p:nvSpPr>
            <p:spPr>
              <a:xfrm>
                <a:off x="6900722" y="3622027"/>
                <a:ext cx="2357577" cy="2594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피해방지 금액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(186.5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)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919C9AAA-84A7-412C-A96B-CF876CFC3A50}"/>
                  </a:ext>
                </a:extLst>
              </p:cNvPr>
              <p:cNvSpPr txBox="1"/>
              <p:nvPr/>
            </p:nvSpPr>
            <p:spPr>
              <a:xfrm>
                <a:off x="8632959" y="3613172"/>
                <a:ext cx="233417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사기이용계좌 정보 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9.8</a:t>
                </a:r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(5.3%)</a:t>
                </a:r>
                <a:endParaRPr lang="ko-KR" altLang="en-US" sz="800" dirty="0">
                  <a:solidFill>
                    <a:srgbClr val="2F7CF6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DF6178B5-BA75-4C82-BC94-A57B18CABC6A}"/>
                  </a:ext>
                </a:extLst>
              </p:cNvPr>
              <p:cNvCxnSpPr>
                <a:cxnSpLocks/>
                <a:stCxn id="160" idx="3"/>
                <a:endCxn id="160" idx="3"/>
              </p:cNvCxnSpPr>
              <p:nvPr/>
            </p:nvCxnSpPr>
            <p:spPr>
              <a:xfrm>
                <a:off x="10967130" y="3720894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BB0E1F68-8BCC-4740-8CA7-815A9B21B88B}"/>
                  </a:ext>
                </a:extLst>
              </p:cNvPr>
              <p:cNvCxnSpPr/>
              <p:nvPr/>
            </p:nvCxnSpPr>
            <p:spPr>
              <a:xfrm flipV="1">
                <a:off x="10918894" y="3693912"/>
                <a:ext cx="0" cy="169772"/>
              </a:xfrm>
              <a:prstGeom prst="line">
                <a:avLst/>
              </a:prstGeom>
              <a:ln w="28575">
                <a:solidFill>
                  <a:srgbClr val="2F7CF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B6B30D79-E413-44B8-BECF-21E5D30F94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01283" y="4374959"/>
                <a:ext cx="0" cy="200563"/>
              </a:xfrm>
              <a:prstGeom prst="line">
                <a:avLst/>
              </a:prstGeom>
              <a:ln w="28575">
                <a:solidFill>
                  <a:srgbClr val="49A8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E145FE7-7C8E-4A8C-BEA3-6326FCD0B570}"/>
                  </a:ext>
                </a:extLst>
              </p:cNvPr>
              <p:cNvSpPr txBox="1"/>
              <p:nvPr/>
            </p:nvSpPr>
            <p:spPr>
              <a:xfrm>
                <a:off x="9883776" y="4387014"/>
                <a:ext cx="14697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기타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 17.3</a:t>
                </a:r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(9.3%)</a:t>
                </a:r>
                <a:endParaRPr lang="ko-KR" altLang="en-US" sz="800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525798AE-8A4A-4F3C-A7DB-F37611569B06}"/>
                  </a:ext>
                </a:extLst>
              </p:cNvPr>
              <p:cNvSpPr txBox="1"/>
              <p:nvPr/>
            </p:nvSpPr>
            <p:spPr>
              <a:xfrm>
                <a:off x="6907208" y="4394745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7688958C-63F5-4BB9-9DD1-8635F1F92C47}"/>
              </a:ext>
            </a:extLst>
          </p:cNvPr>
          <p:cNvSpPr txBox="1"/>
          <p:nvPr/>
        </p:nvSpPr>
        <p:spPr>
          <a:xfrm>
            <a:off x="7405452" y="4996134"/>
            <a:ext cx="3403127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지난해 같은 기간 대비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발생 건수가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46%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(14,707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7,940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),</a:t>
            </a:r>
          </a:p>
          <a:p>
            <a:pPr algn="ctr"/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피해액이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53%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(7,766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3,614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감소</a:t>
            </a:r>
            <a:endParaRPr lang="en-US" altLang="ko-KR" sz="1000" dirty="0">
              <a:solidFill>
                <a:srgbClr val="FF4B16"/>
              </a:solidFill>
              <a:latin typeface="페이퍼로지 4 Regular" pitchFamily="2" charset="-127"/>
              <a:ea typeface="페이퍼로지 4 Regular" pitchFamily="2" charset="-127"/>
            </a:endParaRPr>
          </a:p>
          <a:p>
            <a:pPr algn="ctr"/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출처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: 7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8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0816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671892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9ECD888-C723-46E7-903A-7435ADF81B35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4F0333C0-8C7A-4B84-8F7C-D44D37579789}"/>
              </a:ext>
            </a:extLst>
          </p:cNvPr>
          <p:cNvSpPr txBox="1"/>
          <p:nvPr/>
        </p:nvSpPr>
        <p:spPr>
          <a:xfrm>
            <a:off x="838200" y="527343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그런데 잠깐</a:t>
            </a:r>
            <a:r>
              <a:rPr lang="en-US" altLang="ko-KR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9E4F4B01-3369-4970-A414-220666C1A0EF}"/>
              </a:ext>
            </a:extLst>
          </p:cNvPr>
          <p:cNvSpPr txBox="1"/>
          <p:nvPr/>
        </p:nvSpPr>
        <p:spPr>
          <a:xfrm>
            <a:off x="746760" y="760788"/>
            <a:ext cx="10698480" cy="122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이렇게 많은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존재하고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실제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긍정적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어째서 여전히 보이스피싱 범죄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피해가 발생하고 있을까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그리고 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53%</a:t>
            </a: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의 피해액 감소에 만족하고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안주해도 되는 걸까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ED55EEA-1212-4000-A6DF-C58A73D5632C}"/>
              </a:ext>
            </a:extLst>
          </p:cNvPr>
          <p:cNvGrpSpPr/>
          <p:nvPr/>
        </p:nvGrpSpPr>
        <p:grpSpPr>
          <a:xfrm>
            <a:off x="1211043" y="2272923"/>
            <a:ext cx="9769914" cy="3097467"/>
            <a:chOff x="1211043" y="2336922"/>
            <a:chExt cx="9769914" cy="309746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5870A41-561B-46D8-872D-2DACE1D28AAF}"/>
                </a:ext>
              </a:extLst>
            </p:cNvPr>
            <p:cNvGrpSpPr/>
            <p:nvPr/>
          </p:nvGrpSpPr>
          <p:grpSpPr>
            <a:xfrm>
              <a:off x="1324750" y="2864843"/>
              <a:ext cx="4413424" cy="2564583"/>
              <a:chOff x="1032549" y="3249240"/>
              <a:chExt cx="4413424" cy="2564583"/>
            </a:xfrm>
          </p:grpSpPr>
          <p:sp>
            <p:nvSpPr>
              <p:cNvPr id="23" name="Shape 8">
                <a:extLst>
                  <a:ext uri="{FF2B5EF4-FFF2-40B4-BE49-F238E27FC236}">
                    <a16:creationId xmlns:a16="http://schemas.microsoft.com/office/drawing/2014/main" id="{1E82256C-508F-4718-BDA2-BC66C83B7F0E}"/>
                  </a:ext>
                </a:extLst>
              </p:cNvPr>
              <p:cNvSpPr/>
              <p:nvPr/>
            </p:nvSpPr>
            <p:spPr>
              <a:xfrm>
                <a:off x="1032549" y="3249240"/>
                <a:ext cx="4413424" cy="2564583"/>
              </a:xfrm>
              <a:prstGeom prst="roundRect">
                <a:avLst>
                  <a:gd name="adj" fmla="val 5818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ADDDFBD-5E3C-4896-BA4F-D0F3EA431C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179"/>
              <a:stretch/>
            </p:blipFill>
            <p:spPr>
              <a:xfrm>
                <a:off x="1087294" y="3401279"/>
                <a:ext cx="4303933" cy="2355183"/>
              </a:xfrm>
              <a:prstGeom prst="rect">
                <a:avLst/>
              </a:prstGeom>
            </p:spPr>
          </p:pic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0CE9D502-4A98-4EFF-A464-807AEFFEFAEB}"/>
                  </a:ext>
                </a:extLst>
              </p:cNvPr>
              <p:cNvSpPr/>
              <p:nvPr/>
            </p:nvSpPr>
            <p:spPr>
              <a:xfrm>
                <a:off x="4234875" y="3762257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E66867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609C7C8-B81C-4E5A-8DE7-5B7392628E26}"/>
                  </a:ext>
                </a:extLst>
              </p:cNvPr>
              <p:cNvSpPr/>
              <p:nvPr/>
            </p:nvSpPr>
            <p:spPr>
              <a:xfrm>
                <a:off x="2995430" y="4328077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5E85B0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35A03C30-6B1A-4B88-A823-CDFF6D395EA1}"/>
                  </a:ext>
                </a:extLst>
              </p:cNvPr>
              <p:cNvSpPr/>
              <p:nvPr/>
            </p:nvSpPr>
            <p:spPr>
              <a:xfrm>
                <a:off x="1678927" y="4945044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5E85B0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529F90-0D90-4D06-A22A-9BF6736AC066}"/>
                  </a:ext>
                </a:extLst>
              </p:cNvPr>
              <p:cNvSpPr txBox="1"/>
              <p:nvPr/>
            </p:nvSpPr>
            <p:spPr>
              <a:xfrm>
                <a:off x="4075288" y="3779761"/>
                <a:ext cx="82161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1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조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2,578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CE70B62-55EB-473C-BA03-421B1681A667}"/>
                  </a:ext>
                </a:extLst>
              </p:cNvPr>
              <p:cNvSpPr txBox="1"/>
              <p:nvPr/>
            </p:nvSpPr>
            <p:spPr>
              <a:xfrm>
                <a:off x="2907242" y="4328077"/>
                <a:ext cx="664039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8,545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9E0FC46-BD5A-44EE-96E2-24AA444130B9}"/>
                  </a:ext>
                </a:extLst>
              </p:cNvPr>
              <p:cNvSpPr txBox="1"/>
              <p:nvPr/>
            </p:nvSpPr>
            <p:spPr>
              <a:xfrm>
                <a:off x="1664187" y="4901827"/>
                <a:ext cx="664039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4,472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5AC449D-63FD-4FAC-BC84-018DCA6B81B3}"/>
                  </a:ext>
                </a:extLst>
              </p:cNvPr>
              <p:cNvSpPr/>
              <p:nvPr/>
            </p:nvSpPr>
            <p:spPr>
              <a:xfrm>
                <a:off x="1848280" y="5567957"/>
                <a:ext cx="2796677" cy="151946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132AA46-7D78-4876-B8DC-07219A1BC210}"/>
                  </a:ext>
                </a:extLst>
              </p:cNvPr>
              <p:cNvSpPr txBox="1"/>
              <p:nvPr/>
            </p:nvSpPr>
            <p:spPr>
              <a:xfrm>
                <a:off x="1767645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2023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F857B92-D8C9-4FA5-A64C-2A057E220F10}"/>
                  </a:ext>
                </a:extLst>
              </p:cNvPr>
              <p:cNvSpPr txBox="1"/>
              <p:nvPr/>
            </p:nvSpPr>
            <p:spPr>
              <a:xfrm>
                <a:off x="3032853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2024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E9A77ED-F1D8-4FC7-808D-E37C404A7CA9}"/>
                  </a:ext>
                </a:extLst>
              </p:cNvPr>
              <p:cNvSpPr txBox="1"/>
              <p:nvPr/>
            </p:nvSpPr>
            <p:spPr>
              <a:xfrm>
                <a:off x="4270268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2025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C42CBDA-FA6E-483F-A7ED-A9D5C8BDA779}"/>
                  </a:ext>
                </a:extLst>
              </p:cNvPr>
              <p:cNvSpPr/>
              <p:nvPr/>
            </p:nvSpPr>
            <p:spPr>
              <a:xfrm>
                <a:off x="4329379" y="3570236"/>
                <a:ext cx="335269" cy="116719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D129A4D-4056-4EBB-8790-4D787591974D}"/>
                  </a:ext>
                </a:extLst>
              </p:cNvPr>
              <p:cNvSpPr/>
              <p:nvPr/>
            </p:nvSpPr>
            <p:spPr>
              <a:xfrm>
                <a:off x="3104678" y="3738794"/>
                <a:ext cx="272766" cy="139088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075D39-1E77-4244-A163-8B99D040B560}"/>
                  </a:ext>
                </a:extLst>
              </p:cNvPr>
              <p:cNvSpPr txBox="1"/>
              <p:nvPr/>
            </p:nvSpPr>
            <p:spPr>
              <a:xfrm>
                <a:off x="4175340" y="3517506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23,260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B775FF-A5B9-4BE9-9C1E-81448A4F4AC7}"/>
                  </a:ext>
                </a:extLst>
              </p:cNvPr>
              <p:cNvSpPr txBox="1"/>
              <p:nvPr/>
            </p:nvSpPr>
            <p:spPr>
              <a:xfrm>
                <a:off x="2941649" y="3698945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20,839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B2856F-FCF3-43A9-B38A-287AF282279A}"/>
                  </a:ext>
                </a:extLst>
              </p:cNvPr>
              <p:cNvSpPr/>
              <p:nvPr/>
            </p:nvSpPr>
            <p:spPr>
              <a:xfrm>
                <a:off x="1850906" y="3933163"/>
                <a:ext cx="272766" cy="82713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DE967D-3AFC-49E7-808F-C44ED34D584B}"/>
                  </a:ext>
                </a:extLst>
              </p:cNvPr>
              <p:cNvSpPr txBox="1"/>
              <p:nvPr/>
            </p:nvSpPr>
            <p:spPr>
              <a:xfrm>
                <a:off x="1674532" y="3855641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18,902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129DE3E-630F-4541-AD0C-6DC0DD11F9A8}"/>
                </a:ext>
              </a:extLst>
            </p:cNvPr>
            <p:cNvSpPr txBox="1"/>
            <p:nvPr/>
          </p:nvSpPr>
          <p:spPr>
            <a:xfrm>
              <a:off x="1211043" y="2336922"/>
              <a:ext cx="464083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여전히 발생하고 있는 보이스피싱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최근 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3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년간 보이스피싱 피해 수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피해액 증가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6191101" y="2337865"/>
              <a:ext cx="4789856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ASAP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출범 이후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25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동기 대비 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26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피해액 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53%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감소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사회의 노력으로 눈에 띄게 줄어든 보이스피싱 피해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ctr">
                <a:buNone/>
              </a:pPr>
              <a:endParaRPr lang="en-US" altLang="ko-KR" sz="1400" dirty="0">
                <a:solidFill>
                  <a:srgbClr val="FFFFFF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그러나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여전히 발생하고 있는 비극적 사건들</a:t>
              </a:r>
              <a:endParaRPr lang="en-US" altLang="ko-KR" sz="1400" dirty="0">
                <a:solidFill>
                  <a:srgbClr val="FFFFFF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4392955-62C2-4F31-9B89-F8F7DA1ABA23}"/>
                </a:ext>
              </a:extLst>
            </p:cNvPr>
            <p:cNvGrpSpPr/>
            <p:nvPr/>
          </p:nvGrpSpPr>
          <p:grpSpPr>
            <a:xfrm>
              <a:off x="6410371" y="3628557"/>
              <a:ext cx="4351316" cy="963203"/>
              <a:chOff x="6522760" y="3628258"/>
              <a:chExt cx="4351316" cy="96320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253C18-8B24-4615-9F41-F80A70148FD5}"/>
                  </a:ext>
                </a:extLst>
              </p:cNvPr>
              <p:cNvSpPr txBox="1"/>
              <p:nvPr/>
            </p:nvSpPr>
            <p:spPr>
              <a:xfrm>
                <a:off x="6522760" y="3628258"/>
                <a:ext cx="4351316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 줄었다지만</a:t>
                </a:r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…5</a:t>
                </a:r>
                <a:r>
                  <a:rPr lang="ko-KR" altLang="en-US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천만 원 피해에 </a:t>
                </a:r>
                <a:r>
                  <a:rPr lang="en-US" altLang="ko-KR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20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대 아들</a:t>
                </a:r>
                <a:r>
                  <a:rPr lang="en-US" altLang="ko-KR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,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엄마와 함께 숨져</a:t>
                </a:r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1804E37-175A-49DF-A1AE-A8E99DC3BFD7}"/>
                  </a:ext>
                </a:extLst>
              </p:cNvPr>
              <p:cNvSpPr txBox="1"/>
              <p:nvPr/>
            </p:nvSpPr>
            <p:spPr>
              <a:xfrm>
                <a:off x="6659400" y="3979054"/>
                <a:ext cx="4049326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 피해 비관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부부 극단선택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홀로 산 남편 자살방조 처벌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5293354-2278-488F-89E1-11BB4375AF62}"/>
                  </a:ext>
                </a:extLst>
              </p:cNvPr>
              <p:cNvSpPr txBox="1"/>
              <p:nvPr/>
            </p:nvSpPr>
            <p:spPr>
              <a:xfrm>
                <a:off x="6713037" y="4329851"/>
                <a:ext cx="3942053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보이스피싱에 속아 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3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억원 잃은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피해자 생 마감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인출책 징역 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1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년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8648D27-D659-4872-A6D6-956992D62318}"/>
                </a:ext>
              </a:extLst>
            </p:cNvPr>
            <p:cNvGrpSpPr/>
            <p:nvPr/>
          </p:nvGrpSpPr>
          <p:grpSpPr>
            <a:xfrm>
              <a:off x="7108968" y="4822105"/>
              <a:ext cx="3038792" cy="612284"/>
              <a:chOff x="7249592" y="4848383"/>
              <a:chExt cx="3038792" cy="612284"/>
            </a:xfrm>
          </p:grpSpPr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21767CAF-0E74-4E26-93E7-9DACE1C609C6}"/>
                  </a:ext>
                </a:extLst>
              </p:cNvPr>
              <p:cNvSpPr/>
              <p:nvPr/>
            </p:nvSpPr>
            <p:spPr>
              <a:xfrm>
                <a:off x="8261407" y="4848383"/>
                <a:ext cx="439227" cy="597490"/>
              </a:xfrm>
              <a:custGeom>
                <a:avLst/>
                <a:gdLst>
                  <a:gd name="connsiteX0" fmla="*/ 210311 w 439227"/>
                  <a:gd name="connsiteY0" fmla="*/ 0 h 597490"/>
                  <a:gd name="connsiteX1" fmla="*/ 228915 w 439227"/>
                  <a:gd name="connsiteY1" fmla="*/ 0 h 597490"/>
                  <a:gd name="connsiteX2" fmla="*/ 359394 w 439227"/>
                  <a:gd name="connsiteY2" fmla="*/ 130479 h 597490"/>
                  <a:gd name="connsiteX3" fmla="*/ 321178 w 439227"/>
                  <a:gd name="connsiteY3" fmla="*/ 222742 h 597490"/>
                  <a:gd name="connsiteX4" fmla="*/ 320008 w 439227"/>
                  <a:gd name="connsiteY4" fmla="*/ 223530 h 597490"/>
                  <a:gd name="connsiteX5" fmla="*/ 361875 w 439227"/>
                  <a:gd name="connsiteY5" fmla="*/ 231983 h 597490"/>
                  <a:gd name="connsiteX6" fmla="*/ 439227 w 439227"/>
                  <a:gd name="connsiteY6" fmla="*/ 348680 h 597490"/>
                  <a:gd name="connsiteX7" fmla="*/ 439227 w 439227"/>
                  <a:gd name="connsiteY7" fmla="*/ 597490 h 597490"/>
                  <a:gd name="connsiteX8" fmla="*/ 0 w 439227"/>
                  <a:gd name="connsiteY8" fmla="*/ 597490 h 597490"/>
                  <a:gd name="connsiteX9" fmla="*/ 0 w 439227"/>
                  <a:gd name="connsiteY9" fmla="*/ 348680 h 597490"/>
                  <a:gd name="connsiteX10" fmla="*/ 77352 w 439227"/>
                  <a:gd name="connsiteY10" fmla="*/ 231983 h 597490"/>
                  <a:gd name="connsiteX11" fmla="*/ 119218 w 439227"/>
                  <a:gd name="connsiteY11" fmla="*/ 223531 h 597490"/>
                  <a:gd name="connsiteX12" fmla="*/ 118049 w 439227"/>
                  <a:gd name="connsiteY12" fmla="*/ 222742 h 597490"/>
                  <a:gd name="connsiteX13" fmla="*/ 79832 w 439227"/>
                  <a:gd name="connsiteY13" fmla="*/ 130479 h 597490"/>
                  <a:gd name="connsiteX14" fmla="*/ 210311 w 439227"/>
                  <a:gd name="connsiteY14" fmla="*/ 0 h 597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39227" h="597490">
                    <a:moveTo>
                      <a:pt x="210311" y="0"/>
                    </a:moveTo>
                    <a:lnTo>
                      <a:pt x="228915" y="0"/>
                    </a:lnTo>
                    <a:cubicBezTo>
                      <a:pt x="300977" y="0"/>
                      <a:pt x="359394" y="58417"/>
                      <a:pt x="359394" y="130479"/>
                    </a:cubicBezTo>
                    <a:cubicBezTo>
                      <a:pt x="359394" y="166510"/>
                      <a:pt x="344790" y="199130"/>
                      <a:pt x="321178" y="222742"/>
                    </a:cubicBezTo>
                    <a:lnTo>
                      <a:pt x="320008" y="223530"/>
                    </a:lnTo>
                    <a:lnTo>
                      <a:pt x="361875" y="231983"/>
                    </a:lnTo>
                    <a:cubicBezTo>
                      <a:pt x="407332" y="251209"/>
                      <a:pt x="439227" y="296220"/>
                      <a:pt x="439227" y="348680"/>
                    </a:cubicBezTo>
                    <a:lnTo>
                      <a:pt x="439227" y="597490"/>
                    </a:lnTo>
                    <a:lnTo>
                      <a:pt x="0" y="597490"/>
                    </a:lnTo>
                    <a:lnTo>
                      <a:pt x="0" y="348680"/>
                    </a:lnTo>
                    <a:cubicBezTo>
                      <a:pt x="0" y="296220"/>
                      <a:pt x="31895" y="251209"/>
                      <a:pt x="77352" y="231983"/>
                    </a:cubicBezTo>
                    <a:lnTo>
                      <a:pt x="119218" y="223531"/>
                    </a:lnTo>
                    <a:lnTo>
                      <a:pt x="118049" y="222742"/>
                    </a:lnTo>
                    <a:cubicBezTo>
                      <a:pt x="94437" y="199130"/>
                      <a:pt x="79832" y="166510"/>
                      <a:pt x="79832" y="130479"/>
                    </a:cubicBezTo>
                    <a:cubicBezTo>
                      <a:pt x="79832" y="58417"/>
                      <a:pt x="138249" y="0"/>
                      <a:pt x="210311" y="0"/>
                    </a:cubicBezTo>
                    <a:close/>
                  </a:path>
                </a:pathLst>
              </a:custGeom>
              <a:solidFill>
                <a:srgbClr val="49A8FF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6054FC-42F8-4E05-8864-E15F8D597954}"/>
                  </a:ext>
                </a:extLst>
              </p:cNvPr>
              <p:cNvSpPr txBox="1"/>
              <p:nvPr/>
            </p:nvSpPr>
            <p:spPr>
              <a:xfrm>
                <a:off x="7249592" y="5245223"/>
                <a:ext cx="101181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ko-KR" altLang="en-US" sz="8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사회가 지켜낸 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9 Black" pitchFamily="2" charset="-127"/>
                    <a:ea typeface="페이퍼로지 9 Black" pitchFamily="2" charset="-127"/>
                  </a:rPr>
                  <a:t>53%</a:t>
                </a:r>
                <a:endParaRPr lang="ko-KR" altLang="en-US" sz="800" dirty="0">
                  <a:solidFill>
                    <a:srgbClr val="49A8FF"/>
                  </a:solidFill>
                  <a:latin typeface="페이퍼로지 9 Black" pitchFamily="2" charset="-127"/>
                  <a:ea typeface="페이퍼로지 9 Black" pitchFamily="2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48ECB64-EE12-4659-BDBB-E56510468378}"/>
                  </a:ext>
                </a:extLst>
              </p:cNvPr>
              <p:cNvSpPr txBox="1"/>
              <p:nvPr/>
            </p:nvSpPr>
            <p:spPr>
              <a:xfrm>
                <a:off x="9183594" y="5149390"/>
                <a:ext cx="11047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그렇지 못한 </a:t>
                </a:r>
                <a:r>
                  <a:rPr lang="en-US" altLang="ko-KR" sz="1400" dirty="0">
                    <a:solidFill>
                      <a:srgbClr val="FF4B16"/>
                    </a:solidFill>
                    <a:latin typeface="페이퍼로지 9 Black" pitchFamily="2" charset="-127"/>
                    <a:ea typeface="페이퍼로지 9 Black" pitchFamily="2" charset="-127"/>
                  </a:rPr>
                  <a:t>47%</a:t>
                </a:r>
                <a:endParaRPr lang="ko-KR" altLang="en-US" sz="1400" dirty="0">
                  <a:solidFill>
                    <a:srgbClr val="FF4B16"/>
                  </a:solidFill>
                  <a:latin typeface="페이퍼로지 9 Black" pitchFamily="2" charset="-127"/>
                  <a:ea typeface="페이퍼로지 9 Black" pitchFamily="2" charset="-127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5CBD0AEA-4FBC-4668-AF87-53614FA0F902}"/>
                  </a:ext>
                </a:extLst>
              </p:cNvPr>
              <p:cNvSpPr/>
              <p:nvPr/>
            </p:nvSpPr>
            <p:spPr>
              <a:xfrm rot="5400000">
                <a:off x="8609625" y="5248233"/>
                <a:ext cx="347541" cy="47740"/>
              </a:xfrm>
              <a:custGeom>
                <a:avLst/>
                <a:gdLst>
                  <a:gd name="connsiteX0" fmla="*/ 0 w 347541"/>
                  <a:gd name="connsiteY0" fmla="*/ 0 h 47740"/>
                  <a:gd name="connsiteX1" fmla="*/ 347541 w 347541"/>
                  <a:gd name="connsiteY1" fmla="*/ 0 h 47740"/>
                  <a:gd name="connsiteX2" fmla="*/ 347541 w 347541"/>
                  <a:gd name="connsiteY2" fmla="*/ 47740 h 47740"/>
                  <a:gd name="connsiteX3" fmla="*/ 98731 w 347541"/>
                  <a:gd name="connsiteY3" fmla="*/ 47740 h 47740"/>
                  <a:gd name="connsiteX4" fmla="*/ 1002 w 347541"/>
                  <a:gd name="connsiteY4" fmla="*/ 1651 h 47740"/>
                  <a:gd name="connsiteX5" fmla="*/ 0 w 347541"/>
                  <a:gd name="connsiteY5" fmla="*/ 0 h 4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7541" h="47740">
                    <a:moveTo>
                      <a:pt x="0" y="0"/>
                    </a:moveTo>
                    <a:lnTo>
                      <a:pt x="347541" y="0"/>
                    </a:lnTo>
                    <a:lnTo>
                      <a:pt x="347541" y="47740"/>
                    </a:lnTo>
                    <a:lnTo>
                      <a:pt x="98731" y="47740"/>
                    </a:lnTo>
                    <a:cubicBezTo>
                      <a:pt x="59386" y="47740"/>
                      <a:pt x="24231" y="29799"/>
                      <a:pt x="1002" y="165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9A8FF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206B044A-613C-4822-9C20-32DD858C8127}"/>
                  </a:ext>
                </a:extLst>
              </p:cNvPr>
              <p:cNvSpPr/>
              <p:nvPr/>
            </p:nvSpPr>
            <p:spPr>
              <a:xfrm rot="5400000">
                <a:off x="8704264" y="4951385"/>
                <a:ext cx="597490" cy="391488"/>
              </a:xfrm>
              <a:custGeom>
                <a:avLst/>
                <a:gdLst>
                  <a:gd name="connsiteX0" fmla="*/ 0 w 597490"/>
                  <a:gd name="connsiteY0" fmla="*/ 228916 h 391488"/>
                  <a:gd name="connsiteX1" fmla="*/ 0 w 597490"/>
                  <a:gd name="connsiteY1" fmla="*/ 210312 h 391488"/>
                  <a:gd name="connsiteX2" fmla="*/ 130479 w 597490"/>
                  <a:gd name="connsiteY2" fmla="*/ 79833 h 391488"/>
                  <a:gd name="connsiteX3" fmla="*/ 222742 w 597490"/>
                  <a:gd name="connsiteY3" fmla="*/ 118049 h 391488"/>
                  <a:gd name="connsiteX4" fmla="*/ 223530 w 597490"/>
                  <a:gd name="connsiteY4" fmla="*/ 119219 h 391488"/>
                  <a:gd name="connsiteX5" fmla="*/ 231983 w 597490"/>
                  <a:gd name="connsiteY5" fmla="*/ 77352 h 391488"/>
                  <a:gd name="connsiteX6" fmla="*/ 348680 w 597490"/>
                  <a:gd name="connsiteY6" fmla="*/ 0 h 391488"/>
                  <a:gd name="connsiteX7" fmla="*/ 597490 w 597490"/>
                  <a:gd name="connsiteY7" fmla="*/ 0 h 391488"/>
                  <a:gd name="connsiteX8" fmla="*/ 597490 w 597490"/>
                  <a:gd name="connsiteY8" fmla="*/ 391488 h 391488"/>
                  <a:gd name="connsiteX9" fmla="*/ 249949 w 597490"/>
                  <a:gd name="connsiteY9" fmla="*/ 391488 h 391488"/>
                  <a:gd name="connsiteX10" fmla="*/ 231983 w 597490"/>
                  <a:gd name="connsiteY10" fmla="*/ 361875 h 391488"/>
                  <a:gd name="connsiteX11" fmla="*/ 223531 w 597490"/>
                  <a:gd name="connsiteY11" fmla="*/ 320009 h 391488"/>
                  <a:gd name="connsiteX12" fmla="*/ 222742 w 597490"/>
                  <a:gd name="connsiteY12" fmla="*/ 321179 h 391488"/>
                  <a:gd name="connsiteX13" fmla="*/ 130479 w 597490"/>
                  <a:gd name="connsiteY13" fmla="*/ 359395 h 391488"/>
                  <a:gd name="connsiteX14" fmla="*/ 0 w 597490"/>
                  <a:gd name="connsiteY14" fmla="*/ 228916 h 3914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97490" h="391488">
                    <a:moveTo>
                      <a:pt x="0" y="228916"/>
                    </a:moveTo>
                    <a:lnTo>
                      <a:pt x="0" y="210312"/>
                    </a:lnTo>
                    <a:cubicBezTo>
                      <a:pt x="0" y="138250"/>
                      <a:pt x="58417" y="79833"/>
                      <a:pt x="130479" y="79833"/>
                    </a:cubicBezTo>
                    <a:cubicBezTo>
                      <a:pt x="166510" y="79833"/>
                      <a:pt x="199130" y="94437"/>
                      <a:pt x="222742" y="118049"/>
                    </a:cubicBezTo>
                    <a:lnTo>
                      <a:pt x="223530" y="119219"/>
                    </a:lnTo>
                    <a:lnTo>
                      <a:pt x="231983" y="77352"/>
                    </a:lnTo>
                    <a:cubicBezTo>
                      <a:pt x="251209" y="31895"/>
                      <a:pt x="296220" y="0"/>
                      <a:pt x="348680" y="0"/>
                    </a:cubicBezTo>
                    <a:lnTo>
                      <a:pt x="597490" y="0"/>
                    </a:lnTo>
                    <a:lnTo>
                      <a:pt x="597490" y="391488"/>
                    </a:lnTo>
                    <a:lnTo>
                      <a:pt x="249949" y="391488"/>
                    </a:lnTo>
                    <a:lnTo>
                      <a:pt x="231983" y="361875"/>
                    </a:lnTo>
                    <a:lnTo>
                      <a:pt x="223531" y="320009"/>
                    </a:lnTo>
                    <a:lnTo>
                      <a:pt x="222742" y="321179"/>
                    </a:lnTo>
                    <a:cubicBezTo>
                      <a:pt x="199130" y="344791"/>
                      <a:pt x="166510" y="359395"/>
                      <a:pt x="130479" y="359395"/>
                    </a:cubicBezTo>
                    <a:cubicBezTo>
                      <a:pt x="58417" y="359395"/>
                      <a:pt x="0" y="300978"/>
                      <a:pt x="0" y="228916"/>
                    </a:cubicBezTo>
                    <a:close/>
                  </a:path>
                </a:pathLst>
              </a:custGeom>
              <a:solidFill>
                <a:srgbClr val="FF4B16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36AF8C4-6F94-45CA-B90B-9260DAC9EFF5}"/>
              </a:ext>
            </a:extLst>
          </p:cNvPr>
          <p:cNvGrpSpPr/>
          <p:nvPr/>
        </p:nvGrpSpPr>
        <p:grpSpPr>
          <a:xfrm>
            <a:off x="2133600" y="6880357"/>
            <a:ext cx="7924800" cy="3913308"/>
            <a:chOff x="2133600" y="2082336"/>
            <a:chExt cx="7924800" cy="3913308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51367D3-D22A-4A21-AE93-600ECD39C339}"/>
                </a:ext>
              </a:extLst>
            </p:cNvPr>
            <p:cNvGrpSpPr/>
            <p:nvPr/>
          </p:nvGrpSpPr>
          <p:grpSpPr>
            <a:xfrm>
              <a:off x="3905250" y="2082336"/>
              <a:ext cx="4381500" cy="2862322"/>
              <a:chOff x="3043767" y="1545238"/>
              <a:chExt cx="6104466" cy="2862322"/>
            </a:xfrm>
          </p:grpSpPr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97F9C73-3CA4-407C-B49B-19DC431C86E3}"/>
                  </a:ext>
                </a:extLst>
              </p:cNvPr>
              <p:cNvSpPr txBox="1"/>
              <p:nvPr/>
            </p:nvSpPr>
            <p:spPr>
              <a:xfrm>
                <a:off x="3043767" y="1545238"/>
                <a:ext cx="6104466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그 </a:t>
                </a:r>
                <a:r>
                  <a:rPr lang="en-US" altLang="ko-KR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[</a:t>
                </a:r>
                <a:r>
                  <a:rPr lang="ko-KR" altLang="en-US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빈틈</a:t>
                </a:r>
                <a:r>
                  <a:rPr lang="en-US" altLang="ko-KR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]</a:t>
                </a: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이 무엇인지 알기위해서</a:t>
                </a:r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3</a:t>
                </a: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가지 관점으로 고민해보았고</a:t>
                </a:r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90E665-BC0A-479D-9F74-415BFC200293}"/>
                  </a:ext>
                </a:extLst>
              </p:cNvPr>
              <p:cNvSpPr/>
              <p:nvPr/>
            </p:nvSpPr>
            <p:spPr>
              <a:xfrm>
                <a:off x="3256099" y="2099219"/>
                <a:ext cx="5679805" cy="176123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보이스피싱 범죄 수법</a:t>
                </a:r>
                <a:endParaRPr lang="en-US" altLang="ko-KR" sz="1800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||</a:t>
                </a:r>
                <a:b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</a:br>
                <a:r>
                  <a:rPr lang="ko-KR" altLang="en-US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금융사용자가 처한 상황</a:t>
                </a:r>
                <a:endParaRPr lang="en-US" altLang="ko-KR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</a:t>
                </a:r>
                <a:r>
                  <a:rPr lang="en-US" altLang="ko-KR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</a:t>
                </a:r>
                <a:br>
                  <a:rPr lang="en-US" altLang="ko-KR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</a:br>
                <a:r>
                  <a:rPr lang="ko-KR" altLang="en-US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기존 서비스들의 구조</a:t>
                </a:r>
                <a:endParaRPr lang="en-US" altLang="ko-KR" sz="1800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</p:txBody>
          </p:sp>
        </p:grpSp>
        <p:sp>
          <p:nvSpPr>
            <p:cNvPr id="92" name="Text 6">
              <a:extLst>
                <a:ext uri="{FF2B5EF4-FFF2-40B4-BE49-F238E27FC236}">
                  <a16:creationId xmlns:a16="http://schemas.microsoft.com/office/drawing/2014/main" id="{C34DFFF6-76BF-45AE-BABA-11BFB608BA20}"/>
                </a:ext>
              </a:extLst>
            </p:cNvPr>
            <p:cNvSpPr txBox="1"/>
            <p:nvPr/>
          </p:nvSpPr>
          <p:spPr>
            <a:xfrm>
              <a:off x="2133600" y="5120555"/>
              <a:ext cx="7924800" cy="8750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그 결과 놓치고 있던 </a:t>
              </a:r>
              <a:r>
                <a:rPr lang="en-US" altLang="ko-KR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[</a:t>
              </a:r>
              <a:r>
                <a:rPr lang="ko-KR" altLang="en-US" sz="2400" dirty="0">
                  <a:solidFill>
                    <a:srgbClr val="0B1F3A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판단력의 빈틈</a:t>
              </a:r>
              <a:r>
                <a:rPr lang="en-US" altLang="ko-KR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]</a:t>
              </a:r>
              <a:r>
                <a:rPr lang="ko-KR" altLang="en-US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을 찾을 수 있었습니다</a:t>
              </a:r>
              <a:endParaRPr lang="en-US" altLang="ko-KR" sz="2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</p:grpSp>
      <p:sp>
        <p:nvSpPr>
          <p:cNvPr id="95" name="Shape 8">
            <a:extLst>
              <a:ext uri="{FF2B5EF4-FFF2-40B4-BE49-F238E27FC236}">
                <a16:creationId xmlns:a16="http://schemas.microsoft.com/office/drawing/2014/main" id="{68C2BA43-A16F-4F66-A537-7730674DF8FA}"/>
              </a:ext>
            </a:extLst>
          </p:cNvPr>
          <p:cNvSpPr/>
          <p:nvPr/>
        </p:nvSpPr>
        <p:spPr>
          <a:xfrm>
            <a:off x="2752976" y="5710763"/>
            <a:ext cx="6686048" cy="488848"/>
          </a:xfrm>
          <a:prstGeom prst="roundRect">
            <a:avLst>
              <a:gd name="adj" fmla="val 22222"/>
            </a:avLst>
          </a:prstGeom>
          <a:solidFill>
            <a:srgbClr val="123153"/>
          </a:solidFill>
          <a:ln w="10160">
            <a:solidFill>
              <a:srgbClr val="274F78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기존 안전장치에서 지키지 못한 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47%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...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 우리가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 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놓치고 있는 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[</a:t>
            </a:r>
            <a:r>
              <a:rPr lang="ko-KR" altLang="en-US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빈틈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]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이 있는게 아닐까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?</a:t>
            </a: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821E1794-6BFA-400B-A00B-DC2A21C61F47}"/>
              </a:ext>
            </a:extLst>
          </p:cNvPr>
          <p:cNvSpPr txBox="1"/>
          <p:nvPr/>
        </p:nvSpPr>
        <p:spPr>
          <a:xfrm>
            <a:off x="547516" y="6501384"/>
            <a:ext cx="6340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 / 7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D65BB-8A0D-46D8-B1B7-715D79AC61DE}"/>
              </a:ext>
            </a:extLst>
          </p:cNvPr>
          <p:cNvSpPr txBox="1"/>
          <p:nvPr/>
        </p:nvSpPr>
        <p:spPr>
          <a:xfrm>
            <a:off x="368017" y="548759"/>
            <a:ext cx="6760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</a:t>
            </a:r>
            <a:r>
              <a:rPr lang="ko-KR" altLang="en-US" sz="11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[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빈틈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]</a:t>
            </a: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무엇인지 찾기위해 살펴보는 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금융소비자가 처한 상황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서비스의 구조</a:t>
            </a:r>
            <a:endParaRPr lang="ko-KR" altLang="en-US" sz="1100" b="1" dirty="0">
              <a:solidFill>
                <a:srgbClr val="0B1F3A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648FDD6-F913-47C1-BCA5-EFF28971D73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0B1F3A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rgbClr val="0B1F3A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8F033F5-72F0-48F5-B4CD-FEEC97CE269F}"/>
              </a:ext>
            </a:extLst>
          </p:cNvPr>
          <p:cNvSpPr txBox="1"/>
          <p:nvPr/>
        </p:nvSpPr>
        <p:spPr>
          <a:xfrm>
            <a:off x="442381" y="810369"/>
            <a:ext cx="10698480" cy="24869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범죄자들은 심리적 압박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…(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어떤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수법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..?)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결론은 불안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 -&gt; …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판단력 감소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그리고 고립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 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신뢰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나중에 우리 서비스의 방향 떨어진 판단력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..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고립전략을 타파할 수 있어야한다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490449-B03B-4248-9FE4-FEC1B99946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390" r="50118"/>
          <a:stretch/>
        </p:blipFill>
        <p:spPr>
          <a:xfrm>
            <a:off x="7341942" y="2287761"/>
            <a:ext cx="3657451" cy="20009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B2FBD7-8978-4677-9246-EBCFB4A200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185"/>
          <a:stretch/>
        </p:blipFill>
        <p:spPr>
          <a:xfrm>
            <a:off x="3168426" y="1969888"/>
            <a:ext cx="4032049" cy="23244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943CB5-DC92-44C9-8BB4-0A317C93618E}"/>
              </a:ext>
            </a:extLst>
          </p:cNvPr>
          <p:cNvSpPr txBox="1"/>
          <p:nvPr/>
        </p:nvSpPr>
        <p:spPr>
          <a:xfrm>
            <a:off x="7128932" y="645574"/>
            <a:ext cx="66896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어떤 데이터를</a:t>
            </a:r>
            <a:r>
              <a:rPr lang="en-US" altLang="ko-KR" dirty="0"/>
              <a:t>… </a:t>
            </a:r>
            <a:r>
              <a:rPr lang="ko-KR" altLang="en-US" dirty="0"/>
              <a:t>어떤 기준으로 어떻게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이벤트는 무엇</a:t>
            </a:r>
            <a:r>
              <a:rPr lang="en-US" altLang="ko-KR" dirty="0"/>
              <a:t>?(</a:t>
            </a:r>
            <a:r>
              <a:rPr lang="ko-KR" altLang="en-US" dirty="0"/>
              <a:t>사칭</a:t>
            </a:r>
            <a:r>
              <a:rPr lang="en-US" altLang="ko-KR" dirty="0"/>
              <a:t>, </a:t>
            </a:r>
            <a:r>
              <a:rPr lang="ko-KR" altLang="en-US" dirty="0"/>
              <a:t>심리</a:t>
            </a:r>
            <a:r>
              <a:rPr lang="en-US" altLang="ko-KR" dirty="0"/>
              <a:t>, </a:t>
            </a:r>
            <a:r>
              <a:rPr lang="ko-KR" altLang="en-US" dirty="0"/>
              <a:t>행동유도</a:t>
            </a:r>
            <a:r>
              <a:rPr lang="en-US" altLang="ko-KR" dirty="0"/>
              <a:t>, </a:t>
            </a:r>
            <a:r>
              <a:rPr lang="ko-KR" altLang="en-US" dirty="0"/>
              <a:t>송금유도</a:t>
            </a:r>
            <a:r>
              <a:rPr lang="en-US" altLang="ko-KR" dirty="0"/>
              <a:t>, </a:t>
            </a:r>
            <a:r>
              <a:rPr lang="ko-KR" altLang="en-US" dirty="0"/>
              <a:t>돈 이벤트 등</a:t>
            </a:r>
            <a:r>
              <a:rPr lang="en-US" altLang="ko-KR" dirty="0"/>
              <a:t>…)</a:t>
            </a:r>
            <a:endParaRPr lang="ko-KR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D14EBE-C529-45CE-86E7-0CEAC719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458" y="4423574"/>
            <a:ext cx="7332133" cy="2000954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DE3EC12-8032-4C2F-B9DE-F0FD521D70FB}"/>
              </a:ext>
            </a:extLst>
          </p:cNvPr>
          <p:cNvGrpSpPr/>
          <p:nvPr/>
        </p:nvGrpSpPr>
        <p:grpSpPr>
          <a:xfrm>
            <a:off x="8025350" y="4566530"/>
            <a:ext cx="3436598" cy="2063802"/>
            <a:chOff x="383814" y="2377815"/>
            <a:chExt cx="3436598" cy="206380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AEA18EB-E211-4DDC-A0E1-DAD096840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814" y="2377815"/>
              <a:ext cx="3436598" cy="206380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3F6A98-5C9F-44DE-BD20-B5477F813041}"/>
                </a:ext>
              </a:extLst>
            </p:cNvPr>
            <p:cNvSpPr/>
            <p:nvPr/>
          </p:nvSpPr>
          <p:spPr>
            <a:xfrm>
              <a:off x="1866617" y="3297338"/>
              <a:ext cx="1797333" cy="826090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/>
                <a:t>Top4 </a:t>
              </a:r>
              <a:r>
                <a:rPr lang="ko-KR" altLang="en-US" sz="800" dirty="0"/>
                <a:t>은행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검찰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카드사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경찰</a:t>
              </a:r>
              <a:endParaRPr lang="en-US" altLang="ko-KR" sz="800" dirty="0"/>
            </a:p>
            <a:p>
              <a:pPr algn="ctr"/>
              <a:r>
                <a:rPr lang="en-US" altLang="ko-KR" sz="800" dirty="0"/>
                <a:t>-&gt; </a:t>
              </a:r>
              <a:r>
                <a:rPr lang="ko-KR" altLang="en-US" sz="800" dirty="0"/>
                <a:t>권위와 신뢰 형성</a:t>
              </a:r>
              <a:r>
                <a:rPr lang="en-US" altLang="ko-KR" sz="800" dirty="0"/>
                <a:t>…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9621A19B-CF20-43CB-8275-D6881B896779}"/>
              </a:ext>
            </a:extLst>
          </p:cNvPr>
          <p:cNvSpPr/>
          <p:nvPr/>
        </p:nvSpPr>
        <p:spPr>
          <a:xfrm>
            <a:off x="4800196" y="2829486"/>
            <a:ext cx="1619671" cy="694428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거의 대부분 이벤트에서</a:t>
            </a:r>
            <a:endParaRPr lang="en-US" altLang="ko-KR" sz="800" dirty="0"/>
          </a:p>
          <a:p>
            <a:pPr algn="ctr"/>
            <a:r>
              <a:rPr lang="ko-KR" altLang="en-US" sz="800" dirty="0"/>
              <a:t>심리 전략 사용</a:t>
            </a:r>
            <a:r>
              <a:rPr lang="en-US" altLang="ko-KR" sz="800" dirty="0"/>
              <a:t>…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13EC6B-2667-4D40-86EE-72160A55EE5B}"/>
              </a:ext>
            </a:extLst>
          </p:cNvPr>
          <p:cNvSpPr/>
          <p:nvPr/>
        </p:nvSpPr>
        <p:spPr>
          <a:xfrm>
            <a:off x="9193418" y="3331136"/>
            <a:ext cx="1619671" cy="694428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심리전략은 이런것들을 주로 쓰더라</a:t>
            </a:r>
            <a:endParaRPr lang="en-US" altLang="ko-KR" sz="8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AC822-F01E-4D72-8A0E-964FDB628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5909" y="2261203"/>
            <a:ext cx="3237153" cy="1928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DFA14E9-715C-41CF-B3EC-324BB093C70D}"/>
              </a:ext>
            </a:extLst>
          </p:cNvPr>
          <p:cNvSpPr/>
          <p:nvPr/>
        </p:nvSpPr>
        <p:spPr>
          <a:xfrm>
            <a:off x="1378911" y="2375350"/>
            <a:ext cx="8826500" cy="3862420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범죄자들이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방법</a:t>
            </a:r>
            <a:r>
              <a:rPr lang="en-US" altLang="ko-KR" dirty="0">
                <a:solidFill>
                  <a:schemeClr val="bg1"/>
                </a:solidFill>
              </a:rPr>
              <a:t>: </a:t>
            </a:r>
            <a:r>
              <a:rPr lang="ko-KR" altLang="en-US" dirty="0">
                <a:solidFill>
                  <a:schemeClr val="bg1"/>
                </a:solidFill>
              </a:rPr>
              <a:t>크게 </a:t>
            </a:r>
            <a:r>
              <a:rPr lang="en-US" altLang="ko-KR" dirty="0">
                <a:solidFill>
                  <a:schemeClr val="bg1"/>
                </a:solidFill>
              </a:rPr>
              <a:t>= </a:t>
            </a:r>
            <a:r>
              <a:rPr lang="ko-KR" altLang="en-US" dirty="0">
                <a:solidFill>
                  <a:schemeClr val="bg1"/>
                </a:solidFill>
              </a:rPr>
              <a:t>신뢰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권위 등</a:t>
            </a:r>
            <a:r>
              <a:rPr lang="en-US" altLang="ko-KR" dirty="0">
                <a:solidFill>
                  <a:schemeClr val="bg1"/>
                </a:solidFill>
              </a:rPr>
              <a:t>… -&gt;</a:t>
            </a:r>
            <a:r>
              <a:rPr lang="ko-KR" altLang="en-US" dirty="0">
                <a:solidFill>
                  <a:schemeClr val="bg1"/>
                </a:solidFill>
              </a:rPr>
              <a:t> 판단 오류 유발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이유</a:t>
            </a:r>
            <a:r>
              <a:rPr lang="en-US" altLang="ko-KR" dirty="0">
                <a:solidFill>
                  <a:schemeClr val="bg1"/>
                </a:solidFill>
              </a:rPr>
              <a:t>: </a:t>
            </a:r>
            <a:r>
              <a:rPr lang="ko-KR" altLang="en-US" dirty="0">
                <a:solidFill>
                  <a:schemeClr val="bg1"/>
                </a:solidFill>
              </a:rPr>
              <a:t>주도권 가지기 위해서 이고</a:t>
            </a:r>
            <a:r>
              <a:rPr lang="en-US" altLang="ko-KR" dirty="0">
                <a:solidFill>
                  <a:schemeClr val="bg1"/>
                </a:solidFill>
              </a:rPr>
              <a:t>..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개인 사람들 피해자들은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직접 판단을 할 때 오류가 생기고 있더라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 오류를 우회할 수 있는 전략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필ㄷ요</a:t>
            </a:r>
          </a:p>
        </p:txBody>
      </p:sp>
    </p:spTree>
    <p:extLst>
      <p:ext uri="{BB962C8B-B14F-4D97-AF65-F5344CB8AC3E}">
        <p14:creationId xmlns:p14="http://schemas.microsoft.com/office/powerpoint/2010/main" val="833712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>
            <a:extLst>
              <a:ext uri="{FF2B5EF4-FFF2-40B4-BE49-F238E27FC236}">
                <a16:creationId xmlns:a16="http://schemas.microsoft.com/office/drawing/2014/main" id="{AD408514-4604-424D-9C23-A363EA469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97869" y="4559300"/>
            <a:ext cx="3597869" cy="218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D64288-A7CC-4131-B11A-A956DF455795}"/>
              </a:ext>
            </a:extLst>
          </p:cNvPr>
          <p:cNvSpPr txBox="1"/>
          <p:nvPr/>
        </p:nvSpPr>
        <p:spPr>
          <a:xfrm>
            <a:off x="1196975" y="45616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피해자의 판단 환경을 장악하는 행동</a:t>
            </a:r>
            <a:r>
              <a:rPr lang="en-US" altLang="ko-KR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/</a:t>
            </a:r>
            <a:r>
              <a:rPr lang="ko-KR" alt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전략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4C0328-673F-416D-94BD-D9B6ED274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62" y="4250517"/>
            <a:ext cx="4582368" cy="21513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7C5E37-EC4E-4B72-8C44-112D4146C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62" y="1634637"/>
            <a:ext cx="4495782" cy="240441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3DAE368-B29E-4D2E-A6F7-9D157BFCE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995264"/>
              </p:ext>
            </p:extLst>
          </p:nvPr>
        </p:nvGraphicFramePr>
        <p:xfrm>
          <a:off x="1479550" y="8919413"/>
          <a:ext cx="10515600" cy="21945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0267419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969295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35712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471643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67805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endParaRPr lang="ko-KR" altLang="en-US" b="1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구분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사건수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전체사건수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발생률</a:t>
                      </a:r>
                      <a:r>
                        <a:rPr lang="en-US" altLang="ko-KR" b="1">
                          <a:effectLst/>
                        </a:rPr>
                        <a:t>(%)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75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긴급성</a:t>
                      </a:r>
                      <a:r>
                        <a:rPr lang="en-US" altLang="ko-KR">
                          <a:effectLst/>
                        </a:rPr>
                        <a:t>·</a:t>
                      </a:r>
                      <a:r>
                        <a:rPr lang="ko-KR" altLang="en-US">
                          <a:effectLst/>
                        </a:rPr>
                        <a:t>시간 압박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515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66.4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676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고립</a:t>
                      </a:r>
                      <a:r>
                        <a:rPr lang="en-US" altLang="ko-KR">
                          <a:effectLst/>
                        </a:rPr>
                        <a:t>·</a:t>
                      </a:r>
                      <a:r>
                        <a:rPr lang="ko-KR" altLang="en-US">
                          <a:effectLst/>
                        </a:rPr>
                        <a:t>비밀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4.3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5974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행동 통제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27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3348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외부 연락 차단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557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통화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dirty="0">
                          <a:effectLst/>
                        </a:rPr>
                        <a:t>2.2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8165749"/>
                  </a:ext>
                </a:extLst>
              </a:tr>
            </a:tbl>
          </a:graphicData>
        </a:graphic>
      </p:graphicFrame>
      <p:sp>
        <p:nvSpPr>
          <p:cNvPr id="10" name="Rectangle 1">
            <a:extLst>
              <a:ext uri="{FF2B5EF4-FFF2-40B4-BE49-F238E27FC236}">
                <a16:creationId xmlns:a16="http://schemas.microsoft.com/office/drawing/2014/main" id="{60DF3295-4540-44D7-AB95-A18C85ACB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993638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FAA87-EABD-4774-B0C1-5C0BF10039F1}"/>
              </a:ext>
            </a:extLst>
          </p:cNvPr>
          <p:cNvSpPr txBox="1"/>
          <p:nvPr/>
        </p:nvSpPr>
        <p:spPr>
          <a:xfrm>
            <a:off x="3498850" y="6613301"/>
            <a:ext cx="78994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Arial Unicode MS"/>
                <a:ea typeface="Google Sans Text"/>
              </a:rPr>
              <a:t>============================================== 피해자의 판단 환경을 장악하는 행동/전략 ============================================== 전체 사건 : 776건 해당 사건 : 521건 전체 대비 발생률 : 67.1% ============================================== [세부 구성요소별 발생률] 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CD7C13-539E-464D-B270-5C7A1DEDFB53}"/>
              </a:ext>
            </a:extLst>
          </p:cNvPr>
          <p:cNvSpPr txBox="1"/>
          <p:nvPr/>
        </p:nvSpPr>
        <p:spPr>
          <a:xfrm>
            <a:off x="5448300" y="4728686"/>
            <a:ext cx="842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종합: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판단 환경 장악 신호가 하나라도 나타난 사건 →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67.1%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세부: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어떤 방식으로 판단 환경을 장악하는지 → 긴급성 66.4%, 고립 4.3% 등 </a:t>
            </a:r>
          </a:p>
        </p:txBody>
      </p:sp>
    </p:spTree>
    <p:extLst>
      <p:ext uri="{BB962C8B-B14F-4D97-AF65-F5344CB8AC3E}">
        <p14:creationId xmlns:p14="http://schemas.microsoft.com/office/powerpoint/2010/main" val="1717084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372534" y="365668"/>
            <a:ext cx="3602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이런 방식에 사람들은 취약하다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  <a:r>
              <a:rPr lang="en-US" altLang="ko-KR" dirty="0">
                <a:solidFill>
                  <a:schemeClr val="bg1"/>
                </a:solidFill>
              </a:rPr>
              <a:t>…?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수법의 취약성</a:t>
            </a:r>
            <a:r>
              <a:rPr lang="en-US" altLang="ko-KR" dirty="0">
                <a:solidFill>
                  <a:schemeClr val="bg1"/>
                </a:solidFill>
              </a:rPr>
              <a:t>...!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35438" y="1882464"/>
            <a:ext cx="17034276" cy="154653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005666" y="4241798"/>
            <a:ext cx="6002867" cy="1805001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 데이터 등 각 연령과 사람들의 취약점 분석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EA4142-9D3C-4464-A26F-0AF5C5131CD0}"/>
              </a:ext>
            </a:extLst>
          </p:cNvPr>
          <p:cNvSpPr txBox="1"/>
          <p:nvPr/>
        </p:nvSpPr>
        <p:spPr>
          <a:xfrm>
            <a:off x="5337175" y="1991836"/>
            <a:ext cx="61023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2023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년 ‘한국심리학회지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발달’에 발표한 논문에서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20~86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세 성인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299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명을 성인초기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중년기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노년기로 나눠 사기 취약성을 비교했다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그 결과 노년기는 오히려 성인초기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중년기보다 경계심과 충동성이 낮게 나타났고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세상은 정의롭다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는 믿음은 노년기가 성인초기보다 높았다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5ACC77-BFD4-4F30-8EB3-7342DFF94702}"/>
              </a:ext>
            </a:extLst>
          </p:cNvPr>
          <p:cNvSpPr txBox="1"/>
          <p:nvPr/>
        </p:nvSpPr>
        <p:spPr>
          <a:xfrm>
            <a:off x="5337175" y="3933736"/>
            <a:ext cx="6102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즉 판단력이 흐려져서가 아니라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오랜 세월 쌓아온 ‘사람과 세상에 대한 신뢰’가 오히려 방심의 틈을 만드는 것이다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자녀나 지인을 사칭한 목소리에 먼저 의심보다 걱정이 앞서는 것도 같은 맥락으로 볼 수 있다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88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31D9757-E397-44C4-B513-E132CCE48C52}"/>
              </a:ext>
            </a:extLst>
          </p:cNvPr>
          <p:cNvGrpSpPr/>
          <p:nvPr/>
        </p:nvGrpSpPr>
        <p:grpSpPr>
          <a:xfrm>
            <a:off x="2523066" y="609599"/>
            <a:ext cx="7281334" cy="4673601"/>
            <a:chOff x="2523066" y="1092199"/>
            <a:chExt cx="7281334" cy="467360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9682248-C6B7-49FB-BFC6-15C6BBD36ADB}"/>
                </a:ext>
              </a:extLst>
            </p:cNvPr>
            <p:cNvSpPr/>
            <p:nvPr/>
          </p:nvSpPr>
          <p:spPr>
            <a:xfrm>
              <a:off x="2523066" y="1092199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 algn="ctr">
                <a:buAutoNum type="arabicPeriod"/>
              </a:pPr>
              <a:r>
                <a:rPr lang="ko-KR" altLang="en-US" dirty="0"/>
                <a:t>범죄자 수법</a:t>
              </a:r>
              <a:endParaRPr lang="en-US" altLang="ko-KR" dirty="0"/>
            </a:p>
            <a:p>
              <a:pPr algn="ctr"/>
              <a:r>
                <a:rPr lang="ko-KR" altLang="en-US" dirty="0"/>
                <a:t>판단의 오류를 만들려고함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89BF5F-4C09-4932-9F99-98603EBEB45E}"/>
                </a:ext>
              </a:extLst>
            </p:cNvPr>
            <p:cNvSpPr/>
            <p:nvPr/>
          </p:nvSpPr>
          <p:spPr>
            <a:xfrm>
              <a:off x="2523066" y="2709333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2. </a:t>
              </a:r>
              <a:r>
                <a:rPr lang="ko-KR" altLang="en-US" dirty="0"/>
                <a:t>피해자 특징</a:t>
              </a:r>
              <a:endParaRPr lang="en-US" altLang="ko-KR" dirty="0"/>
            </a:p>
            <a:p>
              <a:pPr algn="ctr"/>
              <a:r>
                <a:rPr lang="ko-KR" altLang="en-US" dirty="0"/>
                <a:t>판단의 오류가 발생하면 피해 취약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C6644F8-C08D-448C-AE92-12E21B9B8AA1}"/>
                </a:ext>
              </a:extLst>
            </p:cNvPr>
            <p:cNvSpPr/>
            <p:nvPr/>
          </p:nvSpPr>
          <p:spPr>
            <a:xfrm>
              <a:off x="2523066" y="4326467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3. </a:t>
              </a:r>
              <a:r>
                <a:rPr lang="ko-KR" altLang="en-US" dirty="0"/>
                <a:t>현재 솔루션 </a:t>
              </a:r>
              <a:r>
                <a:rPr lang="en-US" altLang="ko-KR" dirty="0"/>
                <a:t>= </a:t>
              </a:r>
              <a:r>
                <a:rPr lang="ko-KR" altLang="en-US" dirty="0"/>
                <a:t>서비스들의 구조</a:t>
              </a:r>
              <a:endParaRPr lang="en-US" altLang="ko-KR" dirty="0"/>
            </a:p>
            <a:p>
              <a:pPr algn="ctr"/>
              <a:r>
                <a:rPr lang="ko-KR" altLang="en-US" dirty="0"/>
                <a:t>최종 판단을 당사자가 직접하게 하는 부분들이 있다</a:t>
              </a:r>
              <a:r>
                <a:rPr lang="en-US" altLang="ko-KR" dirty="0"/>
                <a:t>.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38040D1-6C0E-437A-9963-A4B54715E14C}"/>
              </a:ext>
            </a:extLst>
          </p:cNvPr>
          <p:cNvSpPr txBox="1"/>
          <p:nvPr/>
        </p:nvSpPr>
        <p:spPr>
          <a:xfrm>
            <a:off x="2002978" y="5684336"/>
            <a:ext cx="832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종합 결론</a:t>
            </a:r>
            <a:r>
              <a:rPr lang="en-US" altLang="ko-KR" dirty="0"/>
              <a:t>: </a:t>
            </a:r>
            <a:r>
              <a:rPr lang="ko-KR" altLang="en-US" dirty="0"/>
              <a:t>판단 오류의 위험</a:t>
            </a:r>
            <a:r>
              <a:rPr lang="en-US" altLang="ko-KR" dirty="0"/>
              <a:t>… </a:t>
            </a:r>
            <a:r>
              <a:rPr lang="ko-KR" altLang="en-US" dirty="0"/>
              <a:t>그리고 판단을 해야하는 주체가 피해 당사자임</a:t>
            </a:r>
            <a:r>
              <a:rPr lang="en-US" altLang="ko-KR" dirty="0"/>
              <a:t>…</a:t>
            </a:r>
            <a:br>
              <a:rPr lang="en-US" altLang="ko-KR" dirty="0"/>
            </a:br>
            <a:r>
              <a:rPr lang="ko-KR" altLang="en-US" dirty="0"/>
              <a:t>그래서 우리는 판단을 </a:t>
            </a:r>
            <a:r>
              <a:rPr lang="en-US" altLang="ko-KR" dirty="0"/>
              <a:t>AI</a:t>
            </a:r>
            <a:r>
              <a:rPr lang="ko-KR" altLang="en-US" dirty="0"/>
              <a:t>와 제</a:t>
            </a:r>
            <a:r>
              <a:rPr lang="en-US" altLang="ko-KR" dirty="0"/>
              <a:t>3</a:t>
            </a:r>
            <a:r>
              <a:rPr lang="ko-KR" altLang="en-US" dirty="0"/>
              <a:t>자의 도움을 받도록 해주는 것</a:t>
            </a:r>
          </a:p>
        </p:txBody>
      </p:sp>
    </p:spTree>
    <p:extLst>
      <p:ext uri="{BB962C8B-B14F-4D97-AF65-F5344CB8AC3E}">
        <p14:creationId xmlns:p14="http://schemas.microsoft.com/office/powerpoint/2010/main" val="1890720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643651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보이스피싱 범죄에 노출된 금융소비자의 여정 속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… ASAP, FDS</a:t>
            </a: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를 비롯한 다양한 안정장치들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…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857186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기존 안전장치는 이미 여러 피해 단계에서 작동하고 있었다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그럼에도 해결되지 않는 영역과 우리가 놓치고 있는 공백은 무엇일까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33DAD100-AA45-4F56-B2C4-2B207E7BD4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648704"/>
              </p:ext>
            </p:extLst>
          </p:nvPr>
        </p:nvGraphicFramePr>
        <p:xfrm>
          <a:off x="456819" y="2047875"/>
          <a:ext cx="7883008" cy="4340077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전화 수신 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위험번호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·AI 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번호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신고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차단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 중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SKT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에이닷 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/ LG U+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통화내용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키워드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 </a:t>
                      </a:r>
                      <a:r>
                        <a:rPr lang="ko-KR" altLang="en-US" sz="1000" b="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중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 제</a:t>
                      </a:r>
                      <a:r>
                        <a:rPr lang="en-US" altLang="ko-KR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3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자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SKT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AI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가족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지인 알림</a:t>
                      </a:r>
                      <a:endParaRPr lang="en-US" altLang="ko-KR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-&gt;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통화중인 당사자의 판단이 그대로 피해로 이어지는 구간은 여전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…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5701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음성</a:t>
                      </a:r>
                      <a:r>
                        <a:rPr lang="en-US" altLang="ko-KR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성문 탐지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LG U+·KT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성문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실증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 → 금융 연계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LG U+ × KB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피싱 의심정보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악성앱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 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업무협약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금융거래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접속정보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거래내역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탐지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위험정보 공유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지급정지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latin typeface="페이퍼로지 4 Regular" pitchFamily="2" charset="-127"/>
                          <a:ea typeface="페이퍼로지 4 Regular" pitchFamily="2" charset="-127"/>
                        </a:rPr>
                        <a:t>송금 단계</a:t>
                      </a:r>
                      <a:endParaRPr lang="ko-KR" altLang="en-US" sz="10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지연이체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거래지연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5701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 이후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지급정지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69250FB-21EB-481E-8E37-E1DB3FD01FE7}"/>
              </a:ext>
            </a:extLst>
          </p:cNvPr>
          <p:cNvSpPr/>
          <p:nvPr/>
        </p:nvSpPr>
        <p:spPr>
          <a:xfrm>
            <a:off x="8448294" y="2047875"/>
            <a:ext cx="3400806" cy="4340076"/>
          </a:xfrm>
          <a:prstGeom prst="rect">
            <a:avLst/>
          </a:prstGeom>
          <a:solidFill>
            <a:schemeClr val="bg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번호·통신 위험정보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통화내용·대화패턴 AI 분석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계좌·거래·통신·수사 Risk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신고 / 지급정지 / 피해환급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88EB88-DB0A-466C-9B94-80BDD4D750EB}"/>
              </a:ext>
            </a:extLst>
          </p:cNvPr>
          <p:cNvSpPr/>
          <p:nvPr/>
        </p:nvSpPr>
        <p:spPr>
          <a:xfrm>
            <a:off x="13084302" y="3332384"/>
            <a:ext cx="2762250" cy="2611567"/>
          </a:xfrm>
          <a:prstGeom prst="rect">
            <a:avLst/>
          </a:prstGeom>
          <a:solidFill>
            <a:srgbClr val="FF00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/>
              <a:t>수정 필요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045D07-90C5-4805-8AE0-7FFBCCEA0E9D}"/>
              </a:ext>
            </a:extLst>
          </p:cNvPr>
          <p:cNvSpPr/>
          <p:nvPr/>
        </p:nvSpPr>
        <p:spPr>
          <a:xfrm>
            <a:off x="2523066" y="-1033098"/>
            <a:ext cx="7281334" cy="143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3. </a:t>
            </a:r>
            <a:r>
              <a:rPr lang="ko-KR" altLang="en-US" dirty="0"/>
              <a:t>현재 솔루션 </a:t>
            </a:r>
            <a:r>
              <a:rPr lang="en-US" altLang="ko-KR" dirty="0"/>
              <a:t>= </a:t>
            </a:r>
            <a:r>
              <a:rPr lang="ko-KR" altLang="en-US" dirty="0"/>
              <a:t>서비스들의 구조</a:t>
            </a:r>
            <a:endParaRPr lang="en-US" altLang="ko-KR" dirty="0"/>
          </a:p>
          <a:p>
            <a:pPr algn="ctr"/>
            <a:r>
              <a:rPr lang="ko-KR" altLang="en-US" dirty="0"/>
              <a:t>최종 판단을 당사자가 직접하게 하는 부분들이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558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F67805-0B01-4F68-8211-7D5FA8DD75A3}"/>
              </a:ext>
            </a:extLst>
          </p:cNvPr>
          <p:cNvSpPr/>
          <p:nvPr/>
        </p:nvSpPr>
        <p:spPr>
          <a:xfrm>
            <a:off x="1071282" y="968188"/>
            <a:ext cx="10049435" cy="5074023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Ai </a:t>
            </a:r>
            <a:r>
              <a:rPr lang="ko-KR" altLang="en-US" dirty="0">
                <a:solidFill>
                  <a:schemeClr val="bg1"/>
                </a:solidFill>
              </a:rPr>
              <a:t>활용도 주로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진단</a:t>
            </a:r>
            <a:r>
              <a:rPr lang="en-US" altLang="ko-KR" dirty="0">
                <a:solidFill>
                  <a:schemeClr val="bg1"/>
                </a:solidFill>
              </a:rPr>
              <a:t> -&gt; </a:t>
            </a:r>
            <a:r>
              <a:rPr lang="ko-KR" altLang="en-US" dirty="0">
                <a:solidFill>
                  <a:schemeClr val="bg1"/>
                </a:solidFill>
              </a:rPr>
              <a:t>안내의 구조인데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 경우에는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보통 최종 결정을 혼자 해야함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여기에서 생기는 문제를 막을 수 없더라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24765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피해자의 판단 환경 자체를 조작한다</a:t>
            </a:r>
            <a:endParaRPr lang="en-US" altLang="ko-KR" sz="1530" b="1" dirty="0">
              <a:solidFill>
                <a:srgbClr val="10213D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641848" y="1988820"/>
            <a:ext cx="5367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판단을 돕는 역할을 하는 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솔루션들이 많지만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실제적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·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최종 판단은 개인이 해야 했다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.</a:t>
            </a:r>
          </a:p>
          <a:p>
            <a:pPr marL="0" indent="0" algn="r">
              <a:buNone/>
            </a:pP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그런데 보이스피싱 범죄자가 피해자의 판단 환경 자체를 조작하여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, 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판단력에 균열을 만든다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가</a:t>
            </a: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291840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ko-KR" altLang="en-US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판단력이 흐려진 피해자가 직접 판단하게 해서는 안된다</a:t>
            </a:r>
            <a:r>
              <a:rPr lang="en-US" altLang="ko-KR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</a:p>
          <a:p>
            <a:pPr marL="0" indent="0" algn="r">
              <a:buNone/>
            </a:pPr>
            <a:r>
              <a:rPr lang="en-US" sz="1150" dirty="0" err="1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</a:t>
            </a:r>
            <a:r>
              <a:rPr lang="en-US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밖에서 보는 독립적인 제3자의 검토가 필요하다.</a:t>
            </a:r>
            <a:endParaRPr lang="en-US" sz="1150" dirty="0">
              <a:solidFill>
                <a:srgbClr val="FF4B16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7" y="4251960"/>
            <a:ext cx="54460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피해자가 직접 판단하기 어려운 상황에 제 </a:t>
            </a:r>
            <a:r>
              <a:rPr lang="en-US" altLang="ko-KR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3</a:t>
            </a: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자의 도움이 필요할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를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어떻게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사용하는가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461684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391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94360" y="778923"/>
            <a:ext cx="11164824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최근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3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동안 보이스피싱 피해 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63,101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조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 5,595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억원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평균 피해액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우상향</a:t>
            </a:r>
            <a:endParaRPr lang="en-US" altLang="ko-KR" sz="2200" dirty="0">
              <a:solidFill>
                <a:srgbClr val="FF4B16"/>
              </a:solidFill>
              <a:latin typeface="페이퍼로지 7 Bold" pitchFamily="2" charset="-127"/>
              <a:ea typeface="페이퍼로지 7 Bold" pitchFamily="2" charset="-127"/>
              <a:cs typeface="NanumSquare" pitchFamily="34" charset="-120"/>
            </a:endParaRPr>
          </a:p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 이어지는 심각한 상황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94360" y="5805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600456" y="4521201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10836" y="4683614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55688" y="4616027"/>
            <a:ext cx="3656903" cy="1551360"/>
            <a:chOff x="7640448" y="4533932"/>
            <a:chExt cx="3656903" cy="15513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33932"/>
              <a:ext cx="3656903" cy="1551360"/>
              <a:chOff x="7640448" y="4533932"/>
              <a:chExt cx="3656903" cy="15513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33932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59C38F3-DD12-4712-89C3-9BF15E7AF1AD}"/>
              </a:ext>
            </a:extLst>
          </p:cNvPr>
          <p:cNvGrpSpPr/>
          <p:nvPr/>
        </p:nvGrpSpPr>
        <p:grpSpPr>
          <a:xfrm>
            <a:off x="1919951" y="1775283"/>
            <a:ext cx="3792913" cy="2514600"/>
            <a:chOff x="1919951" y="1775283"/>
            <a:chExt cx="3792913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1919951" y="1775283"/>
              <a:ext cx="3792913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855B79-622D-459E-A7F5-4F42EB704F63}"/>
                </a:ext>
              </a:extLst>
            </p:cNvPr>
            <p:cNvSpPr txBox="1"/>
            <p:nvPr/>
          </p:nvSpPr>
          <p:spPr>
            <a:xfrm>
              <a:off x="2073268" y="1868848"/>
              <a:ext cx="348627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최근 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3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년 동안 보이스피싱 피해 수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피해액</a:t>
              </a:r>
              <a:endParaRPr lang="ko-KR" altLang="en-US" sz="1000" dirty="0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FFC5723-4DEE-4D04-A123-AE63B57956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8179"/>
            <a:stretch/>
          </p:blipFill>
          <p:spPr>
            <a:xfrm>
              <a:off x="1966999" y="2186073"/>
              <a:ext cx="3698816" cy="2024053"/>
            </a:xfrm>
            <a:prstGeom prst="rect">
              <a:avLst/>
            </a:prstGeom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F7FA650-E59B-4D90-AE83-565419B0F87C}"/>
                </a:ext>
              </a:extLst>
            </p:cNvPr>
            <p:cNvSpPr/>
            <p:nvPr/>
          </p:nvSpPr>
          <p:spPr>
            <a:xfrm>
              <a:off x="4672042" y="2496299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E66867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728A668-21CC-46BF-889F-22359C7120BA}"/>
                </a:ext>
              </a:extLst>
            </p:cNvPr>
            <p:cNvSpPr/>
            <p:nvPr/>
          </p:nvSpPr>
          <p:spPr>
            <a:xfrm>
              <a:off x="3606857" y="2982567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5E85B0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C85894-88E6-4F07-8E66-A466C89171BD}"/>
                </a:ext>
              </a:extLst>
            </p:cNvPr>
            <p:cNvSpPr/>
            <p:nvPr/>
          </p:nvSpPr>
          <p:spPr>
            <a:xfrm>
              <a:off x="2475450" y="3512791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5E85B0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489E0E6-8AB9-4BC7-B11E-6A1D96655615}"/>
                </a:ext>
              </a:extLst>
            </p:cNvPr>
            <p:cNvSpPr txBox="1"/>
            <p:nvPr/>
          </p:nvSpPr>
          <p:spPr>
            <a:xfrm>
              <a:off x="4555960" y="2511342"/>
              <a:ext cx="66396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조</a:t>
              </a:r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2,578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C943AF0-406E-4014-976C-76FA4313DF4F}"/>
                </a:ext>
              </a:extLst>
            </p:cNvPr>
            <p:cNvSpPr txBox="1"/>
            <p:nvPr/>
          </p:nvSpPr>
          <p:spPr>
            <a:xfrm>
              <a:off x="3543736" y="2982567"/>
              <a:ext cx="54534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8,545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8EFCB8E-12A4-419B-948F-489429AF1ED8}"/>
                </a:ext>
              </a:extLst>
            </p:cNvPr>
            <p:cNvSpPr txBox="1"/>
            <p:nvPr/>
          </p:nvSpPr>
          <p:spPr>
            <a:xfrm>
              <a:off x="2475450" y="3475650"/>
              <a:ext cx="54534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4,472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4D1721-0F44-4001-ADBD-3E9A3C2A3D87}"/>
                </a:ext>
              </a:extLst>
            </p:cNvPr>
            <p:cNvSpPr/>
            <p:nvPr/>
          </p:nvSpPr>
          <p:spPr>
            <a:xfrm>
              <a:off x="2620992" y="4048125"/>
              <a:ext cx="2403475" cy="130583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2BF741-D119-4911-90BB-F040E7318E90}"/>
                </a:ext>
              </a:extLst>
            </p:cNvPr>
            <p:cNvSpPr txBox="1"/>
            <p:nvPr/>
          </p:nvSpPr>
          <p:spPr>
            <a:xfrm>
              <a:off x="2553196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2023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A4CE8A04-3A89-45D7-BEE1-2EC5B28651D0}"/>
                </a:ext>
              </a:extLst>
            </p:cNvPr>
            <p:cNvSpPr txBox="1"/>
            <p:nvPr/>
          </p:nvSpPr>
          <p:spPr>
            <a:xfrm>
              <a:off x="3640520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2024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4A21AB6A-B73B-49BF-8F2B-43C4CF722297}"/>
                </a:ext>
              </a:extLst>
            </p:cNvPr>
            <p:cNvSpPr txBox="1"/>
            <p:nvPr/>
          </p:nvSpPr>
          <p:spPr>
            <a:xfrm>
              <a:off x="4703960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2025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4EC5B3E-8FE6-4BD4-9B6D-8500FBAA2732}"/>
                </a:ext>
              </a:extLst>
            </p:cNvPr>
            <p:cNvSpPr/>
            <p:nvPr/>
          </p:nvSpPr>
          <p:spPr>
            <a:xfrm>
              <a:off x="4753258" y="2331276"/>
              <a:ext cx="288131" cy="100309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B7AD2F61-975F-41C4-9789-1180181056D9}"/>
                </a:ext>
              </a:extLst>
            </p:cNvPr>
            <p:cNvSpPr/>
            <p:nvPr/>
          </p:nvSpPr>
          <p:spPr>
            <a:xfrm>
              <a:off x="3700745" y="2476135"/>
              <a:ext cx="234416" cy="119533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122DE53-CFC1-469F-AFC5-1680C72FDA61}"/>
                </a:ext>
              </a:extLst>
            </p:cNvPr>
            <p:cNvSpPr txBox="1"/>
            <p:nvPr/>
          </p:nvSpPr>
          <p:spPr>
            <a:xfrm>
              <a:off x="4632667" y="2285959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23,260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C287651B-CC2C-4231-A006-2DB4404D736B}"/>
                </a:ext>
              </a:extLst>
            </p:cNvPr>
            <p:cNvSpPr txBox="1"/>
            <p:nvPr/>
          </p:nvSpPr>
          <p:spPr>
            <a:xfrm>
              <a:off x="3572429" y="2441886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20,839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B3DC7ABC-F765-4827-842F-F76605CAF12C}"/>
                </a:ext>
              </a:extLst>
            </p:cNvPr>
            <p:cNvSpPr/>
            <p:nvPr/>
          </p:nvSpPr>
          <p:spPr>
            <a:xfrm>
              <a:off x="2623249" y="2643173"/>
              <a:ext cx="234416" cy="7108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3BFCFC4-3A47-47CD-A7EA-EB271A31B9F0}"/>
                </a:ext>
              </a:extLst>
            </p:cNvPr>
            <p:cNvSpPr txBox="1"/>
            <p:nvPr/>
          </p:nvSpPr>
          <p:spPr>
            <a:xfrm>
              <a:off x="2483465" y="2576551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18,902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9CB2445-6554-4212-901E-9C6B7D7612C4}"/>
              </a:ext>
            </a:extLst>
          </p:cNvPr>
          <p:cNvGrpSpPr/>
          <p:nvPr/>
        </p:nvGrpSpPr>
        <p:grpSpPr>
          <a:xfrm>
            <a:off x="5826188" y="1775283"/>
            <a:ext cx="4445862" cy="2514600"/>
            <a:chOff x="4630032" y="1775283"/>
            <a:chExt cx="4445862" cy="2514600"/>
          </a:xfrm>
        </p:grpSpPr>
        <p:sp>
          <p:nvSpPr>
            <p:cNvPr id="119" name="Shape 8">
              <a:extLst>
                <a:ext uri="{FF2B5EF4-FFF2-40B4-BE49-F238E27FC236}">
                  <a16:creationId xmlns:a16="http://schemas.microsoft.com/office/drawing/2014/main" id="{DFF93096-BD0A-4BBF-8479-B0600EFEC37F}"/>
                </a:ext>
              </a:extLst>
            </p:cNvPr>
            <p:cNvSpPr/>
            <p:nvPr/>
          </p:nvSpPr>
          <p:spPr>
            <a:xfrm>
              <a:off x="4630032" y="1775283"/>
              <a:ext cx="4445862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graphicFrame>
          <p:nvGraphicFramePr>
            <p:cNvPr id="40" name="Chart 39">
              <a:extLst>
                <a:ext uri="{FF2B5EF4-FFF2-40B4-BE49-F238E27FC236}">
                  <a16:creationId xmlns:a16="http://schemas.microsoft.com/office/drawing/2014/main" id="{46FDFEB3-28D8-47BD-9371-4A09F7B17AFE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18509086"/>
                </p:ext>
              </p:extLst>
            </p:nvPr>
          </p:nvGraphicFramePr>
          <p:xfrm>
            <a:off x="4748159" y="2132738"/>
            <a:ext cx="4258123" cy="209335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892428CB-C9D5-47A0-80BE-D571E28C0841}"/>
              </a:ext>
            </a:extLst>
          </p:cNvPr>
          <p:cNvSpPr txBox="1"/>
          <p:nvPr/>
        </p:nvSpPr>
        <p:spPr>
          <a:xfrm>
            <a:off x="6305980" y="1868848"/>
            <a:ext cx="34862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년도별 </a:t>
            </a:r>
            <a:r>
              <a:rPr lang="en-US" altLang="ko-KR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1</a:t>
            </a:r>
            <a:r>
              <a:rPr lang="ko-KR" altLang="en-US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 사건 평균 피해액 추이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</TotalTime>
  <Words>3307</Words>
  <Application>Microsoft Office PowerPoint</Application>
  <PresentationFormat>Widescreen</PresentationFormat>
  <Paragraphs>644</Paragraphs>
  <Slides>28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0" baseType="lpstr">
      <vt:lpstr>Arial Unicode MS</vt:lpstr>
      <vt:lpstr>NanumSquare</vt:lpstr>
      <vt:lpstr>NanumSquare Bold</vt:lpstr>
      <vt:lpstr>Noto Sans KR</vt:lpstr>
      <vt:lpstr>나눔스퀘어_ac Bold</vt:lpstr>
      <vt:lpstr>맑은 고딕</vt:lpstr>
      <vt:lpstr>페이퍼로지 4 Regular</vt:lpstr>
      <vt:lpstr>페이퍼로지 7 Bold</vt:lpstr>
      <vt:lpstr>페이퍼로지 9 Black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227</cp:revision>
  <dcterms:created xsi:type="dcterms:W3CDTF">2026-08-25T03:40:06Z</dcterms:created>
  <dcterms:modified xsi:type="dcterms:W3CDTF">2026-08-27T08:59:41Z</dcterms:modified>
</cp:coreProperties>
</file>