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72" r:id="rId2"/>
    <p:sldId id="290" r:id="rId3"/>
    <p:sldId id="289" r:id="rId4"/>
    <p:sldId id="258" r:id="rId5"/>
    <p:sldId id="259" r:id="rId6"/>
    <p:sldId id="300" r:id="rId7"/>
    <p:sldId id="292" r:id="rId8"/>
    <p:sldId id="298" r:id="rId9"/>
    <p:sldId id="303" r:id="rId10"/>
    <p:sldId id="286" r:id="rId11"/>
    <p:sldId id="301" r:id="rId12"/>
    <p:sldId id="295" r:id="rId13"/>
    <p:sldId id="296" r:id="rId14"/>
    <p:sldId id="261" r:id="rId15"/>
    <p:sldId id="293" r:id="rId16"/>
    <p:sldId id="262" r:id="rId17"/>
    <p:sldId id="294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302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B16"/>
    <a:srgbClr val="0E2746"/>
    <a:srgbClr val="F7FA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94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1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9D40B9-442F-4379-B62C-50857005B014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3AA1BA-B990-416E-92A8-7DD9498551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6655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83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https://news.kbs.co.kr/news/pc/view/view.do?ncd=8591764</a:t>
            </a:r>
          </a:p>
          <a:p>
            <a:r>
              <a:rPr lang="en-US" dirty="0"/>
              <a:t>https://www.yna.co.kr/view/AKR20260527080100055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4992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5156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825F1-9B96-434A-8F84-8E13385EE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88E24B-0332-48A5-BE72-7D6D7D5BCF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54645-9418-4B00-808B-DCEA688DC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E10861-48B6-481D-92FB-14BBA4611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656A97-60F8-410D-AC45-02B24A7AF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2832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A4A16-7AFC-4E56-8116-359F22C15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16CDDD-6F0D-43D5-ACE9-CEE3629D56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AE97C0-0245-40CD-B32D-9A0861574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361660-6F35-43EF-AA03-C9BAD6FB6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8300E5-7CAF-4E82-8745-DD95AF19E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4367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94B64-C4A1-4716-B6AA-9B1CFFB1A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F953C3-DC54-4B4F-936F-728ADFFFC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72A36-20C6-4384-9DB7-D8B15FB2C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DDD8A-B8D6-4223-B25E-1D0279614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FD1C47-2930-4438-B29E-CB3587BB9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387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55231-41DC-42AC-A996-A58765762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AFDF20-D71D-4455-9FB6-D9529AB5AD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2126F5-90A0-49BC-B18A-E120A5B5A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1EDDDC-330C-4B8D-A3A2-D04878B3B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71BFB2-4AEF-4875-B5DD-4B00B66CE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AF090D-5DD0-45A9-A07D-462AFDBB7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2581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60F6A-6F0D-4372-BB37-75AFDBB65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F6076-985E-4AE1-A13D-DB6E53A0CA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1903C3-EFE3-4915-98D7-E22FC994D8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1897D4-6C75-4354-835C-B88FCF75CA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3F3649-5C4B-4FA7-9082-F0226512E1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4454A8-E9EA-42F6-B46C-170C30CBF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F80141-BAED-4F7F-8403-7075ADB8D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DEE564-FC66-4A86-AF92-DFB136043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6157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1065A-E81B-4517-B4E7-4EC02FF75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36D705-C0B5-4213-A274-07C65FD1F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F75015-697E-45BF-8C33-976681E86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0FBA8F-2031-4F60-BBFC-E8758451A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289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832EF1-D7E3-4909-8D32-C27D2E2BD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FA86A5-7B94-431F-ADF6-637C10AC5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30DB09-3EFF-4D81-B13F-8437B3913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3795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6F734-C3B4-497A-94B3-566C3A207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5284BF-856F-48C1-9D83-76115021E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237885-2C0F-46EA-AC64-F71778F376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CB7929-0F58-4F77-9E7D-3404B37A4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5A31AD-4D8D-49B5-BF0A-E76592F0B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7E14CB-8911-447F-84E7-92D96B9B5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2284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BFE16-EF20-469F-B4C1-2BB4ADBB5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EEDCF2-7A87-4013-8665-D8A0097743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DF7F6E-DEF1-4591-8CE4-5034CEFDB8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53A68D-BD39-409C-85CD-07FE60E79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6FA09B-3F3E-43B2-B916-AB2191794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4F1E6-7205-4AAA-A142-33EFA8824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14085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16845-87EE-49C4-A54D-4DD88F5DE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7F6E6A-4977-4CEC-A8D9-7064A84627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2C0440-3E4A-48C3-AACE-31A03175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755132-9CD7-4D8C-9500-57BA9DAA4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702DDC-0868-49FA-A7B5-3DBED67D5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1331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2B7006-E9B3-4984-8A5C-936F1BA9A9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B041A9-D43B-4632-BCCA-A9418D8DC2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2B6C7C-AFE8-4214-B42F-E7F256617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5B8BBB-3BCE-46E4-84F5-006AEA9EF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E7C3B-1CFD-4E17-ABB5-5ABD3B817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9976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ARK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6464808"/>
            <a:ext cx="11109960" cy="0"/>
          </a:xfrm>
          <a:prstGeom prst="line">
            <a:avLst/>
          </a:prstGeom>
          <a:noFill/>
          <a:ln w="10160">
            <a:solidFill>
              <a:srgbClr val="24446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BB4B4F1C-6A2C-42AD-91C2-CF0DFB3D0BC7}"/>
              </a:ext>
            </a:extLst>
          </p:cNvPr>
          <p:cNvSpPr/>
          <p:nvPr userDrawn="1"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0232274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ARK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A96E590-9872-4B78-AF25-07765B3C7807}"/>
              </a:ext>
            </a:extLst>
          </p:cNvPr>
          <p:cNvSpPr/>
          <p:nvPr userDrawn="1"/>
        </p:nvSpPr>
        <p:spPr>
          <a:xfrm>
            <a:off x="0" y="73152"/>
            <a:ext cx="12191695" cy="6784848"/>
          </a:xfrm>
          <a:prstGeom prst="rect">
            <a:avLst/>
          </a:prstGeom>
          <a:solidFill>
            <a:srgbClr val="F7FA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48640" y="6464808"/>
            <a:ext cx="11109960" cy="0"/>
          </a:xfrm>
          <a:prstGeom prst="line">
            <a:avLst/>
          </a:prstGeom>
          <a:noFill/>
          <a:ln w="10160">
            <a:solidFill>
              <a:srgbClr val="24446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6F8AB425-CE47-448A-A682-729483C69FDC}"/>
              </a:ext>
            </a:extLst>
          </p:cNvPr>
          <p:cNvSpPr/>
          <p:nvPr userDrawn="1"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5002946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LIGHT">
    <p:bg>
      <p:bgPr>
        <a:solidFill>
          <a:srgbClr val="F7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B9BABCA-8F5D-4C86-A07A-BAECAF610FF4}"/>
              </a:ext>
            </a:extLst>
          </p:cNvPr>
          <p:cNvSpPr/>
          <p:nvPr userDrawn="1"/>
        </p:nvSpPr>
        <p:spPr>
          <a:xfrm>
            <a:off x="0" y="73152"/>
            <a:ext cx="12191695" cy="6784848"/>
          </a:xfrm>
          <a:prstGeom prst="rect">
            <a:avLst/>
          </a:prstGeom>
          <a:solidFill>
            <a:srgbClr val="F7FA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464808"/>
            <a:ext cx="11109960" cy="0"/>
          </a:xfrm>
          <a:prstGeom prst="line">
            <a:avLst/>
          </a:prstGeom>
          <a:noFill/>
          <a:ln w="10160">
            <a:solidFill>
              <a:srgbClr val="DCE8F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6086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96EEB8-1A5C-44A5-B5C2-7E736071E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C1D718-3418-4B18-B782-CCF9CEDA8F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ACCEB8-E72F-428B-8B58-F801AD8B6C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3A2DB2-CDF2-401D-A12A-A35C25BBD6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113C4-3B0A-46FB-A37B-2C939FBD85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1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3" r:id="rId13"/>
    <p:sldLayoutId id="2147483661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naver.com/blogfsc/224162941029" TargetMode="External"/><Relationship Id="rId2" Type="http://schemas.openxmlformats.org/officeDocument/2006/relationships/hyperlink" Target="https://www.fsc.go.kr/no010101/87474" TargetMode="Externa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news.kbs.co.kr/news/view.do?ncd=8628096" TargetMode="External"/><Relationship Id="rId3" Type="http://schemas.openxmlformats.org/officeDocument/2006/relationships/hyperlink" Target="https://fsc.go.kr/no010101/85526?srchCtgry=&amp;curPage=&amp;srchKey=sj&amp;srchText=&amp;srchBeginDt=&amp;srchEndDt=" TargetMode="External"/><Relationship Id="rId7" Type="http://schemas.openxmlformats.org/officeDocument/2006/relationships/hyperlink" Target="https://blog.naver.com/blogfsc/22416264562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www.youtube.com/watch?v=agygqMUI90w&amp;t=36" TargetMode="External"/><Relationship Id="rId5" Type="http://schemas.openxmlformats.org/officeDocument/2006/relationships/hyperlink" Target="https://www.pointe.co.kr/news/articleView.html?idxno=83542" TargetMode="External"/><Relationship Id="rId4" Type="http://schemas.openxmlformats.org/officeDocument/2006/relationships/hyperlink" Target="https://www.intn.co.kr/news/articleView.html?idxno=2052329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ebn.co.kr/news/articleView.html?idxno=1721028" TargetMode="External"/><Relationship Id="rId3" Type="http://schemas.openxmlformats.org/officeDocument/2006/relationships/hyperlink" Target="https://m.blog.naver.com/blogfsc/224058546330" TargetMode="External"/><Relationship Id="rId7" Type="http://schemas.openxmlformats.org/officeDocument/2006/relationships/hyperlink" Target="https://biz.heraldcorp.com/article/10830628" TargetMode="External"/><Relationship Id="rId2" Type="http://schemas.openxmlformats.org/officeDocument/2006/relationships/hyperlink" Target="https://www.korea.kr/news/policyNewsView.do?newsId=148960626" TargetMode="External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www.fsc.go.kr/eng/pr010101/85525" TargetMode="External"/><Relationship Id="rId11" Type="http://schemas.openxmlformats.org/officeDocument/2006/relationships/hyperlink" Target="https://www.khan.co.kr/article/202406032117005" TargetMode="External"/><Relationship Id="rId5" Type="http://schemas.openxmlformats.org/officeDocument/2006/relationships/hyperlink" Target="https://blog.naver.com/with_msip/224202495822?viewType=pc" TargetMode="External"/><Relationship Id="rId10" Type="http://schemas.openxmlformats.org/officeDocument/2006/relationships/hyperlink" Target="https://www.fsc.go.kr/no010101/82392?srchCtgry=&amp;curPage=&amp;srchKey=&amp;srchText=&amp;srchBeginDt=&amp;srchEndDt=" TargetMode="External"/><Relationship Id="rId4" Type="http://schemas.openxmlformats.org/officeDocument/2006/relationships/hyperlink" Target="https://whox2.com/kt/vfd" TargetMode="External"/><Relationship Id="rId9" Type="http://schemas.openxmlformats.org/officeDocument/2006/relationships/hyperlink" Target="https://www.koreancenter.or.kr/news/articleView.html?idxno=1397518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hyperlink" Target="https://slownews.kr/134149" TargetMode="Externa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C0C0CB8F-415D-407B-8561-941E5B4C4356}"/>
              </a:ext>
            </a:extLst>
          </p:cNvPr>
          <p:cNvSpPr txBox="1"/>
          <p:nvPr/>
        </p:nvSpPr>
        <p:spPr>
          <a:xfrm>
            <a:off x="491798" y="3677109"/>
            <a:ext cx="61040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AI </a:t>
            </a:r>
            <a:r>
              <a:rPr lang="ko-KR" altLang="en-US" sz="140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독립검증 기반 보이스피싱 금융안전 서비스 제안서</a:t>
            </a:r>
          </a:p>
        </p:txBody>
      </p:sp>
      <p:sp>
        <p:nvSpPr>
          <p:cNvPr id="30" name="Text 11">
            <a:extLst>
              <a:ext uri="{FF2B5EF4-FFF2-40B4-BE49-F238E27FC236}">
                <a16:creationId xmlns:a16="http://schemas.microsoft.com/office/drawing/2014/main" id="{1E31A4B3-526D-4E88-A19C-2D7AFA70D160}"/>
              </a:ext>
            </a:extLst>
          </p:cNvPr>
          <p:cNvSpPr txBox="1"/>
          <p:nvPr/>
        </p:nvSpPr>
        <p:spPr>
          <a:xfrm>
            <a:off x="547516" y="616712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105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Team. </a:t>
            </a:r>
            <a:r>
              <a:rPr lang="ko-KR" altLang="en-US" sz="105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가드레일즈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33" name="Shape 0">
            <a:extLst>
              <a:ext uri="{FF2B5EF4-FFF2-40B4-BE49-F238E27FC236}">
                <a16:creationId xmlns:a16="http://schemas.microsoft.com/office/drawing/2014/main" id="{7B1A6ED6-773F-42B8-8ED8-17738C505C8C}"/>
              </a:ext>
            </a:extLst>
          </p:cNvPr>
          <p:cNvSpPr/>
          <p:nvPr/>
        </p:nvSpPr>
        <p:spPr>
          <a:xfrm>
            <a:off x="7048500" y="0"/>
            <a:ext cx="5140452" cy="6858000"/>
          </a:xfrm>
          <a:prstGeom prst="rect">
            <a:avLst/>
          </a:prstGeom>
          <a:solidFill>
            <a:srgbClr val="0E2746"/>
          </a:solidFill>
          <a:ln w="12700">
            <a:solidFill>
              <a:srgbClr val="0E2746"/>
            </a:solidFill>
            <a:prstDash val="solid"/>
          </a:ln>
        </p:spPr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8EE268D-001A-4A65-B643-028EB914480F}"/>
              </a:ext>
            </a:extLst>
          </p:cNvPr>
          <p:cNvGrpSpPr/>
          <p:nvPr/>
        </p:nvGrpSpPr>
        <p:grpSpPr>
          <a:xfrm>
            <a:off x="547517" y="766064"/>
            <a:ext cx="5294484" cy="3352801"/>
            <a:chOff x="550563" y="766064"/>
            <a:chExt cx="5689815" cy="3352801"/>
          </a:xfrm>
        </p:grpSpPr>
        <p:sp>
          <p:nvSpPr>
            <p:cNvPr id="59" name="Shape 9">
              <a:extLst>
                <a:ext uri="{FF2B5EF4-FFF2-40B4-BE49-F238E27FC236}">
                  <a16:creationId xmlns:a16="http://schemas.microsoft.com/office/drawing/2014/main" id="{634C45B3-C238-4E3E-AEED-0B9672BB4F65}"/>
                </a:ext>
              </a:extLst>
            </p:cNvPr>
            <p:cNvSpPr/>
            <p:nvPr/>
          </p:nvSpPr>
          <p:spPr>
            <a:xfrm>
              <a:off x="550563" y="766064"/>
              <a:ext cx="5689815" cy="0"/>
            </a:xfrm>
            <a:prstGeom prst="line">
              <a:avLst/>
            </a:prstGeom>
            <a:noFill/>
            <a:ln w="12700">
              <a:solidFill>
                <a:srgbClr val="2A537D"/>
              </a:solidFill>
              <a:prstDash val="solid"/>
              <a:headEnd type="none"/>
              <a:tailEnd type="none"/>
            </a:ln>
          </p:spPr>
        </p:sp>
        <p:sp>
          <p:nvSpPr>
            <p:cNvPr id="57" name="Shape 9">
              <a:extLst>
                <a:ext uri="{FF2B5EF4-FFF2-40B4-BE49-F238E27FC236}">
                  <a16:creationId xmlns:a16="http://schemas.microsoft.com/office/drawing/2014/main" id="{09CB9E57-402C-4513-8361-0726DA1036CA}"/>
                </a:ext>
              </a:extLst>
            </p:cNvPr>
            <p:cNvSpPr/>
            <p:nvPr/>
          </p:nvSpPr>
          <p:spPr>
            <a:xfrm>
              <a:off x="550563" y="3543131"/>
              <a:ext cx="5689815" cy="0"/>
            </a:xfrm>
            <a:prstGeom prst="line">
              <a:avLst/>
            </a:prstGeom>
            <a:noFill/>
            <a:ln w="12700">
              <a:solidFill>
                <a:srgbClr val="2A537D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8" name="Shape 9">
              <a:extLst>
                <a:ext uri="{FF2B5EF4-FFF2-40B4-BE49-F238E27FC236}">
                  <a16:creationId xmlns:a16="http://schemas.microsoft.com/office/drawing/2014/main" id="{7C5AD97E-4F05-4367-AE0F-6916A16D68BF}"/>
                </a:ext>
              </a:extLst>
            </p:cNvPr>
            <p:cNvSpPr/>
            <p:nvPr/>
          </p:nvSpPr>
          <p:spPr>
            <a:xfrm>
              <a:off x="550563" y="4118865"/>
              <a:ext cx="5689815" cy="0"/>
            </a:xfrm>
            <a:prstGeom prst="line">
              <a:avLst/>
            </a:prstGeom>
            <a:noFill/>
            <a:ln w="12700">
              <a:solidFill>
                <a:srgbClr val="2A537D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ko-KR" altLang="en-US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72DDACD-5AE2-44C9-8A2E-B51DE4B0AB0E}"/>
              </a:ext>
            </a:extLst>
          </p:cNvPr>
          <p:cNvGrpSpPr/>
          <p:nvPr/>
        </p:nvGrpSpPr>
        <p:grpSpPr>
          <a:xfrm>
            <a:off x="547516" y="593683"/>
            <a:ext cx="6104020" cy="2949448"/>
            <a:chOff x="550564" y="585216"/>
            <a:chExt cx="6104020" cy="2949448"/>
          </a:xfrm>
        </p:grpSpPr>
        <p:sp>
          <p:nvSpPr>
            <p:cNvPr id="7" name="Shape 5"/>
            <p:cNvSpPr/>
            <p:nvPr/>
          </p:nvSpPr>
          <p:spPr>
            <a:xfrm>
              <a:off x="550564" y="585216"/>
              <a:ext cx="2240280" cy="310896"/>
            </a:xfrm>
            <a:prstGeom prst="roundRect">
              <a:avLst>
                <a:gd name="adj" fmla="val 50000"/>
              </a:avLst>
            </a:prstGeom>
            <a:solidFill>
              <a:srgbClr val="18395D"/>
            </a:solidFill>
            <a:ln w="10160">
              <a:solidFill>
                <a:srgbClr val="244F78"/>
              </a:solidFill>
              <a:prstDash val="solid"/>
            </a:ln>
          </p:spPr>
        </p:sp>
        <p:sp>
          <p:nvSpPr>
            <p:cNvPr id="8" name="Text 6"/>
            <p:cNvSpPr txBox="1"/>
            <p:nvPr/>
          </p:nvSpPr>
          <p:spPr>
            <a:xfrm>
              <a:off x="623716" y="621792"/>
              <a:ext cx="2093976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altLang="ko-KR" sz="105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2026 </a:t>
              </a:r>
              <a:r>
                <a:rPr lang="ko-KR" altLang="en-US" sz="105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금융 </a:t>
              </a:r>
              <a:r>
                <a:rPr lang="en-US" sz="105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AI Challenge</a:t>
              </a:r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550564" y="850392"/>
              <a:ext cx="6104020" cy="26842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보이스피싱이 만든 혼란</a:t>
              </a:r>
              <a:r>
                <a:rPr lang="en-US" altLang="ko-KR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 </a:t>
              </a: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속에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금융소비자가 혼자 있지 않도록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함께 확인하고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한 번 더 막아주는 </a:t>
              </a:r>
              <a:r>
                <a:rPr lang="en-US" altLang="ko-KR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AI</a:t>
              </a: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솔루션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</p:txBody>
        </p:sp>
      </p:grp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684BCE10-6885-4AD1-A68A-60F056C73D54}"/>
              </a:ext>
            </a:extLst>
          </p:cNvPr>
          <p:cNvSpPr/>
          <p:nvPr/>
        </p:nvSpPr>
        <p:spPr>
          <a:xfrm>
            <a:off x="7953865" y="766064"/>
            <a:ext cx="3340100" cy="651831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스마트폰 디바이스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안에 앱 로고</a:t>
            </a:r>
          </a:p>
        </p:txBody>
      </p:sp>
    </p:spTree>
    <p:extLst>
      <p:ext uri="{BB962C8B-B14F-4D97-AF65-F5344CB8AC3E}">
        <p14:creationId xmlns:p14="http://schemas.microsoft.com/office/powerpoint/2010/main" val="22182405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44">
            <a:extLst>
              <a:ext uri="{FF2B5EF4-FFF2-40B4-BE49-F238E27FC236}">
                <a16:creationId xmlns:a16="http://schemas.microsoft.com/office/drawing/2014/main" id="{A76E8C5A-17D3-408B-A296-8675D799E942}"/>
              </a:ext>
            </a:extLst>
          </p:cNvPr>
          <p:cNvSpPr/>
          <p:nvPr/>
        </p:nvSpPr>
        <p:spPr>
          <a:xfrm>
            <a:off x="585216" y="4521201"/>
            <a:ext cx="10991088" cy="1736164"/>
          </a:xfrm>
          <a:prstGeom prst="roundRect">
            <a:avLst>
              <a:gd name="adj" fmla="val 14754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D83CD05-1C0E-4A92-8144-C841C3C659DF}"/>
              </a:ext>
            </a:extLst>
          </p:cNvPr>
          <p:cNvGrpSpPr/>
          <p:nvPr/>
        </p:nvGrpSpPr>
        <p:grpSpPr>
          <a:xfrm>
            <a:off x="10844784" y="128016"/>
            <a:ext cx="1188720" cy="1188720"/>
            <a:chOff x="10844784" y="128016"/>
            <a:chExt cx="1188720" cy="1188720"/>
          </a:xfrm>
        </p:grpSpPr>
        <p:sp>
          <p:nvSpPr>
            <p:cNvPr id="53" name="Shape 0">
              <a:extLst>
                <a:ext uri="{FF2B5EF4-FFF2-40B4-BE49-F238E27FC236}">
                  <a16:creationId xmlns:a16="http://schemas.microsoft.com/office/drawing/2014/main" id="{8180EA9B-D86F-480A-827F-E6A6E0D31C69}"/>
                </a:ext>
              </a:extLst>
            </p:cNvPr>
            <p:cNvSpPr/>
            <p:nvPr/>
          </p:nvSpPr>
          <p:spPr>
            <a:xfrm>
              <a:off x="10844784" y="128016"/>
              <a:ext cx="1188720" cy="1188720"/>
            </a:xfrm>
            <a:prstGeom prst="ellipse">
              <a:avLst/>
            </a:prstGeom>
            <a:solidFill>
              <a:srgbClr val="EAF3FF"/>
            </a:solidFill>
            <a:ln w="10160">
              <a:solidFill>
                <a:srgbClr val="EAF3FF"/>
              </a:solidFill>
              <a:prstDash val="solid"/>
            </a:ln>
          </p:spPr>
        </p:sp>
        <p:sp>
          <p:nvSpPr>
            <p:cNvPr id="54" name="Shape 1">
              <a:extLst>
                <a:ext uri="{FF2B5EF4-FFF2-40B4-BE49-F238E27FC236}">
                  <a16:creationId xmlns:a16="http://schemas.microsoft.com/office/drawing/2014/main" id="{A1E94AE9-4178-4DF3-81BE-A4F0E14FB13D}"/>
                </a:ext>
              </a:extLst>
            </p:cNvPr>
            <p:cNvSpPr/>
            <p:nvPr/>
          </p:nvSpPr>
          <p:spPr>
            <a:xfrm>
              <a:off x="11448288" y="292608"/>
              <a:ext cx="310896" cy="310896"/>
            </a:xfrm>
            <a:prstGeom prst="ellipse">
              <a:avLst/>
            </a:prstGeom>
            <a:solidFill>
              <a:srgbClr val="49A8FF"/>
            </a:solidFill>
            <a:ln w="10160">
              <a:solidFill>
                <a:srgbClr val="49A8FF"/>
              </a:solidFill>
              <a:prstDash val="solid"/>
            </a:ln>
          </p:spPr>
        </p:sp>
        <p:sp>
          <p:nvSpPr>
            <p:cNvPr id="55" name="Shape 2">
              <a:extLst>
                <a:ext uri="{FF2B5EF4-FFF2-40B4-BE49-F238E27FC236}">
                  <a16:creationId xmlns:a16="http://schemas.microsoft.com/office/drawing/2014/main" id="{0261E3B0-CF1D-4497-96E2-3E47E2AE44B6}"/>
                </a:ext>
              </a:extLst>
            </p:cNvPr>
            <p:cNvSpPr/>
            <p:nvPr/>
          </p:nvSpPr>
          <p:spPr>
            <a:xfrm>
              <a:off x="10844784" y="1024128"/>
              <a:ext cx="868680" cy="0"/>
            </a:xfrm>
            <a:prstGeom prst="line">
              <a:avLst/>
            </a:prstGeom>
            <a:noFill/>
            <a:ln w="13970">
              <a:solidFill>
                <a:srgbClr val="D6E8FF"/>
              </a:solidFill>
              <a:prstDash val="solid"/>
              <a:headEnd type="none"/>
              <a:tailEnd type="none"/>
            </a:ln>
          </p:spPr>
        </p:sp>
        <p:sp>
          <p:nvSpPr>
            <p:cNvPr id="56" name="Shape 3">
              <a:extLst>
                <a:ext uri="{FF2B5EF4-FFF2-40B4-BE49-F238E27FC236}">
                  <a16:creationId xmlns:a16="http://schemas.microsoft.com/office/drawing/2014/main" id="{77510202-A46B-4098-B6BE-16242DFE16B5}"/>
                </a:ext>
              </a:extLst>
            </p:cNvPr>
            <p:cNvSpPr/>
            <p:nvPr/>
          </p:nvSpPr>
          <p:spPr>
            <a:xfrm>
              <a:off x="11045952" y="1225296"/>
              <a:ext cx="667512" cy="0"/>
            </a:xfrm>
            <a:prstGeom prst="line">
              <a:avLst/>
            </a:prstGeom>
            <a:noFill/>
            <a:ln w="13970">
              <a:solidFill>
                <a:srgbClr val="D6E8FF"/>
              </a:solidFill>
              <a:prstDash val="solid"/>
              <a:headEnd type="none"/>
              <a:tailEnd type="none"/>
            </a:ln>
          </p:spPr>
        </p:sp>
      </p:grpSp>
      <p:sp>
        <p:nvSpPr>
          <p:cNvPr id="57" name="Text 5">
            <a:extLst>
              <a:ext uri="{FF2B5EF4-FFF2-40B4-BE49-F238E27FC236}">
                <a16:creationId xmlns:a16="http://schemas.microsoft.com/office/drawing/2014/main" id="{14DC0ADE-DD2D-4DB4-9ADF-13F891CE62C7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현황분석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58" name="Text 6">
            <a:extLst>
              <a:ext uri="{FF2B5EF4-FFF2-40B4-BE49-F238E27FC236}">
                <a16:creationId xmlns:a16="http://schemas.microsoft.com/office/drawing/2014/main" id="{A3AB1DBD-1697-472F-9AD7-5B9857EAF0DD}"/>
              </a:ext>
            </a:extLst>
          </p:cNvPr>
          <p:cNvSpPr txBox="1"/>
          <p:nvPr/>
        </p:nvSpPr>
        <p:spPr>
          <a:xfrm>
            <a:off x="585216" y="780078"/>
            <a:ext cx="10698480" cy="9014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최근 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0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년 동안 보이스피싱 피해 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0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건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, 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누적 피해액 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0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원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, 1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개 사건 피해액 평균 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0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원</a:t>
            </a:r>
            <a:endParaRPr lang="en-US" altLang="ko-KR" sz="2200" dirty="0">
              <a:solidFill>
                <a:srgbClr val="0E2746"/>
              </a:solidFill>
              <a:latin typeface="페이퍼로지 7 Bold" pitchFamily="2" charset="-127"/>
              <a:ea typeface="페이퍼로지 7 Bold" pitchFamily="2" charset="-127"/>
              <a:cs typeface="NanumSquare" pitchFamily="34" charset="-120"/>
            </a:endParaRPr>
          </a:p>
          <a:p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단순 금전적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·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경제적 손실 뿐 아니라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, 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극단적 선택까지 이어지는 심각한 상황</a:t>
            </a:r>
            <a:endParaRPr lang="en-US" altLang="ko-KR" sz="2200" dirty="0">
              <a:solidFill>
                <a:srgbClr val="0E2746"/>
              </a:solidFill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59" name="Text 7">
            <a:extLst>
              <a:ext uri="{FF2B5EF4-FFF2-40B4-BE49-F238E27FC236}">
                <a16:creationId xmlns:a16="http://schemas.microsoft.com/office/drawing/2014/main" id="{7CC2DE4C-207C-45EF-9A0E-5F6667FDA2C7}"/>
              </a:ext>
            </a:extLst>
          </p:cNvPr>
          <p:cNvSpPr txBox="1"/>
          <p:nvPr/>
        </p:nvSpPr>
        <p:spPr>
          <a:xfrm>
            <a:off x="585216" y="58052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대한민국은 아직 보이스피싱 범죄와 전쟁중</a:t>
            </a:r>
            <a:r>
              <a:rPr lang="en-US" altLang="ko-KR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… </a:t>
            </a:r>
            <a:r>
              <a:rPr lang="ko-KR" alt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계속되는 범죄와 피해</a:t>
            </a:r>
            <a:endParaRPr lang="en-US" sz="1230" dirty="0"/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719C591-4120-47B4-8354-388AFCB921A9}"/>
              </a:ext>
            </a:extLst>
          </p:cNvPr>
          <p:cNvGrpSpPr/>
          <p:nvPr/>
        </p:nvGrpSpPr>
        <p:grpSpPr>
          <a:xfrm>
            <a:off x="594360" y="1775283"/>
            <a:ext cx="5678424" cy="2514600"/>
            <a:chOff x="594360" y="1874520"/>
            <a:chExt cx="5678424" cy="2514600"/>
          </a:xfrm>
        </p:grpSpPr>
        <p:sp>
          <p:nvSpPr>
            <p:cNvPr id="61" name="Shape 8">
              <a:extLst>
                <a:ext uri="{FF2B5EF4-FFF2-40B4-BE49-F238E27FC236}">
                  <a16:creationId xmlns:a16="http://schemas.microsoft.com/office/drawing/2014/main" id="{FDEF35F2-D1F4-4887-A609-BA9297CA0228}"/>
                </a:ext>
              </a:extLst>
            </p:cNvPr>
            <p:cNvSpPr/>
            <p:nvPr/>
          </p:nvSpPr>
          <p:spPr>
            <a:xfrm>
              <a:off x="594360" y="1874520"/>
              <a:ext cx="2743200" cy="2514600"/>
            </a:xfrm>
            <a:prstGeom prst="roundRect">
              <a:avLst>
                <a:gd name="adj" fmla="val 5818"/>
              </a:avLst>
            </a:prstGeom>
            <a:solidFill>
              <a:srgbClr val="FFFFFF"/>
            </a:solidFill>
            <a:ln w="10160">
              <a:solidFill>
                <a:srgbClr val="DCE8FA"/>
              </a:solidFill>
              <a:prstDash val="solid"/>
            </a:ln>
          </p:spPr>
        </p:sp>
        <p:sp>
          <p:nvSpPr>
            <p:cNvPr id="62" name="Text 9">
              <a:extLst>
                <a:ext uri="{FF2B5EF4-FFF2-40B4-BE49-F238E27FC236}">
                  <a16:creationId xmlns:a16="http://schemas.microsoft.com/office/drawing/2014/main" id="{12A47BCB-8AF9-4C04-9759-8727F0A409F5}"/>
                </a:ext>
              </a:extLst>
            </p:cNvPr>
            <p:cNvSpPr txBox="1"/>
            <p:nvPr/>
          </p:nvSpPr>
          <p:spPr>
            <a:xfrm>
              <a:off x="758952" y="2002536"/>
              <a:ext cx="2414016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250" b="1" dirty="0" err="1">
                  <a:solidFill>
                    <a:srgbClr val="10213D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연도별</a:t>
              </a:r>
              <a:r>
                <a:rPr lang="en-US" sz="1250" b="1" dirty="0">
                  <a:solidFill>
                    <a:srgbClr val="10213D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 </a:t>
              </a:r>
              <a:r>
                <a:rPr lang="en-US" sz="1250" b="1" dirty="0" err="1">
                  <a:solidFill>
                    <a:srgbClr val="10213D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피해금액</a:t>
              </a:r>
              <a:endParaRPr lang="en-US" sz="1250" dirty="0"/>
            </a:p>
          </p:txBody>
        </p:sp>
        <p:sp>
          <p:nvSpPr>
            <p:cNvPr id="63" name="Text 10">
              <a:extLst>
                <a:ext uri="{FF2B5EF4-FFF2-40B4-BE49-F238E27FC236}">
                  <a16:creationId xmlns:a16="http://schemas.microsoft.com/office/drawing/2014/main" id="{2C160D50-4548-4A3D-8684-3583A52F96B2}"/>
                </a:ext>
              </a:extLst>
            </p:cNvPr>
            <p:cNvSpPr txBox="1"/>
            <p:nvPr/>
          </p:nvSpPr>
          <p:spPr>
            <a:xfrm>
              <a:off x="758952" y="3959352"/>
              <a:ext cx="2414016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960">
                  <a:solidFill>
                    <a:srgbClr val="66768F"/>
                  </a:solidFill>
                  <a:latin typeface="NanumSquare" pitchFamily="34" charset="0"/>
                  <a:ea typeface="NanumSquare" pitchFamily="34" charset="-122"/>
                  <a:cs typeface="NanumSquare" pitchFamily="34" charset="-120"/>
                </a:rPr>
                <a:t>추이 그래프 또는 공식 통계 삽입</a:t>
              </a:r>
              <a:endParaRPr lang="en-US" sz="960" dirty="0"/>
            </a:p>
          </p:txBody>
        </p:sp>
        <p:sp>
          <p:nvSpPr>
            <p:cNvPr id="64" name="Shape 11">
              <a:extLst>
                <a:ext uri="{FF2B5EF4-FFF2-40B4-BE49-F238E27FC236}">
                  <a16:creationId xmlns:a16="http://schemas.microsoft.com/office/drawing/2014/main" id="{73796C11-C11E-4D1F-9792-3EFE50D16463}"/>
                </a:ext>
              </a:extLst>
            </p:cNvPr>
            <p:cNvSpPr/>
            <p:nvPr/>
          </p:nvSpPr>
          <p:spPr>
            <a:xfrm>
              <a:off x="868680" y="3538728"/>
              <a:ext cx="216823" cy="438912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65" name="Shape 12">
              <a:extLst>
                <a:ext uri="{FF2B5EF4-FFF2-40B4-BE49-F238E27FC236}">
                  <a16:creationId xmlns:a16="http://schemas.microsoft.com/office/drawing/2014/main" id="{5EED1F45-78FE-4B51-B499-0756BD49BCB5}"/>
                </a:ext>
              </a:extLst>
            </p:cNvPr>
            <p:cNvSpPr/>
            <p:nvPr/>
          </p:nvSpPr>
          <p:spPr>
            <a:xfrm>
              <a:off x="1285646" y="3300984"/>
              <a:ext cx="216823" cy="676656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66" name="Shape 13">
              <a:extLst>
                <a:ext uri="{FF2B5EF4-FFF2-40B4-BE49-F238E27FC236}">
                  <a16:creationId xmlns:a16="http://schemas.microsoft.com/office/drawing/2014/main" id="{28EE592E-04F9-4AB3-AA2E-5A3D6B739044}"/>
                </a:ext>
              </a:extLst>
            </p:cNvPr>
            <p:cNvSpPr/>
            <p:nvPr/>
          </p:nvSpPr>
          <p:spPr>
            <a:xfrm>
              <a:off x="1702613" y="3136392"/>
              <a:ext cx="216823" cy="841248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67" name="Shape 14">
              <a:extLst>
                <a:ext uri="{FF2B5EF4-FFF2-40B4-BE49-F238E27FC236}">
                  <a16:creationId xmlns:a16="http://schemas.microsoft.com/office/drawing/2014/main" id="{48DB68B6-D3D9-48F8-A264-99B1E70AECCA}"/>
                </a:ext>
              </a:extLst>
            </p:cNvPr>
            <p:cNvSpPr/>
            <p:nvPr/>
          </p:nvSpPr>
          <p:spPr>
            <a:xfrm>
              <a:off x="2119579" y="2898648"/>
              <a:ext cx="216823" cy="1078992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68" name="Shape 15">
              <a:extLst>
                <a:ext uri="{FF2B5EF4-FFF2-40B4-BE49-F238E27FC236}">
                  <a16:creationId xmlns:a16="http://schemas.microsoft.com/office/drawing/2014/main" id="{79B9A372-BC97-4865-9134-FE92088AB51B}"/>
                </a:ext>
              </a:extLst>
            </p:cNvPr>
            <p:cNvSpPr/>
            <p:nvPr/>
          </p:nvSpPr>
          <p:spPr>
            <a:xfrm>
              <a:off x="2536546" y="2679192"/>
              <a:ext cx="216823" cy="1298448"/>
            </a:xfrm>
            <a:prstGeom prst="roundRect">
              <a:avLst/>
            </a:prstGeom>
            <a:solidFill>
              <a:srgbClr val="1F5EFF"/>
            </a:solidFill>
            <a:ln w="12700">
              <a:solidFill>
                <a:srgbClr val="1F5EFF"/>
              </a:solidFill>
              <a:prstDash val="solid"/>
            </a:ln>
          </p:spPr>
        </p:sp>
        <p:sp>
          <p:nvSpPr>
            <p:cNvPr id="69" name="Shape 16">
              <a:extLst>
                <a:ext uri="{FF2B5EF4-FFF2-40B4-BE49-F238E27FC236}">
                  <a16:creationId xmlns:a16="http://schemas.microsoft.com/office/drawing/2014/main" id="{90CE88F0-C280-44FC-A4B8-28236EF0AF3F}"/>
                </a:ext>
              </a:extLst>
            </p:cNvPr>
            <p:cNvSpPr/>
            <p:nvPr/>
          </p:nvSpPr>
          <p:spPr>
            <a:xfrm>
              <a:off x="841248" y="3977640"/>
              <a:ext cx="2240280" cy="0"/>
            </a:xfrm>
            <a:prstGeom prst="line">
              <a:avLst/>
            </a:prstGeom>
            <a:noFill/>
            <a:ln w="10160">
              <a:solidFill>
                <a:srgbClr val="D9E5F6"/>
              </a:solidFill>
              <a:prstDash val="solid"/>
              <a:headEnd type="none"/>
              <a:tailEnd type="none"/>
            </a:ln>
          </p:spPr>
        </p:sp>
        <p:sp>
          <p:nvSpPr>
            <p:cNvPr id="70" name="Shape 17">
              <a:extLst>
                <a:ext uri="{FF2B5EF4-FFF2-40B4-BE49-F238E27FC236}">
                  <a16:creationId xmlns:a16="http://schemas.microsoft.com/office/drawing/2014/main" id="{1A08A152-D703-405B-A4EF-BC48D530D548}"/>
                </a:ext>
              </a:extLst>
            </p:cNvPr>
            <p:cNvSpPr/>
            <p:nvPr/>
          </p:nvSpPr>
          <p:spPr>
            <a:xfrm>
              <a:off x="3529584" y="1874520"/>
              <a:ext cx="2743200" cy="2514600"/>
            </a:xfrm>
            <a:prstGeom prst="roundRect">
              <a:avLst>
                <a:gd name="adj" fmla="val 5818"/>
              </a:avLst>
            </a:prstGeom>
            <a:solidFill>
              <a:srgbClr val="FFFFFF"/>
            </a:solidFill>
            <a:ln w="10160">
              <a:solidFill>
                <a:srgbClr val="DCE8FA"/>
              </a:solidFill>
              <a:prstDash val="solid"/>
            </a:ln>
          </p:spPr>
        </p:sp>
        <p:sp>
          <p:nvSpPr>
            <p:cNvPr id="71" name="Text 18">
              <a:extLst>
                <a:ext uri="{FF2B5EF4-FFF2-40B4-BE49-F238E27FC236}">
                  <a16:creationId xmlns:a16="http://schemas.microsoft.com/office/drawing/2014/main" id="{3B24358B-CB67-481F-A259-C72D90518166}"/>
                </a:ext>
              </a:extLst>
            </p:cNvPr>
            <p:cNvSpPr txBox="1"/>
            <p:nvPr/>
          </p:nvSpPr>
          <p:spPr>
            <a:xfrm>
              <a:off x="3694176" y="2002536"/>
              <a:ext cx="2414016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250" b="1">
                  <a:solidFill>
                    <a:srgbClr val="10213D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연도별 피해건수</a:t>
              </a:r>
              <a:endParaRPr lang="en-US" sz="1250" dirty="0"/>
            </a:p>
          </p:txBody>
        </p:sp>
        <p:sp>
          <p:nvSpPr>
            <p:cNvPr id="72" name="Text 19">
              <a:extLst>
                <a:ext uri="{FF2B5EF4-FFF2-40B4-BE49-F238E27FC236}">
                  <a16:creationId xmlns:a16="http://schemas.microsoft.com/office/drawing/2014/main" id="{F3293E6D-2EBB-41DB-8AE4-8CE9F186643D}"/>
                </a:ext>
              </a:extLst>
            </p:cNvPr>
            <p:cNvSpPr txBox="1"/>
            <p:nvPr/>
          </p:nvSpPr>
          <p:spPr>
            <a:xfrm>
              <a:off x="3694176" y="3959352"/>
              <a:ext cx="2414016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960">
                  <a:solidFill>
                    <a:srgbClr val="66768F"/>
                  </a:solidFill>
                  <a:latin typeface="NanumSquare" pitchFamily="34" charset="0"/>
                  <a:ea typeface="NanumSquare" pitchFamily="34" charset="-122"/>
                  <a:cs typeface="NanumSquare" pitchFamily="34" charset="-120"/>
                </a:rPr>
                <a:t>건수 변화와 피해금액을 함께 비교</a:t>
              </a:r>
              <a:endParaRPr lang="en-US" sz="960" dirty="0"/>
            </a:p>
          </p:txBody>
        </p:sp>
        <p:sp>
          <p:nvSpPr>
            <p:cNvPr id="73" name="Shape 20">
              <a:extLst>
                <a:ext uri="{FF2B5EF4-FFF2-40B4-BE49-F238E27FC236}">
                  <a16:creationId xmlns:a16="http://schemas.microsoft.com/office/drawing/2014/main" id="{304A9E25-342C-4DFB-9AB7-449D24718B9A}"/>
                </a:ext>
              </a:extLst>
            </p:cNvPr>
            <p:cNvSpPr/>
            <p:nvPr/>
          </p:nvSpPr>
          <p:spPr>
            <a:xfrm>
              <a:off x="3803904" y="3538728"/>
              <a:ext cx="216823" cy="438912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74" name="Shape 21">
              <a:extLst>
                <a:ext uri="{FF2B5EF4-FFF2-40B4-BE49-F238E27FC236}">
                  <a16:creationId xmlns:a16="http://schemas.microsoft.com/office/drawing/2014/main" id="{ECB1D966-9935-488E-99B1-B39759C1DCFA}"/>
                </a:ext>
              </a:extLst>
            </p:cNvPr>
            <p:cNvSpPr/>
            <p:nvPr/>
          </p:nvSpPr>
          <p:spPr>
            <a:xfrm>
              <a:off x="4220870" y="3300984"/>
              <a:ext cx="216823" cy="676656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75" name="Shape 22">
              <a:extLst>
                <a:ext uri="{FF2B5EF4-FFF2-40B4-BE49-F238E27FC236}">
                  <a16:creationId xmlns:a16="http://schemas.microsoft.com/office/drawing/2014/main" id="{46A267BE-AC89-49F6-9DD3-4D70F3E975CE}"/>
                </a:ext>
              </a:extLst>
            </p:cNvPr>
            <p:cNvSpPr/>
            <p:nvPr/>
          </p:nvSpPr>
          <p:spPr>
            <a:xfrm>
              <a:off x="4637837" y="3136392"/>
              <a:ext cx="216823" cy="841248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76" name="Shape 23">
              <a:extLst>
                <a:ext uri="{FF2B5EF4-FFF2-40B4-BE49-F238E27FC236}">
                  <a16:creationId xmlns:a16="http://schemas.microsoft.com/office/drawing/2014/main" id="{C8C0432F-0B36-476D-875A-3C342A1558BF}"/>
                </a:ext>
              </a:extLst>
            </p:cNvPr>
            <p:cNvSpPr/>
            <p:nvPr/>
          </p:nvSpPr>
          <p:spPr>
            <a:xfrm>
              <a:off x="5054803" y="2898648"/>
              <a:ext cx="216823" cy="1078992"/>
            </a:xfrm>
            <a:prstGeom prst="roundRect">
              <a:avLst/>
            </a:prstGeom>
            <a:solidFill>
              <a:srgbClr val="D7E7FF"/>
            </a:solidFill>
            <a:ln w="12700">
              <a:solidFill>
                <a:srgbClr val="D7E7FF"/>
              </a:solidFill>
              <a:prstDash val="solid"/>
            </a:ln>
          </p:spPr>
        </p:sp>
        <p:sp>
          <p:nvSpPr>
            <p:cNvPr id="77" name="Shape 24">
              <a:extLst>
                <a:ext uri="{FF2B5EF4-FFF2-40B4-BE49-F238E27FC236}">
                  <a16:creationId xmlns:a16="http://schemas.microsoft.com/office/drawing/2014/main" id="{544B7B28-015A-45A7-888C-C63BFB6C1145}"/>
                </a:ext>
              </a:extLst>
            </p:cNvPr>
            <p:cNvSpPr/>
            <p:nvPr/>
          </p:nvSpPr>
          <p:spPr>
            <a:xfrm>
              <a:off x="5471770" y="2679192"/>
              <a:ext cx="216823" cy="1298448"/>
            </a:xfrm>
            <a:prstGeom prst="roundRect">
              <a:avLst/>
            </a:prstGeom>
            <a:solidFill>
              <a:srgbClr val="2F7CF6"/>
            </a:solidFill>
            <a:ln w="12700">
              <a:solidFill>
                <a:srgbClr val="2F7CF6"/>
              </a:solidFill>
              <a:prstDash val="solid"/>
            </a:ln>
          </p:spPr>
        </p:sp>
        <p:sp>
          <p:nvSpPr>
            <p:cNvPr id="78" name="Shape 25">
              <a:extLst>
                <a:ext uri="{FF2B5EF4-FFF2-40B4-BE49-F238E27FC236}">
                  <a16:creationId xmlns:a16="http://schemas.microsoft.com/office/drawing/2014/main" id="{419763C3-B904-411C-A6E8-3091C252D595}"/>
                </a:ext>
              </a:extLst>
            </p:cNvPr>
            <p:cNvSpPr/>
            <p:nvPr/>
          </p:nvSpPr>
          <p:spPr>
            <a:xfrm>
              <a:off x="3776472" y="3977640"/>
              <a:ext cx="2240280" cy="0"/>
            </a:xfrm>
            <a:prstGeom prst="line">
              <a:avLst/>
            </a:prstGeom>
            <a:noFill/>
            <a:ln w="10160">
              <a:solidFill>
                <a:srgbClr val="D9E5F6"/>
              </a:solidFill>
              <a:prstDash val="solid"/>
              <a:headEnd type="none"/>
              <a:tailEnd type="none"/>
            </a:ln>
          </p:spPr>
        </p:sp>
      </p:grpSp>
      <p:sp>
        <p:nvSpPr>
          <p:cNvPr id="79" name="Shape 26">
            <a:extLst>
              <a:ext uri="{FF2B5EF4-FFF2-40B4-BE49-F238E27FC236}">
                <a16:creationId xmlns:a16="http://schemas.microsoft.com/office/drawing/2014/main" id="{A7822292-EFB9-4591-A057-B7B63F322242}"/>
              </a:ext>
            </a:extLst>
          </p:cNvPr>
          <p:cNvSpPr/>
          <p:nvPr/>
        </p:nvSpPr>
        <p:spPr>
          <a:xfrm>
            <a:off x="6464808" y="1775283"/>
            <a:ext cx="2304288" cy="251460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80" name="Text 27">
            <a:extLst>
              <a:ext uri="{FF2B5EF4-FFF2-40B4-BE49-F238E27FC236}">
                <a16:creationId xmlns:a16="http://schemas.microsoft.com/office/drawing/2014/main" id="{AF19EAE1-BE0A-42FE-9520-B50F2163691B}"/>
              </a:ext>
            </a:extLst>
          </p:cNvPr>
          <p:cNvSpPr txBox="1"/>
          <p:nvPr/>
        </p:nvSpPr>
        <p:spPr>
          <a:xfrm>
            <a:off x="6629400" y="1903299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1인당 피해금액</a:t>
            </a:r>
            <a:endParaRPr lang="en-US" sz="1250" dirty="0"/>
          </a:p>
        </p:txBody>
      </p:sp>
      <p:sp>
        <p:nvSpPr>
          <p:cNvPr id="81" name="Text 28">
            <a:extLst>
              <a:ext uri="{FF2B5EF4-FFF2-40B4-BE49-F238E27FC236}">
                <a16:creationId xmlns:a16="http://schemas.microsoft.com/office/drawing/2014/main" id="{59284FB0-2412-4F31-AC80-57BB2DED9AC1}"/>
              </a:ext>
            </a:extLst>
          </p:cNvPr>
          <p:cNvSpPr txBox="1"/>
          <p:nvPr/>
        </p:nvSpPr>
        <p:spPr>
          <a:xfrm>
            <a:off x="6629400" y="3860115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평균 피해 수준 / 중앙값 등</a:t>
            </a:r>
            <a:endParaRPr lang="en-US" sz="960" dirty="0"/>
          </a:p>
        </p:txBody>
      </p:sp>
      <p:sp>
        <p:nvSpPr>
          <p:cNvPr id="82" name="Shape 29">
            <a:extLst>
              <a:ext uri="{FF2B5EF4-FFF2-40B4-BE49-F238E27FC236}">
                <a16:creationId xmlns:a16="http://schemas.microsoft.com/office/drawing/2014/main" id="{FC45CB01-4A88-4D3C-939A-AAEA3BCD2B40}"/>
              </a:ext>
            </a:extLst>
          </p:cNvPr>
          <p:cNvSpPr/>
          <p:nvPr/>
        </p:nvSpPr>
        <p:spPr>
          <a:xfrm>
            <a:off x="6739128" y="3439491"/>
            <a:ext cx="171176" cy="438912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83" name="Shape 30">
            <a:extLst>
              <a:ext uri="{FF2B5EF4-FFF2-40B4-BE49-F238E27FC236}">
                <a16:creationId xmlns:a16="http://schemas.microsoft.com/office/drawing/2014/main" id="{1E87147C-646D-4D80-AD02-B4D6F70963F3}"/>
              </a:ext>
            </a:extLst>
          </p:cNvPr>
          <p:cNvSpPr/>
          <p:nvPr/>
        </p:nvSpPr>
        <p:spPr>
          <a:xfrm>
            <a:off x="7068312" y="3201747"/>
            <a:ext cx="171176" cy="676656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84" name="Shape 31">
            <a:extLst>
              <a:ext uri="{FF2B5EF4-FFF2-40B4-BE49-F238E27FC236}">
                <a16:creationId xmlns:a16="http://schemas.microsoft.com/office/drawing/2014/main" id="{AFD44F45-0575-4344-BDF4-17227C94E152}"/>
              </a:ext>
            </a:extLst>
          </p:cNvPr>
          <p:cNvSpPr/>
          <p:nvPr/>
        </p:nvSpPr>
        <p:spPr>
          <a:xfrm>
            <a:off x="7397496" y="3037155"/>
            <a:ext cx="171176" cy="841248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85" name="Shape 32">
            <a:extLst>
              <a:ext uri="{FF2B5EF4-FFF2-40B4-BE49-F238E27FC236}">
                <a16:creationId xmlns:a16="http://schemas.microsoft.com/office/drawing/2014/main" id="{9BDA66B5-5029-4B16-A7DE-D3507027D131}"/>
              </a:ext>
            </a:extLst>
          </p:cNvPr>
          <p:cNvSpPr/>
          <p:nvPr/>
        </p:nvSpPr>
        <p:spPr>
          <a:xfrm>
            <a:off x="7726680" y="2799411"/>
            <a:ext cx="171176" cy="1078992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86" name="Shape 33">
            <a:extLst>
              <a:ext uri="{FF2B5EF4-FFF2-40B4-BE49-F238E27FC236}">
                <a16:creationId xmlns:a16="http://schemas.microsoft.com/office/drawing/2014/main" id="{941C3B78-B85C-481C-B785-428B6FF26838}"/>
              </a:ext>
            </a:extLst>
          </p:cNvPr>
          <p:cNvSpPr/>
          <p:nvPr/>
        </p:nvSpPr>
        <p:spPr>
          <a:xfrm>
            <a:off x="8055864" y="2579955"/>
            <a:ext cx="171176" cy="1298448"/>
          </a:xfrm>
          <a:prstGeom prst="roundRect">
            <a:avLst/>
          </a:prstGeom>
          <a:solidFill>
            <a:srgbClr val="49A8FF"/>
          </a:solidFill>
          <a:ln w="12700">
            <a:solidFill>
              <a:srgbClr val="49A8FF"/>
            </a:solidFill>
            <a:prstDash val="solid"/>
          </a:ln>
        </p:spPr>
      </p:sp>
      <p:sp>
        <p:nvSpPr>
          <p:cNvPr id="87" name="Shape 34">
            <a:extLst>
              <a:ext uri="{FF2B5EF4-FFF2-40B4-BE49-F238E27FC236}">
                <a16:creationId xmlns:a16="http://schemas.microsoft.com/office/drawing/2014/main" id="{9FAEF357-70F7-44CA-BC92-EF6B199C921E}"/>
              </a:ext>
            </a:extLst>
          </p:cNvPr>
          <p:cNvSpPr/>
          <p:nvPr/>
        </p:nvSpPr>
        <p:spPr>
          <a:xfrm>
            <a:off x="6711696" y="3878403"/>
            <a:ext cx="1801368" cy="0"/>
          </a:xfrm>
          <a:prstGeom prst="line">
            <a:avLst/>
          </a:prstGeom>
          <a:noFill/>
          <a:ln w="10160">
            <a:solidFill>
              <a:srgbClr val="D9E5F6"/>
            </a:solidFill>
            <a:prstDash val="solid"/>
            <a:headEnd type="none"/>
            <a:tailEnd type="none"/>
          </a:ln>
        </p:spPr>
      </p:sp>
      <p:sp>
        <p:nvSpPr>
          <p:cNvPr id="88" name="Shape 35">
            <a:extLst>
              <a:ext uri="{FF2B5EF4-FFF2-40B4-BE49-F238E27FC236}">
                <a16:creationId xmlns:a16="http://schemas.microsoft.com/office/drawing/2014/main" id="{0880C97D-A674-46DC-BAE0-97A7ACF72752}"/>
              </a:ext>
            </a:extLst>
          </p:cNvPr>
          <p:cNvSpPr/>
          <p:nvPr/>
        </p:nvSpPr>
        <p:spPr>
          <a:xfrm>
            <a:off x="8961120" y="1775283"/>
            <a:ext cx="2624328" cy="251460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89" name="Text 36">
            <a:extLst>
              <a:ext uri="{FF2B5EF4-FFF2-40B4-BE49-F238E27FC236}">
                <a16:creationId xmlns:a16="http://schemas.microsoft.com/office/drawing/2014/main" id="{A679DCD1-6AA3-4B90-ABDA-F673DBA87026}"/>
              </a:ext>
            </a:extLst>
          </p:cNvPr>
          <p:cNvSpPr txBox="1"/>
          <p:nvPr/>
        </p:nvSpPr>
        <p:spPr>
          <a:xfrm>
            <a:off x="9125712" y="1903299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2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 연령</a:t>
            </a:r>
            <a:r>
              <a:rPr lang="en-US" altLang="ko-KR" sz="12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, </a:t>
            </a:r>
            <a:r>
              <a:rPr lang="ko-KR" altLang="en-US" sz="12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신분</a:t>
            </a:r>
            <a:endParaRPr lang="en-US" sz="1250" dirty="0"/>
          </a:p>
        </p:txBody>
      </p:sp>
      <p:sp>
        <p:nvSpPr>
          <p:cNvPr id="90" name="Text 37">
            <a:extLst>
              <a:ext uri="{FF2B5EF4-FFF2-40B4-BE49-F238E27FC236}">
                <a16:creationId xmlns:a16="http://schemas.microsoft.com/office/drawing/2014/main" id="{2C6708DC-8C19-4D21-9B5B-6C227234372B}"/>
              </a:ext>
            </a:extLst>
          </p:cNvPr>
          <p:cNvSpPr txBox="1"/>
          <p:nvPr/>
        </p:nvSpPr>
        <p:spPr>
          <a:xfrm>
            <a:off x="9125712" y="3860115"/>
            <a:ext cx="2295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기관사칭 · 대출빙자 · 기타</a:t>
            </a:r>
            <a:endParaRPr lang="en-US" sz="960" dirty="0"/>
          </a:p>
        </p:txBody>
      </p:sp>
      <p:sp>
        <p:nvSpPr>
          <p:cNvPr id="91" name="Shape 38">
            <a:extLst>
              <a:ext uri="{FF2B5EF4-FFF2-40B4-BE49-F238E27FC236}">
                <a16:creationId xmlns:a16="http://schemas.microsoft.com/office/drawing/2014/main" id="{EC1DCE97-8F05-45E6-82D8-98A1E6F967D0}"/>
              </a:ext>
            </a:extLst>
          </p:cNvPr>
          <p:cNvSpPr/>
          <p:nvPr/>
        </p:nvSpPr>
        <p:spPr>
          <a:xfrm>
            <a:off x="9235440" y="3439491"/>
            <a:ext cx="204460" cy="438912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92" name="Shape 39">
            <a:extLst>
              <a:ext uri="{FF2B5EF4-FFF2-40B4-BE49-F238E27FC236}">
                <a16:creationId xmlns:a16="http://schemas.microsoft.com/office/drawing/2014/main" id="{265C3FAE-D1B3-4A57-B65D-F9B0E300725E}"/>
              </a:ext>
            </a:extLst>
          </p:cNvPr>
          <p:cNvSpPr/>
          <p:nvPr/>
        </p:nvSpPr>
        <p:spPr>
          <a:xfrm>
            <a:off x="9628632" y="3201747"/>
            <a:ext cx="204460" cy="676656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93" name="Shape 40">
            <a:extLst>
              <a:ext uri="{FF2B5EF4-FFF2-40B4-BE49-F238E27FC236}">
                <a16:creationId xmlns:a16="http://schemas.microsoft.com/office/drawing/2014/main" id="{710BCE73-09FE-4D9A-9A06-264B3FAF1302}"/>
              </a:ext>
            </a:extLst>
          </p:cNvPr>
          <p:cNvSpPr/>
          <p:nvPr/>
        </p:nvSpPr>
        <p:spPr>
          <a:xfrm>
            <a:off x="10021824" y="3037155"/>
            <a:ext cx="204460" cy="841248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94" name="Shape 41">
            <a:extLst>
              <a:ext uri="{FF2B5EF4-FFF2-40B4-BE49-F238E27FC236}">
                <a16:creationId xmlns:a16="http://schemas.microsoft.com/office/drawing/2014/main" id="{0BB18C9E-5325-4520-8770-C0AFCD3C1A6D}"/>
              </a:ext>
            </a:extLst>
          </p:cNvPr>
          <p:cNvSpPr/>
          <p:nvPr/>
        </p:nvSpPr>
        <p:spPr>
          <a:xfrm>
            <a:off x="10415016" y="2799411"/>
            <a:ext cx="204460" cy="1078992"/>
          </a:xfrm>
          <a:prstGeom prst="roundRect">
            <a:avLst/>
          </a:prstGeom>
          <a:solidFill>
            <a:srgbClr val="D7E7FF"/>
          </a:solidFill>
          <a:ln w="12700">
            <a:solidFill>
              <a:srgbClr val="D7E7FF"/>
            </a:solidFill>
            <a:prstDash val="solid"/>
          </a:ln>
        </p:spPr>
      </p:sp>
      <p:sp>
        <p:nvSpPr>
          <p:cNvPr id="95" name="Shape 42">
            <a:extLst>
              <a:ext uri="{FF2B5EF4-FFF2-40B4-BE49-F238E27FC236}">
                <a16:creationId xmlns:a16="http://schemas.microsoft.com/office/drawing/2014/main" id="{AF9F248D-CBC4-425A-B4A0-54E152A8AFA7}"/>
              </a:ext>
            </a:extLst>
          </p:cNvPr>
          <p:cNvSpPr/>
          <p:nvPr/>
        </p:nvSpPr>
        <p:spPr>
          <a:xfrm>
            <a:off x="10808208" y="2579955"/>
            <a:ext cx="204460" cy="1298448"/>
          </a:xfrm>
          <a:prstGeom prst="roundRect">
            <a:avLst/>
          </a:prstGeom>
          <a:solidFill>
            <a:srgbClr val="102B4E"/>
          </a:solidFill>
          <a:ln w="12700">
            <a:solidFill>
              <a:srgbClr val="102B4E"/>
            </a:solidFill>
            <a:prstDash val="solid"/>
          </a:ln>
        </p:spPr>
      </p:sp>
      <p:sp>
        <p:nvSpPr>
          <p:cNvPr id="96" name="Shape 43">
            <a:extLst>
              <a:ext uri="{FF2B5EF4-FFF2-40B4-BE49-F238E27FC236}">
                <a16:creationId xmlns:a16="http://schemas.microsoft.com/office/drawing/2014/main" id="{C25775C4-9236-4EC4-832A-7AA894E0FE27}"/>
              </a:ext>
            </a:extLst>
          </p:cNvPr>
          <p:cNvSpPr/>
          <p:nvPr/>
        </p:nvSpPr>
        <p:spPr>
          <a:xfrm>
            <a:off x="9208008" y="3878403"/>
            <a:ext cx="2121408" cy="0"/>
          </a:xfrm>
          <a:prstGeom prst="line">
            <a:avLst/>
          </a:prstGeom>
          <a:noFill/>
          <a:ln w="10160">
            <a:solidFill>
              <a:srgbClr val="D9E5F6"/>
            </a:solidFill>
            <a:prstDash val="solid"/>
            <a:headEnd type="none"/>
            <a:tailEnd type="none"/>
          </a:ln>
        </p:spPr>
      </p:sp>
      <p:sp>
        <p:nvSpPr>
          <p:cNvPr id="101" name="Slide Number Placeholder 0">
            <a:extLst>
              <a:ext uri="{FF2B5EF4-FFF2-40B4-BE49-F238E27FC236}">
                <a16:creationId xmlns:a16="http://schemas.microsoft.com/office/drawing/2014/main" id="{B62526B2-5F3F-4EBB-A2DC-93B7F89FFF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16B820F-AFB7-48E0-9EB6-DDB131DC1B40}"/>
              </a:ext>
            </a:extLst>
          </p:cNvPr>
          <p:cNvGrpSpPr/>
          <p:nvPr/>
        </p:nvGrpSpPr>
        <p:grpSpPr>
          <a:xfrm>
            <a:off x="804672" y="4673132"/>
            <a:ext cx="6480610" cy="1409774"/>
            <a:chOff x="804672" y="4974712"/>
            <a:chExt cx="6480610" cy="1409774"/>
          </a:xfrm>
        </p:grpSpPr>
        <p:sp>
          <p:nvSpPr>
            <p:cNvPr id="98" name="Text 45">
              <a:extLst>
                <a:ext uri="{FF2B5EF4-FFF2-40B4-BE49-F238E27FC236}">
                  <a16:creationId xmlns:a16="http://schemas.microsoft.com/office/drawing/2014/main" id="{4F2E3DE0-CD98-4D61-9489-686484F3DB48}"/>
                </a:ext>
              </a:extLst>
            </p:cNvPr>
            <p:cNvSpPr txBox="1"/>
            <p:nvPr/>
          </p:nvSpPr>
          <p:spPr>
            <a:xfrm>
              <a:off x="804672" y="4987290"/>
              <a:ext cx="539496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endParaRPr lang="en-US" sz="1050" dirty="0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C1E646E0-5120-4849-9996-97AD67287F74}"/>
                </a:ext>
              </a:extLst>
            </p:cNvPr>
            <p:cNvSpPr txBox="1"/>
            <p:nvPr/>
          </p:nvSpPr>
          <p:spPr>
            <a:xfrm>
              <a:off x="894649" y="5324056"/>
              <a:ext cx="6390633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fontAlgn="base"/>
              <a:r>
                <a:rPr lang="en-US" altLang="ko-KR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“</a:t>
              </a:r>
              <a:r>
                <a:rPr lang="ko-KR" altLang="en-US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보이스피싱 줄었다지만</a:t>
              </a:r>
              <a:r>
                <a:rPr lang="en-US" altLang="ko-KR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…5</a:t>
              </a:r>
              <a:r>
                <a:rPr lang="ko-KR" altLang="en-US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천만 원 피해에 </a:t>
              </a:r>
              <a:r>
                <a:rPr lang="en-US" altLang="ko-KR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20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대 아들</a:t>
              </a:r>
              <a:r>
                <a:rPr lang="en-US" altLang="ko-KR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엄마와 함께 숨져</a:t>
              </a:r>
              <a:r>
                <a:rPr lang="en-US" altLang="ko-KR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”</a:t>
              </a:r>
              <a:r>
                <a:rPr lang="ko-KR" altLang="en-US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20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rPr>
                <a:t>(KBS</a:t>
              </a:r>
              <a:r>
                <a:rPr lang="ko-KR" altLang="en-US" sz="120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rPr>
                <a:t>뉴스 </a:t>
              </a:r>
              <a:r>
                <a:rPr lang="en-US" altLang="ko-KR" sz="120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rPr>
                <a:t>2026.06.22)</a:t>
              </a:r>
              <a:endParaRPr lang="ko-KR" altLang="en-US" sz="1200" i="0" dirty="0">
                <a:solidFill>
                  <a:srgbClr val="222222"/>
                </a:solidFill>
                <a:effectLst/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69DBA008-F345-4089-8070-1624E61E661A}"/>
                </a:ext>
              </a:extLst>
            </p:cNvPr>
            <p:cNvSpPr txBox="1"/>
            <p:nvPr/>
          </p:nvSpPr>
          <p:spPr>
            <a:xfrm>
              <a:off x="826725" y="4974712"/>
              <a:ext cx="422807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ko-KR" altLang="en-US" sz="1200" dirty="0">
                  <a:solidFill>
                    <a:srgbClr val="0E2746"/>
                  </a:solidFill>
                  <a:latin typeface="페이퍼로지 7 Bold" pitchFamily="2" charset="-127"/>
                  <a:ea typeface="페이퍼로지 7 Bold" pitchFamily="2" charset="-127"/>
                </a:rPr>
                <a:t>극단적인 선택 까지 이어지는 보이스피싱 범죄의 심각성</a:t>
              </a:r>
              <a:endParaRPr lang="en-US" altLang="ko-KR" sz="1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2F6B1490-F183-46C5-891C-4DF4DDEBC613}"/>
                </a:ext>
              </a:extLst>
            </p:cNvPr>
            <p:cNvSpPr txBox="1"/>
            <p:nvPr/>
          </p:nvSpPr>
          <p:spPr>
            <a:xfrm>
              <a:off x="894649" y="5711305"/>
              <a:ext cx="5918527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fontAlgn="base"/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“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보이스피싱에 속아 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3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억원 잃은 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피해자 생 마감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…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인출책 징역 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1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년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”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연합뉴스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2026.05.27)</a:t>
              </a:r>
              <a:endParaRPr lang="ko-KR" altLang="en-US" sz="1200" i="0" dirty="0">
                <a:effectLst/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7AD6700A-593D-446A-8111-A37932502880}"/>
                </a:ext>
              </a:extLst>
            </p:cNvPr>
            <p:cNvSpPr txBox="1"/>
            <p:nvPr/>
          </p:nvSpPr>
          <p:spPr>
            <a:xfrm>
              <a:off x="894649" y="6107487"/>
              <a:ext cx="6173663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fontAlgn="base"/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“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보이스피싱 피해 비관 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부부 극단선택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…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홀로 산 남편 자살방조 처벌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”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연합뉴스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TV</a:t>
              </a:r>
              <a:r>
                <a:rPr lang="ko-KR" altLang="en-US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2026.07.26)</a:t>
              </a:r>
              <a:endParaRPr lang="ko-KR" altLang="en-US" sz="1200" i="0" dirty="0">
                <a:effectLst/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D715506-C7C5-46AF-97DD-9E8720001060}"/>
              </a:ext>
            </a:extLst>
          </p:cNvPr>
          <p:cNvGrpSpPr/>
          <p:nvPr/>
        </p:nvGrpSpPr>
        <p:grpSpPr>
          <a:xfrm>
            <a:off x="7640448" y="4635730"/>
            <a:ext cx="3656903" cy="1551360"/>
            <a:chOff x="7640448" y="4533932"/>
            <a:chExt cx="3656903" cy="1551360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6AA21B39-CDD9-416A-94A5-F7D48DFFB9B7}"/>
                </a:ext>
              </a:extLst>
            </p:cNvPr>
            <p:cNvGrpSpPr/>
            <p:nvPr/>
          </p:nvGrpSpPr>
          <p:grpSpPr>
            <a:xfrm>
              <a:off x="7640448" y="4533932"/>
              <a:ext cx="3656903" cy="1551360"/>
              <a:chOff x="7640448" y="4533932"/>
              <a:chExt cx="3656903" cy="15513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88D801F-1FFC-4DB5-BA05-2750BEE7D95D}"/>
                  </a:ext>
                </a:extLst>
              </p:cNvPr>
              <p:cNvSpPr/>
              <p:nvPr/>
            </p:nvSpPr>
            <p:spPr>
              <a:xfrm>
                <a:off x="7656784" y="4794782"/>
                <a:ext cx="3640567" cy="1290510"/>
              </a:xfrm>
              <a:prstGeom prst="rect">
                <a:avLst/>
              </a:prstGeom>
              <a:solidFill>
                <a:schemeClr val="bg1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5650DA10-F948-4096-918C-238B8CB95A93}"/>
                  </a:ext>
                </a:extLst>
              </p:cNvPr>
              <p:cNvSpPr/>
              <p:nvPr/>
            </p:nvSpPr>
            <p:spPr>
              <a:xfrm>
                <a:off x="7724678" y="4887453"/>
                <a:ext cx="3512773" cy="152226"/>
              </a:xfrm>
              <a:prstGeom prst="rect">
                <a:avLst/>
              </a:prstGeom>
              <a:solidFill>
                <a:srgbClr val="FF4B16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두려움과 분노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, </a:t>
                </a:r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죄책감 느낀다</a:t>
                </a: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C96D9C1A-8A8D-4FA9-8E69-1BD016277053}"/>
                  </a:ext>
                </a:extLst>
              </p:cNvPr>
              <p:cNvSpPr/>
              <p:nvPr/>
            </p:nvSpPr>
            <p:spPr>
              <a:xfrm>
                <a:off x="7724678" y="5087078"/>
                <a:ext cx="2931106" cy="152226"/>
              </a:xfrm>
              <a:prstGeom prst="rect">
                <a:avLst/>
              </a:prstGeom>
              <a:solidFill>
                <a:srgbClr val="FF4B16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밤에 잠이 잘 안 온다</a:t>
                </a: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F3D7BAF9-07DE-400A-AC59-9FF748362373}"/>
                  </a:ext>
                </a:extLst>
              </p:cNvPr>
              <p:cNvSpPr/>
              <p:nvPr/>
            </p:nvSpPr>
            <p:spPr>
              <a:xfrm>
                <a:off x="7724678" y="5286703"/>
                <a:ext cx="1993067" cy="152226"/>
              </a:xfrm>
              <a:prstGeom prst="rect">
                <a:avLst/>
              </a:prstGeom>
              <a:solidFill>
                <a:srgbClr val="FF4B16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주변에 대한 과도한 경계심이 생긴다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78B5CB79-EE6B-47C6-8864-0A3C9BD3740E}"/>
                  </a:ext>
                </a:extLst>
              </p:cNvPr>
              <p:cNvGrpSpPr/>
              <p:nvPr/>
            </p:nvGrpSpPr>
            <p:grpSpPr>
              <a:xfrm>
                <a:off x="7724678" y="4887453"/>
                <a:ext cx="3512773" cy="751101"/>
                <a:chOff x="7724678" y="4937557"/>
                <a:chExt cx="3512773" cy="751101"/>
              </a:xfrm>
            </p:grpSpPr>
            <p:sp>
              <p:nvSpPr>
                <p:cNvPr id="134" name="Rectangle 133">
                  <a:extLst>
                    <a:ext uri="{FF2B5EF4-FFF2-40B4-BE49-F238E27FC236}">
                      <a16:creationId xmlns:a16="http://schemas.microsoft.com/office/drawing/2014/main" id="{AEC622F5-EDC0-4894-A4DF-14A87444EAE9}"/>
                    </a:ext>
                  </a:extLst>
                </p:cNvPr>
                <p:cNvSpPr/>
                <p:nvPr/>
              </p:nvSpPr>
              <p:spPr>
                <a:xfrm>
                  <a:off x="8863296" y="5536432"/>
                  <a:ext cx="2374155" cy="152226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r>
                    <a:rPr lang="ko-KR" altLang="en-US" sz="1000" dirty="0">
                      <a:latin typeface="페이퍼로지 4 Regular" pitchFamily="2" charset="-127"/>
                      <a:ea typeface="페이퍼로지 4 Regular" pitchFamily="2" charset="-127"/>
                    </a:rPr>
                    <a:t>병원에서 우울증 치료 등을 받는다 </a:t>
                  </a:r>
                  <a:r>
                    <a:rPr lang="en-US" altLang="ko-KR" sz="1000" dirty="0">
                      <a:latin typeface="페이퍼로지 7 Bold" pitchFamily="2" charset="-127"/>
                      <a:ea typeface="페이퍼로지 7 Bold" pitchFamily="2" charset="-127"/>
                    </a:rPr>
                    <a:t>25.4%</a:t>
                  </a:r>
                  <a:endParaRPr lang="ko-KR" altLang="en-US" sz="1000" dirty="0"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830D2552-CE5F-4566-9324-CCAA6DE748F6}"/>
                    </a:ext>
                  </a:extLst>
                </p:cNvPr>
                <p:cNvSpPr/>
                <p:nvPr/>
              </p:nvSpPr>
              <p:spPr>
                <a:xfrm>
                  <a:off x="7724678" y="5536432"/>
                  <a:ext cx="1194300" cy="152226"/>
                </a:xfrm>
                <a:prstGeom prst="rect">
                  <a:avLst/>
                </a:prstGeom>
                <a:solidFill>
                  <a:srgbClr val="FF4B16"/>
                </a:solidFill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endParaRPr lang="ko-KR" altLang="en-US" sz="10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48" name="Rectangle 147">
                  <a:extLst>
                    <a:ext uri="{FF2B5EF4-FFF2-40B4-BE49-F238E27FC236}">
                      <a16:creationId xmlns:a16="http://schemas.microsoft.com/office/drawing/2014/main" id="{67598F49-4387-4F12-AD03-C4CE346ED14C}"/>
                    </a:ext>
                  </a:extLst>
                </p:cNvPr>
                <p:cNvSpPr/>
                <p:nvPr/>
              </p:nvSpPr>
              <p:spPr>
                <a:xfrm>
                  <a:off x="8863297" y="5137182"/>
                  <a:ext cx="1792487" cy="149100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r>
                    <a:rPr lang="en-US" altLang="ko-KR" sz="10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63.5%</a:t>
                  </a:r>
                  <a:endParaRPr lang="ko-KR" altLang="en-US" sz="10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3EE56CF6-75C1-4D6A-8DBB-C3071FCE4454}"/>
                    </a:ext>
                  </a:extLst>
                </p:cNvPr>
                <p:cNvSpPr/>
                <p:nvPr/>
              </p:nvSpPr>
              <p:spPr>
                <a:xfrm>
                  <a:off x="8863296" y="4937557"/>
                  <a:ext cx="2374155" cy="152226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r>
                    <a:rPr lang="en-US" altLang="ko-KR" sz="10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76.2%</a:t>
                  </a:r>
                  <a:endParaRPr lang="ko-KR" altLang="en-US" sz="10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81244667-105A-4A8E-A1ED-B8687ADE3F94}"/>
                    </a:ext>
                  </a:extLst>
                </p:cNvPr>
                <p:cNvSpPr/>
                <p:nvPr/>
              </p:nvSpPr>
              <p:spPr>
                <a:xfrm>
                  <a:off x="8863297" y="5339933"/>
                  <a:ext cx="1423703" cy="149100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r>
                    <a:rPr lang="en-US" altLang="ko-KR" sz="1000" dirty="0">
                      <a:latin typeface="페이퍼로지 7 Bold" pitchFamily="2" charset="-127"/>
                      <a:ea typeface="페이퍼로지 7 Bold" pitchFamily="2" charset="-127"/>
                    </a:rPr>
                    <a:t>42.9%</a:t>
                  </a:r>
                  <a:endParaRPr lang="ko-KR" altLang="en-US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AA0F438C-D494-4FDF-997C-8B697CDADD29}"/>
                  </a:ext>
                </a:extLst>
              </p:cNvPr>
              <p:cNvGrpSpPr/>
              <p:nvPr/>
            </p:nvGrpSpPr>
            <p:grpSpPr>
              <a:xfrm>
                <a:off x="7724680" y="5685954"/>
                <a:ext cx="3512771" cy="152226"/>
                <a:chOff x="7724680" y="5685954"/>
                <a:chExt cx="3512771" cy="152226"/>
              </a:xfrm>
            </p:grpSpPr>
            <p:sp>
              <p:nvSpPr>
                <p:cNvPr id="135" name="Rectangle 134">
                  <a:extLst>
                    <a:ext uri="{FF2B5EF4-FFF2-40B4-BE49-F238E27FC236}">
                      <a16:creationId xmlns:a16="http://schemas.microsoft.com/office/drawing/2014/main" id="{153C3079-5F4A-46C5-84EA-640947F7D515}"/>
                    </a:ext>
                  </a:extLst>
                </p:cNvPr>
                <p:cNvSpPr/>
                <p:nvPr/>
              </p:nvSpPr>
              <p:spPr>
                <a:xfrm>
                  <a:off x="7981950" y="5685954"/>
                  <a:ext cx="3255501" cy="152226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r>
                    <a:rPr lang="ko-KR" altLang="en-US" sz="1000" dirty="0">
                      <a:latin typeface="페이퍼로지 4 Regular" pitchFamily="2" charset="-127"/>
                      <a:ea typeface="페이퍼로지 4 Regular" pitchFamily="2" charset="-127"/>
                    </a:rPr>
                    <a:t>극단적인 생각을 한다 </a:t>
                  </a:r>
                  <a:r>
                    <a:rPr lang="en-US" altLang="ko-KR" sz="1000" dirty="0">
                      <a:latin typeface="페이퍼로지 7 Bold" pitchFamily="2" charset="-127"/>
                      <a:ea typeface="페이퍼로지 7 Bold" pitchFamily="2" charset="-127"/>
                    </a:rPr>
                    <a:t>6.3%</a:t>
                  </a:r>
                  <a:endParaRPr lang="ko-KR" altLang="en-US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33FECE70-51A5-47D3-8535-037BD6E0CE0F}"/>
                    </a:ext>
                  </a:extLst>
                </p:cNvPr>
                <p:cNvSpPr/>
                <p:nvPr/>
              </p:nvSpPr>
              <p:spPr>
                <a:xfrm>
                  <a:off x="7724680" y="5685954"/>
                  <a:ext cx="317705" cy="152226"/>
                </a:xfrm>
                <a:prstGeom prst="rect">
                  <a:avLst/>
                </a:prstGeom>
                <a:solidFill>
                  <a:srgbClr val="FF4B16"/>
                </a:solidFill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endParaRPr lang="ko-KR" altLang="en-US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35A2F2F7-75DB-4643-B439-DAF5D708D01D}"/>
                  </a:ext>
                </a:extLst>
              </p:cNvPr>
              <p:cNvSpPr txBox="1"/>
              <p:nvPr/>
            </p:nvSpPr>
            <p:spPr>
              <a:xfrm>
                <a:off x="7642195" y="5885237"/>
                <a:ext cx="3374034" cy="2000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700" dirty="0">
                    <a:latin typeface="페이퍼로지 4 Regular" pitchFamily="2" charset="-127"/>
                    <a:ea typeface="페이퍼로지 4 Regular" pitchFamily="2" charset="-127"/>
                  </a:rPr>
                  <a:t>중앙일보</a:t>
                </a:r>
                <a:r>
                  <a:rPr lang="en-US" altLang="ko-KR" sz="700" dirty="0">
                    <a:latin typeface="페이퍼로지 4 Regular" pitchFamily="2" charset="-127"/>
                    <a:ea typeface="페이퍼로지 4 Regular" pitchFamily="2" charset="-127"/>
                  </a:rPr>
                  <a:t>,</a:t>
                </a:r>
                <a:r>
                  <a:rPr lang="ko-KR" altLang="en-US" sz="700" dirty="0">
                    <a:latin typeface="페이퍼로지 4 Regular" pitchFamily="2" charset="-127"/>
                    <a:ea typeface="페이퍼로지 4 Regular" pitchFamily="2" charset="-127"/>
                  </a:rPr>
                  <a:t> 보이스피싱예방협회 </a:t>
                </a:r>
                <a:r>
                  <a:rPr lang="en-US" altLang="ko-KR" sz="700" dirty="0">
                    <a:latin typeface="페이퍼로지 4 Regular" pitchFamily="2" charset="-127"/>
                    <a:ea typeface="페이퍼로지 4 Regular" pitchFamily="2" charset="-127"/>
                  </a:rPr>
                  <a:t>(2021.10.28 ~ 2021.11. 28)</a:t>
                </a:r>
                <a:endParaRPr lang="ko-KR" altLang="en-US" sz="700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BA86F9F0-D5C2-4671-AF9B-AA1B1AB15CFD}"/>
                  </a:ext>
                </a:extLst>
              </p:cNvPr>
              <p:cNvSpPr txBox="1"/>
              <p:nvPr/>
            </p:nvSpPr>
            <p:spPr>
              <a:xfrm>
                <a:off x="7640448" y="4533932"/>
                <a:ext cx="3593006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000" dirty="0">
                    <a:latin typeface="페이퍼로지 7 Bold" pitchFamily="2" charset="-127"/>
                    <a:ea typeface="페이퍼로지 7 Bold" pitchFamily="2" charset="-127"/>
                  </a:rPr>
                  <a:t>보이스피싱 피해로 인한 정신적 피해 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피해자 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60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명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(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중복응답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, 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미응답 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3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명 제외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)</a:t>
                </a:r>
                <a:endParaRPr lang="ko-KR" altLang="en-US" sz="800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p:grp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6EEECBB-BB64-41A1-A769-5B4184A6ED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20681" y="5872878"/>
              <a:ext cx="3512773" cy="127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90914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6E8D74D-AC22-40D6-AD00-C60A385F8D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20" r="5720"/>
          <a:stretch/>
        </p:blipFill>
        <p:spPr>
          <a:xfrm>
            <a:off x="0" y="-12700"/>
            <a:ext cx="12192000" cy="6883400"/>
          </a:xfrm>
          <a:prstGeom prst="rect">
            <a:avLst/>
          </a:prstGeom>
        </p:spPr>
      </p:pic>
      <p:sp>
        <p:nvSpPr>
          <p:cNvPr id="13" name="Shape 0">
            <a:extLst>
              <a:ext uri="{FF2B5EF4-FFF2-40B4-BE49-F238E27FC236}">
                <a16:creationId xmlns:a16="http://schemas.microsoft.com/office/drawing/2014/main" id="{513B6724-1F32-4AB3-95A3-5DF13A0497FF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30000"/>
            </a:schemeClr>
          </a:solidFill>
          <a:ln w="12700">
            <a:solidFill>
              <a:srgbClr val="0E2746"/>
            </a:solidFill>
            <a:prstDash val="solid"/>
          </a:ln>
        </p:spPr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1842F57-B99E-45AA-9322-69849BDD5513}"/>
              </a:ext>
            </a:extLst>
          </p:cNvPr>
          <p:cNvGrpSpPr/>
          <p:nvPr/>
        </p:nvGrpSpPr>
        <p:grpSpPr>
          <a:xfrm>
            <a:off x="676209" y="614224"/>
            <a:ext cx="10701275" cy="5835195"/>
            <a:chOff x="676209" y="626924"/>
            <a:chExt cx="10701275" cy="583519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28ADCEB-E50C-42A8-8F4D-A33A939F0E5D}"/>
                </a:ext>
              </a:extLst>
            </p:cNvPr>
            <p:cNvSpPr txBox="1"/>
            <p:nvPr/>
          </p:nvSpPr>
          <p:spPr>
            <a:xfrm>
              <a:off x="3051175" y="626924"/>
              <a:ext cx="6102350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ko-KR" altLang="en-US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사람의 불안과 취약점을 이용해</a:t>
              </a:r>
              <a:endParaRPr lang="en-US" altLang="ko-KR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</a:endParaRPr>
            </a:p>
            <a:p>
              <a:pPr marL="0" indent="0" algn="ctr">
                <a:buNone/>
              </a:pPr>
              <a:r>
                <a:rPr lang="ko-KR" altLang="en-US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잘못된 판단을 유도하는 금융 범죄</a:t>
              </a:r>
            </a:p>
            <a:p>
              <a:pPr marL="0" indent="0" algn="ctr">
                <a:buNone/>
              </a:pPr>
              <a:r>
                <a:rPr lang="ko-KR" altLang="en-US" sz="5400" b="1" dirty="0">
                  <a:solidFill>
                    <a:schemeClr val="bg1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보이스피싱</a:t>
              </a:r>
              <a:endParaRPr lang="en-US" altLang="ko-KR" sz="5400" b="1" dirty="0">
                <a:solidFill>
                  <a:schemeClr val="bg1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82EADBD-3891-42CD-8D93-52D2B87ED37A}"/>
                </a:ext>
              </a:extLst>
            </p:cNvPr>
            <p:cNvSpPr txBox="1"/>
            <p:nvPr/>
          </p:nvSpPr>
          <p:spPr>
            <a:xfrm>
              <a:off x="2749550" y="5261790"/>
              <a:ext cx="6689852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딥페이크</a:t>
              </a:r>
              <a:r>
                <a:rPr lang="en-US" altLang="ko-KR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전화 가로채기</a:t>
              </a:r>
              <a:r>
                <a:rPr lang="en-US" altLang="ko-KR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… </a:t>
              </a:r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끝없이 발전하는 수법</a:t>
              </a:r>
              <a:endParaRPr lang="en-US" altLang="ko-KR" sz="1400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</a:endParaRPr>
            </a:p>
            <a:p>
              <a:pPr marL="0" indent="0" algn="ctr">
                <a:buNone/>
              </a:pPr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피해를 막기위한 정부와 금융 기관의 끝없는 사투</a:t>
              </a:r>
              <a:endParaRPr lang="en-US" altLang="ko-KR" sz="1400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</a:endParaRPr>
            </a:p>
            <a:p>
              <a:pPr marL="0" indent="0" algn="ctr">
                <a:buNone/>
              </a:pPr>
              <a:endParaRPr lang="en-US" altLang="ko-KR" sz="400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endParaRPr>
            </a:p>
            <a:p>
              <a:pPr marL="0" indent="0" algn="ctr">
                <a:buNone/>
              </a:pP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단 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1</a:t>
              </a: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원이라도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단 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1</a:t>
              </a: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명이라도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 </a:t>
              </a:r>
              <a:r>
                <a:rPr lang="ko-KR" altLang="en-US" sz="2000" b="1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더 지키기 위해</a:t>
              </a:r>
              <a:endParaRPr lang="en-US" altLang="ko-KR" sz="20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endParaRPr>
            </a:p>
            <a:p>
              <a:pPr marL="0" indent="0" algn="ctr">
                <a:buNone/>
              </a:pPr>
              <a:r>
                <a:rPr lang="ko-KR" altLang="en-US" sz="2000" b="1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함께 고민하고 해결해야 할 중대한 사회적 문제</a:t>
              </a:r>
              <a:endParaRPr lang="en-US" altLang="ko-KR" sz="20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9ADD5DB-927E-4576-9A6F-EF9B87C9EA69}"/>
                </a:ext>
              </a:extLst>
            </p:cNvPr>
            <p:cNvSpPr/>
            <p:nvPr/>
          </p:nvSpPr>
          <p:spPr>
            <a:xfrm>
              <a:off x="676209" y="2561458"/>
              <a:ext cx="3359152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노인들에게 ‘100억원’ 뜯어낸 피싱 일당… 112 신고 전화까지 가로챘다 </a:t>
              </a:r>
              <a:r>
                <a:rPr lang="en-US" altLang="ko-KR" sz="1400" b="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b="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매일경제</a:t>
              </a:r>
              <a:r>
                <a:rPr lang="en-US" altLang="ko-KR" sz="1400" b="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B43EDA0-F05D-4C52-A723-643E3D87EDEC}"/>
                </a:ext>
              </a:extLst>
            </p:cNvPr>
            <p:cNvSpPr/>
            <p:nvPr/>
          </p:nvSpPr>
          <p:spPr>
            <a:xfrm>
              <a:off x="7921497" y="2824411"/>
              <a:ext cx="2936875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보이스피싱 피해액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'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반토막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’… </a:t>
              </a:r>
            </a:p>
            <a:p>
              <a:pPr algn="ctr"/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7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월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337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억원으로 올해 최저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한국일보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B43F7C86-A66C-4412-878D-BBA05B9DA175}"/>
                </a:ext>
              </a:extLst>
            </p:cNvPr>
            <p:cNvSpPr/>
            <p:nvPr/>
          </p:nvSpPr>
          <p:spPr>
            <a:xfrm>
              <a:off x="2093784" y="3428155"/>
              <a:ext cx="3214816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"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오늘 소방점검 나가요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"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전화에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'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덜컥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’..</a:t>
              </a:r>
            </a:p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알고보니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'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노쇼 보이스피싱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’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제주방송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BD81DD3-DA06-47E6-8A81-238A4BEB83AC}"/>
                </a:ext>
              </a:extLst>
            </p:cNvPr>
            <p:cNvSpPr/>
            <p:nvPr/>
          </p:nvSpPr>
          <p:spPr>
            <a:xfrm>
              <a:off x="7402384" y="3984946"/>
              <a:ext cx="3975100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경찰청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-KT,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협업으로 보이스피싱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·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구매대행 사기 불법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010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번호 변작 중계소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115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개소 단속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정책브리핑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17E3725-0C33-4292-A88D-07EA5E88446D}"/>
                </a:ext>
              </a:extLst>
            </p:cNvPr>
            <p:cNvSpPr txBox="1"/>
            <p:nvPr/>
          </p:nvSpPr>
          <p:spPr>
            <a:xfrm>
              <a:off x="5421715" y="1945024"/>
              <a:ext cx="13612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범죄 </a:t>
              </a:r>
              <a:r>
                <a:rPr lang="en-US" altLang="ko-KR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vs </a:t>
              </a:r>
              <a:r>
                <a:rPr lang="ko-KR" altLang="en-US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대책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B5F2574-374C-4458-803C-1D887BF70E66}"/>
                </a:ext>
              </a:extLst>
            </p:cNvPr>
            <p:cNvSpPr/>
            <p:nvPr/>
          </p:nvSpPr>
          <p:spPr>
            <a:xfrm>
              <a:off x="1269936" y="4301036"/>
              <a:ext cx="2765425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대출 미끼로 계좌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·OTP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받아 보이스피싱 자금세탁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…3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명 구속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서울신문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42581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 6">
            <a:extLst>
              <a:ext uri="{FF2B5EF4-FFF2-40B4-BE49-F238E27FC236}">
                <a16:creationId xmlns:a16="http://schemas.microsoft.com/office/drawing/2014/main" id="{26523E4F-4D96-421D-9C85-0DBFC0114F74}"/>
              </a:ext>
            </a:extLst>
          </p:cNvPr>
          <p:cNvSpPr txBox="1"/>
          <p:nvPr/>
        </p:nvSpPr>
        <p:spPr>
          <a:xfrm>
            <a:off x="585216" y="918856"/>
            <a:ext cx="10698480" cy="9014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피해를 막고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줄이고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도움주기 위해 노력하는 금융기관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은행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정부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공공기관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통신사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보안업체가</a:t>
            </a:r>
            <a:endParaRPr lang="en-US" altLang="ko-KR" sz="22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  <a:p>
            <a:pPr marL="0" indent="0" algn="l">
              <a:buNone/>
            </a:pP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보이스피싱 범죄</a:t>
            </a:r>
            <a:endParaRPr lang="en-US" altLang="ko-KR" sz="2200" dirty="0"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61" name="Text 7">
            <a:extLst>
              <a:ext uri="{FF2B5EF4-FFF2-40B4-BE49-F238E27FC236}">
                <a16:creationId xmlns:a16="http://schemas.microsoft.com/office/drawing/2014/main" id="{B86AB141-D61D-4F98-88E7-DC95CF56A724}"/>
              </a:ext>
            </a:extLst>
          </p:cNvPr>
          <p:cNvSpPr txBox="1"/>
          <p:nvPr/>
        </p:nvSpPr>
        <p:spPr>
          <a:xfrm>
            <a:off x="585216" y="719298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보이스피싱으로 부터 국민의 소중한 재산과 생명을 지키기 위해</a:t>
            </a:r>
            <a:r>
              <a:rPr lang="en-US" altLang="ko-KR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…</a:t>
            </a:r>
            <a:endParaRPr lang="en-US" altLang="ko-KR" sz="1230" dirty="0"/>
          </a:p>
        </p:txBody>
      </p:sp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640080" y="2277703"/>
            <a:ext cx="3090672" cy="304495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" y="2515447"/>
            <a:ext cx="475488" cy="475488"/>
          </a:xfrm>
          <a:prstGeom prst="ellipse">
            <a:avLst/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" y="2524591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72184" y="2515447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 err="1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금융기관</a:t>
            </a:r>
            <a:r>
              <a:rPr lang="en-US" altLang="ko-KR" sz="16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·</a:t>
            </a:r>
            <a:r>
              <a:rPr lang="ko-KR" altLang="en-US" sz="16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은행</a:t>
            </a:r>
            <a:endParaRPr lang="en-US" sz="1620" dirty="0"/>
          </a:p>
        </p:txBody>
      </p:sp>
      <p:sp>
        <p:nvSpPr>
          <p:cNvPr id="14" name="Shape 12"/>
          <p:cNvSpPr/>
          <p:nvPr/>
        </p:nvSpPr>
        <p:spPr>
          <a:xfrm>
            <a:off x="932688" y="3283543"/>
            <a:ext cx="109728" cy="109728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33856" y="3173815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FDS 이상거래 탐지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32688" y="3731599"/>
            <a:ext cx="109728" cy="109728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33856" y="3621871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ASAP 등 외부 위험정보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32688" y="4179655"/>
            <a:ext cx="109728" cy="109728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33856" y="4069927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지연이체 · 지급정지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32688" y="4627711"/>
            <a:ext cx="109728" cy="109728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133856" y="4517983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고액이체 추가확인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133088" y="2277703"/>
            <a:ext cx="3090672" cy="304495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52544" y="2515447"/>
            <a:ext cx="475488" cy="475488"/>
          </a:xfrm>
          <a:prstGeom prst="ellipse">
            <a:avLst/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52544" y="2524591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F7CF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965192" y="2515447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 err="1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정부·공공기관</a:t>
            </a:r>
            <a:endParaRPr lang="en-US" sz="1620" dirty="0"/>
          </a:p>
        </p:txBody>
      </p:sp>
      <p:sp>
        <p:nvSpPr>
          <p:cNvPr id="26" name="Shape 24"/>
          <p:cNvSpPr/>
          <p:nvPr/>
        </p:nvSpPr>
        <p:spPr>
          <a:xfrm>
            <a:off x="4425696" y="3283543"/>
            <a:ext cx="109728" cy="109728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26864" y="3173815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신고 · 피해구제 체계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425696" y="3731599"/>
            <a:ext cx="109728" cy="109728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26864" y="3621871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예방교육 · 홍보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425696" y="4179655"/>
            <a:ext cx="109728" cy="109728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26864" y="4069927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계좌 지급정지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425696" y="4627711"/>
            <a:ext cx="109728" cy="109728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26864" y="4517983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공식기관 확인 채널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626096" y="2277703"/>
            <a:ext cx="3090672" cy="304495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45552" y="2515447"/>
            <a:ext cx="475488" cy="475488"/>
          </a:xfrm>
          <a:prstGeom prst="ellipse">
            <a:avLst/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845552" y="2524591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8458200" y="2515447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 err="1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통신사·보안업체</a:t>
            </a:r>
            <a:endParaRPr lang="en-US" sz="1620" dirty="0"/>
          </a:p>
        </p:txBody>
      </p:sp>
      <p:sp>
        <p:nvSpPr>
          <p:cNvPr id="38" name="Shape 36"/>
          <p:cNvSpPr/>
          <p:nvPr/>
        </p:nvSpPr>
        <p:spPr>
          <a:xfrm>
            <a:off x="7918704" y="3283543"/>
            <a:ext cx="109728" cy="109728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119872" y="3173815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스팸번호 탐지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918704" y="3731599"/>
            <a:ext cx="109728" cy="109728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19872" y="3621871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악성 앱 차단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7918704" y="4179655"/>
            <a:ext cx="109728" cy="109728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119872" y="4069927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의심 문자 · 전화 탐지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7918704" y="4627711"/>
            <a:ext cx="109728" cy="109728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19872" y="4517983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통신 기반 위험신호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40080" y="5587831"/>
            <a:ext cx="10076688" cy="713232"/>
          </a:xfrm>
          <a:prstGeom prst="roundRect">
            <a:avLst>
              <a:gd name="adj" fmla="val 20513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77824" y="5743279"/>
            <a:ext cx="7114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안전장치는 실제 예방·차단 효과를 만들어내고 있다</a:t>
            </a:r>
            <a:endParaRPr lang="en-US" sz="1520" dirty="0"/>
          </a:p>
        </p:txBody>
      </p:sp>
      <p:sp>
        <p:nvSpPr>
          <p:cNvPr id="48" name="Shape 46"/>
          <p:cNvSpPr/>
          <p:nvPr/>
        </p:nvSpPr>
        <p:spPr>
          <a:xfrm>
            <a:off x="8641080" y="5779855"/>
            <a:ext cx="1755648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714232" y="5807287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대표 성과 1~3건</a:t>
            </a:r>
            <a:endParaRPr lang="en-US" sz="1050" dirty="0"/>
          </a:p>
        </p:txBody>
      </p:sp>
      <p:sp>
        <p:nvSpPr>
          <p:cNvPr id="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52" name="Text 5">
            <a:extLst>
              <a:ext uri="{FF2B5EF4-FFF2-40B4-BE49-F238E27FC236}">
                <a16:creationId xmlns:a16="http://schemas.microsoft.com/office/drawing/2014/main" id="{18BD87C1-342C-4A32-80E8-3279A30915AE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현황분석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현황분석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이미 사회가 이 문제를 방치하고 있지 않다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기존 보호체계를 세 주체로 나누어 정리하고, “기존 대응은 효과가 있다”는 전제를 명확히 만드는 페이지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640080" y="1920240"/>
            <a:ext cx="3090672" cy="304495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" y="2157984"/>
            <a:ext cx="475488" cy="475488"/>
          </a:xfrm>
          <a:prstGeom prst="ellipse">
            <a:avLst/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" y="2167128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72184" y="2157984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금융기관</a:t>
            </a:r>
            <a:endParaRPr lang="en-US" sz="1620" dirty="0"/>
          </a:p>
        </p:txBody>
      </p:sp>
      <p:sp>
        <p:nvSpPr>
          <p:cNvPr id="14" name="Shape 12"/>
          <p:cNvSpPr/>
          <p:nvPr/>
        </p:nvSpPr>
        <p:spPr>
          <a:xfrm>
            <a:off x="932688" y="2926080"/>
            <a:ext cx="109728" cy="109728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33856" y="28620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475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FDS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이상거래</a:t>
            </a: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탐지</a:t>
            </a:r>
            <a:endParaRPr lang="en-US" sz="1150" dirty="0">
              <a:solidFill>
                <a:srgbClr val="10213D"/>
              </a:solidFill>
              <a:latin typeface="NanumSquare" pitchFamily="34" charset="0"/>
              <a:ea typeface="NanumSquare" pitchFamily="34" charset="-122"/>
              <a:cs typeface="NanumSquare" pitchFamily="34" charset="-120"/>
            </a:endParaRPr>
          </a:p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전자금융거래 시 단말기 정보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접속위치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평소 거래 </a:t>
            </a:r>
            <a:r>
              <a:rPr lang="ko-KR" alt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패턴등을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실시간으로 분석하여 의심스러운 부정 거래를 탐치하고 차단하는 이상거래 탐지 시스템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-AI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기술 접목과 기관 간 정보 공유를 통해 대규모 금융사기 피해를 예방하는 성과를 거두었다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32688" y="3374136"/>
            <a:ext cx="109728" cy="109728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33856" y="3215639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ASAP 등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</a:t>
            </a: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위험정보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금융회사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통신사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수사기관이 보이스피싱과 관련된 외부 위험 정보를 실시간으로 공유하고 차단하는 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AI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기반 플랫폼</a:t>
            </a:r>
            <a:b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총 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46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만 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r>
              <a:rPr lang="ko-KR" alt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천건의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의심정보를 공유하며 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663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억 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6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천만원의 피해를 차단했다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32688" y="3822192"/>
            <a:ext cx="109728" cy="109728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33856" y="3771899"/>
            <a:ext cx="2286000" cy="36087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475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지연이체 ·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지급정지</a:t>
            </a:r>
            <a:endParaRPr lang="en-US" sz="1150" dirty="0">
              <a:solidFill>
                <a:srgbClr val="10213D"/>
              </a:solidFill>
              <a:latin typeface="NanumSquare" pitchFamily="34" charset="0"/>
              <a:ea typeface="NanumSquare" pitchFamily="34" charset="-122"/>
              <a:cs typeface="NanumSquare" pitchFamily="34" charset="-120"/>
            </a:endParaRPr>
          </a:p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지연이체 이체 시 수취인 계좌에 일정시간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(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최소 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시간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)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경과 후 입금되도록 하는 서비스</a:t>
            </a:r>
            <a:endParaRPr lang="en-US" altLang="ko-KR" sz="1150" dirty="0">
              <a:solidFill>
                <a:srgbClr val="10213D"/>
              </a:solidFill>
              <a:latin typeface="NanumSquare" pitchFamily="34" charset="0"/>
              <a:ea typeface="NanumSquare" pitchFamily="34" charset="-122"/>
              <a:cs typeface="NanumSquare" pitchFamily="34" charset="-120"/>
            </a:endParaRPr>
          </a:p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지급정지 전기통신금융사기 피해금이 들어간 계좌를 </a:t>
            </a:r>
            <a:r>
              <a:rPr lang="ko-KR" alt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신혹시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묶어 추가 인출을 막는 절차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보이스피싱 피해를 예방하고 은닉 자금을 차단하는데 핵심적인 성과를 거두었다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32688" y="4270248"/>
            <a:ext cx="109728" cy="109728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133856" y="4160519"/>
            <a:ext cx="2286000" cy="4575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l">
              <a:buNone/>
            </a:pP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전자금융사기 예방서비스</a:t>
            </a:r>
            <a:endParaRPr lang="en-US" altLang="ko-KR" sz="1150" dirty="0">
              <a:solidFill>
                <a:srgbClr val="FF0000"/>
              </a:solidFill>
              <a:latin typeface="NanumSquare" pitchFamily="34" charset="0"/>
            </a:endParaRPr>
          </a:p>
          <a:p>
            <a:pPr marL="0" indent="0" algn="l">
              <a:buNone/>
            </a:pP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-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금융자산을 보호하기 위해 본인확인 절차를 강화하는 서비스</a:t>
            </a:r>
            <a:b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</a:b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-1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일 누적 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100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만원 이상 </a:t>
            </a:r>
            <a:r>
              <a:rPr lang="ko-KR" altLang="en-US" sz="1150" dirty="0" err="1">
                <a:solidFill>
                  <a:srgbClr val="FF0000"/>
                </a:solidFill>
                <a:latin typeface="NanumSquare" pitchFamily="34" charset="0"/>
              </a:rPr>
              <a:t>이체등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 주요거래시 본인 명의 </a:t>
            </a:r>
            <a:r>
              <a:rPr lang="ko-KR" altLang="en-US" sz="1150" dirty="0" err="1">
                <a:solidFill>
                  <a:srgbClr val="FF0000"/>
                </a:solidFill>
                <a:latin typeface="NanumSquare" pitchFamily="34" charset="0"/>
              </a:rPr>
              <a:t>휴대폰등으로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 추가 인증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(ARS)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거친 후 거래가능</a:t>
            </a:r>
            <a:b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</a:b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-1~7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월 보이스피싱 발생건수 </a:t>
            </a:r>
            <a:r>
              <a:rPr lang="ko-KR" altLang="en-US" sz="1150" dirty="0" err="1">
                <a:solidFill>
                  <a:srgbClr val="FF0000"/>
                </a:solidFill>
                <a:latin typeface="NanumSquare" pitchFamily="34" charset="0"/>
              </a:rPr>
              <a:t>전녕동기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 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54%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감소함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.</a:t>
            </a:r>
            <a:endParaRPr lang="en-US" sz="1150" dirty="0">
              <a:solidFill>
                <a:srgbClr val="FF0000"/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133088" y="1920240"/>
            <a:ext cx="3090672" cy="304495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52544" y="2157984"/>
            <a:ext cx="475488" cy="475488"/>
          </a:xfrm>
          <a:prstGeom prst="ellipse">
            <a:avLst/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52544" y="2167128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F7CF6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965192" y="2157984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정부 · 공공기관</a:t>
            </a:r>
            <a:endParaRPr lang="en-US" sz="1620" dirty="0"/>
          </a:p>
        </p:txBody>
      </p:sp>
      <p:sp>
        <p:nvSpPr>
          <p:cNvPr id="26" name="Shape 24"/>
          <p:cNvSpPr/>
          <p:nvPr/>
        </p:nvSpPr>
        <p:spPr>
          <a:xfrm>
            <a:off x="4425696" y="2926080"/>
            <a:ext cx="109728" cy="109728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26864" y="2816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신고 ·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피해구제</a:t>
            </a: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체계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원스톱 신고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단계별 피해 구제 절차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425696" y="3374136"/>
            <a:ext cx="109728" cy="109728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26864" y="32644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예방교육 ·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홍보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범정부 대응 및 콘텐츠 배포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생활 밀착형 현장홍보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찾아가는 현장교육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425696" y="3822192"/>
            <a:ext cx="109728" cy="109728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26864" y="371246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법적 기준 및 처벌 강화</a:t>
            </a:r>
            <a:b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</a:b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-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형법상 사기죄 징역 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20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년 벌금 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5000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만원 이하로 상향되어 가중 시 최대 징역 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30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년 처벌 가능함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.</a:t>
            </a:r>
            <a:endParaRPr lang="en-US" sz="1150" dirty="0">
              <a:solidFill>
                <a:srgbClr val="FF0000"/>
              </a:solidFill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425696" y="4270248"/>
            <a:ext cx="109728" cy="109728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26864" y="4160519"/>
            <a:ext cx="2286000" cy="5489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공식기관 </a:t>
            </a:r>
            <a:r>
              <a:rPr lang="en-US" sz="1150" dirty="0" err="1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확인</a:t>
            </a:r>
            <a:r>
              <a:rPr 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채널</a:t>
            </a:r>
            <a:br>
              <a:rPr 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서류의 진위여부를 실시간으로 확인할 수 있는 대표적 공식채널</a:t>
            </a:r>
            <a:br>
              <a:rPr lang="en-US" altLang="ko-KR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altLang="ko-KR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 err="1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대검창철</a:t>
            </a:r>
            <a:r>
              <a:rPr lang="ko-KR" alt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ko-KR" altLang="en-US" sz="1150" dirty="0" err="1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찐센터</a:t>
            </a:r>
            <a:r>
              <a:rPr lang="en-US" altLang="ko-KR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highlight>
                  <a:srgbClr val="FFFF00"/>
                </a:highlight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보호나라</a:t>
            </a:r>
            <a:endParaRPr lang="en-US" sz="1150" dirty="0">
              <a:highlight>
                <a:srgbClr val="FFFF00"/>
              </a:highlight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626096" y="1920240"/>
            <a:ext cx="3090672" cy="304495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45552" y="2157984"/>
            <a:ext cx="475488" cy="475488"/>
          </a:xfrm>
          <a:prstGeom prst="ellipse">
            <a:avLst/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845552" y="2167128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8458200" y="2157984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통신사 · 보안업체</a:t>
            </a:r>
            <a:endParaRPr lang="en-US" sz="1620" dirty="0"/>
          </a:p>
        </p:txBody>
      </p:sp>
      <p:sp>
        <p:nvSpPr>
          <p:cNvPr id="38" name="Shape 36"/>
          <p:cNvSpPr/>
          <p:nvPr/>
        </p:nvSpPr>
        <p:spPr>
          <a:xfrm>
            <a:off x="7918704" y="2926080"/>
            <a:ext cx="109728" cy="109728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119872" y="2816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스팸번호</a:t>
            </a: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탐지</a:t>
            </a:r>
            <a:endParaRPr lang="en-US" sz="1150" dirty="0">
              <a:solidFill>
                <a:srgbClr val="10213D"/>
              </a:solidFill>
              <a:latin typeface="NanumSquare" pitchFamily="34" charset="0"/>
              <a:ea typeface="NanumSquare" pitchFamily="34" charset="-122"/>
              <a:cs typeface="NanumSquare" pitchFamily="34" charset="-120"/>
            </a:endParaRPr>
          </a:p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통신사 주요 앱별 탐지 서비스</a:t>
            </a:r>
            <a:b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</a:b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아까 찾은 통신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3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사 </a:t>
            </a:r>
            <a:r>
              <a:rPr lang="ko-KR" alt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탐지앱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(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예 </a:t>
            </a:r>
            <a:r>
              <a:rPr lang="ko-KR" alt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에이닷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,</a:t>
            </a:r>
            <a:r>
              <a:rPr lang="ko-KR" alt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익시오등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</a:rPr>
              <a:t>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918704" y="3374136"/>
            <a:ext cx="109728" cy="109728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19872" y="32644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악성 앱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차단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-AI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분석과 경찰청 연계 시스템을 통해 보이스피싱 및 악성 앱 탐지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/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차단 기능</a:t>
            </a:r>
            <a:b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-AI </a:t>
            </a:r>
            <a:r>
              <a:rPr lang="ko-KR" alt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스미싱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차단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경찰청 현장 출동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ASAP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7918704" y="3822192"/>
            <a:ext cx="109728" cy="109728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129016" y="3867596"/>
            <a:ext cx="2286000" cy="29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l">
              <a:buNone/>
            </a:pP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발신번호 </a:t>
            </a:r>
            <a:r>
              <a:rPr lang="ko-KR" altLang="en-US" sz="1150" dirty="0" err="1">
                <a:solidFill>
                  <a:srgbClr val="FF0000"/>
                </a:solidFill>
                <a:latin typeface="NanumSquare" pitchFamily="34" charset="0"/>
              </a:rPr>
              <a:t>변작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 차단</a:t>
            </a:r>
            <a:b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</a:b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-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보이스피싱 조직이 해외 인터넷 전화를 국내 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</a:rPr>
              <a:t>010 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</a:rPr>
              <a:t>휴대전화 번호나 공공 금융기관 번호로 속여 발신</a:t>
            </a:r>
            <a:endParaRPr lang="en-US" sz="1150" dirty="0">
              <a:solidFill>
                <a:srgbClr val="FF0000"/>
              </a:solidFill>
            </a:endParaRPr>
          </a:p>
        </p:txBody>
      </p:sp>
      <p:sp>
        <p:nvSpPr>
          <p:cNvPr id="44" name="Shape 42"/>
          <p:cNvSpPr/>
          <p:nvPr/>
        </p:nvSpPr>
        <p:spPr>
          <a:xfrm>
            <a:off x="7918704" y="4270248"/>
            <a:ext cx="109728" cy="109728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19872" y="4160519"/>
            <a:ext cx="2286000" cy="5123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통신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기반</a:t>
            </a:r>
            <a: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위험신호</a:t>
            </a:r>
            <a:br>
              <a:rPr 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인공지능과 빅데이터를 활용해 통화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/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문자 기반의 위험 신호를 실시간으로 감지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차단함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.</a:t>
            </a:r>
            <a:b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음성패턴 분석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통화내용 실시간 분석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비정상 회선 이용패턴</a:t>
            </a:r>
            <a:r>
              <a:rPr lang="en-US" altLang="ko-KR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, </a:t>
            </a:r>
            <a:r>
              <a:rPr lang="ko-KR" altLang="en-US" sz="115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유관기관 실시간 정보공유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40080" y="5230368"/>
            <a:ext cx="10076688" cy="713232"/>
          </a:xfrm>
          <a:prstGeom prst="roundRect">
            <a:avLst>
              <a:gd name="adj" fmla="val 20513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77824" y="5385816"/>
            <a:ext cx="7114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안전장치는 실제 예방·차단 효과를 만들어내고 있다</a:t>
            </a:r>
            <a:endParaRPr lang="en-US" sz="1520" dirty="0"/>
          </a:p>
        </p:txBody>
      </p:sp>
      <p:sp>
        <p:nvSpPr>
          <p:cNvPr id="48" name="Shape 46"/>
          <p:cNvSpPr/>
          <p:nvPr/>
        </p:nvSpPr>
        <p:spPr>
          <a:xfrm>
            <a:off x="8641080" y="5422392"/>
            <a:ext cx="1755648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714232" y="5449824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대표 성과 1~3건</a:t>
            </a:r>
            <a:endParaRPr lang="en-US" sz="1050" dirty="0"/>
          </a:p>
        </p:txBody>
      </p:sp>
      <p:sp>
        <p:nvSpPr>
          <p:cNvPr id="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4A0D3830-2A68-05EE-78AB-04F2E4A5CC71}"/>
              </a:ext>
            </a:extLst>
          </p:cNvPr>
          <p:cNvGrpSpPr/>
          <p:nvPr/>
        </p:nvGrpSpPr>
        <p:grpSpPr>
          <a:xfrm>
            <a:off x="521208" y="7041195"/>
            <a:ext cx="10314432" cy="621792"/>
            <a:chOff x="548640" y="5413248"/>
            <a:chExt cx="10314432" cy="621792"/>
          </a:xfrm>
        </p:grpSpPr>
        <p:sp>
          <p:nvSpPr>
            <p:cNvPr id="54" name="Shape 40">
              <a:extLst>
                <a:ext uri="{FF2B5EF4-FFF2-40B4-BE49-F238E27FC236}">
                  <a16:creationId xmlns:a16="http://schemas.microsoft.com/office/drawing/2014/main" id="{5A3D2984-DE95-E759-310A-9343A5A61B5B}"/>
                </a:ext>
              </a:extLst>
            </p:cNvPr>
            <p:cNvSpPr/>
            <p:nvPr/>
          </p:nvSpPr>
          <p:spPr>
            <a:xfrm>
              <a:off x="548640" y="5413248"/>
              <a:ext cx="10314432" cy="621792"/>
            </a:xfrm>
            <a:prstGeom prst="roundRect">
              <a:avLst>
                <a:gd name="adj" fmla="val 17647"/>
              </a:avLst>
            </a:prstGeom>
            <a:solidFill>
              <a:srgbClr val="0A3D31"/>
            </a:solidFill>
            <a:ln w="12700">
              <a:solidFill>
                <a:srgbClr val="0A3D31"/>
              </a:solidFill>
              <a:prstDash val="solid"/>
            </a:ln>
          </p:spPr>
        </p:sp>
        <p:sp>
          <p:nvSpPr>
            <p:cNvPr id="55" name="Text 41">
              <a:extLst>
                <a:ext uri="{FF2B5EF4-FFF2-40B4-BE49-F238E27FC236}">
                  <a16:creationId xmlns:a16="http://schemas.microsoft.com/office/drawing/2014/main" id="{11986C9E-9072-B0EC-21DC-0D7A43E02789}"/>
                </a:ext>
              </a:extLst>
            </p:cNvPr>
            <p:cNvSpPr/>
            <p:nvPr/>
          </p:nvSpPr>
          <p:spPr>
            <a:xfrm>
              <a:off x="804672" y="5596128"/>
              <a:ext cx="201168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30" b="1" dirty="0">
                  <a:solidFill>
                    <a:srgbClr val="B8E7D5"/>
                  </a:solidFill>
                  <a:latin typeface="NanumSquare" pitchFamily="34" charset="0"/>
                  <a:ea typeface="NanumSquare" pitchFamily="34" charset="-122"/>
                  <a:cs typeface="NanumSquare" pitchFamily="34" charset="-120"/>
                </a:rPr>
                <a:t>대표 성과 / 효과 데이터 영역</a:t>
              </a:r>
              <a:endParaRPr lang="en-US" sz="1030" dirty="0"/>
            </a:p>
          </p:txBody>
        </p:sp>
        <p:sp>
          <p:nvSpPr>
            <p:cNvPr id="56" name="Text 42">
              <a:extLst>
                <a:ext uri="{FF2B5EF4-FFF2-40B4-BE49-F238E27FC236}">
                  <a16:creationId xmlns:a16="http://schemas.microsoft.com/office/drawing/2014/main" id="{B045BE66-50F4-0281-00FF-2DD0759E3539}"/>
                </a:ext>
              </a:extLst>
            </p:cNvPr>
            <p:cNvSpPr/>
            <p:nvPr/>
          </p:nvSpPr>
          <p:spPr>
            <a:xfrm>
              <a:off x="2788920" y="5568696"/>
              <a:ext cx="765352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FFFFFF"/>
                  </a:solidFill>
                  <a:latin typeface="NanumSquare" pitchFamily="34" charset="0"/>
                  <a:ea typeface="NanumSquare" pitchFamily="34" charset="-122"/>
                  <a:cs typeface="NanumSquare" pitchFamily="34" charset="-120"/>
                </a:rPr>
                <a:t>FDS · ASAP 등 기존 안전장치가 실제 효과를 내고 있다는 근거 1~3건 배치</a:t>
              </a:r>
              <a:endParaRPr lang="en-US" sz="1100" dirty="0"/>
            </a:p>
          </p:txBody>
        </p:sp>
      </p:grpSp>
      <p:sp>
        <p:nvSpPr>
          <p:cNvPr id="57" name="Text 41">
            <a:extLst>
              <a:ext uri="{FF2B5EF4-FFF2-40B4-BE49-F238E27FC236}">
                <a16:creationId xmlns:a16="http://schemas.microsoft.com/office/drawing/2014/main" id="{96D9ADFE-2D9D-913B-F0DA-B706E0E1AA3D}"/>
              </a:ext>
            </a:extLst>
          </p:cNvPr>
          <p:cNvSpPr txBox="1"/>
          <p:nvPr/>
        </p:nvSpPr>
        <p:spPr>
          <a:xfrm>
            <a:off x="8110728" y="3634847"/>
            <a:ext cx="2286000" cy="2042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의심 문자 · </a:t>
            </a:r>
            <a:r>
              <a:rPr lang="en-US" sz="1150" dirty="0" err="1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전화</a:t>
            </a:r>
            <a:r>
              <a:rPr 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sz="1150" dirty="0" err="1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탐지</a:t>
            </a:r>
            <a:br>
              <a:rPr 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</a:br>
            <a:r>
              <a:rPr 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-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스팸번호 탐지와 같은 분류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.(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통신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r>
              <a:rPr lang="ko-KR" altLang="en-US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</a:t>
            </a:r>
            <a:r>
              <a:rPr lang="en-US" altLang="ko-KR" sz="1150" dirty="0">
                <a:solidFill>
                  <a:srgbClr val="FF000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)</a:t>
            </a:r>
            <a:endParaRPr lang="en-US" sz="115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7F557F7-90DD-E208-6EE3-97F7496AB09F}"/>
              </a:ext>
            </a:extLst>
          </p:cNvPr>
          <p:cNvSpPr/>
          <p:nvPr/>
        </p:nvSpPr>
        <p:spPr>
          <a:xfrm>
            <a:off x="899319" y="1257300"/>
            <a:ext cx="3057525" cy="3721100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r>
              <a:rPr lang="ko-KR" altLang="ko-KR" sz="1000" b="1" dirty="0">
                <a:solidFill>
                  <a:schemeClr val="bg1"/>
                </a:solidFill>
              </a:rPr>
              <a:t>보이스피싱 의심 </a:t>
            </a:r>
            <a:r>
              <a:rPr lang="ko-KR" altLang="ko-KR" sz="1000" b="1" dirty="0" err="1">
                <a:solidFill>
                  <a:schemeClr val="bg1"/>
                </a:solidFill>
              </a:rPr>
              <a:t>금융·통신·수사정보｢ASAP</a:t>
            </a:r>
            <a:r>
              <a:rPr lang="ko-KR" altLang="ko-KR" sz="1000" b="1" baseline="30000" dirty="0" err="1">
                <a:solidFill>
                  <a:schemeClr val="bg1"/>
                </a:solidFill>
              </a:rPr>
              <a:t>에이샙</a:t>
            </a:r>
            <a:r>
              <a:rPr lang="ko-KR" altLang="ko-KR" sz="1000" b="1" baseline="30000" dirty="0">
                <a:solidFill>
                  <a:schemeClr val="bg1"/>
                </a:solidFill>
              </a:rPr>
              <a:t>*</a:t>
            </a:r>
            <a:r>
              <a:rPr lang="ko-KR" altLang="ko-KR" sz="1000" b="1" dirty="0">
                <a:solidFill>
                  <a:schemeClr val="bg1"/>
                </a:solidFill>
              </a:rPr>
              <a:t>｣</a:t>
            </a:r>
            <a:endParaRPr lang="en-US" altLang="ko-KR" sz="1000" b="1" dirty="0">
              <a:solidFill>
                <a:schemeClr val="bg1"/>
              </a:solidFill>
            </a:endParaRPr>
          </a:p>
          <a:p>
            <a:r>
              <a:rPr lang="ko-KR" altLang="ko-KR" sz="1000" dirty="0">
                <a:solidFill>
                  <a:schemeClr val="bg1"/>
                </a:solidFill>
              </a:rPr>
              <a:t>보이스피싱 </a:t>
            </a:r>
            <a:r>
              <a:rPr lang="ko-KR" altLang="ko-KR" sz="1000" dirty="0" err="1">
                <a:solidFill>
                  <a:schemeClr val="bg1"/>
                </a:solidFill>
              </a:rPr>
              <a:t>정보공유·분석</a:t>
            </a:r>
            <a:r>
              <a:rPr lang="ko-KR" altLang="ko-KR" sz="1000" dirty="0">
                <a:solidFill>
                  <a:schemeClr val="bg1"/>
                </a:solidFill>
              </a:rPr>
              <a:t> AI 플랫폼 (</a:t>
            </a:r>
            <a:r>
              <a:rPr lang="ko-KR" altLang="ko-KR" sz="1000" u="sng" dirty="0">
                <a:solidFill>
                  <a:schemeClr val="bg1"/>
                </a:solidFill>
              </a:rPr>
              <a:t>A</a:t>
            </a:r>
            <a:r>
              <a:rPr lang="ko-KR" altLang="ko-KR" sz="1000" dirty="0">
                <a:solidFill>
                  <a:schemeClr val="bg1"/>
                </a:solidFill>
              </a:rPr>
              <a:t>I-</a:t>
            </a:r>
            <a:r>
              <a:rPr lang="ko-KR" altLang="ko-KR" sz="1000" dirty="0" err="1">
                <a:solidFill>
                  <a:schemeClr val="bg1"/>
                </a:solidFill>
              </a:rPr>
              <a:t>based</a:t>
            </a:r>
            <a:r>
              <a:rPr lang="ko-KR" altLang="ko-KR" sz="1000" dirty="0">
                <a:solidFill>
                  <a:schemeClr val="bg1"/>
                </a:solidFill>
              </a:rPr>
              <a:t> </a:t>
            </a:r>
            <a:r>
              <a:rPr lang="ko-KR" altLang="ko-KR" sz="1000" dirty="0" err="1">
                <a:solidFill>
                  <a:schemeClr val="bg1"/>
                </a:solidFill>
              </a:rPr>
              <a:t>anti-phishing</a:t>
            </a:r>
            <a:r>
              <a:rPr lang="ko-KR" altLang="ko-KR" sz="1000" dirty="0">
                <a:solidFill>
                  <a:schemeClr val="bg1"/>
                </a:solidFill>
              </a:rPr>
              <a:t> </a:t>
            </a:r>
            <a:r>
              <a:rPr lang="ko-KR" altLang="ko-KR" sz="1000" u="sng" dirty="0" err="1">
                <a:solidFill>
                  <a:schemeClr val="bg1"/>
                </a:solidFill>
              </a:rPr>
              <a:t>S</a:t>
            </a:r>
            <a:r>
              <a:rPr lang="ko-KR" altLang="ko-KR" sz="1000" dirty="0" err="1">
                <a:solidFill>
                  <a:schemeClr val="bg1"/>
                </a:solidFill>
              </a:rPr>
              <a:t>haring</a:t>
            </a:r>
            <a:r>
              <a:rPr lang="ko-KR" altLang="ko-KR" sz="1000" dirty="0">
                <a:solidFill>
                  <a:schemeClr val="bg1"/>
                </a:solidFill>
              </a:rPr>
              <a:t> &amp; </a:t>
            </a:r>
            <a:r>
              <a:rPr lang="ko-KR" altLang="ko-KR" sz="1000" u="sng" dirty="0" err="1">
                <a:solidFill>
                  <a:schemeClr val="bg1"/>
                </a:solidFill>
              </a:rPr>
              <a:t>A</a:t>
            </a:r>
            <a:r>
              <a:rPr lang="ko-KR" altLang="ko-KR" sz="1000" dirty="0" err="1">
                <a:solidFill>
                  <a:schemeClr val="bg1"/>
                </a:solidFill>
              </a:rPr>
              <a:t>nalysis</a:t>
            </a:r>
            <a:r>
              <a:rPr lang="ko-KR" altLang="ko-KR" sz="1000" dirty="0">
                <a:solidFill>
                  <a:schemeClr val="bg1"/>
                </a:solidFill>
              </a:rPr>
              <a:t> </a:t>
            </a:r>
            <a:r>
              <a:rPr lang="ko-KR" altLang="ko-KR" sz="1000" u="sng" dirty="0" err="1">
                <a:solidFill>
                  <a:schemeClr val="bg1"/>
                </a:solidFill>
              </a:rPr>
              <a:t>P</a:t>
            </a:r>
            <a:r>
              <a:rPr lang="ko-KR" altLang="ko-KR" sz="1000" dirty="0" err="1">
                <a:solidFill>
                  <a:schemeClr val="bg1"/>
                </a:solidFill>
              </a:rPr>
              <a:t>latform</a:t>
            </a:r>
            <a:r>
              <a:rPr lang="ko-KR" altLang="ko-KR" sz="1000" dirty="0">
                <a:solidFill>
                  <a:schemeClr val="bg1"/>
                </a:solidFill>
              </a:rPr>
              <a:t>)</a:t>
            </a:r>
            <a:r>
              <a:rPr lang="ko-KR" altLang="ko-KR" sz="1000" b="1" dirty="0">
                <a:solidFill>
                  <a:schemeClr val="bg1"/>
                </a:solidFill>
              </a:rPr>
              <a:t> </a:t>
            </a:r>
            <a:endParaRPr lang="en-US" altLang="ko-KR" sz="1000" b="1" dirty="0">
              <a:solidFill>
                <a:schemeClr val="bg1"/>
              </a:solidFill>
            </a:endParaRPr>
          </a:p>
          <a:p>
            <a:endParaRPr lang="en-US" altLang="ko-KR" sz="1000" b="1" dirty="0">
              <a:solidFill>
                <a:schemeClr val="bg1"/>
              </a:solidFill>
            </a:endParaRPr>
          </a:p>
          <a:p>
            <a:r>
              <a:rPr lang="en-US" altLang="ko-KR" sz="1000" b="1" dirty="0">
                <a:solidFill>
                  <a:schemeClr val="bg1"/>
                </a:solidFill>
              </a:rPr>
              <a:t>[</a:t>
            </a:r>
            <a:r>
              <a:rPr lang="ko-KR" altLang="en-US" sz="1000" b="1" dirty="0">
                <a:solidFill>
                  <a:schemeClr val="bg1"/>
                </a:solidFill>
              </a:rPr>
              <a:t>주요내용</a:t>
            </a:r>
            <a:r>
              <a:rPr lang="en-US" altLang="ko-KR" sz="1000" b="1" dirty="0">
                <a:solidFill>
                  <a:schemeClr val="bg1"/>
                </a:solidFill>
              </a:rPr>
              <a:t>]</a:t>
            </a:r>
          </a:p>
          <a:p>
            <a:pPr marL="228600" indent="-228600">
              <a:buAutoNum type="arabicPeriod"/>
            </a:pPr>
            <a:r>
              <a:rPr lang="ko-KR" altLang="en-US" sz="1000" b="1" dirty="0">
                <a:solidFill>
                  <a:schemeClr val="bg1"/>
                </a:solidFill>
              </a:rPr>
              <a:t>정보공유 대상기관 및 공유항목 확대</a:t>
            </a:r>
            <a:endParaRPr lang="en-US" altLang="ko-KR" sz="1000" b="1" dirty="0">
              <a:solidFill>
                <a:schemeClr val="bg1"/>
              </a:solidFill>
            </a:endParaRPr>
          </a:p>
          <a:p>
            <a:pPr marL="171450" indent="-171450">
              <a:buFontTx/>
              <a:buChar char="-"/>
            </a:pPr>
            <a:r>
              <a:rPr lang="ko-KR" altLang="en-US" sz="1000" b="1" dirty="0">
                <a:solidFill>
                  <a:schemeClr val="bg1"/>
                </a:solidFill>
              </a:rPr>
              <a:t>피해발생계좌</a:t>
            </a:r>
            <a:r>
              <a:rPr lang="en-US" altLang="ko-KR" sz="1000" b="1" dirty="0">
                <a:solidFill>
                  <a:schemeClr val="bg1"/>
                </a:solidFill>
              </a:rPr>
              <a:t>/</a:t>
            </a:r>
            <a:r>
              <a:rPr lang="ko-KR" altLang="en-US" sz="1000" b="1" dirty="0">
                <a:solidFill>
                  <a:schemeClr val="bg1"/>
                </a:solidFill>
              </a:rPr>
              <a:t>사기이용계좌</a:t>
            </a:r>
            <a:r>
              <a:rPr lang="en-US" altLang="ko-KR" sz="1000" b="1" dirty="0">
                <a:solidFill>
                  <a:schemeClr val="bg1"/>
                </a:solidFill>
              </a:rPr>
              <a:t>/</a:t>
            </a:r>
            <a:r>
              <a:rPr lang="ko-KR" altLang="en-US" sz="1000" b="1" dirty="0" err="1">
                <a:solidFill>
                  <a:schemeClr val="bg1"/>
                </a:solidFill>
              </a:rPr>
              <a:t>사기관련의심계좌</a:t>
            </a:r>
            <a:r>
              <a:rPr lang="ko-KR" altLang="en-US" sz="1000" b="1" dirty="0">
                <a:solidFill>
                  <a:schemeClr val="bg1"/>
                </a:solidFill>
              </a:rPr>
              <a:t> 관련 </a:t>
            </a:r>
            <a:r>
              <a:rPr lang="ko-KR" altLang="en-US" sz="1000" b="1" dirty="0">
                <a:solidFill>
                  <a:srgbClr val="FF0000"/>
                </a:solidFill>
              </a:rPr>
              <a:t>계좌번호</a:t>
            </a:r>
            <a:r>
              <a:rPr lang="en-US" altLang="ko-KR" sz="1000" b="1" dirty="0">
                <a:solidFill>
                  <a:srgbClr val="FF0000"/>
                </a:solidFill>
              </a:rPr>
              <a:t>, </a:t>
            </a:r>
            <a:r>
              <a:rPr lang="ko-KR" altLang="en-US" sz="1000" b="1" dirty="0">
                <a:solidFill>
                  <a:srgbClr val="FF0000"/>
                </a:solidFill>
              </a:rPr>
              <a:t>거래내역</a:t>
            </a:r>
            <a:r>
              <a:rPr lang="en-US" altLang="ko-KR" sz="1000" b="1" dirty="0">
                <a:solidFill>
                  <a:srgbClr val="FF0000"/>
                </a:solidFill>
              </a:rPr>
              <a:t>, </a:t>
            </a:r>
            <a:r>
              <a:rPr lang="ko-KR" altLang="en-US" sz="1000" b="1" dirty="0">
                <a:solidFill>
                  <a:srgbClr val="FF0000"/>
                </a:solidFill>
              </a:rPr>
              <a:t>명의인 정보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pPr marL="171450" indent="-171450">
              <a:buFontTx/>
              <a:buChar char="-"/>
            </a:pPr>
            <a:r>
              <a:rPr lang="ko-KR" altLang="en-US" sz="1000" b="1" dirty="0">
                <a:solidFill>
                  <a:schemeClr val="bg1"/>
                </a:solidFill>
              </a:rPr>
              <a:t>보이스피싱에 사용된 것으로 의심되는 </a:t>
            </a:r>
            <a:r>
              <a:rPr lang="ko-KR" altLang="en-US" sz="1000" b="1" dirty="0">
                <a:solidFill>
                  <a:srgbClr val="FF0000"/>
                </a:solidFill>
              </a:rPr>
              <a:t>전화번호</a:t>
            </a:r>
            <a:r>
              <a:rPr lang="en-US" altLang="ko-KR" sz="1000" b="1" dirty="0">
                <a:solidFill>
                  <a:srgbClr val="FF0000"/>
                </a:solidFill>
              </a:rPr>
              <a:t>/</a:t>
            </a:r>
            <a:r>
              <a:rPr lang="ko-KR" altLang="en-US" sz="1000" b="1" dirty="0">
                <a:solidFill>
                  <a:srgbClr val="FF0000"/>
                </a:solidFill>
              </a:rPr>
              <a:t>이용자 관련 정보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pPr marL="171450" indent="-171450">
              <a:buFontTx/>
              <a:buChar char="-"/>
            </a:pPr>
            <a:r>
              <a:rPr lang="ko-KR" altLang="en-US" sz="1000" b="1" dirty="0">
                <a:solidFill>
                  <a:schemeClr val="bg1"/>
                </a:solidFill>
              </a:rPr>
              <a:t>보이스피싱 목적으로 사용된 </a:t>
            </a:r>
            <a:r>
              <a:rPr lang="ko-KR" altLang="en-US" sz="1000" b="1" dirty="0" err="1">
                <a:solidFill>
                  <a:srgbClr val="FF0000"/>
                </a:solidFill>
              </a:rPr>
              <a:t>악성앱</a:t>
            </a:r>
            <a:r>
              <a:rPr lang="ko-KR" altLang="en-US" sz="1000" b="1" dirty="0">
                <a:solidFill>
                  <a:srgbClr val="FF0000"/>
                </a:solidFill>
              </a:rPr>
              <a:t> 등</a:t>
            </a:r>
            <a:r>
              <a:rPr lang="ko-KR" altLang="en-US" sz="1000" b="1" dirty="0">
                <a:solidFill>
                  <a:schemeClr val="bg1"/>
                </a:solidFill>
              </a:rPr>
              <a:t> 개인정보 수집프로그램 관련 정보</a:t>
            </a:r>
            <a:endParaRPr lang="en-US" altLang="ko-KR" sz="1000" b="1" dirty="0">
              <a:solidFill>
                <a:schemeClr val="bg1"/>
              </a:solidFill>
            </a:endParaRPr>
          </a:p>
          <a:p>
            <a:pPr marL="171450" indent="-171450">
              <a:buFontTx/>
              <a:buChar char="-"/>
            </a:pPr>
            <a:r>
              <a:rPr lang="ko-KR" altLang="en-US" sz="1000" b="1" dirty="0">
                <a:solidFill>
                  <a:schemeClr val="bg1"/>
                </a:solidFill>
              </a:rPr>
              <a:t>각 금융 회사의 </a:t>
            </a:r>
            <a:r>
              <a:rPr lang="ko-KR" altLang="en-US" sz="1000" b="1" dirty="0" err="1">
                <a:solidFill>
                  <a:srgbClr val="FF0000"/>
                </a:solidFill>
              </a:rPr>
              <a:t>피해의심거래</a:t>
            </a:r>
            <a:r>
              <a:rPr lang="ko-KR" altLang="en-US" sz="1000" b="1" dirty="0">
                <a:solidFill>
                  <a:srgbClr val="FF0000"/>
                </a:solidFill>
              </a:rPr>
              <a:t> 탐지정보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pPr marL="228600" indent="-228600">
              <a:buAutoNum type="arabicPeriod"/>
            </a:pPr>
            <a:r>
              <a:rPr lang="ko-KR" altLang="en-US" sz="1000" b="1" dirty="0">
                <a:solidFill>
                  <a:schemeClr val="bg1"/>
                </a:solidFill>
              </a:rPr>
              <a:t>정보제공 제한규정 적용 </a:t>
            </a:r>
            <a:r>
              <a:rPr lang="ko-KR" altLang="en-US" sz="1000" b="1" dirty="0" err="1">
                <a:solidFill>
                  <a:schemeClr val="bg1"/>
                </a:solidFill>
              </a:rPr>
              <a:t>배체</a:t>
            </a:r>
            <a:endParaRPr lang="en-US" altLang="ko-KR" sz="1000" b="1" dirty="0">
              <a:solidFill>
                <a:schemeClr val="bg1"/>
              </a:solidFill>
            </a:endParaRPr>
          </a:p>
          <a:p>
            <a:pPr marL="171450" indent="-171450">
              <a:buFontTx/>
              <a:buChar char="-"/>
            </a:pPr>
            <a:r>
              <a:rPr lang="ko-KR" altLang="en-US" sz="1000" b="1" dirty="0">
                <a:solidFill>
                  <a:schemeClr val="bg1"/>
                </a:solidFill>
              </a:rPr>
              <a:t>기관 간 신속한 정보공유를 위해 정보제공을 제한하는 법률 적요 배제하여 법정 안정성 확보</a:t>
            </a:r>
            <a:endParaRPr lang="en-US" altLang="ko-KR" sz="1000" b="1" dirty="0">
              <a:solidFill>
                <a:schemeClr val="bg1"/>
              </a:solidFill>
            </a:endParaRPr>
          </a:p>
          <a:p>
            <a:r>
              <a:rPr lang="en-US" altLang="ko-KR" sz="1000" b="1" dirty="0">
                <a:solidFill>
                  <a:schemeClr val="bg1"/>
                </a:solidFill>
              </a:rPr>
              <a:t>- </a:t>
            </a:r>
            <a:r>
              <a:rPr lang="ko-KR" altLang="en-US" sz="1000" b="1" dirty="0">
                <a:solidFill>
                  <a:schemeClr val="bg1"/>
                </a:solidFill>
              </a:rPr>
              <a:t> </a:t>
            </a:r>
            <a:r>
              <a:rPr lang="ko-KR" altLang="en-US" sz="1000" b="1" dirty="0" err="1">
                <a:solidFill>
                  <a:schemeClr val="bg1"/>
                </a:solidFill>
              </a:rPr>
              <a:t>정보굥유</a:t>
            </a:r>
            <a:r>
              <a:rPr lang="ko-KR" altLang="en-US" sz="1000" b="1" dirty="0">
                <a:solidFill>
                  <a:schemeClr val="bg1"/>
                </a:solidFill>
              </a:rPr>
              <a:t> 처리 시 개인정보 오</a:t>
            </a:r>
            <a:r>
              <a:rPr lang="en-US" altLang="ko-KR" sz="1000" b="1" dirty="0">
                <a:solidFill>
                  <a:schemeClr val="bg1"/>
                </a:solidFill>
              </a:rPr>
              <a:t>/</a:t>
            </a:r>
            <a:r>
              <a:rPr lang="ko-KR" altLang="en-US" sz="1000" b="1" dirty="0">
                <a:solidFill>
                  <a:schemeClr val="bg1"/>
                </a:solidFill>
              </a:rPr>
              <a:t>남용을 방지위해 통제장치 마련함</a:t>
            </a:r>
            <a:r>
              <a:rPr lang="en-US" altLang="ko-KR" sz="1000" b="1" dirty="0">
                <a:solidFill>
                  <a:schemeClr val="bg1"/>
                </a:solidFill>
              </a:rPr>
              <a:t>(</a:t>
            </a:r>
            <a:r>
              <a:rPr lang="ko-KR" altLang="en-US" sz="1000" b="1" dirty="0">
                <a:solidFill>
                  <a:schemeClr val="bg1"/>
                </a:solidFill>
              </a:rPr>
              <a:t>보관기간 및 파기</a:t>
            </a:r>
            <a:r>
              <a:rPr lang="en-US" altLang="ko-KR" sz="1000" b="1" dirty="0">
                <a:solidFill>
                  <a:schemeClr val="bg1"/>
                </a:solidFill>
              </a:rPr>
              <a:t>/</a:t>
            </a:r>
            <a:r>
              <a:rPr lang="ko-KR" altLang="en-US" sz="1000" b="1" dirty="0">
                <a:solidFill>
                  <a:schemeClr val="bg1"/>
                </a:solidFill>
              </a:rPr>
              <a:t>삭제방법</a:t>
            </a:r>
            <a:r>
              <a:rPr lang="en-US" altLang="ko-KR" sz="1000" b="1" dirty="0">
                <a:solidFill>
                  <a:schemeClr val="bg1"/>
                </a:solidFill>
              </a:rPr>
              <a:t>)</a:t>
            </a:r>
          </a:p>
          <a:p>
            <a:pPr marL="228600" indent="-228600">
              <a:buAutoNum type="arabicPeriod"/>
            </a:pPr>
            <a:r>
              <a:rPr lang="ko-KR" altLang="en-US" sz="1000" b="1" dirty="0">
                <a:solidFill>
                  <a:schemeClr val="bg1"/>
                </a:solidFill>
              </a:rPr>
              <a:t>정보공유분석기관 지정</a:t>
            </a:r>
            <a:endParaRPr lang="en-US" altLang="ko-KR" sz="1000" b="1" dirty="0">
              <a:solidFill>
                <a:schemeClr val="bg1"/>
              </a:solidFill>
            </a:endParaRPr>
          </a:p>
          <a:p>
            <a:r>
              <a:rPr lang="en-US" altLang="ko-KR" sz="1000" b="1" dirty="0">
                <a:solidFill>
                  <a:schemeClr val="bg1"/>
                </a:solidFill>
              </a:rPr>
              <a:t>-</a:t>
            </a:r>
            <a:r>
              <a:rPr lang="ko-KR" altLang="en-US" sz="1000" b="1" dirty="0">
                <a:solidFill>
                  <a:schemeClr val="bg1"/>
                </a:solidFill>
              </a:rPr>
              <a:t>금융위원회에서 </a:t>
            </a:r>
            <a:r>
              <a:rPr lang="en-US" altLang="ko-KR" sz="1000" b="1" dirty="0">
                <a:solidFill>
                  <a:schemeClr val="bg1"/>
                </a:solidFill>
              </a:rPr>
              <a:t>8/4</a:t>
            </a:r>
            <a:r>
              <a:rPr lang="ko-KR" altLang="en-US" sz="1000" b="1" dirty="0">
                <a:solidFill>
                  <a:schemeClr val="bg1"/>
                </a:solidFill>
              </a:rPr>
              <a:t>일 금융보안원을 정보공유분석기관으로 지정</a:t>
            </a:r>
            <a:endParaRPr lang="en-US" altLang="ko-KR" sz="1000" b="1" dirty="0">
              <a:solidFill>
                <a:schemeClr val="bg1"/>
              </a:solidFill>
            </a:endParaRPr>
          </a:p>
          <a:p>
            <a:pPr marL="228600" indent="-228600">
              <a:buAutoNum type="arabicPeriod"/>
            </a:pPr>
            <a:endParaRPr lang="en-US" altLang="ko-KR" sz="1000" b="1" dirty="0">
              <a:solidFill>
                <a:schemeClr val="bg1"/>
              </a:solidFill>
            </a:endParaRPr>
          </a:p>
          <a:p>
            <a:endParaRPr lang="ko-KR" altLang="ko-KR" dirty="0">
              <a:solidFill>
                <a:schemeClr val="bg1"/>
              </a:solidFill>
            </a:endParaRPr>
          </a:p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1731D10-2AB8-E14C-CE4B-2BF0243DD73C}"/>
              </a:ext>
            </a:extLst>
          </p:cNvPr>
          <p:cNvSpPr/>
          <p:nvPr/>
        </p:nvSpPr>
        <p:spPr>
          <a:xfrm>
            <a:off x="4189413" y="1257300"/>
            <a:ext cx="3284537" cy="3721100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A986D8-2EB3-4921-5250-5451181AE4FA}"/>
              </a:ext>
            </a:extLst>
          </p:cNvPr>
          <p:cNvSpPr txBox="1"/>
          <p:nvPr/>
        </p:nvSpPr>
        <p:spPr>
          <a:xfrm>
            <a:off x="666750" y="857190"/>
            <a:ext cx="47371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hlinkClick r:id="rId2"/>
              </a:rPr>
              <a:t>https://www.fsc.go.kr/no010101/87474</a:t>
            </a:r>
            <a:r>
              <a:rPr lang="en-US" altLang="ko-KR" sz="1000" dirty="0"/>
              <a:t> asap</a:t>
            </a:r>
            <a:r>
              <a:rPr lang="ko-KR" altLang="en-US" sz="1000" dirty="0"/>
              <a:t>링크</a:t>
            </a:r>
            <a:r>
              <a:rPr lang="en-US" altLang="ko-KR" sz="1000" dirty="0"/>
              <a:t>(</a:t>
            </a:r>
            <a:r>
              <a:rPr lang="ko-KR" altLang="en-US" sz="1000" dirty="0"/>
              <a:t>금융위원회</a:t>
            </a:r>
            <a:r>
              <a:rPr lang="en-US" altLang="ko-KR" sz="1000" dirty="0"/>
              <a:t>)</a:t>
            </a:r>
          </a:p>
          <a:p>
            <a:r>
              <a:rPr lang="en-US" altLang="ko-KR" sz="1000" dirty="0">
                <a:hlinkClick r:id="rId3"/>
              </a:rPr>
              <a:t>https://blog.naver.com/blogfsc/224162941029</a:t>
            </a:r>
            <a:r>
              <a:rPr lang="en-US" altLang="ko-KR" sz="1000" dirty="0"/>
              <a:t> (</a:t>
            </a:r>
            <a:r>
              <a:rPr lang="ko-KR" altLang="en-US" sz="1000" dirty="0"/>
              <a:t>금융위원회 </a:t>
            </a:r>
            <a:r>
              <a:rPr lang="ko-KR" altLang="en-US" sz="1000" dirty="0" err="1"/>
              <a:t>공식블로그</a:t>
            </a:r>
            <a:r>
              <a:rPr lang="ko-KR" altLang="en-US" sz="1000" dirty="0"/>
              <a:t> 성과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3854454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BC8BE7E-C3C9-422C-823E-6F8CD0A14A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386" y="2252134"/>
            <a:ext cx="8420296" cy="4148666"/>
          </a:xfrm>
          <a:prstGeom prst="rect">
            <a:avLst/>
          </a:prstGeom>
        </p:spPr>
      </p:pic>
      <p:sp>
        <p:nvSpPr>
          <p:cNvPr id="6" name="Text 6">
            <a:extLst>
              <a:ext uri="{FF2B5EF4-FFF2-40B4-BE49-F238E27FC236}">
                <a16:creationId xmlns:a16="http://schemas.microsoft.com/office/drawing/2014/main" id="{D6208E80-776E-405F-A21F-B3FD8A861BC6}"/>
              </a:ext>
            </a:extLst>
          </p:cNvPr>
          <p:cNvSpPr txBox="1"/>
          <p:nvPr/>
        </p:nvSpPr>
        <p:spPr>
          <a:xfrm>
            <a:off x="448395" y="308525"/>
            <a:ext cx="10698480" cy="119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대표적이고 금융감독원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(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금융권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)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 요즘 잘한다고 밀고 있는 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asap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플랫폼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.</a:t>
            </a:r>
          </a:p>
          <a:p>
            <a:pPr marL="0" indent="0" algn="l">
              <a:buNone/>
            </a:pP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,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체계도 잘 잡히고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,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실제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</a:rPr>
              <a:t>성과도 매우 좋다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</a:rPr>
              <a:t>!</a:t>
            </a:r>
            <a:endParaRPr lang="en-US" sz="28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2955D3-57EC-4456-BEB6-9D006CC87872}"/>
              </a:ext>
            </a:extLst>
          </p:cNvPr>
          <p:cNvSpPr/>
          <p:nvPr/>
        </p:nvSpPr>
        <p:spPr>
          <a:xfrm>
            <a:off x="177801" y="5063067"/>
            <a:ext cx="2311400" cy="1337733"/>
          </a:xfrm>
          <a:prstGeom prst="rect">
            <a:avLst/>
          </a:prstGeom>
          <a:solidFill>
            <a:schemeClr val="accent2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sz="1400" dirty="0"/>
              <a:t>신문 기사 내용</a:t>
            </a:r>
            <a:endParaRPr lang="en-US" altLang="ko-KR" sz="1400" dirty="0"/>
          </a:p>
          <a:p>
            <a:pPr algn="ctr"/>
            <a:r>
              <a:rPr lang="ko-KR" altLang="en-US" sz="1400" dirty="0"/>
              <a:t>발췌 및 추가해도 좋을듯</a:t>
            </a:r>
            <a:r>
              <a:rPr lang="en-US" altLang="ko-KR" sz="1400" dirty="0"/>
              <a:t>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F50702-17D2-485E-9D1C-283BD8EA7E45}"/>
              </a:ext>
            </a:extLst>
          </p:cNvPr>
          <p:cNvSpPr/>
          <p:nvPr/>
        </p:nvSpPr>
        <p:spPr>
          <a:xfrm>
            <a:off x="9707033" y="5063067"/>
            <a:ext cx="2311400" cy="1337733"/>
          </a:xfrm>
          <a:prstGeom prst="rect">
            <a:avLst/>
          </a:prstGeom>
          <a:solidFill>
            <a:schemeClr val="accent2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sz="1400" dirty="0"/>
              <a:t>여기도 신문 기사 내용</a:t>
            </a:r>
            <a:endParaRPr lang="en-US" altLang="ko-KR" sz="1400" dirty="0"/>
          </a:p>
          <a:p>
            <a:pPr algn="ctr"/>
            <a:r>
              <a:rPr lang="ko-KR" altLang="en-US" sz="1400" dirty="0"/>
              <a:t>발췌 및 추가하고</a:t>
            </a:r>
            <a:r>
              <a:rPr lang="en-US" altLang="ko-KR" sz="1400" dirty="0"/>
              <a:t>,</a:t>
            </a:r>
          </a:p>
          <a:p>
            <a:pPr algn="ctr"/>
            <a:endParaRPr lang="en-US" altLang="ko-KR" sz="1400" dirty="0"/>
          </a:p>
          <a:p>
            <a:pPr algn="ctr"/>
            <a:r>
              <a:rPr lang="ko-KR" altLang="en-US" sz="1400" dirty="0"/>
              <a:t>데이터 차트</a:t>
            </a:r>
            <a:r>
              <a:rPr lang="en-US" altLang="ko-KR" sz="1400" dirty="0"/>
              <a:t>, </a:t>
            </a:r>
            <a:r>
              <a:rPr lang="ko-KR" altLang="en-US" sz="1400" dirty="0"/>
              <a:t>그래프 보여주면 좋을듯</a:t>
            </a:r>
            <a:r>
              <a:rPr lang="en-US" altLang="ko-KR" sz="1400" dirty="0"/>
              <a:t>!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1F748F-CE99-44C3-BE5C-91BEFD64D4BB}"/>
              </a:ext>
            </a:extLst>
          </p:cNvPr>
          <p:cNvSpPr txBox="1"/>
          <p:nvPr/>
        </p:nvSpPr>
        <p:spPr>
          <a:xfrm>
            <a:off x="177801" y="2331811"/>
            <a:ext cx="196426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ASAP 플랫폼의 주요 기능</a:t>
            </a: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실시간 정보 공유: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금융사, 통신사, 수사기관이 보이스피싱 의심 정보를 동의 없이 즉각 공유</a:t>
            </a:r>
            <a:endParaRPr kumimoji="0" lang="en-US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AI 패턴 분석: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의심 계좌 거래나 악성앱 탐지 데이터를 분석해 사전에 자금 이체 차단</a:t>
            </a:r>
            <a:endParaRPr kumimoji="0" lang="en-US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신속한 지급정지: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피해 확산을 막기 위해 연계된 금융사 계좌를 빠르게 지급정지 조치 [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1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2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hlinkClick r:id="rId5"/>
              </a:rPr>
              <a:t>3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4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5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hlinkClick r:id="rId8"/>
              </a:rPr>
              <a:t>6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17182780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17BD624E-7C93-491A-A2DD-6CF524932698}"/>
              </a:ext>
            </a:extLst>
          </p:cNvPr>
          <p:cNvSpPr txBox="1"/>
          <p:nvPr/>
        </p:nvSpPr>
        <p:spPr>
          <a:xfrm>
            <a:off x="241300" y="2218541"/>
            <a:ext cx="11315701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1.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통화 내용 실시간 분석 체계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(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현재 작동 방식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)</a:t>
            </a:r>
          </a:p>
          <a:p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과기정통부와 이동통신사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(SKT, KT, LGU+),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삼성전자 등이 협력하여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실시간 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AI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통화 분석 서비스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를 제공하고 있습니다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2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highlight>
                  <a:srgbClr val="FFFF00"/>
                </a:highlight>
                <a:latin typeface="Arial" panose="020B0604020202020204" pitchFamily="34" charset="0"/>
              </a:rPr>
              <a:t>온디바이스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(On-Device) AI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분석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스마트폰 내부의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AI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엔진이 실시간 통화 내용을 텍스트로 바꾸고 문맥을 분석합니다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(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예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: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검찰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등기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자금 이체 등의 키워드나 유도 패턴 감지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)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3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4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5"/>
              </a:rPr>
              <a:t>3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실시간 위험 경고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보이스피싱 확률이 높다고 판단되면 통화 중인 화면에 즉시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팝업 경고나 진동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알림음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을 울려 사용자가 정신을 차리도록 차단합니다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2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5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개인정보 원천 보호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통화 내용 전체를 외부 서버나 다른 기관으로 전송하면 불법 도청이 되므로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모든 음성 분석은 전송 없이 핸드폰 안에서만 처리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4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5494E3A-1BCD-4956-A307-8BE9D4A2AD89}"/>
              </a:ext>
            </a:extLst>
          </p:cNvPr>
          <p:cNvSpPr txBox="1"/>
          <p:nvPr/>
        </p:nvSpPr>
        <p:spPr>
          <a:xfrm>
            <a:off x="241300" y="3342206"/>
            <a:ext cx="610446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2. ASAP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플랫폼과의 실시간 연계 방식</a:t>
            </a:r>
          </a:p>
          <a:p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그렇다면 분석된 정보가 어떻게 ‘공격적 방어’로 이어질까요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?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통화 내용 대신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분석 결과물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(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의심 징후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)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이 금융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·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수사망인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6"/>
              </a:rPr>
              <a:t>ASAP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  <a:hlinkClick r:id="rId6"/>
              </a:rPr>
              <a:t>플랫폼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으로 </a:t>
            </a:r>
            <a:r>
              <a:rPr lang="ko-KR" altLang="en-US" sz="1000" b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즉시 공유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6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7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의심 전화번호 긴급 차단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통신사가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AI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분석을 통해 피싱으로 확정 지은 번호나 악성앱 제어 서버 정보를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ASAP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에 공유하면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해당 번호가 즉시 전 금융권에 타전됩니다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8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7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송금 순간 원천 차단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피해자가 통화를 끊지 못한 채 은행 앱을 켜서 돈을 보내려고 하면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은행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FDS(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이상금융거래탐지시스템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)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가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ASAP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을 통해 전달받은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'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피싱 통화 이력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'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을 대조하여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이체 버튼을 누르는 순간 송금을 멈추고 계좌를 묶어버립니다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8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9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12F76E-8F13-4ECF-A0D5-041817995F5B}"/>
              </a:ext>
            </a:extLst>
          </p:cNvPr>
          <p:cNvSpPr txBox="1"/>
          <p:nvPr/>
        </p:nvSpPr>
        <p:spPr>
          <a:xfrm>
            <a:off x="241300" y="4856478"/>
            <a:ext cx="6104466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3.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법적 한계와 정부의 대안</a:t>
            </a:r>
          </a:p>
          <a:p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통화 내용 자체를 실시간으로 기관끼리 돌려보지 못하는 이유는 명확합니다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통신비밀보호법 제한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대한민국 법상 당사자 동의 없는 실시간 통화 내용의 제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3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자 제공 및 공유는 엄격히 금지됩니다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사기범의 목소리뿐 아니라 피해자의 사생활도 섞여 있기 때문입니다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우회적 데이터 공유 체계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대신 금융감독원과 국립과학수사연구원은 이미 사기가 완료되어 신고된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과거 보이스피싱 음성 녹음 데이터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를 비식별화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(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개인정보 삭제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)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처리한 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민간 통신사와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AI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기업에 제공하고 있습니다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통신사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AI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는 이 데이터를 학습하여 최신 피싱 대화 패턴을 더 똑똑하게 잡아내고 있습니다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10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11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  <a:p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개인정보 침해를 최소화하면서도 시스템 간 연계를 극대화하기 위해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현재 기술은 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'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통화 내용 분석은 내 핸드폰 안에서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(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온디바이스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),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위험 신호 공유는 국가 체계로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(ASAP)'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라는 가장 빠르고 공격적인 타협점을 찾아 운영 중입니다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4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7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0ED0BAF-B918-4A86-84AD-C6C86BE01B18}"/>
              </a:ext>
            </a:extLst>
          </p:cNvPr>
          <p:cNvSpPr txBox="1"/>
          <p:nvPr/>
        </p:nvSpPr>
        <p:spPr>
          <a:xfrm>
            <a:off x="241300" y="940987"/>
            <a:ext cx="43476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통화 내용을 실시간으로 분석해 즉시 공유하고 방어하는 기술</a:t>
            </a:r>
            <a:r>
              <a:rPr lang="ko-KR" altLang="en-US" sz="1000" b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은 현재 보이스피싱을 막는 가장 강력하고 공격적인 무기로 도입되어 작동하고 있음</a:t>
            </a:r>
            <a:r>
              <a:rPr lang="en-US" altLang="ko-KR" sz="1000" b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endParaRPr lang="en-US" altLang="ko-KR" sz="1000" dirty="0">
              <a:solidFill>
                <a:srgbClr val="FF0000"/>
              </a:solidFill>
              <a:latin typeface="Arial" panose="020B0604020202020204" pitchFamily="34" charset="0"/>
              <a:sym typeface="Wingdings" panose="05000000000000000000" pitchFamily="2" charset="2"/>
            </a:endParaRPr>
          </a:p>
          <a:p>
            <a:r>
              <a:rPr lang="en-US" altLang="ko-KR" sz="1000" dirty="0">
                <a:solidFill>
                  <a:srgbClr val="FF0000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ko-KR" altLang="en-US" sz="1000" dirty="0">
                <a:solidFill>
                  <a:srgbClr val="FF0000"/>
                </a:solidFill>
              </a:rPr>
              <a:t>‘즉시 공유’ 부분은 개인정보 보호와 통신비밀보호법이라는 큰 법적 장벽 때문에 </a:t>
            </a:r>
            <a:r>
              <a:rPr lang="ko-KR" altLang="en-US" sz="1000" b="1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“통화 내용 원본 공유”가 아닌 “실시간 온디바이스</a:t>
            </a:r>
            <a:r>
              <a:rPr lang="en-US" altLang="ko-KR" sz="1000" b="1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(On-Device) AI </a:t>
            </a:r>
            <a:r>
              <a:rPr lang="ko-KR" altLang="en-US" sz="1000" b="1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분석 및 위험 신호 공유” 방식</a:t>
            </a:r>
            <a:r>
              <a:rPr lang="ko-KR" altLang="en-US" sz="1000" dirty="0">
                <a:solidFill>
                  <a:srgbClr val="FF0000"/>
                </a:solidFill>
              </a:rPr>
              <a:t>으로 구현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FFF6348-3E03-47F2-BCFA-60358A280A32}"/>
              </a:ext>
            </a:extLst>
          </p:cNvPr>
          <p:cNvSpPr/>
          <p:nvPr/>
        </p:nvSpPr>
        <p:spPr>
          <a:xfrm>
            <a:off x="6256867" y="652221"/>
            <a:ext cx="3217333" cy="1176867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우리도 온디바이스로 할거임</a:t>
            </a:r>
            <a:r>
              <a:rPr lang="en-US" altLang="ko-KR" dirty="0">
                <a:solidFill>
                  <a:schemeClr val="bg1"/>
                </a:solidFill>
              </a:rPr>
              <a:t>!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50AE052-821C-43CB-B50B-BF2A5A7FB5BB}"/>
              </a:ext>
            </a:extLst>
          </p:cNvPr>
          <p:cNvSpPr/>
          <p:nvPr/>
        </p:nvSpPr>
        <p:spPr>
          <a:xfrm>
            <a:off x="6515100" y="3342206"/>
            <a:ext cx="5435600" cy="3227626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분석 결과물</a:t>
            </a:r>
            <a:r>
              <a:rPr lang="en-US" altLang="ko-KR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ko-KR" altLang="en-US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의심 징후</a:t>
            </a:r>
            <a:r>
              <a:rPr lang="en-US" altLang="ko-KR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) </a:t>
            </a:r>
            <a:r>
              <a:rPr lang="ko-KR" altLang="en-US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을 </a:t>
            </a:r>
            <a:r>
              <a:rPr lang="ko-KR" altLang="en-US" dirty="0">
                <a:solidFill>
                  <a:schemeClr val="bg1"/>
                </a:solidFill>
              </a:rPr>
              <a:t>즉시공유함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</a:p>
          <a:p>
            <a:pPr algn="ctr"/>
            <a:endParaRPr lang="en-US" altLang="ko-KR" dirty="0">
              <a:solidFill>
                <a:schemeClr val="bg1"/>
              </a:solidFill>
            </a:endParaRP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그리고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</a:p>
          <a:p>
            <a:pPr algn="ctr"/>
            <a:r>
              <a:rPr lang="ko-KR" altLang="en-US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의심 전화번호 긴급 차단</a:t>
            </a:r>
            <a:endParaRPr lang="en-US" altLang="ko-KR" dirty="0">
              <a:solidFill>
                <a:schemeClr val="bg1"/>
              </a:solidFill>
            </a:endParaRPr>
          </a:p>
          <a:p>
            <a:pPr algn="ctr"/>
            <a:r>
              <a:rPr lang="ko-KR" altLang="en-US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송금 순 의심 전화번호 긴급 차단 간 원천 차단</a:t>
            </a:r>
            <a:endParaRPr lang="en-US" altLang="ko-KR" sz="1800" b="1" u="none" strike="noStrike" dirty="0"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algn="ctr"/>
            <a:r>
              <a:rPr lang="ko-KR" altLang="en-US" b="1" dirty="0">
                <a:solidFill>
                  <a:schemeClr val="bg1"/>
                </a:solidFill>
                <a:latin typeface="Arial" panose="020B0604020202020204" pitchFamily="34" charset="0"/>
              </a:rPr>
              <a:t>등</a:t>
            </a:r>
            <a:r>
              <a:rPr lang="en-US" altLang="ko-KR" b="1" dirty="0">
                <a:solidFill>
                  <a:schemeClr val="bg1"/>
                </a:solidFill>
                <a:latin typeface="Arial" panose="020B0604020202020204" pitchFamily="34" charset="0"/>
              </a:rPr>
              <a:t>…</a:t>
            </a:r>
          </a:p>
          <a:p>
            <a:pPr algn="ctr"/>
            <a:r>
              <a:rPr lang="ko-KR" altLang="en-US" b="1" dirty="0">
                <a:solidFill>
                  <a:srgbClr val="FF0000"/>
                </a:solidFill>
                <a:latin typeface="Arial" panose="020B0604020202020204" pitchFamily="34" charset="0"/>
              </a:rPr>
              <a:t>법과 기술의 영역에서</a:t>
            </a:r>
            <a:r>
              <a:rPr lang="en-US" altLang="ko-KR" b="1" dirty="0">
                <a:solidFill>
                  <a:srgbClr val="FF0000"/>
                </a:solidFill>
                <a:latin typeface="Arial" panose="020B0604020202020204" pitchFamily="34" charset="0"/>
              </a:rPr>
              <a:t>… </a:t>
            </a:r>
            <a:r>
              <a:rPr lang="ko-KR" altLang="en-US" b="1" dirty="0">
                <a:solidFill>
                  <a:srgbClr val="FF0000"/>
                </a:solidFill>
                <a:latin typeface="Arial" panose="020B0604020202020204" pitchFamily="34" charset="0"/>
              </a:rPr>
              <a:t>진보적이라 해야하나</a:t>
            </a:r>
            <a:r>
              <a:rPr lang="en-US" altLang="ko-KR" b="1" dirty="0">
                <a:solidFill>
                  <a:srgbClr val="FF0000"/>
                </a:solidFill>
                <a:latin typeface="Arial" panose="020B0604020202020204" pitchFamily="34" charset="0"/>
              </a:rPr>
              <a:t>?</a:t>
            </a:r>
          </a:p>
          <a:p>
            <a:pPr algn="ctr"/>
            <a:endParaRPr lang="en-US" altLang="ko-KR" sz="1800" b="1" u="none" strike="noStrike" dirty="0"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예전보다 공격적으로 방어</a:t>
            </a:r>
            <a:r>
              <a:rPr lang="en-US" altLang="ko-KR" dirty="0">
                <a:solidFill>
                  <a:schemeClr val="bg1"/>
                </a:solidFill>
              </a:rPr>
              <a:t>(</a:t>
            </a:r>
            <a:r>
              <a:rPr lang="ko-KR" altLang="en-US" dirty="0">
                <a:solidFill>
                  <a:srgbClr val="FF0000"/>
                </a:solidFill>
              </a:rPr>
              <a:t>공격적방어</a:t>
            </a:r>
            <a:r>
              <a:rPr lang="en-US" altLang="ko-KR" dirty="0">
                <a:solidFill>
                  <a:schemeClr val="bg1"/>
                </a:solidFill>
              </a:rPr>
              <a:t>)</a:t>
            </a: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이는</a:t>
            </a:r>
            <a:r>
              <a:rPr lang="en-US" altLang="ko-KR" dirty="0">
                <a:solidFill>
                  <a:schemeClr val="bg1"/>
                </a:solidFill>
              </a:rPr>
              <a:t>… </a:t>
            </a:r>
            <a:r>
              <a:rPr lang="ko-KR" altLang="en-US" dirty="0">
                <a:solidFill>
                  <a:schemeClr val="bg1"/>
                </a:solidFill>
              </a:rPr>
              <a:t>우리 서비스도 더 공격적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도전적이어도 됨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62958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A2C67E8-BECB-4223-9E34-413C4CC976C7}"/>
              </a:ext>
            </a:extLst>
          </p:cNvPr>
          <p:cNvSpPr txBox="1"/>
          <p:nvPr/>
        </p:nvSpPr>
        <p:spPr>
          <a:xfrm>
            <a:off x="359834" y="387971"/>
            <a:ext cx="6104466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altLang="en-US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📢 전체 피해자 약 </a:t>
            </a:r>
            <a:r>
              <a:rPr lang="en-US" altLang="ko-KR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58%</a:t>
            </a:r>
            <a:r>
              <a:rPr lang="ko-KR" altLang="en-US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가 </a:t>
            </a:r>
            <a:r>
              <a:rPr lang="en-US" altLang="ko-KR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2030</a:t>
            </a:r>
          </a:p>
          <a:p>
            <a:pPr algn="l"/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지난해 기관 사칭형 보이스피싱 연령대별 피해자는 ▲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20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대 이하 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4661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 ▲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30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대 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840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 ▲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40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대 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440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 ▲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50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대 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908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 ▲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60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대 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1944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 ▲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70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대 이상 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726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명으로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다양한 연령대에서 피해가 발생했다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algn="l"/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이 같은 통계에 따르면 </a:t>
            </a:r>
            <a:r>
              <a:rPr lang="ko-KR" altLang="en-US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전체 피해자 </a:t>
            </a:r>
            <a:r>
              <a:rPr lang="en-US" altLang="ko-KR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9519</a:t>
            </a:r>
            <a:r>
              <a:rPr lang="ko-KR" altLang="en-US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 중 </a:t>
            </a:r>
            <a:r>
              <a:rPr lang="en-US" altLang="ko-KR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57.7%</a:t>
            </a:r>
            <a:r>
              <a:rPr lang="ko-KR" altLang="en-US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에 해당하는 </a:t>
            </a:r>
            <a:r>
              <a:rPr lang="en-US" altLang="ko-KR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5501</a:t>
            </a:r>
            <a:r>
              <a:rPr lang="ko-KR" altLang="en-US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명이 </a:t>
            </a:r>
            <a:r>
              <a:rPr lang="en-US" altLang="ko-KR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20·30 </a:t>
            </a:r>
            <a:r>
              <a:rPr lang="ko-KR" altLang="en-US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청년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에 해당해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“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보이스피싱 피해는 전자기기 사용 등에 어려움이 있는 노년층에 집중된다”는 편견은 실제 현실과는 거리가 있었다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algn="l"/>
            <a:endParaRPr lang="en-US" altLang="ko-KR" dirty="0">
              <a:solidFill>
                <a:srgbClr val="2D374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l"/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  <a:hlinkClick r:id="rId2"/>
              </a:rPr>
              <a:t>https://slownews.kr/134149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9AAF485-49B8-4C67-8ABA-5444F0C2EA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6808" y="1126067"/>
            <a:ext cx="4349984" cy="4605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2560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658368" y="585216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12648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문제도출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731520"/>
            <a:ext cx="5392948" cy="1375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금융기관</a:t>
            </a:r>
            <a:r>
              <a:rPr lang="en-US" altLang="ko-KR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정부 </a:t>
            </a:r>
            <a:r>
              <a:rPr lang="en-US" altLang="ko-KR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 </a:t>
            </a: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공공기관</a:t>
            </a:r>
            <a:r>
              <a:rPr lang="en-US" altLang="ko-KR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통신사 </a:t>
            </a:r>
            <a:r>
              <a:rPr lang="en-US" altLang="ko-KR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 </a:t>
            </a: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보안업체가 마련한</a:t>
            </a:r>
            <a:endParaRPr lang="en-US" altLang="ko-KR" dirty="0">
              <a:solidFill>
                <a:srgbClr val="FFFFFF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  <a:p>
            <a:pPr marL="0" indent="0" algn="l">
              <a:buNone/>
            </a:pP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많은</a:t>
            </a:r>
            <a:r>
              <a:rPr 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안전장치</a:t>
            </a: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가 </a:t>
            </a:r>
            <a:r>
              <a:rPr lang="en-US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이미</a:t>
            </a:r>
            <a:r>
              <a:rPr 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존재하고 실제 </a:t>
            </a:r>
            <a:r>
              <a:rPr lang="en-US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효과도</a:t>
            </a:r>
            <a:r>
              <a:rPr 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있는데</a:t>
            </a:r>
            <a:r>
              <a:rPr 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…</a:t>
            </a:r>
            <a:endParaRPr lang="en-US" altLang="ko-KR" dirty="0">
              <a:solidFill>
                <a:srgbClr val="FFFFFF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  <a:p>
            <a:pPr marL="0" indent="0" algn="l">
              <a:buNone/>
            </a:pP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왜 보이스피싱 피해는 여전히 발생하고 있을까</a:t>
            </a:r>
            <a:r>
              <a:rPr lang="en-US" altLang="ko-KR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?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46F48BE-8EEC-4F2F-B9D7-F907ACFE0119}"/>
              </a:ext>
            </a:extLst>
          </p:cNvPr>
          <p:cNvGrpSpPr/>
          <p:nvPr/>
        </p:nvGrpSpPr>
        <p:grpSpPr>
          <a:xfrm>
            <a:off x="6019336" y="5430438"/>
            <a:ext cx="5639264" cy="614762"/>
            <a:chOff x="1626786" y="4270248"/>
            <a:chExt cx="2708316" cy="658368"/>
          </a:xfrm>
        </p:grpSpPr>
        <p:sp>
          <p:nvSpPr>
            <p:cNvPr id="10" name="Shape 8"/>
            <p:cNvSpPr/>
            <p:nvPr/>
          </p:nvSpPr>
          <p:spPr>
            <a:xfrm>
              <a:off x="1626786" y="4270248"/>
              <a:ext cx="2708316" cy="658368"/>
            </a:xfrm>
            <a:prstGeom prst="roundRect">
              <a:avLst>
                <a:gd name="adj" fmla="val 22222"/>
              </a:avLst>
            </a:prstGeom>
            <a:solidFill>
              <a:srgbClr val="123153"/>
            </a:solidFill>
            <a:ln w="10160">
              <a:solidFill>
                <a:srgbClr val="274F78"/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1" name="Text 9"/>
            <p:cNvSpPr txBox="1"/>
            <p:nvPr/>
          </p:nvSpPr>
          <p:spPr>
            <a:xfrm>
              <a:off x="1911569" y="4270248"/>
              <a:ext cx="2138751" cy="65836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134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기존 안전장치에서 우리가</a:t>
              </a:r>
              <a:r>
                <a:rPr lang="en-US" altLang="ko-KR" sz="134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 </a:t>
              </a:r>
              <a:r>
                <a:rPr lang="ko-KR" altLang="en-US" sz="134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놓치고 있는 </a:t>
              </a:r>
              <a:r>
                <a:rPr lang="en-US" sz="1340" b="1" dirty="0" err="1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공백</a:t>
              </a:r>
              <a:r>
                <a:rPr lang="ko-KR" altLang="en-US" sz="134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이 있는게 아닐까</a:t>
              </a:r>
              <a:r>
                <a:rPr lang="en-US" altLang="ko-KR" sz="134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?</a:t>
              </a:r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44784" y="6510528"/>
            <a:ext cx="905256" cy="5486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0E20767-A385-4BE8-BFBE-7E7A5D3376D7}"/>
              </a:ext>
            </a:extLst>
          </p:cNvPr>
          <p:cNvGrpSpPr/>
          <p:nvPr/>
        </p:nvGrpSpPr>
        <p:grpSpPr>
          <a:xfrm>
            <a:off x="6021155" y="1556532"/>
            <a:ext cx="6170845" cy="3657597"/>
            <a:chOff x="591989" y="2587755"/>
            <a:chExt cx="6170845" cy="365759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6FBA526-3B54-405B-9FBA-787E9BC27460}"/>
                </a:ext>
              </a:extLst>
            </p:cNvPr>
            <p:cNvGrpSpPr/>
            <p:nvPr/>
          </p:nvGrpSpPr>
          <p:grpSpPr>
            <a:xfrm>
              <a:off x="658368" y="3108908"/>
              <a:ext cx="6104466" cy="3136444"/>
              <a:chOff x="658368" y="2870200"/>
              <a:chExt cx="6104466" cy="3136444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64AD41D3-954E-4B95-943D-89CBBF89C2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6656" y="2870200"/>
                <a:ext cx="5466292" cy="2921000"/>
              </a:xfrm>
              <a:prstGeom prst="rect">
                <a:avLst/>
              </a:prstGeom>
            </p:spPr>
          </p:pic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104AF33-D5D0-4EF9-BA92-CE13442388FB}"/>
                  </a:ext>
                </a:extLst>
              </p:cNvPr>
              <p:cNvSpPr txBox="1"/>
              <p:nvPr/>
            </p:nvSpPr>
            <p:spPr>
              <a:xfrm>
                <a:off x="658368" y="5791200"/>
                <a:ext cx="6104466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l">
                  <a:buNone/>
                </a:pPr>
                <a:r>
                  <a:rPr lang="en-US" altLang="ko-KR" sz="8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*</a:t>
                </a:r>
                <a:r>
                  <a:rPr lang="ko-KR" altLang="en-US" sz="8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경찰청 보이스피싱 현황 공공데이터 </a:t>
                </a:r>
                <a:r>
                  <a:rPr lang="en-US" altLang="ko-KR" sz="8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2016~2025</a:t>
                </a:r>
              </a:p>
            </p:txBody>
          </p:sp>
        </p:grp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798FE8C-65A9-4E7B-9D44-F7EE79DD2225}"/>
                </a:ext>
              </a:extLst>
            </p:cNvPr>
            <p:cNvSpPr/>
            <p:nvPr/>
          </p:nvSpPr>
          <p:spPr>
            <a:xfrm>
              <a:off x="4326467" y="4242140"/>
              <a:ext cx="1286934" cy="592666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sysDash"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8091484-B054-472B-9073-7E4ADF862D87}"/>
                </a:ext>
              </a:extLst>
            </p:cNvPr>
            <p:cNvSpPr txBox="1"/>
            <p:nvPr/>
          </p:nvSpPr>
          <p:spPr>
            <a:xfrm>
              <a:off x="591989" y="2587755"/>
              <a:ext cx="610446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l">
                <a:buNone/>
              </a:pP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2019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년 이후 감소하던 피해 수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, 2023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년 이후 반등하기 시작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…</a:t>
              </a:r>
            </a:p>
            <a:p>
              <a:pPr marL="0" indent="0" algn="l">
                <a:buNone/>
              </a:pP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2025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년 피해 수 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23,360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건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, 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피해금액 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1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조 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2578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억 으로 적지 않은 피해 발생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…</a:t>
              </a: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F308394A-5261-49B6-8A77-8FEBF26CA8A2}"/>
              </a:ext>
            </a:extLst>
          </p:cNvPr>
          <p:cNvSpPr/>
          <p:nvPr/>
        </p:nvSpPr>
        <p:spPr>
          <a:xfrm>
            <a:off x="838200" y="2107178"/>
            <a:ext cx="4521200" cy="3938022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en-US" altLang="ko-KR" sz="1800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ASAP 등 </a:t>
            </a:r>
            <a:r>
              <a:rPr lang="en-US" altLang="ko-KR" sz="1800" dirty="0" err="1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</a:t>
            </a:r>
            <a:r>
              <a:rPr lang="en-US" altLang="ko-KR" sz="1800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altLang="ko-KR" sz="1800" dirty="0" err="1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위험정보</a:t>
            </a:r>
            <a:endParaRPr lang="en-US" altLang="ko-KR" sz="1800" dirty="0">
              <a:solidFill>
                <a:schemeClr val="bg1"/>
              </a:solidFill>
              <a:latin typeface="NanumSquare" pitchFamily="34" charset="0"/>
              <a:ea typeface="NanumSquare" pitchFamily="34" charset="-122"/>
              <a:cs typeface="NanumSquare" pitchFamily="34" charset="-120"/>
            </a:endParaRPr>
          </a:p>
          <a:p>
            <a:pPr algn="ctr"/>
            <a:endParaRPr lang="en-US" altLang="ko-KR" dirty="0">
              <a:solidFill>
                <a:schemeClr val="bg1"/>
              </a:solidFill>
              <a:latin typeface="NanumSquare" pitchFamily="34" charset="0"/>
              <a:ea typeface="NanumSquare" pitchFamily="34" charset="-122"/>
            </a:endParaRPr>
          </a:p>
          <a:p>
            <a:pPr algn="ctr"/>
            <a:r>
              <a:rPr lang="en-US" altLang="ko-KR" sz="1800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FDS </a:t>
            </a:r>
            <a:r>
              <a:rPr lang="en-US" altLang="ko-KR" sz="1800" dirty="0" err="1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이상거래</a:t>
            </a:r>
            <a:r>
              <a:rPr lang="en-US" altLang="ko-KR" sz="1800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altLang="ko-KR" sz="1800" dirty="0" err="1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탐지</a:t>
            </a:r>
            <a:endParaRPr lang="en-US" altLang="ko-KR" sz="1800" dirty="0">
              <a:solidFill>
                <a:schemeClr val="bg1"/>
              </a:solidFill>
              <a:latin typeface="NanumSquare" pitchFamily="34" charset="0"/>
              <a:ea typeface="NanumSquare" pitchFamily="34" charset="-122"/>
              <a:cs typeface="NanumSquare" pitchFamily="34" charset="-120"/>
            </a:endParaRPr>
          </a:p>
          <a:p>
            <a:pPr algn="ctr"/>
            <a:endParaRPr lang="en-US" altLang="ko-KR" dirty="0">
              <a:solidFill>
                <a:schemeClr val="bg1"/>
              </a:solidFill>
              <a:latin typeface="NanumSquare" pitchFamily="34" charset="0"/>
              <a:ea typeface="NanumSquare" pitchFamily="34" charset="-122"/>
            </a:endParaRPr>
          </a:p>
          <a:p>
            <a:pPr algn="ctr"/>
            <a:r>
              <a:rPr lang="en-US" altLang="ko-KR" sz="1800" dirty="0" err="1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지연이체</a:t>
            </a:r>
            <a:r>
              <a:rPr lang="en-US" altLang="ko-KR" sz="1800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· </a:t>
            </a:r>
            <a:r>
              <a:rPr lang="en-US" altLang="ko-KR" sz="1800" dirty="0" err="1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지급정지</a:t>
            </a:r>
            <a:endParaRPr lang="en-US" altLang="ko-KR" sz="1800" dirty="0">
              <a:solidFill>
                <a:schemeClr val="bg1"/>
              </a:solidFill>
              <a:latin typeface="NanumSquare" pitchFamily="34" charset="0"/>
              <a:ea typeface="NanumSquare" pitchFamily="34" charset="-122"/>
              <a:cs typeface="NanumSquare" pitchFamily="34" charset="-120"/>
            </a:endParaRPr>
          </a:p>
          <a:p>
            <a:pPr algn="ctr"/>
            <a:endParaRPr lang="en-US" altLang="ko-KR" dirty="0">
              <a:solidFill>
                <a:schemeClr val="bg1"/>
              </a:solidFill>
              <a:latin typeface="NanumSquare" pitchFamily="34" charset="0"/>
              <a:ea typeface="NanumSquare" pitchFamily="34" charset="-122"/>
            </a:endParaRPr>
          </a:p>
          <a:p>
            <a:pPr algn="ctr"/>
            <a:r>
              <a:rPr lang="en-US" altLang="ko-KR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</a:rPr>
              <a:t>---&gt; </a:t>
            </a:r>
            <a:r>
              <a:rPr lang="ko-KR" altLang="en-US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</a:rPr>
              <a:t>이렇게나 많고</a:t>
            </a:r>
            <a:r>
              <a:rPr lang="en-US" altLang="ko-KR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</a:rPr>
              <a:t>,</a:t>
            </a:r>
          </a:p>
          <a:p>
            <a:pPr algn="ctr"/>
            <a:r>
              <a:rPr lang="ko-KR" altLang="en-US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</a:rPr>
              <a:t>전문적이고</a:t>
            </a:r>
            <a:r>
              <a:rPr lang="en-US" altLang="ko-KR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</a:rPr>
              <a:t>,</a:t>
            </a: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체계적이지만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01377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D5831F-DE66-4EDD-B960-CEFCC96C152C}"/>
              </a:ext>
            </a:extLst>
          </p:cNvPr>
          <p:cNvSpPr txBox="1"/>
          <p:nvPr/>
        </p:nvSpPr>
        <p:spPr>
          <a:xfrm>
            <a:off x="3043767" y="2136338"/>
            <a:ext cx="610446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ko-KR" altLang="en-US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그 문제가 무엇인지 알기위해</a:t>
            </a:r>
            <a:r>
              <a:rPr lang="en-US" altLang="ko-KR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…</a:t>
            </a:r>
          </a:p>
          <a:p>
            <a:pPr algn="ctr"/>
            <a:endParaRPr lang="en-US" altLang="ko-KR" sz="1800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algn="ctr"/>
            <a:r>
              <a:rPr lang="ko-KR" altLang="en-US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범죄 수법</a:t>
            </a:r>
            <a:endParaRPr lang="en-US" altLang="ko-KR" sz="1800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algn="ctr"/>
            <a:r>
              <a:rPr lang="en-US" altLang="ko-KR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|</a:t>
            </a:r>
            <a:br>
              <a:rPr lang="en-US" altLang="ko-KR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</a:br>
            <a:r>
              <a:rPr lang="ko-KR" altLang="en-US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금융사용자가 처한 상황</a:t>
            </a:r>
            <a:endParaRPr lang="en-US" altLang="ko-KR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algn="ctr"/>
            <a:r>
              <a:rPr lang="en-US" altLang="ko-KR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|</a:t>
            </a:r>
            <a:br>
              <a:rPr lang="en-US" altLang="ko-KR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</a:br>
            <a:r>
              <a:rPr lang="ko-KR" altLang="en-US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서비스들의 구조를</a:t>
            </a:r>
            <a:endParaRPr lang="en-US" altLang="ko-KR" sz="1800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algn="ctr"/>
            <a:endParaRPr lang="en-US" altLang="ko-KR" sz="1800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algn="ctr"/>
            <a:r>
              <a:rPr lang="ko-KR" altLang="en-US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함께 살펴보았다</a:t>
            </a:r>
            <a:r>
              <a:rPr lang="en-US" altLang="ko-KR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500432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CB6B84D-C629-453D-B32A-D4910AE72E07}"/>
              </a:ext>
            </a:extLst>
          </p:cNvPr>
          <p:cNvSpPr txBox="1"/>
          <p:nvPr/>
        </p:nvSpPr>
        <p:spPr>
          <a:xfrm>
            <a:off x="8495487" y="1721977"/>
            <a:ext cx="3382433" cy="48936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전화 수신 전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위험번호 / AI 안심차단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번호·통신 위험정보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통화 중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SKT 에이닷 / LG U+ 익시오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통화내용·대화패턴 AI 분석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사용자 경고 / 일부 가족·지인 알림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━━━━━━━━━━━━━━━━━━━━</a:t>
            </a:r>
            <a:endParaRPr kumimoji="0" lang="ko-KR" altLang="ko-KR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</a:rPr>
              <a:t>피해 당사자가 직접 판단하고</a:t>
            </a:r>
            <a:endParaRPr kumimoji="0" lang="en-US" altLang="ko-KR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1200" b="1" dirty="0">
                <a:highlight>
                  <a:srgbClr val="FFFF00"/>
                </a:highlight>
                <a:latin typeface="Arial" panose="020B0604020202020204" pitchFamily="34" charset="0"/>
              </a:rPr>
              <a:t>대응해야 하는 구조</a:t>
            </a:r>
            <a:r>
              <a:rPr lang="en-US" altLang="ko-KR" sz="1200" b="1" dirty="0">
                <a:highlight>
                  <a:srgbClr val="FFFF00"/>
                </a:highlight>
                <a:latin typeface="Arial" panose="020B0604020202020204" pitchFamily="34" charset="0"/>
              </a:rPr>
              <a:t>! (</a:t>
            </a:r>
            <a:r>
              <a:rPr lang="ko-KR" altLang="en-US" sz="1200" b="1" dirty="0">
                <a:highlight>
                  <a:srgbClr val="FFFF00"/>
                </a:highlight>
                <a:latin typeface="Arial" panose="020B0604020202020204" pitchFamily="34" charset="0"/>
              </a:rPr>
              <a:t>여기에 우리가 개입</a:t>
            </a:r>
            <a:r>
              <a:rPr lang="en-US" altLang="ko-KR" sz="1200" b="1" dirty="0">
                <a:highlight>
                  <a:srgbClr val="FFFF00"/>
                </a:highlight>
                <a:latin typeface="Arial" panose="020B0604020202020204" pitchFamily="34" charset="0"/>
              </a:rPr>
              <a:t>)</a:t>
            </a:r>
            <a:endParaRPr kumimoji="0" lang="en-US" altLang="ko-KR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━━━━━━━━━━━━━━━━━━━━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금융행동·송금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ASAP + FDS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계좌·거래·통신·수사 Risk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추가확인 / 거래지연 / 지급정지 / 거래중단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피해 이후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신고 / 지급정지 / 피해환급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6F2397A-76C4-4A78-91B5-B035F5E58E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1290824"/>
              </p:ext>
            </p:extLst>
          </p:nvPr>
        </p:nvGraphicFramePr>
        <p:xfrm>
          <a:off x="314080" y="2625595"/>
          <a:ext cx="7883008" cy="3687762"/>
        </p:xfrm>
        <a:graphic>
          <a:graphicData uri="http://schemas.openxmlformats.org/drawingml/2006/table">
            <a:tbl>
              <a:tblPr/>
              <a:tblGrid>
                <a:gridCol w="1202780">
                  <a:extLst>
                    <a:ext uri="{9D8B030D-6E8A-4147-A177-3AD203B41FA5}">
                      <a16:colId xmlns:a16="http://schemas.microsoft.com/office/drawing/2014/main" val="4137408631"/>
                    </a:ext>
                  </a:extLst>
                </a:gridCol>
                <a:gridCol w="1753643">
                  <a:extLst>
                    <a:ext uri="{9D8B030D-6E8A-4147-A177-3AD203B41FA5}">
                      <a16:colId xmlns:a16="http://schemas.microsoft.com/office/drawing/2014/main" val="2117270076"/>
                    </a:ext>
                  </a:extLst>
                </a:gridCol>
                <a:gridCol w="1950493">
                  <a:extLst>
                    <a:ext uri="{9D8B030D-6E8A-4147-A177-3AD203B41FA5}">
                      <a16:colId xmlns:a16="http://schemas.microsoft.com/office/drawing/2014/main" val="860866038"/>
                    </a:ext>
                  </a:extLst>
                </a:gridCol>
                <a:gridCol w="1412330">
                  <a:extLst>
                    <a:ext uri="{9D8B030D-6E8A-4147-A177-3AD203B41FA5}">
                      <a16:colId xmlns:a16="http://schemas.microsoft.com/office/drawing/2014/main" val="3299205817"/>
                    </a:ext>
                  </a:extLst>
                </a:gridCol>
                <a:gridCol w="1563762">
                  <a:extLst>
                    <a:ext uri="{9D8B030D-6E8A-4147-A177-3AD203B41FA5}">
                      <a16:colId xmlns:a16="http://schemas.microsoft.com/office/drawing/2014/main" val="197934767"/>
                    </a:ext>
                  </a:extLst>
                </a:gridCol>
              </a:tblGrid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피해 단계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대표 대응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주요 </a:t>
                      </a: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Trigger /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주요 조치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상태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2088968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/>
                        <a:t>전화 수신 전</a:t>
                      </a:r>
                      <a:endParaRPr lang="ko-KR" altLang="en-US" sz="100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위험번호</a:t>
                      </a:r>
                      <a:r>
                        <a:rPr lang="en-US" altLang="ko-KR" sz="1000" dirty="0"/>
                        <a:t>·AI </a:t>
                      </a:r>
                      <a:r>
                        <a:rPr lang="ko-KR" altLang="en-US" sz="1000" dirty="0"/>
                        <a:t>안심차단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번호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신고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통신 위험정보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차단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사전경고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상용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04273225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/>
                        <a:t>통화 중</a:t>
                      </a:r>
                      <a:endParaRPr lang="ko-KR" altLang="en-US" sz="100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000"/>
                        <a:t>SKT </a:t>
                      </a:r>
                      <a:r>
                        <a:rPr lang="ko-KR" altLang="en-US" sz="1000"/>
                        <a:t>에이닷 </a:t>
                      </a:r>
                      <a:r>
                        <a:rPr lang="en-US" altLang="ko-KR" sz="1000"/>
                        <a:t>/ LG U+ </a:t>
                      </a:r>
                      <a:r>
                        <a:rPr lang="ko-KR" altLang="en-US" sz="1000"/>
                        <a:t>익시오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통화내용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키워드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대화패턴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실시간 위험경고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상용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8523604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/>
                        <a:t>통화 중 제</a:t>
                      </a:r>
                      <a:r>
                        <a:rPr lang="en-US" altLang="ko-KR" sz="1000" b="1" dirty="0"/>
                        <a:t>3</a:t>
                      </a:r>
                      <a:r>
                        <a:rPr lang="ko-KR" altLang="en-US" sz="1000" b="1" dirty="0"/>
                        <a:t>자</a:t>
                      </a:r>
                      <a:endParaRPr lang="ko-KR" altLang="en-US" sz="100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 dirty="0"/>
                        <a:t>SKT </a:t>
                      </a:r>
                      <a:r>
                        <a:rPr lang="ko-KR" altLang="en-US" sz="1000" dirty="0"/>
                        <a:t>가족 케어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000" dirty="0"/>
                        <a:t>AI </a:t>
                      </a:r>
                      <a:r>
                        <a:rPr lang="ko-KR" altLang="en-US" sz="1000" dirty="0"/>
                        <a:t>보이스피싱 탐지 결과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가족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지인 알림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상용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5571845"/>
                  </a:ext>
                </a:extLst>
              </a:tr>
              <a:tr h="230485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/>
                        <a:t>음성</a:t>
                      </a:r>
                      <a:r>
                        <a:rPr lang="en-US" altLang="ko-KR" sz="1000" b="1" dirty="0"/>
                        <a:t>·</a:t>
                      </a:r>
                      <a:r>
                        <a:rPr lang="ko-KR" altLang="en-US" sz="1000" b="1" dirty="0"/>
                        <a:t>성문 탐지</a:t>
                      </a:r>
                      <a:endParaRPr lang="ko-KR" altLang="en-US" sz="100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/>
                        <a:t>LG U+·KT </a:t>
                      </a:r>
                      <a:r>
                        <a:rPr lang="ko-KR" altLang="en-US" sz="1000"/>
                        <a:t>등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성문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음성 유사도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탐지 정확도 보조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실증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고도화 포함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6506201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/>
                        <a:t>통신 → 금융 연계</a:t>
                      </a:r>
                      <a:endParaRPr lang="ko-KR" altLang="en-US" sz="100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/>
                        <a:t>LG U+ × KB</a:t>
                      </a:r>
                      <a:r>
                        <a:rPr lang="ko-KR" altLang="en-US" sz="1000"/>
                        <a:t>국민은행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피싱 의심정보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악성앱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위험 </a:t>
                      </a:r>
                      <a:r>
                        <a:rPr lang="en-US" altLang="ko-KR" sz="1000" dirty="0"/>
                        <a:t>URL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금융보호 시스템 연계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업무협약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추진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6979364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/>
                        <a:t>금융거래</a:t>
                      </a:r>
                      <a:endParaRPr lang="ko-KR" altLang="en-US" sz="100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/>
                        <a:t>FDS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접속정보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거래내역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이상패턴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탐지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거래제한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운영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6679651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/>
                        <a:t>위험정보 공유</a:t>
                      </a:r>
                      <a:endParaRPr lang="ko-KR" altLang="en-US" sz="100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/>
                        <a:t>ASAP + FDS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금융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통신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수사 위험정보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지급정지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거래개입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운영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고도화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6591523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/>
                        <a:t>송금 단계</a:t>
                      </a:r>
                      <a:endParaRPr lang="ko-KR" altLang="en-US" sz="100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지연이체</a:t>
                      </a:r>
                      <a:r>
                        <a:rPr lang="en-US" altLang="ko-KR" sz="1000" dirty="0"/>
                        <a:t>·</a:t>
                      </a:r>
                      <a:r>
                        <a:rPr lang="en-US" sz="1000" dirty="0"/>
                        <a:t>FDS Rule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사전 설정 또는 위험정보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거래지연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중단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운영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8597177"/>
                  </a:ext>
                </a:extLst>
              </a:tr>
              <a:tr h="230485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/>
                        <a:t>피해 이후</a:t>
                      </a:r>
                      <a:endParaRPr lang="ko-KR" altLang="en-US" sz="100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지급정지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피해환급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피해신고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사후 피해구제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운영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1975689"/>
                  </a:ext>
                </a:extLst>
              </a:tr>
            </a:tbl>
          </a:graphicData>
        </a:graphic>
      </p:graphicFrame>
      <p:sp>
        <p:nvSpPr>
          <p:cNvPr id="4" name="Text 6">
            <a:extLst>
              <a:ext uri="{FF2B5EF4-FFF2-40B4-BE49-F238E27FC236}">
                <a16:creationId xmlns:a16="http://schemas.microsoft.com/office/drawing/2014/main" id="{054710C3-BE6B-4DA0-97FE-1021660BD7A2}"/>
              </a:ext>
            </a:extLst>
          </p:cNvPr>
          <p:cNvSpPr txBox="1"/>
          <p:nvPr/>
        </p:nvSpPr>
        <p:spPr>
          <a:xfrm>
            <a:off x="448395" y="169738"/>
            <a:ext cx="10698480" cy="119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이러한 기존의 서비스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,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체계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,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시스템 등에 대해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…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더 자세히 살펴보면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…</a:t>
            </a:r>
          </a:p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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기존 서비스들은 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(a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뭐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, b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뭐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, c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뭐가 특징이더라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!)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CF776F-D09D-4BDF-B45A-2416C5C22AE5}"/>
              </a:ext>
            </a:extLst>
          </p:cNvPr>
          <p:cNvSpPr txBox="1"/>
          <p:nvPr/>
        </p:nvSpPr>
        <p:spPr>
          <a:xfrm>
            <a:off x="314080" y="2173301"/>
            <a:ext cx="61044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기존의 서비스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4BECDB-1A13-4FC6-B2A7-2DA40A9E6119}"/>
              </a:ext>
            </a:extLst>
          </p:cNvPr>
          <p:cNvSpPr txBox="1"/>
          <p:nvPr/>
        </p:nvSpPr>
        <p:spPr>
          <a:xfrm>
            <a:off x="8388130" y="1285863"/>
            <a:ext cx="1951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좀 더 쉽게보면</a:t>
            </a:r>
            <a:r>
              <a:rPr lang="en-US" altLang="ko-KR" sz="1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…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92676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CB6B84D-C629-453D-B32A-D4910AE72E07}"/>
              </a:ext>
            </a:extLst>
          </p:cNvPr>
          <p:cNvSpPr txBox="1"/>
          <p:nvPr/>
        </p:nvSpPr>
        <p:spPr>
          <a:xfrm>
            <a:off x="235712" y="892584"/>
            <a:ext cx="3382433" cy="56323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전화 수신 전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위험번호 / AI 안심차단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번호·통신 위험정보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통화 중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SKT 에이닷 / LG U+ 익시오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통화내용·대화패턴 AI 분석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사용자 경고 / 일부 가족·지인 알림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━━━━━━━━━━━━━━━━━━━━</a:t>
            </a:r>
            <a:endParaRPr kumimoji="0" lang="ko-KR" altLang="ko-KR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</a:rPr>
              <a:t>추가 검증이 필요한 영역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</a:rPr>
              <a:t>“상대방이 말하는 사건·기관·송금 이유·절차가 실제로 맞는가?”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 Unicode MS"/>
              </a:rPr>
              <a:t>주장 구조화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 Unicode MS"/>
              </a:rPr>
              <a:t>공식 기준과 진위검증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 Unicode MS"/>
              </a:rPr>
              <a:t>특정 거래 외부 공동검토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━━━━━━━━━━━━━━━━━━━━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금융행동·송금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ASAP + FDS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계좌·거래·통신·수사 Risk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추가확인 / 거래지연 / 지급정지 / 거래중단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피해 이후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신고 / 지급정지 / 피해환급</a:t>
            </a:r>
          </a:p>
        </p:txBody>
      </p:sp>
    </p:spTree>
    <p:extLst>
      <p:ext uri="{BB962C8B-B14F-4D97-AF65-F5344CB8AC3E}">
        <p14:creationId xmlns:p14="http://schemas.microsoft.com/office/powerpoint/2010/main" val="33868640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문제도출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보호체계가 개입하는 구간과, 통화 중 판단 공백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보이스피싱 진행 흐름을 시간축으로 놓고 기존 기능의 트리거·개입 시점을 구조적으로 보여주는 페이지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804672" y="2761488"/>
            <a:ext cx="10479024" cy="0"/>
          </a:xfrm>
          <a:prstGeom prst="line">
            <a:avLst/>
          </a:prstGeom>
          <a:noFill/>
          <a:ln w="40640">
            <a:solidFill>
              <a:srgbClr val="AFC7E7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005840" y="2587752"/>
            <a:ext cx="347472" cy="347472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통화 전</a:t>
            </a:r>
            <a:endParaRPr lang="en-US" sz="1240" dirty="0"/>
          </a:p>
        </p:txBody>
      </p:sp>
      <p:sp>
        <p:nvSpPr>
          <p:cNvPr id="13" name="Text 11"/>
          <p:cNvSpPr txBox="1"/>
          <p:nvPr/>
        </p:nvSpPr>
        <p:spPr>
          <a:xfrm>
            <a:off x="429768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예방교육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스팸 차단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82112" y="2587752"/>
            <a:ext cx="347472" cy="347472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98064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접촉 단계</a:t>
            </a:r>
            <a:endParaRPr lang="en-US" sz="1240" dirty="0"/>
          </a:p>
        </p:txBody>
      </p:sp>
      <p:sp>
        <p:nvSpPr>
          <p:cNvPr id="16" name="Text 14"/>
          <p:cNvSpPr txBox="1"/>
          <p:nvPr/>
        </p:nvSpPr>
        <p:spPr>
          <a:xfrm>
            <a:off x="2606040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위험번호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악성앱 탐지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04688" y="2587752"/>
            <a:ext cx="347472" cy="347472"/>
          </a:xfrm>
          <a:prstGeom prst="ellipse">
            <a:avLst/>
          </a:prstGeom>
          <a:solidFill>
            <a:srgbClr val="FF6478"/>
          </a:solidFill>
          <a:ln w="10160">
            <a:solidFill>
              <a:srgbClr val="FF647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20640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통화 중</a:t>
            </a:r>
            <a:endParaRPr lang="en-US" sz="1240" dirty="0"/>
          </a:p>
        </p:txBody>
      </p:sp>
      <p:sp>
        <p:nvSpPr>
          <p:cNvPr id="19" name="Text 17"/>
          <p:cNvSpPr txBox="1"/>
          <p:nvPr/>
        </p:nvSpPr>
        <p:spPr>
          <a:xfrm>
            <a:off x="4928616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판단 형성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심리적 압박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845552" y="2587752"/>
            <a:ext cx="347472" cy="347472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61504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 시도</a:t>
            </a:r>
            <a:endParaRPr lang="en-US" sz="124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FDS · ASAP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추가확인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0104120" y="2587752"/>
            <a:ext cx="347472" cy="347472"/>
          </a:xfrm>
          <a:prstGeom prst="ellipse">
            <a:avLst/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720072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거래 후</a:t>
            </a:r>
            <a:endParaRPr lang="en-US" sz="1240" dirty="0"/>
          </a:p>
        </p:txBody>
      </p:sp>
      <p:sp>
        <p:nvSpPr>
          <p:cNvPr id="25" name="Text 23"/>
          <p:cNvSpPr txBox="1"/>
          <p:nvPr/>
        </p:nvSpPr>
        <p:spPr>
          <a:xfrm>
            <a:off x="9528048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지급정지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피해구제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34840" y="1901952"/>
            <a:ext cx="2505456" cy="2670048"/>
          </a:xfrm>
          <a:prstGeom prst="roundRect">
            <a:avLst>
              <a:gd name="adj" fmla="val 7299"/>
            </a:avLst>
          </a:prstGeom>
          <a:solidFill>
            <a:srgbClr val="FFF6F7"/>
          </a:solidFill>
          <a:ln w="10160">
            <a:solidFill>
              <a:srgbClr val="FFD3D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10912" y="2112264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84064" y="2139696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 공백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736592" y="2660904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A33E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통화 내용이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A33E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피해자의 판단을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A33E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바꾸는 순간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4562856" y="3739896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7E536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기존 장치가 존재해도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7E536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“상황의 진위”를 즉시 검증하기 어렵다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4672" y="5285232"/>
            <a:ext cx="10625328" cy="566928"/>
          </a:xfrm>
          <a:prstGeom prst="roundRect">
            <a:avLst>
              <a:gd name="adj" fmla="val 22581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42416" y="543153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핵심: 보호장치 사이의 빈 구간은 ‘통화 속 판단이 형성되는 시간’에 존재할 수 있다.</a:t>
            </a:r>
            <a:endParaRPr lang="en-US" sz="132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BC5BB59-1D02-4ABB-8083-EA7E83293219}"/>
              </a:ext>
            </a:extLst>
          </p:cNvPr>
          <p:cNvSpPr/>
          <p:nvPr/>
        </p:nvSpPr>
        <p:spPr>
          <a:xfrm>
            <a:off x="3352800" y="1727199"/>
            <a:ext cx="4986867" cy="3268133"/>
          </a:xfrm>
          <a:prstGeom prst="round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>
                <a:solidFill>
                  <a:schemeClr val="bg1"/>
                </a:solidFill>
              </a:rPr>
              <a:t>보이스피싱 수법 상세 </a:t>
            </a:r>
            <a:r>
              <a:rPr lang="ko-KR" altLang="en-US" dirty="0">
                <a:solidFill>
                  <a:schemeClr val="bg1"/>
                </a:solidFill>
              </a:rPr>
              <a:t>분석</a:t>
            </a:r>
            <a:r>
              <a:rPr lang="en-US" altLang="ko-KR" dirty="0">
                <a:solidFill>
                  <a:schemeClr val="bg1"/>
                </a:solidFill>
              </a:rPr>
              <a:t>!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28304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10345A"/>
          </a:solidFill>
          <a:ln w="10160">
            <a:solidFill>
              <a:srgbClr val="103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전략 분석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보이스피싱은 ‘거짓 정보’뿐 아니라 ‘거짓 판단’을 유도한다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9DB6D6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세 가지 전략이 결합해 피해자의 판단 환경 자체를 장악하는 구조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58952" y="2039112"/>
            <a:ext cx="2944368" cy="2331720"/>
          </a:xfrm>
          <a:prstGeom prst="roundRect">
            <a:avLst>
              <a:gd name="adj" fmla="val 7843"/>
            </a:avLst>
          </a:prstGeom>
          <a:solidFill>
            <a:srgbClr val="12375D"/>
          </a:solidFill>
          <a:ln w="10160">
            <a:solidFill>
              <a:srgbClr val="2A588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96696" y="2267712"/>
            <a:ext cx="475488" cy="475488"/>
          </a:xfrm>
          <a:prstGeom prst="ellipse">
            <a:avLst/>
          </a:prstGeom>
          <a:solidFill>
            <a:srgbClr val="173A62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6696" y="2276856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609344" y="22677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정보 우위</a:t>
            </a:r>
            <a:endParaRPr lang="en-US" sz="162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971800"/>
            <a:ext cx="2432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정교한 개인정보·절차 설명으로</a:t>
            </a:r>
            <a:endParaRPr lang="en-US" sz="1130" dirty="0"/>
          </a:p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“상대가 더 많이 알고 있다”는 인상 형성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4215384" y="2039112"/>
            <a:ext cx="2944368" cy="2331720"/>
          </a:xfrm>
          <a:prstGeom prst="roundRect">
            <a:avLst>
              <a:gd name="adj" fmla="val 7843"/>
            </a:avLst>
          </a:prstGeom>
          <a:solidFill>
            <a:srgbClr val="12375D"/>
          </a:solidFill>
          <a:ln w="10160">
            <a:solidFill>
              <a:srgbClr val="2A588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53128" y="2267712"/>
            <a:ext cx="475488" cy="475488"/>
          </a:xfrm>
          <a:prstGeom prst="ellipse">
            <a:avLst/>
          </a:prstGeom>
          <a:solidFill>
            <a:srgbClr val="173A62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53128" y="2276856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FB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65776" y="22677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심리적 압박</a:t>
            </a:r>
            <a:endParaRPr lang="en-US" sz="1620" dirty="0"/>
          </a:p>
        </p:txBody>
      </p:sp>
      <p:sp>
        <p:nvSpPr>
          <p:cNvPr id="19" name="Text 17"/>
          <p:cNvSpPr txBox="1"/>
          <p:nvPr/>
        </p:nvSpPr>
        <p:spPr>
          <a:xfrm>
            <a:off x="4462272" y="2971800"/>
            <a:ext cx="2432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권위 · 공포 · 긴급성으로</a:t>
            </a:r>
            <a:endParaRPr lang="en-US" sz="1130" dirty="0"/>
          </a:p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차분하게 비교·검토할 시간을 축소</a:t>
            </a:r>
            <a:endParaRPr lang="en-US" sz="1130" dirty="0"/>
          </a:p>
        </p:txBody>
      </p:sp>
      <p:sp>
        <p:nvSpPr>
          <p:cNvPr id="20" name="Shape 18"/>
          <p:cNvSpPr/>
          <p:nvPr/>
        </p:nvSpPr>
        <p:spPr>
          <a:xfrm>
            <a:off x="7671816" y="2039112"/>
            <a:ext cx="2944368" cy="2331720"/>
          </a:xfrm>
          <a:prstGeom prst="roundRect">
            <a:avLst>
              <a:gd name="adj" fmla="val 7843"/>
            </a:avLst>
          </a:prstGeom>
          <a:solidFill>
            <a:srgbClr val="12375D"/>
          </a:solidFill>
          <a:ln w="10160">
            <a:solidFill>
              <a:srgbClr val="2A588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909560" y="2267712"/>
            <a:ext cx="475488" cy="475488"/>
          </a:xfrm>
          <a:prstGeom prst="ellipse">
            <a:avLst/>
          </a:prstGeom>
          <a:solidFill>
            <a:srgbClr val="173A62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09560" y="2276856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CD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522208" y="22677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검증 차단</a:t>
            </a:r>
            <a:endParaRPr lang="en-US" sz="1620" dirty="0"/>
          </a:p>
        </p:txBody>
      </p:sp>
      <p:sp>
        <p:nvSpPr>
          <p:cNvPr id="24" name="Text 22"/>
          <p:cNvSpPr txBox="1"/>
          <p:nvPr/>
        </p:nvSpPr>
        <p:spPr>
          <a:xfrm>
            <a:off x="7918704" y="2971800"/>
            <a:ext cx="2432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비밀유지 · 연락 제한 ·</a:t>
            </a:r>
            <a:endParaRPr lang="en-US" sz="1130" dirty="0"/>
          </a:p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확인 절차 방해로 독립적 판단을 차단</a:t>
            </a:r>
            <a:endParaRPr lang="en-US" sz="1130" dirty="0"/>
          </a:p>
        </p:txBody>
      </p:sp>
      <p:sp>
        <p:nvSpPr>
          <p:cNvPr id="25" name="Shape 23"/>
          <p:cNvSpPr/>
          <p:nvPr/>
        </p:nvSpPr>
        <p:spPr>
          <a:xfrm>
            <a:off x="3639312" y="3218688"/>
            <a:ext cx="402336" cy="0"/>
          </a:xfrm>
          <a:prstGeom prst="line">
            <a:avLst/>
          </a:prstGeom>
          <a:noFill/>
          <a:ln w="2540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095744" y="3218688"/>
            <a:ext cx="402336" cy="0"/>
          </a:xfrm>
          <a:prstGeom prst="line">
            <a:avLst/>
          </a:prstGeom>
          <a:noFill/>
          <a:ln w="2540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172968" y="4782312"/>
            <a:ext cx="5833872" cy="850392"/>
          </a:xfrm>
          <a:prstGeom prst="roundRect">
            <a:avLst>
              <a:gd name="adj" fmla="val 19355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38144" y="5001768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3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세 요소가 결합하면 범죄자는 피해자의 “판단 환경”을 장악한다</a:t>
            </a:r>
            <a:endParaRPr lang="en-US" sz="163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D6FB03-DC66-44F9-B8C6-CA052B0E3538}"/>
              </a:ext>
            </a:extLst>
          </p:cNvPr>
          <p:cNvSpPr txBox="1"/>
          <p:nvPr/>
        </p:nvSpPr>
        <p:spPr>
          <a:xfrm>
            <a:off x="372534" y="365668"/>
            <a:ext cx="36022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이런 방식에 사람들은 취약하다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연령별 취약성</a:t>
            </a:r>
            <a:r>
              <a:rPr lang="en-US" altLang="ko-KR" dirty="0">
                <a:solidFill>
                  <a:schemeClr val="bg1"/>
                </a:solidFill>
              </a:rPr>
              <a:t>…?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수법의 취약성</a:t>
            </a:r>
            <a:r>
              <a:rPr lang="en-US" altLang="ko-KR" dirty="0">
                <a:solidFill>
                  <a:schemeClr val="bg1"/>
                </a:solidFill>
              </a:rPr>
              <a:t>...!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6BEE45-68C9-4DBF-A291-79588BD65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9795" y="2133941"/>
            <a:ext cx="7240010" cy="65731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01F80D0-09F6-4E22-BC66-C9B7A6C7F561}"/>
              </a:ext>
            </a:extLst>
          </p:cNvPr>
          <p:cNvSpPr/>
          <p:nvPr/>
        </p:nvSpPr>
        <p:spPr>
          <a:xfrm>
            <a:off x="3178728" y="3261267"/>
            <a:ext cx="6002867" cy="2658534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연령별 나이 비중 변화 데이터 등 각 연령과 사람들의 취약점 분석</a:t>
            </a:r>
          </a:p>
        </p:txBody>
      </p:sp>
    </p:spTree>
    <p:extLst>
      <p:ext uri="{BB962C8B-B14F-4D97-AF65-F5344CB8AC3E}">
        <p14:creationId xmlns:p14="http://schemas.microsoft.com/office/powerpoint/2010/main" val="10732328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 취약점 분석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연령·유형별로 서로 다른 판단 공백이 나타난다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20대와 고령층의 취약성을 단순 “주의 부족”이 아니라 정보·경험·검증 구조의 차이로 설명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676656" y="1883664"/>
            <a:ext cx="5175504" cy="3337560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6112" y="2130552"/>
            <a:ext cx="93268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9264" y="215798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20대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1518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 기준의 공백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136392"/>
            <a:ext cx="4407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금융·행정·수사 절차에 대한 경험이 적을 경우</a:t>
            </a:r>
            <a:endParaRPr lang="en-US" sz="1220" dirty="0"/>
          </a:p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“정상적인 절차가 무엇인지” 비교할 기준점이 부족할 수 있다.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896112" y="4242816"/>
            <a:ext cx="4425696" cy="621792"/>
          </a:xfrm>
          <a:prstGeom prst="roundRect">
            <a:avLst>
              <a:gd name="adj" fmla="val 17647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44074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6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주요 공격: 권위·기관사칭 → 정상 절차로 오인</a:t>
            </a:r>
            <a:endParaRPr lang="en-US" sz="1160" dirty="0"/>
          </a:p>
        </p:txBody>
      </p:sp>
      <p:sp>
        <p:nvSpPr>
          <p:cNvPr id="17" name="Shape 15"/>
          <p:cNvSpPr/>
          <p:nvPr/>
        </p:nvSpPr>
        <p:spPr>
          <a:xfrm>
            <a:off x="6108192" y="1883664"/>
            <a:ext cx="5175504" cy="3337560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27648" y="2130552"/>
            <a:ext cx="93268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215798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고령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327648" y="261518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02B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정보·검증의 공백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327648" y="3136392"/>
            <a:ext cx="4407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디지털·금융환경이 빠르게 변하면서</a:t>
            </a:r>
            <a:endParaRPr lang="en-US" sz="1220" dirty="0"/>
          </a:p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공식 정보를 검색·비교·확인하는 과정 자체가 부담이 될 수 있다.</a:t>
            </a:r>
            <a:endParaRPr lang="en-US" sz="1220" dirty="0"/>
          </a:p>
        </p:txBody>
      </p:sp>
      <p:sp>
        <p:nvSpPr>
          <p:cNvPr id="22" name="Shape 20"/>
          <p:cNvSpPr/>
          <p:nvPr/>
        </p:nvSpPr>
        <p:spPr>
          <a:xfrm>
            <a:off x="6327648" y="4242816"/>
            <a:ext cx="4425696" cy="621792"/>
          </a:xfrm>
          <a:prstGeom prst="roundRect">
            <a:avLst>
              <a:gd name="adj" fmla="val 17647"/>
            </a:avLst>
          </a:prstGeom>
          <a:solidFill>
            <a:srgbClr val="EDF2F8"/>
          </a:solidFill>
          <a:ln w="10160">
            <a:solidFill>
              <a:srgbClr val="DCE5E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73952" y="4407408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5" b="1" dirty="0">
                <a:solidFill>
                  <a:srgbClr val="102B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주요 공격: 반복 설명·다중 사칭 → 혼돈과 신뢰 강화</a:t>
            </a:r>
            <a:endParaRPr lang="en-US" sz="1135" dirty="0"/>
          </a:p>
        </p:txBody>
      </p:sp>
      <p:sp>
        <p:nvSpPr>
          <p:cNvPr id="24" name="Shape 22"/>
          <p:cNvSpPr/>
          <p:nvPr/>
        </p:nvSpPr>
        <p:spPr>
          <a:xfrm>
            <a:off x="676656" y="5458968"/>
            <a:ext cx="10607040" cy="402336"/>
          </a:xfrm>
          <a:prstGeom prst="roundRect">
            <a:avLst>
              <a:gd name="adj" fmla="val 31818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6112" y="5541264"/>
            <a:ext cx="10177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하단에는 “연령별 피해 현황 그래프” 또는 관련 설문·논문 근거를 삽입</a:t>
            </a:r>
            <a:endParaRPr lang="en-US" sz="10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 취약점 분석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핵심은 연령이 아니라, 취약성과 공격방식의 결합이다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20대·고령층을 넘어 일반 금융소비자도 특정 상황에서는 판단이 흔들릴 수 있다는 확장 메시지</a:t>
            </a:r>
            <a:endParaRPr lang="en-US" sz="123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198424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누구나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203704" y="1984248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취약해질 수 있는 순간이 있다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13232" y="2807208"/>
            <a:ext cx="2990088" cy="1874520"/>
          </a:xfrm>
          <a:prstGeom prst="roundRect">
            <a:avLst>
              <a:gd name="adj" fmla="val 8780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36499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정교한 개인정보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803904"/>
            <a:ext cx="25054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이름·직장·거래정보를 알고 접근</a:t>
            </a:r>
            <a:endParaRPr lang="en-US" sz="1060" dirty="0"/>
          </a:p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 “진짜 기관 같다”는 신뢰 강화</a:t>
            </a:r>
            <a:endParaRPr lang="en-US" sz="1060" dirty="0"/>
          </a:p>
        </p:txBody>
      </p:sp>
      <p:sp>
        <p:nvSpPr>
          <p:cNvPr id="16" name="Shape 14"/>
          <p:cNvSpPr/>
          <p:nvPr/>
        </p:nvSpPr>
        <p:spPr>
          <a:xfrm>
            <a:off x="4059936" y="2807208"/>
            <a:ext cx="2990088" cy="1874520"/>
          </a:xfrm>
          <a:prstGeom prst="roundRect">
            <a:avLst>
              <a:gd name="adj" fmla="val 8780"/>
            </a:avLst>
          </a:prstGeom>
          <a:solidFill>
            <a:srgbClr val="F1F6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61104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261104" y="336499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갑작스러운 공포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261104" y="3803904"/>
            <a:ext cx="25054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수사·체포·자산동결 등 위협</a:t>
            </a:r>
            <a:endParaRPr lang="en-US" sz="1060" dirty="0"/>
          </a:p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 차분한 판단보다 즉시 대응 선택</a:t>
            </a:r>
            <a:endParaRPr lang="en-US" sz="1060" dirty="0"/>
          </a:p>
        </p:txBody>
      </p:sp>
      <p:sp>
        <p:nvSpPr>
          <p:cNvPr id="20" name="Shape 18"/>
          <p:cNvSpPr/>
          <p:nvPr/>
        </p:nvSpPr>
        <p:spPr>
          <a:xfrm>
            <a:off x="7406640" y="2807208"/>
            <a:ext cx="2990088" cy="1874520"/>
          </a:xfrm>
          <a:prstGeom prst="roundRect">
            <a:avLst>
              <a:gd name="adj" fmla="val 8780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07808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607808" y="336499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충분하지 않은 시간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607808" y="3803904"/>
            <a:ext cx="25054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지금 당장 처리해야 한다는 압박</a:t>
            </a:r>
            <a:endParaRPr lang="en-US" sz="1060" dirty="0"/>
          </a:p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 가족·기관에 확인할 시간을 제거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1353312" y="5102352"/>
            <a:ext cx="9491472" cy="749808"/>
          </a:xfrm>
          <a:prstGeom prst="roundRect">
            <a:avLst>
              <a:gd name="adj" fmla="val 2195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664208" y="5321808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사람마다 취약성은 다르고, 범죄자는 그 취약성과 맞는 공격방식을 선택한다</a:t>
            </a:r>
            <a:endParaRPr lang="en-US" sz="142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문제정리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피해가 발생하는 구조를 종합하면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범죄자의 전략 × 피해자의 취약성 × 외부 검증 제한이 결합해 잘못된 판단과 송금으로 이어지는 구조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49808" y="2212848"/>
            <a:ext cx="2514600" cy="142646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2414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7432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범죄자의 전략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3127248"/>
            <a:ext cx="2093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정보비대칭 · 권위 · 공포 · 긴급성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3374136" y="2633472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×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3730752" y="2212848"/>
            <a:ext cx="2514600" cy="142646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13632" y="2414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913632" y="27432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피해자의 취약성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3913632" y="3127248"/>
            <a:ext cx="2093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경험 부족 · 정보격차 · 순간 부담</a:t>
            </a:r>
            <a:endParaRPr lang="en-US" sz="102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2633472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×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6711696" y="2212848"/>
            <a:ext cx="2514600" cy="142646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94576" y="2414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894576" y="27432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검증 제한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894576" y="3127248"/>
            <a:ext cx="2093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시간압박 · 비밀유지 · 확인 방해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9381744" y="2926080"/>
            <a:ext cx="694944" cy="0"/>
          </a:xfrm>
          <a:prstGeom prst="line">
            <a:avLst/>
          </a:prstGeom>
          <a:noFill/>
          <a:ln w="2794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149840" y="2331720"/>
            <a:ext cx="1426464" cy="1143000"/>
          </a:xfrm>
          <a:prstGeom prst="roundRect">
            <a:avLst>
              <a:gd name="adj" fmla="val 14400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268712" y="253288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환경 붕괴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0853928" y="3694176"/>
            <a:ext cx="0" cy="658368"/>
          </a:xfrm>
          <a:prstGeom prst="line">
            <a:avLst/>
          </a:prstGeom>
          <a:noFill/>
          <a:ln w="2794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613648" y="4526280"/>
            <a:ext cx="2907792" cy="996696"/>
          </a:xfrm>
          <a:prstGeom prst="roundRect">
            <a:avLst>
              <a:gd name="adj" fmla="val 16514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78240" y="483717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잘못된 판단 → 송금 → 실제 피해</a:t>
            </a:r>
            <a:endParaRPr lang="en-US" sz="1340" dirty="0"/>
          </a:p>
        </p:txBody>
      </p:sp>
      <p:sp>
        <p:nvSpPr>
          <p:cNvPr id="30" name="Shape 28"/>
          <p:cNvSpPr/>
          <p:nvPr/>
        </p:nvSpPr>
        <p:spPr>
          <a:xfrm>
            <a:off x="749808" y="4315968"/>
            <a:ext cx="7223760" cy="1197864"/>
          </a:xfrm>
          <a:prstGeom prst="roundRect">
            <a:avLst>
              <a:gd name="adj" fmla="val 1374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87552" y="4526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 문제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2011680" y="4480560"/>
            <a:ext cx="5650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현재 상황이 정상인지 보이스피싱인지</a:t>
            </a:r>
            <a:endParaRPr lang="en-US" sz="1630" dirty="0"/>
          </a:p>
          <a:p>
            <a:pPr marL="0" indent="0" algn="l">
              <a:buNone/>
            </a:pPr>
            <a:r>
              <a:rPr lang="en-US" sz="16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스스로 검증하기 어려워지는 순간이 존재한다</a:t>
            </a:r>
            <a:endParaRPr lang="en-US" sz="163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문제정의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조작된 상황에서도 피해자는 혼자 판단한다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문제의 본질을 “정보 부족”이 아니라 “판단과 금융행동의 개인 의존성”으로 정의</a:t>
            </a:r>
            <a:endParaRPr lang="en-US" sz="123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192938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보이스피싱의 핵심 문제</a:t>
            </a:r>
            <a:endParaRPr lang="en-US" sz="112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304288"/>
            <a:ext cx="5212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최종 판단과 금융행동이</a:t>
            </a:r>
            <a:endParaRPr lang="en-US" sz="2600" dirty="0"/>
          </a:p>
          <a:p>
            <a:pPr marL="0" indent="0" algn="l">
              <a:buNone/>
            </a:pPr>
            <a:r>
              <a:rPr lang="en-US" sz="26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 개인에게 크게 의존한다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758952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범죄자의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2286000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944368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72384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흔들림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4471416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129784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57800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혼자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656832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315200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2C6FE7"/>
          </a:solidFill>
          <a:ln w="10160">
            <a:solidFill>
              <a:srgbClr val="2C6FE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43216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8842248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500616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FF6478"/>
          </a:solidFill>
          <a:ln w="10160">
            <a:solidFill>
              <a:srgbClr val="FF6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28632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6528816" y="3456432"/>
            <a:ext cx="0" cy="1920240"/>
          </a:xfrm>
          <a:prstGeom prst="line">
            <a:avLst/>
          </a:prstGeom>
          <a:noFill/>
          <a:ln w="20320">
            <a:solidFill>
              <a:srgbClr val="1F5EFF"/>
            </a:solidFill>
            <a:prstDash val="dash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742432" y="3063240"/>
            <a:ext cx="1572768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16168" y="3163824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검증?</a:t>
            </a:r>
            <a:endParaRPr lang="en-US" sz="1160" dirty="0"/>
          </a:p>
        </p:txBody>
      </p:sp>
      <p:sp>
        <p:nvSpPr>
          <p:cNvPr id="29" name="Shape 27"/>
          <p:cNvSpPr/>
          <p:nvPr/>
        </p:nvSpPr>
        <p:spPr>
          <a:xfrm>
            <a:off x="2560320" y="5422392"/>
            <a:ext cx="7040880" cy="521208"/>
          </a:xfrm>
          <a:prstGeom prst="roundRect">
            <a:avLst>
              <a:gd name="adj" fmla="val 24561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770632" y="5550408"/>
            <a:ext cx="6629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 과정에 객관적인 제3자의 판단을 개입시킬 수 있다면?</a:t>
            </a:r>
            <a:endParaRPr lang="en-US" sz="14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인사이트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세 가지 인사이트가 하나의 방향을 가리킨다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예방정보를 더 주는 것보다, 판단이 흔들리는 순간에 독립 검증과 금융행동 지연을 결합해야 한다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13232" y="1901952"/>
            <a:ext cx="10716768" cy="859536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2688" y="2093976"/>
            <a:ext cx="438912" cy="438912"/>
          </a:xfrm>
          <a:prstGeom prst="ellipse">
            <a:avLst/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213055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572768" y="2057400"/>
            <a:ext cx="4315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정보 부족만의 문제가 아니다</a:t>
            </a:r>
            <a:endParaRPr lang="en-US" sz="1530" dirty="0"/>
          </a:p>
        </p:txBody>
      </p:sp>
      <p:sp>
        <p:nvSpPr>
          <p:cNvPr id="14" name="Text 12"/>
          <p:cNvSpPr txBox="1"/>
          <p:nvPr/>
        </p:nvSpPr>
        <p:spPr>
          <a:xfrm>
            <a:off x="5641848" y="2066544"/>
            <a:ext cx="53675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보이스피싱은 피해자의 판단 환경 자체를 조작한다.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3232" y="2999232"/>
            <a:ext cx="10716768" cy="859536"/>
          </a:xfrm>
          <a:prstGeom prst="roundRect">
            <a:avLst>
              <a:gd name="adj" fmla="val 17021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688" y="3191256"/>
            <a:ext cx="438912" cy="438912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88" y="322783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572768" y="3154680"/>
            <a:ext cx="4315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피해자를 혼자 판단하게 두어서는 안 된다</a:t>
            </a:r>
            <a:endParaRPr lang="en-US" sz="1530" dirty="0"/>
          </a:p>
        </p:txBody>
      </p:sp>
      <p:sp>
        <p:nvSpPr>
          <p:cNvPr id="19" name="Text 17"/>
          <p:cNvSpPr txBox="1"/>
          <p:nvPr/>
        </p:nvSpPr>
        <p:spPr>
          <a:xfrm>
            <a:off x="5641848" y="3163824"/>
            <a:ext cx="53675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상황 밖에서 보는 독립적인 제3자의 검토가 필요하다.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13232" y="4096512"/>
            <a:ext cx="10716768" cy="859536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2688" y="4288536"/>
            <a:ext cx="438912" cy="438912"/>
          </a:xfrm>
          <a:prstGeom prst="ellipse">
            <a:avLst/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32688" y="432511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4251960"/>
            <a:ext cx="4315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검증하는 동안 송금이 가능하면 늦을 수 있다</a:t>
            </a:r>
            <a:endParaRPr lang="en-US" sz="1530" dirty="0"/>
          </a:p>
        </p:txBody>
      </p:sp>
      <p:sp>
        <p:nvSpPr>
          <p:cNvPr id="24" name="Text 22"/>
          <p:cNvSpPr txBox="1"/>
          <p:nvPr/>
        </p:nvSpPr>
        <p:spPr>
          <a:xfrm>
            <a:off x="5641848" y="4261104"/>
            <a:ext cx="53675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검증이 끝날 때까지 금융행동을 잠시 멈출 수 있어야 한다.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874520" y="5358384"/>
            <a:ext cx="8412480" cy="603504"/>
          </a:xfrm>
          <a:prstGeom prst="roundRect">
            <a:avLst>
              <a:gd name="adj" fmla="val 24242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157984" y="5522976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새로운 정보 하나가 아니라, “상황 밖에서 바라보는 독립적 외부 검증”이 필요하다</a:t>
            </a:r>
            <a:endParaRPr lang="en-US" sz="134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해결방안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판단과 송금 사이에 ‘금융 방지턱’을 만든다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잘못된 판단이 즉시 금융피해로 이어지지 않도록 한 번 더 멈춰 세우는 보호구간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49808" y="1911096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193852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구조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68096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1947672" y="3072384"/>
            <a:ext cx="228600" cy="0"/>
          </a:xfrm>
          <a:prstGeom prst="line">
            <a:avLst/>
          </a:prstGeom>
          <a:noFill/>
          <a:ln w="20320">
            <a:solidFill>
              <a:srgbClr val="AFC7E7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194560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67712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 흔들림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3374136" y="3072384"/>
            <a:ext cx="228600" cy="0"/>
          </a:xfrm>
          <a:prstGeom prst="line">
            <a:avLst/>
          </a:prstGeom>
          <a:noFill/>
          <a:ln w="20320">
            <a:solidFill>
              <a:srgbClr val="AFC7E7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86784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059936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5166360" y="3072384"/>
            <a:ext cx="228600" cy="0"/>
          </a:xfrm>
          <a:prstGeom prst="line">
            <a:avLst/>
          </a:prstGeom>
          <a:noFill/>
          <a:ln w="20320">
            <a:solidFill>
              <a:srgbClr val="AFC7E7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413248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1F3"/>
          </a:solidFill>
          <a:ln w="10160">
            <a:solidFill>
              <a:srgbClr val="FFD1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0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A53F4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749808" y="3913632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394106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제안 구조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68096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1248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2304288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194560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EAF3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267712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위험탐지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730752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913632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986784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 방지턱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49824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742432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EAF3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815584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독립검증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278624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790688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863840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안전한 재판단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9710928" y="1911096"/>
            <a:ext cx="1828800" cy="3483864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976104" y="218541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 역할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948672" y="2743200"/>
            <a:ext cx="13533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판단을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대신하지 않고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0040112" y="3657600"/>
            <a:ext cx="1188720" cy="0"/>
          </a:xfrm>
          <a:prstGeom prst="line">
            <a:avLst/>
          </a:prstGeom>
          <a:noFill/>
          <a:ln w="12700">
            <a:solidFill>
              <a:srgbClr val="315B84"/>
            </a:solidFill>
            <a:prstDash val="solid"/>
            <a:headEnd type="none"/>
            <a:tailEnd type="none"/>
          </a:ln>
        </p:spPr>
      </p:sp>
      <p:sp>
        <p:nvSpPr>
          <p:cNvPr id="43" name="Text 41"/>
          <p:cNvSpPr txBox="1"/>
          <p:nvPr/>
        </p:nvSpPr>
        <p:spPr>
          <a:xfrm>
            <a:off x="9902952" y="391363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30" b="1" dirty="0">
                <a:solidFill>
                  <a:srgbClr val="D8E8F7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피해로 연결되기 전에</a:t>
            </a:r>
            <a:endParaRPr lang="en-US" sz="1330" dirty="0"/>
          </a:p>
          <a:p>
            <a:pPr marL="0" indent="0" algn="ctr">
              <a:buNone/>
            </a:pPr>
            <a:r>
              <a:rPr lang="en-US" sz="1330" b="1" dirty="0">
                <a:solidFill>
                  <a:srgbClr val="D8E8F7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한 번 더 멈춘다</a:t>
            </a:r>
            <a:endParaRPr lang="en-US" sz="1330" dirty="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10345A"/>
          </a:solidFill>
          <a:ln w="10160">
            <a:solidFill>
              <a:srgbClr val="103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서비스 제안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독립검증형 송금방지턱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9DB6D6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통화 위험 탐지부터 다중검증까지 연결되는 5단계 금융안전 구조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685800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020" dirty="0"/>
          </a:p>
        </p:txBody>
      </p:sp>
      <p:sp>
        <p:nvSpPr>
          <p:cNvPr id="13" name="Text 11"/>
          <p:cNvSpPr txBox="1"/>
          <p:nvPr/>
        </p:nvSpPr>
        <p:spPr>
          <a:xfrm>
            <a:off x="859536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통화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위험 탐지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50976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 txBox="1"/>
          <p:nvPr/>
        </p:nvSpPr>
        <p:spPr>
          <a:xfrm>
            <a:off x="832104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사칭·권위·긴급성·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금융행동 요구 신호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2487168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953512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27248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27248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65B9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3127248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위험도·근거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산출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218688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 txBox="1"/>
          <p:nvPr/>
        </p:nvSpPr>
        <p:spPr>
          <a:xfrm>
            <a:off x="3099816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왜 위험한지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근거와 함께 제시</a:t>
            </a:r>
            <a:endParaRPr lang="en-US" sz="1030" dirty="0"/>
          </a:p>
        </p:txBody>
      </p:sp>
      <p:sp>
        <p:nvSpPr>
          <p:cNvPr id="23" name="Shape 21"/>
          <p:cNvSpPr/>
          <p:nvPr/>
        </p:nvSpPr>
        <p:spPr>
          <a:xfrm>
            <a:off x="4754880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221224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94960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94960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7CC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020" dirty="0"/>
          </a:p>
        </p:txBody>
      </p:sp>
      <p:sp>
        <p:nvSpPr>
          <p:cNvPr id="27" name="Text 25"/>
          <p:cNvSpPr txBox="1"/>
          <p:nvPr/>
        </p:nvSpPr>
        <p:spPr>
          <a:xfrm>
            <a:off x="5394960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역할별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맞춤 브리프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486400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29" name="Text 27"/>
          <p:cNvSpPr txBox="1"/>
          <p:nvPr/>
        </p:nvSpPr>
        <p:spPr>
          <a:xfrm>
            <a:off x="5367528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피해자·신뢰인·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금융기관별 정보 분리</a:t>
            </a:r>
            <a:endParaRPr lang="en-US" sz="1030" dirty="0"/>
          </a:p>
        </p:txBody>
      </p:sp>
      <p:sp>
        <p:nvSpPr>
          <p:cNvPr id="30" name="Shape 28"/>
          <p:cNvSpPr/>
          <p:nvPr/>
        </p:nvSpPr>
        <p:spPr>
          <a:xfrm>
            <a:off x="7022592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488936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62672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662672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95D2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04</a:t>
            </a:r>
            <a:endParaRPr lang="en-US" sz="1020" dirty="0"/>
          </a:p>
        </p:txBody>
      </p:sp>
      <p:sp>
        <p:nvSpPr>
          <p:cNvPr id="34" name="Text 32"/>
          <p:cNvSpPr txBox="1"/>
          <p:nvPr/>
        </p:nvSpPr>
        <p:spPr>
          <a:xfrm>
            <a:off x="7662672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방지턱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7754112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36" name="Text 34"/>
          <p:cNvSpPr txBox="1"/>
          <p:nvPr/>
        </p:nvSpPr>
        <p:spPr>
          <a:xfrm>
            <a:off x="7635240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신뢰인 공동검토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및 일시 보류</a:t>
            </a:r>
            <a:endParaRPr lang="en-US" sz="1030" dirty="0"/>
          </a:p>
        </p:txBody>
      </p:sp>
      <p:sp>
        <p:nvSpPr>
          <p:cNvPr id="37" name="Shape 35"/>
          <p:cNvSpPr/>
          <p:nvPr/>
        </p:nvSpPr>
        <p:spPr>
          <a:xfrm>
            <a:off x="9290304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756648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930384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930384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AEDC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05</a:t>
            </a:r>
            <a:endParaRPr lang="en-US" sz="1020" dirty="0"/>
          </a:p>
        </p:txBody>
      </p:sp>
      <p:sp>
        <p:nvSpPr>
          <p:cNvPr id="41" name="Text 39"/>
          <p:cNvSpPr txBox="1"/>
          <p:nvPr/>
        </p:nvSpPr>
        <p:spPr>
          <a:xfrm>
            <a:off x="9930384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독립검증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연결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10021824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43" name="Text 41"/>
          <p:cNvSpPr txBox="1"/>
          <p:nvPr/>
        </p:nvSpPr>
        <p:spPr>
          <a:xfrm>
            <a:off x="9902952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금융기관·공식기관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진위확인</a:t>
            </a:r>
            <a:endParaRPr lang="en-US" sz="1030" dirty="0"/>
          </a:p>
        </p:txBody>
      </p:sp>
      <p:sp>
        <p:nvSpPr>
          <p:cNvPr id="44" name="Shape 42"/>
          <p:cNvSpPr/>
          <p:nvPr/>
        </p:nvSpPr>
        <p:spPr>
          <a:xfrm>
            <a:off x="1920240" y="5486400"/>
            <a:ext cx="8357616" cy="466344"/>
          </a:xfrm>
          <a:prstGeom prst="roundRect">
            <a:avLst>
              <a:gd name="adj" fmla="val 31373"/>
            </a:avLst>
          </a:prstGeom>
          <a:solidFill>
            <a:srgbClr val="102F50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157984" y="5596128"/>
            <a:ext cx="79004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D4E4F3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탐지 → 근거 → 공유 → 보류 → 검증 : “판단”과 “금융행동”을 동시에 보호</a:t>
            </a:r>
            <a:endParaRPr lang="en-US" sz="124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서비스 구조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관계자마다 서로 다른 역할로 개입한다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동일한 정보를 모두에게 보내지 않고, 각 주체에게 필요한 정보와 권한만 제공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13232" y="1847088"/>
            <a:ext cx="1444752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주체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240280" y="1847088"/>
            <a:ext cx="4023360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13432" y="1947672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 err="1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Llm</a:t>
            </a:r>
            <a:r>
              <a:rPr lang="ko-KR" alt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 당사자</a:t>
            </a:r>
            <a:r>
              <a:rPr lang="en-US" altLang="ko-KR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(</a:t>
            </a:r>
            <a:r>
              <a:rPr lang="ko-KR" alt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대상</a:t>
            </a:r>
            <a:r>
              <a:rPr lang="en-US" altLang="ko-KR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)</a:t>
            </a:r>
            <a:r>
              <a:rPr lang="ko-KR" alt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들에게 </a:t>
            </a:r>
            <a:r>
              <a:rPr lang="en-US" sz="1150" b="1" dirty="0" err="1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제공</a:t>
            </a: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 정보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82512" y="1847088"/>
            <a:ext cx="2697480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55664" y="1947672"/>
            <a:ext cx="2551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 역할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89720" y="1847088"/>
            <a:ext cx="2267712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2872" y="1947672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접근 원칙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13232" y="2414016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2523744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240280" y="2414016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31720" y="252374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위험도 · 근거 · 행동 안내</a:t>
            </a:r>
            <a:endParaRPr lang="en-US" sz="1070" dirty="0"/>
          </a:p>
        </p:txBody>
      </p:sp>
      <p:sp>
        <p:nvSpPr>
          <p:cNvPr id="22" name="Shape 20"/>
          <p:cNvSpPr/>
          <p:nvPr/>
        </p:nvSpPr>
        <p:spPr>
          <a:xfrm>
            <a:off x="6382512" y="2414016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73952" y="2523744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통화 종료 · 재확인</a:t>
            </a:r>
            <a:endParaRPr lang="en-US" sz="1070" dirty="0"/>
          </a:p>
        </p:txBody>
      </p:sp>
      <p:sp>
        <p:nvSpPr>
          <p:cNvPr id="24" name="Shape 22"/>
          <p:cNvSpPr/>
          <p:nvPr/>
        </p:nvSpPr>
        <p:spPr>
          <a:xfrm>
            <a:off x="9189720" y="2414016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81160" y="2523744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본인 의사결정 지원</a:t>
            </a:r>
            <a:endParaRPr lang="en-US" sz="1070" dirty="0"/>
          </a:p>
        </p:txBody>
      </p:sp>
      <p:sp>
        <p:nvSpPr>
          <p:cNvPr id="26" name="Shape 24"/>
          <p:cNvSpPr/>
          <p:nvPr/>
        </p:nvSpPr>
        <p:spPr>
          <a:xfrm>
            <a:off x="713232" y="3127248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" y="3236976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신뢰인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240280" y="3127248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331720" y="323697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상황요약 · AI 분석 · 요구금액</a:t>
            </a:r>
            <a:endParaRPr lang="en-US" sz="1070" dirty="0"/>
          </a:p>
        </p:txBody>
      </p:sp>
      <p:sp>
        <p:nvSpPr>
          <p:cNvPr id="30" name="Shape 28"/>
          <p:cNvSpPr/>
          <p:nvPr/>
        </p:nvSpPr>
        <p:spPr>
          <a:xfrm>
            <a:off x="6382512" y="3127248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73952" y="323697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거래별 공동검토</a:t>
            </a:r>
            <a:endParaRPr lang="en-US" sz="1070" dirty="0"/>
          </a:p>
        </p:txBody>
      </p:sp>
      <p:sp>
        <p:nvSpPr>
          <p:cNvPr id="32" name="Shape 30"/>
          <p:cNvSpPr/>
          <p:nvPr/>
        </p:nvSpPr>
        <p:spPr>
          <a:xfrm>
            <a:off x="9189720" y="3127248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281160" y="3236976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최소 필요 정보</a:t>
            </a:r>
            <a:endParaRPr lang="en-US" sz="1070" dirty="0"/>
          </a:p>
        </p:txBody>
      </p:sp>
      <p:sp>
        <p:nvSpPr>
          <p:cNvPr id="34" name="Shape 32"/>
          <p:cNvSpPr/>
          <p:nvPr/>
        </p:nvSpPr>
        <p:spPr>
          <a:xfrm>
            <a:off x="713232" y="3840480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" y="3950208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금융기관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240280" y="3840480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331720" y="395020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거래위험 · 요구금액</a:t>
            </a:r>
            <a:endParaRPr lang="en-US" sz="1070" dirty="0"/>
          </a:p>
        </p:txBody>
      </p:sp>
      <p:sp>
        <p:nvSpPr>
          <p:cNvPr id="38" name="Shape 36"/>
          <p:cNvSpPr/>
          <p:nvPr/>
        </p:nvSpPr>
        <p:spPr>
          <a:xfrm>
            <a:off x="6382512" y="3840480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73952" y="395020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추가확인 · 보류 · 차단</a:t>
            </a:r>
            <a:endParaRPr lang="en-US" sz="1070" dirty="0"/>
          </a:p>
        </p:txBody>
      </p:sp>
      <p:sp>
        <p:nvSpPr>
          <p:cNvPr id="40" name="Shape 38"/>
          <p:cNvSpPr/>
          <p:nvPr/>
        </p:nvSpPr>
        <p:spPr>
          <a:xfrm>
            <a:off x="9189720" y="3840480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281160" y="3950208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금융행동 보호</a:t>
            </a:r>
            <a:endParaRPr lang="en-US" sz="1070" dirty="0"/>
          </a:p>
        </p:txBody>
      </p:sp>
      <p:sp>
        <p:nvSpPr>
          <p:cNvPr id="42" name="Shape 40"/>
          <p:cNvSpPr/>
          <p:nvPr/>
        </p:nvSpPr>
        <p:spPr>
          <a:xfrm>
            <a:off x="713232" y="4553712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4663440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기관 담당자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240280" y="4553712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331720" y="4663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사칭정보 · 확인요청</a:t>
            </a:r>
            <a:endParaRPr lang="en-US" sz="1070" dirty="0"/>
          </a:p>
        </p:txBody>
      </p:sp>
      <p:sp>
        <p:nvSpPr>
          <p:cNvPr id="46" name="Shape 44"/>
          <p:cNvSpPr/>
          <p:nvPr/>
        </p:nvSpPr>
        <p:spPr>
          <a:xfrm>
            <a:off x="6382512" y="4553712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73952" y="46634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공식 진위검증</a:t>
            </a:r>
            <a:endParaRPr lang="en-US" sz="1070" dirty="0"/>
          </a:p>
        </p:txBody>
      </p:sp>
      <p:sp>
        <p:nvSpPr>
          <p:cNvPr id="48" name="Shape 46"/>
          <p:cNvSpPr/>
          <p:nvPr/>
        </p:nvSpPr>
        <p:spPr>
          <a:xfrm>
            <a:off x="9189720" y="4553712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281160" y="4663440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진위확인만 제공</a:t>
            </a:r>
            <a:endParaRPr lang="en-US" sz="1070" dirty="0"/>
          </a:p>
        </p:txBody>
      </p:sp>
      <p:sp>
        <p:nvSpPr>
          <p:cNvPr id="50" name="Shape 48"/>
          <p:cNvSpPr/>
          <p:nvPr/>
        </p:nvSpPr>
        <p:spPr>
          <a:xfrm>
            <a:off x="713232" y="5468112"/>
            <a:ext cx="10744200" cy="457200"/>
          </a:xfrm>
          <a:prstGeom prst="roundRect">
            <a:avLst>
              <a:gd name="adj" fmla="val 28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41832" y="5568696"/>
            <a:ext cx="10259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PRIVACY BY ROLE  |  필요한 정보만 · 필요한 주체에게 · 필요한 순간에</a:t>
            </a:r>
            <a:endParaRPr lang="en-US" sz="118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10345A"/>
          </a:solidFill>
          <a:ln w="10160">
            <a:solidFill>
              <a:srgbClr val="103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658368" y="585216"/>
            <a:ext cx="1133856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12648"/>
            <a:ext cx="987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CLOSING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157276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판단을 대신하지 않는다.</a:t>
            </a:r>
            <a:endParaRPr lang="en-US" sz="310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2258568"/>
            <a:ext cx="749808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피해로 연결되기 전에</a:t>
            </a:r>
            <a:endParaRPr lang="en-US" sz="3400" dirty="0"/>
          </a:p>
          <a:p>
            <a:pPr marL="0" indent="0" algn="l">
              <a:buNone/>
            </a:pPr>
            <a:r>
              <a:rPr lang="en-US" sz="34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한 번 더 멈춘다.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76472"/>
            <a:ext cx="7086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BDD0E4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AI가 위험을 탐지하고, 외부의 독립적인 주체가 상황을 검증하며,</a:t>
            </a:r>
            <a:endParaRPr lang="en-US" sz="1450" dirty="0"/>
          </a:p>
          <a:p>
            <a:pPr marL="0" indent="0" algn="l">
              <a:buNone/>
            </a:pPr>
            <a:r>
              <a:rPr lang="en-US" sz="1450" dirty="0">
                <a:solidFill>
                  <a:srgbClr val="BDD0E4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검증이 끝날 때까지 위험한 금융거래를 잠시 보류하는 구조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339328" y="1353312"/>
            <a:ext cx="2962656" cy="4005072"/>
          </a:xfrm>
          <a:prstGeom prst="roundRect">
            <a:avLst>
              <a:gd name="adj" fmla="val 7407"/>
            </a:avLst>
          </a:prstGeom>
          <a:solidFill>
            <a:srgbClr val="103256"/>
          </a:solidFill>
          <a:ln w="10160">
            <a:solidFill>
              <a:srgbClr val="2A5A8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68512" y="1847088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308592" y="2020824"/>
            <a:ext cx="502920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9893808" y="1847088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검증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040112" y="2386584"/>
            <a:ext cx="0" cy="54864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9217152" y="3081528"/>
            <a:ext cx="13167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방지턱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732520" y="4325112"/>
            <a:ext cx="2139696" cy="0"/>
          </a:xfrm>
          <a:prstGeom prst="line">
            <a:avLst/>
          </a:prstGeom>
          <a:noFill/>
          <a:ln w="12700">
            <a:solidFill>
              <a:srgbClr val="315C85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 txBox="1"/>
          <p:nvPr/>
        </p:nvSpPr>
        <p:spPr>
          <a:xfrm>
            <a:off x="8814816" y="4590288"/>
            <a:ext cx="19751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C8DAEB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독립검증형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C8DAEB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송금방지턱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590702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484A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BLUE PROPOSAL TEMPLATE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D5831F-DE66-4EDD-B960-CEFCC96C152C}"/>
              </a:ext>
            </a:extLst>
          </p:cNvPr>
          <p:cNvSpPr txBox="1"/>
          <p:nvPr/>
        </p:nvSpPr>
        <p:spPr>
          <a:xfrm>
            <a:off x="3043767" y="2136338"/>
            <a:ext cx="610446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altLang="ko-KR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</a:t>
            </a:r>
            <a:r>
              <a:rPr lang="ko-KR" altLang="en-US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를</a:t>
            </a:r>
            <a:endParaRPr lang="en-US" altLang="ko-KR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marL="0" indent="0" algn="ctr">
              <a:buNone/>
            </a:pPr>
            <a:endParaRPr lang="en-US" altLang="ko-KR" sz="1800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어떻게</a:t>
            </a:r>
            <a:r>
              <a:rPr lang="en-US" altLang="ko-KR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?</a:t>
            </a: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왜</a:t>
            </a:r>
            <a:r>
              <a:rPr lang="en-US" altLang="ko-KR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?</a:t>
            </a:r>
          </a:p>
          <a:p>
            <a:pPr marL="0" indent="0" algn="ctr">
              <a:buNone/>
            </a:pPr>
            <a:endParaRPr lang="en-US" altLang="ko-KR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사용하는가</a:t>
            </a:r>
            <a:endParaRPr lang="en-US" altLang="ko-KR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461684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12700">
          <a:solidFill>
            <a:srgbClr val="0E2746"/>
          </a:solidFill>
          <a:prstDash val="solid"/>
        </a:ln>
      </a:spPr>
      <a:bodyPr/>
      <a:lstStyle/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630</TotalTime>
  <Words>3182</Words>
  <Application>Microsoft Office PowerPoint</Application>
  <PresentationFormat>Widescreen</PresentationFormat>
  <Paragraphs>556</Paragraphs>
  <Slides>27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7" baseType="lpstr">
      <vt:lpstr>Arial Unicode MS</vt:lpstr>
      <vt:lpstr>NanumSquare</vt:lpstr>
      <vt:lpstr>NanumSquare Bold</vt:lpstr>
      <vt:lpstr>Noto Sans KR</vt:lpstr>
      <vt:lpstr>맑은 고딕</vt:lpstr>
      <vt:lpstr>페이퍼로지 4 Regular</vt:lpstr>
      <vt:lpstr>페이퍼로지 7 Bold</vt:lpstr>
      <vt:lpstr>페이퍼로지 9 Black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mbc</dc:creator>
  <cp:lastModifiedBy>mbc</cp:lastModifiedBy>
  <cp:revision>65</cp:revision>
  <dcterms:created xsi:type="dcterms:W3CDTF">2026-08-25T03:40:06Z</dcterms:created>
  <dcterms:modified xsi:type="dcterms:W3CDTF">2026-08-26T06:30:36Z</dcterms:modified>
</cp:coreProperties>
</file>