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72" r:id="rId2"/>
    <p:sldId id="289" r:id="rId3"/>
    <p:sldId id="307" r:id="rId4"/>
    <p:sldId id="258" r:id="rId5"/>
    <p:sldId id="305" r:id="rId6"/>
    <p:sldId id="286" r:id="rId7"/>
    <p:sldId id="312" r:id="rId8"/>
    <p:sldId id="256" r:id="rId9"/>
    <p:sldId id="257" r:id="rId10"/>
    <p:sldId id="321" r:id="rId11"/>
    <p:sldId id="322" r:id="rId12"/>
    <p:sldId id="323" r:id="rId13"/>
    <p:sldId id="315" r:id="rId14"/>
    <p:sldId id="264" r:id="rId15"/>
    <p:sldId id="320" r:id="rId16"/>
    <p:sldId id="319" r:id="rId17"/>
    <p:sldId id="318" r:id="rId18"/>
    <p:sldId id="313" r:id="rId19"/>
    <p:sldId id="262" r:id="rId20"/>
    <p:sldId id="314" r:id="rId21"/>
    <p:sldId id="316" r:id="rId22"/>
    <p:sldId id="306" r:id="rId23"/>
    <p:sldId id="309" r:id="rId24"/>
    <p:sldId id="296" r:id="rId25"/>
    <p:sldId id="263" r:id="rId26"/>
    <p:sldId id="317" r:id="rId27"/>
    <p:sldId id="261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302" r:id="rId36"/>
    <p:sldId id="308" r:id="rId37"/>
    <p:sldId id="290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bc" initials="m" lastIdx="1" clrIdx="0">
    <p:extLst>
      <p:ext uri="{19B8F6BF-5375-455C-9EA6-DF929625EA0E}">
        <p15:presenceInfo xmlns:p15="http://schemas.microsoft.com/office/powerpoint/2012/main" userId="mb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6"/>
    <a:srgbClr val="E56766"/>
    <a:srgbClr val="0B1F3A"/>
    <a:srgbClr val="E66867"/>
    <a:srgbClr val="49A8FF"/>
    <a:srgbClr val="002060"/>
    <a:srgbClr val="5E85B0"/>
    <a:srgbClr val="2F7CF6"/>
    <a:srgbClr val="10213D"/>
    <a:srgbClr val="0E2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60"/>
  </p:normalViewPr>
  <p:slideViewPr>
    <p:cSldViewPr snapToGrid="0">
      <p:cViewPr>
        <p:scale>
          <a:sx n="100" d="100"/>
          <a:sy n="100" d="100"/>
        </p:scale>
        <p:origin x="91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Pt>
            <c:idx val="9"/>
            <c:marker>
              <c:symbol val="circle"/>
              <c:size val="5"/>
              <c:spPr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4BD-4353-81B5-3CAA4CB197C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rgbClr val="E66867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862</c:v>
                </c:pt>
                <c:pt idx="1">
                  <c:v>1018</c:v>
                </c:pt>
                <c:pt idx="2">
                  <c:v>1184</c:v>
                </c:pt>
                <c:pt idx="3">
                  <c:v>1699</c:v>
                </c:pt>
                <c:pt idx="4">
                  <c:v>2210</c:v>
                </c:pt>
                <c:pt idx="5">
                  <c:v>2500</c:v>
                </c:pt>
                <c:pt idx="6">
                  <c:v>2491</c:v>
                </c:pt>
                <c:pt idx="7">
                  <c:v>2366</c:v>
                </c:pt>
                <c:pt idx="8">
                  <c:v>4100</c:v>
                </c:pt>
                <c:pt idx="9">
                  <c:v>5384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4BD-4353-81B5-3CAA4CB197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42624"/>
        <c:axId val="630342952"/>
      </c:lineChart>
      <c:catAx>
        <c:axId val="63034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952"/>
        <c:crosses val="autoZero"/>
        <c:auto val="1"/>
        <c:lblAlgn val="ctr"/>
        <c:lblOffset val="100"/>
        <c:noMultiLvlLbl val="0"/>
      </c:catAx>
      <c:valAx>
        <c:axId val="630342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63034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피해금액 (억원)</c:v>
                </c:pt>
              </c:strCache>
            </c:strRef>
          </c:tx>
          <c:spPr>
            <a:solidFill>
              <a:srgbClr val="5E85B0"/>
            </a:solidFill>
            <a:ln>
              <a:noFill/>
            </a:ln>
            <a:effectLst/>
          </c:spPr>
          <c:invertIfNegative val="0"/>
          <c:dPt>
            <c:idx val="9"/>
            <c:invertIfNegative val="0"/>
            <c:bubble3D val="0"/>
            <c:spPr>
              <a:solidFill>
                <a:srgbClr val="E567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1BC5-4D74-A2C0-0B00A1C835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1468</c:v>
                </c:pt>
                <c:pt idx="1">
                  <c:v>2470</c:v>
                </c:pt>
                <c:pt idx="2">
                  <c:v>4040</c:v>
                </c:pt>
                <c:pt idx="3">
                  <c:v>6398</c:v>
                </c:pt>
                <c:pt idx="4">
                  <c:v>7000</c:v>
                </c:pt>
                <c:pt idx="5">
                  <c:v>7744</c:v>
                </c:pt>
                <c:pt idx="6">
                  <c:v>5438</c:v>
                </c:pt>
                <c:pt idx="7">
                  <c:v>4472</c:v>
                </c:pt>
                <c:pt idx="8">
                  <c:v>8545</c:v>
                </c:pt>
                <c:pt idx="9">
                  <c:v>12578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252944200"/>
        <c:axId val="25294288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발생건수 (건)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나눔스퀘어_ac Bold" panose="020B0600000101010101" pitchFamily="50" charset="-127"/>
                      <a:ea typeface="나눔스퀘어_ac Bold" panose="020B0600000101010101" pitchFamily="50" charset="-127"/>
                      <a:cs typeface="+mn-cs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1BC5-4D74-A2C0-0B00A1C835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나눔스퀘어_ac Bold" panose="020B0600000101010101" pitchFamily="50" charset="-127"/>
                    <a:ea typeface="나눔스퀘어_ac Bold" panose="020B0600000101010101" pitchFamily="50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17040</c:v>
                </c:pt>
                <c:pt idx="1">
                  <c:v>24259</c:v>
                </c:pt>
                <c:pt idx="2">
                  <c:v>34132</c:v>
                </c:pt>
                <c:pt idx="3">
                  <c:v>37667</c:v>
                </c:pt>
                <c:pt idx="4">
                  <c:v>31681</c:v>
                </c:pt>
                <c:pt idx="5">
                  <c:v>30982</c:v>
                </c:pt>
                <c:pt idx="6">
                  <c:v>21832</c:v>
                </c:pt>
                <c:pt idx="7">
                  <c:v>18902</c:v>
                </c:pt>
                <c:pt idx="8">
                  <c:v>20839</c:v>
                </c:pt>
                <c:pt idx="9">
                  <c:v>23360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BC5-4D74-A2C0-0B00A1C835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33958696"/>
        <c:axId val="833957384"/>
      </c:lineChart>
      <c:catAx>
        <c:axId val="252944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2888"/>
        <c:crosses val="autoZero"/>
        <c:auto val="1"/>
        <c:lblAlgn val="ctr"/>
        <c:lblOffset val="100"/>
        <c:noMultiLvlLbl val="0"/>
      </c:catAx>
      <c:valAx>
        <c:axId val="252942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252944200"/>
        <c:crosses val="autoZero"/>
        <c:crossBetween val="between"/>
      </c:valAx>
      <c:valAx>
        <c:axId val="83395738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나눔스퀘어_ac Bold" panose="020B0600000101010101" pitchFamily="50" charset="-127"/>
                <a:ea typeface="나눔스퀘어_ac Bold" panose="020B0600000101010101" pitchFamily="50" charset="-127"/>
                <a:cs typeface="+mn-cs"/>
              </a:defRPr>
            </a:pPr>
            <a:endParaRPr lang="ko-KR"/>
          </a:p>
        </c:txPr>
        <c:crossAx val="833958696"/>
        <c:crosses val="max"/>
        <c:crossBetween val="between"/>
      </c:valAx>
      <c:catAx>
        <c:axId val="83395869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339573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나눔스퀘어_ac Bold" panose="020B0600000101010101" pitchFamily="50" charset="-127"/>
              <a:ea typeface="나눔스퀘어_ac Bold" panose="020B0600000101010101" pitchFamily="50" charset="-127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나눔스퀘어_ac Bold" panose="020B0600000101010101" pitchFamily="50" charset="-127"/>
          <a:ea typeface="나눔스퀘어_ac Bold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Pt>
            <c:idx val="9"/>
            <c:marker>
              <c:symbol val="circle"/>
              <c:size val="5"/>
              <c:spPr>
                <a:solidFill>
                  <a:srgbClr val="FF4B16"/>
                </a:solidFill>
                <a:ln w="9525">
                  <a:solidFill>
                    <a:schemeClr val="accent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4BD-4353-81B5-3CAA4CB197C4}"/>
              </c:ext>
            </c:extLst>
          </c:dPt>
          <c:dLbls>
            <c:dLbl>
              <c:idx val="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700" b="0" i="0" u="none" strike="noStrike" kern="1200" baseline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  <a:cs typeface="+mn-cs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F4BD-4353-81B5-3CAA4CB197C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rgbClr val="FF4B16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Sheet1!$A$2:$A$11</c:f>
              <c:numCache>
                <c:formatCode>General</c:formatCod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862</c:v>
                </c:pt>
                <c:pt idx="1">
                  <c:v>1018</c:v>
                </c:pt>
                <c:pt idx="2">
                  <c:v>1184</c:v>
                </c:pt>
                <c:pt idx="3">
                  <c:v>1699</c:v>
                </c:pt>
                <c:pt idx="4">
                  <c:v>2210</c:v>
                </c:pt>
                <c:pt idx="5">
                  <c:v>2500</c:v>
                </c:pt>
                <c:pt idx="6">
                  <c:v>2491</c:v>
                </c:pt>
                <c:pt idx="7">
                  <c:v>2366</c:v>
                </c:pt>
                <c:pt idx="8">
                  <c:v>4100</c:v>
                </c:pt>
                <c:pt idx="9">
                  <c:v>5384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4BD-4353-81B5-3CAA4CB197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42624"/>
        <c:axId val="630342952"/>
      </c:lineChart>
      <c:catAx>
        <c:axId val="630342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+mn-cs"/>
              </a:defRPr>
            </a:pPr>
            <a:endParaRPr lang="ko-KR"/>
          </a:p>
        </c:txPr>
        <c:crossAx val="630342952"/>
        <c:crosses val="autoZero"/>
        <c:auto val="1"/>
        <c:lblAlgn val="ctr"/>
        <c:lblOffset val="100"/>
        <c:noMultiLvlLbl val="0"/>
      </c:catAx>
      <c:valAx>
        <c:axId val="630342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+mn-cs"/>
              </a:defRPr>
            </a:pPr>
            <a:endParaRPr lang="ko-KR"/>
          </a:p>
        </c:txPr>
        <c:crossAx val="630342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700">
          <a:latin typeface="페이퍼로지 4 Regular" pitchFamily="2" charset="-127"/>
          <a:ea typeface="페이퍼로지 4 Regular" pitchFamily="2" charset="-127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89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5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5982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
[Sources]
https://news.sktelecom.com/218051
https://news.sktelecom.com/217274
https://news.sktelecom.com/224228
https://www.fsc.go.kr/no010101/87565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
[Sources]
https://news.sktelecom.com/218051
https://news.sktelecom.com/217274
https://news.sktelecom.com/224228
https://news.lguplus.com/20057
https://www.fsc.go.kr/no010101/87565
https://www.fsc.go.kr/no010101/86997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olice.go.kr/user/bbs/BD_selectBbs.do?q_bbsCode=1002&amp;q_bbscttSn=20250918132339144&amp;q_currPage=1&amp;q_rowPerPage=10&amp;q_searchKeyTy=&amp;q_searchVal=&amp;q_sortName=&amp;q_sortOrder=&amp;q_tab=&amp;utm_source=chatgpt.com" TargetMode="External"/><Relationship Id="rId13" Type="http://schemas.openxmlformats.org/officeDocument/2006/relationships/hyperlink" Target="https://www.kiri.or.kr/report/downloadFile.do?docId=490939&amp;utm_source=chatgpt.com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bravo.etoday.co.kr/view/atc_view/19859" TargetMode="External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png"/><Relationship Id="rId11" Type="http://schemas.openxmlformats.org/officeDocument/2006/relationships/hyperlink" Target="https://biz.chosun.com/stock/finance/2025/10/29/QF4PTQJOJ5AALDSYSTCNFD46QA/2" TargetMode="External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hyperlink" Target="https://biz.chosun.com/stock/finance/2025/10/29/QF4PTQJOJ5AALDSYSTCNFD46QA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51548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금융소비자를 혼자 남기지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anumSquare Bold" panose="020B0600000101010101" pitchFamily="50" charset="-127"/>
                  <a:ea typeface="NanumSquare Bold" panose="020B0600000101010101" pitchFamily="50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NanumSquare Bold" panose="020B0600000101010101" pitchFamily="50" charset="-127"/>
                <a:ea typeface="NanumSquare Bold" panose="020B0600000101010101" pitchFamily="50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8097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31050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34794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91585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7675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94359" y="677610"/>
            <a:ext cx="11016615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2026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이후 동안 보이스피싱 피해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260,694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6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조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 153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억원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평균 피해액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우상향</a:t>
            </a:r>
            <a:r>
              <a:rPr lang="en-US" altLang="ko-KR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…</a:t>
            </a:r>
          </a:p>
          <a:p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0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</a:t>
            </a:r>
            <a:r>
              <a:rPr lang="ko-KR" altLang="en-US" sz="20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 이어지는 심각한 상황</a:t>
            </a:r>
            <a:endParaRPr lang="en-US" altLang="ko-KR" sz="20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94360" y="5466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600456" y="4575007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10836" y="4737420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99811" y="4682175"/>
            <a:ext cx="3656903" cy="1521828"/>
            <a:chOff x="7640448" y="4563464"/>
            <a:chExt cx="3656903" cy="152182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63464"/>
              <a:ext cx="3656903" cy="1521828"/>
              <a:chOff x="7640448" y="4563464"/>
              <a:chExt cx="3656903" cy="15218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63464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0484559-C80C-4C9F-8C93-F7FCC1E4A777}"/>
              </a:ext>
            </a:extLst>
          </p:cNvPr>
          <p:cNvGrpSpPr/>
          <p:nvPr/>
        </p:nvGrpSpPr>
        <p:grpSpPr>
          <a:xfrm>
            <a:off x="1127834" y="1655222"/>
            <a:ext cx="9936332" cy="2776910"/>
            <a:chOff x="2156114" y="1775283"/>
            <a:chExt cx="9077128" cy="2536789"/>
          </a:xfrm>
        </p:grpSpPr>
        <p:sp>
          <p:nvSpPr>
            <p:cNvPr id="79" name="Shape 8">
              <a:extLst>
                <a:ext uri="{FF2B5EF4-FFF2-40B4-BE49-F238E27FC236}">
                  <a16:creationId xmlns:a16="http://schemas.microsoft.com/office/drawing/2014/main" id="{16834A81-4253-48AC-B97E-FD07265A8D95}"/>
                </a:ext>
              </a:extLst>
            </p:cNvPr>
            <p:cNvSpPr/>
            <p:nvPr/>
          </p:nvSpPr>
          <p:spPr>
            <a:xfrm>
              <a:off x="2156114" y="1775283"/>
              <a:ext cx="4445862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855B79-622D-459E-A7F5-4F42EB704F63}"/>
                </a:ext>
              </a:extLst>
            </p:cNvPr>
            <p:cNvSpPr txBox="1"/>
            <p:nvPr/>
          </p:nvSpPr>
          <p:spPr>
            <a:xfrm>
              <a:off x="2635906" y="1849987"/>
              <a:ext cx="3486278" cy="2249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2016~2025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피해 발생 수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피해액</a:t>
              </a:r>
              <a:endParaRPr lang="ko-KR" altLang="en-US" sz="1000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BEED6A9-5F2A-494A-887C-CC454F317B02}"/>
                </a:ext>
              </a:extLst>
            </p:cNvPr>
            <p:cNvGrpSpPr/>
            <p:nvPr/>
          </p:nvGrpSpPr>
          <p:grpSpPr>
            <a:xfrm>
              <a:off x="6787380" y="1775283"/>
              <a:ext cx="4445862" cy="2514600"/>
              <a:chOff x="5826188" y="1775283"/>
              <a:chExt cx="4445862" cy="251460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39CB2445-6554-4212-901E-9C6B7D7612C4}"/>
                  </a:ext>
                </a:extLst>
              </p:cNvPr>
              <p:cNvGrpSpPr/>
              <p:nvPr/>
            </p:nvGrpSpPr>
            <p:grpSpPr>
              <a:xfrm>
                <a:off x="5826188" y="1775283"/>
                <a:ext cx="4445862" cy="2514600"/>
                <a:chOff x="4630032" y="1775283"/>
                <a:chExt cx="4445862" cy="2514600"/>
              </a:xfrm>
            </p:grpSpPr>
            <p:sp>
              <p:nvSpPr>
                <p:cNvPr id="119" name="Shape 8">
                  <a:extLst>
                    <a:ext uri="{FF2B5EF4-FFF2-40B4-BE49-F238E27FC236}">
                      <a16:creationId xmlns:a16="http://schemas.microsoft.com/office/drawing/2014/main" id="{DFF93096-BD0A-4BBF-8479-B0600EFEC37F}"/>
                    </a:ext>
                  </a:extLst>
                </p:cNvPr>
                <p:cNvSpPr/>
                <p:nvPr/>
              </p:nvSpPr>
              <p:spPr>
                <a:xfrm>
                  <a:off x="4630032" y="1775283"/>
                  <a:ext cx="4445862" cy="2514600"/>
                </a:xfrm>
                <a:prstGeom prst="roundRect">
                  <a:avLst>
                    <a:gd name="adj" fmla="val 5818"/>
                  </a:avLst>
                </a:prstGeom>
                <a:solidFill>
                  <a:srgbClr val="FFFFFF"/>
                </a:solidFill>
                <a:ln w="10160">
                  <a:solidFill>
                    <a:srgbClr val="DCE8FA"/>
                  </a:solidFill>
                  <a:prstDash val="solid"/>
                </a:ln>
              </p:spPr>
            </p:sp>
            <p:graphicFrame>
              <p:nvGraphicFramePr>
                <p:cNvPr id="40" name="Chart 39">
                  <a:extLst>
                    <a:ext uri="{FF2B5EF4-FFF2-40B4-BE49-F238E27FC236}">
                      <a16:creationId xmlns:a16="http://schemas.microsoft.com/office/drawing/2014/main" id="{46FDFEB3-28D8-47BD-9371-4A09F7B17AFE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681701987"/>
                    </p:ext>
                  </p:extLst>
                </p:nvPr>
              </p:nvGraphicFramePr>
              <p:xfrm>
                <a:off x="4735830" y="2099334"/>
                <a:ext cx="4282782" cy="210548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3"/>
                </a:graphicData>
              </a:graphic>
            </p:graphicFrame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892428CB-C9D5-47A0-80BE-D571E28C0841}"/>
                  </a:ext>
                </a:extLst>
              </p:cNvPr>
              <p:cNvSpPr txBox="1"/>
              <p:nvPr/>
            </p:nvSpPr>
            <p:spPr>
              <a:xfrm>
                <a:off x="6305980" y="1849987"/>
                <a:ext cx="3486278" cy="224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년도별 </a:t>
                </a:r>
                <a:r>
                  <a:rPr lang="en-US" altLang="ko-KR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1</a:t>
                </a:r>
                <a:r>
                  <a:rPr lang="ko-KR" altLang="en-US" sz="1000" b="1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 Bold" pitchFamily="34" charset="-120"/>
                  </a:rPr>
                  <a:t>개 사건 평균 피해액 추이</a:t>
                </a:r>
                <a:endParaRPr lang="ko-KR" altLang="en-US" sz="1000" dirty="0"/>
              </a:p>
            </p:txBody>
          </p:sp>
        </p:grpSp>
        <p:graphicFrame>
          <p:nvGraphicFramePr>
            <p:cNvPr id="22" name="Chart 21">
              <a:extLst>
                <a:ext uri="{FF2B5EF4-FFF2-40B4-BE49-F238E27FC236}">
                  <a16:creationId xmlns:a16="http://schemas.microsoft.com/office/drawing/2014/main" id="{278C99B9-09AF-4A69-9C94-12332440301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97957959"/>
                </p:ext>
              </p:extLst>
            </p:nvPr>
          </p:nvGraphicFramePr>
          <p:xfrm>
            <a:off x="2237232" y="2092640"/>
            <a:ext cx="4277868" cy="22194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45" name="Text 11">
            <a:extLst>
              <a:ext uri="{FF2B5EF4-FFF2-40B4-BE49-F238E27FC236}">
                <a16:creationId xmlns:a16="http://schemas.microsoft.com/office/drawing/2014/main" id="{041DA88E-E5DF-430D-B96E-E2B22D0D9A56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1021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734130" y="806730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 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도와줄 수 있는 대책을 마련하기 위해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각자의 자리에서 노력하고 있다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729441" y="593195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보이스피싱 범죄로부터 소중한 국민의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158065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3078A156-9BD4-4B2C-8818-C873541FE1FE}"/>
              </a:ext>
            </a:extLst>
          </p:cNvPr>
          <p:cNvGrpSpPr/>
          <p:nvPr/>
        </p:nvGrpSpPr>
        <p:grpSpPr>
          <a:xfrm>
            <a:off x="628649" y="5452905"/>
            <a:ext cx="10936817" cy="773508"/>
            <a:chOff x="989537" y="5557693"/>
            <a:chExt cx="10212928" cy="773508"/>
          </a:xfrm>
        </p:grpSpPr>
        <p:sp>
          <p:nvSpPr>
            <p:cNvPr id="46" name="Shape 44"/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47" name="Text 45"/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특히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인공지능</a:t>
              </a:r>
              <a:r>
                <a:rPr lang="en-US" altLang="ko-KR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(AI)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와 빅데이터 등 최신 기술을 적극 활용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하여 실시간 분석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차단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조치하고 있고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</a:t>
              </a:r>
            </a:p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유기적인 공동 협업 체계를 구축하며 다양한 </a:t>
              </a:r>
              <a:r>
                <a:rPr lang="en-US" sz="1520" b="1" dirty="0" err="1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안전장치</a:t>
              </a:r>
              <a:r>
                <a:rPr 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 </a:t>
              </a:r>
              <a:r>
                <a:rPr lang="ko-KR" altLang="en-US" sz="1520" b="1" dirty="0">
                  <a:solidFill>
                    <a:srgbClr val="FF4B16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개발과 제도 개선이 활발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하게 이루어지고 있다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49D8BAD-1665-4D6F-983B-6C0A73436477}"/>
              </a:ext>
            </a:extLst>
          </p:cNvPr>
          <p:cNvGrpSpPr/>
          <p:nvPr/>
        </p:nvGrpSpPr>
        <p:grpSpPr>
          <a:xfrm>
            <a:off x="729441" y="1791637"/>
            <a:ext cx="10673219" cy="3422455"/>
            <a:chOff x="580527" y="1844623"/>
            <a:chExt cx="10673219" cy="3422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87A687C-E086-49AD-B17E-3AA81A103D3D}"/>
                </a:ext>
              </a:extLst>
            </p:cNvPr>
            <p:cNvGrpSpPr/>
            <p:nvPr/>
          </p:nvGrpSpPr>
          <p:grpSpPr>
            <a:xfrm>
              <a:off x="580527" y="1844623"/>
              <a:ext cx="10673219" cy="3422455"/>
              <a:chOff x="586093" y="1735608"/>
              <a:chExt cx="10673219" cy="3422455"/>
            </a:xfrm>
          </p:grpSpPr>
          <p:sp>
            <p:nvSpPr>
              <p:cNvPr id="10" name="Shape 8"/>
              <p:cNvSpPr/>
              <p:nvPr/>
            </p:nvSpPr>
            <p:spPr>
              <a:xfrm>
                <a:off x="586093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sp>
            <p:nvSpPr>
              <p:cNvPr id="22" name="Shape 20"/>
              <p:cNvSpPr/>
              <p:nvPr/>
            </p:nvSpPr>
            <p:spPr>
              <a:xfrm>
                <a:off x="4185781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34" name="Shape 32"/>
              <p:cNvSpPr/>
              <p:nvPr/>
            </p:nvSpPr>
            <p:spPr>
              <a:xfrm>
                <a:off x="7785469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C0B95D-B25B-43EF-A360-B3D890DD9167}"/>
                </a:ext>
              </a:extLst>
            </p:cNvPr>
            <p:cNvGrpSpPr/>
            <p:nvPr/>
          </p:nvGrpSpPr>
          <p:grpSpPr>
            <a:xfrm>
              <a:off x="749968" y="1967786"/>
              <a:ext cx="10094815" cy="475488"/>
              <a:chOff x="749968" y="1967786"/>
              <a:chExt cx="10094815" cy="475488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749968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1216B33-CA83-41B7-ABAA-90D9A227C2D0}"/>
                  </a:ext>
                </a:extLst>
              </p:cNvPr>
              <p:cNvGrpSpPr/>
              <p:nvPr/>
            </p:nvGrpSpPr>
            <p:grpSpPr>
              <a:xfrm>
                <a:off x="761283" y="1992590"/>
                <a:ext cx="2503285" cy="448056"/>
                <a:chOff x="725424" y="1999106"/>
                <a:chExt cx="2503285" cy="448056"/>
              </a:xfrm>
            </p:grpSpPr>
            <p:sp>
              <p:nvSpPr>
                <p:cNvPr id="12" name="Text 10"/>
                <p:cNvSpPr txBox="1"/>
                <p:nvPr/>
              </p:nvSpPr>
              <p:spPr>
                <a:xfrm>
                  <a:off x="725424" y="1999106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F5E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01</a:t>
                  </a:r>
                  <a:endParaRPr lang="en-US" sz="16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금융기관</a:t>
                  </a:r>
                  <a:r>
                    <a:rPr lang="en-US" altLang="ko-KR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·</a:t>
                  </a:r>
                  <a:r>
                    <a:rPr lang="ko-KR" altLang="en-US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은행</a:t>
                  </a:r>
                  <a:endParaRPr lang="en-US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57" name="Shape 9">
                <a:extLst>
                  <a:ext uri="{FF2B5EF4-FFF2-40B4-BE49-F238E27FC236}">
                    <a16:creationId xmlns:a16="http://schemas.microsoft.com/office/drawing/2014/main" id="{DD769627-C9E7-41C2-B6FE-22791B7D0B6C}"/>
                  </a:ext>
                </a:extLst>
              </p:cNvPr>
              <p:cNvSpPr/>
              <p:nvPr/>
            </p:nvSpPr>
            <p:spPr>
              <a:xfrm>
                <a:off x="4341329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964D1DB-BDC2-4629-9FE3-BA6C34077CD3}"/>
                  </a:ext>
                </a:extLst>
              </p:cNvPr>
              <p:cNvGrpSpPr/>
              <p:nvPr/>
            </p:nvGrpSpPr>
            <p:grpSpPr>
              <a:xfrm>
                <a:off x="4346001" y="1990054"/>
                <a:ext cx="2509928" cy="448056"/>
                <a:chOff x="718781" y="1994033"/>
                <a:chExt cx="2509928" cy="448056"/>
              </a:xfrm>
            </p:grpSpPr>
            <p:sp>
              <p:nvSpPr>
                <p:cNvPr id="59" name="Text 10">
                  <a:extLst>
                    <a:ext uri="{FF2B5EF4-FFF2-40B4-BE49-F238E27FC236}">
                      <a16:creationId xmlns:a16="http://schemas.microsoft.com/office/drawing/2014/main" id="{27D72A6B-8151-44EC-8DCA-C1F7F0B49680}"/>
                    </a:ext>
                  </a:extLst>
                </p:cNvPr>
                <p:cNvSpPr txBox="1"/>
                <p:nvPr/>
              </p:nvSpPr>
              <p:spPr>
                <a:xfrm>
                  <a:off x="718781" y="1994033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2</a:t>
                  </a:r>
                  <a:endParaRPr lang="en-US" sz="1600" dirty="0">
                    <a:solidFill>
                      <a:srgbClr val="2F7CF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2" name="Text 11">
                  <a:extLst>
                    <a:ext uri="{FF2B5EF4-FFF2-40B4-BE49-F238E27FC236}">
                      <a16:creationId xmlns:a16="http://schemas.microsoft.com/office/drawing/2014/main" id="{7E39A5C8-EFF4-4D1F-A422-7810807E1826}"/>
                    </a:ext>
                  </a:extLst>
                </p:cNvPr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정부·공공기관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64" name="Shape 9">
                <a:extLst>
                  <a:ext uri="{FF2B5EF4-FFF2-40B4-BE49-F238E27FC236}">
                    <a16:creationId xmlns:a16="http://schemas.microsoft.com/office/drawing/2014/main" id="{15B61A14-5EDC-428A-A5CA-3FAD34AE93DD}"/>
                  </a:ext>
                </a:extLst>
              </p:cNvPr>
              <p:cNvSpPr/>
              <p:nvPr/>
            </p:nvSpPr>
            <p:spPr>
              <a:xfrm>
                <a:off x="7946853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4678AE84-686A-4BAE-A653-546969E73231}"/>
                  </a:ext>
                </a:extLst>
              </p:cNvPr>
              <p:cNvGrpSpPr/>
              <p:nvPr/>
            </p:nvGrpSpPr>
            <p:grpSpPr>
              <a:xfrm>
                <a:off x="7954473" y="1986074"/>
                <a:ext cx="2890310" cy="448056"/>
                <a:chOff x="721729" y="1986074"/>
                <a:chExt cx="2890310" cy="448056"/>
              </a:xfrm>
            </p:grpSpPr>
            <p:sp>
              <p:nvSpPr>
                <p:cNvPr id="66" name="Text 10">
                  <a:extLst>
                    <a:ext uri="{FF2B5EF4-FFF2-40B4-BE49-F238E27FC236}">
                      <a16:creationId xmlns:a16="http://schemas.microsoft.com/office/drawing/2014/main" id="{2F3E720C-B899-4F92-BAA2-ED6FED174CCA}"/>
                    </a:ext>
                  </a:extLst>
                </p:cNvPr>
                <p:cNvSpPr txBox="1"/>
                <p:nvPr/>
              </p:nvSpPr>
              <p:spPr>
                <a:xfrm>
                  <a:off x="721729" y="1986074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3</a:t>
                  </a:r>
                  <a:endParaRPr lang="en-US" sz="1600" dirty="0">
                    <a:solidFill>
                      <a:srgbClr val="49A8FF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7" name="Text 11">
                  <a:extLst>
                    <a:ext uri="{FF2B5EF4-FFF2-40B4-BE49-F238E27FC236}">
                      <a16:creationId xmlns:a16="http://schemas.microsoft.com/office/drawing/2014/main" id="{D1DF7AED-949A-4A37-B186-5B80E15BEB3D}"/>
                    </a:ext>
                  </a:extLst>
                </p:cNvPr>
                <p:cNvSpPr txBox="1"/>
                <p:nvPr/>
              </p:nvSpPr>
              <p:spPr>
                <a:xfrm>
                  <a:off x="1326756" y="2007046"/>
                  <a:ext cx="2285283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</a:t>
                  </a: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통신사·보안업체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035F51FC-ACBE-4B66-A3AB-2CA6FF47C992}"/>
                </a:ext>
              </a:extLst>
            </p:cNvPr>
            <p:cNvGrpSpPr/>
            <p:nvPr/>
          </p:nvGrpSpPr>
          <p:grpSpPr>
            <a:xfrm>
              <a:off x="796565" y="2585446"/>
              <a:ext cx="2888053" cy="614349"/>
              <a:chOff x="796565" y="2491362"/>
              <a:chExt cx="2888053" cy="614349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5" name="Text 13"/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ASAP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플랫폼 </a:t>
                </a:r>
                <a:endParaRPr lang="en-US" altLang="ko-KR" sz="10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03F7BDC-0128-43C0-AF3E-34FEEE94B193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7783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금융회사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통신사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수사기관이 보이스피싱과 관련된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외부</a:t>
                </a:r>
                <a:endParaRPr lang="en-US" altLang="ko-KR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위험 정보를 실시간으로 공유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하고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차단하는 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AI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기반 플랫폼</a:t>
                </a:r>
                <a:endParaRPr lang="ko-KR" altLang="en-US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0FD6DE2-A11F-468B-A7D3-0184BDCBF15F}"/>
                </a:ext>
              </a:extLst>
            </p:cNvPr>
            <p:cNvGrpSpPr/>
            <p:nvPr/>
          </p:nvGrpSpPr>
          <p:grpSpPr>
            <a:xfrm>
              <a:off x="796565" y="3212531"/>
              <a:ext cx="3047142" cy="752848"/>
              <a:chOff x="796565" y="2491362"/>
              <a:chExt cx="3047142" cy="752848"/>
            </a:xfrm>
          </p:grpSpPr>
          <p:sp>
            <p:nvSpPr>
              <p:cNvPr id="99" name="Shape 12">
                <a:extLst>
                  <a:ext uri="{FF2B5EF4-FFF2-40B4-BE49-F238E27FC236}">
                    <a16:creationId xmlns:a16="http://schemas.microsoft.com/office/drawing/2014/main" id="{EB72D09C-0131-4404-96B0-C5C1D23AD146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0" name="Text 13">
                <a:extLst>
                  <a:ext uri="{FF2B5EF4-FFF2-40B4-BE49-F238E27FC236}">
                    <a16:creationId xmlns:a16="http://schemas.microsoft.com/office/drawing/2014/main" id="{2D5D472E-D64B-44B1-82B1-A1FB676BD43D}"/>
                  </a:ext>
                </a:extLst>
              </p:cNvPr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FDS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이상거래 탐지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211D9CDD-CB64-457D-8AF7-8D86970B0A84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937414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전자금융거래 시 단말기 정보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접속위치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평소 거래 패턴등을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실시간으로 분석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하여 의심스러운 부정 거래를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탐치하고 차단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이상거래 탐지 시스템</a:t>
                </a:r>
                <a:endParaRPr lang="ko-KR" altLang="en-US" sz="9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7BBF2746-B58F-4409-86F5-702788857728}"/>
                </a:ext>
              </a:extLst>
            </p:cNvPr>
            <p:cNvGrpSpPr/>
            <p:nvPr/>
          </p:nvGrpSpPr>
          <p:grpSpPr>
            <a:xfrm>
              <a:off x="796565" y="3990937"/>
              <a:ext cx="3129846" cy="1168347"/>
              <a:chOff x="796565" y="2491362"/>
              <a:chExt cx="3129846" cy="1168347"/>
            </a:xfrm>
          </p:grpSpPr>
          <p:sp>
            <p:nvSpPr>
              <p:cNvPr id="103" name="Shape 12">
                <a:extLst>
                  <a:ext uri="{FF2B5EF4-FFF2-40B4-BE49-F238E27FC236}">
                    <a16:creationId xmlns:a16="http://schemas.microsoft.com/office/drawing/2014/main" id="{2AE99B93-85EF-4941-90DF-B14B33B660FF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4" name="Text 13">
                <a:extLst>
                  <a:ext uri="{FF2B5EF4-FFF2-40B4-BE49-F238E27FC236}">
                    <a16:creationId xmlns:a16="http://schemas.microsoft.com/office/drawing/2014/main" id="{91F752C7-787F-40FB-A79F-7F58594334DD}"/>
                  </a:ext>
                </a:extLst>
              </p:cNvPr>
              <p:cNvSpPr txBox="1"/>
              <p:nvPr/>
            </p:nvSpPr>
            <p:spPr>
              <a:xfrm>
                <a:off x="997732" y="2491362"/>
                <a:ext cx="2686885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전자금융사기 예방서비스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D89F6C0A-CE7D-4377-99D3-E82568841B16}"/>
                  </a:ext>
                </a:extLst>
              </p:cNvPr>
              <p:cNvSpPr txBox="1"/>
              <p:nvPr/>
            </p:nvSpPr>
            <p:spPr>
              <a:xfrm>
                <a:off x="870154" y="2736379"/>
                <a:ext cx="3056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 이체 시 수취인 계좌에 일정시간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최소 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3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시간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경과 후 입금되도록 하는 서비스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9 Black" pitchFamily="2" charset="-127"/>
                    <a:ea typeface="페이퍼로지 9 Black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: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전자금융범죄 등의 피해가 발생했을 때</a:t>
                </a:r>
                <a:r>
                  <a: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범죄자가 계좌에서 돈을 빼가지 못하도록 은행이 해당 계좌의 입출금 및 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이체 거래를 즉시 차단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동결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하는 긴급 법적 조치</a:t>
                </a:r>
                <a:endParaRPr lang="en-US" altLang="ko-KR" sz="900" dirty="0">
                  <a:solidFill>
                    <a:srgbClr val="0B1F3A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금융자산을 보호하기 위해 본인확인 절차를 강화하는 서비스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4E2107FB-F873-4983-BE64-7F11CCE295C3}"/>
                </a:ext>
              </a:extLst>
            </p:cNvPr>
            <p:cNvGrpSpPr/>
            <p:nvPr/>
          </p:nvGrpSpPr>
          <p:grpSpPr>
            <a:xfrm>
              <a:off x="4384972" y="2585446"/>
              <a:ext cx="2766786" cy="614349"/>
              <a:chOff x="4384972" y="2585446"/>
              <a:chExt cx="2766786" cy="614349"/>
            </a:xfrm>
          </p:grpSpPr>
          <p:sp>
            <p:nvSpPr>
              <p:cNvPr id="26" name="Shape 24"/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CE3EB3BF-9ECC-4A3B-9952-516B4C2FC656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661306" cy="614349"/>
                <a:chOff x="906293" y="2491362"/>
                <a:chExt cx="2661306" cy="614349"/>
              </a:xfrm>
            </p:grpSpPr>
            <p:sp>
              <p:nvSpPr>
                <p:cNvPr id="109" name="Text 13">
                  <a:extLst>
                    <a:ext uri="{FF2B5EF4-FFF2-40B4-BE49-F238E27FC236}">
                      <a16:creationId xmlns:a16="http://schemas.microsoft.com/office/drawing/2014/main" id="{C18901BD-E1CC-4FFE-894F-775B066395D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신고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피해구제 제도 및 체계 개선</a:t>
                  </a:r>
                  <a:endParaRPr lang="en-US" altLang="ko-KR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D1A5D58-7F3B-45EF-917A-954C9192C90B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6613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원스톱 신고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단계별 피해 구제 절차 등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</a:rPr>
                    <a:t>보이스피싱 피해구제 제도와 계좌 지급정지 접근성 강화</a:t>
                  </a:r>
                </a:p>
              </p:txBody>
            </p:sp>
          </p:grp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1FA11A45-E01D-4438-A224-C9D990430FBE}"/>
                </a:ext>
              </a:extLst>
            </p:cNvPr>
            <p:cNvGrpSpPr/>
            <p:nvPr/>
          </p:nvGrpSpPr>
          <p:grpSpPr>
            <a:xfrm>
              <a:off x="4384972" y="3212531"/>
              <a:ext cx="2543968" cy="614349"/>
              <a:chOff x="4384972" y="2585446"/>
              <a:chExt cx="2543968" cy="614349"/>
            </a:xfrm>
          </p:grpSpPr>
          <p:sp>
            <p:nvSpPr>
              <p:cNvPr id="113" name="Shape 24">
                <a:extLst>
                  <a:ext uri="{FF2B5EF4-FFF2-40B4-BE49-F238E27FC236}">
                    <a16:creationId xmlns:a16="http://schemas.microsoft.com/office/drawing/2014/main" id="{78311CB7-38E7-41C6-86B5-0BEB525459FB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53BE3CF-3381-4032-BE64-B1AD59E3A731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438488" cy="614349"/>
                <a:chOff x="906293" y="2491362"/>
                <a:chExt cx="2438488" cy="614349"/>
              </a:xfrm>
            </p:grpSpPr>
            <p:sp>
              <p:nvSpPr>
                <p:cNvPr id="115" name="Text 13">
                  <a:extLst>
                    <a:ext uri="{FF2B5EF4-FFF2-40B4-BE49-F238E27FC236}">
                      <a16:creationId xmlns:a16="http://schemas.microsoft.com/office/drawing/2014/main" id="{C619FD46-F5E9-4160-8AC1-3828DE5A7294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예방교육 </a:t>
                  </a:r>
                  <a:r>
                    <a:rPr lang="en-US" altLang="ko-KR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 </a:t>
                  </a:r>
                  <a:r>
                    <a:rPr lang="ko-KR" altLang="en-US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홍보</a:t>
                  </a:r>
                  <a:endPara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B13986B-82BF-46A0-BC9D-2E44EE978B10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4384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범정부 대응 및 콘텐츠 배포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생활 밀착형 현장홍보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</a:p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찾아가는 현장교육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8A1977-7C20-4B32-9C0E-CD5436D48C75}"/>
                </a:ext>
              </a:extLst>
            </p:cNvPr>
            <p:cNvGrpSpPr/>
            <p:nvPr/>
          </p:nvGrpSpPr>
          <p:grpSpPr>
            <a:xfrm>
              <a:off x="4384972" y="3882182"/>
              <a:ext cx="3093799" cy="614349"/>
              <a:chOff x="4384972" y="2585446"/>
              <a:chExt cx="3093799" cy="614349"/>
            </a:xfrm>
          </p:grpSpPr>
          <p:sp>
            <p:nvSpPr>
              <p:cNvPr id="119" name="Shape 24">
                <a:extLst>
                  <a:ext uri="{FF2B5EF4-FFF2-40B4-BE49-F238E27FC236}">
                    <a16:creationId xmlns:a16="http://schemas.microsoft.com/office/drawing/2014/main" id="{4541929F-BB7D-4D3A-BF63-55E2FCC62316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20FAF6DA-F591-4D8E-BE73-CC99AA1640D5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988319" cy="614349"/>
                <a:chOff x="906293" y="2491362"/>
                <a:chExt cx="2988319" cy="614349"/>
              </a:xfrm>
            </p:grpSpPr>
            <p:sp>
              <p:nvSpPr>
                <p:cNvPr id="121" name="Text 13">
                  <a:extLst>
                    <a:ext uri="{FF2B5EF4-FFF2-40B4-BE49-F238E27FC236}">
                      <a16:creationId xmlns:a16="http://schemas.microsoft.com/office/drawing/2014/main" id="{DEC6BCC0-173F-4F90-854F-D1F3BF4AA74E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공식기관 확인 채널</a:t>
                  </a:r>
                </a:p>
              </p:txBody>
            </p:sp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ABFD11CC-A553-4181-8FD5-7191E4D18FC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988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서류의 진위여부를 실시간으로 확인할 수 있는 공식채널 운영</a:t>
                  </a:r>
                  <a:b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콜센터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카카오톡 오픈채팅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운영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검찰 찐센터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KISA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보호나라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61261165-349A-4EFC-B7EA-A255EA6AD00D}"/>
                </a:ext>
              </a:extLst>
            </p:cNvPr>
            <p:cNvGrpSpPr/>
            <p:nvPr/>
          </p:nvGrpSpPr>
          <p:grpSpPr>
            <a:xfrm>
              <a:off x="4559618" y="4589897"/>
              <a:ext cx="2749676" cy="524166"/>
              <a:chOff x="5435730" y="4579898"/>
              <a:chExt cx="1359538" cy="249846"/>
            </a:xfrm>
          </p:grpSpPr>
          <p:pic>
            <p:nvPicPr>
              <p:cNvPr id="123" name="그림 7">
                <a:extLst>
                  <a:ext uri="{FF2B5EF4-FFF2-40B4-BE49-F238E27FC236}">
                    <a16:creationId xmlns:a16="http://schemas.microsoft.com/office/drawing/2014/main" id="{551562FA-CF08-4976-9E26-E2576CD6036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7198" t="5136" r="17871" b="88464"/>
              <a:stretch/>
            </p:blipFill>
            <p:spPr>
              <a:xfrm>
                <a:off x="6389981" y="4627592"/>
                <a:ext cx="405287" cy="148890"/>
              </a:xfrm>
              <a:prstGeom prst="rect">
                <a:avLst/>
              </a:prstGeom>
            </p:spPr>
          </p:pic>
          <p:pic>
            <p:nvPicPr>
              <p:cNvPr id="124" name="그림 7">
                <a:extLst>
                  <a:ext uri="{FF2B5EF4-FFF2-40B4-BE49-F238E27FC236}">
                    <a16:creationId xmlns:a16="http://schemas.microsoft.com/office/drawing/2014/main" id="{CE3306C8-485E-4D4B-A9B4-1F7029797B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4004" t="3308" r="61422" b="85951"/>
              <a:stretch/>
            </p:blipFill>
            <p:spPr>
              <a:xfrm>
                <a:off x="5435730" y="4579898"/>
                <a:ext cx="938445" cy="249846"/>
              </a:xfrm>
              <a:prstGeom prst="rect">
                <a:avLst/>
              </a:prstGeom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0298854-A292-42A7-98D2-719628F27749}"/>
                </a:ext>
              </a:extLst>
            </p:cNvPr>
            <p:cNvGrpSpPr/>
            <p:nvPr/>
          </p:nvGrpSpPr>
          <p:grpSpPr>
            <a:xfrm>
              <a:off x="8014716" y="2585446"/>
              <a:ext cx="2896629" cy="891348"/>
              <a:chOff x="4384972" y="2585446"/>
              <a:chExt cx="2896629" cy="891348"/>
            </a:xfrm>
          </p:grpSpPr>
          <p:sp>
            <p:nvSpPr>
              <p:cNvPr id="127" name="Shape 24">
                <a:extLst>
                  <a:ext uri="{FF2B5EF4-FFF2-40B4-BE49-F238E27FC236}">
                    <a16:creationId xmlns:a16="http://schemas.microsoft.com/office/drawing/2014/main" id="{CE3B36F3-21BA-452F-A3AB-DAB4970248FF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9615BA18-3CA4-48BB-A642-C29D2E15D9DF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791149" cy="891348"/>
                <a:chOff x="906293" y="2491362"/>
                <a:chExt cx="2791149" cy="891348"/>
              </a:xfrm>
            </p:grpSpPr>
            <p:sp>
              <p:nvSpPr>
                <p:cNvPr id="129" name="Text 13">
                  <a:extLst>
                    <a:ext uri="{FF2B5EF4-FFF2-40B4-BE49-F238E27FC236}">
                      <a16:creationId xmlns:a16="http://schemas.microsoft.com/office/drawing/2014/main" id="{09FC5D82-21D2-46DB-93A7-8EC391C1667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통신사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통화 비서 앱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-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스팸번호 탐지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악성 앱 차단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9F9B7EA9-7248-46A7-97E4-CA2D5546080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791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주요 통신사 별 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탐지 서비스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예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: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에이닷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익시오 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 중 실시간으로 보이스피싱을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감지하고 차단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하는</a:t>
                  </a:r>
                  <a:b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강력한 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보안 기능을 제공</a:t>
                  </a:r>
                  <a:endParaRPr lang="en-US" altLang="ko-KR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경찰청 연계 통해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 및 악성 앱 탐지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0B9F7FD3-263B-4E20-8ED9-18AECC8E0FC0}"/>
                </a:ext>
              </a:extLst>
            </p:cNvPr>
            <p:cNvGrpSpPr/>
            <p:nvPr/>
          </p:nvGrpSpPr>
          <p:grpSpPr>
            <a:xfrm>
              <a:off x="8014716" y="3518926"/>
              <a:ext cx="3008885" cy="614349"/>
              <a:chOff x="4384972" y="2585446"/>
              <a:chExt cx="3008885" cy="614349"/>
            </a:xfrm>
          </p:grpSpPr>
          <p:sp>
            <p:nvSpPr>
              <p:cNvPr id="142" name="Shape 24">
                <a:extLst>
                  <a:ext uri="{FF2B5EF4-FFF2-40B4-BE49-F238E27FC236}">
                    <a16:creationId xmlns:a16="http://schemas.microsoft.com/office/drawing/2014/main" id="{76902399-4275-49F1-BFFD-DC4226CB7C4D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7253D61C-BA3A-403C-9659-B8290B7FFBD7}"/>
                  </a:ext>
                </a:extLst>
              </p:cNvPr>
              <p:cNvGrpSpPr/>
              <p:nvPr/>
            </p:nvGrpSpPr>
            <p:grpSpPr>
              <a:xfrm>
                <a:off x="4490453" y="2585446"/>
                <a:ext cx="2903404" cy="614349"/>
                <a:chOff x="906294" y="2491362"/>
                <a:chExt cx="2903404" cy="614349"/>
              </a:xfrm>
            </p:grpSpPr>
            <p:sp>
              <p:nvSpPr>
                <p:cNvPr id="144" name="Text 13">
                  <a:extLst>
                    <a:ext uri="{FF2B5EF4-FFF2-40B4-BE49-F238E27FC236}">
                      <a16:creationId xmlns:a16="http://schemas.microsoft.com/office/drawing/2014/main" id="{3ADFD593-0590-4BEE-A48F-E672E9662770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 차단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D55843D0-373E-4604-8EE2-F83BBC98EBF0}"/>
                    </a:ext>
                  </a:extLst>
                </p:cNvPr>
                <p:cNvSpPr txBox="1"/>
                <p:nvPr/>
              </p:nvSpPr>
              <p:spPr>
                <a:xfrm>
                  <a:off x="906294" y="2736379"/>
                  <a:ext cx="29034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스미싱 예방을 위해 타인의 번호나 없는 번호로 발신번호를 조작하는 발신번호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변작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행위 차단</a:t>
                  </a:r>
                  <a:endPara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7E4731EE-3BF1-4C54-B72C-ED9ED85A04E0}"/>
                </a:ext>
              </a:extLst>
            </p:cNvPr>
            <p:cNvGrpSpPr/>
            <p:nvPr/>
          </p:nvGrpSpPr>
          <p:grpSpPr>
            <a:xfrm>
              <a:off x="8014716" y="4193332"/>
              <a:ext cx="2902547" cy="891348"/>
              <a:chOff x="4384972" y="2558496"/>
              <a:chExt cx="2902547" cy="891348"/>
            </a:xfrm>
          </p:grpSpPr>
          <p:sp>
            <p:nvSpPr>
              <p:cNvPr id="149" name="Shape 24">
                <a:extLst>
                  <a:ext uri="{FF2B5EF4-FFF2-40B4-BE49-F238E27FC236}">
                    <a16:creationId xmlns:a16="http://schemas.microsoft.com/office/drawing/2014/main" id="{014F2127-2028-4391-87BE-9DC38BCA0562}"/>
                  </a:ext>
                </a:extLst>
              </p:cNvPr>
              <p:cNvSpPr/>
              <p:nvPr/>
            </p:nvSpPr>
            <p:spPr>
              <a:xfrm>
                <a:off x="4384972" y="266822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7BEC9321-8467-4AD7-A11F-971C0CD3F188}"/>
                  </a:ext>
                </a:extLst>
              </p:cNvPr>
              <p:cNvGrpSpPr/>
              <p:nvPr/>
            </p:nvGrpSpPr>
            <p:grpSpPr>
              <a:xfrm>
                <a:off x="4490453" y="2558496"/>
                <a:ext cx="2797066" cy="891348"/>
                <a:chOff x="906294" y="2464412"/>
                <a:chExt cx="2797066" cy="891348"/>
              </a:xfrm>
            </p:grpSpPr>
            <p:sp>
              <p:nvSpPr>
                <p:cNvPr id="151" name="Text 13">
                  <a:extLst>
                    <a:ext uri="{FF2B5EF4-FFF2-40B4-BE49-F238E27FC236}">
                      <a16:creationId xmlns:a16="http://schemas.microsoft.com/office/drawing/2014/main" id="{933BE645-218C-4CC1-BFE7-31CE22F0AC28}"/>
                    </a:ext>
                  </a:extLst>
                </p:cNvPr>
                <p:cNvSpPr txBox="1"/>
                <p:nvPr/>
              </p:nvSpPr>
              <p:spPr>
                <a:xfrm>
                  <a:off x="997733" y="246441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차단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5C4D6FCC-F66D-400E-8F4D-ECD11D459E5C}"/>
                    </a:ext>
                  </a:extLst>
                </p:cNvPr>
                <p:cNvSpPr txBox="1"/>
                <p:nvPr/>
              </p:nvSpPr>
              <p:spPr>
                <a:xfrm>
                  <a:off x="906294" y="2709429"/>
                  <a:ext cx="27970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인공지능과 빅데이터를 활용해 통화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/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문자 기반의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위험 신호를 실시간으로 감지</a:t>
                  </a:r>
                  <a:r>
                    <a:rPr lang="en-US" altLang="ko-KR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FF4B1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차단</a:t>
                  </a:r>
                  <a:endPara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음성패턴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통화내용 실시간 분석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비정상 회선 이용패턴</a:t>
                  </a:r>
                  <a:r>
                    <a:rPr lang="en-US" altLang="ko-KR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0B1F3A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유관기관 실시간 정보 공유</a:t>
                  </a:r>
                  <a:endParaRPr lang="ko-KR" altLang="en-US" sz="900" dirty="0">
                    <a:solidFill>
                      <a:srgbClr val="0B1F3A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56628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대표적으로 성과를 내고 있는 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AI ASAP(</a:t>
            </a: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에이셉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)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730471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금융위원회와 금융보안원을 중심으로 체계화된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보이스피싱 정보공유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분석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AI 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ASAP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출범 이후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9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개월 간 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663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억</a:t>
            </a:r>
            <a:r>
              <a:rPr lang="en-US" altLang="ko-KR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6000</a:t>
            </a:r>
            <a:r>
              <a:rPr lang="ko-KR" altLang="en-US" sz="2200" b="1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만원 규모의 피해를 사전 차단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하는 실제 성과로 이어졌다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0744D3-2F9D-4B31-9CF2-F9C3060180B7}"/>
              </a:ext>
            </a:extLst>
          </p:cNvPr>
          <p:cNvGrpSpPr/>
          <p:nvPr/>
        </p:nvGrpSpPr>
        <p:grpSpPr>
          <a:xfrm>
            <a:off x="534543" y="1737360"/>
            <a:ext cx="5975498" cy="3886691"/>
            <a:chOff x="534543" y="1818173"/>
            <a:chExt cx="5975498" cy="3886691"/>
          </a:xfrm>
        </p:grpSpPr>
        <p:sp>
          <p:nvSpPr>
            <p:cNvPr id="81" name="Shape 8">
              <a:extLst>
                <a:ext uri="{FF2B5EF4-FFF2-40B4-BE49-F238E27FC236}">
                  <a16:creationId xmlns:a16="http://schemas.microsoft.com/office/drawing/2014/main" id="{372E1C90-42E9-4CBF-81B0-76E43E875362}"/>
                </a:ext>
              </a:extLst>
            </p:cNvPr>
            <p:cNvSpPr/>
            <p:nvPr/>
          </p:nvSpPr>
          <p:spPr>
            <a:xfrm>
              <a:off x="534543" y="1818173"/>
              <a:ext cx="5975498" cy="3886691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pic>
          <p:nvPicPr>
            <p:cNvPr id="80" name="그림 7">
              <a:extLst>
                <a:ext uri="{FF2B5EF4-FFF2-40B4-BE49-F238E27FC236}">
                  <a16:creationId xmlns:a16="http://schemas.microsoft.com/office/drawing/2014/main" id="{E668F3AE-32D0-B134-C7D2-A51000B58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06" t="18162" r="3581" b="6222"/>
            <a:stretch/>
          </p:blipFill>
          <p:spPr>
            <a:xfrm>
              <a:off x="804107" y="3439092"/>
              <a:ext cx="5420724" cy="2153462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866EF50-0FEC-4AF4-A807-8A42ED37A943}"/>
                </a:ext>
              </a:extLst>
            </p:cNvPr>
            <p:cNvSpPr txBox="1"/>
            <p:nvPr/>
          </p:nvSpPr>
          <p:spPr>
            <a:xfrm>
              <a:off x="687238" y="1961214"/>
              <a:ext cx="482074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정보공유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분석 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AI 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플랫폼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(ASAP)</a:t>
              </a:r>
              <a:endParaRPr lang="ko-KR" altLang="en-US" sz="14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8A72F21-C9A8-43CF-9D50-07139CD417B7}"/>
                </a:ext>
              </a:extLst>
            </p:cNvPr>
            <p:cNvSpPr txBox="1"/>
            <p:nvPr/>
          </p:nvSpPr>
          <p:spPr>
            <a:xfrm>
              <a:off x="687237" y="2300177"/>
              <a:ext cx="5711069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가동 및 법적 기반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2025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10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 출범 이후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2026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8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월부터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통신사기피해환급법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개정에 따라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                                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정보 주체의 동의 없이도 관계기관 간 의심 정보 공동 활용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이 본격 시행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참여 기관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금융위원회와 금융보안원을 중심으로 은행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증권사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제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수사기관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가상자산거래소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공유 정보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사기 이용 계좌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악성앱 탐지 정보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피싱사이트 접속 이력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의심 및 범죄이용 전화번호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기대 효과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각 기관이 분산된 정보를 즉시 공유하여 신속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한 계좌 지급정지 및 비정상 거래 차단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범죄 수사에 활용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FDS </a:t>
              </a:r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활용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금융회사가 운영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평소와 다른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이상한 자금이체나 거래를 자동으로 찾아내는 보안 시스템 </a:t>
              </a:r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FDS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활용</a:t>
              </a:r>
            </a:p>
          </p:txBody>
        </p:sp>
      </p:grpSp>
      <p:sp>
        <p:nvSpPr>
          <p:cNvPr id="88" name="Shape 8">
            <a:extLst>
              <a:ext uri="{FF2B5EF4-FFF2-40B4-BE49-F238E27FC236}">
                <a16:creationId xmlns:a16="http://schemas.microsoft.com/office/drawing/2014/main" id="{A6E48D8D-F246-47B4-9FDB-5F1AECC542EB}"/>
              </a:ext>
            </a:extLst>
          </p:cNvPr>
          <p:cNvSpPr/>
          <p:nvPr/>
        </p:nvSpPr>
        <p:spPr>
          <a:xfrm>
            <a:off x="6641273" y="1737360"/>
            <a:ext cx="4931485" cy="3886691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D85F3B-306F-4E6C-9DCA-8D7C4B0D8278}"/>
              </a:ext>
            </a:extLst>
          </p:cNvPr>
          <p:cNvSpPr txBox="1"/>
          <p:nvPr/>
        </p:nvSpPr>
        <p:spPr>
          <a:xfrm>
            <a:off x="6869594" y="1852046"/>
            <a:ext cx="39797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ASAP </a:t>
            </a:r>
            <a:r>
              <a:rPr lang="ko-KR" altLang="en-US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플랫폼의 출범 이후 핵심 성과 </a:t>
            </a:r>
            <a:endParaRPr lang="en-US" altLang="ko-KR" sz="14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B2E5A33-3FFF-4B4C-BD77-28ADFC79B401}"/>
              </a:ext>
            </a:extLst>
          </p:cNvPr>
          <p:cNvGrpSpPr/>
          <p:nvPr/>
        </p:nvGrpSpPr>
        <p:grpSpPr>
          <a:xfrm>
            <a:off x="438150" y="5828116"/>
            <a:ext cx="11274173" cy="538281"/>
            <a:chOff x="989537" y="5557693"/>
            <a:chExt cx="10212928" cy="773508"/>
          </a:xfrm>
        </p:grpSpPr>
        <p:sp>
          <p:nvSpPr>
            <p:cNvPr id="96" name="Shape 44">
              <a:extLst>
                <a:ext uri="{FF2B5EF4-FFF2-40B4-BE49-F238E27FC236}">
                  <a16:creationId xmlns:a16="http://schemas.microsoft.com/office/drawing/2014/main" id="{731F3A17-9EC7-457A-9066-89707FAB988C}"/>
                </a:ext>
              </a:extLst>
            </p:cNvPr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106" name="Text 45">
              <a:extLst>
                <a:ext uri="{FF2B5EF4-FFF2-40B4-BE49-F238E27FC236}">
                  <a16:creationId xmlns:a16="http://schemas.microsoft.com/office/drawing/2014/main" id="{816798D6-68D0-4DF8-A408-120BDDD003E6}"/>
                </a:ext>
              </a:extLst>
            </p:cNvPr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AI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와 빅데이터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진보적인 법률 개정과 협업 체계를 통한 공격적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선재적 방어  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sym typeface="Wingdings" panose="05000000000000000000" pitchFamily="2" charset="2"/>
                </a:rPr>
                <a:t>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 전년 동기 대비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약 </a:t>
              </a:r>
              <a:r>
                <a:rPr lang="en-US" altLang="ko-KR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53% </a:t>
              </a:r>
              <a:r>
                <a:rPr lang="ko-KR" altLang="en-US" sz="1520" b="1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rPr>
                <a:t>피해액 방어라는 높은 성과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로 이어졌다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7267692-95D0-4E39-B1AD-313903CC8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67492"/>
              </p:ext>
            </p:extLst>
          </p:nvPr>
        </p:nvGraphicFramePr>
        <p:xfrm>
          <a:off x="6940645" y="2194181"/>
          <a:ext cx="4332741" cy="1112520"/>
        </p:xfrm>
        <a:graphic>
          <a:graphicData uri="http://schemas.openxmlformats.org/drawingml/2006/table">
            <a:tbl>
              <a:tblPr/>
              <a:tblGrid>
                <a:gridCol w="1047786">
                  <a:extLst>
                    <a:ext uri="{9D8B030D-6E8A-4147-A177-3AD203B41FA5}">
                      <a16:colId xmlns:a16="http://schemas.microsoft.com/office/drawing/2014/main" val="1611604226"/>
                    </a:ext>
                  </a:extLst>
                </a:gridCol>
                <a:gridCol w="1548005">
                  <a:extLst>
                    <a:ext uri="{9D8B030D-6E8A-4147-A177-3AD203B41FA5}">
                      <a16:colId xmlns:a16="http://schemas.microsoft.com/office/drawing/2014/main" val="4243154311"/>
                    </a:ext>
                  </a:extLst>
                </a:gridCol>
                <a:gridCol w="1736950">
                  <a:extLst>
                    <a:ext uri="{9D8B030D-6E8A-4147-A177-3AD203B41FA5}">
                      <a16:colId xmlns:a16="http://schemas.microsoft.com/office/drawing/2014/main" val="2761314812"/>
                    </a:ext>
                  </a:extLst>
                </a:gridCol>
              </a:tblGrid>
              <a:tr h="18835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12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2025.10.29 ~ 2026.01.21)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출범 후 약 </a:t>
                      </a:r>
                      <a:r>
                        <a:rPr lang="en-US" altLang="ko-KR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9</a:t>
                      </a:r>
                      <a:r>
                        <a:rPr lang="ko-KR" altLang="en-US" sz="900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개월 동안</a:t>
                      </a:r>
                      <a:endParaRPr lang="en-US" altLang="ko-KR" sz="9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bg1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2025.10 ~ 2026.07</a:t>
                      </a:r>
                      <a:r>
                        <a:rPr lang="ko-KR" altLang="en-US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월 말</a:t>
                      </a:r>
                      <a:r>
                        <a:rPr lang="en-US" altLang="ko-KR" sz="800" b="0" dirty="0">
                          <a:solidFill>
                            <a:schemeClr val="bg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800" b="0" dirty="0">
                        <a:solidFill>
                          <a:schemeClr val="bg1"/>
                        </a:solidFill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76352"/>
                  </a:ext>
                </a:extLst>
              </a:tr>
              <a:tr h="18016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은행권 수사기관</a:t>
                      </a:r>
                      <a:endParaRPr lang="en-US" altLang="ko-KR" sz="800" dirty="0"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정보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14.8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46.3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만 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1872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>
                          <a:latin typeface="페이퍼로지 7 Bold" pitchFamily="2" charset="-127"/>
                          <a:ea typeface="페이퍼로지 7 Bold" pitchFamily="2" charset="-127"/>
                        </a:rPr>
                        <a:t>계좌 지급정지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2,705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7,009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9267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800" dirty="0">
                          <a:latin typeface="페이퍼로지 7 Bold" pitchFamily="2" charset="-127"/>
                          <a:ea typeface="페이퍼로지 7 Bold" pitchFamily="2" charset="-127"/>
                        </a:rPr>
                        <a:t>피해 사전 차단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186.5</a:t>
                      </a:r>
                      <a:r>
                        <a:rPr lang="ko-KR" altLang="en-US" sz="800" b="0" dirty="0"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663.6</a:t>
                      </a:r>
                      <a:r>
                        <a:rPr lang="ko-KR" altLang="en-US" sz="800" b="0" dirty="0">
                          <a:solidFill>
                            <a:srgbClr val="FF4B16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억 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632259"/>
                  </a:ext>
                </a:extLst>
              </a:tr>
            </a:tbl>
          </a:graphicData>
        </a:graphic>
      </p:graphicFrame>
      <p:grpSp>
        <p:nvGrpSpPr>
          <p:cNvPr id="87" name="Group 86">
            <a:extLst>
              <a:ext uri="{FF2B5EF4-FFF2-40B4-BE49-F238E27FC236}">
                <a16:creationId xmlns:a16="http://schemas.microsoft.com/office/drawing/2014/main" id="{C2E3F610-B35F-45DB-BBD3-8EB9FD153FF8}"/>
              </a:ext>
            </a:extLst>
          </p:cNvPr>
          <p:cNvGrpSpPr/>
          <p:nvPr/>
        </p:nvGrpSpPr>
        <p:grpSpPr>
          <a:xfrm>
            <a:off x="6880605" y="3412145"/>
            <a:ext cx="4452820" cy="1508855"/>
            <a:chOff x="6900722" y="3613172"/>
            <a:chExt cx="4452820" cy="196345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19B5089-3FB1-43A2-9B72-CCD30BF61D8C}"/>
                </a:ext>
              </a:extLst>
            </p:cNvPr>
            <p:cNvGrpSpPr/>
            <p:nvPr/>
          </p:nvGrpSpPr>
          <p:grpSpPr>
            <a:xfrm>
              <a:off x="6907208" y="4589098"/>
              <a:ext cx="4444875" cy="987532"/>
              <a:chOff x="6907208" y="4589098"/>
              <a:chExt cx="4444875" cy="987532"/>
            </a:xfrm>
          </p:grpSpPr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DF1209D8-D9DA-47FD-BEAF-5CDC80460CAD}"/>
                  </a:ext>
                </a:extLst>
              </p:cNvPr>
              <p:cNvGrpSpPr/>
              <p:nvPr/>
            </p:nvGrpSpPr>
            <p:grpSpPr>
              <a:xfrm>
                <a:off x="6909933" y="4589098"/>
                <a:ext cx="4416750" cy="797140"/>
                <a:chOff x="6909933" y="4638806"/>
                <a:chExt cx="4416750" cy="79714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AF035335-5549-4D57-B7A4-921CCE59D407}"/>
                    </a:ext>
                  </a:extLst>
                </p:cNvPr>
                <p:cNvGrpSpPr/>
                <p:nvPr/>
              </p:nvGrpSpPr>
              <p:grpSpPr>
                <a:xfrm>
                  <a:off x="6968542" y="4882176"/>
                  <a:ext cx="4358141" cy="553770"/>
                  <a:chOff x="6968542" y="4744258"/>
                  <a:chExt cx="4358141" cy="413305"/>
                </a:xfrm>
              </p:grpSpPr>
              <p:sp>
                <p:nvSpPr>
                  <p:cNvPr id="139" name="Rectangle 138">
                    <a:extLst>
                      <a:ext uri="{FF2B5EF4-FFF2-40B4-BE49-F238E27FC236}">
                        <a16:creationId xmlns:a16="http://schemas.microsoft.com/office/drawing/2014/main" id="{41AE67AD-B9B8-40DF-9448-F51E5E6EB1AE}"/>
                      </a:ext>
                    </a:extLst>
                  </p:cNvPr>
                  <p:cNvSpPr/>
                  <p:nvPr/>
                </p:nvSpPr>
                <p:spPr>
                  <a:xfrm>
                    <a:off x="6968542" y="4744258"/>
                    <a:ext cx="2141992" cy="413305"/>
                  </a:xfrm>
                  <a:prstGeom prst="rect">
                    <a:avLst/>
                  </a:prstGeom>
                  <a:solidFill>
                    <a:srgbClr val="00206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1,328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49.1%)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791CBE85-2624-4CCD-9B03-5B88D0E8C53D}"/>
                      </a:ext>
                    </a:extLst>
                  </p:cNvPr>
                  <p:cNvSpPr/>
                  <p:nvPr/>
                </p:nvSpPr>
                <p:spPr>
                  <a:xfrm>
                    <a:off x="9107358" y="4744258"/>
                    <a:ext cx="2025777" cy="413305"/>
                  </a:xfrm>
                  <a:prstGeom prst="rect">
                    <a:avLst/>
                  </a:prstGeom>
                  <a:solidFill>
                    <a:srgbClr val="5E85B0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ko-KR" altLang="en-US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피해 계좌정보</a:t>
                    </a: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1,250</a:t>
                    </a:r>
                    <a:r>
                      <a:rPr lang="ko-KR" altLang="en-US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건</a:t>
                    </a:r>
                    <a:endPara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  <a:p>
                    <a:pPr algn="ctr"/>
                    <a:r>
                      <a:rPr lang="en-US" altLang="ko-KR" sz="800" b="1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(</a:t>
                    </a:r>
                    <a:r>
                      <a:rPr lang="en-US" altLang="ko-KR" sz="800" dirty="0">
                        <a:solidFill>
                          <a:schemeClr val="bg1"/>
                        </a:solidFill>
                        <a:latin typeface="페이퍼로지 7 Bold" pitchFamily="2" charset="-127"/>
                        <a:ea typeface="페이퍼로지 7 Bold" pitchFamily="2" charset="-127"/>
                      </a:rPr>
                      <a:t>46.2%)</a:t>
                    </a:r>
                    <a:endPara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endParaRPr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80BECE0E-F3C7-4852-96B7-5FDCEE448308}"/>
                      </a:ext>
                    </a:extLst>
                  </p:cNvPr>
                  <p:cNvSpPr/>
                  <p:nvPr/>
                </p:nvSpPr>
                <p:spPr>
                  <a:xfrm>
                    <a:off x="11133136" y="4744258"/>
                    <a:ext cx="98298" cy="413305"/>
                  </a:xfrm>
                  <a:prstGeom prst="rect">
                    <a:avLst/>
                  </a:prstGeom>
                  <a:solidFill>
                    <a:srgbClr val="2F7CF6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5B45C7CC-4FE9-47B8-A816-C1985FE01E16}"/>
                      </a:ext>
                    </a:extLst>
                  </p:cNvPr>
                  <p:cNvSpPr/>
                  <p:nvPr/>
                </p:nvSpPr>
                <p:spPr>
                  <a:xfrm>
                    <a:off x="11225084" y="4744258"/>
                    <a:ext cx="101599" cy="413305"/>
                  </a:xfrm>
                  <a:prstGeom prst="rect">
                    <a:avLst/>
                  </a:prstGeom>
                  <a:solidFill>
                    <a:srgbClr val="49A8FF"/>
                  </a:solidFill>
                  <a:ln w="12700">
                    <a:solidFill>
                      <a:schemeClr val="bg1"/>
                    </a:solidFill>
                    <a:prstDash val="solid"/>
                  </a:ln>
                </p:spPr>
                <p:txBody>
                  <a:bodyPr/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endParaRPr lang="ko-KR" sz="1000"/>
                  </a:p>
                </p:txBody>
              </p:sp>
            </p:grp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D8D12947-8E65-40B3-A525-5A287ADA8B2A}"/>
                    </a:ext>
                  </a:extLst>
                </p:cNvPr>
                <p:cNvSpPr txBox="1"/>
                <p:nvPr/>
              </p:nvSpPr>
              <p:spPr>
                <a:xfrm>
                  <a:off x="6909933" y="4654579"/>
                  <a:ext cx="2141992" cy="2594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rtl="0"/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피해방지 건수 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(2,705</a:t>
                  </a:r>
                  <a:r>
                    <a:rPr lang="ko-KR" altLang="en-US" sz="800" dirty="0"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latin typeface="페이퍼로지 7 Bold" pitchFamily="2" charset="-127"/>
                      <a:ea typeface="페이퍼로지 7 Bold" pitchFamily="2" charset="-127"/>
                    </a:rPr>
                    <a:t>)</a:t>
                  </a:r>
                  <a:endParaRPr lang="ko-KR" altLang="en-US" sz="8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A21BDF8A-9CC3-477E-B3E5-B6272F32E405}"/>
                    </a:ext>
                  </a:extLst>
                </p:cNvPr>
                <p:cNvSpPr txBox="1"/>
                <p:nvPr/>
              </p:nvSpPr>
              <p:spPr>
                <a:xfrm>
                  <a:off x="8920162" y="4638806"/>
                  <a:ext cx="233417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사기이용계좌 정보 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55</a:t>
                  </a:r>
                  <a:r>
                    <a:rPr lang="ko-KR" altLang="en-US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2F7CF6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(2.0%)</a:t>
                  </a:r>
                  <a:endPara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81ADE4-E51E-4EB8-8484-15125DE343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230521" y="4657650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AC47B40-FD1A-4F45-8E48-6F005AB3E0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99747" y="4719547"/>
                  <a:ext cx="0" cy="169772"/>
                </a:xfrm>
                <a:prstGeom prst="line">
                  <a:avLst/>
                </a:prstGeom>
                <a:ln w="28575">
                  <a:solidFill>
                    <a:srgbClr val="2F7CF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36555E7C-425E-4079-87B1-C470269898ED}"/>
                  </a:ext>
                </a:extLst>
              </p:cNvPr>
              <p:cNvGrpSpPr/>
              <p:nvPr/>
            </p:nvGrpSpPr>
            <p:grpSpPr>
              <a:xfrm>
                <a:off x="9882317" y="5345667"/>
                <a:ext cx="1469766" cy="230963"/>
                <a:chOff x="9856917" y="5345667"/>
                <a:chExt cx="1469766" cy="230963"/>
              </a:xfrm>
            </p:grpSpPr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9B95F796-2F08-446E-A1DB-01D3A370AA4E}"/>
                    </a:ext>
                  </a:extLst>
                </p:cNvPr>
                <p:cNvSpPr txBox="1"/>
                <p:nvPr/>
              </p:nvSpPr>
              <p:spPr>
                <a:xfrm>
                  <a:off x="9856917" y="5361186"/>
                  <a:ext cx="1469766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0"/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기타 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72</a:t>
                  </a:r>
                  <a:r>
                    <a:rPr lang="ko-KR" altLang="en-US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건</a:t>
                  </a:r>
                  <a:r>
                    <a:rPr lang="en-US" altLang="ko-KR" sz="800" dirty="0">
                      <a:solidFill>
                        <a:srgbClr val="49A8FF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(2.7%)</a:t>
                  </a:r>
                  <a:endPara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19B4FE53-15CC-4901-A172-3B82093CC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275883" y="5345667"/>
                  <a:ext cx="0" cy="200563"/>
                </a:xfrm>
                <a:prstGeom prst="line">
                  <a:avLst/>
                </a:prstGeom>
                <a:ln w="28575">
                  <a:solidFill>
                    <a:srgbClr val="49A8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5CD0C00-1002-4547-94C5-4857AE291FEA}"/>
                  </a:ext>
                </a:extLst>
              </p:cNvPr>
              <p:cNvSpPr txBox="1"/>
              <p:nvPr/>
            </p:nvSpPr>
            <p:spPr>
              <a:xfrm>
                <a:off x="6907208" y="5373434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F406ED3-91ED-40FA-A5F6-5EB54373632C}"/>
                </a:ext>
              </a:extLst>
            </p:cNvPr>
            <p:cNvGrpSpPr/>
            <p:nvPr/>
          </p:nvGrpSpPr>
          <p:grpSpPr>
            <a:xfrm>
              <a:off x="6900722" y="3613172"/>
              <a:ext cx="4452820" cy="989286"/>
              <a:chOff x="6900722" y="3613172"/>
              <a:chExt cx="4452820" cy="989286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1EC7DBF-425A-4A6D-8C7C-96CE3884C086}"/>
                  </a:ext>
                </a:extLst>
              </p:cNvPr>
              <p:cNvGrpSpPr/>
              <p:nvPr/>
            </p:nvGrpSpPr>
            <p:grpSpPr>
              <a:xfrm>
                <a:off x="6968542" y="3858962"/>
                <a:ext cx="4358141" cy="553770"/>
                <a:chOff x="6968542" y="4034171"/>
                <a:chExt cx="4358141" cy="553770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0C0C6537-ECA2-4D39-9F34-0A75EC4F8FD6}"/>
                    </a:ext>
                  </a:extLst>
                </p:cNvPr>
                <p:cNvSpPr/>
                <p:nvPr/>
              </p:nvSpPr>
              <p:spPr>
                <a:xfrm>
                  <a:off x="6968542" y="4034171"/>
                  <a:ext cx="950212" cy="553770"/>
                </a:xfrm>
                <a:prstGeom prst="rect">
                  <a:avLst/>
                </a:prstGeom>
                <a:solidFill>
                  <a:srgbClr val="00206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41.0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(22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.0%)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0EE53028-AEF5-4508-BF9B-F1FFEBF7F663}"/>
                    </a:ext>
                  </a:extLst>
                </p:cNvPr>
                <p:cNvSpPr/>
                <p:nvPr/>
              </p:nvSpPr>
              <p:spPr>
                <a:xfrm>
                  <a:off x="10625139" y="4034171"/>
                  <a:ext cx="369092" cy="553770"/>
                </a:xfrm>
                <a:prstGeom prst="rect">
                  <a:avLst/>
                </a:prstGeom>
                <a:solidFill>
                  <a:srgbClr val="2F7CF6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9640938D-6415-4975-AE42-4A9F6CC71DFD}"/>
                    </a:ext>
                  </a:extLst>
                </p:cNvPr>
                <p:cNvSpPr/>
                <p:nvPr/>
              </p:nvSpPr>
              <p:spPr>
                <a:xfrm>
                  <a:off x="7918755" y="4034171"/>
                  <a:ext cx="2770246" cy="553770"/>
                </a:xfrm>
                <a:prstGeom prst="rect">
                  <a:avLst/>
                </a:prstGeom>
                <a:solidFill>
                  <a:srgbClr val="5E85B0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피해 계좌정보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118.4</a:t>
                  </a:r>
                  <a:r>
                    <a:rPr lang="ko-KR" altLang="en-US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억 원</a:t>
                  </a:r>
                </a:p>
                <a:p>
                  <a:pPr algn="ctr"/>
                  <a:r>
                    <a:rPr lang="en-US" altLang="ko-KR" sz="800" b="1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(</a:t>
                  </a:r>
                  <a:r>
                    <a:rPr lang="en-US" altLang="ko-KR" sz="8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63.5%)</a:t>
                  </a:r>
                  <a:endPara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9835F2DD-3120-471C-8951-D64FF8D0174D}"/>
                    </a:ext>
                  </a:extLst>
                </p:cNvPr>
                <p:cNvSpPr/>
                <p:nvPr/>
              </p:nvSpPr>
              <p:spPr>
                <a:xfrm>
                  <a:off x="10931968" y="4034171"/>
                  <a:ext cx="394715" cy="553770"/>
                </a:xfrm>
                <a:prstGeom prst="rect">
                  <a:avLst/>
                </a:prstGeom>
                <a:solidFill>
                  <a:srgbClr val="49A8FF"/>
                </a:solidFill>
                <a:ln w="12700">
                  <a:solidFill>
                    <a:schemeClr val="bg1"/>
                  </a:solidFill>
                  <a:prstDash val="solid"/>
                </a:ln>
              </p:spPr>
              <p:txBody>
                <a:bodyPr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sz="1000"/>
                </a:p>
              </p:txBody>
            </p:sp>
          </p:grp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A77F4D8-08BA-428A-9C85-1616EDB599DB}"/>
                  </a:ext>
                </a:extLst>
              </p:cNvPr>
              <p:cNvSpPr txBox="1"/>
              <p:nvPr/>
            </p:nvSpPr>
            <p:spPr>
              <a:xfrm>
                <a:off x="6900722" y="3622027"/>
                <a:ext cx="2357577" cy="2594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피해방지 금액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(186.5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)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919C9AAA-84A7-412C-A96B-CF876CFC3A50}"/>
                  </a:ext>
                </a:extLst>
              </p:cNvPr>
              <p:cNvSpPr txBox="1"/>
              <p:nvPr/>
            </p:nvSpPr>
            <p:spPr>
              <a:xfrm>
                <a:off x="8632959" y="3613172"/>
                <a:ext cx="233417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사기이용계좌 정보 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9.8</a:t>
                </a:r>
                <a:r>
                  <a:rPr lang="ko-KR" altLang="en-US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2F7CF6"/>
                    </a:solidFill>
                    <a:latin typeface="페이퍼로지 7 Bold" pitchFamily="2" charset="-127"/>
                    <a:ea typeface="페이퍼로지 7 Bold" pitchFamily="2" charset="-127"/>
                  </a:rPr>
                  <a:t>(5.3%)</a:t>
                </a:r>
                <a:endParaRPr lang="ko-KR" altLang="en-US" sz="800" dirty="0">
                  <a:solidFill>
                    <a:srgbClr val="2F7CF6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DF6178B5-BA75-4C82-BC94-A57B18CABC6A}"/>
                  </a:ext>
                </a:extLst>
              </p:cNvPr>
              <p:cNvCxnSpPr>
                <a:cxnSpLocks/>
                <a:stCxn id="160" idx="3"/>
                <a:endCxn id="160" idx="3"/>
              </p:cNvCxnSpPr>
              <p:nvPr/>
            </p:nvCxnSpPr>
            <p:spPr>
              <a:xfrm>
                <a:off x="10967130" y="3720894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BB0E1F68-8BCC-4740-8CA7-815A9B21B88B}"/>
                  </a:ext>
                </a:extLst>
              </p:cNvPr>
              <p:cNvCxnSpPr/>
              <p:nvPr/>
            </p:nvCxnSpPr>
            <p:spPr>
              <a:xfrm flipV="1">
                <a:off x="10918894" y="3693912"/>
                <a:ext cx="0" cy="169772"/>
              </a:xfrm>
              <a:prstGeom prst="line">
                <a:avLst/>
              </a:prstGeom>
              <a:ln w="28575">
                <a:solidFill>
                  <a:srgbClr val="2F7CF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B6B30D79-E413-44B8-BECF-21E5D30F94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01283" y="4374959"/>
                <a:ext cx="0" cy="200563"/>
              </a:xfrm>
              <a:prstGeom prst="line">
                <a:avLst/>
              </a:prstGeom>
              <a:ln w="28575">
                <a:solidFill>
                  <a:srgbClr val="49A8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E145FE7-7C8E-4A8C-BEA3-6326FCD0B570}"/>
                  </a:ext>
                </a:extLst>
              </p:cNvPr>
              <p:cNvSpPr txBox="1"/>
              <p:nvPr/>
            </p:nvSpPr>
            <p:spPr>
              <a:xfrm>
                <a:off x="9883776" y="4387014"/>
                <a:ext cx="14697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0"/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기타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 17.3</a:t>
                </a:r>
                <a:r>
                  <a:rPr lang="ko-KR" altLang="en-US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 원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7 Bold" pitchFamily="2" charset="-127"/>
                    <a:ea typeface="페이퍼로지 7 Bold" pitchFamily="2" charset="-127"/>
                  </a:rPr>
                  <a:t>(9.3%)</a:t>
                </a:r>
                <a:endParaRPr lang="ko-KR" altLang="en-US" sz="800" dirty="0">
                  <a:solidFill>
                    <a:srgbClr val="49A8FF"/>
                  </a:solidFill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525798AE-8A4A-4F3C-A7DB-F37611569B06}"/>
                  </a:ext>
                </a:extLst>
              </p:cNvPr>
              <p:cNvSpPr txBox="1"/>
              <p:nvPr/>
            </p:nvSpPr>
            <p:spPr>
              <a:xfrm>
                <a:off x="6907208" y="4394745"/>
                <a:ext cx="1223412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rtl="0"/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*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기준 기간 출범 후 </a:t>
                </a:r>
                <a:r>
                  <a:rPr lang="en-US" altLang="ko-KR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12</a:t>
                </a:r>
                <a:r>
                  <a:rPr lang="ko-KR" altLang="en-US" sz="700" dirty="0">
                    <a:solidFill>
                      <a:srgbClr val="002060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 동안</a:t>
                </a:r>
                <a:endParaRPr lang="en-US" altLang="ko-KR" sz="700" dirty="0">
                  <a:solidFill>
                    <a:srgbClr val="002060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7688958C-63F5-4BB9-9DD1-8635F1F92C47}"/>
              </a:ext>
            </a:extLst>
          </p:cNvPr>
          <p:cNvSpPr txBox="1"/>
          <p:nvPr/>
        </p:nvSpPr>
        <p:spPr>
          <a:xfrm>
            <a:off x="7405452" y="4996134"/>
            <a:ext cx="3403127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지난해 같은 기간 대비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발생 건수가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46%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(14,707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7,940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건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),</a:t>
            </a:r>
          </a:p>
          <a:p>
            <a:pPr algn="ctr"/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피해액이 </a:t>
            </a:r>
            <a:r>
              <a:rPr lang="en-US" altLang="ko-KR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53%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(7,766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원→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3,614</a:t>
            </a:r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억 원</a:t>
            </a:r>
            <a:r>
              <a:rPr lang="en-US" altLang="ko-KR" sz="1000" dirty="0">
                <a:latin typeface="페이퍼로지 4 Regular" pitchFamily="2" charset="-127"/>
                <a:ea typeface="페이퍼로지 4 Regular" pitchFamily="2" charset="-127"/>
              </a:rPr>
              <a:t>) </a:t>
            </a:r>
            <a:r>
              <a:rPr lang="ko-KR" altLang="en-US" sz="1000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</a:rPr>
              <a:t>감소</a:t>
            </a:r>
            <a:endParaRPr lang="en-US" altLang="ko-KR" sz="1000" dirty="0">
              <a:solidFill>
                <a:srgbClr val="FF4B16"/>
              </a:solidFill>
              <a:latin typeface="페이퍼로지 4 Regular" pitchFamily="2" charset="-127"/>
              <a:ea typeface="페이퍼로지 4 Regular" pitchFamily="2" charset="-127"/>
            </a:endParaRPr>
          </a:p>
          <a:p>
            <a:pPr algn="ctr"/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출처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: 7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8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0816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671892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9ECD888-C723-46E7-903A-7435ADF81B35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4F0333C0-8C7A-4B84-8F7C-D44D37579789}"/>
              </a:ext>
            </a:extLst>
          </p:cNvPr>
          <p:cNvSpPr txBox="1"/>
          <p:nvPr/>
        </p:nvSpPr>
        <p:spPr>
          <a:xfrm>
            <a:off x="838200" y="527343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그런데 잠깐</a:t>
            </a:r>
            <a:r>
              <a:rPr lang="en-US" altLang="ko-KR" sz="123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altLang="ko-KR" sz="1230" dirty="0">
              <a:solidFill>
                <a:schemeClr val="bg1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9E4F4B01-3369-4970-A414-220666C1A0EF}"/>
              </a:ext>
            </a:extLst>
          </p:cNvPr>
          <p:cNvSpPr txBox="1"/>
          <p:nvPr/>
        </p:nvSpPr>
        <p:spPr>
          <a:xfrm>
            <a:off x="746760" y="760788"/>
            <a:ext cx="10698480" cy="122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이렇게 많은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존재하고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실제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긍정적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altLang="ko-KR" sz="2200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altLang="ko-KR" sz="2200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어째서 여전히 보이스피싱 범죄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피해가 발생하고 있을까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그리고 </a:t>
            </a:r>
            <a:r>
              <a:rPr lang="en-US" altLang="ko-KR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53%</a:t>
            </a:r>
            <a:r>
              <a:rPr lang="ko-KR" altLang="en-US" sz="22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의 피해액 감소에 만족하고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안주해도 되는 걸까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ED55EEA-1212-4000-A6DF-C58A73D5632C}"/>
              </a:ext>
            </a:extLst>
          </p:cNvPr>
          <p:cNvGrpSpPr/>
          <p:nvPr/>
        </p:nvGrpSpPr>
        <p:grpSpPr>
          <a:xfrm>
            <a:off x="1211043" y="2272923"/>
            <a:ext cx="9769914" cy="3097467"/>
            <a:chOff x="1211043" y="2336922"/>
            <a:chExt cx="9769914" cy="309746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5870A41-561B-46D8-872D-2DACE1D28AAF}"/>
                </a:ext>
              </a:extLst>
            </p:cNvPr>
            <p:cNvGrpSpPr/>
            <p:nvPr/>
          </p:nvGrpSpPr>
          <p:grpSpPr>
            <a:xfrm>
              <a:off x="1324750" y="2864843"/>
              <a:ext cx="4413424" cy="2564583"/>
              <a:chOff x="1032549" y="3249240"/>
              <a:chExt cx="4413424" cy="2564583"/>
            </a:xfrm>
          </p:grpSpPr>
          <p:sp>
            <p:nvSpPr>
              <p:cNvPr id="23" name="Shape 8">
                <a:extLst>
                  <a:ext uri="{FF2B5EF4-FFF2-40B4-BE49-F238E27FC236}">
                    <a16:creationId xmlns:a16="http://schemas.microsoft.com/office/drawing/2014/main" id="{1E82256C-508F-4718-BDA2-BC66C83B7F0E}"/>
                  </a:ext>
                </a:extLst>
              </p:cNvPr>
              <p:cNvSpPr/>
              <p:nvPr/>
            </p:nvSpPr>
            <p:spPr>
              <a:xfrm>
                <a:off x="1032549" y="3249240"/>
                <a:ext cx="4413424" cy="2564583"/>
              </a:xfrm>
              <a:prstGeom prst="roundRect">
                <a:avLst>
                  <a:gd name="adj" fmla="val 5818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ADDDFBD-5E3C-4896-BA4F-D0F3EA431C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179"/>
              <a:stretch/>
            </p:blipFill>
            <p:spPr>
              <a:xfrm>
                <a:off x="1087294" y="3401279"/>
                <a:ext cx="4303933" cy="2355183"/>
              </a:xfrm>
              <a:prstGeom prst="rect">
                <a:avLst/>
              </a:prstGeom>
            </p:spPr>
          </p:pic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0CE9D502-4A98-4EFF-A464-807AEFFEFAEB}"/>
                  </a:ext>
                </a:extLst>
              </p:cNvPr>
              <p:cNvSpPr/>
              <p:nvPr/>
            </p:nvSpPr>
            <p:spPr>
              <a:xfrm>
                <a:off x="4234875" y="3762257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E66867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609C7C8-B81C-4E5A-8DE7-5B7392628E26}"/>
                  </a:ext>
                </a:extLst>
              </p:cNvPr>
              <p:cNvSpPr/>
              <p:nvPr/>
            </p:nvSpPr>
            <p:spPr>
              <a:xfrm>
                <a:off x="2995430" y="4328077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5E85B0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35A03C30-6B1A-4B88-A823-CDFF6D395EA1}"/>
                  </a:ext>
                </a:extLst>
              </p:cNvPr>
              <p:cNvSpPr/>
              <p:nvPr/>
            </p:nvSpPr>
            <p:spPr>
              <a:xfrm>
                <a:off x="1678927" y="4945044"/>
                <a:ext cx="487664" cy="229054"/>
              </a:xfrm>
              <a:custGeom>
                <a:avLst/>
                <a:gdLst>
                  <a:gd name="connsiteX0" fmla="*/ 50800 w 419100"/>
                  <a:gd name="connsiteY0" fmla="*/ 31750 h 196850"/>
                  <a:gd name="connsiteX1" fmla="*/ 133350 w 419100"/>
                  <a:gd name="connsiteY1" fmla="*/ 0 h 196850"/>
                  <a:gd name="connsiteX2" fmla="*/ 406400 w 419100"/>
                  <a:gd name="connsiteY2" fmla="*/ 0 h 196850"/>
                  <a:gd name="connsiteX3" fmla="*/ 419100 w 419100"/>
                  <a:gd name="connsiteY3" fmla="*/ 196850 h 196850"/>
                  <a:gd name="connsiteX4" fmla="*/ 0 w 419100"/>
                  <a:gd name="connsiteY4" fmla="*/ 152400 h 196850"/>
                  <a:gd name="connsiteX5" fmla="*/ 50800 w 419100"/>
                  <a:gd name="connsiteY5" fmla="*/ 31750 h 196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9100" h="196850">
                    <a:moveTo>
                      <a:pt x="50800" y="31750"/>
                    </a:moveTo>
                    <a:lnTo>
                      <a:pt x="133350" y="0"/>
                    </a:lnTo>
                    <a:lnTo>
                      <a:pt x="406400" y="0"/>
                    </a:lnTo>
                    <a:lnTo>
                      <a:pt x="419100" y="196850"/>
                    </a:lnTo>
                    <a:lnTo>
                      <a:pt x="0" y="152400"/>
                    </a:lnTo>
                    <a:lnTo>
                      <a:pt x="50800" y="31750"/>
                    </a:lnTo>
                    <a:close/>
                  </a:path>
                </a:pathLst>
              </a:custGeom>
              <a:solidFill>
                <a:srgbClr val="5E85B0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529F90-0D90-4D06-A22A-9BF6736AC066}"/>
                  </a:ext>
                </a:extLst>
              </p:cNvPr>
              <p:cNvSpPr txBox="1"/>
              <p:nvPr/>
            </p:nvSpPr>
            <p:spPr>
              <a:xfrm>
                <a:off x="4075288" y="3779761"/>
                <a:ext cx="82161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1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조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2,578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CE70B62-55EB-473C-BA03-421B1681A667}"/>
                  </a:ext>
                </a:extLst>
              </p:cNvPr>
              <p:cNvSpPr txBox="1"/>
              <p:nvPr/>
            </p:nvSpPr>
            <p:spPr>
              <a:xfrm>
                <a:off x="2907242" y="4328077"/>
                <a:ext cx="664039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8,545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9E0FC46-BD5A-44EE-96E2-24AA444130B9}"/>
                  </a:ext>
                </a:extLst>
              </p:cNvPr>
              <p:cNvSpPr txBox="1"/>
              <p:nvPr/>
            </p:nvSpPr>
            <p:spPr>
              <a:xfrm>
                <a:off x="1664187" y="4901827"/>
                <a:ext cx="664039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4,472</a:t>
                </a:r>
                <a:r>
                  <a:rPr lang="ko-KR" altLang="en-US" sz="8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rPr>
                  <a:t>억원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5AC449D-63FD-4FAC-BC84-018DCA6B81B3}"/>
                  </a:ext>
                </a:extLst>
              </p:cNvPr>
              <p:cNvSpPr/>
              <p:nvPr/>
            </p:nvSpPr>
            <p:spPr>
              <a:xfrm>
                <a:off x="1848280" y="5567957"/>
                <a:ext cx="2796677" cy="151946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132AA46-7D78-4876-B8DC-07219A1BC210}"/>
                  </a:ext>
                </a:extLst>
              </p:cNvPr>
              <p:cNvSpPr txBox="1"/>
              <p:nvPr/>
            </p:nvSpPr>
            <p:spPr>
              <a:xfrm>
                <a:off x="1767645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2023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F857B92-D8C9-4FA5-A64C-2A057E220F10}"/>
                  </a:ext>
                </a:extLst>
              </p:cNvPr>
              <p:cNvSpPr txBox="1"/>
              <p:nvPr/>
            </p:nvSpPr>
            <p:spPr>
              <a:xfrm>
                <a:off x="3032853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2024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E9A77ED-F1D8-4FC7-808D-E37C404A7CA9}"/>
                  </a:ext>
                </a:extLst>
              </p:cNvPr>
              <p:cNvSpPr txBox="1"/>
              <p:nvPr/>
            </p:nvSpPr>
            <p:spPr>
              <a:xfrm>
                <a:off x="4270268" y="5536491"/>
                <a:ext cx="457124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2025</a:t>
                </a:r>
                <a:endParaRPr lang="ko-KR" altLang="en-US" sz="8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C42CBDA-FA6E-483F-A7ED-A9D5C8BDA779}"/>
                  </a:ext>
                </a:extLst>
              </p:cNvPr>
              <p:cNvSpPr/>
              <p:nvPr/>
            </p:nvSpPr>
            <p:spPr>
              <a:xfrm>
                <a:off x="4329379" y="3570236"/>
                <a:ext cx="335269" cy="116719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D129A4D-4056-4EBB-8790-4D787591974D}"/>
                  </a:ext>
                </a:extLst>
              </p:cNvPr>
              <p:cNvSpPr/>
              <p:nvPr/>
            </p:nvSpPr>
            <p:spPr>
              <a:xfrm>
                <a:off x="3104678" y="3738794"/>
                <a:ext cx="272766" cy="139088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075D39-1E77-4244-A163-8B99D040B560}"/>
                  </a:ext>
                </a:extLst>
              </p:cNvPr>
              <p:cNvSpPr txBox="1"/>
              <p:nvPr/>
            </p:nvSpPr>
            <p:spPr>
              <a:xfrm>
                <a:off x="4175340" y="3517506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23,260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B775FF-A5B9-4BE9-9C1E-81448A4F4AC7}"/>
                  </a:ext>
                </a:extLst>
              </p:cNvPr>
              <p:cNvSpPr txBox="1"/>
              <p:nvPr/>
            </p:nvSpPr>
            <p:spPr>
              <a:xfrm>
                <a:off x="2941649" y="3698945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20,839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B2856F-FCF3-43A9-B38A-287AF282279A}"/>
                  </a:ext>
                </a:extLst>
              </p:cNvPr>
              <p:cNvSpPr/>
              <p:nvPr/>
            </p:nvSpPr>
            <p:spPr>
              <a:xfrm>
                <a:off x="1850906" y="3933163"/>
                <a:ext cx="272766" cy="82713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DE967D-3AFC-49E7-808F-C44ED34D584B}"/>
                  </a:ext>
                </a:extLst>
              </p:cNvPr>
              <p:cNvSpPr txBox="1"/>
              <p:nvPr/>
            </p:nvSpPr>
            <p:spPr>
              <a:xfrm>
                <a:off x="1674532" y="3855641"/>
                <a:ext cx="643347" cy="213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800" dirty="0">
                    <a:latin typeface="페이퍼로지 7 Bold" pitchFamily="2" charset="-127"/>
                    <a:ea typeface="페이퍼로지 7 Bold" pitchFamily="2" charset="-127"/>
                  </a:rPr>
                  <a:t>18,902</a:t>
                </a:r>
                <a:r>
                  <a:rPr lang="ko-KR" altLang="en-US" sz="800" dirty="0">
                    <a:latin typeface="페이퍼로지 7 Bold" pitchFamily="2" charset="-127"/>
                    <a:ea typeface="페이퍼로지 7 Bold" pitchFamily="2" charset="-127"/>
                  </a:rPr>
                  <a:t>건</a:t>
                </a: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129DE3E-630F-4541-AD0C-6DC0DD11F9A8}"/>
                </a:ext>
              </a:extLst>
            </p:cNvPr>
            <p:cNvSpPr txBox="1"/>
            <p:nvPr/>
          </p:nvSpPr>
          <p:spPr>
            <a:xfrm>
              <a:off x="1211043" y="2336922"/>
              <a:ext cx="464083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여전히 발생하고 있는 보이스피싱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최근 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3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년간 보이스피싱 피해 수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피해액 증가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6191101" y="2337865"/>
              <a:ext cx="4789856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ASAP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출범 이후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25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동기 대비 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26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피해액 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53%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감소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사회의 노력으로 눈에 띄게 줄어든 보이스피싱 피해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ctr">
                <a:buNone/>
              </a:pPr>
              <a:endParaRPr lang="en-US" altLang="ko-KR" sz="1400" dirty="0">
                <a:solidFill>
                  <a:srgbClr val="FFFFFF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그러나</a:t>
              </a: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여전히 발생하고 있는 비극적 사건들</a:t>
              </a:r>
              <a:endParaRPr lang="en-US" altLang="ko-KR" sz="1400" dirty="0">
                <a:solidFill>
                  <a:srgbClr val="FFFFFF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en-US" altLang="ko-KR" sz="14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4392955-62C2-4F31-9B89-F8F7DA1ABA23}"/>
                </a:ext>
              </a:extLst>
            </p:cNvPr>
            <p:cNvGrpSpPr/>
            <p:nvPr/>
          </p:nvGrpSpPr>
          <p:grpSpPr>
            <a:xfrm>
              <a:off x="6410371" y="3628557"/>
              <a:ext cx="4351316" cy="963203"/>
              <a:chOff x="6522760" y="3628258"/>
              <a:chExt cx="4351316" cy="96320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253C18-8B24-4615-9F41-F80A70148FD5}"/>
                  </a:ext>
                </a:extLst>
              </p:cNvPr>
              <p:cNvSpPr txBox="1"/>
              <p:nvPr/>
            </p:nvSpPr>
            <p:spPr>
              <a:xfrm>
                <a:off x="6522760" y="3628258"/>
                <a:ext cx="4351316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 줄었다지만</a:t>
                </a:r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…5</a:t>
                </a:r>
                <a:r>
                  <a:rPr lang="ko-KR" altLang="en-US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천만 원 피해에 </a:t>
                </a:r>
                <a:r>
                  <a:rPr lang="en-US" altLang="ko-KR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20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대 아들</a:t>
                </a:r>
                <a:r>
                  <a:rPr lang="en-US" altLang="ko-KR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,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엄마와 함께 숨져</a:t>
                </a:r>
                <a:r>
                  <a:rPr lang="en-US" altLang="ko-KR" sz="1050" b="1" i="0" dirty="0">
                    <a:solidFill>
                      <a:srgbClr val="222222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1804E37-175A-49DF-A1AE-A8E99DC3BFD7}"/>
                  </a:ext>
                </a:extLst>
              </p:cNvPr>
              <p:cNvSpPr txBox="1"/>
              <p:nvPr/>
            </p:nvSpPr>
            <p:spPr>
              <a:xfrm>
                <a:off x="6659400" y="3979054"/>
                <a:ext cx="4049326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 피해 비관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부부 극단선택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홀로 산 남편 자살방조 처벌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5293354-2278-488F-89E1-11BB4375AF62}"/>
                  </a:ext>
                </a:extLst>
              </p:cNvPr>
              <p:cNvSpPr txBox="1"/>
              <p:nvPr/>
            </p:nvSpPr>
            <p:spPr>
              <a:xfrm>
                <a:off x="6713037" y="4329851"/>
                <a:ext cx="3942053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 fontAlgn="base"/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“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보이스피싱에 속아 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3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억원 잃은 </a:t>
                </a:r>
                <a:r>
                  <a:rPr lang="ko-KR" altLang="en-US" sz="1050" b="1" i="0" dirty="0">
                    <a:solidFill>
                      <a:srgbClr val="FF4B16"/>
                    </a:solidFill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피해자 생 마감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…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인출책 징역 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1</a:t>
                </a:r>
                <a:r>
                  <a:rPr lang="ko-KR" altLang="en-US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년</a:t>
                </a:r>
                <a:r>
                  <a:rPr lang="en-US" altLang="ko-KR" sz="1050" b="1" i="0" dirty="0">
                    <a:effectLst/>
                    <a:latin typeface="Noto Sans KR" panose="020B0200000000000000" pitchFamily="50" charset="-127"/>
                    <a:ea typeface="Noto Sans KR" panose="020B0200000000000000" pitchFamily="50" charset="-127"/>
                  </a:rPr>
                  <a:t>”</a:t>
                </a:r>
                <a:endParaRPr lang="ko-KR" altLang="en-US" sz="1050" i="0" dirty="0">
                  <a:effectLst/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8648D27-D659-4872-A6D6-956992D62318}"/>
                </a:ext>
              </a:extLst>
            </p:cNvPr>
            <p:cNvGrpSpPr/>
            <p:nvPr/>
          </p:nvGrpSpPr>
          <p:grpSpPr>
            <a:xfrm>
              <a:off x="7108968" y="4822105"/>
              <a:ext cx="3038792" cy="612284"/>
              <a:chOff x="7249592" y="4848383"/>
              <a:chExt cx="3038792" cy="612284"/>
            </a:xfrm>
          </p:grpSpPr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21767CAF-0E74-4E26-93E7-9DACE1C609C6}"/>
                  </a:ext>
                </a:extLst>
              </p:cNvPr>
              <p:cNvSpPr/>
              <p:nvPr/>
            </p:nvSpPr>
            <p:spPr>
              <a:xfrm>
                <a:off x="8261407" y="4848383"/>
                <a:ext cx="439227" cy="597490"/>
              </a:xfrm>
              <a:custGeom>
                <a:avLst/>
                <a:gdLst>
                  <a:gd name="connsiteX0" fmla="*/ 210311 w 439227"/>
                  <a:gd name="connsiteY0" fmla="*/ 0 h 597490"/>
                  <a:gd name="connsiteX1" fmla="*/ 228915 w 439227"/>
                  <a:gd name="connsiteY1" fmla="*/ 0 h 597490"/>
                  <a:gd name="connsiteX2" fmla="*/ 359394 w 439227"/>
                  <a:gd name="connsiteY2" fmla="*/ 130479 h 597490"/>
                  <a:gd name="connsiteX3" fmla="*/ 321178 w 439227"/>
                  <a:gd name="connsiteY3" fmla="*/ 222742 h 597490"/>
                  <a:gd name="connsiteX4" fmla="*/ 320008 w 439227"/>
                  <a:gd name="connsiteY4" fmla="*/ 223530 h 597490"/>
                  <a:gd name="connsiteX5" fmla="*/ 361875 w 439227"/>
                  <a:gd name="connsiteY5" fmla="*/ 231983 h 597490"/>
                  <a:gd name="connsiteX6" fmla="*/ 439227 w 439227"/>
                  <a:gd name="connsiteY6" fmla="*/ 348680 h 597490"/>
                  <a:gd name="connsiteX7" fmla="*/ 439227 w 439227"/>
                  <a:gd name="connsiteY7" fmla="*/ 597490 h 597490"/>
                  <a:gd name="connsiteX8" fmla="*/ 0 w 439227"/>
                  <a:gd name="connsiteY8" fmla="*/ 597490 h 597490"/>
                  <a:gd name="connsiteX9" fmla="*/ 0 w 439227"/>
                  <a:gd name="connsiteY9" fmla="*/ 348680 h 597490"/>
                  <a:gd name="connsiteX10" fmla="*/ 77352 w 439227"/>
                  <a:gd name="connsiteY10" fmla="*/ 231983 h 597490"/>
                  <a:gd name="connsiteX11" fmla="*/ 119218 w 439227"/>
                  <a:gd name="connsiteY11" fmla="*/ 223531 h 597490"/>
                  <a:gd name="connsiteX12" fmla="*/ 118049 w 439227"/>
                  <a:gd name="connsiteY12" fmla="*/ 222742 h 597490"/>
                  <a:gd name="connsiteX13" fmla="*/ 79832 w 439227"/>
                  <a:gd name="connsiteY13" fmla="*/ 130479 h 597490"/>
                  <a:gd name="connsiteX14" fmla="*/ 210311 w 439227"/>
                  <a:gd name="connsiteY14" fmla="*/ 0 h 597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39227" h="597490">
                    <a:moveTo>
                      <a:pt x="210311" y="0"/>
                    </a:moveTo>
                    <a:lnTo>
                      <a:pt x="228915" y="0"/>
                    </a:lnTo>
                    <a:cubicBezTo>
                      <a:pt x="300977" y="0"/>
                      <a:pt x="359394" y="58417"/>
                      <a:pt x="359394" y="130479"/>
                    </a:cubicBezTo>
                    <a:cubicBezTo>
                      <a:pt x="359394" y="166510"/>
                      <a:pt x="344790" y="199130"/>
                      <a:pt x="321178" y="222742"/>
                    </a:cubicBezTo>
                    <a:lnTo>
                      <a:pt x="320008" y="223530"/>
                    </a:lnTo>
                    <a:lnTo>
                      <a:pt x="361875" y="231983"/>
                    </a:lnTo>
                    <a:cubicBezTo>
                      <a:pt x="407332" y="251209"/>
                      <a:pt x="439227" y="296220"/>
                      <a:pt x="439227" y="348680"/>
                    </a:cubicBezTo>
                    <a:lnTo>
                      <a:pt x="439227" y="597490"/>
                    </a:lnTo>
                    <a:lnTo>
                      <a:pt x="0" y="597490"/>
                    </a:lnTo>
                    <a:lnTo>
                      <a:pt x="0" y="348680"/>
                    </a:lnTo>
                    <a:cubicBezTo>
                      <a:pt x="0" y="296220"/>
                      <a:pt x="31895" y="251209"/>
                      <a:pt x="77352" y="231983"/>
                    </a:cubicBezTo>
                    <a:lnTo>
                      <a:pt x="119218" y="223531"/>
                    </a:lnTo>
                    <a:lnTo>
                      <a:pt x="118049" y="222742"/>
                    </a:lnTo>
                    <a:cubicBezTo>
                      <a:pt x="94437" y="199130"/>
                      <a:pt x="79832" y="166510"/>
                      <a:pt x="79832" y="130479"/>
                    </a:cubicBezTo>
                    <a:cubicBezTo>
                      <a:pt x="79832" y="58417"/>
                      <a:pt x="138249" y="0"/>
                      <a:pt x="210311" y="0"/>
                    </a:cubicBezTo>
                    <a:close/>
                  </a:path>
                </a:pathLst>
              </a:custGeom>
              <a:solidFill>
                <a:srgbClr val="49A8FF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6054FC-42F8-4E05-8864-E15F8D597954}"/>
                  </a:ext>
                </a:extLst>
              </p:cNvPr>
              <p:cNvSpPr txBox="1"/>
              <p:nvPr/>
            </p:nvSpPr>
            <p:spPr>
              <a:xfrm>
                <a:off x="7249592" y="5245223"/>
                <a:ext cx="101181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ko-KR" altLang="en-US" sz="8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사회가 지켜낸 </a:t>
                </a:r>
                <a:r>
                  <a:rPr lang="en-US" altLang="ko-KR" sz="800" dirty="0">
                    <a:solidFill>
                      <a:srgbClr val="49A8FF"/>
                    </a:solidFill>
                    <a:latin typeface="페이퍼로지 9 Black" pitchFamily="2" charset="-127"/>
                    <a:ea typeface="페이퍼로지 9 Black" pitchFamily="2" charset="-127"/>
                  </a:rPr>
                  <a:t>53%</a:t>
                </a:r>
                <a:endParaRPr lang="ko-KR" altLang="en-US" sz="800" dirty="0">
                  <a:solidFill>
                    <a:srgbClr val="49A8FF"/>
                  </a:solidFill>
                  <a:latin typeface="페이퍼로지 9 Black" pitchFamily="2" charset="-127"/>
                  <a:ea typeface="페이퍼로지 9 Black" pitchFamily="2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48ECB64-EE12-4659-BDBB-E56510468378}"/>
                  </a:ext>
                </a:extLst>
              </p:cNvPr>
              <p:cNvSpPr txBox="1"/>
              <p:nvPr/>
            </p:nvSpPr>
            <p:spPr>
              <a:xfrm>
                <a:off x="9183594" y="5149390"/>
                <a:ext cx="11047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그렇지 못한 </a:t>
                </a:r>
                <a:r>
                  <a:rPr lang="en-US" altLang="ko-KR" sz="1400" dirty="0">
                    <a:solidFill>
                      <a:srgbClr val="FF4B16"/>
                    </a:solidFill>
                    <a:latin typeface="페이퍼로지 9 Black" pitchFamily="2" charset="-127"/>
                    <a:ea typeface="페이퍼로지 9 Black" pitchFamily="2" charset="-127"/>
                  </a:rPr>
                  <a:t>47%</a:t>
                </a:r>
                <a:endParaRPr lang="ko-KR" altLang="en-US" sz="1400" dirty="0">
                  <a:solidFill>
                    <a:srgbClr val="FF4B16"/>
                  </a:solidFill>
                  <a:latin typeface="페이퍼로지 9 Black" pitchFamily="2" charset="-127"/>
                  <a:ea typeface="페이퍼로지 9 Black" pitchFamily="2" charset="-127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5CBD0AEA-4FBC-4668-AF87-53614FA0F902}"/>
                  </a:ext>
                </a:extLst>
              </p:cNvPr>
              <p:cNvSpPr/>
              <p:nvPr/>
            </p:nvSpPr>
            <p:spPr>
              <a:xfrm rot="5400000">
                <a:off x="8609625" y="5248233"/>
                <a:ext cx="347541" cy="47740"/>
              </a:xfrm>
              <a:custGeom>
                <a:avLst/>
                <a:gdLst>
                  <a:gd name="connsiteX0" fmla="*/ 0 w 347541"/>
                  <a:gd name="connsiteY0" fmla="*/ 0 h 47740"/>
                  <a:gd name="connsiteX1" fmla="*/ 347541 w 347541"/>
                  <a:gd name="connsiteY1" fmla="*/ 0 h 47740"/>
                  <a:gd name="connsiteX2" fmla="*/ 347541 w 347541"/>
                  <a:gd name="connsiteY2" fmla="*/ 47740 h 47740"/>
                  <a:gd name="connsiteX3" fmla="*/ 98731 w 347541"/>
                  <a:gd name="connsiteY3" fmla="*/ 47740 h 47740"/>
                  <a:gd name="connsiteX4" fmla="*/ 1002 w 347541"/>
                  <a:gd name="connsiteY4" fmla="*/ 1651 h 47740"/>
                  <a:gd name="connsiteX5" fmla="*/ 0 w 347541"/>
                  <a:gd name="connsiteY5" fmla="*/ 0 h 4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7541" h="47740">
                    <a:moveTo>
                      <a:pt x="0" y="0"/>
                    </a:moveTo>
                    <a:lnTo>
                      <a:pt x="347541" y="0"/>
                    </a:lnTo>
                    <a:lnTo>
                      <a:pt x="347541" y="47740"/>
                    </a:lnTo>
                    <a:lnTo>
                      <a:pt x="98731" y="47740"/>
                    </a:lnTo>
                    <a:cubicBezTo>
                      <a:pt x="59386" y="47740"/>
                      <a:pt x="24231" y="29799"/>
                      <a:pt x="1002" y="165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9A8FF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206B044A-613C-4822-9C20-32DD858C8127}"/>
                  </a:ext>
                </a:extLst>
              </p:cNvPr>
              <p:cNvSpPr/>
              <p:nvPr/>
            </p:nvSpPr>
            <p:spPr>
              <a:xfrm rot="5400000">
                <a:off x="8704264" y="4951385"/>
                <a:ext cx="597490" cy="391488"/>
              </a:xfrm>
              <a:custGeom>
                <a:avLst/>
                <a:gdLst>
                  <a:gd name="connsiteX0" fmla="*/ 0 w 597490"/>
                  <a:gd name="connsiteY0" fmla="*/ 228916 h 391488"/>
                  <a:gd name="connsiteX1" fmla="*/ 0 w 597490"/>
                  <a:gd name="connsiteY1" fmla="*/ 210312 h 391488"/>
                  <a:gd name="connsiteX2" fmla="*/ 130479 w 597490"/>
                  <a:gd name="connsiteY2" fmla="*/ 79833 h 391488"/>
                  <a:gd name="connsiteX3" fmla="*/ 222742 w 597490"/>
                  <a:gd name="connsiteY3" fmla="*/ 118049 h 391488"/>
                  <a:gd name="connsiteX4" fmla="*/ 223530 w 597490"/>
                  <a:gd name="connsiteY4" fmla="*/ 119219 h 391488"/>
                  <a:gd name="connsiteX5" fmla="*/ 231983 w 597490"/>
                  <a:gd name="connsiteY5" fmla="*/ 77352 h 391488"/>
                  <a:gd name="connsiteX6" fmla="*/ 348680 w 597490"/>
                  <a:gd name="connsiteY6" fmla="*/ 0 h 391488"/>
                  <a:gd name="connsiteX7" fmla="*/ 597490 w 597490"/>
                  <a:gd name="connsiteY7" fmla="*/ 0 h 391488"/>
                  <a:gd name="connsiteX8" fmla="*/ 597490 w 597490"/>
                  <a:gd name="connsiteY8" fmla="*/ 391488 h 391488"/>
                  <a:gd name="connsiteX9" fmla="*/ 249949 w 597490"/>
                  <a:gd name="connsiteY9" fmla="*/ 391488 h 391488"/>
                  <a:gd name="connsiteX10" fmla="*/ 231983 w 597490"/>
                  <a:gd name="connsiteY10" fmla="*/ 361875 h 391488"/>
                  <a:gd name="connsiteX11" fmla="*/ 223531 w 597490"/>
                  <a:gd name="connsiteY11" fmla="*/ 320009 h 391488"/>
                  <a:gd name="connsiteX12" fmla="*/ 222742 w 597490"/>
                  <a:gd name="connsiteY12" fmla="*/ 321179 h 391488"/>
                  <a:gd name="connsiteX13" fmla="*/ 130479 w 597490"/>
                  <a:gd name="connsiteY13" fmla="*/ 359395 h 391488"/>
                  <a:gd name="connsiteX14" fmla="*/ 0 w 597490"/>
                  <a:gd name="connsiteY14" fmla="*/ 228916 h 3914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97490" h="391488">
                    <a:moveTo>
                      <a:pt x="0" y="228916"/>
                    </a:moveTo>
                    <a:lnTo>
                      <a:pt x="0" y="210312"/>
                    </a:lnTo>
                    <a:cubicBezTo>
                      <a:pt x="0" y="138250"/>
                      <a:pt x="58417" y="79833"/>
                      <a:pt x="130479" y="79833"/>
                    </a:cubicBezTo>
                    <a:cubicBezTo>
                      <a:pt x="166510" y="79833"/>
                      <a:pt x="199130" y="94437"/>
                      <a:pt x="222742" y="118049"/>
                    </a:cubicBezTo>
                    <a:lnTo>
                      <a:pt x="223530" y="119219"/>
                    </a:lnTo>
                    <a:lnTo>
                      <a:pt x="231983" y="77352"/>
                    </a:lnTo>
                    <a:cubicBezTo>
                      <a:pt x="251209" y="31895"/>
                      <a:pt x="296220" y="0"/>
                      <a:pt x="348680" y="0"/>
                    </a:cubicBezTo>
                    <a:lnTo>
                      <a:pt x="597490" y="0"/>
                    </a:lnTo>
                    <a:lnTo>
                      <a:pt x="597490" y="391488"/>
                    </a:lnTo>
                    <a:lnTo>
                      <a:pt x="249949" y="391488"/>
                    </a:lnTo>
                    <a:lnTo>
                      <a:pt x="231983" y="361875"/>
                    </a:lnTo>
                    <a:lnTo>
                      <a:pt x="223531" y="320009"/>
                    </a:lnTo>
                    <a:lnTo>
                      <a:pt x="222742" y="321179"/>
                    </a:lnTo>
                    <a:cubicBezTo>
                      <a:pt x="199130" y="344791"/>
                      <a:pt x="166510" y="359395"/>
                      <a:pt x="130479" y="359395"/>
                    </a:cubicBezTo>
                    <a:cubicBezTo>
                      <a:pt x="58417" y="359395"/>
                      <a:pt x="0" y="300978"/>
                      <a:pt x="0" y="228916"/>
                    </a:cubicBezTo>
                    <a:close/>
                  </a:path>
                </a:pathLst>
              </a:custGeom>
              <a:solidFill>
                <a:srgbClr val="FF4B16"/>
              </a:solidFill>
              <a:ln w="19050">
                <a:solidFill>
                  <a:schemeClr val="bg1"/>
                </a:solidFill>
                <a:prstDash val="solid"/>
              </a:ln>
            </p:spPr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36AF8C4-6F94-45CA-B90B-9260DAC9EFF5}"/>
              </a:ext>
            </a:extLst>
          </p:cNvPr>
          <p:cNvGrpSpPr/>
          <p:nvPr/>
        </p:nvGrpSpPr>
        <p:grpSpPr>
          <a:xfrm>
            <a:off x="2133600" y="6880357"/>
            <a:ext cx="7924800" cy="3913308"/>
            <a:chOff x="2133600" y="2082336"/>
            <a:chExt cx="7924800" cy="3913308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51367D3-D22A-4A21-AE93-600ECD39C339}"/>
                </a:ext>
              </a:extLst>
            </p:cNvPr>
            <p:cNvGrpSpPr/>
            <p:nvPr/>
          </p:nvGrpSpPr>
          <p:grpSpPr>
            <a:xfrm>
              <a:off x="3905250" y="2082336"/>
              <a:ext cx="4381500" cy="2862322"/>
              <a:chOff x="3043767" y="1545238"/>
              <a:chExt cx="6104466" cy="2862322"/>
            </a:xfrm>
          </p:grpSpPr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97F9C73-3CA4-407C-B49B-19DC431C86E3}"/>
                  </a:ext>
                </a:extLst>
              </p:cNvPr>
              <p:cNvSpPr txBox="1"/>
              <p:nvPr/>
            </p:nvSpPr>
            <p:spPr>
              <a:xfrm>
                <a:off x="3043767" y="1545238"/>
                <a:ext cx="6104466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그 </a:t>
                </a:r>
                <a:r>
                  <a:rPr lang="en-US" altLang="ko-KR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[</a:t>
                </a:r>
                <a:r>
                  <a:rPr lang="ko-KR" altLang="en-US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빈틈</a:t>
                </a:r>
                <a:r>
                  <a:rPr lang="en-US" altLang="ko-KR" sz="1800" b="1" dirty="0">
                    <a:solidFill>
                      <a:srgbClr val="FF4B16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]</a:t>
                </a: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이 무엇인지 알기위해서</a:t>
                </a:r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3</a:t>
                </a:r>
                <a:r>
                  <a:rPr lang="ko-KR" altLang="en-US" sz="1800" b="1" dirty="0">
                    <a:solidFill>
                      <a:srgbClr val="C5D6E8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가지 관점으로 고민해보았고</a:t>
                </a:r>
                <a:endParaRPr lang="en-US" altLang="ko-KR" sz="180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90E665-BC0A-479D-9F74-415BFC200293}"/>
                  </a:ext>
                </a:extLst>
              </p:cNvPr>
              <p:cNvSpPr/>
              <p:nvPr/>
            </p:nvSpPr>
            <p:spPr>
              <a:xfrm>
                <a:off x="3256099" y="2099219"/>
                <a:ext cx="5679805" cy="176123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ko-KR" altLang="en-US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보이스피싱 범죄 수법</a:t>
                </a:r>
                <a:endParaRPr lang="en-US" altLang="ko-KR" sz="1800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||</a:t>
                </a:r>
                <a:b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</a:br>
                <a:r>
                  <a:rPr lang="ko-KR" altLang="en-US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금융사용자가 처한 상황</a:t>
                </a:r>
                <a:endParaRPr lang="en-US" altLang="ko-KR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  <a:p>
                <a:pPr algn="ctr"/>
                <a:r>
                  <a:rPr lang="en-US" altLang="ko-KR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</a:t>
                </a:r>
                <a:r>
                  <a:rPr lang="en-US" altLang="ko-KR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|</a:t>
                </a:r>
                <a:br>
                  <a:rPr lang="en-US" altLang="ko-KR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</a:br>
                <a:r>
                  <a:rPr lang="ko-KR" altLang="en-US" sz="1800" b="1" dirty="0">
                    <a:solidFill>
                      <a:srgbClr val="002060"/>
                    </a:solidFill>
                    <a:latin typeface="NanumSquare Bold" pitchFamily="34" charset="0"/>
                    <a:ea typeface="NanumSquare Bold" pitchFamily="34" charset="-122"/>
                    <a:cs typeface="NanumSquare Bold" pitchFamily="34" charset="-120"/>
                  </a:rPr>
                  <a:t>기존 서비스들의 구조</a:t>
                </a:r>
                <a:endParaRPr lang="en-US" altLang="ko-KR" sz="1800" b="1" dirty="0">
                  <a:solidFill>
                    <a:srgbClr val="002060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endParaRPr>
              </a:p>
            </p:txBody>
          </p:sp>
        </p:grpSp>
        <p:sp>
          <p:nvSpPr>
            <p:cNvPr id="92" name="Text 6">
              <a:extLst>
                <a:ext uri="{FF2B5EF4-FFF2-40B4-BE49-F238E27FC236}">
                  <a16:creationId xmlns:a16="http://schemas.microsoft.com/office/drawing/2014/main" id="{C34DFFF6-76BF-45AE-BABA-11BFB608BA20}"/>
                </a:ext>
              </a:extLst>
            </p:cNvPr>
            <p:cNvSpPr txBox="1"/>
            <p:nvPr/>
          </p:nvSpPr>
          <p:spPr>
            <a:xfrm>
              <a:off x="2133600" y="5120555"/>
              <a:ext cx="7924800" cy="8750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그 결과 놓치고 있던 </a:t>
              </a:r>
              <a:r>
                <a:rPr lang="en-US" altLang="ko-KR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[</a:t>
              </a:r>
              <a:r>
                <a:rPr lang="ko-KR" altLang="en-US" sz="2400" dirty="0">
                  <a:solidFill>
                    <a:srgbClr val="0B1F3A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판단력의 빈틈</a:t>
              </a:r>
              <a:r>
                <a:rPr lang="en-US" altLang="ko-KR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]</a:t>
              </a:r>
              <a:r>
                <a:rPr lang="ko-KR" altLang="en-US" sz="24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을 찾을 수 있었습니다</a:t>
              </a:r>
              <a:endParaRPr lang="en-US" altLang="ko-KR" sz="2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</p:grpSp>
      <p:sp>
        <p:nvSpPr>
          <p:cNvPr id="95" name="Shape 8">
            <a:extLst>
              <a:ext uri="{FF2B5EF4-FFF2-40B4-BE49-F238E27FC236}">
                <a16:creationId xmlns:a16="http://schemas.microsoft.com/office/drawing/2014/main" id="{68C2BA43-A16F-4F66-A537-7730674DF8FA}"/>
              </a:ext>
            </a:extLst>
          </p:cNvPr>
          <p:cNvSpPr/>
          <p:nvPr/>
        </p:nvSpPr>
        <p:spPr>
          <a:xfrm>
            <a:off x="2752976" y="5710763"/>
            <a:ext cx="6686048" cy="488848"/>
          </a:xfrm>
          <a:prstGeom prst="roundRect">
            <a:avLst>
              <a:gd name="adj" fmla="val 22222"/>
            </a:avLst>
          </a:prstGeom>
          <a:solidFill>
            <a:srgbClr val="123153"/>
          </a:solidFill>
          <a:ln w="10160">
            <a:solidFill>
              <a:srgbClr val="274F78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기존 안전장치에서 지키지 못한 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47%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...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 우리가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 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놓치고 있는 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[</a:t>
            </a:r>
            <a:r>
              <a:rPr lang="ko-KR" altLang="en-US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빈틈</a:t>
            </a:r>
            <a:r>
              <a:rPr lang="en-US" altLang="ko-KR" sz="1400" b="1" dirty="0">
                <a:solidFill>
                  <a:srgbClr val="FF4B1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]</a:t>
            </a:r>
            <a:r>
              <a:rPr lang="ko-KR" altLang="en-US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이 있는게 아닐까</a:t>
            </a:r>
            <a:r>
              <a:rPr lang="en-US" altLang="ko-KR" sz="1400" b="1" dirty="0">
                <a:solidFill>
                  <a:srgbClr val="C5D6E8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?</a:t>
            </a: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821E1794-6BFA-400B-A00B-DC2A21C61F47}"/>
              </a:ext>
            </a:extLst>
          </p:cNvPr>
          <p:cNvSpPr txBox="1"/>
          <p:nvPr/>
        </p:nvSpPr>
        <p:spPr>
          <a:xfrm>
            <a:off x="547516" y="6501384"/>
            <a:ext cx="6340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*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공공데이터포털 경찰청 보이스피싱 현황 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2025.12.30 / 7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월 보이스피싱 피해액 올해 최저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신종 스캠도 감소세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통합대응단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D65BB-8A0D-46D8-B1B7-715D79AC61DE}"/>
              </a:ext>
            </a:extLst>
          </p:cNvPr>
          <p:cNvSpPr txBox="1"/>
          <p:nvPr/>
        </p:nvSpPr>
        <p:spPr>
          <a:xfrm>
            <a:off x="368017" y="548759"/>
            <a:ext cx="6760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</a:t>
            </a:r>
            <a:r>
              <a:rPr lang="ko-KR" altLang="en-US" sz="11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[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빈틈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]</a:t>
            </a: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무엇인지 찾기위해 살펴본 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피해자 취약성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서비스의 구조</a:t>
            </a:r>
            <a:endParaRPr lang="ko-KR" altLang="en-US" sz="1100" b="1" dirty="0">
              <a:solidFill>
                <a:srgbClr val="0B1F3A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648FDD6-F913-47C1-BCA5-EFF28971D73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0B1F3A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rgbClr val="0B1F3A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8F033F5-72F0-48F5-B4CD-FEEC97CE269F}"/>
              </a:ext>
            </a:extLst>
          </p:cNvPr>
          <p:cNvSpPr txBox="1"/>
          <p:nvPr/>
        </p:nvSpPr>
        <p:spPr>
          <a:xfrm>
            <a:off x="442381" y="810369"/>
            <a:ext cx="10698480" cy="924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경험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경제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디지털 환경의 차이가 서로 다른 취약점을 만들지만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모든 취약점은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‘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오판의 위험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’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과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‘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송금 피해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’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로 이어질 수 있다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33712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256032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2F75CC"/>
                </a:solidFill>
                <a:latin typeface="Pretendard"/>
              </a:rPr>
              <a:t>보이스피싱 피해자 취약성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06984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350" b="1" dirty="0" err="1">
                <a:solidFill>
                  <a:srgbClr val="102A49"/>
                </a:solidFill>
                <a:latin typeface="Pretendard"/>
              </a:rPr>
              <a:t>사람마다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취약한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지점은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다르지만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,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결국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‘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오판의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위험’으로</a:t>
            </a:r>
            <a:r>
              <a:rPr sz="2350" b="1" dirty="0">
                <a:solidFill>
                  <a:srgbClr val="102A49"/>
                </a:solidFill>
                <a:latin typeface="Pretendard"/>
              </a:rPr>
              <a:t> </a:t>
            </a:r>
            <a:r>
              <a:rPr sz="2350" b="1" dirty="0" err="1">
                <a:solidFill>
                  <a:srgbClr val="102A49"/>
                </a:solidFill>
                <a:latin typeface="Pretendard"/>
              </a:rPr>
              <a:t>모인다</a:t>
            </a:r>
            <a:endParaRPr sz="2350" b="1" dirty="0">
              <a:solidFill>
                <a:srgbClr val="102A49"/>
              </a:solidFill>
              <a:latin typeface="Pretendar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078992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67384"/>
                </a:solidFill>
                <a:latin typeface="Pretendard"/>
              </a:rPr>
              <a:t>연령 자체가 원인이라기보다 경험·금융역량·디지털 검증능력·정서상태·과신 등 서로 다른 취약요인이 특정 상황에서 판단을 흔들 수 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3346704" cy="33192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828800"/>
            <a:ext cx="21488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70" b="1">
                <a:solidFill>
                  <a:srgbClr val="102A49"/>
                </a:solidFill>
                <a:latin typeface="Pretendard"/>
              </a:rPr>
              <a:t>2030 · 사회초년생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2148840"/>
            <a:ext cx="1143000" cy="292608"/>
          </a:xfrm>
          <a:prstGeom prst="roundRect">
            <a:avLst>
              <a:gd name="adj" fmla="val 8000"/>
            </a:avLst>
          </a:prstGeom>
          <a:solidFill>
            <a:srgbClr val="FDF6E4"/>
          </a:solidFill>
          <a:ln>
            <a:solidFill>
              <a:srgbClr val="FD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2167128"/>
            <a:ext cx="114300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B47718"/>
                </a:solidFill>
                <a:latin typeface="Pretendard"/>
              </a:rPr>
              <a:t>판단 기준의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60320"/>
            <a:ext cx="2907792" cy="5120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1F2C3C"/>
                </a:solidFill>
                <a:latin typeface="Pretendard"/>
              </a:rPr>
              <a:t>낯선 금융·수사·행정 상황에서
‘정상 절차’의 기준점이 충분하지 않을 수 있음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" y="3172968"/>
            <a:ext cx="2935224" cy="0"/>
          </a:xfrm>
          <a:prstGeom prst="line">
            <a:avLst/>
          </a:prstGeom>
          <a:ln w="1270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" y="3300984"/>
            <a:ext cx="11887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19" b="1">
                <a:solidFill>
                  <a:srgbClr val="2F75CC"/>
                </a:solidFill>
                <a:latin typeface="Pretendard"/>
              </a:rPr>
              <a:t>보조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566160"/>
            <a:ext cx="2880360" cy="612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1F2C3C"/>
                </a:solidFill>
                <a:latin typeface="Pretendard"/>
              </a:rPr>
              <a:t>2024 금융이해력 조사에서
20대 금융이해력은 전체 평균보다 낮은 수준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224528"/>
            <a:ext cx="288036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60" b="0">
                <a:solidFill>
                  <a:srgbClr val="667384"/>
                </a:solidFill>
                <a:latin typeface="Pretendard"/>
              </a:rPr>
              <a:t>※ ‘수사 경험 부족 → 보이스피싱 오판’을
직접 입증한 국내 실증연구는 아직 제한적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4572000"/>
            <a:ext cx="1024128" cy="292608"/>
          </a:xfrm>
          <a:prstGeom prst="roundRect">
            <a:avLst>
              <a:gd name="adj" fmla="val 8000"/>
            </a:avLst>
          </a:prstGeom>
          <a:solidFill>
            <a:srgbClr val="FDF6E4"/>
          </a:solidFill>
          <a:ln>
            <a:solidFill>
              <a:srgbClr val="FD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4590288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B47718"/>
                </a:solidFill>
                <a:latin typeface="Pretendard"/>
              </a:rPr>
              <a:t>근거 수준  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3944" y="1627632"/>
            <a:ext cx="3346704" cy="33192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5112" y="1828800"/>
            <a:ext cx="21488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70" b="1">
                <a:solidFill>
                  <a:srgbClr val="102A49"/>
                </a:solidFill>
                <a:latin typeface="Pretendard"/>
              </a:rPr>
              <a:t>청·중년층 포함 전 연령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2148840"/>
            <a:ext cx="1143000" cy="292608"/>
          </a:xfrm>
          <a:prstGeom prst="roundRect">
            <a:avLst>
              <a:gd name="adj" fmla="val 8000"/>
            </a:avLst>
          </a:prstGeom>
          <a:solidFill>
            <a:srgbClr val="E1EFFF"/>
          </a:solidFill>
          <a:ln>
            <a:solidFill>
              <a:srgbClr val="E1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25112" y="2167128"/>
            <a:ext cx="114300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F75CC"/>
                </a:solidFill>
                <a:latin typeface="Pretendard"/>
              </a:rPr>
              <a:t>과신의 공백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560320"/>
            <a:ext cx="2907792" cy="5120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1F2C3C"/>
                </a:solidFill>
                <a:latin typeface="Pretendard"/>
              </a:rPr>
              <a:t>금융지식이 있어도 자신의 판단을 과신하면
사기 예방·재확인 행동을 생략할 수 있음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25112" y="3172968"/>
            <a:ext cx="2935224" cy="0"/>
          </a:xfrm>
          <a:prstGeom prst="line">
            <a:avLst/>
          </a:prstGeom>
          <a:ln w="1270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325112" y="3300984"/>
            <a:ext cx="11887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19" b="1">
                <a:solidFill>
                  <a:srgbClr val="2F75CC"/>
                </a:solidFill>
                <a:latin typeface="Pretendard"/>
              </a:rPr>
              <a:t>직접 실증 근거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566160"/>
            <a:ext cx="2880360" cy="612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1F2C3C"/>
                </a:solidFill>
                <a:latin typeface="Pretendard"/>
              </a:rPr>
              <a:t>성인 2,000명 분석:
자기 금융지식을 매우 높게 평가한 집단은
그렇지 않은 집단보다 금융사기 피해확률이 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4224528"/>
            <a:ext cx="288036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60" b="0">
                <a:solidFill>
                  <a:srgbClr val="667384"/>
                </a:solidFill>
                <a:latin typeface="Pretendard"/>
              </a:rPr>
              <a:t>금융사기 취약성은 ‘무지’만의 문제가 아니라
정서적 고통·금융역량 부족·불안정 소득 등과도 관련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5" y="4572000"/>
            <a:ext cx="1024128" cy="292608"/>
          </a:xfrm>
          <a:prstGeom prst="roundRect">
            <a:avLst>
              <a:gd name="adj" fmla="val 8000"/>
            </a:avLst>
          </a:prstGeom>
          <a:solidFill>
            <a:srgbClr val="E7F7F1"/>
          </a:solidFill>
          <a:ln>
            <a:solidFill>
              <a:srgbClr val="E7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08775" y="4590288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C7F67"/>
                </a:solidFill>
                <a:latin typeface="Pretendard"/>
              </a:rPr>
              <a:t>근거 수준  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1627632"/>
            <a:ext cx="3346704" cy="33192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82128" y="1828800"/>
            <a:ext cx="21488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70" b="1">
                <a:solidFill>
                  <a:srgbClr val="102A49"/>
                </a:solidFill>
                <a:latin typeface="Pretendard"/>
              </a:rPr>
              <a:t>고령층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8" y="2148840"/>
            <a:ext cx="1143000" cy="292608"/>
          </a:xfrm>
          <a:prstGeom prst="roundRect">
            <a:avLst>
              <a:gd name="adj" fmla="val 8000"/>
            </a:avLst>
          </a:prstGeom>
          <a:solidFill>
            <a:srgbClr val="E1EFFF"/>
          </a:solidFill>
          <a:ln>
            <a:solidFill>
              <a:srgbClr val="E1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82128" y="2167128"/>
            <a:ext cx="1143000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F75CC"/>
                </a:solidFill>
                <a:latin typeface="Pretendard"/>
              </a:rPr>
              <a:t>정보 검증의 공백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8" y="2560320"/>
            <a:ext cx="2907792" cy="5120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1F2C3C"/>
                </a:solidFill>
                <a:latin typeface="Pretendard"/>
              </a:rPr>
              <a:t>디지털 정보를 즉시 탐색·비교·확인하는 역량이
연령 증가와 함께 낮아질 수 있음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82128" y="3172968"/>
            <a:ext cx="2935224" cy="0"/>
          </a:xfrm>
          <a:prstGeom prst="line">
            <a:avLst/>
          </a:prstGeom>
          <a:ln w="1270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82128" y="3300984"/>
            <a:ext cx="11887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19" b="1">
                <a:solidFill>
                  <a:srgbClr val="2F75CC"/>
                </a:solidFill>
                <a:latin typeface="Pretendard"/>
              </a:rPr>
              <a:t>직접·보조 근거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3566160"/>
            <a:ext cx="2880360" cy="612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1F2C3C"/>
                </a:solidFill>
                <a:latin typeface="Pretendard"/>
              </a:rPr>
              <a:t>2025 고령층 디지털역량 연구:
기술·인지·사회 역량 모두 연령별 유의한 차이,
75세 이후 세 영역 모두 뚜렷한 감소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4224528"/>
            <a:ext cx="288036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60" b="0">
                <a:solidFill>
                  <a:srgbClr val="667384"/>
                </a:solidFill>
                <a:latin typeface="Pretendard"/>
              </a:rPr>
              <a:t>2024 금융사기 취약성 연구에서도
고령자는 금융사기 시도 노출 위험요인으로 확인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65792" y="4572000"/>
            <a:ext cx="1024128" cy="292608"/>
          </a:xfrm>
          <a:prstGeom prst="roundRect">
            <a:avLst>
              <a:gd name="adj" fmla="val 8000"/>
            </a:avLst>
          </a:prstGeom>
          <a:solidFill>
            <a:srgbClr val="E7F7F1"/>
          </a:solidFill>
          <a:ln>
            <a:solidFill>
              <a:srgbClr val="E7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65792" y="4590288"/>
            <a:ext cx="1024128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C7F67"/>
                </a:solidFill>
                <a:latin typeface="Pretendard"/>
              </a:rPr>
              <a:t>근거 수준  ◎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40280" y="4956048"/>
            <a:ext cx="0" cy="228600"/>
          </a:xfrm>
          <a:prstGeom prst="line">
            <a:avLst/>
          </a:prstGeom>
          <a:ln w="17780">
            <a:solidFill>
              <a:srgbClr val="2F7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797296" y="4956048"/>
            <a:ext cx="0" cy="228600"/>
          </a:xfrm>
          <a:prstGeom prst="line">
            <a:avLst/>
          </a:prstGeom>
          <a:ln w="17780">
            <a:solidFill>
              <a:srgbClr val="2F7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54312" y="4956048"/>
            <a:ext cx="0" cy="228600"/>
          </a:xfrm>
          <a:prstGeom prst="line">
            <a:avLst/>
          </a:prstGeom>
          <a:ln w="17780">
            <a:solidFill>
              <a:srgbClr val="2F7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40280" y="5184648"/>
            <a:ext cx="7114032" cy="0"/>
          </a:xfrm>
          <a:prstGeom prst="line">
            <a:avLst/>
          </a:prstGeom>
          <a:ln w="17780">
            <a:solidFill>
              <a:srgbClr val="2F7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797296" y="5184648"/>
            <a:ext cx="0" cy="192024"/>
          </a:xfrm>
          <a:prstGeom prst="line">
            <a:avLst/>
          </a:prstGeom>
          <a:ln w="25400">
            <a:solidFill>
              <a:srgbClr val="2F7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50976" y="5340096"/>
            <a:ext cx="10314432" cy="832104"/>
          </a:xfrm>
          <a:prstGeom prst="roundRect">
            <a:avLst>
              <a:gd name="adj" fmla="val 8000"/>
            </a:avLst>
          </a:prstGeom>
          <a:solidFill>
            <a:srgbClr val="102A49"/>
          </a:solidFill>
          <a:ln>
            <a:solidFill>
              <a:srgbClr val="102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207008" y="5513832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60" b="1">
                <a:solidFill>
                  <a:srgbClr val="9CCBFF"/>
                </a:solidFill>
                <a:latin typeface="Pretendard"/>
              </a:rPr>
              <a:t>공통 결론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40280" y="5468112"/>
            <a:ext cx="672084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Pretendard"/>
              </a:rPr>
              <a:t>취약성의 원인은 달라도, ‘독립적으로 검증하기 어려운 순간’이 생긴다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89136" y="5495544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DEFEF"/>
          </a:solidFill>
          <a:ln>
            <a:solidFill>
              <a:srgbClr val="FDE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89136" y="5550408"/>
            <a:ext cx="1737360" cy="2834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20" b="1">
                <a:solidFill>
                  <a:srgbClr val="C64242"/>
                </a:solidFill>
                <a:latin typeface="Pretendard"/>
              </a:rPr>
              <a:t>오판 가능성 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6" y="6327648"/>
            <a:ext cx="1097280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667384"/>
                </a:solidFill>
                <a:latin typeface="Pretendard"/>
              </a:rPr>
              <a:t>핵심 해석  |  피해자를 ‘특정 세대의 낮은 능력’으로 규정하지 않고, 서로 다른 취약요인이 판단·검증의 공백을 만들 수 있다는 구조로 해석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219456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2F75CC"/>
                </a:solidFill>
                <a:latin typeface="Pretendard"/>
              </a:rPr>
              <a:t>근거 검증 · SOURCE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05156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102A49"/>
                </a:solidFill>
                <a:latin typeface="Pretendard"/>
              </a:rPr>
              <a:t>이 장표에서 실제로 말할 수 있는 것 / 아직 말하면 안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9848"/>
            <a:ext cx="10607040" cy="3017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667384"/>
                </a:solidFill>
                <a:latin typeface="Pretendard"/>
              </a:rPr>
              <a:t>통계·논문이 직접 지지하는 주장과, 해석 수준의 주장을 분리해 심사 질문에 대비합니다.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45952" cy="832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64207"/>
            <a:ext cx="2926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C7F67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645920"/>
            <a:ext cx="28346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19" b="1">
                <a:solidFill>
                  <a:srgbClr val="102A49"/>
                </a:solidFill>
                <a:latin typeface="Pretendard"/>
              </a:rPr>
              <a:t>금융사기 취약성은 단일 요인이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8496" y="1636776"/>
            <a:ext cx="4681728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" b="0">
                <a:solidFill>
                  <a:srgbClr val="1F2C3C"/>
                </a:solidFill>
                <a:latin typeface="Pretendard"/>
              </a:rPr>
              <a:t>성인 2,000명 설문 분석: 정서적 고통, 일상 금융역량 부족, 고령, 불안정 소득, 금융지식·과신 등이 관련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05672" y="1673352"/>
            <a:ext cx="1033271" cy="292608"/>
          </a:xfrm>
          <a:prstGeom prst="roundRect">
            <a:avLst>
              <a:gd name="adj" fmla="val 8000"/>
            </a:avLst>
          </a:prstGeom>
          <a:solidFill>
            <a:srgbClr val="E7F7F1"/>
          </a:solidFill>
          <a:ln>
            <a:solidFill>
              <a:srgbClr val="E7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05672" y="1691640"/>
            <a:ext cx="1033271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C7F67"/>
                </a:solidFill>
                <a:latin typeface="Pretendard"/>
              </a:rPr>
              <a:t>직접 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64207"/>
            <a:ext cx="14173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90" b="0">
                <a:solidFill>
                  <a:srgbClr val="667384"/>
                </a:solidFill>
                <a:latin typeface="Pretendard"/>
              </a:rPr>
              <a:t>한진수(2024), 시민교육연구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68880"/>
            <a:ext cx="11045952" cy="832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78608"/>
            <a:ext cx="2926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C7F67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560320"/>
            <a:ext cx="28346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19" b="1">
                <a:solidFill>
                  <a:srgbClr val="102A49"/>
                </a:solidFill>
                <a:latin typeface="Pretendard"/>
              </a:rPr>
              <a:t>금융지식이 높다고 안전한 것도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8496" y="2551176"/>
            <a:ext cx="4681728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" b="0">
                <a:solidFill>
                  <a:srgbClr val="1F2C3C"/>
                </a:solidFill>
                <a:latin typeface="Pretendard"/>
              </a:rPr>
              <a:t>자기 금융지식을 매우 높게 평가한 사람은 예방 노력을 소홀히 해 금융사기 피해자가 될 확률이 더 높게 나타남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05672" y="2587752"/>
            <a:ext cx="1033271" cy="292608"/>
          </a:xfrm>
          <a:prstGeom prst="roundRect">
            <a:avLst>
              <a:gd name="adj" fmla="val 8000"/>
            </a:avLst>
          </a:prstGeom>
          <a:solidFill>
            <a:srgbClr val="E7F7F1"/>
          </a:solidFill>
          <a:ln>
            <a:solidFill>
              <a:srgbClr val="E7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05672" y="2606040"/>
            <a:ext cx="1033271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C7F67"/>
                </a:solidFill>
                <a:latin typeface="Pretendard"/>
              </a:rPr>
              <a:t>직접 지지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578608"/>
            <a:ext cx="14173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90" b="0">
                <a:solidFill>
                  <a:srgbClr val="667384"/>
                </a:solidFill>
                <a:latin typeface="Pretendard"/>
              </a:rPr>
              <a:t>한진수(2024)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383280"/>
            <a:ext cx="11045952" cy="832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3493008"/>
            <a:ext cx="2926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C7F67"/>
                </a:solidFill>
                <a:latin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3474720"/>
            <a:ext cx="28346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19" b="1">
                <a:solidFill>
                  <a:srgbClr val="102A49"/>
                </a:solidFill>
                <a:latin typeface="Pretendard"/>
              </a:rPr>
              <a:t>고령층은 디지털 검증 역량에 차이가 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3465576"/>
            <a:ext cx="4681728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" b="0">
                <a:solidFill>
                  <a:srgbClr val="1F2C3C"/>
                </a:solidFill>
                <a:latin typeface="Pretendard"/>
              </a:rPr>
              <a:t>고령층 디지털역량의 기술·인지·사회 요인 모두 연령별 유의한 차이, 75세 이후 뚜렷한 감소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672" y="3502152"/>
            <a:ext cx="1033271" cy="292608"/>
          </a:xfrm>
          <a:prstGeom prst="roundRect">
            <a:avLst>
              <a:gd name="adj" fmla="val 8000"/>
            </a:avLst>
          </a:prstGeom>
          <a:solidFill>
            <a:srgbClr val="E7F7F1"/>
          </a:solidFill>
          <a:ln>
            <a:solidFill>
              <a:srgbClr val="E7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05672" y="3520440"/>
            <a:ext cx="1033271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C7F67"/>
                </a:solidFill>
                <a:latin typeface="Pretendard"/>
              </a:rPr>
              <a:t>직접 지지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493008"/>
            <a:ext cx="14173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90" b="0">
                <a:solidFill>
                  <a:srgbClr val="667384"/>
                </a:solidFill>
                <a:latin typeface="Pretendard"/>
              </a:rPr>
              <a:t>최미정·유병준(2025)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297680"/>
            <a:ext cx="11045952" cy="832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407408"/>
            <a:ext cx="2926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B47718"/>
                </a:solidFill>
                <a:latin typeface="Pretendar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4389120"/>
            <a:ext cx="28346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19" b="1">
                <a:solidFill>
                  <a:srgbClr val="102A49"/>
                </a:solidFill>
                <a:latin typeface="Pretendard"/>
              </a:rPr>
              <a:t>20대의 ‘수사 경험 부족’이 보이스피싱 오판을 만든다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8496" y="4379976"/>
            <a:ext cx="4681728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" b="0">
                <a:solidFill>
                  <a:srgbClr val="1F2C3C"/>
                </a:solidFill>
                <a:latin typeface="Pretendard"/>
              </a:rPr>
              <a:t>현재 확보한 국내 자료만으로 이 인과를 직접 입증하기는 어려움. 금융이해력·사회초년생 연구는 보조근거로만 사용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05672" y="4416552"/>
            <a:ext cx="1033271" cy="292608"/>
          </a:xfrm>
          <a:prstGeom prst="roundRect">
            <a:avLst>
              <a:gd name="adj" fmla="val 8000"/>
            </a:avLst>
          </a:prstGeom>
          <a:solidFill>
            <a:srgbClr val="FDF6E4"/>
          </a:solidFill>
          <a:ln>
            <a:solidFill>
              <a:srgbClr val="FD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05672" y="4434840"/>
            <a:ext cx="1033271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B47718"/>
                </a:solidFill>
                <a:latin typeface="Pretendard"/>
              </a:rPr>
              <a:t>직접근거 부족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4407408"/>
            <a:ext cx="14173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90" b="0">
                <a:solidFill>
                  <a:srgbClr val="667384"/>
                </a:solidFill>
                <a:latin typeface="Pretendard"/>
              </a:rPr>
              <a:t>한국은행·금감원(2025) 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212080"/>
            <a:ext cx="11045952" cy="832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" y="5321808"/>
            <a:ext cx="292608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F75CC"/>
                </a:solidFill>
                <a:latin typeface="Pretendard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5303520"/>
            <a:ext cx="283464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19" b="1">
                <a:solidFill>
                  <a:srgbClr val="102A49"/>
                </a:solidFill>
                <a:latin typeface="Pretendard"/>
              </a:rPr>
              <a:t>보이스피싱은 피해자를 고립시키고 판단을 흔든다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8496" y="5294376"/>
            <a:ext cx="4681728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" b="0">
                <a:solidFill>
                  <a:srgbClr val="1F2C3C"/>
                </a:solidFill>
                <a:latin typeface="Pretendard"/>
              </a:rPr>
              <a:t>실제 수사기관 사칭형 대화 분석에서 사회적 고립·수직관계 강화가 단계적으로 확인됨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05672" y="5330952"/>
            <a:ext cx="1033271" cy="292608"/>
          </a:xfrm>
          <a:prstGeom prst="roundRect">
            <a:avLst>
              <a:gd name="adj" fmla="val 8000"/>
            </a:avLst>
          </a:prstGeom>
          <a:solidFill>
            <a:srgbClr val="E1EFFF"/>
          </a:solidFill>
          <a:ln>
            <a:solidFill>
              <a:srgbClr val="E1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05672" y="5349240"/>
            <a:ext cx="1033271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40" b="1">
                <a:solidFill>
                  <a:srgbClr val="2F75CC"/>
                </a:solidFill>
                <a:latin typeface="Pretendard"/>
              </a:rPr>
              <a:t>다음 페이지용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5321808"/>
            <a:ext cx="141732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90" b="0">
                <a:solidFill>
                  <a:srgbClr val="667384"/>
                </a:solidFill>
                <a:latin typeface="Pretendard"/>
              </a:rPr>
              <a:t>배승희 외(2023) / 경찰대학 연구(2024)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6245352"/>
            <a:ext cx="11045952" cy="347472"/>
          </a:xfrm>
          <a:prstGeom prst="roundRect">
            <a:avLst>
              <a:gd name="adj" fmla="val 8000"/>
            </a:avLst>
          </a:prstGeom>
          <a:solidFill>
            <a:srgbClr val="FDEFEF"/>
          </a:solidFill>
          <a:ln>
            <a:solidFill>
              <a:srgbClr val="FDE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9808" y="6309360"/>
            <a:ext cx="1060704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19" b="1">
                <a:solidFill>
                  <a:srgbClr val="C64242"/>
                </a:solidFill>
                <a:latin typeface="Pretendard"/>
              </a:rPr>
              <a:t>PPT 원칙  |  ‘연령 = 원인’으로 단정하지 않고, 연령은 취약성이 나타날 수 있는 대표 맥락으로만 사용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D65BB-8A0D-46D8-B1B7-715D79AC61DE}"/>
              </a:ext>
            </a:extLst>
          </p:cNvPr>
          <p:cNvSpPr txBox="1"/>
          <p:nvPr/>
        </p:nvSpPr>
        <p:spPr>
          <a:xfrm>
            <a:off x="368017" y="548759"/>
            <a:ext cx="6760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</a:t>
            </a:r>
            <a:r>
              <a:rPr lang="ko-KR" altLang="en-US" sz="11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[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빈틈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]</a:t>
            </a: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무엇인지 찾기위해 살펴본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피해자 취약성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서비스의 구조</a:t>
            </a:r>
            <a:endParaRPr lang="ko-KR" altLang="en-US" sz="1100" b="1" dirty="0">
              <a:solidFill>
                <a:srgbClr val="0B1F3A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648FDD6-F913-47C1-BCA5-EFF28971D73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0B1F3A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rgbClr val="0B1F3A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8F033F5-72F0-48F5-B4CD-FEEC97CE269F}"/>
              </a:ext>
            </a:extLst>
          </p:cNvPr>
          <p:cNvSpPr txBox="1"/>
          <p:nvPr/>
        </p:nvSpPr>
        <p:spPr>
          <a:xfrm>
            <a:off x="442380" y="810369"/>
            <a:ext cx="11749619" cy="924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범죄자들은 ㅇ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ㅇ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ㅇ 등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판단 오류 유발 전략을 활용해서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--&gt;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거짓 정보뿐만 아니라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거짓 판단을 유도한다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5801E1-876F-4A97-9E09-5BAE856D4B50}"/>
              </a:ext>
            </a:extLst>
          </p:cNvPr>
          <p:cNvSpPr txBox="1"/>
          <p:nvPr/>
        </p:nvSpPr>
        <p:spPr>
          <a:xfrm>
            <a:off x="282980" y="1513565"/>
            <a:ext cx="11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FF4B16"/>
                </a:solidFill>
              </a:rPr>
              <a:t>범죄자들이 금융소비자들의 심리적 취약점을 이용해서 </a:t>
            </a:r>
            <a:r>
              <a:rPr lang="en-US" altLang="ko-KR" sz="1400" dirty="0">
                <a:solidFill>
                  <a:srgbClr val="FF4B16"/>
                </a:solidFill>
              </a:rPr>
              <a:t>… </a:t>
            </a:r>
            <a:r>
              <a:rPr lang="ko-KR" altLang="en-US" sz="1400" dirty="0">
                <a:solidFill>
                  <a:srgbClr val="FF4B16"/>
                </a:solidFill>
              </a:rPr>
              <a:t>사칭과 심리장악전략들 사용 </a:t>
            </a:r>
            <a:r>
              <a:rPr lang="en-US" altLang="ko-KR" sz="1400" dirty="0">
                <a:solidFill>
                  <a:srgbClr val="FF4B16"/>
                </a:solidFill>
              </a:rPr>
              <a:t>-&gt;</a:t>
            </a:r>
            <a:r>
              <a:rPr lang="ko-KR" altLang="en-US" sz="1400" dirty="0">
                <a:solidFill>
                  <a:srgbClr val="FF4B16"/>
                </a:solidFill>
              </a:rPr>
              <a:t> 신뢰</a:t>
            </a:r>
            <a:r>
              <a:rPr lang="en-US" altLang="ko-KR" sz="1400" dirty="0">
                <a:solidFill>
                  <a:srgbClr val="FF4B16"/>
                </a:solidFill>
              </a:rPr>
              <a:t>, </a:t>
            </a:r>
            <a:r>
              <a:rPr lang="ko-KR" altLang="en-US" sz="1400" dirty="0">
                <a:solidFill>
                  <a:srgbClr val="FF4B16"/>
                </a:solidFill>
              </a:rPr>
              <a:t>권위 등</a:t>
            </a:r>
            <a:r>
              <a:rPr lang="en-US" altLang="ko-KR" sz="1400" dirty="0">
                <a:solidFill>
                  <a:srgbClr val="FF4B16"/>
                </a:solidFill>
              </a:rPr>
              <a:t>(</a:t>
            </a:r>
            <a:r>
              <a:rPr lang="ko-KR" altLang="en-US" sz="1400" dirty="0">
                <a:solidFill>
                  <a:srgbClr val="FF4B16"/>
                </a:solidFill>
              </a:rPr>
              <a:t>진짜인가</a:t>
            </a:r>
            <a:r>
              <a:rPr lang="en-US" altLang="ko-KR" sz="1400" dirty="0">
                <a:solidFill>
                  <a:srgbClr val="FF4B16"/>
                </a:solidFill>
              </a:rPr>
              <a:t>? </a:t>
            </a:r>
            <a:r>
              <a:rPr lang="ko-KR" altLang="en-US" sz="1400" dirty="0">
                <a:solidFill>
                  <a:srgbClr val="FF4B16"/>
                </a:solidFill>
              </a:rPr>
              <a:t>믿게되는</a:t>
            </a:r>
            <a:r>
              <a:rPr lang="en-US" altLang="ko-KR" sz="1400" dirty="0">
                <a:solidFill>
                  <a:srgbClr val="FF4B16"/>
                </a:solidFill>
              </a:rPr>
              <a:t>…)</a:t>
            </a:r>
            <a:r>
              <a:rPr lang="ko-KR" altLang="en-US" sz="1400" dirty="0">
                <a:solidFill>
                  <a:srgbClr val="FF4B16"/>
                </a:solidFill>
              </a:rPr>
              <a:t> </a:t>
            </a:r>
            <a:r>
              <a:rPr lang="en-US" altLang="ko-KR" sz="1400" dirty="0">
                <a:solidFill>
                  <a:srgbClr val="FF4B16"/>
                </a:solidFill>
              </a:rPr>
              <a:t>-&gt; </a:t>
            </a:r>
            <a:r>
              <a:rPr lang="ko-KR" altLang="en-US" sz="1400" dirty="0">
                <a:solidFill>
                  <a:srgbClr val="FF4B16"/>
                </a:solidFill>
              </a:rPr>
              <a:t>정보비대칭 </a:t>
            </a:r>
            <a:r>
              <a:rPr lang="en-US" altLang="ko-KR" sz="1400" dirty="0">
                <a:solidFill>
                  <a:srgbClr val="FF4B16"/>
                </a:solidFill>
              </a:rPr>
              <a:t>-&gt; </a:t>
            </a:r>
            <a:r>
              <a:rPr lang="ko-KR" altLang="en-US" sz="1400" dirty="0">
                <a:solidFill>
                  <a:srgbClr val="FF4B16"/>
                </a:solidFill>
              </a:rPr>
              <a:t>주도권 가짐 </a:t>
            </a:r>
            <a:r>
              <a:rPr lang="en-US" altLang="ko-KR" sz="1400" dirty="0">
                <a:solidFill>
                  <a:srgbClr val="FF4B16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olidFill>
                  <a:srgbClr val="FF4B16"/>
                </a:solidFill>
              </a:rPr>
              <a:t>판단 오류 유발</a:t>
            </a:r>
            <a:r>
              <a:rPr lang="en-US" altLang="ko-KR" sz="1400" dirty="0">
                <a:solidFill>
                  <a:srgbClr val="FF4B16"/>
                </a:solidFill>
              </a:rPr>
              <a:t> -&gt; </a:t>
            </a:r>
            <a:r>
              <a:rPr lang="ko-KR" altLang="en-US" sz="1400" dirty="0">
                <a:solidFill>
                  <a:srgbClr val="FF4B16"/>
                </a:solidFill>
              </a:rPr>
              <a:t>송금으로 이어짐</a:t>
            </a:r>
            <a:r>
              <a:rPr lang="en-US" altLang="ko-KR" sz="1400" dirty="0">
                <a:solidFill>
                  <a:srgbClr val="FF4B16"/>
                </a:solidFill>
              </a:rPr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53E49CC-01A3-4C12-8115-824B6B93331B}"/>
              </a:ext>
            </a:extLst>
          </p:cNvPr>
          <p:cNvGrpSpPr/>
          <p:nvPr/>
        </p:nvGrpSpPr>
        <p:grpSpPr>
          <a:xfrm>
            <a:off x="1141677" y="2794776"/>
            <a:ext cx="9737946" cy="4021452"/>
            <a:chOff x="176683" y="1817488"/>
            <a:chExt cx="11285265" cy="466044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88FB505-D7D9-4F5E-B6FE-ED7BCC4C71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12390" r="50118"/>
            <a:stretch/>
          </p:blipFill>
          <p:spPr>
            <a:xfrm>
              <a:off x="7341942" y="2135361"/>
              <a:ext cx="3657451" cy="200095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CE14435-203B-46B7-BC9E-EDD4A8514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0185"/>
            <a:stretch/>
          </p:blipFill>
          <p:spPr>
            <a:xfrm>
              <a:off x="3168426" y="1817488"/>
              <a:ext cx="4032049" cy="232446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0D70E39-6514-4AE0-A474-8D6CA0E37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3458" y="4271174"/>
              <a:ext cx="7332133" cy="2000954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CCA7AE-645B-46C2-B48F-63B684B87FE9}"/>
                </a:ext>
              </a:extLst>
            </p:cNvPr>
            <p:cNvGrpSpPr/>
            <p:nvPr/>
          </p:nvGrpSpPr>
          <p:grpSpPr>
            <a:xfrm>
              <a:off x="8025350" y="4414130"/>
              <a:ext cx="3436598" cy="2063802"/>
              <a:chOff x="383814" y="2377815"/>
              <a:chExt cx="3436598" cy="2063802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87B3F6B-9758-42DD-B383-4F7E9306EB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3814" y="2377815"/>
                <a:ext cx="3436598" cy="2063802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DF5D2A-BAD7-4D50-8B69-04AE70A0FA89}"/>
                  </a:ext>
                </a:extLst>
              </p:cNvPr>
              <p:cNvSpPr/>
              <p:nvPr/>
            </p:nvSpPr>
            <p:spPr>
              <a:xfrm>
                <a:off x="1866617" y="3297338"/>
                <a:ext cx="1797333" cy="826090"/>
              </a:xfrm>
              <a:prstGeom prst="rect">
                <a:avLst/>
              </a:prstGeom>
              <a:solidFill>
                <a:srgbClr val="FFFF00"/>
              </a:solidFill>
              <a:ln w="12700">
                <a:solidFill>
                  <a:srgbClr val="0E274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/>
                  <a:t>Top4 </a:t>
                </a:r>
                <a:r>
                  <a:rPr lang="ko-KR" altLang="en-US" sz="800" dirty="0"/>
                  <a:t>은행</a:t>
                </a:r>
                <a:r>
                  <a:rPr lang="en-US" altLang="ko-KR" sz="800" dirty="0"/>
                  <a:t>,</a:t>
                </a:r>
                <a:r>
                  <a:rPr lang="ko-KR" altLang="en-US" sz="800" dirty="0"/>
                  <a:t>검찰</a:t>
                </a:r>
                <a:r>
                  <a:rPr lang="en-US" altLang="ko-KR" sz="800" dirty="0"/>
                  <a:t>,</a:t>
                </a:r>
                <a:r>
                  <a:rPr lang="ko-KR" altLang="en-US" sz="800" dirty="0"/>
                  <a:t>카드사</a:t>
                </a:r>
                <a:r>
                  <a:rPr lang="en-US" altLang="ko-KR" sz="800" dirty="0"/>
                  <a:t>,</a:t>
                </a:r>
                <a:r>
                  <a:rPr lang="ko-KR" altLang="en-US" sz="800" dirty="0"/>
                  <a:t>경찰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/>
                  <a:t>-&gt; </a:t>
                </a:r>
                <a:r>
                  <a:rPr lang="ko-KR" altLang="en-US" sz="800" dirty="0"/>
                  <a:t>권위와 신뢰 형성</a:t>
                </a:r>
                <a:r>
                  <a:rPr lang="en-US" altLang="ko-KR" sz="800" dirty="0"/>
                  <a:t>…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FD8BFC2-1FCC-4DE1-A8D4-A176EB4CFF15}"/>
                </a:ext>
              </a:extLst>
            </p:cNvPr>
            <p:cNvSpPr/>
            <p:nvPr/>
          </p:nvSpPr>
          <p:spPr>
            <a:xfrm>
              <a:off x="4800196" y="2677086"/>
              <a:ext cx="1619671" cy="694428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ko-KR" altLang="en-US" sz="800" dirty="0"/>
                <a:t>거의 대부분 이벤트에서</a:t>
              </a:r>
              <a:endParaRPr lang="en-US" altLang="ko-KR" sz="800" dirty="0"/>
            </a:p>
            <a:p>
              <a:pPr algn="ctr"/>
              <a:r>
                <a:rPr lang="ko-KR" altLang="en-US" sz="800" dirty="0"/>
                <a:t>심리 전략 사용</a:t>
              </a:r>
              <a:r>
                <a:rPr lang="en-US" altLang="ko-KR" sz="800" dirty="0"/>
                <a:t>…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41B198-FEB5-4455-991F-3BA93E6F7292}"/>
                </a:ext>
              </a:extLst>
            </p:cNvPr>
            <p:cNvSpPr/>
            <p:nvPr/>
          </p:nvSpPr>
          <p:spPr>
            <a:xfrm>
              <a:off x="9193418" y="3178736"/>
              <a:ext cx="1619671" cy="694428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ko-KR" altLang="en-US" sz="800" dirty="0"/>
                <a:t>심리전략은 이런것들을 주로 쓰더라</a:t>
              </a:r>
              <a:endParaRPr lang="en-US" altLang="ko-KR" sz="800" dirty="0"/>
            </a:p>
          </p:txBody>
        </p:sp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F2505A6D-9977-4EA2-87BD-DD2519AC03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683" y="2015551"/>
              <a:ext cx="3237153" cy="1928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CA4099F-3CBD-4CF1-B145-CB7AFA40823F}"/>
                </a:ext>
              </a:extLst>
            </p:cNvPr>
            <p:cNvSpPr/>
            <p:nvPr/>
          </p:nvSpPr>
          <p:spPr>
            <a:xfrm>
              <a:off x="1393091" y="4924436"/>
              <a:ext cx="2807973" cy="909895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ko-KR" altLang="en-US" sz="800" dirty="0"/>
                <a:t>우리가 선별한 </a:t>
              </a:r>
              <a:r>
                <a:rPr lang="en-US" altLang="ko-KR" sz="800" dirty="0"/>
                <a:t>4</a:t>
              </a:r>
              <a:r>
                <a:rPr lang="ko-KR" altLang="en-US" sz="800" dirty="0"/>
                <a:t>대 이벤트 중에</a:t>
              </a:r>
              <a:endParaRPr lang="en-US" altLang="ko-KR" sz="800" dirty="0"/>
            </a:p>
            <a:p>
              <a:pPr algn="ctr"/>
              <a:r>
                <a:rPr lang="ko-KR" altLang="en-US" sz="800" dirty="0"/>
                <a:t>심리 전략</a:t>
              </a:r>
              <a:r>
                <a:rPr lang="en-US" altLang="ko-KR" sz="800" dirty="0"/>
                <a:t>, </a:t>
              </a:r>
              <a:r>
                <a:rPr lang="ko-KR" altLang="en-US" sz="800" dirty="0"/>
                <a:t>사칭이 다른 이벤트들보다</a:t>
              </a:r>
              <a:endParaRPr lang="en-US" altLang="ko-KR" sz="800" dirty="0"/>
            </a:p>
            <a:p>
              <a:pPr algn="ctr"/>
              <a:r>
                <a:rPr lang="ko-KR" altLang="en-US" sz="800" dirty="0"/>
                <a:t>먼저 나오려고 하는 경향이 있다</a:t>
              </a:r>
              <a:r>
                <a:rPr lang="en-US" altLang="ko-KR" sz="800" dirty="0"/>
                <a:t>.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98C73B9-0997-4F15-9A23-9273C4831821}"/>
                </a:ext>
              </a:extLst>
            </p:cNvPr>
            <p:cNvSpPr/>
            <p:nvPr/>
          </p:nvSpPr>
          <p:spPr>
            <a:xfrm>
              <a:off x="1692648" y="3106252"/>
              <a:ext cx="1637148" cy="515169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ko-KR" altLang="en-US" sz="800" dirty="0"/>
                <a:t>우리가 선별한 </a:t>
              </a:r>
              <a:r>
                <a:rPr lang="en-US" altLang="ko-KR" sz="800" dirty="0"/>
                <a:t>4</a:t>
              </a:r>
              <a:r>
                <a:rPr lang="ko-KR" altLang="en-US" sz="800" dirty="0"/>
                <a:t>대 이벤트</a:t>
              </a:r>
              <a:r>
                <a:rPr lang="en-US" altLang="ko-KR" sz="800" dirty="0"/>
                <a:t>…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5EF006E-D448-479C-9A67-A4466EE5B558}"/>
              </a:ext>
            </a:extLst>
          </p:cNvPr>
          <p:cNvSpPr txBox="1"/>
          <p:nvPr/>
        </p:nvSpPr>
        <p:spPr>
          <a:xfrm>
            <a:off x="368017" y="2097655"/>
            <a:ext cx="842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판단 환경 장악 신호가 하나라도 나타난 사건 →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67.1%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어떤 방식으로 판단 환경을 장악하는지 → 긴급성 66.4%, 고립 4.3% 등 </a:t>
            </a:r>
          </a:p>
        </p:txBody>
      </p:sp>
    </p:spTree>
    <p:extLst>
      <p:ext uri="{BB962C8B-B14F-4D97-AF65-F5344CB8AC3E}">
        <p14:creationId xmlns:p14="http://schemas.microsoft.com/office/powerpoint/2010/main" val="1302290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D65BB-8A0D-46D8-B1B7-715D79AC61DE}"/>
              </a:ext>
            </a:extLst>
          </p:cNvPr>
          <p:cNvSpPr txBox="1"/>
          <p:nvPr/>
        </p:nvSpPr>
        <p:spPr>
          <a:xfrm>
            <a:off x="368017" y="548759"/>
            <a:ext cx="6760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</a:t>
            </a:r>
            <a:r>
              <a:rPr lang="ko-KR" altLang="en-US" sz="11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[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빈틈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]</a:t>
            </a: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무엇인지 찾기위해 살펴본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피해자 취약성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서비스의 구조</a:t>
            </a: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648FDD6-F913-47C1-BCA5-EFF28971D73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0B1F3A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rgbClr val="0B1F3A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8F033F5-72F0-48F5-B4CD-FEEC97CE269F}"/>
              </a:ext>
            </a:extLst>
          </p:cNvPr>
          <p:cNvSpPr txBox="1"/>
          <p:nvPr/>
        </p:nvSpPr>
        <p:spPr>
          <a:xfrm>
            <a:off x="442381" y="810369"/>
            <a:ext cx="10698480" cy="924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기존의 장치들은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보호장치가 작동해도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피해자가 상황을 받아들이고 다시 판단해야 하는 순간이 남아 있다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</a:t>
            </a:r>
          </a:p>
          <a:p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199838-2682-46EC-A681-052257E1942F}"/>
              </a:ext>
            </a:extLst>
          </p:cNvPr>
          <p:cNvSpPr txBox="1"/>
          <p:nvPr/>
        </p:nvSpPr>
        <p:spPr>
          <a:xfrm>
            <a:off x="368017" y="1648765"/>
            <a:ext cx="11381602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이건 **“모든 기존 서비스가 피해자에게 맡긴다”**는 과장된 주장이 아님.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실제 조사에서는 세 가지가 동시에 확인됐음.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① AI가 위험을 알려줘도 사용자가 판단하는 경우가 있다.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SKT는 에이닷 전화의 역할을 공식적으로 **“사용자의 판단을 돕는 역할”**이라고 설명해. 통화 중 AI가 위험을 감지하면 경고를 표시하지만, 사용자는 경고 팝업에서 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보이스피싱 아님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을 선택할 수도 있어. 즉 AI 탐지 결과와 사용자의 최종 인식은 동일하지 않을 수 있어.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② 업계도 ‘혼자 대응하기 어려움’을 실제 문제로 보고 있다.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SKT는 가족 케어를 발표하면서 보이스피싱이 피해자를 심리적으로 압박해 **“혼자 대응하기 어렵다는 특성”**이 있다고 설명했고, 그래서 보호자에게 위험 상황을 알리고 신속한 개입을 유도한다고 밝혔어. 이건 우리가 임의로 만든 문제의식이 아니라 실제 서비스 사업자도 명시한 문제야.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③ 실제로 피해자가 송금 직전까지 사기를 믿었던 사례도 있다.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금융위원회가 공개한 실제 탐지사례 기반 예시에서 A씨는 검찰 사칭범의 요구를 따라 원격제어 앱 설치, 신규 휴대폰 개통까지 하고 ‘안전계좌’ 송금을 시도했어. 은행이 여러 위험정보를 확인해 이체를 중단하고 설명한 뒤에야 A씨가 자신이 속았다는 사실을 인지했어.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여기에 FDS 사례에서도 70세 고객의 거래가 지연된 뒤 금융회사 담당자가 직접 접촉해 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검찰사칭 보이스피싱을 인지시킨 사례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 확인.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세 가지를 합치면 우리가 증명할 수 있는 건 충분히 명확.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86E24F-FBD6-4632-AFAB-6C60AE7729BB}"/>
              </a:ext>
            </a:extLst>
          </p:cNvPr>
          <p:cNvSpPr txBox="1"/>
          <p:nvPr/>
        </p:nvSpPr>
        <p:spPr>
          <a:xfrm>
            <a:off x="368017" y="4368701"/>
            <a:ext cx="1013805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판단 지원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AI는 위험을 탐지하고 경고해 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사용자의 판단을 돕는다.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판단 흔들림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보이스피싱의 심리적 압박으로 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혼자 대응하기 어려운 상황이 실제로 존재한다.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재판단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피해자가 이미 사기범의 설명을 믿은 상황에서도 </a:t>
            </a: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외부 개입 이후 판단이 바뀐 실제 사례가 있다.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여기서 저는 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혼자 판단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보다 **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재판단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**이라는 단어를 넣는 걸 추천.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왜냐하면 조사 결과 기존 시스템도 적극 개입하니까,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피해자는 항상 혼자 판단한다.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보다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피해자는 보호 과정에서도 경고를 받아들이고 상황을 재판단해야 하는 순간이 존재한다.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7007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>
            <a:extLst>
              <a:ext uri="{FF2B5EF4-FFF2-40B4-BE49-F238E27FC236}">
                <a16:creationId xmlns:a16="http://schemas.microsoft.com/office/drawing/2014/main" id="{2570377A-9C9C-4F93-AA5D-8C790DB41170}"/>
              </a:ext>
            </a:extLst>
          </p:cNvPr>
          <p:cNvSpPr txBox="1"/>
          <p:nvPr/>
        </p:nvSpPr>
        <p:spPr>
          <a:xfrm>
            <a:off x="451906" y="1000869"/>
            <a:ext cx="10698480" cy="2247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이렇게 판단 오류의 취약성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+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범죄자들의 판단 오류 유발 전략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+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현재의 서비스 구조적 빈틈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이러한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3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가지를 종합적으로 볼 때 뽑아낼 수 있는 인사이트</a:t>
            </a:r>
            <a:b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</a:b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=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통화 등 환경에 노출된 당사자가 직접 판단하게 하면 안된다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..</a:t>
            </a:r>
          </a:p>
          <a:p>
            <a:pPr marL="342900" indent="-342900">
              <a:buFont typeface="Wingdings" panose="05000000000000000000" pitchFamily="2" charset="2"/>
              <a:buChar char="à"/>
            </a:pP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(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우리 서비스 방향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)</a:t>
            </a:r>
            <a:b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</a:b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보조적인 경고보다는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선재적 차단과 제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3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자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(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타인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=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송금 승인에 대한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2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차 검증하는 신뢰인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의심되는 정황이 정리된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LLM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레포트를 받아보고 조치 취할 수 있는 은행직원 등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)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의 개입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및 지원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!!!</a:t>
            </a:r>
          </a:p>
        </p:txBody>
      </p:sp>
    </p:spTree>
    <p:extLst>
      <p:ext uri="{BB962C8B-B14F-4D97-AF65-F5344CB8AC3E}">
        <p14:creationId xmlns:p14="http://schemas.microsoft.com/office/powerpoint/2010/main" val="892806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8C3BE6-DF2C-4FC3-B77A-879D69519C22}"/>
              </a:ext>
            </a:extLst>
          </p:cNvPr>
          <p:cNvSpPr/>
          <p:nvPr/>
        </p:nvSpPr>
        <p:spPr>
          <a:xfrm>
            <a:off x="237510" y="837226"/>
            <a:ext cx="11850330" cy="4772025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금융소비자의 피해 취약성에 대한 내용</a:t>
            </a:r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(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고령층의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취약성을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단순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“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주의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부족”이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아니라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정보·경험·검증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구조의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차이로</a:t>
            </a:r>
            <a:r>
              <a:rPr lang="en-US" altLang="ko-KR" sz="160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60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설명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)</a:t>
            </a:r>
          </a:p>
          <a:p>
            <a:pPr algn="ctr"/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2030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은 금융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/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경찰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/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검찰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/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수사 경험 부족 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-&gt;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판단 기준 없어 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-&gt;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신뢰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,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권위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/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압박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,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정보 고립 등에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… -&gt;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취약 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-&gt;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잘못된 결정할 수 있음</a:t>
            </a:r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고령층은 금융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/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디지털리터러시 능력 부족으로 인한 정보 확인 어려움 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-&gt;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신뢰</a:t>
            </a:r>
            <a:r>
              <a:rPr lang="en-US" altLang="ko-KR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, </a:t>
            </a:r>
            <a:r>
              <a:rPr lang="ko-KR" altLang="en-US" sz="16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</a:rPr>
              <a:t>정보 고립</a:t>
            </a:r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  <a:p>
            <a:pPr algn="ctr"/>
            <a:endParaRPr lang="en-US" altLang="ko-KR" sz="1600" b="1" dirty="0">
              <a:solidFill>
                <a:srgbClr val="FF4B16"/>
              </a:solidFill>
              <a:latin typeface="NanumSquare Bold" pitchFamily="34" charset="0"/>
              <a:ea typeface="NanumSquare Bold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6007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31F25FBC-A359-4E73-8FE3-52D11C287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565" y="5901138"/>
            <a:ext cx="1923972" cy="2134484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6C99118-FC4C-5A6A-8A75-0F8CC1906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6089904"/>
            <a:ext cx="2093976" cy="195681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D3B44F9A-FC0B-6BE3-7793-115413463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4075" y="6411865"/>
            <a:ext cx="2148245" cy="148929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고령층의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취약성을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단순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“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주의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부족”이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아니라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정보·경험·검증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구조의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차이로</a:t>
            </a: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230" dirty="0" err="1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2030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</a:t>
            </a:r>
            <a:r>
              <a:rPr lang="ko-KR" altLang="en-US" sz="2000" b="1" dirty="0" err="1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ㅏㅡㅑㅐㅡㅑㅓㅡㅏㅐ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975104" y="2121408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</a:t>
            </a:r>
            <a:r>
              <a:rPr lang="en-US" sz="122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있다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516368" y="2039112"/>
            <a:ext cx="3324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A9580A1-36E3-446C-1162-CC5ECA5E1E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793" y="6291072"/>
            <a:ext cx="2198979" cy="1554480"/>
          </a:xfrm>
          <a:prstGeom prst="rect">
            <a:avLst/>
          </a:prstGeom>
        </p:spPr>
      </p:pic>
      <p:sp>
        <p:nvSpPr>
          <p:cNvPr id="30" name="Text 12">
            <a:extLst>
              <a:ext uri="{FF2B5EF4-FFF2-40B4-BE49-F238E27FC236}">
                <a16:creationId xmlns:a16="http://schemas.microsoft.com/office/drawing/2014/main" id="{2E9D3549-D0C8-5374-BAAC-01A548A526FE}"/>
              </a:ext>
            </a:extLst>
          </p:cNvPr>
          <p:cNvSpPr txBox="1"/>
          <p:nvPr/>
        </p:nvSpPr>
        <p:spPr>
          <a:xfrm>
            <a:off x="896112" y="3083448"/>
            <a:ext cx="4407408" cy="52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ko-KR" altLang="en-US" sz="122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경찰청 국가수사본부는 주범죄조직이 정교한 시나리오와 범행수단을 바탕으로 피해자를 철저히 통제하고 고립시키는 전략이 주된 원인으로 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뽑음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endParaRPr lang="en-US" sz="122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FE23D48F-3A03-3A71-4F71-E3178B4D9EB7}"/>
              </a:ext>
            </a:extLst>
          </p:cNvPr>
          <p:cNvSpPr txBox="1"/>
          <p:nvPr/>
        </p:nvSpPr>
        <p:spPr>
          <a:xfrm>
            <a:off x="905256" y="3705972"/>
            <a:ext cx="4407408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사기 </a:t>
            </a:r>
            <a:r>
              <a:rPr lang="ko-KR" altLang="en-US" sz="122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사건등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범죄 사례에 대한 직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간접적 경험이 적어 </a:t>
            </a:r>
            <a:r>
              <a:rPr lang="ko-KR" altLang="en-US" sz="122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피싱범의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거짓말을 그대로 믿는 경향이 트고 개인 정보 관리에 소홀한 것으로 봄 </a:t>
            </a:r>
            <a:endParaRPr lang="en-US" sz="1220" dirty="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CBE83165-C602-0AAB-B9C9-9873B4D6BDBA}"/>
              </a:ext>
            </a:extLst>
          </p:cNvPr>
          <p:cNvSpPr txBox="1"/>
          <p:nvPr/>
        </p:nvSpPr>
        <p:spPr>
          <a:xfrm>
            <a:off x="6327648" y="2980944"/>
            <a:ext cx="47183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‘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한국심리학회지 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: 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발달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‘</a:t>
            </a: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 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논문 발췌에서 노년기는 성인초기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중년기보다 경계심과 충동성이 낮게 나타났고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,’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세상은 정의롭다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＇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로 오랜 세월 쌓아온 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‘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사람과 세상에 대한 신뢰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＇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가 오히려 방심의 틈을 만들었다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220" dirty="0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B2E869F1-6FC3-A5D6-80C5-E28E96A0167A}"/>
              </a:ext>
            </a:extLst>
          </p:cNvPr>
          <p:cNvSpPr txBox="1"/>
          <p:nvPr/>
        </p:nvSpPr>
        <p:spPr>
          <a:xfrm>
            <a:off x="6336792" y="3630820"/>
            <a:ext cx="4718304" cy="7308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한국보건사회연구원이 발간한 연구보고서는 노년기의 디지털 소외 현황으로 정보 활용 경험이 적을수로 온라인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</a:rPr>
              <a:t>/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모바일 환경에서 진위를 확인할 수단이 부족 원격제어 앱 설치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</a:rPr>
              <a:t>, 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가짜 </a:t>
            </a:r>
            <a:r>
              <a:rPr lang="ko-KR" altLang="en-US" sz="1220" dirty="0" err="1">
                <a:solidFill>
                  <a:srgbClr val="10213D"/>
                </a:solidFill>
                <a:latin typeface="NanumSquare" pitchFamily="34" charset="0"/>
              </a:rPr>
              <a:t>은행앱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</a:rPr>
              <a:t>, QR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코드 결제 요구처럼 신종 수법일수록 화면 너머의 진짜와 가짜를 구분할 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</a:rPr>
              <a:t>‘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디지털 확인 습관</a:t>
            </a:r>
            <a:r>
              <a:rPr lang="en-US" altLang="ko-KR" sz="1220" dirty="0">
                <a:solidFill>
                  <a:srgbClr val="10213D"/>
                </a:solidFill>
                <a:latin typeface="NanumSquare" pitchFamily="34" charset="0"/>
              </a:rPr>
              <a:t>＇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의 확인할 도구와 </a:t>
            </a:r>
            <a:r>
              <a:rPr lang="ko-KR" altLang="en-US" sz="1220" dirty="0" err="1">
                <a:solidFill>
                  <a:srgbClr val="10213D"/>
                </a:solidFill>
                <a:latin typeface="NanumSquare" pitchFamily="34" charset="0"/>
              </a:rPr>
              <a:t>경혐의</a:t>
            </a:r>
            <a:r>
              <a:rPr lang="ko-KR" altLang="en-US" sz="1220" dirty="0">
                <a:solidFill>
                  <a:srgbClr val="10213D"/>
                </a:solidFill>
                <a:latin typeface="NanumSquare" pitchFamily="34" charset="0"/>
              </a:rPr>
              <a:t> 격차가 없다</a:t>
            </a:r>
            <a:endParaRPr lang="en-US" sz="122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530EDA4-EAC0-0CA1-AC7B-021BEB83C046}"/>
              </a:ext>
            </a:extLst>
          </p:cNvPr>
          <p:cNvSpPr/>
          <p:nvPr/>
        </p:nvSpPr>
        <p:spPr>
          <a:xfrm>
            <a:off x="6820190" y="4159721"/>
            <a:ext cx="3440611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신뢰한다</a:t>
            </a:r>
            <a:r>
              <a:rPr lang="en-US" altLang="ko-KR" dirty="0"/>
              <a:t>, </a:t>
            </a:r>
            <a:r>
              <a:rPr lang="ko-KR" altLang="en-US" dirty="0"/>
              <a:t>디지털 소외로 인해서 검증이 어렵고 고립된다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343BEC9-81C4-CB2D-B841-8B4BC1F0D0F6}"/>
              </a:ext>
            </a:extLst>
          </p:cNvPr>
          <p:cNvSpPr/>
          <p:nvPr/>
        </p:nvSpPr>
        <p:spPr>
          <a:xfrm>
            <a:off x="938167" y="4256532"/>
            <a:ext cx="432329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경험부족</a:t>
            </a:r>
            <a:r>
              <a:rPr lang="en-US" altLang="ko-KR" dirty="0"/>
              <a:t>, </a:t>
            </a:r>
            <a:r>
              <a:rPr lang="ko-KR" altLang="en-US" dirty="0"/>
              <a:t>신뢰구축</a:t>
            </a:r>
            <a:r>
              <a:rPr lang="en-US" altLang="ko-KR" dirty="0"/>
              <a:t>, </a:t>
            </a:r>
            <a:r>
              <a:rPr lang="ko-KR" altLang="en-US" dirty="0"/>
              <a:t>심리적 압박</a:t>
            </a:r>
            <a:r>
              <a:rPr lang="en-US" altLang="ko-KR" dirty="0"/>
              <a:t>, </a:t>
            </a:r>
            <a:r>
              <a:rPr lang="ko-KR" altLang="en-US" dirty="0"/>
              <a:t>고립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60ED240-A422-288B-48C3-153E1F34D34F}"/>
              </a:ext>
            </a:extLst>
          </p:cNvPr>
          <p:cNvSpPr/>
          <p:nvPr/>
        </p:nvSpPr>
        <p:spPr>
          <a:xfrm>
            <a:off x="3964349" y="5674288"/>
            <a:ext cx="3440611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판단오류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1C58C1-4F6A-B965-5AD6-B52B90BB13B9}"/>
              </a:ext>
            </a:extLst>
          </p:cNvPr>
          <p:cNvSpPr txBox="1"/>
          <p:nvPr/>
        </p:nvSpPr>
        <p:spPr>
          <a:xfrm>
            <a:off x="7414623" y="364956"/>
            <a:ext cx="30565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7"/>
              </a:rPr>
              <a:t>https://bravo.etoday.co.kr/view/atc_view/19859</a:t>
            </a:r>
            <a:r>
              <a:rPr lang="ko-KR" altLang="en-US" dirty="0"/>
              <a:t>고령</a:t>
            </a:r>
            <a:endParaRPr lang="en-US" altLang="ko-KR" dirty="0"/>
          </a:p>
          <a:p>
            <a:r>
              <a:rPr lang="ko-KR" altLang="en-US" dirty="0"/>
              <a:t>두 </a:t>
            </a:r>
            <a:r>
              <a:rPr lang="ko-KR" altLang="en-US" dirty="0" err="1"/>
              <a:t>내용다</a:t>
            </a:r>
            <a:r>
              <a:rPr lang="ko-KR" altLang="en-US" dirty="0"/>
              <a:t> 이 뉴스링크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686FA5-0460-4616-A49F-F9BA7EBF8C41}"/>
              </a:ext>
            </a:extLst>
          </p:cNvPr>
          <p:cNvSpPr txBox="1"/>
          <p:nvPr/>
        </p:nvSpPr>
        <p:spPr>
          <a:xfrm>
            <a:off x="1624889" y="-55983"/>
            <a:ext cx="342286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hlinkClick r:id="rId8"/>
              </a:rPr>
              <a:t>https://www.police.go.kr/user/bbs/BD_selectBbs.do?q_bbsCode=1002&amp;q_bbscttSn=20250918132339144&amp;q_currPage=1&amp;q_rowPerPage=10&amp;q_searchKeyTy=&amp;q_searchVal=&amp;q_sortName=&amp;q_sortOrder=&amp;q_tab=&amp;utm_source=chatgpt.com</a:t>
            </a:r>
            <a:r>
              <a:rPr lang="en-US" altLang="ko-KR" sz="1000" dirty="0"/>
              <a:t> </a:t>
            </a:r>
            <a:r>
              <a:rPr lang="ko-KR" altLang="en-US" sz="1000" dirty="0"/>
              <a:t>경찰청 원문 </a:t>
            </a:r>
            <a:r>
              <a:rPr lang="en-US" altLang="ko-KR" sz="1000" dirty="0"/>
              <a:t>1</a:t>
            </a:r>
            <a:r>
              <a:rPr lang="ko-KR" altLang="en-US" sz="1000" dirty="0"/>
              <a:t>번 문장 발췌 </a:t>
            </a:r>
            <a:r>
              <a:rPr lang="en-US" altLang="ko-KR" sz="1000" dirty="0"/>
              <a:t>20-30</a:t>
            </a:r>
            <a:endParaRPr lang="ko-KR" altLang="en-US" sz="1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27BD94-7D58-7DF3-657A-27CB25FA23D8}"/>
              </a:ext>
            </a:extLst>
          </p:cNvPr>
          <p:cNvSpPr txBox="1"/>
          <p:nvPr/>
        </p:nvSpPr>
        <p:spPr>
          <a:xfrm>
            <a:off x="1624889" y="899178"/>
            <a:ext cx="31247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hlinkClick r:id="rId9"/>
              </a:rPr>
              <a:t>https://biz.chosun.com/stock/finance/2025/10/29/QF4PTQJOJ5AALDSYSTCNFD46QA/</a:t>
            </a:r>
            <a:r>
              <a:rPr lang="ko-KR" altLang="en-US" sz="1000" dirty="0"/>
              <a:t>경찰청 자료 바탕 뉴스 원문 </a:t>
            </a:r>
            <a:r>
              <a:rPr lang="en-US" altLang="ko-KR" sz="1000" dirty="0"/>
              <a:t>1</a:t>
            </a:r>
            <a:r>
              <a:rPr lang="ko-KR" altLang="en-US" sz="1000" dirty="0"/>
              <a:t>번 문장 발췌 </a:t>
            </a:r>
            <a:r>
              <a:rPr lang="en-US" altLang="ko-KR" sz="1000" dirty="0"/>
              <a:t>20-30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589D7908-5BE2-BEF1-BECF-D4A886634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544" y="1829494"/>
            <a:ext cx="4066997" cy="627739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86EC6D98-E49C-6BF4-E3A8-DCDBC3DB1562}"/>
              </a:ext>
            </a:extLst>
          </p:cNvPr>
          <p:cNvSpPr txBox="1"/>
          <p:nvPr/>
        </p:nvSpPr>
        <p:spPr>
          <a:xfrm>
            <a:off x="9289143" y="5861304"/>
            <a:ext cx="131789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논문 통계표를 바탕으로 그래프 만들어 달라고 했어</a:t>
            </a:r>
            <a:r>
              <a:rPr lang="en-US" altLang="ko-KR" sz="1100" dirty="0"/>
              <a:t>!!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E59054-960F-4805-ABC3-133CB0978B63}"/>
              </a:ext>
            </a:extLst>
          </p:cNvPr>
          <p:cNvSpPr txBox="1"/>
          <p:nvPr/>
        </p:nvSpPr>
        <p:spPr>
          <a:xfrm>
            <a:off x="716934" y="4154329"/>
            <a:ext cx="6103256" cy="246221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000" dirty="0">
                <a:hlinkClick r:id="rId11"/>
              </a:rPr>
              <a:t>https://biz.chosun.com/stock/finance/2025/10/29/QF4PTQJOJ5AALDSYSTCNFD46QA/2</a:t>
            </a:r>
            <a:r>
              <a:rPr lang="ko-KR" altLang="en-US" sz="1000" dirty="0"/>
              <a:t>번 문장 발췌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2059B96B-1951-F07E-19A6-489C11C8E7D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88168" y="5965080"/>
            <a:ext cx="2815727" cy="213919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B3A632D-D024-DFBB-C80A-EC87A21A7BEC}"/>
              </a:ext>
            </a:extLst>
          </p:cNvPr>
          <p:cNvSpPr txBox="1"/>
          <p:nvPr/>
        </p:nvSpPr>
        <p:spPr>
          <a:xfrm>
            <a:off x="9092932" y="5183198"/>
            <a:ext cx="30418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hlinkClick r:id="rId13"/>
              </a:rPr>
              <a:t>https://www.kiri.or.kr/report/downloadFile.do?docId=490939&amp;utm_source=chatgpt.com</a:t>
            </a:r>
            <a:r>
              <a:rPr lang="ko-KR" altLang="en-US" sz="1000" dirty="0"/>
              <a:t>디지털 </a:t>
            </a:r>
            <a:r>
              <a:rPr lang="ko-KR" altLang="en-US" sz="1000" dirty="0" err="1"/>
              <a:t>금융이해력</a:t>
            </a:r>
            <a:r>
              <a:rPr lang="ko-KR" altLang="en-US" sz="1000" dirty="0"/>
              <a:t> 논문근거 연구보고서 글 보조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4251044-CC8C-C680-DC36-C8BE77129668}"/>
              </a:ext>
            </a:extLst>
          </p:cNvPr>
          <p:cNvSpPr/>
          <p:nvPr/>
        </p:nvSpPr>
        <p:spPr>
          <a:xfrm>
            <a:off x="951686" y="-2011567"/>
            <a:ext cx="432329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경험부족</a:t>
            </a:r>
            <a:r>
              <a:rPr lang="en-US" altLang="ko-KR" dirty="0"/>
              <a:t>, </a:t>
            </a:r>
            <a:r>
              <a:rPr lang="ko-KR" altLang="en-US" dirty="0"/>
              <a:t>신뢰구축</a:t>
            </a:r>
            <a:r>
              <a:rPr lang="en-US" altLang="ko-KR" dirty="0"/>
              <a:t>, </a:t>
            </a:r>
            <a:r>
              <a:rPr lang="ko-KR" altLang="en-US" dirty="0"/>
              <a:t>심리적 압박</a:t>
            </a:r>
            <a:r>
              <a:rPr lang="en-US" altLang="ko-KR" dirty="0"/>
              <a:t>, </a:t>
            </a:r>
            <a:r>
              <a:rPr lang="ko-KR" altLang="en-US" dirty="0"/>
              <a:t>고립</a:t>
            </a:r>
            <a:r>
              <a:rPr lang="en-US" altLang="ko-KR" dirty="0"/>
              <a:t>,</a:t>
            </a:r>
          </a:p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5AC4E8-277D-4A79-F79C-6A4340899C9D}"/>
              </a:ext>
            </a:extLst>
          </p:cNvPr>
          <p:cNvSpPr txBox="1"/>
          <p:nvPr/>
        </p:nvSpPr>
        <p:spPr>
          <a:xfrm>
            <a:off x="5891604" y="-1427218"/>
            <a:ext cx="4323298" cy="1954381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ko-KR" altLang="ko-KR" sz="1100" dirty="0"/>
              <a:t>본능적 반응</a:t>
            </a:r>
          </a:p>
          <a:p>
            <a:r>
              <a:rPr lang="ko-KR" altLang="ko-KR" sz="1100" dirty="0"/>
              <a:t>공포심(곧 체포된다)</a:t>
            </a:r>
          </a:p>
          <a:p>
            <a:r>
              <a:rPr lang="ko-KR" altLang="ko-KR" sz="1100" dirty="0"/>
              <a:t>탐욕(지금 입금하면 바로 대출이 나온다)</a:t>
            </a:r>
          </a:p>
          <a:p>
            <a:r>
              <a:rPr lang="ko-KR" altLang="ko-KR" sz="1100" dirty="0"/>
              <a:t>애정/책임감( 가족이 급하다)</a:t>
            </a:r>
          </a:p>
          <a:p>
            <a:r>
              <a:rPr lang="ko-KR" altLang="ko-KR" sz="1100" dirty="0"/>
              <a:t>=&gt; 희소성과 </a:t>
            </a:r>
            <a:r>
              <a:rPr lang="ko-KR" altLang="ko-KR" sz="1100" dirty="0" err="1"/>
              <a:t>긴급성</a:t>
            </a:r>
            <a:r>
              <a:rPr lang="ko-KR" altLang="ko-KR" sz="1100" dirty="0"/>
              <a:t>, 권위 사칭, 호감과 유사성을 키우는 접근 &gt; 참여와 일관성 기제가 결합될 때 더 강력해짐.</a:t>
            </a:r>
          </a:p>
          <a:p>
            <a:r>
              <a:rPr lang="ko-KR" altLang="ko-KR" sz="1100" dirty="0"/>
              <a:t>처음에는 사소한 동의나 작은 송금을 통해 피해자의 협조를 이끌어내고 점차 요구 수준을 높임,</a:t>
            </a:r>
          </a:p>
          <a:p>
            <a:r>
              <a:rPr lang="ko-KR" altLang="ko-KR" sz="1100" dirty="0"/>
              <a:t>어느 정도 참여한 피해자는 중도 포기를 어려워 함. </a:t>
            </a:r>
          </a:p>
          <a:p>
            <a:r>
              <a:rPr lang="ko-KR" altLang="ko-KR" sz="1100" dirty="0"/>
              <a:t>결론 매물 비용 효과로 인해 한 번 투입한 자원(시간/금전)이 아까워 계속 거기에 매달리는 인간심리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D65BB-8A0D-46D8-B1B7-715D79AC61DE}"/>
              </a:ext>
            </a:extLst>
          </p:cNvPr>
          <p:cNvSpPr txBox="1"/>
          <p:nvPr/>
        </p:nvSpPr>
        <p:spPr>
          <a:xfrm>
            <a:off x="368017" y="548759"/>
            <a:ext cx="6760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</a:t>
            </a:r>
            <a:r>
              <a:rPr lang="ko-KR" altLang="en-US" sz="11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[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빈틈</a:t>
            </a:r>
            <a:r>
              <a:rPr lang="en-US" altLang="ko-KR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]</a:t>
            </a:r>
            <a:r>
              <a:rPr lang="ko-KR" altLang="en-US" sz="1100" b="1" dirty="0">
                <a:solidFill>
                  <a:srgbClr val="0B1F3A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무엇인지 찾기위해 살펴보는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금융소비자의 피해 취약성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rgbClr val="FF4B1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/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서비스의 구조</a:t>
            </a:r>
            <a:endParaRPr lang="ko-KR" altLang="en-US" sz="1100" b="1" dirty="0">
              <a:solidFill>
                <a:srgbClr val="0B1F3A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648FDD6-F913-47C1-BCA5-EFF28971D73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0B1F3A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문제도출</a:t>
            </a:r>
            <a:endParaRPr lang="en-US" sz="1050" dirty="0">
              <a:solidFill>
                <a:srgbClr val="0B1F3A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8F033F5-72F0-48F5-B4CD-FEEC97CE269F}"/>
              </a:ext>
            </a:extLst>
          </p:cNvPr>
          <p:cNvSpPr txBox="1"/>
          <p:nvPr/>
        </p:nvSpPr>
        <p:spPr>
          <a:xfrm>
            <a:off x="442381" y="810369"/>
            <a:ext cx="10698480" cy="24869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범죄자들은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ㅇ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ㅇ를 전략적으로 활용해서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거짓 정보만 아니라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거짓 판단을 유도한다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490449-B03B-4248-9FE4-FEC1B99946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390" r="50118"/>
          <a:stretch/>
        </p:blipFill>
        <p:spPr>
          <a:xfrm>
            <a:off x="7341942" y="2287761"/>
            <a:ext cx="3657451" cy="20009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B2FBD7-8978-4677-9246-EBCFB4A200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185"/>
          <a:stretch/>
        </p:blipFill>
        <p:spPr>
          <a:xfrm>
            <a:off x="3168426" y="1969888"/>
            <a:ext cx="4032049" cy="23244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943CB5-DC92-44C9-8BB4-0A317C93618E}"/>
              </a:ext>
            </a:extLst>
          </p:cNvPr>
          <p:cNvSpPr txBox="1"/>
          <p:nvPr/>
        </p:nvSpPr>
        <p:spPr>
          <a:xfrm>
            <a:off x="7128932" y="645574"/>
            <a:ext cx="66896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어떤 데이터를</a:t>
            </a:r>
            <a:r>
              <a:rPr lang="en-US" altLang="ko-KR" dirty="0"/>
              <a:t>… </a:t>
            </a:r>
            <a:r>
              <a:rPr lang="ko-KR" altLang="en-US" dirty="0"/>
              <a:t>어떤 기준으로 어떻게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이벤트는 무엇</a:t>
            </a:r>
            <a:r>
              <a:rPr lang="en-US" altLang="ko-KR" dirty="0"/>
              <a:t>?(</a:t>
            </a:r>
            <a:r>
              <a:rPr lang="ko-KR" altLang="en-US" dirty="0"/>
              <a:t>사칭</a:t>
            </a:r>
            <a:r>
              <a:rPr lang="en-US" altLang="ko-KR" dirty="0"/>
              <a:t>, </a:t>
            </a:r>
            <a:r>
              <a:rPr lang="ko-KR" altLang="en-US" dirty="0"/>
              <a:t>심리</a:t>
            </a:r>
            <a:r>
              <a:rPr lang="en-US" altLang="ko-KR" dirty="0"/>
              <a:t>, </a:t>
            </a:r>
            <a:r>
              <a:rPr lang="ko-KR" altLang="en-US" dirty="0"/>
              <a:t>행동유도</a:t>
            </a:r>
            <a:r>
              <a:rPr lang="en-US" altLang="ko-KR" dirty="0"/>
              <a:t>, </a:t>
            </a:r>
            <a:r>
              <a:rPr lang="ko-KR" altLang="en-US" dirty="0"/>
              <a:t>송금유도</a:t>
            </a:r>
            <a:r>
              <a:rPr lang="en-US" altLang="ko-KR" dirty="0"/>
              <a:t>, </a:t>
            </a:r>
            <a:r>
              <a:rPr lang="ko-KR" altLang="en-US" dirty="0"/>
              <a:t>돈 이벤트 등</a:t>
            </a:r>
            <a:r>
              <a:rPr lang="en-US" altLang="ko-KR" dirty="0"/>
              <a:t>…)</a:t>
            </a:r>
            <a:endParaRPr lang="ko-KR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D14EBE-C529-45CE-86E7-0CEAC719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458" y="4423574"/>
            <a:ext cx="7332133" cy="2000954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DE3EC12-8032-4C2F-B9DE-F0FD521D70FB}"/>
              </a:ext>
            </a:extLst>
          </p:cNvPr>
          <p:cNvGrpSpPr/>
          <p:nvPr/>
        </p:nvGrpSpPr>
        <p:grpSpPr>
          <a:xfrm>
            <a:off x="8025350" y="4566530"/>
            <a:ext cx="3436598" cy="2063802"/>
            <a:chOff x="383814" y="2377815"/>
            <a:chExt cx="3436598" cy="206380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AEA18EB-E211-4DDC-A0E1-DAD096840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814" y="2377815"/>
              <a:ext cx="3436598" cy="206380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3F6A98-5C9F-44DE-BD20-B5477F813041}"/>
                </a:ext>
              </a:extLst>
            </p:cNvPr>
            <p:cNvSpPr/>
            <p:nvPr/>
          </p:nvSpPr>
          <p:spPr>
            <a:xfrm>
              <a:off x="1866617" y="3297338"/>
              <a:ext cx="1797333" cy="826090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rgbClr val="0E2746"/>
              </a:solidFill>
              <a:prstDash val="solid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/>
                <a:t>Top4 </a:t>
              </a:r>
              <a:r>
                <a:rPr lang="ko-KR" altLang="en-US" sz="800" dirty="0"/>
                <a:t>은행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검찰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카드사</a:t>
              </a:r>
              <a:r>
                <a:rPr lang="en-US" altLang="ko-KR" sz="800" dirty="0"/>
                <a:t>,</a:t>
              </a:r>
              <a:r>
                <a:rPr lang="ko-KR" altLang="en-US" sz="800" dirty="0"/>
                <a:t>경찰</a:t>
              </a:r>
              <a:endParaRPr lang="en-US" altLang="ko-KR" sz="800" dirty="0"/>
            </a:p>
            <a:p>
              <a:pPr algn="ctr"/>
              <a:r>
                <a:rPr lang="en-US" altLang="ko-KR" sz="800" dirty="0"/>
                <a:t>-&gt; </a:t>
              </a:r>
              <a:r>
                <a:rPr lang="ko-KR" altLang="en-US" sz="800" dirty="0"/>
                <a:t>권위와 신뢰 형성</a:t>
              </a:r>
              <a:r>
                <a:rPr lang="en-US" altLang="ko-KR" sz="800" dirty="0"/>
                <a:t>…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9621A19B-CF20-43CB-8275-D6881B896779}"/>
              </a:ext>
            </a:extLst>
          </p:cNvPr>
          <p:cNvSpPr/>
          <p:nvPr/>
        </p:nvSpPr>
        <p:spPr>
          <a:xfrm>
            <a:off x="4800196" y="2829486"/>
            <a:ext cx="1619671" cy="694428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거의 대부분 이벤트에서</a:t>
            </a:r>
            <a:endParaRPr lang="en-US" altLang="ko-KR" sz="800" dirty="0"/>
          </a:p>
          <a:p>
            <a:pPr algn="ctr"/>
            <a:r>
              <a:rPr lang="ko-KR" altLang="en-US" sz="800" dirty="0"/>
              <a:t>심리 전략 사용</a:t>
            </a:r>
            <a:r>
              <a:rPr lang="en-US" altLang="ko-KR" sz="800" dirty="0"/>
              <a:t>…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13EC6B-2667-4D40-86EE-72160A55EE5B}"/>
              </a:ext>
            </a:extLst>
          </p:cNvPr>
          <p:cNvSpPr/>
          <p:nvPr/>
        </p:nvSpPr>
        <p:spPr>
          <a:xfrm>
            <a:off x="9193418" y="3331136"/>
            <a:ext cx="1619671" cy="694428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심리전략은 이런것들을 주로 쓰더라</a:t>
            </a:r>
            <a:endParaRPr lang="en-US" altLang="ko-KR" sz="8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AC822-F01E-4D72-8A0E-964FDB628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83" y="2167951"/>
            <a:ext cx="3237153" cy="1928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DFA14E9-715C-41CF-B3EC-324BB093C70D}"/>
              </a:ext>
            </a:extLst>
          </p:cNvPr>
          <p:cNvSpPr/>
          <p:nvPr/>
        </p:nvSpPr>
        <p:spPr>
          <a:xfrm>
            <a:off x="593250" y="7205062"/>
            <a:ext cx="10219839" cy="2494091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범죄자들이 금융소비자들의 심리적 취약점을 이용해서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방법</a:t>
            </a:r>
            <a:r>
              <a:rPr lang="en-US" altLang="ko-KR" dirty="0">
                <a:solidFill>
                  <a:schemeClr val="bg1"/>
                </a:solidFill>
              </a:rPr>
              <a:t>: </a:t>
            </a:r>
            <a:r>
              <a:rPr lang="ko-KR" altLang="en-US" dirty="0">
                <a:solidFill>
                  <a:schemeClr val="bg1"/>
                </a:solidFill>
              </a:rPr>
              <a:t>크게 </a:t>
            </a:r>
            <a:r>
              <a:rPr lang="en-US" altLang="ko-KR" dirty="0">
                <a:solidFill>
                  <a:schemeClr val="bg1"/>
                </a:solidFill>
              </a:rPr>
              <a:t>= </a:t>
            </a:r>
            <a:r>
              <a:rPr lang="ko-KR" altLang="en-US" dirty="0">
                <a:solidFill>
                  <a:schemeClr val="bg1"/>
                </a:solidFill>
              </a:rPr>
              <a:t>사칭과 심리장악전략들 사용 </a:t>
            </a:r>
            <a:r>
              <a:rPr lang="en-US" altLang="ko-KR" dirty="0">
                <a:solidFill>
                  <a:schemeClr val="bg1"/>
                </a:solidFill>
              </a:rPr>
              <a:t>-&gt;</a:t>
            </a:r>
            <a:r>
              <a:rPr lang="ko-KR" altLang="en-US" dirty="0">
                <a:solidFill>
                  <a:schemeClr val="bg1"/>
                </a:solidFill>
              </a:rPr>
              <a:t> 신뢰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권위 등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chemeClr val="bg1"/>
                </a:solidFill>
              </a:rPr>
              <a:t>진짜인가</a:t>
            </a:r>
            <a:r>
              <a:rPr lang="en-US" altLang="ko-KR" dirty="0">
                <a:solidFill>
                  <a:schemeClr val="bg1"/>
                </a:solidFill>
              </a:rPr>
              <a:t>? </a:t>
            </a:r>
            <a:r>
              <a:rPr lang="ko-KR" altLang="en-US" dirty="0">
                <a:solidFill>
                  <a:schemeClr val="bg1"/>
                </a:solidFill>
              </a:rPr>
              <a:t>믿게되는</a:t>
            </a:r>
            <a:r>
              <a:rPr lang="en-US" altLang="ko-KR" dirty="0">
                <a:solidFill>
                  <a:schemeClr val="bg1"/>
                </a:solidFill>
              </a:rPr>
              <a:t>…)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-&gt; </a:t>
            </a:r>
            <a:r>
              <a:rPr lang="ko-KR" altLang="en-US" dirty="0">
                <a:solidFill>
                  <a:schemeClr val="bg1"/>
                </a:solidFill>
              </a:rPr>
              <a:t>정보비대칭 </a:t>
            </a:r>
            <a:r>
              <a:rPr lang="en-US" altLang="ko-KR" dirty="0">
                <a:solidFill>
                  <a:schemeClr val="bg1"/>
                </a:solidFill>
              </a:rPr>
              <a:t>-&gt; </a:t>
            </a:r>
            <a:r>
              <a:rPr lang="ko-KR" altLang="en-US" dirty="0">
                <a:solidFill>
                  <a:schemeClr val="bg1"/>
                </a:solidFill>
              </a:rPr>
              <a:t>주도권 가짐 </a:t>
            </a:r>
            <a:r>
              <a:rPr lang="en-US" altLang="ko-KR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dirty="0">
                <a:solidFill>
                  <a:schemeClr val="bg1"/>
                </a:solidFill>
              </a:rPr>
              <a:t>판단 오류 유발</a:t>
            </a:r>
            <a:r>
              <a:rPr lang="en-US" altLang="ko-KR" dirty="0">
                <a:solidFill>
                  <a:schemeClr val="bg1"/>
                </a:solidFill>
              </a:rPr>
              <a:t> -&gt; </a:t>
            </a:r>
            <a:r>
              <a:rPr lang="ko-KR" altLang="en-US" dirty="0">
                <a:solidFill>
                  <a:schemeClr val="bg1"/>
                </a:solidFill>
              </a:rPr>
              <a:t>송금으로 이어짐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ACF5E7-D69D-4E74-9D12-BFA93ACAAEA9}"/>
              </a:ext>
            </a:extLst>
          </p:cNvPr>
          <p:cNvSpPr/>
          <p:nvPr/>
        </p:nvSpPr>
        <p:spPr>
          <a:xfrm>
            <a:off x="1393091" y="5076836"/>
            <a:ext cx="2807973" cy="909895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우리가 선별한 </a:t>
            </a:r>
            <a:r>
              <a:rPr lang="en-US" altLang="ko-KR" sz="800" dirty="0"/>
              <a:t>4</a:t>
            </a:r>
            <a:r>
              <a:rPr lang="ko-KR" altLang="en-US" sz="800" dirty="0"/>
              <a:t>대 이벤트 중에</a:t>
            </a:r>
            <a:endParaRPr lang="en-US" altLang="ko-KR" sz="800" dirty="0"/>
          </a:p>
          <a:p>
            <a:pPr algn="ctr"/>
            <a:r>
              <a:rPr lang="ko-KR" altLang="en-US" sz="800" dirty="0"/>
              <a:t>심리 전략</a:t>
            </a:r>
            <a:r>
              <a:rPr lang="en-US" altLang="ko-KR" sz="800" dirty="0"/>
              <a:t>, </a:t>
            </a:r>
            <a:r>
              <a:rPr lang="ko-KR" altLang="en-US" sz="800" dirty="0"/>
              <a:t>사칭이 다른 이벤트들보다</a:t>
            </a:r>
            <a:endParaRPr lang="en-US" altLang="ko-KR" sz="800" dirty="0"/>
          </a:p>
          <a:p>
            <a:pPr algn="ctr"/>
            <a:r>
              <a:rPr lang="ko-KR" altLang="en-US" sz="800" dirty="0"/>
              <a:t>먼저 나오려고 하는 경향이 있다</a:t>
            </a:r>
            <a:r>
              <a:rPr lang="en-US" altLang="ko-KR" sz="800" dirty="0"/>
              <a:t>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F4A9B8-5DE4-4425-82B7-68144C7F3E02}"/>
              </a:ext>
            </a:extLst>
          </p:cNvPr>
          <p:cNvSpPr/>
          <p:nvPr/>
        </p:nvSpPr>
        <p:spPr>
          <a:xfrm>
            <a:off x="1692648" y="3258652"/>
            <a:ext cx="1637148" cy="515169"/>
          </a:xfrm>
          <a:prstGeom prst="rect">
            <a:avLst/>
          </a:prstGeom>
          <a:solidFill>
            <a:srgbClr val="FFFF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800" dirty="0"/>
              <a:t>우리가 선별한 </a:t>
            </a:r>
            <a:r>
              <a:rPr lang="en-US" altLang="ko-KR" sz="800" dirty="0"/>
              <a:t>4</a:t>
            </a:r>
            <a:r>
              <a:rPr lang="ko-KR" altLang="en-US" sz="800" dirty="0"/>
              <a:t>대 이벤트</a:t>
            </a:r>
            <a:r>
              <a:rPr lang="en-US" altLang="ko-KR" sz="800" dirty="0"/>
              <a:t>…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8E82DA-53A4-4160-B09B-6C7816FA28A1}"/>
              </a:ext>
            </a:extLst>
          </p:cNvPr>
          <p:cNvSpPr txBox="1"/>
          <p:nvPr/>
        </p:nvSpPr>
        <p:spPr>
          <a:xfrm>
            <a:off x="5381625" y="4708179"/>
            <a:ext cx="842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종합: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판단 환경 장악 신호가 하나라도 나타난 사건 →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67.1%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세부: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어떤 방식으로 판단 환경을 장악하는지 → 긴급성 66.4%, 고립 4.3% 등 </a:t>
            </a:r>
          </a:p>
        </p:txBody>
      </p:sp>
    </p:spTree>
    <p:extLst>
      <p:ext uri="{BB962C8B-B14F-4D97-AF65-F5344CB8AC3E}">
        <p14:creationId xmlns:p14="http://schemas.microsoft.com/office/powerpoint/2010/main" val="2760472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>
            <a:extLst>
              <a:ext uri="{FF2B5EF4-FFF2-40B4-BE49-F238E27FC236}">
                <a16:creationId xmlns:a16="http://schemas.microsoft.com/office/drawing/2014/main" id="{AD408514-4604-424D-9C23-A363EA469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97869" y="4559300"/>
            <a:ext cx="3597869" cy="218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D64288-A7CC-4131-B11A-A956DF455795}"/>
              </a:ext>
            </a:extLst>
          </p:cNvPr>
          <p:cNvSpPr txBox="1"/>
          <p:nvPr/>
        </p:nvSpPr>
        <p:spPr>
          <a:xfrm>
            <a:off x="1196975" y="45616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피해자의 판단 환경을 장악하는 행동</a:t>
            </a:r>
            <a:r>
              <a:rPr lang="en-US" altLang="ko-KR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/</a:t>
            </a:r>
            <a:r>
              <a:rPr lang="ko-KR" alt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전략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4C0328-673F-416D-94BD-D9B6ED274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62" y="4250517"/>
            <a:ext cx="4582368" cy="21513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7C5E37-EC4E-4B72-8C44-112D4146C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62" y="1634637"/>
            <a:ext cx="4495782" cy="240441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3DAE368-B29E-4D2E-A6F7-9D157BFCE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995264"/>
              </p:ext>
            </p:extLst>
          </p:nvPr>
        </p:nvGraphicFramePr>
        <p:xfrm>
          <a:off x="1479550" y="8919413"/>
          <a:ext cx="10515600" cy="21945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0267419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969295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35712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471643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67805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endParaRPr lang="ko-KR" altLang="en-US" b="1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구분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사건수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전체사건수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b="1">
                          <a:effectLst/>
                        </a:rPr>
                        <a:t>발생률</a:t>
                      </a:r>
                      <a:r>
                        <a:rPr lang="en-US" altLang="ko-KR" b="1">
                          <a:effectLst/>
                        </a:rPr>
                        <a:t>(%)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75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긴급성</a:t>
                      </a:r>
                      <a:r>
                        <a:rPr lang="en-US" altLang="ko-KR">
                          <a:effectLst/>
                        </a:rPr>
                        <a:t>·</a:t>
                      </a:r>
                      <a:r>
                        <a:rPr lang="ko-KR" altLang="en-US">
                          <a:effectLst/>
                        </a:rPr>
                        <a:t>시간 압박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515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66.4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676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고립</a:t>
                      </a:r>
                      <a:r>
                        <a:rPr lang="en-US" altLang="ko-KR">
                          <a:effectLst/>
                        </a:rPr>
                        <a:t>·</a:t>
                      </a:r>
                      <a:r>
                        <a:rPr lang="ko-KR" altLang="en-US">
                          <a:effectLst/>
                        </a:rPr>
                        <a:t>비밀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4.3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5974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행동 통제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27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3348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외부 연락 차단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3.2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557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en-US" altLang="ko-KR" b="1">
                          <a:effectLst/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>
                          <a:effectLst/>
                        </a:rPr>
                        <a:t>통화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>
                          <a:effectLst/>
                        </a:rPr>
                        <a:t>776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dirty="0">
                          <a:effectLst/>
                        </a:rPr>
                        <a:t>2.2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8165749"/>
                  </a:ext>
                </a:extLst>
              </a:tr>
            </a:tbl>
          </a:graphicData>
        </a:graphic>
      </p:graphicFrame>
      <p:sp>
        <p:nvSpPr>
          <p:cNvPr id="10" name="Rectangle 1">
            <a:extLst>
              <a:ext uri="{FF2B5EF4-FFF2-40B4-BE49-F238E27FC236}">
                <a16:creationId xmlns:a16="http://schemas.microsoft.com/office/drawing/2014/main" id="{60DF3295-4540-44D7-AB95-A18C85ACB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993638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FAA87-EABD-4774-B0C1-5C0BF10039F1}"/>
              </a:ext>
            </a:extLst>
          </p:cNvPr>
          <p:cNvSpPr txBox="1"/>
          <p:nvPr/>
        </p:nvSpPr>
        <p:spPr>
          <a:xfrm>
            <a:off x="3498850" y="6613301"/>
            <a:ext cx="78994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Arial Unicode MS"/>
                <a:ea typeface="Google Sans Text"/>
              </a:rPr>
              <a:t>============================================== 피해자의 판단 환경을 장악하는 행동/전략 ============================================== 전체 사건 : 776건 해당 사건 : 521건 전체 대비 발생률 : 67.1% ============================================== [세부 구성요소별 발생률] 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CD7C13-539E-464D-B270-5C7A1DEDFB53}"/>
              </a:ext>
            </a:extLst>
          </p:cNvPr>
          <p:cNvSpPr txBox="1"/>
          <p:nvPr/>
        </p:nvSpPr>
        <p:spPr>
          <a:xfrm>
            <a:off x="5381625" y="4708179"/>
            <a:ext cx="842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종합: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판단 환경 장악 신호가 하나라도 나타난 사건 →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67.1%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세부: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어떤 방식으로 판단 환경을 장악하는지 → 긴급성 66.4%, 고립 4.3% 등 </a:t>
            </a:r>
          </a:p>
        </p:txBody>
      </p:sp>
    </p:spTree>
    <p:extLst>
      <p:ext uri="{BB962C8B-B14F-4D97-AF65-F5344CB8AC3E}">
        <p14:creationId xmlns:p14="http://schemas.microsoft.com/office/powerpoint/2010/main" val="1717084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EA4142-9D3C-4464-A26F-0AF5C5131CD0}"/>
              </a:ext>
            </a:extLst>
          </p:cNvPr>
          <p:cNvSpPr txBox="1"/>
          <p:nvPr/>
        </p:nvSpPr>
        <p:spPr>
          <a:xfrm>
            <a:off x="5337175" y="1991836"/>
            <a:ext cx="61023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2023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년 ‘한국심리학회지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발달’에 발표한 논문에서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20~86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세 성인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299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명을 성인초기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중년기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노년기로 나눠 사기 취약성을 비교했다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그 결과 노년기는 오히려 성인초기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중년기보다 경계심과 충동성이 낮게 나타났고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세상은 정의롭다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는 믿음은 노년기가 성인초기보다 높았다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5ACC77-BFD4-4F30-8EB3-7342DFF94702}"/>
              </a:ext>
            </a:extLst>
          </p:cNvPr>
          <p:cNvSpPr txBox="1"/>
          <p:nvPr/>
        </p:nvSpPr>
        <p:spPr>
          <a:xfrm>
            <a:off x="5337175" y="3933736"/>
            <a:ext cx="6102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즉 판단력이 흐려져서가 아니라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오랜 세월 쌓아온 ‘사람과 세상에 대한 신뢰’가 오히려 방심의 틈을 만드는 것이다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자녀나 지인을 사칭한 목소리에 먼저 의심보다 걱정이 앞서는 것도 같은 맥락으로 볼 수 있다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88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31D9757-E397-44C4-B513-E132CCE48C52}"/>
              </a:ext>
            </a:extLst>
          </p:cNvPr>
          <p:cNvGrpSpPr/>
          <p:nvPr/>
        </p:nvGrpSpPr>
        <p:grpSpPr>
          <a:xfrm>
            <a:off x="2455333" y="609599"/>
            <a:ext cx="7281334" cy="4673601"/>
            <a:chOff x="2523066" y="1092199"/>
            <a:chExt cx="7281334" cy="467360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9682248-C6B7-49FB-BFC6-15C6BBD36ADB}"/>
                </a:ext>
              </a:extLst>
            </p:cNvPr>
            <p:cNvSpPr/>
            <p:nvPr/>
          </p:nvSpPr>
          <p:spPr>
            <a:xfrm>
              <a:off x="2523066" y="1092199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 algn="ctr">
                <a:buAutoNum type="arabicPeriod"/>
              </a:pPr>
              <a:r>
                <a:rPr lang="ko-KR" altLang="en-US" dirty="0"/>
                <a:t>범죄자 수법</a:t>
              </a:r>
              <a:endParaRPr lang="en-US" altLang="ko-KR" dirty="0"/>
            </a:p>
            <a:p>
              <a:pPr algn="ctr"/>
              <a:r>
                <a:rPr lang="ko-KR" altLang="en-US" dirty="0"/>
                <a:t>판단의 오류를 만들려고함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89BF5F-4C09-4932-9F99-98603EBEB45E}"/>
                </a:ext>
              </a:extLst>
            </p:cNvPr>
            <p:cNvSpPr/>
            <p:nvPr/>
          </p:nvSpPr>
          <p:spPr>
            <a:xfrm>
              <a:off x="2523066" y="2709333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2. </a:t>
              </a:r>
              <a:r>
                <a:rPr lang="ko-KR" altLang="en-US" dirty="0"/>
                <a:t>피해자 특징</a:t>
              </a:r>
              <a:endParaRPr lang="en-US" altLang="ko-KR" dirty="0"/>
            </a:p>
            <a:p>
              <a:pPr algn="ctr"/>
              <a:r>
                <a:rPr lang="ko-KR" altLang="en-US" dirty="0"/>
                <a:t>판단의 오류가 발생하면 피해 취약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C6644F8-C08D-448C-AE92-12E21B9B8AA1}"/>
                </a:ext>
              </a:extLst>
            </p:cNvPr>
            <p:cNvSpPr/>
            <p:nvPr/>
          </p:nvSpPr>
          <p:spPr>
            <a:xfrm>
              <a:off x="2523066" y="4326467"/>
              <a:ext cx="7281334" cy="1439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3. </a:t>
              </a:r>
              <a:r>
                <a:rPr lang="ko-KR" altLang="en-US" dirty="0"/>
                <a:t>현재 솔루션 </a:t>
              </a:r>
              <a:r>
                <a:rPr lang="en-US" altLang="ko-KR" dirty="0"/>
                <a:t>= </a:t>
              </a:r>
              <a:r>
                <a:rPr lang="ko-KR" altLang="en-US" dirty="0"/>
                <a:t>서비스들의 구조</a:t>
              </a:r>
              <a:endParaRPr lang="en-US" altLang="ko-KR" dirty="0"/>
            </a:p>
            <a:p>
              <a:pPr algn="ctr"/>
              <a:r>
                <a:rPr lang="ko-KR" altLang="en-US" dirty="0"/>
                <a:t>최종 판단을 당사자가 직접하게 하는 부분들이 있다</a:t>
              </a:r>
              <a:r>
                <a:rPr lang="en-US" altLang="ko-KR" dirty="0"/>
                <a:t>.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38040D1-6C0E-437A-9963-A4B54715E14C}"/>
              </a:ext>
            </a:extLst>
          </p:cNvPr>
          <p:cNvSpPr txBox="1"/>
          <p:nvPr/>
        </p:nvSpPr>
        <p:spPr>
          <a:xfrm>
            <a:off x="2002978" y="5684336"/>
            <a:ext cx="832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종합 결론</a:t>
            </a:r>
            <a:r>
              <a:rPr lang="en-US" altLang="ko-KR" dirty="0"/>
              <a:t>: </a:t>
            </a:r>
            <a:r>
              <a:rPr lang="ko-KR" altLang="en-US" dirty="0"/>
              <a:t>판단 오류의 위험</a:t>
            </a:r>
            <a:r>
              <a:rPr lang="en-US" altLang="ko-KR" dirty="0"/>
              <a:t>… </a:t>
            </a:r>
            <a:r>
              <a:rPr lang="ko-KR" altLang="en-US" dirty="0"/>
              <a:t>그리고 판단을 해야하는 주체가 피해 당사자임</a:t>
            </a:r>
            <a:r>
              <a:rPr lang="en-US" altLang="ko-KR" dirty="0"/>
              <a:t>…</a:t>
            </a:r>
            <a:br>
              <a:rPr lang="en-US" altLang="ko-KR" dirty="0"/>
            </a:br>
            <a:r>
              <a:rPr lang="ko-KR" altLang="en-US" dirty="0"/>
              <a:t>그래서 우리는 판단을 </a:t>
            </a:r>
            <a:r>
              <a:rPr lang="en-US" altLang="ko-KR" dirty="0"/>
              <a:t>AI</a:t>
            </a:r>
            <a:r>
              <a:rPr lang="ko-KR" altLang="en-US" dirty="0"/>
              <a:t>와 제</a:t>
            </a:r>
            <a:r>
              <a:rPr lang="en-US" altLang="ko-KR" dirty="0"/>
              <a:t>3</a:t>
            </a:r>
            <a:r>
              <a:rPr lang="ko-KR" altLang="en-US" dirty="0"/>
              <a:t>자의 도움을 받도록 해주는 것</a:t>
            </a:r>
          </a:p>
        </p:txBody>
      </p:sp>
    </p:spTree>
    <p:extLst>
      <p:ext uri="{BB962C8B-B14F-4D97-AF65-F5344CB8AC3E}">
        <p14:creationId xmlns:p14="http://schemas.microsoft.com/office/powerpoint/2010/main" val="1890720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643651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보이스피싱 범죄에 노출된 금융소비자의 여정 속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… ASAP, FDS</a:t>
            </a: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를 비롯한 다양한 안정장치들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</a:rPr>
              <a:t>…</a:t>
            </a:r>
            <a:endParaRPr lang="en-US" altLang="ko-KR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857186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기존 안전장치는 이미 여러 피해 단계에서 작동하고 있었다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그럼에도 해결되지 않는 영역과 우리가 놓치고 있는 공백은 무엇일까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33DAD100-AA45-4F56-B2C4-2B207E7BD4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648704"/>
              </p:ext>
            </p:extLst>
          </p:nvPr>
        </p:nvGraphicFramePr>
        <p:xfrm>
          <a:off x="456819" y="2047875"/>
          <a:ext cx="7883008" cy="4340077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전화 수신 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위험번호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·AI 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번호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신고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차단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 중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SKT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에이닷 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/ LG U+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통화내용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키워드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 </a:t>
                      </a:r>
                      <a:r>
                        <a:rPr lang="ko-KR" altLang="en-US" sz="1000" b="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중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 제</a:t>
                      </a:r>
                      <a:r>
                        <a:rPr lang="en-US" altLang="ko-KR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3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자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SKT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AI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가족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지인 알림</a:t>
                      </a:r>
                      <a:endParaRPr lang="en-US" altLang="ko-KR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rtl="0"/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-&gt;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통화중인 당사자의 판단이 그대로 피해로 이어지는 구간은 여전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…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5701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음성</a:t>
                      </a:r>
                      <a:r>
                        <a:rPr lang="en-US" altLang="ko-KR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b="1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성문 탐지</a:t>
                      </a:r>
                      <a:endParaRPr lang="ko-KR" altLang="en-US" sz="1000" dirty="0">
                        <a:highlight>
                          <a:srgbClr val="FFFF00"/>
                        </a:highlight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LG U+·KT 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성문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실증</a:t>
                      </a:r>
                      <a:r>
                        <a:rPr lang="en-US" altLang="ko-KR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highlight>
                            <a:srgbClr val="FFFF00"/>
                          </a:highlight>
                          <a:latin typeface="페이퍼로지 4 Regular" pitchFamily="2" charset="-127"/>
                          <a:ea typeface="페이퍼로지 4 Regular" pitchFamily="2" charset="-127"/>
                        </a:rPr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 → 금융 연계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LG U+ × KB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피싱 의심정보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악성앱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 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업무협약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금융거래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접속정보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거래내역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탐지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위험정보 공유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금융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통신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지급정지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4977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>
                          <a:latin typeface="페이퍼로지 4 Regular" pitchFamily="2" charset="-127"/>
                          <a:ea typeface="페이퍼로지 4 Regular" pitchFamily="2" charset="-127"/>
                        </a:rPr>
                        <a:t>송금 단계</a:t>
                      </a:r>
                      <a:endParaRPr lang="ko-KR" altLang="en-US" sz="10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지연이체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거래지연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5701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 이후</a:t>
                      </a:r>
                      <a:endParaRPr lang="ko-KR" altLang="en-US" sz="10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지급정지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·</a:t>
                      </a:r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69250FB-21EB-481E-8E37-E1DB3FD01FE7}"/>
              </a:ext>
            </a:extLst>
          </p:cNvPr>
          <p:cNvSpPr/>
          <p:nvPr/>
        </p:nvSpPr>
        <p:spPr>
          <a:xfrm>
            <a:off x="8448294" y="2047875"/>
            <a:ext cx="3400806" cy="4340076"/>
          </a:xfrm>
          <a:prstGeom prst="rect">
            <a:avLst/>
          </a:prstGeom>
          <a:solidFill>
            <a:schemeClr val="bg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번호·통신 위험정보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통화내용·대화패턴 AI 분석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계좌·거래·통신·수사 Risk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페이퍼로지 7 Bold" pitchFamily="2" charset="-127"/>
              <a:ea typeface="페이퍼로지 7 Bold" pitchFamily="2" charset="-127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페이퍼로지 7 Bold" pitchFamily="2" charset="-127"/>
                <a:ea typeface="페이퍼로지 7 Bold" pitchFamily="2" charset="-127"/>
              </a:rPr>
              <a:t>신고 / 지급정지 / 피해환급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88EB88-DB0A-466C-9B94-80BDD4D750EB}"/>
              </a:ext>
            </a:extLst>
          </p:cNvPr>
          <p:cNvSpPr/>
          <p:nvPr/>
        </p:nvSpPr>
        <p:spPr>
          <a:xfrm>
            <a:off x="13084302" y="3332384"/>
            <a:ext cx="2762250" cy="2611567"/>
          </a:xfrm>
          <a:prstGeom prst="rect">
            <a:avLst/>
          </a:prstGeom>
          <a:solidFill>
            <a:srgbClr val="FF0000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/>
              <a:t>수정 필요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045D07-90C5-4805-8AE0-7FFBCCEA0E9D}"/>
              </a:ext>
            </a:extLst>
          </p:cNvPr>
          <p:cNvSpPr/>
          <p:nvPr/>
        </p:nvSpPr>
        <p:spPr>
          <a:xfrm>
            <a:off x="2523066" y="-1033098"/>
            <a:ext cx="7281334" cy="143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3. </a:t>
            </a:r>
            <a:r>
              <a:rPr lang="ko-KR" altLang="en-US" dirty="0"/>
              <a:t>현재 솔루션 </a:t>
            </a:r>
            <a:r>
              <a:rPr lang="en-US" altLang="ko-KR" dirty="0"/>
              <a:t>= </a:t>
            </a:r>
            <a:r>
              <a:rPr lang="ko-KR" altLang="en-US" dirty="0"/>
              <a:t>서비스들의 구조</a:t>
            </a:r>
            <a:endParaRPr lang="en-US" altLang="ko-KR" dirty="0"/>
          </a:p>
          <a:p>
            <a:pPr algn="ctr"/>
            <a:r>
              <a:rPr lang="ko-KR" altLang="en-US" dirty="0"/>
              <a:t>최종 판단을 당사자가 직접하게 하는 부분들이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558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F67805-0B01-4F68-8211-7D5FA8DD75A3}"/>
              </a:ext>
            </a:extLst>
          </p:cNvPr>
          <p:cNvSpPr/>
          <p:nvPr/>
        </p:nvSpPr>
        <p:spPr>
          <a:xfrm>
            <a:off x="1071282" y="968188"/>
            <a:ext cx="10049435" cy="5074023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Ai </a:t>
            </a:r>
            <a:r>
              <a:rPr lang="ko-KR" altLang="en-US" dirty="0">
                <a:solidFill>
                  <a:schemeClr val="bg1"/>
                </a:solidFill>
              </a:rPr>
              <a:t>활용도 주로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진단</a:t>
            </a:r>
            <a:r>
              <a:rPr lang="en-US" altLang="ko-KR" dirty="0">
                <a:solidFill>
                  <a:schemeClr val="bg1"/>
                </a:solidFill>
              </a:rPr>
              <a:t> -&gt; </a:t>
            </a:r>
            <a:r>
              <a:rPr lang="ko-KR" altLang="en-US" dirty="0">
                <a:solidFill>
                  <a:schemeClr val="bg1"/>
                </a:solidFill>
              </a:rPr>
              <a:t>안내의 구조인데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 경우에는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보통 최종 결정을 혼자 해야함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여기에서 생기는 문제를 막을 수 없더라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24765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7CFCB84-7209-4241-9D79-99F2D845833A}"/>
              </a:ext>
            </a:extLst>
          </p:cNvPr>
          <p:cNvSpPr>
            <a:spLocks noGrp="1"/>
          </p:cNvSpPr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DF0B674-4F8E-45E7-BF23-745EB2AABF39}"/>
              </a:ext>
            </a:extLst>
          </p:cNvPr>
          <p:cNvSpPr>
            <a:spLocks noGrp="1"/>
          </p:cNvSpPr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860FD7-7E9A-44BF-BEDD-C68D0240E3B9}"/>
              </a:ext>
            </a:extLst>
          </p:cNvPr>
          <p:cNvSpPr>
            <a:spLocks noGrp="1"/>
          </p:cNvSpPr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B3C3913-103A-4142-90CC-D2E23A8BFCAD}"/>
              </a:ext>
            </a:extLst>
          </p:cNvPr>
          <p:cNvSpPr>
            <a:spLocks noGrp="1"/>
          </p:cNvSpPr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669E2DA-3C9E-4592-9674-2E5B611F8E69}"/>
              </a:ext>
            </a:extLst>
          </p:cNvPr>
          <p:cNvSpPr>
            <a:spLocks noGrp="1"/>
          </p:cNvSpPr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A70ABB-1D51-4F4A-9D7B-5C616EDFDE70}"/>
              </a:ext>
            </a:extLst>
          </p:cNvPr>
          <p:cNvSpPr>
            <a:spLocks noGrp="1"/>
          </p:cNvSpPr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문제도출</a:t>
            </a:r>
            <a:endParaRPr sz="10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92F1803-B6B6-467E-A229-C138E3795835}"/>
              </a:ext>
            </a:extLst>
          </p:cNvPr>
          <p:cNvSpPr>
            <a:spLocks noGrp="1"/>
          </p:cNvSpPr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28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28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보호장치는 작동한다. 그러나 ‘재판단’의 순간은 남는다</a:t>
            </a:r>
            <a:endParaRPr sz="2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44DAA5-10C0-46AA-8053-EBCDAE0BFEE8}"/>
              </a:ext>
            </a:extLst>
          </p:cNvPr>
          <p:cNvSpPr>
            <a:spLocks noGrp="1"/>
          </p:cNvSpPr>
          <p:nvPr/>
        </p:nvSpPr>
        <p:spPr>
          <a:xfrm>
            <a:off x="585216" y="6019800"/>
            <a:ext cx="1051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1065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5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출처: news.sktelecom.com/218051·217274·224228 / fsc.go.kr/no010101/87565</a:t>
            </a:r>
            <a:endParaRPr sz="123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1D41809-62C1-4765-9C92-3C7A4E6C2833}"/>
              </a:ext>
            </a:extLst>
          </p:cNvPr>
          <p:cNvSpPr>
            <a:spLocks noGrp="1"/>
          </p:cNvSpPr>
          <p:nvPr/>
        </p:nvSpPr>
        <p:spPr>
          <a:xfrm>
            <a:off x="694944" y="1984248"/>
            <a:ext cx="3429000" cy="475488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225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225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공식자료에서 확인된</a:t>
            </a:r>
            <a:endParaRPr sz="2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729120C-40A9-4397-993C-BAA7099B0152}"/>
              </a:ext>
            </a:extLst>
          </p:cNvPr>
          <p:cNvSpPr>
            <a:spLocks noGrp="1"/>
          </p:cNvSpPr>
          <p:nvPr/>
        </p:nvSpPr>
        <p:spPr>
          <a:xfrm>
            <a:off x="4171950" y="1984248"/>
            <a:ext cx="5810250" cy="475488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225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225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판단·재판단의 세 장면</a:t>
            </a:r>
            <a:endParaRPr sz="28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343E6EE-7E5D-41A4-A754-FAE3A3347B8F}"/>
              </a:ext>
            </a:extLst>
          </p:cNvPr>
          <p:cNvSpPr>
            <a:spLocks noGrp="1"/>
          </p:cNvSpPr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D23FCE3-48B4-4700-BD8A-0DA0EA1FCCEC}"/>
              </a:ext>
            </a:extLst>
          </p:cNvPr>
          <p:cNvSpPr>
            <a:spLocks noGrp="1"/>
          </p:cNvSpPr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01</a:t>
            </a:r>
            <a:endParaRPr sz="11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4F8F473-9E50-4FEC-BCDA-44BFC7AF5CC3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AI는 위험을 ‘알려준다’</a:t>
            </a:r>
            <a:endParaRPr sz="15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9B71583-3DB7-4083-8C63-B50284EBE895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2505456" cy="819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SKT 에이닷 전화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AI 위험탐지 → 사용자 경고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→ 사용자의 판단 지원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“사용자의 판단을 돕는 역할”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BE2ED29-330E-4205-8254-A0BACDB85897}"/>
              </a:ext>
            </a:extLst>
          </p:cNvPr>
          <p:cNvSpPr>
            <a:spLocks noGrp="1"/>
          </p:cNvSpPr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EC62DA6-C932-4065-86B0-936043B03B9D}"/>
              </a:ext>
            </a:extLst>
          </p:cNvPr>
          <p:cNvSpPr>
            <a:spLocks noGrp="1"/>
          </p:cNvSpPr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02</a:t>
            </a:r>
            <a:endParaRPr sz="11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5996104-6747-40F2-A86E-959B5C17ABEE}"/>
              </a:ext>
            </a:extLst>
          </p:cNvPr>
          <p:cNvSpPr>
            <a:spLocks noGrp="1"/>
          </p:cNvSpPr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혼자 대응하기 어렵다</a:t>
            </a:r>
            <a:endParaRPr sz="15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3D57AC5-13A5-42D4-BF3B-7B343CE1C362}"/>
              </a:ext>
            </a:extLst>
          </p:cNvPr>
          <p:cNvSpPr>
            <a:spLocks noGrp="1"/>
          </p:cNvSpPr>
          <p:nvPr/>
        </p:nvSpPr>
        <p:spPr>
          <a:xfrm>
            <a:off x="4261104" y="3724275"/>
            <a:ext cx="2505456" cy="819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SKT 에이닷 가족 케어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AI 위험탐지 → 보호자 알림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→ 외부 개입 유도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“혼자 대응하기 어렵다”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F984B20-D3B1-47B8-ABA0-90551461682A}"/>
              </a:ext>
            </a:extLst>
          </p:cNvPr>
          <p:cNvSpPr>
            <a:spLocks noGrp="1"/>
          </p:cNvSpPr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5E3CF3B-9E52-41F0-8768-F2042EB591EB}"/>
              </a:ext>
            </a:extLst>
          </p:cNvPr>
          <p:cNvSpPr>
            <a:spLocks noGrp="1"/>
          </p:cNvSpPr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03</a:t>
            </a:r>
            <a:endParaRPr sz="11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8E1DDC6-3C91-479B-964A-545D55BBAA13}"/>
              </a:ext>
            </a:extLst>
          </p:cNvPr>
          <p:cNvSpPr>
            <a:spLocks noGrp="1"/>
          </p:cNvSpPr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5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잘못된 판단 → 송금 시도</a:t>
            </a:r>
            <a:endParaRPr sz="15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3415E91-F111-43C7-9406-5F8855949565}"/>
              </a:ext>
            </a:extLst>
          </p:cNvPr>
          <p:cNvSpPr>
            <a:spLocks noGrp="1"/>
          </p:cNvSpPr>
          <p:nvPr/>
        </p:nvSpPr>
        <p:spPr>
          <a:xfrm>
            <a:off x="7607808" y="3724275"/>
            <a:ext cx="2505456" cy="819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금융위 ASAP·FDS 사례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검찰 사칭 신뢰 → 송금 시도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→ 은행 이체중단·연락</a:t>
            </a:r>
          </a:p>
          <a:p>
            <a:pPr algn="l">
              <a:defRPr sz="106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106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→ 피해 인지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0DA29C7-6AD7-4462-BC6F-9BAFE420FEA0}"/>
              </a:ext>
            </a:extLst>
          </p:cNvPr>
          <p:cNvSpPr>
            <a:spLocks noGrp="1"/>
          </p:cNvSpPr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51C8CEB-E56F-401C-AF34-8E13AEBEFDA0}"/>
              </a:ext>
            </a:extLst>
          </p:cNvPr>
          <p:cNvSpPr>
            <a:spLocks noGrp="1"/>
          </p:cNvSpPr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ctr">
              <a:buNone/>
              <a:defRPr sz="1365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365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rPr>
              <a:t>위험을 탐지하는 것과, 피해자가 그 위험을 믿고 올바르게 판단하는 것은 같은 문제가 아니다.</a:t>
            </a:r>
            <a:endParaRPr sz="142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F0F46329-7F7F-4535-AB81-41198DD83CE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278685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9AFBD-73FE-4BAC-9012-5F58F42510BC}"/>
              </a:ext>
            </a:extLst>
          </p:cNvPr>
          <p:cNvSpPr>
            <a:spLocks noGrp="1"/>
          </p:cNvSpPr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8AA3FC5-3B5F-4DB8-8754-9E3B47DF49A9}"/>
              </a:ext>
            </a:extLst>
          </p:cNvPr>
          <p:cNvSpPr>
            <a:spLocks noGrp="1"/>
          </p:cNvSpPr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CC597F7-A3D9-41CF-8778-2D937DA93A5C}"/>
              </a:ext>
            </a:extLst>
          </p:cNvPr>
          <p:cNvSpPr>
            <a:spLocks noGrp="1"/>
          </p:cNvSpPr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540E840-6E5D-484D-8944-8230B06EE8AD}"/>
              </a:ext>
            </a:extLst>
          </p:cNvPr>
          <p:cNvSpPr>
            <a:spLocks noGrp="1"/>
          </p:cNvSpPr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0AB7CCE-B4B8-4CEC-B5EF-C0BF045AC18B}"/>
              </a:ext>
            </a:extLst>
          </p:cNvPr>
          <p:cNvSpPr>
            <a:spLocks noGrp="1"/>
          </p:cNvSpPr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E7AD2D4-98E7-4694-ABEA-3196B99A2946}"/>
              </a:ext>
            </a:extLst>
          </p:cNvPr>
          <p:cNvSpPr>
            <a:spLocks noGrp="1"/>
          </p:cNvSpPr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공식근거</a:t>
            </a:r>
            <a:endParaRPr sz="10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4C8C88-47E4-4FE6-8BF6-5987BA96B4C0}"/>
              </a:ext>
            </a:extLst>
          </p:cNvPr>
          <p:cNvSpPr>
            <a:spLocks noGrp="1"/>
          </p:cNvSpPr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l">
              <a:buNone/>
              <a:defRPr sz="28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2800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8P 핵심 주장 — 공식자료 교차검증</a:t>
            </a:r>
            <a:endParaRPr sz="2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D8611A7-F0F2-4519-A19A-757B5C13BF2C}"/>
              </a:ext>
            </a:extLst>
          </p:cNvPr>
          <p:cNvSpPr>
            <a:spLocks noGrp="1"/>
          </p:cNvSpPr>
          <p:nvPr/>
        </p:nvSpPr>
        <p:spPr>
          <a:xfrm>
            <a:off x="585216" y="5724525"/>
            <a:ext cx="10515600" cy="6381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defRPr sz="84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840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※ 기존 보호체계 전체가 사용자 판단에만 의존한다는 의미가 아닙니다. 금융기관·시스템이 직접 거래에 개입하는 보호수단도 존재합니다.</a:t>
            </a:r>
          </a:p>
          <a:p>
            <a:pPr algn="l">
              <a:defRPr sz="84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840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본 분석은 보호 과정에서 사용자의 판단·재판단이 요구되는 순간이 실제 존재하는지를 확인한 것입니다.</a:t>
            </a:r>
          </a:p>
          <a:p>
            <a:pPr algn="l">
              <a:defRPr sz="840">
                <a:solidFill>
                  <a:srgbClr val="66768F"/>
                </a:solidFill>
                <a:latin typeface="NanumSquare"/>
                <a:ea typeface="NanumSquare"/>
                <a:cs typeface="NanumSquare"/>
              </a:defRPr>
            </a:pPr>
            <a:r>
              <a:rPr sz="840" b="1">
                <a:solidFill>
                  <a:srgbClr val="66768F"/>
                </a:solidFill>
                <a:latin typeface="NanumSquare"/>
                <a:ea typeface="NanumSquare"/>
                <a:cs typeface="NanumSquare"/>
              </a:rPr>
              <a:t>출처: SKT 뉴스룸 218051·217274·224228 / LG유플러스 뉴스룸 20057 / 금융위원회 87565·86997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122F877-AB78-49EF-AEC1-E9E110619584}"/>
              </a:ext>
            </a:extLst>
          </p:cNvPr>
          <p:cNvSpPr>
            <a:spLocks noGrp="1"/>
          </p:cNvSpPr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2BB749C-5C48-4F67-9227-3312842502FD}"/>
              </a:ext>
            </a:extLst>
          </p:cNvPr>
          <p:cNvSpPr>
            <a:spLocks noGrp="1"/>
          </p:cNvSpPr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rPr>
              <a:t>대응수단</a:t>
            </a:r>
            <a:endParaRPr sz="11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888E65-3D74-4017-9461-55F7DCFE7347}"/>
              </a:ext>
            </a:extLst>
          </p:cNvPr>
          <p:cNvSpPr>
            <a:spLocks noGrp="1"/>
          </p:cNvSpPr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A7381E-FD6D-44D6-BE1B-6B2639955825}"/>
              </a:ext>
            </a:extLst>
          </p:cNvPr>
          <p:cNvSpPr>
            <a:spLocks noGrp="1"/>
          </p:cNvSpPr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rPr>
              <a:t>공식자료에서 확인된 조치</a:t>
            </a:r>
            <a:endParaRPr sz="11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3E28DAE-6913-4A34-AED0-1386CC9950BA}"/>
              </a:ext>
            </a:extLst>
          </p:cNvPr>
          <p:cNvSpPr>
            <a:spLocks noGrp="1"/>
          </p:cNvSpPr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BF9B225-F4EA-4A36-9900-CB2368590B75}"/>
              </a:ext>
            </a:extLst>
          </p:cNvPr>
          <p:cNvSpPr>
            <a:spLocks noGrp="1"/>
          </p:cNvSpPr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rPr>
              <a:t>주요 판단·개입 주체</a:t>
            </a:r>
            <a:endParaRPr sz="11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D9B1BA7-892F-45F3-A8DF-187C564DC9A7}"/>
              </a:ext>
            </a:extLst>
          </p:cNvPr>
          <p:cNvSpPr>
            <a:spLocks noGrp="1"/>
          </p:cNvSpPr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1014EF1-2781-4403-A368-D3532FA3E1DE}"/>
              </a:ext>
            </a:extLst>
          </p:cNvPr>
          <p:cNvSpPr>
            <a:spLocks noGrp="1"/>
          </p:cNvSpPr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50" b="1">
                <a:solidFill>
                  <a:srgbClr val="FFFFFF"/>
                </a:solidFill>
                <a:latin typeface="NanumSquare Bold"/>
                <a:ea typeface="NanumSquare Bold"/>
                <a:cs typeface="NanumSquare Bold"/>
              </a:rPr>
              <a:t>해석</a:t>
            </a:r>
            <a:endParaRPr sz="11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45A1911-9333-4412-8D92-BDF9A2BC4200}"/>
              </a:ext>
            </a:extLst>
          </p:cNvPr>
          <p:cNvSpPr>
            <a:spLocks noGrp="1"/>
          </p:cNvSpPr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ADFA9A0-8427-4041-8C62-937B00967252}"/>
              </a:ext>
            </a:extLst>
          </p:cNvPr>
          <p:cNvSpPr>
            <a:spLocks noGrp="1"/>
          </p:cNvSpPr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SKT 에이닷</a:t>
            </a:r>
            <a:endParaRPr sz="1200"/>
          </a:p>
          <a:p>
            <a:pPr marL="0" indent="0" algn="ctr">
              <a:buNone/>
              <a:def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통화 AI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3719916-CBBE-4ADC-BB09-CFD3DFF58353}"/>
              </a:ext>
            </a:extLst>
          </p:cNvPr>
          <p:cNvSpPr>
            <a:spLocks noGrp="1"/>
          </p:cNvSpPr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DA8E51-8E02-463D-9030-6E60FF1D2BD4}"/>
              </a:ext>
            </a:extLst>
          </p:cNvPr>
          <p:cNvSpPr>
            <a:spLocks noGrp="1"/>
          </p:cNvSpPr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AI 위험탐지·사용자 경고</a:t>
            </a:r>
            <a:endParaRPr sz="107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41D2F9F-897E-4CAD-915A-1BC3BA3C8FA7}"/>
              </a:ext>
            </a:extLst>
          </p:cNvPr>
          <p:cNvSpPr>
            <a:spLocks noGrp="1"/>
          </p:cNvSpPr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8E26E0-1BB9-4DC6-9FF8-522C615A8FBB}"/>
              </a:ext>
            </a:extLst>
          </p:cNvPr>
          <p:cNvSpPr>
            <a:spLocks noGrp="1"/>
          </p:cNvSpPr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사용자</a:t>
            </a:r>
            <a:endParaRPr sz="107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5BD7FB1-FBEE-4C9A-8740-C49CA47BDB3A}"/>
              </a:ext>
            </a:extLst>
          </p:cNvPr>
          <p:cNvSpPr>
            <a:spLocks noGrp="1"/>
          </p:cNvSpPr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C1455A-CECB-42DD-9E24-B490EA976BCC}"/>
              </a:ext>
            </a:extLst>
          </p:cNvPr>
          <p:cNvSpPr>
            <a:spLocks noGrp="1"/>
          </p:cNvSpPr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판단 지원형</a:t>
            </a:r>
            <a:endParaRPr sz="107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5FB870D-F185-4CA8-9527-EE60C88EA90B}"/>
              </a:ext>
            </a:extLst>
          </p:cNvPr>
          <p:cNvSpPr>
            <a:spLocks noGrp="1"/>
          </p:cNvSpPr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19E3188-B97A-4FA3-8FC9-8A0724FA5888}"/>
              </a:ext>
            </a:extLst>
          </p:cNvPr>
          <p:cNvSpPr>
            <a:spLocks noGrp="1"/>
          </p:cNvSpPr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LG U+ 익시오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E157AFF-98EE-4DF8-A338-4A9A3A55D4EC}"/>
              </a:ext>
            </a:extLst>
          </p:cNvPr>
          <p:cNvSpPr>
            <a:spLocks noGrp="1"/>
          </p:cNvSpPr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A327357-1102-42EB-BE59-ECB3D859FC7F}"/>
              </a:ext>
            </a:extLst>
          </p:cNvPr>
          <p:cNvSpPr>
            <a:spLocks noGrp="1"/>
          </p:cNvSpPr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통화패턴 분석·사용자 알림</a:t>
            </a:r>
            <a:endParaRPr sz="107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E69FF6C4-DE6A-4126-B012-56E23A31A0EC}"/>
              </a:ext>
            </a:extLst>
          </p:cNvPr>
          <p:cNvSpPr>
            <a:spLocks noGrp="1"/>
          </p:cNvSpPr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6332BE5-4E2D-4B13-9271-294A8B776B09}"/>
              </a:ext>
            </a:extLst>
          </p:cNvPr>
          <p:cNvSpPr>
            <a:spLocks noGrp="1"/>
          </p:cNvSpPr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사용자</a:t>
            </a:r>
            <a:endParaRPr sz="107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94A6870-7D83-47C4-9EB2-EA36C1903B0F}"/>
              </a:ext>
            </a:extLst>
          </p:cNvPr>
          <p:cNvSpPr>
            <a:spLocks noGrp="1"/>
          </p:cNvSpPr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3E326D3-0C9A-4D9A-BF6E-749DE9612B56}"/>
              </a:ext>
            </a:extLst>
          </p:cNvPr>
          <p:cNvSpPr>
            <a:spLocks noGrp="1"/>
          </p:cNvSpPr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판단 지원형</a:t>
            </a:r>
            <a:endParaRPr sz="107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A32C8EE9-F625-43E1-BA61-DAF559B3DC60}"/>
              </a:ext>
            </a:extLst>
          </p:cNvPr>
          <p:cNvSpPr>
            <a:spLocks noGrp="1"/>
          </p:cNvSpPr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BD63279A-A705-455F-9D26-129F4E8F2171}"/>
              </a:ext>
            </a:extLst>
          </p:cNvPr>
          <p:cNvSpPr>
            <a:spLocks noGrp="1"/>
          </p:cNvSpPr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SKT 가족 케어</a:t>
            </a:r>
            <a:endParaRPr sz="12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DCD11698-456D-4A95-A404-59B22458653C}"/>
              </a:ext>
            </a:extLst>
          </p:cNvPr>
          <p:cNvSpPr>
            <a:spLocks noGrp="1"/>
          </p:cNvSpPr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855552BB-F6D5-407C-A9C6-91FA7715513D}"/>
              </a:ext>
            </a:extLst>
          </p:cNvPr>
          <p:cNvSpPr>
            <a:spLocks noGrp="1"/>
          </p:cNvSpPr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보호자에게 위험 알림</a:t>
            </a:r>
            <a:endParaRPr sz="107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1E6D2081-E012-4BAD-88AB-94B49F497034}"/>
              </a:ext>
            </a:extLst>
          </p:cNvPr>
          <p:cNvSpPr>
            <a:spLocks noGrp="1"/>
          </p:cNvSpPr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617F04C-1AB7-4677-A05E-20DA8C05E790}"/>
              </a:ext>
            </a:extLst>
          </p:cNvPr>
          <p:cNvSpPr>
            <a:spLocks noGrp="1"/>
          </p:cNvSpPr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사용자 + 보호자</a:t>
            </a:r>
            <a:endParaRPr sz="107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8B1014B2-B8CB-4257-BCFD-03E5653AC3C3}"/>
              </a:ext>
            </a:extLst>
          </p:cNvPr>
          <p:cNvSpPr>
            <a:spLocks noGrp="1"/>
          </p:cNvSpPr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D91B494-3646-425B-994C-7ADA09EBD9C9}"/>
              </a:ext>
            </a:extLst>
          </p:cNvPr>
          <p:cNvSpPr>
            <a:spLocks noGrp="1"/>
          </p:cNvSpPr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제3자 알림형</a:t>
            </a:r>
            <a:endParaRPr sz="107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0A63935A-98D5-4E81-BDCA-5006E8EBB82D}"/>
              </a:ext>
            </a:extLst>
          </p:cNvPr>
          <p:cNvSpPr>
            <a:spLocks noGrp="1"/>
          </p:cNvSpPr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B9F5E64-BAAF-416F-833B-5C881C0EE485}"/>
              </a:ext>
            </a:extLst>
          </p:cNvPr>
          <p:cNvSpPr>
            <a:spLocks noGrp="1"/>
          </p:cNvSpPr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12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FDS Rule</a:t>
            </a:r>
            <a:endParaRPr sz="120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205068F4-30D9-4216-BF19-0105B899EDA6}"/>
              </a:ext>
            </a:extLst>
          </p:cNvPr>
          <p:cNvSpPr>
            <a:spLocks noGrp="1"/>
          </p:cNvSpPr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2D41BF6-AF06-4808-8B43-88EBA2A122F5}"/>
              </a:ext>
            </a:extLst>
          </p:cNvPr>
          <p:cNvSpPr>
            <a:spLocks noGrp="1"/>
          </p:cNvSpPr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자동 거래지연 + 금융회사 직원 확인</a:t>
            </a:r>
            <a:endParaRPr sz="107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2308691C-ACF0-47D9-B485-4FE01B0B6900}"/>
              </a:ext>
            </a:extLst>
          </p:cNvPr>
          <p:cNvSpPr>
            <a:spLocks noGrp="1"/>
          </p:cNvSpPr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068BD231-4E3D-43C2-8A59-97C19908C33A}"/>
              </a:ext>
            </a:extLst>
          </p:cNvPr>
          <p:cNvSpPr>
            <a:spLocks noGrp="1"/>
          </p:cNvSpPr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defRPr>
            </a:pPr>
            <a:r>
              <a:rPr sz="1058">
                <a:solidFill>
                  <a:srgbClr val="10213D"/>
                </a:solidFill>
                <a:latin typeface="NanumSquare"/>
                <a:ea typeface="NanumSquare"/>
                <a:cs typeface="NanumSquare"/>
              </a:rPr>
              <a:t>시스템 + 금융기관</a:t>
            </a:r>
            <a:endParaRPr sz="107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07B35C6C-CEF0-44EA-B223-ADCA160C53BB}"/>
              </a:ext>
            </a:extLst>
          </p:cNvPr>
          <p:cNvSpPr>
            <a:spLocks noGrp="1"/>
          </p:cNvSpPr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9AA227CB-075E-4FF9-ACCC-0D0BB2B6D030}"/>
              </a:ext>
            </a:extLst>
          </p:cNvPr>
          <p:cNvSpPr>
            <a:spLocks noGrp="1"/>
          </p:cNvSpPr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  <a:def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058" b="1">
                <a:solidFill>
                  <a:srgbClr val="10213D"/>
                </a:solidFill>
                <a:latin typeface="NanumSquare Bold"/>
                <a:ea typeface="NanumSquare Bold"/>
                <a:cs typeface="NanumSquare Bold"/>
              </a:rPr>
              <a:t>외부 개입형</a:t>
            </a:r>
            <a:endParaRPr sz="107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A0F558F9-2905-432A-A2AB-FDFDF2F47E97}"/>
              </a:ext>
            </a:extLst>
          </p:cNvPr>
          <p:cNvSpPr>
            <a:spLocks noGrp="1"/>
          </p:cNvSpPr>
          <p:nvPr/>
        </p:nvSpPr>
        <p:spPr>
          <a:xfrm>
            <a:off x="713232" y="5276850"/>
            <a:ext cx="10744200" cy="3810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00942A9-E0B4-48C0-B3B7-8A3F60461001}"/>
              </a:ext>
            </a:extLst>
          </p:cNvPr>
          <p:cNvSpPr>
            <a:spLocks noGrp="1"/>
          </p:cNvSpPr>
          <p:nvPr/>
        </p:nvSpPr>
        <p:spPr>
          <a:xfrm>
            <a:off x="941832" y="5343525"/>
            <a:ext cx="10259568" cy="247650"/>
          </a:xfrm>
          <a:prstGeom prst="rect">
            <a:avLst/>
          </a:prstGeom>
          <a:noFill/>
        </p:spPr>
        <p:txBody>
          <a:bodyPr wrap="none" lIns="0" tIns="0" rIns="0" bIns="0" anchor="ctr">
            <a:normAutofit/>
          </a:bodyPr>
          <a:lstStyle/>
          <a:p>
            <a:pPr marL="0" indent="0" algn="ctr">
              <a:buNone/>
              <a:defRPr sz="106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defRPr>
            </a:pPr>
            <a:r>
              <a:rPr sz="1065" b="1">
                <a:solidFill>
                  <a:srgbClr val="1F5EFF"/>
                </a:solidFill>
                <a:latin typeface="NanumSquare Bold"/>
                <a:ea typeface="NanumSquare Bold"/>
                <a:cs typeface="NanumSquare Bold"/>
              </a:rPr>
              <a:t>ASAP + FDS  │  위험정보 확인 후 이체중단  │  시스템 + 금융기관  │  외부 개입형</a:t>
            </a:r>
            <a:endParaRPr sz="1180"/>
          </a:p>
        </p:txBody>
      </p:sp>
      <p:sp>
        <p:nvSpPr>
          <p:cNvPr id="52" name="Slide Number Placeholder 0">
            <a:extLst>
              <a:ext uri="{FF2B5EF4-FFF2-40B4-BE49-F238E27FC236}">
                <a16:creationId xmlns:a16="http://schemas.microsoft.com/office/drawing/2014/main" id="{6419BB4B-BA04-49F1-9788-02A0C54B3CC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632016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피해자의 판단 환경 자체를 조작한다</a:t>
            </a:r>
            <a:endParaRPr lang="en-US" altLang="ko-KR" sz="1530" b="1" dirty="0">
              <a:solidFill>
                <a:srgbClr val="10213D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641848" y="1988820"/>
            <a:ext cx="5367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판단을 돕는 역할을 하는 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솔루션들이 많지만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실제적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·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최종 판단은 개인이 해야 했다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.</a:t>
            </a:r>
          </a:p>
          <a:p>
            <a:pPr marL="0" indent="0" algn="r">
              <a:buNone/>
            </a:pP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그런데 보이스피싱 범죄자가 피해자의 판단 환경 자체를 조작하여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, </a:t>
            </a:r>
            <a:r>
              <a:rPr lang="ko-KR" alt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판단력에 균열을 만든다</a:t>
            </a:r>
            <a:r>
              <a:rPr lang="en-US" altLang="ko-KR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가</a:t>
            </a: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291840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ko-KR" altLang="en-US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판단력이 흐려진 피해자가 직접 판단하게 해서는 안된다</a:t>
            </a:r>
            <a:r>
              <a:rPr lang="en-US" altLang="ko-KR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</a:p>
          <a:p>
            <a:pPr marL="0" indent="0" algn="r">
              <a:buNone/>
            </a:pPr>
            <a:r>
              <a:rPr lang="en-US" sz="1150" dirty="0" err="1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</a:t>
            </a:r>
            <a:r>
              <a:rPr lang="en-US" sz="1150" dirty="0">
                <a:solidFill>
                  <a:srgbClr val="FF4B1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밖에서 보는 독립적인 제3자의 검토가 필요하다.</a:t>
            </a:r>
            <a:endParaRPr lang="en-US" sz="1150" dirty="0">
              <a:solidFill>
                <a:srgbClr val="FF4B16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7" y="4251960"/>
            <a:ext cx="54460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피해자가 직접 판단하기 어려운 상황에 제 </a:t>
            </a:r>
            <a:r>
              <a:rPr lang="en-US" altLang="ko-KR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3</a:t>
            </a:r>
            <a:r>
              <a:rPr lang="ko-KR" alt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자의 도움이 필요할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를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어떻게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사용하는가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461684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391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94360" y="778923"/>
            <a:ext cx="11164824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최근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3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동안 보이스피싱 피해 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63,101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2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조</a:t>
            </a:r>
            <a:r>
              <a:rPr lang="en-US" altLang="ko-KR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 5,595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억원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평균 피해액 </a:t>
            </a:r>
            <a:r>
              <a:rPr lang="ko-KR" altLang="en-US" sz="2200" dirty="0">
                <a:solidFill>
                  <a:srgbClr val="FF4B1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우상향</a:t>
            </a:r>
            <a:endParaRPr lang="en-US" altLang="ko-KR" sz="2200" dirty="0">
              <a:solidFill>
                <a:srgbClr val="FF4B16"/>
              </a:solidFill>
              <a:latin typeface="페이퍼로지 7 Bold" pitchFamily="2" charset="-127"/>
              <a:ea typeface="페이퍼로지 7 Bold" pitchFamily="2" charset="-127"/>
              <a:cs typeface="NanumSquare" pitchFamily="34" charset="-120"/>
            </a:endParaRPr>
          </a:p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 이어지는 심각한 상황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94360" y="5805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페이퍼로지 4 Regular" pitchFamily="2" charset="-127"/>
                <a:ea typeface="페이퍼로지 4 Regular" pitchFamily="2" charset="-127"/>
                <a:cs typeface="NanumSquare" pitchFamily="34" charset="-120"/>
              </a:rPr>
              <a:t>…</a:t>
            </a:r>
            <a:endParaRPr lang="en-US" sz="123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600456" y="4521201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10836" y="4683614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55688" y="4616027"/>
            <a:ext cx="3656903" cy="1551360"/>
            <a:chOff x="7640448" y="4533932"/>
            <a:chExt cx="3656903" cy="15513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33932"/>
              <a:ext cx="3656903" cy="1551360"/>
              <a:chOff x="7640448" y="4533932"/>
              <a:chExt cx="3656903" cy="15513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33932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59C38F3-DD12-4712-89C3-9BF15E7AF1AD}"/>
              </a:ext>
            </a:extLst>
          </p:cNvPr>
          <p:cNvGrpSpPr/>
          <p:nvPr/>
        </p:nvGrpSpPr>
        <p:grpSpPr>
          <a:xfrm>
            <a:off x="1919951" y="1775283"/>
            <a:ext cx="3792913" cy="2514600"/>
            <a:chOff x="1919951" y="1775283"/>
            <a:chExt cx="3792913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1919951" y="1775283"/>
              <a:ext cx="3792913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855B79-622D-459E-A7F5-4F42EB704F63}"/>
                </a:ext>
              </a:extLst>
            </p:cNvPr>
            <p:cNvSpPr txBox="1"/>
            <p:nvPr/>
          </p:nvSpPr>
          <p:spPr>
            <a:xfrm>
              <a:off x="2073268" y="1868848"/>
              <a:ext cx="348627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최근 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3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년 동안 보이스피싱 피해 수</a:t>
              </a:r>
              <a:r>
                <a:rPr lang="en-US" altLang="ko-KR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0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피해액</a:t>
              </a:r>
              <a:endParaRPr lang="ko-KR" altLang="en-US" sz="1000" dirty="0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FFC5723-4DEE-4D04-A123-AE63B57956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8179"/>
            <a:stretch/>
          </p:blipFill>
          <p:spPr>
            <a:xfrm>
              <a:off x="1966999" y="2186073"/>
              <a:ext cx="3698816" cy="2024053"/>
            </a:xfrm>
            <a:prstGeom prst="rect">
              <a:avLst/>
            </a:prstGeom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F7FA650-E59B-4D90-AE83-565419B0F87C}"/>
                </a:ext>
              </a:extLst>
            </p:cNvPr>
            <p:cNvSpPr/>
            <p:nvPr/>
          </p:nvSpPr>
          <p:spPr>
            <a:xfrm>
              <a:off x="4672042" y="2496299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E66867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728A668-21CC-46BF-889F-22359C7120BA}"/>
                </a:ext>
              </a:extLst>
            </p:cNvPr>
            <p:cNvSpPr/>
            <p:nvPr/>
          </p:nvSpPr>
          <p:spPr>
            <a:xfrm>
              <a:off x="3606857" y="2982567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5E85B0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C85894-88E6-4F07-8E66-A466C89171BD}"/>
                </a:ext>
              </a:extLst>
            </p:cNvPr>
            <p:cNvSpPr/>
            <p:nvPr/>
          </p:nvSpPr>
          <p:spPr>
            <a:xfrm>
              <a:off x="2475450" y="3512791"/>
              <a:ext cx="419100" cy="196850"/>
            </a:xfrm>
            <a:custGeom>
              <a:avLst/>
              <a:gdLst>
                <a:gd name="connsiteX0" fmla="*/ 50800 w 419100"/>
                <a:gd name="connsiteY0" fmla="*/ 31750 h 196850"/>
                <a:gd name="connsiteX1" fmla="*/ 133350 w 419100"/>
                <a:gd name="connsiteY1" fmla="*/ 0 h 196850"/>
                <a:gd name="connsiteX2" fmla="*/ 406400 w 419100"/>
                <a:gd name="connsiteY2" fmla="*/ 0 h 196850"/>
                <a:gd name="connsiteX3" fmla="*/ 419100 w 419100"/>
                <a:gd name="connsiteY3" fmla="*/ 196850 h 196850"/>
                <a:gd name="connsiteX4" fmla="*/ 0 w 419100"/>
                <a:gd name="connsiteY4" fmla="*/ 152400 h 196850"/>
                <a:gd name="connsiteX5" fmla="*/ 50800 w 419100"/>
                <a:gd name="connsiteY5" fmla="*/ 31750 h 196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100" h="196850">
                  <a:moveTo>
                    <a:pt x="50800" y="31750"/>
                  </a:moveTo>
                  <a:lnTo>
                    <a:pt x="133350" y="0"/>
                  </a:lnTo>
                  <a:lnTo>
                    <a:pt x="406400" y="0"/>
                  </a:lnTo>
                  <a:lnTo>
                    <a:pt x="419100" y="196850"/>
                  </a:lnTo>
                  <a:lnTo>
                    <a:pt x="0" y="152400"/>
                  </a:lnTo>
                  <a:lnTo>
                    <a:pt x="50800" y="31750"/>
                  </a:lnTo>
                  <a:close/>
                </a:path>
              </a:pathLst>
            </a:custGeom>
            <a:solidFill>
              <a:srgbClr val="5E85B0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489E0E6-8AB9-4BC7-B11E-6A1D96655615}"/>
                </a:ext>
              </a:extLst>
            </p:cNvPr>
            <p:cNvSpPr txBox="1"/>
            <p:nvPr/>
          </p:nvSpPr>
          <p:spPr>
            <a:xfrm>
              <a:off x="4555960" y="2511342"/>
              <a:ext cx="66396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조</a:t>
              </a:r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2,578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C943AF0-406E-4014-976C-76FA4313DF4F}"/>
                </a:ext>
              </a:extLst>
            </p:cNvPr>
            <p:cNvSpPr txBox="1"/>
            <p:nvPr/>
          </p:nvSpPr>
          <p:spPr>
            <a:xfrm>
              <a:off x="3543736" y="2982567"/>
              <a:ext cx="54534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8,545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8EFCB8E-12A4-419B-948F-489429AF1ED8}"/>
                </a:ext>
              </a:extLst>
            </p:cNvPr>
            <p:cNvSpPr txBox="1"/>
            <p:nvPr/>
          </p:nvSpPr>
          <p:spPr>
            <a:xfrm>
              <a:off x="2475450" y="3475650"/>
              <a:ext cx="54534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4,472</a:t>
              </a:r>
              <a:r>
                <a:rPr lang="ko-KR" altLang="en-US" sz="6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억원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4D1721-0F44-4001-ADBD-3E9A3C2A3D87}"/>
                </a:ext>
              </a:extLst>
            </p:cNvPr>
            <p:cNvSpPr/>
            <p:nvPr/>
          </p:nvSpPr>
          <p:spPr>
            <a:xfrm>
              <a:off x="2620992" y="4048125"/>
              <a:ext cx="2403475" cy="130583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2BF741-D119-4911-90BB-F040E7318E90}"/>
                </a:ext>
              </a:extLst>
            </p:cNvPr>
            <p:cNvSpPr txBox="1"/>
            <p:nvPr/>
          </p:nvSpPr>
          <p:spPr>
            <a:xfrm>
              <a:off x="2553196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2023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A4CE8A04-3A89-45D7-BEE1-2EC5B28651D0}"/>
                </a:ext>
              </a:extLst>
            </p:cNvPr>
            <p:cNvSpPr txBox="1"/>
            <p:nvPr/>
          </p:nvSpPr>
          <p:spPr>
            <a:xfrm>
              <a:off x="3640520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2024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4A21AB6A-B73B-49BF-8F2B-43C4CF722297}"/>
                </a:ext>
              </a:extLst>
            </p:cNvPr>
            <p:cNvSpPr txBox="1"/>
            <p:nvPr/>
          </p:nvSpPr>
          <p:spPr>
            <a:xfrm>
              <a:off x="4703960" y="4021083"/>
              <a:ext cx="3898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2025</a:t>
              </a:r>
              <a:endParaRPr lang="ko-KR" altLang="en-US" sz="60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4EC5B3E-8FE6-4BD4-9B6D-8500FBAA2732}"/>
                </a:ext>
              </a:extLst>
            </p:cNvPr>
            <p:cNvSpPr/>
            <p:nvPr/>
          </p:nvSpPr>
          <p:spPr>
            <a:xfrm>
              <a:off x="4753258" y="2331276"/>
              <a:ext cx="288131" cy="100309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B7AD2F61-975F-41C4-9789-1180181056D9}"/>
                </a:ext>
              </a:extLst>
            </p:cNvPr>
            <p:cNvSpPr/>
            <p:nvPr/>
          </p:nvSpPr>
          <p:spPr>
            <a:xfrm>
              <a:off x="3700745" y="2476135"/>
              <a:ext cx="234416" cy="119533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122DE53-CFC1-469F-AFC5-1680C72FDA61}"/>
                </a:ext>
              </a:extLst>
            </p:cNvPr>
            <p:cNvSpPr txBox="1"/>
            <p:nvPr/>
          </p:nvSpPr>
          <p:spPr>
            <a:xfrm>
              <a:off x="4632667" y="2285959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23,260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C287651B-CC2C-4231-A006-2DB4404D736B}"/>
                </a:ext>
              </a:extLst>
            </p:cNvPr>
            <p:cNvSpPr txBox="1"/>
            <p:nvPr/>
          </p:nvSpPr>
          <p:spPr>
            <a:xfrm>
              <a:off x="3572429" y="2441886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20,839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B3DC7ABC-F765-4827-842F-F76605CAF12C}"/>
                </a:ext>
              </a:extLst>
            </p:cNvPr>
            <p:cNvSpPr/>
            <p:nvPr/>
          </p:nvSpPr>
          <p:spPr>
            <a:xfrm>
              <a:off x="2623249" y="2643173"/>
              <a:ext cx="234416" cy="7108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3BFCFC4-3A47-47CD-A7EA-EB271A31B9F0}"/>
                </a:ext>
              </a:extLst>
            </p:cNvPr>
            <p:cNvSpPr txBox="1"/>
            <p:nvPr/>
          </p:nvSpPr>
          <p:spPr>
            <a:xfrm>
              <a:off x="2483465" y="2576551"/>
              <a:ext cx="52931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latin typeface="페이퍼로지 7 Bold" pitchFamily="2" charset="-127"/>
                  <a:ea typeface="페이퍼로지 7 Bold" pitchFamily="2" charset="-127"/>
                </a:rPr>
                <a:t>18,902</a:t>
              </a:r>
              <a:r>
                <a:rPr lang="ko-KR" altLang="en-US" sz="600" dirty="0">
                  <a:latin typeface="페이퍼로지 7 Bold" pitchFamily="2" charset="-127"/>
                  <a:ea typeface="페이퍼로지 7 Bold" pitchFamily="2" charset="-127"/>
                </a:rPr>
                <a:t>건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9CB2445-6554-4212-901E-9C6B7D7612C4}"/>
              </a:ext>
            </a:extLst>
          </p:cNvPr>
          <p:cNvGrpSpPr/>
          <p:nvPr/>
        </p:nvGrpSpPr>
        <p:grpSpPr>
          <a:xfrm>
            <a:off x="5826188" y="1775283"/>
            <a:ext cx="4445862" cy="2514600"/>
            <a:chOff x="4630032" y="1775283"/>
            <a:chExt cx="4445862" cy="2514600"/>
          </a:xfrm>
        </p:grpSpPr>
        <p:sp>
          <p:nvSpPr>
            <p:cNvPr id="119" name="Shape 8">
              <a:extLst>
                <a:ext uri="{FF2B5EF4-FFF2-40B4-BE49-F238E27FC236}">
                  <a16:creationId xmlns:a16="http://schemas.microsoft.com/office/drawing/2014/main" id="{DFF93096-BD0A-4BBF-8479-B0600EFEC37F}"/>
                </a:ext>
              </a:extLst>
            </p:cNvPr>
            <p:cNvSpPr/>
            <p:nvPr/>
          </p:nvSpPr>
          <p:spPr>
            <a:xfrm>
              <a:off x="4630032" y="1775283"/>
              <a:ext cx="4445862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graphicFrame>
          <p:nvGraphicFramePr>
            <p:cNvPr id="40" name="Chart 39">
              <a:extLst>
                <a:ext uri="{FF2B5EF4-FFF2-40B4-BE49-F238E27FC236}">
                  <a16:creationId xmlns:a16="http://schemas.microsoft.com/office/drawing/2014/main" id="{46FDFEB3-28D8-47BD-9371-4A09F7B17AFE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18509086"/>
                </p:ext>
              </p:extLst>
            </p:nvPr>
          </p:nvGraphicFramePr>
          <p:xfrm>
            <a:off x="4748159" y="2132738"/>
            <a:ext cx="4258123" cy="209335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892428CB-C9D5-47A0-80BE-D571E28C0841}"/>
              </a:ext>
            </a:extLst>
          </p:cNvPr>
          <p:cNvSpPr txBox="1"/>
          <p:nvPr/>
        </p:nvSpPr>
        <p:spPr>
          <a:xfrm>
            <a:off x="6305980" y="1868848"/>
            <a:ext cx="348627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년도별 </a:t>
            </a:r>
            <a:r>
              <a:rPr lang="en-US" altLang="ko-KR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1</a:t>
            </a:r>
            <a:r>
              <a:rPr lang="ko-KR" altLang="en-US" sz="10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 사건 평균 피해액 추이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</TotalTime>
  <Words>5367</Words>
  <Application>Microsoft Office PowerPoint</Application>
  <PresentationFormat>Widescreen</PresentationFormat>
  <Paragraphs>845</Paragraphs>
  <Slides>37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50" baseType="lpstr">
      <vt:lpstr>Arial Unicode MS</vt:lpstr>
      <vt:lpstr>NanumSquare</vt:lpstr>
      <vt:lpstr>NanumSquare Bold</vt:lpstr>
      <vt:lpstr>Noto Sans KR</vt:lpstr>
      <vt:lpstr>Pretendard</vt:lpstr>
      <vt:lpstr>맑은 고딕</vt:lpstr>
      <vt:lpstr>페이퍼로지 4 Regular</vt:lpstr>
      <vt:lpstr>페이퍼로지 7 Bold</vt:lpstr>
      <vt:lpstr>페이퍼로지 9 Black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245</cp:revision>
  <dcterms:created xsi:type="dcterms:W3CDTF">2026-08-25T03:40:06Z</dcterms:created>
  <dcterms:modified xsi:type="dcterms:W3CDTF">2026-08-28T03:12:48Z</dcterms:modified>
</cp:coreProperties>
</file>