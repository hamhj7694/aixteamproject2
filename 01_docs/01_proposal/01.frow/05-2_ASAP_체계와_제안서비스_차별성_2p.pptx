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19" r:id="rId25"/>
    <p:sldId id="320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bc" initials="m" lastIdx="1" clrIdx="0">
    <p:extLst>
      <p:ext uri="{19B8F6BF-5375-455C-9EA6-DF929625EA0E}">
        <p15:presenceInfo xmlns:p15="http://schemas.microsoft.com/office/powerpoint/2012/main" userId="mb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B16"/>
    <a:srgbClr val="E56766"/>
    <a:srgbClr val="0B1F3A"/>
    <a:srgbClr val="E66867"/>
    <a:srgbClr val="49A8FF"/>
    <a:srgbClr val="002060"/>
    <a:srgbClr val="5E85B0"/>
    <a:srgbClr val="2F7CF6"/>
    <a:srgbClr val="10213D"/>
    <a:srgbClr val="0E27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4660"/>
  </p:normalViewPr>
  <p:slideViewPr>
    <p:cSldViewPr snapToGrid="0">
      <p:cViewPr>
        <p:scale>
          <a:sx n="100" d="100"/>
          <a:sy n="100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30" Type="http://schemas.openxmlformats.org/officeDocument/2006/relationships/commentAuthors" Target="commentAuthors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D40B9-442F-4379-B62C-50857005B014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AA1BA-B990-416E-92A8-7DD949855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655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825F1-9B96-434A-8F84-8E13385EE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8E24B-0332-48A5-BE72-7D6D7D5BC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54645-9418-4B00-808B-DCEA688DC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10861-48B6-481D-92FB-14BBA4611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56A97-60F8-410D-AC45-02B24A7AF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32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A4A16-7AFC-4E56-8116-359F22C15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6CDDD-6F0D-43D5-ACE9-CEE3629D5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E97C0-0245-40CD-B32D-9A0861574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61660-6F35-43EF-AA03-C9BAD6FB6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300E5-7CAF-4E82-8745-DD95AF19E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367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94B64-C4A1-4716-B6AA-9B1CFFB1A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953C3-DC54-4B4F-936F-728ADFFFC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72A36-20C6-4384-9DB7-D8B15FB2C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DDD8A-B8D6-4223-B25E-1D027961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D1C47-2930-4438-B29E-CB3587BB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87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5231-41DC-42AC-A996-A58765762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FDF20-D71D-4455-9FB6-D9529AB5AD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126F5-90A0-49BC-B18A-E120A5B5A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EDDDC-330C-4B8D-A3A2-D04878B3B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1BFB2-4AEF-4875-B5DD-4B00B66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F090D-5DD0-45A9-A07D-462AFDBB7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581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60F6A-6F0D-4372-BB37-75AFDBB6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F6076-985E-4AE1-A13D-DB6E53A0C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1903C3-EFE3-4915-98D7-E22FC994D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1897D4-6C75-4354-835C-B88FCF75CA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3F3649-5C4B-4FA7-9082-F0226512E1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4454A8-E9EA-42F6-B46C-170C30CBF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F80141-BAED-4F7F-8403-7075ADB8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DEE564-FC66-4A86-AF92-DFB13604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157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1065A-E81B-4517-B4E7-4EC02FF75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36D705-C0B5-4213-A274-07C65FD1F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F75015-697E-45BF-8C33-976681E86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FBA8F-2031-4F60-BBFC-E8758451A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289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832EF1-D7E3-4909-8D32-C27D2E2BD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A86A5-7B94-431F-ADF6-637C10AC5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0DB09-3EFF-4D81-B13F-8437B3913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795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6F734-C3B4-497A-94B3-566C3A207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284BF-856F-48C1-9D83-76115021E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37885-2C0F-46EA-AC64-F71778F37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B7929-0F58-4F77-9E7D-3404B37A4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A31AD-4D8D-49B5-BF0A-E76592F0B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E14CB-8911-447F-84E7-92D96B9B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28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BFE16-EF20-469F-B4C1-2BB4ADBB5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EEDCF2-7A87-4013-8665-D8A0097743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DF7F6E-DEF1-4591-8CE4-5034CEFDB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3A68D-BD39-409C-85CD-07FE60E79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FA09B-3F3E-43B2-B916-AB2191794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F1E6-7205-4AAA-A142-33EFA8824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40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6845-87EE-49C4-A54D-4DD88F5DE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F6E6A-4977-4CEC-A8D9-7064A8462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C0440-3E4A-48C3-AACE-31A03175A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55132-9CD7-4D8C-9500-57BA9DAA4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02DDC-0868-49FA-A7B5-3DBED67D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331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2B7006-E9B3-4984-8A5C-936F1BA9A9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041A9-D43B-4632-BCCA-A9418D8DC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B6C7C-AFE8-4214-B42F-E7F256617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B8BBB-3BCE-46E4-84F5-006AEA9EF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7C3B-1CFD-4E17-ABB5-5ABD3B817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997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464808"/>
            <a:ext cx="11109960" cy="0"/>
          </a:xfrm>
          <a:prstGeom prst="line">
            <a:avLst/>
          </a:prstGeom>
          <a:noFill/>
          <a:ln w="10160">
            <a:solidFill>
              <a:srgbClr val="24446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B4B4F1C-6A2C-42AD-91C2-CF0DFB3D0BC7}"/>
              </a:ext>
            </a:extLst>
          </p:cNvPr>
          <p:cNvSpPr/>
          <p:nvPr userDrawn="1"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23227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A96E590-9872-4B78-AF25-07765B3C7807}"/>
              </a:ext>
            </a:extLst>
          </p:cNvPr>
          <p:cNvSpPr/>
          <p:nvPr userDrawn="1"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6464808"/>
            <a:ext cx="11109960" cy="0"/>
          </a:xfrm>
          <a:prstGeom prst="line">
            <a:avLst/>
          </a:prstGeom>
          <a:noFill/>
          <a:ln w="10160">
            <a:solidFill>
              <a:srgbClr val="24446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6F8AB425-CE47-448A-A682-729483C69FDC}"/>
              </a:ext>
            </a:extLst>
          </p:cNvPr>
          <p:cNvSpPr/>
          <p:nvPr userDrawn="1"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00294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IGHT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9BABCA-8F5D-4C86-A07A-BAECAF610FF4}"/>
              </a:ext>
            </a:extLst>
          </p:cNvPr>
          <p:cNvSpPr/>
          <p:nvPr userDrawn="1"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64808"/>
            <a:ext cx="11109960" cy="0"/>
          </a:xfrm>
          <a:prstGeom prst="line">
            <a:avLst/>
          </a:prstGeom>
          <a:noFill/>
          <a:ln w="10160">
            <a:solidFill>
              <a:srgbClr val="DCE8F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086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96EEB8-1A5C-44A5-B5C2-7E736071E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1D718-3418-4B18-B782-CCF9CEDA8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CCEB8-E72F-428B-8B58-F801AD8B6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A2DB2-CDF2-401D-A12A-A35C25BBD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113C4-3B0A-46FB-A37B-2C939FBD8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1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  <p:sldLayoutId id="2147483661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sc.go.kr/no010101/85526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sc.go.kr/no010101/85526" TargetMode="External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09728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기존 인프라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ASAP은 기관 간 보이스피싱 위험정보를 실시간 공유·분석하는 인프라다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금융·수사·보안 과정에서 확보한 의심정보를 한곳에 모으고, AI 패턴분석과 금융회사의 FDS·거래조치로 연결한다.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938528"/>
            <a:ext cx="2487168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4672" y="2167128"/>
            <a:ext cx="347472" cy="347472"/>
          </a:xfrm>
          <a:prstGeom prst="ellipse">
            <a:avLst/>
          </a:prstGeom>
          <a:solidFill>
            <a:srgbClr val="E9F3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167128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2B67FF"/>
                </a:solidFill>
                <a:latin typeface="페이퍼로지 7 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048256"/>
            <a:ext cx="153619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0B2242"/>
                </a:solidFill>
                <a:latin typeface="페이퍼로지 7 Bold"/>
              </a:rPr>
              <a:t>금융회사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331720"/>
            <a:ext cx="1536192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>
                <a:solidFill>
                  <a:srgbClr val="697D98"/>
                </a:solidFill>
                <a:latin typeface="페이퍼로지 4 Regular"/>
              </a:rPr>
              <a:t>피해자·사기이용·의심계좌
해외계좌·위조신분증 정보</a:t>
            </a:r>
          </a:p>
        </p:txBody>
      </p:sp>
      <p:sp>
        <p:nvSpPr>
          <p:cNvPr id="16" name="Chevron 15"/>
          <p:cNvSpPr/>
          <p:nvPr/>
        </p:nvSpPr>
        <p:spPr>
          <a:xfrm>
            <a:off x="3172968" y="2249424"/>
            <a:ext cx="347472" cy="201168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017520"/>
            <a:ext cx="2487168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3246120"/>
            <a:ext cx="347472" cy="347472"/>
          </a:xfrm>
          <a:prstGeom prst="ellipse">
            <a:avLst/>
          </a:prstGeom>
          <a:solidFill>
            <a:srgbClr val="E9F9F4"/>
          </a:solidFill>
          <a:ln w="12700">
            <a:solidFill>
              <a:srgbClr val="1D9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246120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D9173"/>
                </a:solidFill>
                <a:latin typeface="페이퍼로지 7 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27248"/>
            <a:ext cx="153619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0B2242"/>
                </a:solidFill>
                <a:latin typeface="페이퍼로지 7 Bold"/>
              </a:rPr>
              <a:t>수사기관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410712"/>
            <a:ext cx="1536192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>
                <a:solidFill>
                  <a:srgbClr val="697D98"/>
                </a:solidFill>
                <a:latin typeface="페이퍼로지 4 Regular"/>
              </a:rPr>
              <a:t>수사를 통해 확인한
잠재 피해자 관련 정보</a:t>
            </a:r>
          </a:p>
        </p:txBody>
      </p:sp>
      <p:sp>
        <p:nvSpPr>
          <p:cNvPr id="22" name="Chevron 21"/>
          <p:cNvSpPr/>
          <p:nvPr/>
        </p:nvSpPr>
        <p:spPr>
          <a:xfrm>
            <a:off x="3172968" y="3328415"/>
            <a:ext cx="347472" cy="201168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3504" y="4096512"/>
            <a:ext cx="2487168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4672" y="4325112"/>
            <a:ext cx="347472" cy="347472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32511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4A1E"/>
                </a:solidFill>
                <a:latin typeface="페이퍼로지 7 Bol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206240"/>
            <a:ext cx="153619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0B2242"/>
                </a:solidFill>
                <a:latin typeface="페이퍼로지 7 Bold"/>
              </a:rPr>
              <a:t>금융보안원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489704"/>
            <a:ext cx="1536192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>
                <a:solidFill>
                  <a:srgbClr val="697D98"/>
                </a:solidFill>
                <a:latin typeface="페이퍼로지 4 Regular"/>
              </a:rPr>
              <a:t>피싱사이트·악성앱 등
관제·탐지 정보</a:t>
            </a:r>
          </a:p>
        </p:txBody>
      </p:sp>
      <p:sp>
        <p:nvSpPr>
          <p:cNvPr id="28" name="Chevron 27"/>
          <p:cNvSpPr/>
          <p:nvPr/>
        </p:nvSpPr>
        <p:spPr>
          <a:xfrm>
            <a:off x="3172968" y="4407408"/>
            <a:ext cx="347472" cy="201168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602736" y="1810512"/>
            <a:ext cx="3913632" cy="3584448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736592" y="2039112"/>
            <a:ext cx="1645920" cy="274320"/>
          </a:xfrm>
          <a:prstGeom prst="roundRect">
            <a:avLst>
              <a:gd name="adj" fmla="val 8000"/>
            </a:avLst>
          </a:prstGeom>
          <a:solidFill>
            <a:srgbClr val="123D69"/>
          </a:solidFill>
          <a:ln w="10160">
            <a:solidFill>
              <a:srgbClr val="123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36592" y="2039112"/>
            <a:ext cx="16459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B0D7FF"/>
                </a:solidFill>
                <a:latin typeface="페이퍼로지 7 Bold"/>
              </a:rPr>
              <a:t>RISK INTELLIGENCE INFRA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68496" y="2523744"/>
            <a:ext cx="3182112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900" b="1">
                <a:solidFill>
                  <a:srgbClr val="FFFFFF"/>
                </a:solidFill>
                <a:latin typeface="페이퍼로지 7 Bold"/>
              </a:rPr>
              <a:t>ASAP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68496" y="2990088"/>
            <a:ext cx="318211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70" b="0">
                <a:solidFill>
                  <a:srgbClr val="BED6F1"/>
                </a:solidFill>
                <a:latin typeface="페이퍼로지 4 Regular"/>
              </a:rPr>
              <a:t>AI-based anti-phishing Sharing &amp; Analysis Platform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986784" y="3438144"/>
            <a:ext cx="3145536" cy="0"/>
          </a:xfrm>
          <a:prstGeom prst="line">
            <a:avLst/>
          </a:prstGeom>
          <a:ln w="12700">
            <a:solidFill>
              <a:srgbClr val="395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142232" y="3730752"/>
            <a:ext cx="146304" cy="146304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07408" y="3657600"/>
            <a:ext cx="25146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FFFFFF"/>
                </a:solidFill>
                <a:latin typeface="페이퍼로지 7 Bold"/>
              </a:rPr>
              <a:t>9개 유형 · 90개 정보항목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7408" y="3877056"/>
            <a:ext cx="2514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B3CDE9"/>
                </a:solidFill>
                <a:latin typeface="페이퍼로지 4 Regular"/>
              </a:rPr>
              <a:t>대규모 의심정보 표준화</a:t>
            </a:r>
          </a:p>
        </p:txBody>
      </p:sp>
      <p:sp>
        <p:nvSpPr>
          <p:cNvPr id="38" name="Oval 37"/>
          <p:cNvSpPr/>
          <p:nvPr/>
        </p:nvSpPr>
        <p:spPr>
          <a:xfrm>
            <a:off x="4142232" y="4242816"/>
            <a:ext cx="146304" cy="146304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07408" y="4169664"/>
            <a:ext cx="25146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FFFFFF"/>
                </a:solidFill>
                <a:latin typeface="페이퍼로지 7 Bold"/>
              </a:rPr>
              <a:t>참여기관 간 실시간 공유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07408" y="4389120"/>
            <a:ext cx="2514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B3CDE9"/>
                </a:solidFill>
                <a:latin typeface="페이퍼로지 4 Regular"/>
              </a:rPr>
              <a:t>기관별 분절정보 연결</a:t>
            </a:r>
          </a:p>
        </p:txBody>
      </p:sp>
      <p:sp>
        <p:nvSpPr>
          <p:cNvPr id="41" name="Oval 40"/>
          <p:cNvSpPr/>
          <p:nvPr/>
        </p:nvSpPr>
        <p:spPr>
          <a:xfrm>
            <a:off x="4142232" y="4754880"/>
            <a:ext cx="146304" cy="146304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07408" y="4681728"/>
            <a:ext cx="25146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FFFFFF"/>
                </a:solidFill>
                <a:latin typeface="페이퍼로지 7 Bold"/>
              </a:rPr>
              <a:t>AI 패턴 분석 · 위험정보 활용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07408" y="4901184"/>
            <a:ext cx="2514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B3CDE9"/>
                </a:solidFill>
                <a:latin typeface="페이퍼로지 4 Regular"/>
              </a:rPr>
              <a:t>신종 패턴·고위험 거래 탐지</a:t>
            </a:r>
          </a:p>
        </p:txBody>
      </p:sp>
      <p:sp>
        <p:nvSpPr>
          <p:cNvPr id="44" name="Chevron 43"/>
          <p:cNvSpPr/>
          <p:nvPr/>
        </p:nvSpPr>
        <p:spPr>
          <a:xfrm>
            <a:off x="7626096" y="3337560"/>
            <a:ext cx="384048" cy="219456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101583" y="1938528"/>
            <a:ext cx="34747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302752" y="2103120"/>
            <a:ext cx="1069848" cy="246888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02752" y="2103120"/>
            <a:ext cx="1069848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2B67FF"/>
                </a:solidFill>
                <a:latin typeface="페이퍼로지 7 Bold"/>
              </a:rPr>
              <a:t>금융회사 FDS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73768" y="2084832"/>
            <a:ext cx="1755648" cy="4663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1B3150"/>
                </a:solidFill>
                <a:latin typeface="페이퍼로지 7 Bold"/>
              </a:rPr>
              <a:t>거래 위험성 반영·추가확인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01583" y="3017520"/>
            <a:ext cx="34747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302752" y="3182112"/>
            <a:ext cx="1069848" cy="246888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02752" y="3182112"/>
            <a:ext cx="1069848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4A1E"/>
                </a:solidFill>
                <a:latin typeface="페이퍼로지 7 Bold"/>
              </a:rPr>
              <a:t>거래 보호조치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73768" y="3163824"/>
            <a:ext cx="1755648" cy="4663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1B3150"/>
                </a:solidFill>
                <a:latin typeface="페이퍼로지 7 Bold"/>
              </a:rPr>
              <a:t>임시조치·지연출금·지급정지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01583" y="4096512"/>
            <a:ext cx="34747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302752" y="4261104"/>
            <a:ext cx="1069848" cy="246888"/>
          </a:xfrm>
          <a:prstGeom prst="roundRect">
            <a:avLst>
              <a:gd name="adj" fmla="val 8000"/>
            </a:avLst>
          </a:prstGeom>
          <a:solidFill>
            <a:srgbClr val="E9F9F4"/>
          </a:solidFill>
          <a:ln w="10160">
            <a:solidFill>
              <a:srgbClr val="E9F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02752" y="4261104"/>
            <a:ext cx="1069848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1D9173"/>
                </a:solidFill>
                <a:latin typeface="페이퍼로지 7 Bold"/>
              </a:rPr>
              <a:t>수사·예방 활용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73768" y="4242816"/>
            <a:ext cx="1755648" cy="4663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1B3150"/>
                </a:solidFill>
                <a:latin typeface="페이퍼로지 7 Bold"/>
              </a:rPr>
              <a:t>경찰 신고·최신 수법 분석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444752" y="5632704"/>
            <a:ext cx="2395728" cy="62179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54480" y="5696712"/>
            <a:ext cx="129844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B67FF"/>
                </a:solidFill>
                <a:latin typeface="페이퍼로지 7 Bold"/>
              </a:rPr>
              <a:t>14.8만건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8920" y="5715000"/>
            <a:ext cx="89611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>
                <a:solidFill>
                  <a:srgbClr val="1B3150"/>
                </a:solidFill>
                <a:latin typeface="페이퍼로지 7 Bold"/>
              </a:rPr>
              <a:t>정보 공유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0" y="5632704"/>
            <a:ext cx="2395728" cy="62179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81728" y="5696712"/>
            <a:ext cx="129844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B67FF"/>
                </a:solidFill>
                <a:latin typeface="페이퍼로지 7 Bold"/>
              </a:rPr>
              <a:t>2,705개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16168" y="5715000"/>
            <a:ext cx="89611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>
                <a:solidFill>
                  <a:srgbClr val="1B3150"/>
                </a:solidFill>
                <a:latin typeface="페이퍼로지 7 Bold"/>
              </a:rPr>
              <a:t>계좌 조치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699248" y="5632704"/>
            <a:ext cx="2395728" cy="621792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08975" y="5696712"/>
            <a:ext cx="129844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4A1E"/>
                </a:solidFill>
                <a:latin typeface="페이퍼로지 7 Bold"/>
              </a:rPr>
              <a:t>186.5억원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3416" y="5715000"/>
            <a:ext cx="89611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>
                <a:solidFill>
                  <a:srgbClr val="1B3150"/>
                </a:solidFill>
                <a:latin typeface="페이퍼로지 7 Bold"/>
              </a:rPr>
              <a:t>피해 방지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82912" y="5760720"/>
            <a:ext cx="1444752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70" b="0">
                <a:solidFill>
                  <a:srgbClr val="697D98"/>
                </a:solidFill>
                <a:latin typeface="페이퍼로지 4 Regular"/>
              </a:rPr>
              <a:t>출범 후 12주 기준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  <a:hlinkClick r:id="rId2"/>
              </a:rPr>
              <a:t>출처: 금융위원회 ASAP 출범 보도자료(2025.10.29) · 출범 후 12주 성과(2026.01.28) — 공식 공개자료 기준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896112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896112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차별화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ASAP은 위험정보를, 우리는 사건과 대응주체를 연결한다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ASAP과 경쟁하는 별도 정보망이 아니라, ASAP·FDS의 위험신호를 개별 사건의 이해·검증·금융조치로 전환하는 Case-centric 대응 레이어다.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47088"/>
            <a:ext cx="4498848" cy="49377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47088"/>
            <a:ext cx="4498848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B67FF"/>
                </a:solidFill>
                <a:latin typeface="페이퍼로지 7 Bold"/>
              </a:rPr>
              <a:t>ASAP  |  위험정보 공유·분석 인프라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95744" y="1847088"/>
            <a:ext cx="4498848" cy="493776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95744" y="1847088"/>
            <a:ext cx="4498848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페이퍼로지 7 Bold"/>
              </a:rPr>
              <a:t>송금방지턱  |  사건 대응·협업 레이어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542032"/>
            <a:ext cx="4498848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2606039"/>
            <a:ext cx="4133087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>
                <a:solidFill>
                  <a:srgbClr val="1B3150"/>
                </a:solidFill>
                <a:latin typeface="페이퍼로지 7 Bold"/>
              </a:rPr>
              <a:t>다수 기관의 의심정보·위험패턴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76088" y="2651760"/>
            <a:ext cx="1490472" cy="301752"/>
          </a:xfrm>
          <a:prstGeom prst="roundRect">
            <a:avLst>
              <a:gd name="adj" fmla="val 8000"/>
            </a:avLst>
          </a:prstGeom>
          <a:solidFill>
            <a:srgbClr val="FFF8E3"/>
          </a:solidFill>
          <a:ln w="10160">
            <a:solidFill>
              <a:srgbClr val="FFF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6088" y="2651760"/>
            <a:ext cx="1490472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E19D14"/>
                </a:solidFill>
                <a:latin typeface="페이퍼로지 7 Bold"/>
              </a:rPr>
              <a:t>운영 단위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95744" y="2542032"/>
            <a:ext cx="4498848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0336" y="2606039"/>
            <a:ext cx="4133087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>
                <a:solidFill>
                  <a:srgbClr val="0B2242"/>
                </a:solidFill>
                <a:latin typeface="페이퍼로지 7 Bold"/>
              </a:rPr>
              <a:t>의심 사건 1건 · 거래 1건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182111"/>
            <a:ext cx="4498848" cy="530352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3246119"/>
            <a:ext cx="4133087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>
                <a:solidFill>
                  <a:srgbClr val="1B3150"/>
                </a:solidFill>
                <a:latin typeface="페이퍼로지 7 Bold"/>
              </a:rPr>
              <a:t>금융·수사·보안기관의 데이터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76088" y="3291839"/>
            <a:ext cx="1490472" cy="301752"/>
          </a:xfrm>
          <a:prstGeom prst="roundRect">
            <a:avLst>
              <a:gd name="adj" fmla="val 8000"/>
            </a:avLst>
          </a:prstGeom>
          <a:solidFill>
            <a:srgbClr val="FFF8E3"/>
          </a:solidFill>
          <a:ln w="10160">
            <a:solidFill>
              <a:srgbClr val="FFF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76088" y="3291839"/>
            <a:ext cx="1490472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E19D14"/>
                </a:solidFill>
                <a:latin typeface="페이퍼로지 7 Bold"/>
              </a:rPr>
              <a:t>연결 대상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95744" y="3182111"/>
            <a:ext cx="4498848" cy="530352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3246119"/>
            <a:ext cx="4133087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>
                <a:solidFill>
                  <a:srgbClr val="0B2242"/>
                </a:solidFill>
                <a:latin typeface="페이퍼로지 7 Bold"/>
              </a:rPr>
              <a:t>피해자·신뢰인·금융기관·공식기관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822191"/>
            <a:ext cx="4498848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886200"/>
            <a:ext cx="4133087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>
                <a:solidFill>
                  <a:srgbClr val="1B3150"/>
                </a:solidFill>
                <a:latin typeface="페이퍼로지 7 Bold"/>
              </a:rPr>
              <a:t>실시간 공유 · AI 패턴분석 · 위험정보 활용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76088" y="3931920"/>
            <a:ext cx="1490472" cy="301752"/>
          </a:xfrm>
          <a:prstGeom prst="roundRect">
            <a:avLst>
              <a:gd name="adj" fmla="val 8000"/>
            </a:avLst>
          </a:prstGeom>
          <a:solidFill>
            <a:srgbClr val="FFF8E3"/>
          </a:solidFill>
          <a:ln w="10160">
            <a:solidFill>
              <a:srgbClr val="FFF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76088" y="3931920"/>
            <a:ext cx="1490472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E19D14"/>
                </a:solidFill>
                <a:latin typeface="페이퍼로지 7 Bold"/>
              </a:rPr>
              <a:t>핵심 기능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95744" y="3822191"/>
            <a:ext cx="4498848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0336" y="3886200"/>
            <a:ext cx="4133087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>
                <a:solidFill>
                  <a:srgbClr val="0B2242"/>
                </a:solidFill>
                <a:latin typeface="페이퍼로지 7 Bold"/>
              </a:rPr>
              <a:t>LLM 브리핑 · 타임라인 · 공동검토 · 조치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462271"/>
            <a:ext cx="4498848" cy="530352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4526279"/>
            <a:ext cx="4133087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>
                <a:solidFill>
                  <a:srgbClr val="1B3150"/>
                </a:solidFill>
                <a:latin typeface="페이퍼로지 7 Bold"/>
              </a:rPr>
              <a:t>FDS 탐지 · 거래제한 · 지급정지 지원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76088" y="4571999"/>
            <a:ext cx="1490472" cy="301752"/>
          </a:xfrm>
          <a:prstGeom prst="roundRect">
            <a:avLst>
              <a:gd name="adj" fmla="val 8000"/>
            </a:avLst>
          </a:prstGeom>
          <a:solidFill>
            <a:srgbClr val="FFF8E3"/>
          </a:solidFill>
          <a:ln w="10160">
            <a:solidFill>
              <a:srgbClr val="FFF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76088" y="4571999"/>
            <a:ext cx="1490472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E19D14"/>
                </a:solidFill>
                <a:latin typeface="페이퍼로지 7 Bold"/>
              </a:rPr>
              <a:t>주요 결과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95744" y="4462271"/>
            <a:ext cx="4498848" cy="530352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0336" y="4526279"/>
            <a:ext cx="4133087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>
                <a:solidFill>
                  <a:srgbClr val="0B2242"/>
                </a:solidFill>
                <a:latin typeface="페이퍼로지 7 Bold"/>
              </a:rPr>
              <a:t>사건 상태관리 · 거래보류 · 승인/거절 · 종결</a:t>
            </a:r>
          </a:p>
        </p:txBody>
      </p:sp>
      <p:sp>
        <p:nvSpPr>
          <p:cNvPr id="39" name="Chevron 38"/>
          <p:cNvSpPr/>
          <p:nvPr/>
        </p:nvSpPr>
        <p:spPr>
          <a:xfrm>
            <a:off x="5394960" y="5102352"/>
            <a:ext cx="1261872" cy="310896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468112"/>
            <a:ext cx="1874519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2B67FF"/>
                </a:solidFill>
                <a:latin typeface="페이퍼로지 7 Bold"/>
              </a:rPr>
              <a:t>위협정보 · 거래 Risk 활용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" y="5047488"/>
            <a:ext cx="4151376" cy="98755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" y="5212080"/>
            <a:ext cx="3730752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2B67FF"/>
                </a:solidFill>
                <a:latin typeface="페이퍼로지 7 Bold"/>
              </a:rPr>
              <a:t>ASAP의 강점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" y="5522976"/>
            <a:ext cx="373075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0B2242"/>
                </a:solidFill>
                <a:latin typeface="페이퍼로지 7 Bold"/>
              </a:rPr>
              <a:t>기관 규모의 위험정보 축적·공유·분석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69480" y="5047488"/>
            <a:ext cx="4151376" cy="98755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79792" y="5184648"/>
            <a:ext cx="3730752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A6D1FF"/>
                </a:solidFill>
                <a:latin typeface="페이퍼로지 7 Bold"/>
              </a:rPr>
              <a:t>우리 서비스의 핵심 UI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52360" y="5495544"/>
            <a:ext cx="786384" cy="246888"/>
          </a:xfrm>
          <a:prstGeom prst="roundRect">
            <a:avLst>
              <a:gd name="adj" fmla="val 8000"/>
            </a:avLst>
          </a:prstGeom>
          <a:solidFill>
            <a:srgbClr val="143F6C"/>
          </a:solidFill>
          <a:ln w="10160">
            <a:solidFill>
              <a:srgbClr val="386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52360" y="5495544"/>
            <a:ext cx="786384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1">
                <a:solidFill>
                  <a:srgbClr val="FFFFFF"/>
                </a:solidFill>
                <a:latin typeface="페이퍼로지 7 Bold"/>
              </a:rPr>
              <a:t>Case Board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39327" y="5495544"/>
            <a:ext cx="786384" cy="246888"/>
          </a:xfrm>
          <a:prstGeom prst="roundRect">
            <a:avLst>
              <a:gd name="adj" fmla="val 8000"/>
            </a:avLst>
          </a:prstGeom>
          <a:solidFill>
            <a:srgbClr val="143F6C"/>
          </a:solidFill>
          <a:ln w="10160">
            <a:solidFill>
              <a:srgbClr val="386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9327" y="5495544"/>
            <a:ext cx="786384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1">
                <a:solidFill>
                  <a:srgbClr val="FFFFFF"/>
                </a:solidFill>
                <a:latin typeface="페이퍼로지 7 Bold"/>
              </a:rPr>
              <a:t>Case Room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217152" y="5495544"/>
            <a:ext cx="786384" cy="246888"/>
          </a:xfrm>
          <a:prstGeom prst="roundRect">
            <a:avLst>
              <a:gd name="adj" fmla="val 8000"/>
            </a:avLst>
          </a:prstGeom>
          <a:solidFill>
            <a:srgbClr val="143F6C"/>
          </a:solidFill>
          <a:ln w="10160">
            <a:solidFill>
              <a:srgbClr val="386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17152" y="5495544"/>
            <a:ext cx="786384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1">
                <a:solidFill>
                  <a:srgbClr val="FFFFFF"/>
                </a:solidFill>
                <a:latin typeface="페이퍼로지 7 Bold"/>
              </a:rPr>
              <a:t>LLM Brief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094976" y="5495544"/>
            <a:ext cx="786384" cy="246888"/>
          </a:xfrm>
          <a:prstGeom prst="roundRect">
            <a:avLst>
              <a:gd name="adj" fmla="val 8000"/>
            </a:avLst>
          </a:prstGeom>
          <a:solidFill>
            <a:srgbClr val="143F6C"/>
          </a:solidFill>
          <a:ln w="10160">
            <a:solidFill>
              <a:srgbClr val="386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94976" y="5495544"/>
            <a:ext cx="786384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1">
                <a:solidFill>
                  <a:srgbClr val="FFFFFF"/>
                </a:solidFill>
                <a:latin typeface="페이퍼로지 7 Bold"/>
              </a:rPr>
              <a:t>Timeline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79792" y="5806440"/>
            <a:ext cx="3730752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>
                <a:solidFill>
                  <a:srgbClr val="C3D9F1"/>
                </a:solidFill>
                <a:latin typeface="페이퍼로지 4 Regular"/>
              </a:rPr>
              <a:t>Actions · 보류 · 검증 · 종결  |  챗봇은 보조 Q&amp;A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907792" y="6035040"/>
            <a:ext cx="6382512" cy="292608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07792" y="6035040"/>
            <a:ext cx="6382512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4A1E"/>
                </a:solidFill>
                <a:latin typeface="페이퍼로지 7 Bold"/>
              </a:rPr>
              <a:t>포지셔닝  |  Risk Intelligence Infrastructure  →  Case Response Orchestration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  <a:hlinkClick r:id="rId2"/>
              </a:rPr>
              <a:t>차별화 기준: 금융위원회가 공개한 ASAP의 핵심 범위(기관 간 의심정보 공유·AI 분석)와 본 제안의 사건관리 기능을 구분한 구조적 비교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12700">
          <a:solidFill>
            <a:srgbClr val="0E2746"/>
          </a:solidFill>
          <a:prstDash val="solid"/>
        </a:ln>
      </a:spPr>
      <a:bodyPr/>
      <a:lstStyle/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1666</TotalTime>
  <Words>3990</Words>
  <Application>Microsoft Office PowerPoint</Application>
  <PresentationFormat>Widescreen</PresentationFormat>
  <Paragraphs>692</Paragraphs>
  <Slides>27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Arial Unicode MS</vt:lpstr>
      <vt:lpstr>NanumSquare</vt:lpstr>
      <vt:lpstr>NanumSquare Bold</vt:lpstr>
      <vt:lpstr>Noto Sans KR</vt:lpstr>
      <vt:lpstr>Pretendard</vt:lpstr>
      <vt:lpstr>맑은 고딕</vt:lpstr>
      <vt:lpstr>페이퍼로지 4 Regular</vt:lpstr>
      <vt:lpstr>페이퍼로지 7 Bold</vt:lpstr>
      <vt:lpstr>페이퍼로지 9 Black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mbc</dc:creator>
  <cp:lastModifiedBy>mbc</cp:lastModifiedBy>
  <cp:revision>247</cp:revision>
  <dcterms:created xsi:type="dcterms:W3CDTF">2026-08-25T03:40:06Z</dcterms:created>
  <dcterms:modified xsi:type="dcterms:W3CDTF">2026-08-28T03:28:37Z</dcterms:modified>
</cp:coreProperties>
</file>