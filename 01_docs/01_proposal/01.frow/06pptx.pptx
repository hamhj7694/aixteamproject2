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72" r:id="rId2"/>
    <p:sldId id="289" r:id="rId3"/>
    <p:sldId id="307" r:id="rId4"/>
    <p:sldId id="258" r:id="rId5"/>
    <p:sldId id="305" r:id="rId6"/>
    <p:sldId id="338" r:id="rId7"/>
    <p:sldId id="344" r:id="rId8"/>
    <p:sldId id="340" r:id="rId9"/>
    <p:sldId id="341" r:id="rId10"/>
    <p:sldId id="343" r:id="rId11"/>
    <p:sldId id="345" r:id="rId12"/>
    <p:sldId id="346" r:id="rId13"/>
    <p:sldId id="350" r:id="rId14"/>
    <p:sldId id="351" r:id="rId15"/>
    <p:sldId id="342" r:id="rId16"/>
    <p:sldId id="347" r:id="rId17"/>
    <p:sldId id="348" r:id="rId18"/>
    <p:sldId id="349" r:id="rId19"/>
    <p:sldId id="339" r:id="rId20"/>
    <p:sldId id="336" r:id="rId21"/>
    <p:sldId id="311" r:id="rId22"/>
    <p:sldId id="310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4" r:id="rId46"/>
    <p:sldId id="335" r:id="rId47"/>
    <p:sldId id="337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bc" initials="m" lastIdx="1" clrIdx="0">
    <p:extLst>
      <p:ext uri="{19B8F6BF-5375-455C-9EA6-DF929625EA0E}">
        <p15:presenceInfo xmlns:p15="http://schemas.microsoft.com/office/powerpoint/2012/main" userId="mb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B16"/>
    <a:srgbClr val="49A8FF"/>
    <a:srgbClr val="E56766"/>
    <a:srgbClr val="0B1F3A"/>
    <a:srgbClr val="E66867"/>
    <a:srgbClr val="002060"/>
    <a:srgbClr val="5E85B0"/>
    <a:srgbClr val="2F7CF6"/>
    <a:srgbClr val="10213D"/>
    <a:srgbClr val="0E2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>
        <p:scale>
          <a:sx n="75" d="100"/>
          <a:sy n="75" d="100"/>
        </p:scale>
        <p:origin x="1872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Pt>
            <c:idx val="9"/>
            <c:marker>
              <c:symbol val="circle"/>
              <c:size val="5"/>
              <c:spPr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4BD-4353-81B5-3CAA4CB197C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rgbClr val="E66867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862</c:v>
                </c:pt>
                <c:pt idx="1">
                  <c:v>1018</c:v>
                </c:pt>
                <c:pt idx="2">
                  <c:v>1184</c:v>
                </c:pt>
                <c:pt idx="3">
                  <c:v>1699</c:v>
                </c:pt>
                <c:pt idx="4">
                  <c:v>2210</c:v>
                </c:pt>
                <c:pt idx="5">
                  <c:v>2500</c:v>
                </c:pt>
                <c:pt idx="6">
                  <c:v>2491</c:v>
                </c:pt>
                <c:pt idx="7">
                  <c:v>2366</c:v>
                </c:pt>
                <c:pt idx="8">
                  <c:v>4100</c:v>
                </c:pt>
                <c:pt idx="9">
                  <c:v>5384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4BD-4353-81B5-3CAA4CB197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42624"/>
        <c:axId val="630342952"/>
      </c:lineChart>
      <c:catAx>
        <c:axId val="63034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952"/>
        <c:crosses val="autoZero"/>
        <c:auto val="1"/>
        <c:lblAlgn val="ctr"/>
        <c:lblOffset val="100"/>
        <c:noMultiLvlLbl val="0"/>
      </c:catAx>
      <c:valAx>
        <c:axId val="630342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피해금액 (억원)</c:v>
                </c:pt>
              </c:strCache>
            </c:strRef>
          </c:tx>
          <c:spPr>
            <a:solidFill>
              <a:srgbClr val="5E85B0"/>
            </a:solidFill>
            <a:ln>
              <a:noFill/>
            </a:ln>
            <a:effectLst/>
          </c:spPr>
          <c:invertIfNegative val="0"/>
          <c:dPt>
            <c:idx val="9"/>
            <c:invertIfNegative val="0"/>
            <c:bubble3D val="0"/>
            <c:spPr>
              <a:solidFill>
                <a:srgbClr val="E567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1BC5-4D74-A2C0-0B00A1C835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1468</c:v>
                </c:pt>
                <c:pt idx="1">
                  <c:v>2470</c:v>
                </c:pt>
                <c:pt idx="2">
                  <c:v>4040</c:v>
                </c:pt>
                <c:pt idx="3">
                  <c:v>6398</c:v>
                </c:pt>
                <c:pt idx="4">
                  <c:v>7000</c:v>
                </c:pt>
                <c:pt idx="5">
                  <c:v>7744</c:v>
                </c:pt>
                <c:pt idx="6">
                  <c:v>5438</c:v>
                </c:pt>
                <c:pt idx="7">
                  <c:v>4472</c:v>
                </c:pt>
                <c:pt idx="8">
                  <c:v>8545</c:v>
                </c:pt>
                <c:pt idx="9">
                  <c:v>12578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252944200"/>
        <c:axId val="25294288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발생건수 (건)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나눔스퀘어_ac Bold" panose="020B0600000101010101" pitchFamily="50" charset="-127"/>
                      <a:ea typeface="나눔스퀘어_ac Bold" panose="020B0600000101010101" pitchFamily="50" charset="-127"/>
                      <a:cs typeface="+mn-cs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1BC5-4D74-A2C0-0B00A1C835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17040</c:v>
                </c:pt>
                <c:pt idx="1">
                  <c:v>24259</c:v>
                </c:pt>
                <c:pt idx="2">
                  <c:v>34132</c:v>
                </c:pt>
                <c:pt idx="3">
                  <c:v>37667</c:v>
                </c:pt>
                <c:pt idx="4">
                  <c:v>31681</c:v>
                </c:pt>
                <c:pt idx="5">
                  <c:v>30982</c:v>
                </c:pt>
                <c:pt idx="6">
                  <c:v>21832</c:v>
                </c:pt>
                <c:pt idx="7">
                  <c:v>18902</c:v>
                </c:pt>
                <c:pt idx="8">
                  <c:v>20839</c:v>
                </c:pt>
                <c:pt idx="9">
                  <c:v>23360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33958696"/>
        <c:axId val="833957384"/>
      </c:lineChart>
      <c:catAx>
        <c:axId val="252944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2888"/>
        <c:crosses val="autoZero"/>
        <c:auto val="1"/>
        <c:lblAlgn val="ctr"/>
        <c:lblOffset val="100"/>
        <c:noMultiLvlLbl val="0"/>
      </c:catAx>
      <c:valAx>
        <c:axId val="252942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4200"/>
        <c:crosses val="autoZero"/>
        <c:crossBetween val="between"/>
      </c:valAx>
      <c:valAx>
        <c:axId val="83395738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833958696"/>
        <c:crosses val="max"/>
        <c:crossBetween val="between"/>
      </c:valAx>
      <c:catAx>
        <c:axId val="83395869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339573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89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5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.joseilbo.com/news/view.htm?newsid=573229" TargetMode="External"/><Relationship Id="rId2" Type="http://schemas.openxmlformats.org/officeDocument/2006/relationships/hyperlink" Target="https://mobile.newsis.com/view/NISX20260804_0003735394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sktelecom.com/224228" TargetMode="External"/><Relationship Id="rId3" Type="http://schemas.openxmlformats.org/officeDocument/2006/relationships/hyperlink" Target="https://www.bok.or.kr/portal/bbs/B0000502/view.do?menuNo=201265&amp;nttId=10091152" TargetMode="External"/><Relationship Id="rId7" Type="http://schemas.openxmlformats.org/officeDocument/2006/relationships/hyperlink" Target="https://news.sktelecom.com/218051" TargetMode="External"/><Relationship Id="rId2" Type="http://schemas.openxmlformats.org/officeDocument/2006/relationships/hyperlink" Target="https://www.kci.go.kr/kciportal/ci/sereArticleSearch/ciSereArtiView.kci?sereArticleSearchBean.artiId=ART003069648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ci.go.kr/kciportal/ci/sereArticleSearch/ciSereArtiView.kci?sereArticleSearchBean.artiId=ART003101132" TargetMode="External"/><Relationship Id="rId11" Type="http://schemas.openxmlformats.org/officeDocument/2006/relationships/hyperlink" Target="https://www.fsc.go.kr/po010102/86997" TargetMode="External"/><Relationship Id="rId5" Type="http://schemas.openxmlformats.org/officeDocument/2006/relationships/hyperlink" Target="https://www.kci.go.kr/kciportal/ci/sereArticleSearch/ciSereArtiView.kci?sereArticleSearchBean.artiId=ART003041851" TargetMode="External"/><Relationship Id="rId10" Type="http://schemas.openxmlformats.org/officeDocument/2006/relationships/hyperlink" Target="https://www.fsc.go.kr/no010101/86149" TargetMode="External"/><Relationship Id="rId4" Type="http://schemas.openxmlformats.org/officeDocument/2006/relationships/hyperlink" Target="https://www.kci.go.kr/kciportal/ci/sereArticleSearch/ciSereArtiView.kci?sereArticleSearchBean.artiId=ART003226871" TargetMode="External"/><Relationship Id="rId9" Type="http://schemas.openxmlformats.org/officeDocument/2006/relationships/hyperlink" Target="https://news.lguplus.com/20057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51548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금융소비자를 혼자 남기지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8097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31050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34794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91585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7675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94359" y="677610"/>
            <a:ext cx="11016615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2026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이후 동안 보이스피싱 피해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260,694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6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조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 153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억원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평균 피해액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우상향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…</a:t>
            </a:r>
          </a:p>
          <a:p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 이어지는 심각한 상황</a:t>
            </a:r>
            <a:endParaRPr lang="en-US" altLang="ko-KR" sz="20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94360" y="5466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600456" y="4575007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10836" y="4737420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99811" y="4682175"/>
            <a:ext cx="3656903" cy="1521828"/>
            <a:chOff x="7640448" y="4563464"/>
            <a:chExt cx="3656903" cy="152182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63464"/>
              <a:ext cx="3656903" cy="1521828"/>
              <a:chOff x="7640448" y="4563464"/>
              <a:chExt cx="3656903" cy="15218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63464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0484559-C80C-4C9F-8C93-F7FCC1E4A777}"/>
              </a:ext>
            </a:extLst>
          </p:cNvPr>
          <p:cNvGrpSpPr/>
          <p:nvPr/>
        </p:nvGrpSpPr>
        <p:grpSpPr>
          <a:xfrm>
            <a:off x="1127834" y="1655222"/>
            <a:ext cx="9936332" cy="2776910"/>
            <a:chOff x="2156114" y="1775283"/>
            <a:chExt cx="9077128" cy="2536789"/>
          </a:xfrm>
        </p:grpSpPr>
        <p:sp>
          <p:nvSpPr>
            <p:cNvPr id="79" name="Shape 8">
              <a:extLst>
                <a:ext uri="{FF2B5EF4-FFF2-40B4-BE49-F238E27FC236}">
                  <a16:creationId xmlns:a16="http://schemas.microsoft.com/office/drawing/2014/main" id="{16834A81-4253-48AC-B97E-FD07265A8D95}"/>
                </a:ext>
              </a:extLst>
            </p:cNvPr>
            <p:cNvSpPr/>
            <p:nvPr/>
          </p:nvSpPr>
          <p:spPr>
            <a:xfrm>
              <a:off x="2156114" y="1775283"/>
              <a:ext cx="4445862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855B79-622D-459E-A7F5-4F42EB704F63}"/>
                </a:ext>
              </a:extLst>
            </p:cNvPr>
            <p:cNvSpPr txBox="1"/>
            <p:nvPr/>
          </p:nvSpPr>
          <p:spPr>
            <a:xfrm>
              <a:off x="2635906" y="1849987"/>
              <a:ext cx="3486278" cy="2249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2016~2025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피해 발생 수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피해액</a:t>
              </a:r>
              <a:endParaRPr lang="ko-KR" altLang="en-US" sz="1000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BEED6A9-5F2A-494A-887C-CC454F317B02}"/>
                </a:ext>
              </a:extLst>
            </p:cNvPr>
            <p:cNvGrpSpPr/>
            <p:nvPr/>
          </p:nvGrpSpPr>
          <p:grpSpPr>
            <a:xfrm>
              <a:off x="6787380" y="1775283"/>
              <a:ext cx="4445862" cy="2514600"/>
              <a:chOff x="5826188" y="1775283"/>
              <a:chExt cx="4445862" cy="251460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39CB2445-6554-4212-901E-9C6B7D7612C4}"/>
                  </a:ext>
                </a:extLst>
              </p:cNvPr>
              <p:cNvGrpSpPr/>
              <p:nvPr/>
            </p:nvGrpSpPr>
            <p:grpSpPr>
              <a:xfrm>
                <a:off x="5826188" y="1775283"/>
                <a:ext cx="4445862" cy="2514600"/>
                <a:chOff x="4630032" y="1775283"/>
                <a:chExt cx="4445862" cy="2514600"/>
              </a:xfrm>
            </p:grpSpPr>
            <p:sp>
              <p:nvSpPr>
                <p:cNvPr id="119" name="Shape 8">
                  <a:extLst>
                    <a:ext uri="{FF2B5EF4-FFF2-40B4-BE49-F238E27FC236}">
                      <a16:creationId xmlns:a16="http://schemas.microsoft.com/office/drawing/2014/main" id="{DFF93096-BD0A-4BBF-8479-B0600EFEC37F}"/>
                    </a:ext>
                  </a:extLst>
                </p:cNvPr>
                <p:cNvSpPr/>
                <p:nvPr/>
              </p:nvSpPr>
              <p:spPr>
                <a:xfrm>
                  <a:off x="4630032" y="1775283"/>
                  <a:ext cx="4445862" cy="2514600"/>
                </a:xfrm>
                <a:prstGeom prst="roundRect">
                  <a:avLst>
                    <a:gd name="adj" fmla="val 5818"/>
                  </a:avLst>
                </a:prstGeom>
                <a:solidFill>
                  <a:srgbClr val="FFFFFF"/>
                </a:solidFill>
                <a:ln w="10160">
                  <a:solidFill>
                    <a:srgbClr val="DCE8FA"/>
                  </a:solidFill>
                  <a:prstDash val="solid"/>
                </a:ln>
              </p:spPr>
            </p:sp>
            <p:graphicFrame>
              <p:nvGraphicFramePr>
                <p:cNvPr id="40" name="Chart 39">
                  <a:extLst>
                    <a:ext uri="{FF2B5EF4-FFF2-40B4-BE49-F238E27FC236}">
                      <a16:creationId xmlns:a16="http://schemas.microsoft.com/office/drawing/2014/main" id="{46FDFEB3-28D8-47BD-9371-4A09F7B17AFE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681701987"/>
                    </p:ext>
                  </p:extLst>
                </p:nvPr>
              </p:nvGraphicFramePr>
              <p:xfrm>
                <a:off x="4735830" y="2099334"/>
                <a:ext cx="4282782" cy="210548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892428CB-C9D5-47A0-80BE-D571E28C0841}"/>
                  </a:ext>
                </a:extLst>
              </p:cNvPr>
              <p:cNvSpPr txBox="1"/>
              <p:nvPr/>
            </p:nvSpPr>
            <p:spPr>
              <a:xfrm>
                <a:off x="6305980" y="1849987"/>
                <a:ext cx="3486278" cy="224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년도별 </a:t>
                </a:r>
                <a:r>
                  <a:rPr lang="en-US" altLang="ko-KR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1</a:t>
                </a:r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개 사건 평균 피해액 추이</a:t>
                </a:r>
                <a:endParaRPr lang="ko-KR" altLang="en-US" sz="1000" dirty="0"/>
              </a:p>
            </p:txBody>
          </p:sp>
        </p:grpSp>
        <p:graphicFrame>
          <p:nvGraphicFramePr>
            <p:cNvPr id="22" name="Chart 21">
              <a:extLst>
                <a:ext uri="{FF2B5EF4-FFF2-40B4-BE49-F238E27FC236}">
                  <a16:creationId xmlns:a16="http://schemas.microsoft.com/office/drawing/2014/main" id="{278C99B9-09AF-4A69-9C94-12332440301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97957959"/>
                </p:ext>
              </p:extLst>
            </p:nvPr>
          </p:nvGraphicFramePr>
          <p:xfrm>
            <a:off x="2237232" y="2092640"/>
            <a:ext cx="4277868" cy="22194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45" name="Text 11">
            <a:extLst>
              <a:ext uri="{FF2B5EF4-FFF2-40B4-BE49-F238E27FC236}">
                <a16:creationId xmlns:a16="http://schemas.microsoft.com/office/drawing/2014/main" id="{041DA88E-E5DF-430D-B96E-E2B22D0D9A56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1021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734130" y="806730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 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도와줄 수 있는 대책을 마련하기 위해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각자의 자리에서 노력하고 있다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729441" y="593195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보이스피싱 범죄로부터 소중한 국민의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158065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3078A156-9BD4-4B2C-8818-C873541FE1FE}"/>
              </a:ext>
            </a:extLst>
          </p:cNvPr>
          <p:cNvGrpSpPr/>
          <p:nvPr/>
        </p:nvGrpSpPr>
        <p:grpSpPr>
          <a:xfrm>
            <a:off x="628649" y="5452905"/>
            <a:ext cx="10936817" cy="773508"/>
            <a:chOff x="989537" y="5557693"/>
            <a:chExt cx="10212928" cy="773508"/>
          </a:xfrm>
        </p:grpSpPr>
        <p:sp>
          <p:nvSpPr>
            <p:cNvPr id="46" name="Shape 44"/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47" name="Text 45"/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특히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인공지능</a:t>
              </a:r>
              <a:r>
                <a:rPr lang="en-US" altLang="ko-KR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(AI)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와 빅데이터 등 최신 기술을 적극 활용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하여 실시간 분석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차단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조치하고 있고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</a:t>
              </a:r>
            </a:p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유기적인 공동 협업 체계를 구축하며 다양한 </a:t>
              </a:r>
              <a:r>
                <a:rPr lang="en-US" sz="1520" b="1" dirty="0" err="1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안전장치</a:t>
              </a:r>
              <a:r>
                <a:rPr 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개발과 제도 개선이 활발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하게 이루어지고 있다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49D8BAD-1665-4D6F-983B-6C0A73436477}"/>
              </a:ext>
            </a:extLst>
          </p:cNvPr>
          <p:cNvGrpSpPr/>
          <p:nvPr/>
        </p:nvGrpSpPr>
        <p:grpSpPr>
          <a:xfrm>
            <a:off x="729441" y="1791637"/>
            <a:ext cx="10673219" cy="3422455"/>
            <a:chOff x="580527" y="1844623"/>
            <a:chExt cx="10673219" cy="3422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87A687C-E086-49AD-B17E-3AA81A103D3D}"/>
                </a:ext>
              </a:extLst>
            </p:cNvPr>
            <p:cNvGrpSpPr/>
            <p:nvPr/>
          </p:nvGrpSpPr>
          <p:grpSpPr>
            <a:xfrm>
              <a:off x="580527" y="1844623"/>
              <a:ext cx="10673219" cy="3422455"/>
              <a:chOff x="586093" y="1735608"/>
              <a:chExt cx="10673219" cy="3422455"/>
            </a:xfrm>
          </p:grpSpPr>
          <p:sp>
            <p:nvSpPr>
              <p:cNvPr id="10" name="Shape 8"/>
              <p:cNvSpPr/>
              <p:nvPr/>
            </p:nvSpPr>
            <p:spPr>
              <a:xfrm>
                <a:off x="586093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sp>
            <p:nvSpPr>
              <p:cNvPr id="22" name="Shape 20"/>
              <p:cNvSpPr/>
              <p:nvPr/>
            </p:nvSpPr>
            <p:spPr>
              <a:xfrm>
                <a:off x="4185781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34" name="Shape 32"/>
              <p:cNvSpPr/>
              <p:nvPr/>
            </p:nvSpPr>
            <p:spPr>
              <a:xfrm>
                <a:off x="7785469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C0B95D-B25B-43EF-A360-B3D890DD9167}"/>
                </a:ext>
              </a:extLst>
            </p:cNvPr>
            <p:cNvGrpSpPr/>
            <p:nvPr/>
          </p:nvGrpSpPr>
          <p:grpSpPr>
            <a:xfrm>
              <a:off x="749968" y="1967786"/>
              <a:ext cx="10094815" cy="475488"/>
              <a:chOff x="749968" y="1967786"/>
              <a:chExt cx="10094815" cy="475488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749968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1216B33-CA83-41B7-ABAA-90D9A227C2D0}"/>
                  </a:ext>
                </a:extLst>
              </p:cNvPr>
              <p:cNvGrpSpPr/>
              <p:nvPr/>
            </p:nvGrpSpPr>
            <p:grpSpPr>
              <a:xfrm>
                <a:off x="761283" y="1992590"/>
                <a:ext cx="2503285" cy="448056"/>
                <a:chOff x="725424" y="1999106"/>
                <a:chExt cx="2503285" cy="448056"/>
              </a:xfrm>
            </p:grpSpPr>
            <p:sp>
              <p:nvSpPr>
                <p:cNvPr id="12" name="Text 10"/>
                <p:cNvSpPr txBox="1"/>
                <p:nvPr/>
              </p:nvSpPr>
              <p:spPr>
                <a:xfrm>
                  <a:off x="725424" y="1999106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F5E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01</a:t>
                  </a:r>
                  <a:endParaRPr lang="en-US" sz="16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금융기관</a:t>
                  </a:r>
                  <a:r>
                    <a:rPr lang="en-US" altLang="ko-KR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·</a:t>
                  </a:r>
                  <a:r>
                    <a:rPr lang="ko-KR" altLang="en-US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은행</a:t>
                  </a:r>
                  <a:endParaRPr lang="en-US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57" name="Shape 9">
                <a:extLst>
                  <a:ext uri="{FF2B5EF4-FFF2-40B4-BE49-F238E27FC236}">
                    <a16:creationId xmlns:a16="http://schemas.microsoft.com/office/drawing/2014/main" id="{DD769627-C9E7-41C2-B6FE-22791B7D0B6C}"/>
                  </a:ext>
                </a:extLst>
              </p:cNvPr>
              <p:cNvSpPr/>
              <p:nvPr/>
            </p:nvSpPr>
            <p:spPr>
              <a:xfrm>
                <a:off x="4341329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964D1DB-BDC2-4629-9FE3-BA6C34077CD3}"/>
                  </a:ext>
                </a:extLst>
              </p:cNvPr>
              <p:cNvGrpSpPr/>
              <p:nvPr/>
            </p:nvGrpSpPr>
            <p:grpSpPr>
              <a:xfrm>
                <a:off x="4346001" y="1990054"/>
                <a:ext cx="2509928" cy="448056"/>
                <a:chOff x="718781" y="1994033"/>
                <a:chExt cx="2509928" cy="448056"/>
              </a:xfrm>
            </p:grpSpPr>
            <p:sp>
              <p:nvSpPr>
                <p:cNvPr id="59" name="Text 10">
                  <a:extLst>
                    <a:ext uri="{FF2B5EF4-FFF2-40B4-BE49-F238E27FC236}">
                      <a16:creationId xmlns:a16="http://schemas.microsoft.com/office/drawing/2014/main" id="{27D72A6B-8151-44EC-8DCA-C1F7F0B49680}"/>
                    </a:ext>
                  </a:extLst>
                </p:cNvPr>
                <p:cNvSpPr txBox="1"/>
                <p:nvPr/>
              </p:nvSpPr>
              <p:spPr>
                <a:xfrm>
                  <a:off x="718781" y="1994033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2</a:t>
                  </a:r>
                  <a:endParaRPr lang="en-US" sz="1600" dirty="0">
                    <a:solidFill>
                      <a:srgbClr val="2F7CF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2" name="Text 11">
                  <a:extLst>
                    <a:ext uri="{FF2B5EF4-FFF2-40B4-BE49-F238E27FC236}">
                      <a16:creationId xmlns:a16="http://schemas.microsoft.com/office/drawing/2014/main" id="{7E39A5C8-EFF4-4D1F-A422-7810807E1826}"/>
                    </a:ext>
                  </a:extLst>
                </p:cNvPr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정부·공공기관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64" name="Shape 9">
                <a:extLst>
                  <a:ext uri="{FF2B5EF4-FFF2-40B4-BE49-F238E27FC236}">
                    <a16:creationId xmlns:a16="http://schemas.microsoft.com/office/drawing/2014/main" id="{15B61A14-5EDC-428A-A5CA-3FAD34AE93DD}"/>
                  </a:ext>
                </a:extLst>
              </p:cNvPr>
              <p:cNvSpPr/>
              <p:nvPr/>
            </p:nvSpPr>
            <p:spPr>
              <a:xfrm>
                <a:off x="7946853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4678AE84-686A-4BAE-A653-546969E73231}"/>
                  </a:ext>
                </a:extLst>
              </p:cNvPr>
              <p:cNvGrpSpPr/>
              <p:nvPr/>
            </p:nvGrpSpPr>
            <p:grpSpPr>
              <a:xfrm>
                <a:off x="7954473" y="1986074"/>
                <a:ext cx="2890310" cy="448056"/>
                <a:chOff x="721729" y="1986074"/>
                <a:chExt cx="2890310" cy="448056"/>
              </a:xfrm>
            </p:grpSpPr>
            <p:sp>
              <p:nvSpPr>
                <p:cNvPr id="66" name="Text 10">
                  <a:extLst>
                    <a:ext uri="{FF2B5EF4-FFF2-40B4-BE49-F238E27FC236}">
                      <a16:creationId xmlns:a16="http://schemas.microsoft.com/office/drawing/2014/main" id="{2F3E720C-B899-4F92-BAA2-ED6FED174CCA}"/>
                    </a:ext>
                  </a:extLst>
                </p:cNvPr>
                <p:cNvSpPr txBox="1"/>
                <p:nvPr/>
              </p:nvSpPr>
              <p:spPr>
                <a:xfrm>
                  <a:off x="721729" y="1986074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3</a:t>
                  </a:r>
                  <a:endParaRPr lang="en-US" sz="1600" dirty="0">
                    <a:solidFill>
                      <a:srgbClr val="49A8FF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7" name="Text 11">
                  <a:extLst>
                    <a:ext uri="{FF2B5EF4-FFF2-40B4-BE49-F238E27FC236}">
                      <a16:creationId xmlns:a16="http://schemas.microsoft.com/office/drawing/2014/main" id="{D1DF7AED-949A-4A37-B186-5B80E15BEB3D}"/>
                    </a:ext>
                  </a:extLst>
                </p:cNvPr>
                <p:cNvSpPr txBox="1"/>
                <p:nvPr/>
              </p:nvSpPr>
              <p:spPr>
                <a:xfrm>
                  <a:off x="1326756" y="2007046"/>
                  <a:ext cx="2285283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</a:t>
                  </a: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통신사·보안업체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035F51FC-ACBE-4B66-A3AB-2CA6FF47C992}"/>
                </a:ext>
              </a:extLst>
            </p:cNvPr>
            <p:cNvGrpSpPr/>
            <p:nvPr/>
          </p:nvGrpSpPr>
          <p:grpSpPr>
            <a:xfrm>
              <a:off x="796565" y="2585446"/>
              <a:ext cx="2888053" cy="614349"/>
              <a:chOff x="796565" y="2491362"/>
              <a:chExt cx="2888053" cy="614349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5" name="Text 13"/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ASAP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플랫폼 </a:t>
                </a:r>
                <a:endParaRPr lang="en-US" altLang="ko-KR" sz="10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03F7BDC-0128-43C0-AF3E-34FEEE94B193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7783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금융회사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통신사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수사기관이 보이스피싱과 관련된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외부</a:t>
                </a:r>
                <a:endParaRPr lang="en-US" altLang="ko-KR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위험 정보를 실시간으로 공유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하고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차단하는 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AI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기반 플랫폼</a:t>
                </a:r>
                <a:endParaRPr lang="ko-KR" altLang="en-US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0FD6DE2-A11F-468B-A7D3-0184BDCBF15F}"/>
                </a:ext>
              </a:extLst>
            </p:cNvPr>
            <p:cNvGrpSpPr/>
            <p:nvPr/>
          </p:nvGrpSpPr>
          <p:grpSpPr>
            <a:xfrm>
              <a:off x="796565" y="3212531"/>
              <a:ext cx="3047142" cy="752848"/>
              <a:chOff x="796565" y="2491362"/>
              <a:chExt cx="3047142" cy="752848"/>
            </a:xfrm>
          </p:grpSpPr>
          <p:sp>
            <p:nvSpPr>
              <p:cNvPr id="99" name="Shape 12">
                <a:extLst>
                  <a:ext uri="{FF2B5EF4-FFF2-40B4-BE49-F238E27FC236}">
                    <a16:creationId xmlns:a16="http://schemas.microsoft.com/office/drawing/2014/main" id="{EB72D09C-0131-4404-96B0-C5C1D23AD146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0" name="Text 13">
                <a:extLst>
                  <a:ext uri="{FF2B5EF4-FFF2-40B4-BE49-F238E27FC236}">
                    <a16:creationId xmlns:a16="http://schemas.microsoft.com/office/drawing/2014/main" id="{2D5D472E-D64B-44B1-82B1-A1FB676BD43D}"/>
                  </a:ext>
                </a:extLst>
              </p:cNvPr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FDS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이상거래 탐지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211D9CDD-CB64-457D-8AF7-8D86970B0A84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937414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전자금융거래 시 단말기 정보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접속위치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평소 거래 패턴등을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실시간으로 분석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하여 의심스러운 부정 거래를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탐치하고 차단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이상거래 탐지 시스템</a:t>
                </a:r>
                <a:endParaRPr lang="ko-KR" altLang="en-US" sz="9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7BBF2746-B58F-4409-86F5-702788857728}"/>
                </a:ext>
              </a:extLst>
            </p:cNvPr>
            <p:cNvGrpSpPr/>
            <p:nvPr/>
          </p:nvGrpSpPr>
          <p:grpSpPr>
            <a:xfrm>
              <a:off x="796565" y="3990937"/>
              <a:ext cx="3129846" cy="1168347"/>
              <a:chOff x="796565" y="2491362"/>
              <a:chExt cx="3129846" cy="1168347"/>
            </a:xfrm>
          </p:grpSpPr>
          <p:sp>
            <p:nvSpPr>
              <p:cNvPr id="103" name="Shape 12">
                <a:extLst>
                  <a:ext uri="{FF2B5EF4-FFF2-40B4-BE49-F238E27FC236}">
                    <a16:creationId xmlns:a16="http://schemas.microsoft.com/office/drawing/2014/main" id="{2AE99B93-85EF-4941-90DF-B14B33B660FF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4" name="Text 13">
                <a:extLst>
                  <a:ext uri="{FF2B5EF4-FFF2-40B4-BE49-F238E27FC236}">
                    <a16:creationId xmlns:a16="http://schemas.microsoft.com/office/drawing/2014/main" id="{91F752C7-787F-40FB-A79F-7F58594334DD}"/>
                  </a:ext>
                </a:extLst>
              </p:cNvPr>
              <p:cNvSpPr txBox="1"/>
              <p:nvPr/>
            </p:nvSpPr>
            <p:spPr>
              <a:xfrm>
                <a:off x="997732" y="2491362"/>
                <a:ext cx="2686885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전자금융사기 예방서비스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D89F6C0A-CE7D-4377-99D3-E82568841B16}"/>
                  </a:ext>
                </a:extLst>
              </p:cNvPr>
              <p:cNvSpPr txBox="1"/>
              <p:nvPr/>
            </p:nvSpPr>
            <p:spPr>
              <a:xfrm>
                <a:off x="870154" y="2736379"/>
                <a:ext cx="3056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 이체 시 수취인 계좌에 일정시간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최소 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3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경과 후 입금되도록 하는 서비스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전자금융범죄 등의 피해가 발생했을 때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범죄자가 계좌에서 돈을 빼가지 못하도록 은행이 해당 계좌의 입출금 및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이체 거래를 즉시 차단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동결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긴급 법적 조치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금융자산을 보호하기 위해 본인확인 절차를 강화하는 서비스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4E2107FB-F873-4983-BE64-7F11CCE295C3}"/>
                </a:ext>
              </a:extLst>
            </p:cNvPr>
            <p:cNvGrpSpPr/>
            <p:nvPr/>
          </p:nvGrpSpPr>
          <p:grpSpPr>
            <a:xfrm>
              <a:off x="4384972" y="2585446"/>
              <a:ext cx="2766786" cy="614349"/>
              <a:chOff x="4384972" y="2585446"/>
              <a:chExt cx="2766786" cy="614349"/>
            </a:xfrm>
          </p:grpSpPr>
          <p:sp>
            <p:nvSpPr>
              <p:cNvPr id="26" name="Shape 24"/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CE3EB3BF-9ECC-4A3B-9952-516B4C2FC656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661306" cy="614349"/>
                <a:chOff x="906293" y="2491362"/>
                <a:chExt cx="2661306" cy="614349"/>
              </a:xfrm>
            </p:grpSpPr>
            <p:sp>
              <p:nvSpPr>
                <p:cNvPr id="109" name="Text 13">
                  <a:extLst>
                    <a:ext uri="{FF2B5EF4-FFF2-40B4-BE49-F238E27FC236}">
                      <a16:creationId xmlns:a16="http://schemas.microsoft.com/office/drawing/2014/main" id="{C18901BD-E1CC-4FFE-894F-775B066395D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신고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피해구제 제도 및 체계 개선</a:t>
                  </a:r>
                  <a:endParaRPr lang="en-US" altLang="ko-KR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D1A5D58-7F3B-45EF-917A-954C9192C90B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6613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원스톱 신고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단계별 피해 구제 절차 등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</a:rPr>
                    <a:t>보이스피싱 피해구제 제도와 계좌 지급정지 접근성 강화</a:t>
                  </a:r>
                </a:p>
              </p:txBody>
            </p:sp>
          </p:grp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1FA11A45-E01D-4438-A224-C9D990430FBE}"/>
                </a:ext>
              </a:extLst>
            </p:cNvPr>
            <p:cNvGrpSpPr/>
            <p:nvPr/>
          </p:nvGrpSpPr>
          <p:grpSpPr>
            <a:xfrm>
              <a:off x="4384972" y="3212531"/>
              <a:ext cx="2543968" cy="614349"/>
              <a:chOff x="4384972" y="2585446"/>
              <a:chExt cx="2543968" cy="614349"/>
            </a:xfrm>
          </p:grpSpPr>
          <p:sp>
            <p:nvSpPr>
              <p:cNvPr id="113" name="Shape 24">
                <a:extLst>
                  <a:ext uri="{FF2B5EF4-FFF2-40B4-BE49-F238E27FC236}">
                    <a16:creationId xmlns:a16="http://schemas.microsoft.com/office/drawing/2014/main" id="{78311CB7-38E7-41C6-86B5-0BEB525459FB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53BE3CF-3381-4032-BE64-B1AD59E3A731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438488" cy="614349"/>
                <a:chOff x="906293" y="2491362"/>
                <a:chExt cx="2438488" cy="614349"/>
              </a:xfrm>
            </p:grpSpPr>
            <p:sp>
              <p:nvSpPr>
                <p:cNvPr id="115" name="Text 13">
                  <a:extLst>
                    <a:ext uri="{FF2B5EF4-FFF2-40B4-BE49-F238E27FC236}">
                      <a16:creationId xmlns:a16="http://schemas.microsoft.com/office/drawing/2014/main" id="{C619FD46-F5E9-4160-8AC1-3828DE5A7294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예방교육 </a:t>
                  </a:r>
                  <a:r>
                    <a:rPr lang="en-US" altLang="ko-KR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 </a:t>
                  </a:r>
                  <a:r>
                    <a:rPr lang="ko-KR" altLang="en-US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홍보</a:t>
                  </a:r>
                  <a:endPara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B13986B-82BF-46A0-BC9D-2E44EE978B10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4384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범정부 대응 및 콘텐츠 배포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생활 밀착형 현장홍보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찾아가는 현장교육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8A1977-7C20-4B32-9C0E-CD5436D48C75}"/>
                </a:ext>
              </a:extLst>
            </p:cNvPr>
            <p:cNvGrpSpPr/>
            <p:nvPr/>
          </p:nvGrpSpPr>
          <p:grpSpPr>
            <a:xfrm>
              <a:off x="4384972" y="3882182"/>
              <a:ext cx="3093799" cy="614349"/>
              <a:chOff x="4384972" y="2585446"/>
              <a:chExt cx="3093799" cy="614349"/>
            </a:xfrm>
          </p:grpSpPr>
          <p:sp>
            <p:nvSpPr>
              <p:cNvPr id="119" name="Shape 24">
                <a:extLst>
                  <a:ext uri="{FF2B5EF4-FFF2-40B4-BE49-F238E27FC236}">
                    <a16:creationId xmlns:a16="http://schemas.microsoft.com/office/drawing/2014/main" id="{4541929F-BB7D-4D3A-BF63-55E2FCC62316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20FAF6DA-F591-4D8E-BE73-CC99AA1640D5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988319" cy="614349"/>
                <a:chOff x="906293" y="2491362"/>
                <a:chExt cx="2988319" cy="614349"/>
              </a:xfrm>
            </p:grpSpPr>
            <p:sp>
              <p:nvSpPr>
                <p:cNvPr id="121" name="Text 13">
                  <a:extLst>
                    <a:ext uri="{FF2B5EF4-FFF2-40B4-BE49-F238E27FC236}">
                      <a16:creationId xmlns:a16="http://schemas.microsoft.com/office/drawing/2014/main" id="{DEC6BCC0-173F-4F90-854F-D1F3BF4AA74E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공식기관 확인 채널</a:t>
                  </a:r>
                </a:p>
              </p:txBody>
            </p:sp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ABFD11CC-A553-4181-8FD5-7191E4D18FC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988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서류의 진위여부를 실시간으로 확인할 수 있는 공식채널 운영</a:t>
                  </a:r>
                  <a:b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콜센터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카카오톡 오픈채팅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운영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검찰 찐센터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KISA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보호나라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61261165-349A-4EFC-B7EA-A255EA6AD00D}"/>
                </a:ext>
              </a:extLst>
            </p:cNvPr>
            <p:cNvGrpSpPr/>
            <p:nvPr/>
          </p:nvGrpSpPr>
          <p:grpSpPr>
            <a:xfrm>
              <a:off x="4559618" y="4589897"/>
              <a:ext cx="2749676" cy="524166"/>
              <a:chOff x="5435730" y="4579898"/>
              <a:chExt cx="1359538" cy="249846"/>
            </a:xfrm>
          </p:grpSpPr>
          <p:pic>
            <p:nvPicPr>
              <p:cNvPr id="123" name="그림 7">
                <a:extLst>
                  <a:ext uri="{FF2B5EF4-FFF2-40B4-BE49-F238E27FC236}">
                    <a16:creationId xmlns:a16="http://schemas.microsoft.com/office/drawing/2014/main" id="{551562FA-CF08-4976-9E26-E2576CD6036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7198" t="5136" r="17871" b="88464"/>
              <a:stretch/>
            </p:blipFill>
            <p:spPr>
              <a:xfrm>
                <a:off x="6389981" y="4627592"/>
                <a:ext cx="405287" cy="148890"/>
              </a:xfrm>
              <a:prstGeom prst="rect">
                <a:avLst/>
              </a:prstGeom>
            </p:spPr>
          </p:pic>
          <p:pic>
            <p:nvPicPr>
              <p:cNvPr id="124" name="그림 7">
                <a:extLst>
                  <a:ext uri="{FF2B5EF4-FFF2-40B4-BE49-F238E27FC236}">
                    <a16:creationId xmlns:a16="http://schemas.microsoft.com/office/drawing/2014/main" id="{CE3306C8-485E-4D4B-A9B4-1F7029797B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4004" t="3308" r="61422" b="85951"/>
              <a:stretch/>
            </p:blipFill>
            <p:spPr>
              <a:xfrm>
                <a:off x="5435730" y="4579898"/>
                <a:ext cx="938445" cy="249846"/>
              </a:xfrm>
              <a:prstGeom prst="rect">
                <a:avLst/>
              </a:prstGeom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0298854-A292-42A7-98D2-719628F27749}"/>
                </a:ext>
              </a:extLst>
            </p:cNvPr>
            <p:cNvGrpSpPr/>
            <p:nvPr/>
          </p:nvGrpSpPr>
          <p:grpSpPr>
            <a:xfrm>
              <a:off x="8014716" y="2585446"/>
              <a:ext cx="2896629" cy="891348"/>
              <a:chOff x="4384972" y="2585446"/>
              <a:chExt cx="2896629" cy="891348"/>
            </a:xfrm>
          </p:grpSpPr>
          <p:sp>
            <p:nvSpPr>
              <p:cNvPr id="127" name="Shape 24">
                <a:extLst>
                  <a:ext uri="{FF2B5EF4-FFF2-40B4-BE49-F238E27FC236}">
                    <a16:creationId xmlns:a16="http://schemas.microsoft.com/office/drawing/2014/main" id="{CE3B36F3-21BA-452F-A3AB-DAB4970248FF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9615BA18-3CA4-48BB-A642-C29D2E15D9DF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791149" cy="891348"/>
                <a:chOff x="906293" y="2491362"/>
                <a:chExt cx="2791149" cy="891348"/>
              </a:xfrm>
            </p:grpSpPr>
            <p:sp>
              <p:nvSpPr>
                <p:cNvPr id="129" name="Text 13">
                  <a:extLst>
                    <a:ext uri="{FF2B5EF4-FFF2-40B4-BE49-F238E27FC236}">
                      <a16:creationId xmlns:a16="http://schemas.microsoft.com/office/drawing/2014/main" id="{09FC5D82-21D2-46DB-93A7-8EC391C1667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통신사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통화 비서 앱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-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스팸번호 탐지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악성 앱 차단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9F9B7EA9-7248-46A7-97E4-CA2D5546080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791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주요 통신사 별 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탐지 서비스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예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: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에이닷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익시오 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 중 실시간으로 보이스피싱을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감지하고 차단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하는</a:t>
                  </a:r>
                  <a:b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강력한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보안 기능을 제공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경찰청 연계 통해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 및 악성 앱 탐지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0B9F7FD3-263B-4E20-8ED9-18AECC8E0FC0}"/>
                </a:ext>
              </a:extLst>
            </p:cNvPr>
            <p:cNvGrpSpPr/>
            <p:nvPr/>
          </p:nvGrpSpPr>
          <p:grpSpPr>
            <a:xfrm>
              <a:off x="8014716" y="3518926"/>
              <a:ext cx="3008885" cy="614349"/>
              <a:chOff x="4384972" y="2585446"/>
              <a:chExt cx="3008885" cy="614349"/>
            </a:xfrm>
          </p:grpSpPr>
          <p:sp>
            <p:nvSpPr>
              <p:cNvPr id="142" name="Shape 24">
                <a:extLst>
                  <a:ext uri="{FF2B5EF4-FFF2-40B4-BE49-F238E27FC236}">
                    <a16:creationId xmlns:a16="http://schemas.microsoft.com/office/drawing/2014/main" id="{76902399-4275-49F1-BFFD-DC4226CB7C4D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7253D61C-BA3A-403C-9659-B8290B7FFBD7}"/>
                  </a:ext>
                </a:extLst>
              </p:cNvPr>
              <p:cNvGrpSpPr/>
              <p:nvPr/>
            </p:nvGrpSpPr>
            <p:grpSpPr>
              <a:xfrm>
                <a:off x="4490453" y="2585446"/>
                <a:ext cx="2903404" cy="614349"/>
                <a:chOff x="906294" y="2491362"/>
                <a:chExt cx="2903404" cy="614349"/>
              </a:xfrm>
            </p:grpSpPr>
            <p:sp>
              <p:nvSpPr>
                <p:cNvPr id="144" name="Text 13">
                  <a:extLst>
                    <a:ext uri="{FF2B5EF4-FFF2-40B4-BE49-F238E27FC236}">
                      <a16:creationId xmlns:a16="http://schemas.microsoft.com/office/drawing/2014/main" id="{3ADFD593-0590-4BEE-A48F-E672E9662770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 차단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D55843D0-373E-4604-8EE2-F83BBC98EBF0}"/>
                    </a:ext>
                  </a:extLst>
                </p:cNvPr>
                <p:cNvSpPr txBox="1"/>
                <p:nvPr/>
              </p:nvSpPr>
              <p:spPr>
                <a:xfrm>
                  <a:off x="906294" y="2736379"/>
                  <a:ext cx="29034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스미싱 예방을 위해 타인의 번호나 없는 번호로 발신번호를 조작하는 발신번호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변작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행위 차단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7E4731EE-3BF1-4C54-B72C-ED9ED85A04E0}"/>
                </a:ext>
              </a:extLst>
            </p:cNvPr>
            <p:cNvGrpSpPr/>
            <p:nvPr/>
          </p:nvGrpSpPr>
          <p:grpSpPr>
            <a:xfrm>
              <a:off x="8014716" y="4193332"/>
              <a:ext cx="2902547" cy="891348"/>
              <a:chOff x="4384972" y="2558496"/>
              <a:chExt cx="2902547" cy="891348"/>
            </a:xfrm>
          </p:grpSpPr>
          <p:sp>
            <p:nvSpPr>
              <p:cNvPr id="149" name="Shape 24">
                <a:extLst>
                  <a:ext uri="{FF2B5EF4-FFF2-40B4-BE49-F238E27FC236}">
                    <a16:creationId xmlns:a16="http://schemas.microsoft.com/office/drawing/2014/main" id="{014F2127-2028-4391-87BE-9DC38BCA0562}"/>
                  </a:ext>
                </a:extLst>
              </p:cNvPr>
              <p:cNvSpPr/>
              <p:nvPr/>
            </p:nvSpPr>
            <p:spPr>
              <a:xfrm>
                <a:off x="4384972" y="266822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7BEC9321-8467-4AD7-A11F-971C0CD3F188}"/>
                  </a:ext>
                </a:extLst>
              </p:cNvPr>
              <p:cNvGrpSpPr/>
              <p:nvPr/>
            </p:nvGrpSpPr>
            <p:grpSpPr>
              <a:xfrm>
                <a:off x="4490453" y="2558496"/>
                <a:ext cx="2797066" cy="891348"/>
                <a:chOff x="906294" y="2464412"/>
                <a:chExt cx="2797066" cy="891348"/>
              </a:xfrm>
            </p:grpSpPr>
            <p:sp>
              <p:nvSpPr>
                <p:cNvPr id="151" name="Text 13">
                  <a:extLst>
                    <a:ext uri="{FF2B5EF4-FFF2-40B4-BE49-F238E27FC236}">
                      <a16:creationId xmlns:a16="http://schemas.microsoft.com/office/drawing/2014/main" id="{933BE645-218C-4CC1-BFE7-31CE22F0AC28}"/>
                    </a:ext>
                  </a:extLst>
                </p:cNvPr>
                <p:cNvSpPr txBox="1"/>
                <p:nvPr/>
              </p:nvSpPr>
              <p:spPr>
                <a:xfrm>
                  <a:off x="997733" y="246441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차단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5C4D6FCC-F66D-400E-8F4D-ECD11D459E5C}"/>
                    </a:ext>
                  </a:extLst>
                </p:cNvPr>
                <p:cNvSpPr txBox="1"/>
                <p:nvPr/>
              </p:nvSpPr>
              <p:spPr>
                <a:xfrm>
                  <a:off x="906294" y="2709429"/>
                  <a:ext cx="27970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인공지능과 빅데이터를 활용해 통화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/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문자 기반의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위험 신호를 실시간으로 감지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차단</a:t>
                  </a:r>
                  <a:endPara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음성패턴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통화내용 실시간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비정상 회선 이용패턴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유관기관 실시간 정보 공유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56628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대표적으로 성과를 내고 있는 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AI ASAP(</a:t>
            </a: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에이셉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)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730471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금융위원회와 금융보안원을 중심으로 체계화된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보이스피싱 정보공유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분석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AI 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ASAP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출범 이후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9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개월 간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663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억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6000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만원 규모의 피해를 사전 차단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하는 실제 성과로 이어졌다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0744D3-2F9D-4B31-9CF2-F9C3060180B7}"/>
              </a:ext>
            </a:extLst>
          </p:cNvPr>
          <p:cNvGrpSpPr/>
          <p:nvPr/>
        </p:nvGrpSpPr>
        <p:grpSpPr>
          <a:xfrm>
            <a:off x="534543" y="1737360"/>
            <a:ext cx="5975498" cy="3886691"/>
            <a:chOff x="534543" y="1818173"/>
            <a:chExt cx="5975498" cy="3886691"/>
          </a:xfrm>
        </p:grpSpPr>
        <p:sp>
          <p:nvSpPr>
            <p:cNvPr id="81" name="Shape 8">
              <a:extLst>
                <a:ext uri="{FF2B5EF4-FFF2-40B4-BE49-F238E27FC236}">
                  <a16:creationId xmlns:a16="http://schemas.microsoft.com/office/drawing/2014/main" id="{372E1C90-42E9-4CBF-81B0-76E43E875362}"/>
                </a:ext>
              </a:extLst>
            </p:cNvPr>
            <p:cNvSpPr/>
            <p:nvPr/>
          </p:nvSpPr>
          <p:spPr>
            <a:xfrm>
              <a:off x="534543" y="1818173"/>
              <a:ext cx="5975498" cy="3886691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pic>
          <p:nvPicPr>
            <p:cNvPr id="80" name="그림 7">
              <a:extLst>
                <a:ext uri="{FF2B5EF4-FFF2-40B4-BE49-F238E27FC236}">
                  <a16:creationId xmlns:a16="http://schemas.microsoft.com/office/drawing/2014/main" id="{E668F3AE-32D0-B134-C7D2-A51000B58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06" t="18162" r="3581" b="6222"/>
            <a:stretch/>
          </p:blipFill>
          <p:spPr>
            <a:xfrm>
              <a:off x="804107" y="3439092"/>
              <a:ext cx="5420724" cy="2153462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866EF50-0FEC-4AF4-A807-8A42ED37A943}"/>
                </a:ext>
              </a:extLst>
            </p:cNvPr>
            <p:cNvSpPr txBox="1"/>
            <p:nvPr/>
          </p:nvSpPr>
          <p:spPr>
            <a:xfrm>
              <a:off x="687238" y="1961214"/>
              <a:ext cx="482074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정보공유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분석 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AI 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플랫폼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(ASAP)</a:t>
              </a:r>
              <a:endParaRPr lang="ko-KR" altLang="en-US" sz="14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8A72F21-C9A8-43CF-9D50-07139CD417B7}"/>
                </a:ext>
              </a:extLst>
            </p:cNvPr>
            <p:cNvSpPr txBox="1"/>
            <p:nvPr/>
          </p:nvSpPr>
          <p:spPr>
            <a:xfrm>
              <a:off x="687237" y="2300177"/>
              <a:ext cx="5711069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가동 및 법적 기반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2025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10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 출범 이후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2026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8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월부터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통신사기피해환급법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개정에 따라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                                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정보 주체의 동의 없이도 관계기관 간 의심 정보 공동 활용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이 본격 시행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참여 기관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금융위원회와 금융보안원을 중심으로 은행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증권사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제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수사기관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가상자산거래소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공유 정보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사기 이용 계좌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악성앱 탐지 정보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피싱사이트 접속 이력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의심 및 범죄이용 전화번호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기대 효과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각 기관이 분산된 정보를 즉시 공유하여 신속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한 계좌 지급정지 및 비정상 거래 차단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범죄 수사에 활용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FDS </a:t>
              </a:r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활용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금융회사가 운영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평소와 다른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이상한 자금이체나 거래를 자동으로 찾아내는 보안 시스템 </a:t>
              </a:r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FDS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활용</a:t>
              </a:r>
            </a:p>
          </p:txBody>
        </p:sp>
      </p:grpSp>
      <p:sp>
        <p:nvSpPr>
          <p:cNvPr id="88" name="Shape 8">
            <a:extLst>
              <a:ext uri="{FF2B5EF4-FFF2-40B4-BE49-F238E27FC236}">
                <a16:creationId xmlns:a16="http://schemas.microsoft.com/office/drawing/2014/main" id="{A6E48D8D-F246-47B4-9FDB-5F1AECC542EB}"/>
              </a:ext>
            </a:extLst>
          </p:cNvPr>
          <p:cNvSpPr/>
          <p:nvPr/>
        </p:nvSpPr>
        <p:spPr>
          <a:xfrm>
            <a:off x="6641273" y="1737360"/>
            <a:ext cx="4931485" cy="3886691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D85F3B-306F-4E6C-9DCA-8D7C4B0D8278}"/>
              </a:ext>
            </a:extLst>
          </p:cNvPr>
          <p:cNvSpPr txBox="1"/>
          <p:nvPr/>
        </p:nvSpPr>
        <p:spPr>
          <a:xfrm>
            <a:off x="6869594" y="1852046"/>
            <a:ext cx="39797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ASAP </a:t>
            </a:r>
            <a:r>
              <a:rPr lang="ko-KR" altLang="en-US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플랫폼의 출범 이후 핵심 성과 </a:t>
            </a:r>
            <a:endParaRPr lang="en-US" altLang="ko-KR" sz="14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B2E5A33-3FFF-4B4C-BD77-28ADFC79B401}"/>
              </a:ext>
            </a:extLst>
          </p:cNvPr>
          <p:cNvGrpSpPr/>
          <p:nvPr/>
        </p:nvGrpSpPr>
        <p:grpSpPr>
          <a:xfrm>
            <a:off x="438150" y="5828116"/>
            <a:ext cx="11274173" cy="538281"/>
            <a:chOff x="989537" y="5557693"/>
            <a:chExt cx="10212928" cy="773508"/>
          </a:xfrm>
        </p:grpSpPr>
        <p:sp>
          <p:nvSpPr>
            <p:cNvPr id="96" name="Shape 44">
              <a:extLst>
                <a:ext uri="{FF2B5EF4-FFF2-40B4-BE49-F238E27FC236}">
                  <a16:creationId xmlns:a16="http://schemas.microsoft.com/office/drawing/2014/main" id="{731F3A17-9EC7-457A-9066-89707FAB988C}"/>
                </a:ext>
              </a:extLst>
            </p:cNvPr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106" name="Text 45">
              <a:extLst>
                <a:ext uri="{FF2B5EF4-FFF2-40B4-BE49-F238E27FC236}">
                  <a16:creationId xmlns:a16="http://schemas.microsoft.com/office/drawing/2014/main" id="{816798D6-68D0-4DF8-A408-120BDDD003E6}"/>
                </a:ext>
              </a:extLst>
            </p:cNvPr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AI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와 빅데이터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진보적인 법률 개정과 협업 체계를 통한 공격적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선재적 방어  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sym typeface="Wingdings" panose="05000000000000000000" pitchFamily="2" charset="2"/>
                </a:rPr>
                <a:t>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 전년 동기 대비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약 </a:t>
              </a:r>
              <a:r>
                <a:rPr lang="en-US" altLang="ko-KR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53%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피해액 방어라는 높은 성과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로 이어졌다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7267692-95D0-4E39-B1AD-313903CC8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67492"/>
              </p:ext>
            </p:extLst>
          </p:nvPr>
        </p:nvGraphicFramePr>
        <p:xfrm>
          <a:off x="6940645" y="2194181"/>
          <a:ext cx="4332741" cy="1112520"/>
        </p:xfrm>
        <a:graphic>
          <a:graphicData uri="http://schemas.openxmlformats.org/drawingml/2006/table">
            <a:tbl>
              <a:tblPr/>
              <a:tblGrid>
                <a:gridCol w="1047786">
                  <a:extLst>
                    <a:ext uri="{9D8B030D-6E8A-4147-A177-3AD203B41FA5}">
                      <a16:colId xmlns:a16="http://schemas.microsoft.com/office/drawing/2014/main" val="1611604226"/>
                    </a:ext>
                  </a:extLst>
                </a:gridCol>
                <a:gridCol w="1548005">
                  <a:extLst>
                    <a:ext uri="{9D8B030D-6E8A-4147-A177-3AD203B41FA5}">
                      <a16:colId xmlns:a16="http://schemas.microsoft.com/office/drawing/2014/main" val="4243154311"/>
                    </a:ext>
                  </a:extLst>
                </a:gridCol>
                <a:gridCol w="1736950">
                  <a:extLst>
                    <a:ext uri="{9D8B030D-6E8A-4147-A177-3AD203B41FA5}">
                      <a16:colId xmlns:a16="http://schemas.microsoft.com/office/drawing/2014/main" val="2761314812"/>
                    </a:ext>
                  </a:extLst>
                </a:gridCol>
              </a:tblGrid>
              <a:tr h="18835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12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2025.10.29 ~ 2026.01.21)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약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9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개월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 ~ 2026.07</a:t>
                      </a:r>
                      <a:r>
                        <a:rPr lang="ko-KR" altLang="en-US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월 말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76352"/>
                  </a:ext>
                </a:extLst>
              </a:tr>
              <a:tr h="18016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은행권 수사기관</a:t>
                      </a:r>
                      <a:endParaRPr lang="en-US" altLang="ko-KR" sz="800" dirty="0"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정보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14.8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46.3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1872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>
                          <a:latin typeface="페이퍼로지 7 Bold" pitchFamily="2" charset="-127"/>
                          <a:ea typeface="페이퍼로지 7 Bold" pitchFamily="2" charset="-127"/>
                        </a:rPr>
                        <a:t>계좌 지급정지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2,705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7,009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9267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피해 사전 차단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186.5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663.6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632259"/>
                  </a:ext>
                </a:extLst>
              </a:tr>
            </a:tbl>
          </a:graphicData>
        </a:graphic>
      </p:graphicFrame>
      <p:grpSp>
        <p:nvGrpSpPr>
          <p:cNvPr id="87" name="Group 86">
            <a:extLst>
              <a:ext uri="{FF2B5EF4-FFF2-40B4-BE49-F238E27FC236}">
                <a16:creationId xmlns:a16="http://schemas.microsoft.com/office/drawing/2014/main" id="{C2E3F610-B35F-45DB-BBD3-8EB9FD153FF8}"/>
              </a:ext>
            </a:extLst>
          </p:cNvPr>
          <p:cNvGrpSpPr/>
          <p:nvPr/>
        </p:nvGrpSpPr>
        <p:grpSpPr>
          <a:xfrm>
            <a:off x="6880605" y="3412145"/>
            <a:ext cx="4452820" cy="1508855"/>
            <a:chOff x="6900722" y="3613172"/>
            <a:chExt cx="4452820" cy="196345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19B5089-3FB1-43A2-9B72-CCD30BF61D8C}"/>
                </a:ext>
              </a:extLst>
            </p:cNvPr>
            <p:cNvGrpSpPr/>
            <p:nvPr/>
          </p:nvGrpSpPr>
          <p:grpSpPr>
            <a:xfrm>
              <a:off x="6907208" y="4589098"/>
              <a:ext cx="4444875" cy="987532"/>
              <a:chOff x="6907208" y="4589098"/>
              <a:chExt cx="4444875" cy="987532"/>
            </a:xfrm>
          </p:grpSpPr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DF1209D8-D9DA-47FD-BEAF-5CDC80460CAD}"/>
                  </a:ext>
                </a:extLst>
              </p:cNvPr>
              <p:cNvGrpSpPr/>
              <p:nvPr/>
            </p:nvGrpSpPr>
            <p:grpSpPr>
              <a:xfrm>
                <a:off x="6909933" y="4589098"/>
                <a:ext cx="4416750" cy="797140"/>
                <a:chOff x="6909933" y="4638806"/>
                <a:chExt cx="4416750" cy="79714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AF035335-5549-4D57-B7A4-921CCE59D407}"/>
                    </a:ext>
                  </a:extLst>
                </p:cNvPr>
                <p:cNvGrpSpPr/>
                <p:nvPr/>
              </p:nvGrpSpPr>
              <p:grpSpPr>
                <a:xfrm>
                  <a:off x="6968542" y="4882176"/>
                  <a:ext cx="4358141" cy="553770"/>
                  <a:chOff x="6968542" y="4744258"/>
                  <a:chExt cx="4358141" cy="413305"/>
                </a:xfrm>
              </p:grpSpPr>
              <p:sp>
                <p:nvSpPr>
                  <p:cNvPr id="139" name="Rectangle 138">
                    <a:extLst>
                      <a:ext uri="{FF2B5EF4-FFF2-40B4-BE49-F238E27FC236}">
                        <a16:creationId xmlns:a16="http://schemas.microsoft.com/office/drawing/2014/main" id="{41AE67AD-B9B8-40DF-9448-F51E5E6EB1AE}"/>
                      </a:ext>
                    </a:extLst>
                  </p:cNvPr>
                  <p:cNvSpPr/>
                  <p:nvPr/>
                </p:nvSpPr>
                <p:spPr>
                  <a:xfrm>
                    <a:off x="6968542" y="4744258"/>
                    <a:ext cx="2141992" cy="413305"/>
                  </a:xfrm>
                  <a:prstGeom prst="rect">
                    <a:avLst/>
                  </a:prstGeom>
                  <a:solidFill>
                    <a:srgbClr val="00206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1,328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49.1%)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791CBE85-2624-4CCD-9B03-5B88D0E8C53D}"/>
                      </a:ext>
                    </a:extLst>
                  </p:cNvPr>
                  <p:cNvSpPr/>
                  <p:nvPr/>
                </p:nvSpPr>
                <p:spPr>
                  <a:xfrm>
                    <a:off x="9107358" y="4744258"/>
                    <a:ext cx="2025777" cy="413305"/>
                  </a:xfrm>
                  <a:prstGeom prst="rect">
                    <a:avLst/>
                  </a:prstGeom>
                  <a:solidFill>
                    <a:srgbClr val="5E85B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1,250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46.2%)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80BECE0E-F3C7-4852-96B7-5FDCEE448308}"/>
                      </a:ext>
                    </a:extLst>
                  </p:cNvPr>
                  <p:cNvSpPr/>
                  <p:nvPr/>
                </p:nvSpPr>
                <p:spPr>
                  <a:xfrm>
                    <a:off x="11133136" y="4744258"/>
                    <a:ext cx="98298" cy="413305"/>
                  </a:xfrm>
                  <a:prstGeom prst="rect">
                    <a:avLst/>
                  </a:prstGeom>
                  <a:solidFill>
                    <a:srgbClr val="2F7CF6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5B45C7CC-4FE9-47B8-A816-C1985FE01E16}"/>
                      </a:ext>
                    </a:extLst>
                  </p:cNvPr>
                  <p:cNvSpPr/>
                  <p:nvPr/>
                </p:nvSpPr>
                <p:spPr>
                  <a:xfrm>
                    <a:off x="11225084" y="4744258"/>
                    <a:ext cx="101599" cy="413305"/>
                  </a:xfrm>
                  <a:prstGeom prst="rect">
                    <a:avLst/>
                  </a:prstGeom>
                  <a:solidFill>
                    <a:srgbClr val="49A8FF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</p:grp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D8D12947-8E65-40B3-A525-5A287ADA8B2A}"/>
                    </a:ext>
                  </a:extLst>
                </p:cNvPr>
                <p:cNvSpPr txBox="1"/>
                <p:nvPr/>
              </p:nvSpPr>
              <p:spPr>
                <a:xfrm>
                  <a:off x="6909933" y="4654579"/>
                  <a:ext cx="2141992" cy="2594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rtl="0"/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피해방지 건수 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(2,705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)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A21BDF8A-9CC3-477E-B3E5-B6272F32E405}"/>
                    </a:ext>
                  </a:extLst>
                </p:cNvPr>
                <p:cNvSpPr txBox="1"/>
                <p:nvPr/>
              </p:nvSpPr>
              <p:spPr>
                <a:xfrm>
                  <a:off x="8920162" y="4638806"/>
                  <a:ext cx="233417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사기이용계좌 정보 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55</a:t>
                  </a:r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(2.0%)</a:t>
                  </a:r>
                  <a:endPara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81ADE4-E51E-4EB8-8484-15125DE343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230521" y="4657650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AC47B40-FD1A-4F45-8E48-6F005AB3E0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99747" y="4719547"/>
                  <a:ext cx="0" cy="169772"/>
                </a:xfrm>
                <a:prstGeom prst="line">
                  <a:avLst/>
                </a:prstGeom>
                <a:ln w="28575">
                  <a:solidFill>
                    <a:srgbClr val="2F7CF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36555E7C-425E-4079-87B1-C470269898ED}"/>
                  </a:ext>
                </a:extLst>
              </p:cNvPr>
              <p:cNvGrpSpPr/>
              <p:nvPr/>
            </p:nvGrpSpPr>
            <p:grpSpPr>
              <a:xfrm>
                <a:off x="9882317" y="5345667"/>
                <a:ext cx="1469766" cy="230963"/>
                <a:chOff x="9856917" y="5345667"/>
                <a:chExt cx="1469766" cy="230963"/>
              </a:xfrm>
            </p:grpSpPr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9B95F796-2F08-446E-A1DB-01D3A370AA4E}"/>
                    </a:ext>
                  </a:extLst>
                </p:cNvPr>
                <p:cNvSpPr txBox="1"/>
                <p:nvPr/>
              </p:nvSpPr>
              <p:spPr>
                <a:xfrm>
                  <a:off x="9856917" y="5361186"/>
                  <a:ext cx="1469766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기타 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72</a:t>
                  </a:r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(2.7%)</a:t>
                  </a:r>
                  <a:endPara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19B4FE53-15CC-4901-A172-3B82093CC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275883" y="5345667"/>
                  <a:ext cx="0" cy="200563"/>
                </a:xfrm>
                <a:prstGeom prst="line">
                  <a:avLst/>
                </a:prstGeom>
                <a:ln w="28575">
                  <a:solidFill>
                    <a:srgbClr val="49A8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5CD0C00-1002-4547-94C5-4857AE291FEA}"/>
                  </a:ext>
                </a:extLst>
              </p:cNvPr>
              <p:cNvSpPr txBox="1"/>
              <p:nvPr/>
            </p:nvSpPr>
            <p:spPr>
              <a:xfrm>
                <a:off x="6907208" y="5373434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F406ED3-91ED-40FA-A5F6-5EB54373632C}"/>
                </a:ext>
              </a:extLst>
            </p:cNvPr>
            <p:cNvGrpSpPr/>
            <p:nvPr/>
          </p:nvGrpSpPr>
          <p:grpSpPr>
            <a:xfrm>
              <a:off x="6900722" y="3613172"/>
              <a:ext cx="4452820" cy="989286"/>
              <a:chOff x="6900722" y="3613172"/>
              <a:chExt cx="4452820" cy="989286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1EC7DBF-425A-4A6D-8C7C-96CE3884C086}"/>
                  </a:ext>
                </a:extLst>
              </p:cNvPr>
              <p:cNvGrpSpPr/>
              <p:nvPr/>
            </p:nvGrpSpPr>
            <p:grpSpPr>
              <a:xfrm>
                <a:off x="6968542" y="3858962"/>
                <a:ext cx="4358141" cy="553770"/>
                <a:chOff x="6968542" y="4034171"/>
                <a:chExt cx="4358141" cy="553770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0C0C6537-ECA2-4D39-9F34-0A75EC4F8FD6}"/>
                    </a:ext>
                  </a:extLst>
                </p:cNvPr>
                <p:cNvSpPr/>
                <p:nvPr/>
              </p:nvSpPr>
              <p:spPr>
                <a:xfrm>
                  <a:off x="6968542" y="4034171"/>
                  <a:ext cx="950212" cy="553770"/>
                </a:xfrm>
                <a:prstGeom prst="rect">
                  <a:avLst/>
                </a:prstGeom>
                <a:solidFill>
                  <a:srgbClr val="00206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41.0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(22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.0%)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0EE53028-AEF5-4508-BF9B-F1FFEBF7F663}"/>
                    </a:ext>
                  </a:extLst>
                </p:cNvPr>
                <p:cNvSpPr/>
                <p:nvPr/>
              </p:nvSpPr>
              <p:spPr>
                <a:xfrm>
                  <a:off x="10625139" y="4034171"/>
                  <a:ext cx="369092" cy="553770"/>
                </a:xfrm>
                <a:prstGeom prst="rect">
                  <a:avLst/>
                </a:prstGeom>
                <a:solidFill>
                  <a:srgbClr val="2F7CF6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9640938D-6415-4975-AE42-4A9F6CC71DFD}"/>
                    </a:ext>
                  </a:extLst>
                </p:cNvPr>
                <p:cNvSpPr/>
                <p:nvPr/>
              </p:nvSpPr>
              <p:spPr>
                <a:xfrm>
                  <a:off x="7918755" y="4034171"/>
                  <a:ext cx="2770246" cy="553770"/>
                </a:xfrm>
                <a:prstGeom prst="rect">
                  <a:avLst/>
                </a:prstGeom>
                <a:solidFill>
                  <a:srgbClr val="5E85B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118.4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9835F2DD-3120-471C-8951-D64FF8D0174D}"/>
                    </a:ext>
                  </a:extLst>
                </p:cNvPr>
                <p:cNvSpPr/>
                <p:nvPr/>
              </p:nvSpPr>
              <p:spPr>
                <a:xfrm>
                  <a:off x="10931968" y="4034171"/>
                  <a:ext cx="394715" cy="553770"/>
                </a:xfrm>
                <a:prstGeom prst="rect">
                  <a:avLst/>
                </a:prstGeom>
                <a:solidFill>
                  <a:srgbClr val="49A8FF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</p:grp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A77F4D8-08BA-428A-9C85-1616EDB599DB}"/>
                  </a:ext>
                </a:extLst>
              </p:cNvPr>
              <p:cNvSpPr txBox="1"/>
              <p:nvPr/>
            </p:nvSpPr>
            <p:spPr>
              <a:xfrm>
                <a:off x="6900722" y="3622027"/>
                <a:ext cx="2357577" cy="2594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피해방지 금액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(186.5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)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919C9AAA-84A7-412C-A96B-CF876CFC3A50}"/>
                  </a:ext>
                </a:extLst>
              </p:cNvPr>
              <p:cNvSpPr txBox="1"/>
              <p:nvPr/>
            </p:nvSpPr>
            <p:spPr>
              <a:xfrm>
                <a:off x="8632959" y="3613172"/>
                <a:ext cx="233417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사기이용계좌 정보 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9.8</a:t>
                </a:r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(5.3%)</a:t>
                </a:r>
                <a:endParaRPr lang="ko-KR" altLang="en-US" sz="800" dirty="0">
                  <a:solidFill>
                    <a:srgbClr val="2F7CF6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DF6178B5-BA75-4C82-BC94-A57B18CABC6A}"/>
                  </a:ext>
                </a:extLst>
              </p:cNvPr>
              <p:cNvCxnSpPr>
                <a:cxnSpLocks/>
                <a:stCxn id="160" idx="3"/>
                <a:endCxn id="160" idx="3"/>
              </p:cNvCxnSpPr>
              <p:nvPr/>
            </p:nvCxnSpPr>
            <p:spPr>
              <a:xfrm>
                <a:off x="10967130" y="3720894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BB0E1F68-8BCC-4740-8CA7-815A9B21B88B}"/>
                  </a:ext>
                </a:extLst>
              </p:cNvPr>
              <p:cNvCxnSpPr/>
              <p:nvPr/>
            </p:nvCxnSpPr>
            <p:spPr>
              <a:xfrm flipV="1">
                <a:off x="10918894" y="3693912"/>
                <a:ext cx="0" cy="169772"/>
              </a:xfrm>
              <a:prstGeom prst="line">
                <a:avLst/>
              </a:prstGeom>
              <a:ln w="28575">
                <a:solidFill>
                  <a:srgbClr val="2F7CF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B6B30D79-E413-44B8-BECF-21E5D30F94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01283" y="4374959"/>
                <a:ext cx="0" cy="200563"/>
              </a:xfrm>
              <a:prstGeom prst="line">
                <a:avLst/>
              </a:prstGeom>
              <a:ln w="28575">
                <a:solidFill>
                  <a:srgbClr val="49A8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E145FE7-7C8E-4A8C-BEA3-6326FCD0B570}"/>
                  </a:ext>
                </a:extLst>
              </p:cNvPr>
              <p:cNvSpPr txBox="1"/>
              <p:nvPr/>
            </p:nvSpPr>
            <p:spPr>
              <a:xfrm>
                <a:off x="9883776" y="4387014"/>
                <a:ext cx="14697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기타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 17.3</a:t>
                </a:r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(9.3%)</a:t>
                </a:r>
                <a:endParaRPr lang="ko-KR" altLang="en-US" sz="800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525798AE-8A4A-4F3C-A7DB-F37611569B06}"/>
                  </a:ext>
                </a:extLst>
              </p:cNvPr>
              <p:cNvSpPr txBox="1"/>
              <p:nvPr/>
            </p:nvSpPr>
            <p:spPr>
              <a:xfrm>
                <a:off x="6907208" y="4394745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7688958C-63F5-4BB9-9DD1-8635F1F92C47}"/>
              </a:ext>
            </a:extLst>
          </p:cNvPr>
          <p:cNvSpPr txBox="1"/>
          <p:nvPr/>
        </p:nvSpPr>
        <p:spPr>
          <a:xfrm>
            <a:off x="7405452" y="4996134"/>
            <a:ext cx="3403127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지난해 같은 기간 대비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발생 건수가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46%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(14,707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7,940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),</a:t>
            </a:r>
          </a:p>
          <a:p>
            <a:pPr algn="ctr"/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피해액이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53%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(7,766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3,614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감소</a:t>
            </a:r>
            <a:endParaRPr lang="en-US" altLang="ko-KR" sz="1000" dirty="0">
              <a:solidFill>
                <a:srgbClr val="FF4B16"/>
              </a:solidFill>
              <a:latin typeface="페이퍼로지 4 Regular" pitchFamily="2" charset="-127"/>
              <a:ea typeface="페이퍼로지 4 Regular" pitchFamily="2" charset="-127"/>
            </a:endParaRPr>
          </a:p>
          <a:p>
            <a:pPr algn="ctr"/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출처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: 7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8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0816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671892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9ECD888-C723-46E7-903A-7435ADF81B35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4F0333C0-8C7A-4B84-8F7C-D44D37579789}"/>
              </a:ext>
            </a:extLst>
          </p:cNvPr>
          <p:cNvSpPr txBox="1"/>
          <p:nvPr/>
        </p:nvSpPr>
        <p:spPr>
          <a:xfrm>
            <a:off x="838200" y="842463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그런데 잠깐</a:t>
            </a:r>
            <a:r>
              <a:rPr lang="en-US" altLang="ko-KR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9E4F4B01-3369-4970-A414-220666C1A0EF}"/>
              </a:ext>
            </a:extLst>
          </p:cNvPr>
          <p:cNvSpPr txBox="1"/>
          <p:nvPr/>
        </p:nvSpPr>
        <p:spPr>
          <a:xfrm>
            <a:off x="746760" y="1075908"/>
            <a:ext cx="10698480" cy="122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이렇게 많은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존재하고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실제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긍정적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어째서 여전히 보이스피싱 범죄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피해가 발생하고 있을까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그리고 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53%</a:t>
            </a: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의 피해액 감소에 만족하고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안주해도 되는 걸까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93FDFC-49F4-4167-BA90-A27A55BE7F9B}"/>
              </a:ext>
            </a:extLst>
          </p:cNvPr>
          <p:cNvGrpSpPr/>
          <p:nvPr/>
        </p:nvGrpSpPr>
        <p:grpSpPr>
          <a:xfrm>
            <a:off x="1211043" y="2689588"/>
            <a:ext cx="9769914" cy="3141870"/>
            <a:chOff x="1211043" y="2781363"/>
            <a:chExt cx="9769914" cy="314187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ED55EEA-1212-4000-A6DF-C58A73D5632C}"/>
                </a:ext>
              </a:extLst>
            </p:cNvPr>
            <p:cNvGrpSpPr/>
            <p:nvPr/>
          </p:nvGrpSpPr>
          <p:grpSpPr>
            <a:xfrm>
              <a:off x="1211043" y="2781363"/>
              <a:ext cx="9769914" cy="3092504"/>
              <a:chOff x="1211043" y="2336922"/>
              <a:chExt cx="9769914" cy="3092504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55870A41-561B-46D8-872D-2DACE1D28AAF}"/>
                  </a:ext>
                </a:extLst>
              </p:cNvPr>
              <p:cNvGrpSpPr/>
              <p:nvPr/>
            </p:nvGrpSpPr>
            <p:grpSpPr>
              <a:xfrm>
                <a:off x="1324750" y="2864843"/>
                <a:ext cx="4413424" cy="2564583"/>
                <a:chOff x="1032549" y="3249240"/>
                <a:chExt cx="4413424" cy="2564583"/>
              </a:xfrm>
            </p:grpSpPr>
            <p:sp>
              <p:nvSpPr>
                <p:cNvPr id="23" name="Shape 8">
                  <a:extLst>
                    <a:ext uri="{FF2B5EF4-FFF2-40B4-BE49-F238E27FC236}">
                      <a16:creationId xmlns:a16="http://schemas.microsoft.com/office/drawing/2014/main" id="{1E82256C-508F-4718-BDA2-BC66C83B7F0E}"/>
                    </a:ext>
                  </a:extLst>
                </p:cNvPr>
                <p:cNvSpPr/>
                <p:nvPr/>
              </p:nvSpPr>
              <p:spPr>
                <a:xfrm>
                  <a:off x="1032549" y="3249240"/>
                  <a:ext cx="4413424" cy="2564583"/>
                </a:xfrm>
                <a:prstGeom prst="roundRect">
                  <a:avLst>
                    <a:gd name="adj" fmla="val 5818"/>
                  </a:avLst>
                </a:prstGeom>
                <a:solidFill>
                  <a:srgbClr val="FFFFFF"/>
                </a:solidFill>
                <a:ln w="10160">
                  <a:solidFill>
                    <a:srgbClr val="DCE8FA"/>
                  </a:solidFill>
                  <a:prstDash val="solid"/>
                </a:ln>
              </p:spPr>
            </p:sp>
            <p:pic>
              <p:nvPicPr>
                <p:cNvPr id="27" name="Picture 26">
                  <a:extLst>
                    <a:ext uri="{FF2B5EF4-FFF2-40B4-BE49-F238E27FC236}">
                      <a16:creationId xmlns:a16="http://schemas.microsoft.com/office/drawing/2014/main" id="{8ADDDFBD-5E3C-4896-BA4F-D0F3EA431C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8179"/>
                <a:stretch/>
              </p:blipFill>
              <p:spPr>
                <a:xfrm>
                  <a:off x="1087294" y="3401279"/>
                  <a:ext cx="4303933" cy="2355183"/>
                </a:xfrm>
                <a:prstGeom prst="rect">
                  <a:avLst/>
                </a:prstGeom>
              </p:spPr>
            </p:pic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0CE9D502-4A98-4EFF-A464-807AEFFEFAEB}"/>
                    </a:ext>
                  </a:extLst>
                </p:cNvPr>
                <p:cNvSpPr/>
                <p:nvPr/>
              </p:nvSpPr>
              <p:spPr>
                <a:xfrm>
                  <a:off x="4234875" y="3762257"/>
                  <a:ext cx="487664" cy="229054"/>
                </a:xfrm>
                <a:custGeom>
                  <a:avLst/>
                  <a:gdLst>
                    <a:gd name="connsiteX0" fmla="*/ 50800 w 419100"/>
                    <a:gd name="connsiteY0" fmla="*/ 31750 h 196850"/>
                    <a:gd name="connsiteX1" fmla="*/ 133350 w 419100"/>
                    <a:gd name="connsiteY1" fmla="*/ 0 h 196850"/>
                    <a:gd name="connsiteX2" fmla="*/ 406400 w 419100"/>
                    <a:gd name="connsiteY2" fmla="*/ 0 h 196850"/>
                    <a:gd name="connsiteX3" fmla="*/ 419100 w 419100"/>
                    <a:gd name="connsiteY3" fmla="*/ 196850 h 196850"/>
                    <a:gd name="connsiteX4" fmla="*/ 0 w 419100"/>
                    <a:gd name="connsiteY4" fmla="*/ 152400 h 196850"/>
                    <a:gd name="connsiteX5" fmla="*/ 50800 w 419100"/>
                    <a:gd name="connsiteY5" fmla="*/ 31750 h 1968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9100" h="196850">
                      <a:moveTo>
                        <a:pt x="50800" y="31750"/>
                      </a:moveTo>
                      <a:lnTo>
                        <a:pt x="133350" y="0"/>
                      </a:lnTo>
                      <a:lnTo>
                        <a:pt x="406400" y="0"/>
                      </a:lnTo>
                      <a:lnTo>
                        <a:pt x="419100" y="196850"/>
                      </a:lnTo>
                      <a:lnTo>
                        <a:pt x="0" y="152400"/>
                      </a:lnTo>
                      <a:lnTo>
                        <a:pt x="50800" y="31750"/>
                      </a:lnTo>
                      <a:close/>
                    </a:path>
                  </a:pathLst>
                </a:custGeom>
                <a:solidFill>
                  <a:srgbClr val="E66867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C609C7C8-B81C-4E5A-8DE7-5B7392628E26}"/>
                    </a:ext>
                  </a:extLst>
                </p:cNvPr>
                <p:cNvSpPr/>
                <p:nvPr/>
              </p:nvSpPr>
              <p:spPr>
                <a:xfrm>
                  <a:off x="2995430" y="4328077"/>
                  <a:ext cx="487664" cy="229054"/>
                </a:xfrm>
                <a:custGeom>
                  <a:avLst/>
                  <a:gdLst>
                    <a:gd name="connsiteX0" fmla="*/ 50800 w 419100"/>
                    <a:gd name="connsiteY0" fmla="*/ 31750 h 196850"/>
                    <a:gd name="connsiteX1" fmla="*/ 133350 w 419100"/>
                    <a:gd name="connsiteY1" fmla="*/ 0 h 196850"/>
                    <a:gd name="connsiteX2" fmla="*/ 406400 w 419100"/>
                    <a:gd name="connsiteY2" fmla="*/ 0 h 196850"/>
                    <a:gd name="connsiteX3" fmla="*/ 419100 w 419100"/>
                    <a:gd name="connsiteY3" fmla="*/ 196850 h 196850"/>
                    <a:gd name="connsiteX4" fmla="*/ 0 w 419100"/>
                    <a:gd name="connsiteY4" fmla="*/ 152400 h 196850"/>
                    <a:gd name="connsiteX5" fmla="*/ 50800 w 419100"/>
                    <a:gd name="connsiteY5" fmla="*/ 31750 h 1968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9100" h="196850">
                      <a:moveTo>
                        <a:pt x="50800" y="31750"/>
                      </a:moveTo>
                      <a:lnTo>
                        <a:pt x="133350" y="0"/>
                      </a:lnTo>
                      <a:lnTo>
                        <a:pt x="406400" y="0"/>
                      </a:lnTo>
                      <a:lnTo>
                        <a:pt x="419100" y="196850"/>
                      </a:lnTo>
                      <a:lnTo>
                        <a:pt x="0" y="152400"/>
                      </a:lnTo>
                      <a:lnTo>
                        <a:pt x="50800" y="31750"/>
                      </a:lnTo>
                      <a:close/>
                    </a:path>
                  </a:pathLst>
                </a:custGeom>
                <a:solidFill>
                  <a:srgbClr val="5E85B0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35A03C30-6B1A-4B88-A823-CDFF6D395EA1}"/>
                    </a:ext>
                  </a:extLst>
                </p:cNvPr>
                <p:cNvSpPr/>
                <p:nvPr/>
              </p:nvSpPr>
              <p:spPr>
                <a:xfrm>
                  <a:off x="1678927" y="4945044"/>
                  <a:ext cx="487664" cy="229054"/>
                </a:xfrm>
                <a:custGeom>
                  <a:avLst/>
                  <a:gdLst>
                    <a:gd name="connsiteX0" fmla="*/ 50800 w 419100"/>
                    <a:gd name="connsiteY0" fmla="*/ 31750 h 196850"/>
                    <a:gd name="connsiteX1" fmla="*/ 133350 w 419100"/>
                    <a:gd name="connsiteY1" fmla="*/ 0 h 196850"/>
                    <a:gd name="connsiteX2" fmla="*/ 406400 w 419100"/>
                    <a:gd name="connsiteY2" fmla="*/ 0 h 196850"/>
                    <a:gd name="connsiteX3" fmla="*/ 419100 w 419100"/>
                    <a:gd name="connsiteY3" fmla="*/ 196850 h 196850"/>
                    <a:gd name="connsiteX4" fmla="*/ 0 w 419100"/>
                    <a:gd name="connsiteY4" fmla="*/ 152400 h 196850"/>
                    <a:gd name="connsiteX5" fmla="*/ 50800 w 419100"/>
                    <a:gd name="connsiteY5" fmla="*/ 31750 h 1968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9100" h="196850">
                      <a:moveTo>
                        <a:pt x="50800" y="31750"/>
                      </a:moveTo>
                      <a:lnTo>
                        <a:pt x="133350" y="0"/>
                      </a:lnTo>
                      <a:lnTo>
                        <a:pt x="406400" y="0"/>
                      </a:lnTo>
                      <a:lnTo>
                        <a:pt x="419100" y="196850"/>
                      </a:lnTo>
                      <a:lnTo>
                        <a:pt x="0" y="152400"/>
                      </a:lnTo>
                      <a:lnTo>
                        <a:pt x="50800" y="31750"/>
                      </a:lnTo>
                      <a:close/>
                    </a:path>
                  </a:pathLst>
                </a:custGeom>
                <a:solidFill>
                  <a:srgbClr val="5E85B0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64529F90-0D90-4D06-A22A-9BF6736AC066}"/>
                    </a:ext>
                  </a:extLst>
                </p:cNvPr>
                <p:cNvSpPr txBox="1"/>
                <p:nvPr/>
              </p:nvSpPr>
              <p:spPr>
                <a:xfrm>
                  <a:off x="4075288" y="3779761"/>
                  <a:ext cx="821614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1</a:t>
                  </a:r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조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2,578</a:t>
                  </a:r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억원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CE70B62-55EB-473C-BA03-421B1681A667}"/>
                    </a:ext>
                  </a:extLst>
                </p:cNvPr>
                <p:cNvSpPr txBox="1"/>
                <p:nvPr/>
              </p:nvSpPr>
              <p:spPr>
                <a:xfrm>
                  <a:off x="2907242" y="4328077"/>
                  <a:ext cx="664039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8,545</a:t>
                  </a:r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억원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9E0FC46-BD5A-44EE-96E2-24AA444130B9}"/>
                    </a:ext>
                  </a:extLst>
                </p:cNvPr>
                <p:cNvSpPr txBox="1"/>
                <p:nvPr/>
              </p:nvSpPr>
              <p:spPr>
                <a:xfrm>
                  <a:off x="1664187" y="4901827"/>
                  <a:ext cx="664039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4,472</a:t>
                  </a:r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억원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15AC449D-63FD-4FAC-BC84-018DCA6B81B3}"/>
                    </a:ext>
                  </a:extLst>
                </p:cNvPr>
                <p:cNvSpPr/>
                <p:nvPr/>
              </p:nvSpPr>
              <p:spPr>
                <a:xfrm>
                  <a:off x="1848280" y="5567957"/>
                  <a:ext cx="2796677" cy="15194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132AA46-7D78-4876-B8DC-07219A1BC210}"/>
                    </a:ext>
                  </a:extLst>
                </p:cNvPr>
                <p:cNvSpPr txBox="1"/>
                <p:nvPr/>
              </p:nvSpPr>
              <p:spPr>
                <a:xfrm>
                  <a:off x="1767645" y="5536491"/>
                  <a:ext cx="457124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2023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F857B92-D8C9-4FA5-A64C-2A057E220F10}"/>
                    </a:ext>
                  </a:extLst>
                </p:cNvPr>
                <p:cNvSpPr txBox="1"/>
                <p:nvPr/>
              </p:nvSpPr>
              <p:spPr>
                <a:xfrm>
                  <a:off x="3032853" y="5536491"/>
                  <a:ext cx="457124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2024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0E9A77ED-F1D8-4FC7-808D-E37C404A7CA9}"/>
                    </a:ext>
                  </a:extLst>
                </p:cNvPr>
                <p:cNvSpPr txBox="1"/>
                <p:nvPr/>
              </p:nvSpPr>
              <p:spPr>
                <a:xfrm>
                  <a:off x="4270268" y="5536491"/>
                  <a:ext cx="457124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2025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CC42CBDA-FA6E-483F-A7ED-A9D5C8BDA779}"/>
                    </a:ext>
                  </a:extLst>
                </p:cNvPr>
                <p:cNvSpPr/>
                <p:nvPr/>
              </p:nvSpPr>
              <p:spPr>
                <a:xfrm>
                  <a:off x="4329379" y="3570236"/>
                  <a:ext cx="335269" cy="11671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1D129A4D-4056-4EBB-8790-4D787591974D}"/>
                    </a:ext>
                  </a:extLst>
                </p:cNvPr>
                <p:cNvSpPr/>
                <p:nvPr/>
              </p:nvSpPr>
              <p:spPr>
                <a:xfrm>
                  <a:off x="3104678" y="3738794"/>
                  <a:ext cx="272766" cy="139088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D075D39-1E77-4244-A163-8B99D040B560}"/>
                    </a:ext>
                  </a:extLst>
                </p:cNvPr>
                <p:cNvSpPr txBox="1"/>
                <p:nvPr/>
              </p:nvSpPr>
              <p:spPr>
                <a:xfrm>
                  <a:off x="4175340" y="3517506"/>
                  <a:ext cx="643347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23,260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1B775FF-A5B9-4BE9-9C1E-81448A4F4AC7}"/>
                    </a:ext>
                  </a:extLst>
                </p:cNvPr>
                <p:cNvSpPr txBox="1"/>
                <p:nvPr/>
              </p:nvSpPr>
              <p:spPr>
                <a:xfrm>
                  <a:off x="2941649" y="3698945"/>
                  <a:ext cx="643347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20,839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1B2856F-FCF3-43A9-B38A-287AF282279A}"/>
                    </a:ext>
                  </a:extLst>
                </p:cNvPr>
                <p:cNvSpPr/>
                <p:nvPr/>
              </p:nvSpPr>
              <p:spPr>
                <a:xfrm>
                  <a:off x="1850906" y="3933163"/>
                  <a:ext cx="272766" cy="82713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endParaRPr lang="ko-KR" altLang="en-US" sz="240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3DE967D-3AFC-49E7-808F-C44ED34D584B}"/>
                    </a:ext>
                  </a:extLst>
                </p:cNvPr>
                <p:cNvSpPr txBox="1"/>
                <p:nvPr/>
              </p:nvSpPr>
              <p:spPr>
                <a:xfrm>
                  <a:off x="1674532" y="3855641"/>
                  <a:ext cx="643347" cy="2139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18,902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</a:p>
              </p:txBody>
            </p: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129DE3E-630F-4541-AD0C-6DC0DD11F9A8}"/>
                  </a:ext>
                </a:extLst>
              </p:cNvPr>
              <p:cNvSpPr txBox="1"/>
              <p:nvPr/>
            </p:nvSpPr>
            <p:spPr>
              <a:xfrm>
                <a:off x="1211043" y="2336922"/>
                <a:ext cx="464083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여전히 발생하고 있는 보이스피싱</a:t>
                </a:r>
                <a:r>
                  <a:rPr lang="en-US" altLang="ko-KR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…</a:t>
                </a:r>
              </a:p>
              <a:p>
                <a:pPr algn="ctr"/>
                <a:r>
                  <a:rPr lang="ko-KR" altLang="en-US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최근 </a:t>
                </a:r>
                <a:r>
                  <a:rPr lang="en-US" altLang="ko-KR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년간 보이스피싱 피해 수</a:t>
                </a:r>
                <a:r>
                  <a:rPr lang="en-US" altLang="ko-KR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4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피해액 증가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91484-B054-472B-9073-7E4ADF862D87}"/>
                  </a:ext>
                </a:extLst>
              </p:cNvPr>
              <p:cNvSpPr txBox="1"/>
              <p:nvPr/>
            </p:nvSpPr>
            <p:spPr>
              <a:xfrm>
                <a:off x="6191101" y="2337865"/>
                <a:ext cx="4789856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ASAP </a:t>
                </a: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출범 이후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, 25</a:t>
                </a: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년 동기 대비 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26</a:t>
                </a: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년 피해액 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53% </a:t>
                </a: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감소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…</a:t>
                </a:r>
              </a:p>
              <a:p>
                <a:pPr marL="0" indent="0" algn="ctr">
                  <a:buNone/>
                </a:pP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사회의 노력으로 눈에 띄게 줄어든 보이스피싱 피해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…</a:t>
                </a:r>
              </a:p>
              <a:p>
                <a:pPr marL="0" indent="0" algn="ctr">
                  <a:buNone/>
                </a:pPr>
                <a:endPara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endParaRPr>
              </a:p>
              <a:p>
                <a:pPr marL="0" indent="0" algn="ctr">
                  <a:buNone/>
                </a:pP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그러나</a:t>
                </a: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, </a:t>
                </a:r>
                <a:r>
                  <a:rPr lang="ko-KR" altLang="en-US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여전히 발생하고 있는 비극적 사건들</a:t>
                </a:r>
                <a:endPara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endParaRPr>
              </a:p>
              <a:p>
                <a:pPr marL="0" indent="0" algn="ctr">
                  <a:buNone/>
                </a:pPr>
                <a:r>
                  <a:rPr lang="en-US" altLang="ko-KR" sz="14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…</a:t>
                </a:r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4392955-62C2-4F31-9B89-F8F7DA1ABA23}"/>
                  </a:ext>
                </a:extLst>
              </p:cNvPr>
              <p:cNvGrpSpPr/>
              <p:nvPr/>
            </p:nvGrpSpPr>
            <p:grpSpPr>
              <a:xfrm>
                <a:off x="6410371" y="3697530"/>
                <a:ext cx="4351316" cy="963203"/>
                <a:chOff x="6522760" y="3697231"/>
                <a:chExt cx="4351316" cy="963203"/>
              </a:xfrm>
            </p:grpSpPr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4253C18-8B24-4615-9F41-F80A70148FD5}"/>
                    </a:ext>
                  </a:extLst>
                </p:cNvPr>
                <p:cNvSpPr txBox="1"/>
                <p:nvPr/>
              </p:nvSpPr>
              <p:spPr>
                <a:xfrm>
                  <a:off x="6522760" y="3697231"/>
                  <a:ext cx="4351316" cy="2616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 algn="ctr" fontAlgn="base"/>
                  <a:r>
                    <a:rPr lang="en-US" altLang="ko-KR" sz="1050" b="1" i="0" dirty="0">
                      <a:solidFill>
                        <a:srgbClr val="222222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“</a:t>
                  </a:r>
                  <a:r>
                    <a:rPr lang="ko-KR" altLang="en-US" sz="1050" b="1" i="0" dirty="0">
                      <a:solidFill>
                        <a:srgbClr val="222222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보이스피싱 줄었다지만</a:t>
                  </a:r>
                  <a:r>
                    <a:rPr lang="en-US" altLang="ko-KR" sz="1050" b="1" i="0" dirty="0">
                      <a:solidFill>
                        <a:srgbClr val="222222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…5</a:t>
                  </a:r>
                  <a:r>
                    <a:rPr lang="ko-KR" altLang="en-US" sz="1050" b="1" i="0" dirty="0">
                      <a:solidFill>
                        <a:srgbClr val="222222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천만 원 피해에 </a:t>
                  </a:r>
                  <a:r>
                    <a:rPr lang="en-US" altLang="ko-KR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20</a:t>
                  </a:r>
                  <a:r>
                    <a:rPr lang="ko-KR" altLang="en-US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대 아들</a:t>
                  </a:r>
                  <a:r>
                    <a:rPr lang="en-US" altLang="ko-KR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, </a:t>
                  </a:r>
                  <a:r>
                    <a:rPr lang="ko-KR" altLang="en-US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엄마와 함께 숨져</a:t>
                  </a:r>
                  <a:r>
                    <a:rPr lang="en-US" altLang="ko-KR" sz="1050" b="1" i="0" dirty="0">
                      <a:solidFill>
                        <a:srgbClr val="222222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”</a:t>
                  </a:r>
                  <a:endParaRPr lang="ko-KR" altLang="en-US" sz="1050" i="0" dirty="0">
                    <a:solidFill>
                      <a:srgbClr val="222222"/>
                    </a:solidFill>
                    <a:effectLst/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1804E37-175A-49DF-A1AE-A8E99DC3BFD7}"/>
                    </a:ext>
                  </a:extLst>
                </p:cNvPr>
                <p:cNvSpPr txBox="1"/>
                <p:nvPr/>
              </p:nvSpPr>
              <p:spPr>
                <a:xfrm>
                  <a:off x="6659400" y="4048027"/>
                  <a:ext cx="4049326" cy="2616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 algn="ctr" fontAlgn="base"/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“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보이스피싱 피해 비관 </a:t>
                  </a:r>
                  <a:r>
                    <a:rPr lang="ko-KR" altLang="en-US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부부 극단선택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…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홀로 산 남편 자살방조 처벌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”</a:t>
                  </a:r>
                  <a:endParaRPr lang="ko-KR" altLang="en-US" sz="1050" i="0" dirty="0">
                    <a:effectLst/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5293354-2278-488F-89E1-11BB4375AF62}"/>
                    </a:ext>
                  </a:extLst>
                </p:cNvPr>
                <p:cNvSpPr txBox="1"/>
                <p:nvPr/>
              </p:nvSpPr>
              <p:spPr>
                <a:xfrm>
                  <a:off x="6713037" y="4398824"/>
                  <a:ext cx="3942053" cy="2616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 algn="ctr" fontAlgn="base"/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“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보이스피싱에 속아 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3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억원 잃은 </a:t>
                  </a:r>
                  <a:r>
                    <a:rPr lang="ko-KR" altLang="en-US" sz="1050" b="1" i="0" dirty="0">
                      <a:solidFill>
                        <a:srgbClr val="FF4B16"/>
                      </a:solidFill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피해자 생 마감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…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인출책 징역 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1</a:t>
                  </a:r>
                  <a:r>
                    <a:rPr lang="ko-KR" altLang="en-US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년</a:t>
                  </a:r>
                  <a:r>
                    <a:rPr lang="en-US" altLang="ko-KR" sz="1050" b="1" i="0" dirty="0">
                      <a:effectLst/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”</a:t>
                  </a:r>
                  <a:endParaRPr lang="ko-KR" altLang="en-US" sz="1050" i="0" dirty="0">
                    <a:effectLst/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sp>
          <p:nvSpPr>
            <p:cNvPr id="95" name="Shape 8">
              <a:extLst>
                <a:ext uri="{FF2B5EF4-FFF2-40B4-BE49-F238E27FC236}">
                  <a16:creationId xmlns:a16="http://schemas.microsoft.com/office/drawing/2014/main" id="{68C2BA43-A16F-4F66-A537-7730674DF8FA}"/>
                </a:ext>
              </a:extLst>
            </p:cNvPr>
            <p:cNvSpPr/>
            <p:nvPr/>
          </p:nvSpPr>
          <p:spPr>
            <a:xfrm>
              <a:off x="6363779" y="5434385"/>
              <a:ext cx="4448726" cy="48884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ko-KR" altLang="en-US" sz="1400" b="1" dirty="0">
                  <a:solidFill>
                    <a:srgbClr val="C5D6E8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우리가</a:t>
              </a:r>
              <a:r>
                <a:rPr lang="en-US" altLang="ko-KR" sz="1400" b="1" dirty="0">
                  <a:solidFill>
                    <a:srgbClr val="C5D6E8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 </a:t>
              </a:r>
              <a:r>
                <a:rPr lang="ko-KR" altLang="en-US" sz="1400" b="1" dirty="0">
                  <a:solidFill>
                    <a:srgbClr val="C5D6E8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놓치고 있는 </a:t>
              </a:r>
              <a:r>
                <a:rPr lang="en-US" altLang="ko-KR" sz="1400" b="1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[</a:t>
              </a:r>
              <a:r>
                <a:rPr lang="ko-KR" altLang="en-US" sz="1400" b="1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빈틈</a:t>
              </a:r>
              <a:r>
                <a:rPr lang="en-US" altLang="ko-KR" sz="1400" b="1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]</a:t>
              </a:r>
              <a:r>
                <a:rPr lang="ko-KR" altLang="en-US" sz="1400" b="1" dirty="0">
                  <a:solidFill>
                    <a:srgbClr val="C5D6E8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이 있는게 아닐까</a:t>
              </a:r>
              <a:r>
                <a:rPr lang="en-US" altLang="ko-KR" sz="1400" b="1" dirty="0">
                  <a:solidFill>
                    <a:srgbClr val="C5D6E8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?</a:t>
              </a:r>
            </a:p>
          </p:txBody>
        </p:sp>
      </p:grpSp>
      <p:sp>
        <p:nvSpPr>
          <p:cNvPr id="45" name="Text 11">
            <a:extLst>
              <a:ext uri="{FF2B5EF4-FFF2-40B4-BE49-F238E27FC236}">
                <a16:creationId xmlns:a16="http://schemas.microsoft.com/office/drawing/2014/main" id="{821E1794-6BFA-400B-A00B-DC2A21C61F47}"/>
              </a:ext>
            </a:extLst>
          </p:cNvPr>
          <p:cNvSpPr txBox="1"/>
          <p:nvPr/>
        </p:nvSpPr>
        <p:spPr>
          <a:xfrm>
            <a:off x="547516" y="6501384"/>
            <a:ext cx="6340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 / 7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30614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9F9940-45C0-456C-B29A-BA08B1A4C0D7}"/>
              </a:ext>
            </a:extLst>
          </p:cNvPr>
          <p:cNvSpPr txBox="1"/>
          <p:nvPr/>
        </p:nvSpPr>
        <p:spPr>
          <a:xfrm>
            <a:off x="3050628" y="1446468"/>
            <a:ext cx="827952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🔌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ASAP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허브 구조의 기술적 강점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제안서 보완 방향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"ASAP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거치면 다이렉트보다 느려서 망하는 것 아니냐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는 우려를 불식시킬 제안서용 기술 팩트입니다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실시간 초고속 연동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(API 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방식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ASAP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은 데이터를 사람이 검토하고 넘기는 수동 시스템이 아닙니다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통신사 서버와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ASAP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서버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은행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FDS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전산이 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실시간 전용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API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망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으로 뚫려 있습니다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통신사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AI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가 탐지한 순간부터 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ASAP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거쳐 은행 창구 모니터에 도달하기까지 걸리는 시간은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0.1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초 미만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입니다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속도 저하는 거의 없습니다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[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데이터 정제 기능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통신사가 가공되지 않은 날것의 데이터를 주면 은행 전산이 해석하지 못합니다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ASAP 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플랫폼이 중간에서 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은행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FDS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망이 바로 읽을 수 있는 표준 규격 코드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(JSON 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태그 등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로 가공</a:t>
            </a:r>
            <a:r>
              <a:rPr lang="ko-KR" altLang="en-US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해서 쏘아주는 통역사 역할을 하기 때문에 시스템적으로 필수적입니다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[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r>
              <a:rPr lang="en-US" altLang="ko-KR" b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70388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12051-7BF9-4FE8-B452-A08937323793}"/>
              </a:ext>
            </a:extLst>
          </p:cNvPr>
          <p:cNvSpPr txBox="1"/>
          <p:nvPr/>
        </p:nvSpPr>
        <p:spPr>
          <a:xfrm>
            <a:off x="1397876" y="803472"/>
            <a:ext cx="94067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수사기관에 등록된 확실한 대포통장으로 송금할 때는 전산이 100% 자동 차단합니다.하지만 사기범의 교묘한 가스라이팅으로 피해자가 정상 거래인 척 속아서 송금할 때는 자동 전산이 우선 '송금 보류 및 지연(3시간)' 브레이크만 걸고 2단계(직원)로 넘깁니다.</a:t>
            </a:r>
          </a:p>
          <a:p>
            <a:endParaRPr lang="ko-KR" altLang="en-US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[ 1단계: 🤖 FDS + ASAP 자동 차단 (전산) ]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통신사 AI가 피싱 탐지 ➡️ ASAP 고속도로 가동 ➡️ 은행 FDS가 '이체 일시 중단' 자동 차단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   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                                  ▼ (자동 차단 후 즉시 팝업 알림)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[ 2단계: 🧑‍💼 은행 직원의 설득 및 개입 (인적 차단) ]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은행 전담 모니터링 직원이 피해자에게 전화 유선 연락 ➡️ "고객님, 사기입니다" 설득 및 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59A32-45B7-4C9B-8173-2203770732FA}"/>
              </a:ext>
            </a:extLst>
          </p:cNvPr>
          <p:cNvSpPr txBox="1"/>
          <p:nvPr/>
        </p:nvSpPr>
        <p:spPr>
          <a:xfrm>
            <a:off x="1397876" y="4019637"/>
            <a:ext cx="94067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"1</a:t>
            </a:r>
            <a:r>
              <a:rPr lang="ko-KR" altLang="en-US" sz="1400" dirty="0">
                <a:solidFill>
                  <a:schemeClr val="bg1"/>
                </a:solidFill>
              </a:rPr>
              <a:t>단계 전산이 자동으로 묶어놓고 </a:t>
            </a:r>
            <a:r>
              <a:rPr lang="en-US" altLang="ko-KR" sz="1400" dirty="0">
                <a:solidFill>
                  <a:schemeClr val="bg1"/>
                </a:solidFill>
              </a:rPr>
              <a:t>2</a:t>
            </a:r>
            <a:r>
              <a:rPr lang="ko-KR" altLang="en-US" sz="1400" dirty="0">
                <a:solidFill>
                  <a:schemeClr val="bg1"/>
                </a:solidFill>
              </a:rPr>
              <a:t>단계 직원이 전화를 걸어 설득하려 해도</a:t>
            </a:r>
            <a:r>
              <a:rPr lang="en-US" altLang="ko-KR" sz="1400" dirty="0">
                <a:solidFill>
                  <a:schemeClr val="bg1"/>
                </a:solidFill>
              </a:rPr>
              <a:t>,</a:t>
            </a:r>
          </a:p>
          <a:p>
            <a:r>
              <a:rPr lang="ko-KR" altLang="en-US" sz="1400" dirty="0">
                <a:solidFill>
                  <a:schemeClr val="bg1"/>
                </a:solidFill>
              </a:rPr>
              <a:t>피해자가 이미 가스라이팅을 당해 직원의 말을 안 믿고 고집을 부리면 결국 돈이 뚫린다</a:t>
            </a:r>
            <a:r>
              <a:rPr lang="en-US" altLang="ko-KR" sz="1400" dirty="0">
                <a:solidFill>
                  <a:schemeClr val="bg1"/>
                </a:solidFill>
              </a:rPr>
              <a:t>.“</a:t>
            </a:r>
          </a:p>
        </p:txBody>
      </p:sp>
    </p:spTree>
    <p:extLst>
      <p:ext uri="{BB962C8B-B14F-4D97-AF65-F5344CB8AC3E}">
        <p14:creationId xmlns:p14="http://schemas.microsoft.com/office/powerpoint/2010/main" val="258042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C00B80-E262-4B0D-82DD-094C15E735F7}"/>
              </a:ext>
            </a:extLst>
          </p:cNvPr>
          <p:cNvSpPr txBox="1"/>
          <p:nvPr/>
        </p:nvSpPr>
        <p:spPr>
          <a:xfrm>
            <a:off x="3050628" y="2969962"/>
            <a:ext cx="61012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통신사 온디바이스 </a:t>
            </a:r>
            <a:r>
              <a:rPr lang="en-US" altLang="ko-KR" dirty="0">
                <a:solidFill>
                  <a:schemeClr val="bg1"/>
                </a:solidFill>
              </a:rPr>
              <a:t>AI</a:t>
            </a:r>
            <a:r>
              <a:rPr lang="ko-KR" altLang="en-US" dirty="0">
                <a:solidFill>
                  <a:schemeClr val="bg1"/>
                </a:solidFill>
              </a:rPr>
              <a:t>가 대화를 실시간으로 들으면서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이 통화는 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95% </a:t>
            </a:r>
            <a:r>
              <a:rPr lang="ko-KR" altLang="en-US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확률로 검찰을 사칭하여 자산 이동을 압박 중이다</a:t>
            </a:r>
            <a:r>
              <a:rPr lang="en-US" altLang="ko-KR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"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4783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FB94C8-B9EE-49FB-8693-AC6490FA1676}"/>
              </a:ext>
            </a:extLst>
          </p:cNvPr>
          <p:cNvSpPr txBox="1"/>
          <p:nvPr/>
        </p:nvSpPr>
        <p:spPr>
          <a:xfrm>
            <a:off x="966951" y="1307969"/>
            <a:ext cx="1026860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[통신사 온디바이스 AI] 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정상 통화 ➡️ 데이터 즉시 파기 (ASAP 전송 안 함 ➡️ 개인정보 완벽 보호)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피싱 확진 ➡️ 실시간 분석 아웃풋 코드(JSON) 생성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       │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       ▼ (실시간 API 전송)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[중앙 ASAP 플랫폼] ➡️ [은행 FDS 및 우리 LLM 가디언]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- 대화 원본 글은 없음 (도청 논란 100% 해소)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- 오직 '사칭/요구사항 코드'만 입고됨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       │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       ▼ (0.1초 만에 우리 AI가 구동)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[우리 서비스의 액션]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- 3시간 자동 송금 제한 전산 발동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- 입고된 코드를 기반으로 LLM이 창구 직원 화면에 "사기범 대본 파괴용 역질문 브리프" 실시간 생성 출력</a:t>
            </a:r>
          </a:p>
        </p:txBody>
      </p:sp>
    </p:spTree>
    <p:extLst>
      <p:ext uri="{BB962C8B-B14F-4D97-AF65-F5344CB8AC3E}">
        <p14:creationId xmlns:p14="http://schemas.microsoft.com/office/powerpoint/2010/main" val="1389849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14E93E-EEEC-41FF-897C-00CE196CACC4}"/>
              </a:ext>
            </a:extLst>
          </p:cNvPr>
          <p:cNvSpPr txBox="1"/>
          <p:nvPr/>
        </p:nvSpPr>
        <p:spPr>
          <a:xfrm>
            <a:off x="641131" y="2690336"/>
            <a:ext cx="107310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통신사 온디바이스 </a:t>
            </a:r>
            <a:r>
              <a:rPr lang="en-US" altLang="ko-KR" dirty="0">
                <a:solidFill>
                  <a:schemeClr val="bg1"/>
                </a:solidFill>
              </a:rPr>
              <a:t>AI] ➡️ (0.1</a:t>
            </a:r>
            <a:r>
              <a:rPr lang="ko-KR" altLang="en-US" dirty="0">
                <a:solidFill>
                  <a:schemeClr val="bg1"/>
                </a:solidFill>
              </a:rPr>
              <a:t>초 소요</a:t>
            </a:r>
            <a:r>
              <a:rPr lang="en-US" altLang="ko-KR" dirty="0">
                <a:solidFill>
                  <a:schemeClr val="bg1"/>
                </a:solidFill>
              </a:rPr>
              <a:t>) ➡️ [ASAP </a:t>
            </a:r>
            <a:r>
              <a:rPr lang="ko-KR" altLang="en-US" dirty="0">
                <a:solidFill>
                  <a:schemeClr val="bg1"/>
                </a:solidFill>
              </a:rPr>
              <a:t>허브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chemeClr val="bg1"/>
                </a:solidFill>
              </a:rPr>
              <a:t>금융보안원</a:t>
            </a:r>
            <a:r>
              <a:rPr lang="en-US" altLang="ko-KR" dirty="0">
                <a:solidFill>
                  <a:schemeClr val="bg1"/>
                </a:solidFill>
              </a:rPr>
              <a:t>)] ➡️ (0.1</a:t>
            </a:r>
            <a:r>
              <a:rPr lang="ko-KR" altLang="en-US" dirty="0">
                <a:solidFill>
                  <a:schemeClr val="bg1"/>
                </a:solidFill>
              </a:rPr>
              <a:t>초 소요</a:t>
            </a:r>
            <a:r>
              <a:rPr lang="en-US" altLang="ko-KR" dirty="0">
                <a:solidFill>
                  <a:schemeClr val="bg1"/>
                </a:solidFill>
              </a:rPr>
              <a:t>) ➡️ [</a:t>
            </a:r>
            <a:r>
              <a:rPr lang="ko-KR" altLang="en-US" dirty="0">
                <a:solidFill>
                  <a:schemeClr val="bg1"/>
                </a:solidFill>
              </a:rPr>
              <a:t>은행 </a:t>
            </a:r>
            <a:r>
              <a:rPr lang="en-US" altLang="ko-KR" dirty="0">
                <a:solidFill>
                  <a:schemeClr val="bg1"/>
                </a:solidFill>
              </a:rPr>
              <a:t>FDS] │</a:t>
            </a:r>
          </a:p>
          <a:p>
            <a:pPr algn="r"/>
            <a:r>
              <a:rPr lang="ko-KR" altLang="en-US" dirty="0">
                <a:solidFill>
                  <a:schemeClr val="bg1"/>
                </a:solidFill>
              </a:rPr>
              <a:t>🔥 </a:t>
            </a:r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여기서부터 우리의 독점 영역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pPr marL="342900" indent="-342900" algn="r">
              <a:buAutoNum type="arabicPeriod"/>
            </a:pPr>
            <a:r>
              <a:rPr lang="ko-KR" altLang="en-US" dirty="0">
                <a:solidFill>
                  <a:schemeClr val="bg1"/>
                </a:solidFill>
              </a:rPr>
              <a:t>은행 전산 </a:t>
            </a:r>
            <a:r>
              <a:rPr lang="en-US" altLang="ko-KR" dirty="0">
                <a:solidFill>
                  <a:schemeClr val="bg1"/>
                </a:solidFill>
              </a:rPr>
              <a:t>3</a:t>
            </a:r>
            <a:r>
              <a:rPr lang="ko-KR" altLang="en-US" dirty="0">
                <a:solidFill>
                  <a:schemeClr val="bg1"/>
                </a:solidFill>
              </a:rPr>
              <a:t>시간 이체 자동 잠금</a:t>
            </a:r>
            <a:endParaRPr lang="en-US" altLang="ko-KR" dirty="0">
              <a:solidFill>
                <a:schemeClr val="bg1"/>
              </a:solidFill>
            </a:endParaRPr>
          </a:p>
          <a:p>
            <a:pPr algn="r"/>
            <a:r>
              <a:rPr lang="en-US" altLang="ko-KR" dirty="0">
                <a:solidFill>
                  <a:schemeClr val="bg1"/>
                </a:solidFill>
              </a:rPr>
              <a:t>2. </a:t>
            </a:r>
            <a:r>
              <a:rPr lang="ko-KR" altLang="en-US" dirty="0">
                <a:solidFill>
                  <a:schemeClr val="bg1"/>
                </a:solidFill>
              </a:rPr>
              <a:t>우리 </a:t>
            </a:r>
            <a:r>
              <a:rPr lang="en-US" altLang="ko-KR" dirty="0">
                <a:solidFill>
                  <a:schemeClr val="bg1"/>
                </a:solidFill>
              </a:rPr>
              <a:t>AI </a:t>
            </a:r>
            <a:r>
              <a:rPr lang="ko-KR" altLang="en-US" dirty="0">
                <a:solidFill>
                  <a:schemeClr val="bg1"/>
                </a:solidFill>
              </a:rPr>
              <a:t>엔진이 행원 모니터에 </a:t>
            </a:r>
            <a:r>
              <a:rPr lang="en-US" altLang="ko-KR" dirty="0">
                <a:solidFill>
                  <a:schemeClr val="bg1"/>
                </a:solidFill>
              </a:rPr>
              <a:t>"</a:t>
            </a:r>
            <a:r>
              <a:rPr lang="ko-KR" altLang="en-US" dirty="0">
                <a:solidFill>
                  <a:schemeClr val="bg1"/>
                </a:solidFill>
              </a:rPr>
              <a:t>사기 대본 파괴용 </a:t>
            </a:r>
            <a:r>
              <a:rPr lang="en-US" altLang="ko-KR" dirty="0">
                <a:solidFill>
                  <a:schemeClr val="bg1"/>
                </a:solidFill>
              </a:rPr>
              <a:t>LLM </a:t>
            </a:r>
            <a:r>
              <a:rPr lang="ko-KR" altLang="en-US" dirty="0">
                <a:solidFill>
                  <a:schemeClr val="bg1"/>
                </a:solidFill>
              </a:rPr>
              <a:t>브리프</a:t>
            </a:r>
            <a:r>
              <a:rPr lang="en-US" altLang="ko-KR" dirty="0">
                <a:solidFill>
                  <a:schemeClr val="bg1"/>
                </a:solidFill>
              </a:rPr>
              <a:t>" </a:t>
            </a:r>
            <a:r>
              <a:rPr lang="ko-KR" altLang="en-US" dirty="0">
                <a:solidFill>
                  <a:schemeClr val="bg1"/>
                </a:solidFill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879096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21EAA0-8551-4E03-AAF0-C469FB78ECE0}"/>
              </a:ext>
            </a:extLst>
          </p:cNvPr>
          <p:cNvSpPr txBox="1"/>
          <p:nvPr/>
        </p:nvSpPr>
        <p:spPr>
          <a:xfrm>
            <a:off x="1024758" y="1571829"/>
            <a:ext cx="978513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[</a:t>
            </a: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기존 인간 담당자들이 하던 워크플로우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FDS 시스템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거래·접속·단말기·위험계좌 정보 등을 자동 분석해서 Alert 생성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FDS/금융사기 대응 담당자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Alert를 보고 추가 확인 필요 여부 판단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고객확인 담당자/콜센터/영업점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고객에게 연락해서 거래 목적·상황 확인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은행의 보안·준법·사기대응 조직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필요 시 거래지연·제한·지급정지 같은 조치 수행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[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우리가 추가하는 방향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-&gt;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저 단계에서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AI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가 사람이 보기 좋게 맥락화해서 자연어 브리프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작성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다음 진행하는 사항 가이드라인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실시간 타임라인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추가 확인 필요한 것들 확인하면서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…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확인 사항들 실시간 체크 밑 관리 가능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최종 케이스 리포트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621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325217-7683-4756-BDDD-C355690FFF67}"/>
              </a:ext>
            </a:extLst>
          </p:cNvPr>
          <p:cNvSpPr txBox="1"/>
          <p:nvPr/>
        </p:nvSpPr>
        <p:spPr>
          <a:xfrm>
            <a:off x="3043767" y="1932050"/>
            <a:ext cx="6104466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1차 MVP에서는 **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녹음파일 업로드/공유 → 자동 분석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**으로 안정적으로 구현하고, 동시에 실제 Galaxy 한 대에서:</a:t>
            </a:r>
            <a:endParaRPr kumimoji="0" lang="ko-KR" altLang="ko-KR" sz="4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자동녹음 → /Recordings/Call 저장 → 우리 앱이 자동 감지 가능한지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를 Android PoC로 테스트해.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2B49E-D141-4FEA-9FDB-C9B9E5AF4594}"/>
              </a:ext>
            </a:extLst>
          </p:cNvPr>
          <p:cNvSpPr txBox="1"/>
          <p:nvPr/>
        </p:nvSpPr>
        <p:spPr>
          <a:xfrm>
            <a:off x="3043767" y="5062835"/>
            <a:ext cx="6104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보이스피싱 전용 사건 구조화 → 위험 맥락 추출 → 검증항목 생성 → </a:t>
            </a:r>
            <a:r>
              <a:rPr lang="en-US" altLang="ko-KR" dirty="0">
                <a:solidFill>
                  <a:schemeClr val="bg1"/>
                </a:solidFill>
              </a:rPr>
              <a:t>FDS/</a:t>
            </a:r>
            <a:r>
              <a:rPr lang="ko-KR" altLang="en-US" dirty="0">
                <a:solidFill>
                  <a:schemeClr val="bg1"/>
                </a:solidFill>
              </a:rPr>
              <a:t>은행 판단자료화 → 필요 시 </a:t>
            </a:r>
            <a:r>
              <a:rPr lang="en-US" altLang="ko-KR" dirty="0">
                <a:solidFill>
                  <a:schemeClr val="bg1"/>
                </a:solidFill>
              </a:rPr>
              <a:t>Recovery Mode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774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D1B3174-2D0B-4C19-88BD-49F859143315}"/>
              </a:ext>
            </a:extLst>
          </p:cNvPr>
          <p:cNvGrpSpPr/>
          <p:nvPr/>
        </p:nvGrpSpPr>
        <p:grpSpPr>
          <a:xfrm>
            <a:off x="80434" y="287867"/>
            <a:ext cx="13795232" cy="5816596"/>
            <a:chOff x="80434" y="287867"/>
            <a:chExt cx="13795232" cy="581659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8F7351E-ED33-45BE-9718-5769F7A00A3A}"/>
                </a:ext>
              </a:extLst>
            </p:cNvPr>
            <p:cNvGrpSpPr/>
            <p:nvPr/>
          </p:nvGrpSpPr>
          <p:grpSpPr>
            <a:xfrm>
              <a:off x="80434" y="2277529"/>
              <a:ext cx="6015566" cy="3826934"/>
              <a:chOff x="80434" y="2277529"/>
              <a:chExt cx="6015566" cy="382693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40A7FD-1C14-46E5-8E11-3358F0B75F69}"/>
                  </a:ext>
                </a:extLst>
              </p:cNvPr>
              <p:cNvSpPr/>
              <p:nvPr/>
            </p:nvSpPr>
            <p:spPr>
              <a:xfrm>
                <a:off x="80434" y="2760128"/>
                <a:ext cx="2971800" cy="333586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dirty="0"/>
                  <a:t>ASAP</a:t>
                </a:r>
                <a:r>
                  <a:rPr lang="ko-KR" altLang="en-US" dirty="0"/>
                  <a:t>에서 받아서</a:t>
                </a:r>
                <a:endParaRPr lang="en-US" altLang="ko-KR" dirty="0"/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/>
                  <a:t>분석해서 </a:t>
                </a:r>
                <a:r>
                  <a:rPr lang="en-US" altLang="ko-KR" dirty="0" err="1"/>
                  <a:t>llm</a:t>
                </a:r>
                <a:r>
                  <a:rPr lang="ko-KR" altLang="en-US" dirty="0"/>
                  <a:t>이</a:t>
                </a:r>
                <a:endParaRPr lang="en-US" altLang="ko-KR" dirty="0"/>
              </a:p>
              <a:p>
                <a:pPr algn="ctr"/>
                <a:r>
                  <a:rPr lang="ko-KR" altLang="en-US" dirty="0"/>
                  <a:t>맥락 브리프</a:t>
                </a:r>
                <a:endParaRPr lang="en-US" altLang="ko-KR" dirty="0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267CF2A-DE98-4F16-872D-A642F6B5817F}"/>
                  </a:ext>
                </a:extLst>
              </p:cNvPr>
              <p:cNvSpPr/>
              <p:nvPr/>
            </p:nvSpPr>
            <p:spPr>
              <a:xfrm>
                <a:off x="3124200" y="2768596"/>
                <a:ext cx="2971800" cy="333586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dirty="0"/>
                  <a:t>(</a:t>
                </a:r>
                <a:r>
                  <a:rPr lang="ko-KR" altLang="en-US" dirty="0"/>
                  <a:t>삼성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통화 끝나고</a:t>
                </a:r>
                <a:endParaRPr lang="en-US" altLang="ko-KR" dirty="0"/>
              </a:p>
              <a:p>
                <a:pPr algn="ctr"/>
                <a:r>
                  <a:rPr lang="ko-KR" altLang="en-US" dirty="0"/>
                  <a:t>자동 저장되는 녹음본으로</a:t>
                </a:r>
                <a:endParaRPr lang="en-US" altLang="ko-KR" dirty="0"/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/>
                  <a:t>하나 더 따로 분석</a:t>
                </a:r>
                <a:endParaRPr lang="en-US" altLang="ko-KR" dirty="0"/>
              </a:p>
              <a:p>
                <a:pPr algn="ctr"/>
                <a:r>
                  <a:rPr lang="ko-KR" altLang="en-US" dirty="0"/>
                  <a:t>맥락 브리프</a:t>
                </a:r>
                <a:endParaRPr lang="en-US" altLang="ko-KR" dirty="0"/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en-US" altLang="ko-KR" dirty="0"/>
                  <a:t>(</a:t>
                </a:r>
                <a:r>
                  <a:rPr lang="ko-KR" altLang="en-US" dirty="0"/>
                  <a:t>분석 오래걸릴거 같음</a:t>
                </a:r>
                <a:r>
                  <a:rPr lang="en-US" altLang="ko-KR" dirty="0"/>
                  <a:t>..)</a:t>
                </a:r>
              </a:p>
              <a:p>
                <a:pPr algn="ctr"/>
                <a:r>
                  <a:rPr lang="ko-KR" altLang="en-US" dirty="0"/>
                  <a:t>청크 나누고</a:t>
                </a:r>
                <a:r>
                  <a:rPr lang="en-US" altLang="ko-KR" dirty="0"/>
                  <a:t>,</a:t>
                </a:r>
              </a:p>
              <a:p>
                <a:pPr algn="ctr"/>
                <a:r>
                  <a:rPr lang="ko-KR" altLang="en-US" dirty="0"/>
                  <a:t>앞 뒤를 끊어서 분석</a:t>
                </a:r>
                <a:endParaRPr lang="en-US" altLang="ko-KR" dirty="0"/>
              </a:p>
              <a:p>
                <a:pPr algn="ctr"/>
                <a:r>
                  <a:rPr lang="ko-KR" altLang="en-US" dirty="0">
                    <a:solidFill>
                      <a:srgbClr val="FF4B16"/>
                    </a:solidFill>
                  </a:rPr>
                  <a:t>하나는 앞 </a:t>
                </a:r>
                <a:r>
                  <a:rPr lang="en-US" altLang="ko-KR" dirty="0">
                    <a:solidFill>
                      <a:srgbClr val="FF4B16"/>
                    </a:solidFill>
                  </a:rPr>
                  <a:t>-&gt; </a:t>
                </a:r>
                <a:r>
                  <a:rPr lang="ko-KR" altLang="en-US" dirty="0">
                    <a:solidFill>
                      <a:srgbClr val="FF4B16"/>
                    </a:solidFill>
                  </a:rPr>
                  <a:t>하나는 뒤</a:t>
                </a:r>
                <a:endParaRPr lang="en-US" altLang="ko-KR" dirty="0">
                  <a:solidFill>
                    <a:srgbClr val="FF4B16"/>
                  </a:solidFill>
                </a:endParaRPr>
              </a:p>
              <a:p>
                <a:pPr algn="ctr"/>
                <a:r>
                  <a:rPr lang="en-US" altLang="ko-KR" dirty="0">
                    <a:solidFill>
                      <a:srgbClr val="FF4B16"/>
                    </a:solidFill>
                  </a:rPr>
                  <a:t>(</a:t>
                </a:r>
                <a:r>
                  <a:rPr lang="ko-KR" altLang="en-US" dirty="0">
                    <a:solidFill>
                      <a:srgbClr val="FF4B16"/>
                    </a:solidFill>
                  </a:rPr>
                  <a:t>시간 단축</a:t>
                </a:r>
                <a:r>
                  <a:rPr lang="en-US" altLang="ko-KR" dirty="0">
                    <a:solidFill>
                      <a:srgbClr val="FF4B16"/>
                    </a:solidFill>
                  </a:rPr>
                  <a:t>)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8C3118-AA9C-4303-8FDB-577A1F41D6A6}"/>
                  </a:ext>
                </a:extLst>
              </p:cNvPr>
              <p:cNvSpPr/>
              <p:nvPr/>
            </p:nvSpPr>
            <p:spPr>
              <a:xfrm>
                <a:off x="745068" y="2277529"/>
                <a:ext cx="4614333" cy="592666"/>
              </a:xfrm>
              <a:prstGeom prst="rect">
                <a:avLst/>
              </a:prstGeom>
              <a:solidFill>
                <a:srgbClr val="FF0000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dirty="0">
                    <a:solidFill>
                      <a:schemeClr val="bg1"/>
                    </a:solidFill>
                  </a:rPr>
                  <a:t>2</a:t>
                </a:r>
                <a:r>
                  <a:rPr lang="ko-KR" altLang="en-US" dirty="0">
                    <a:solidFill>
                      <a:schemeClr val="bg1"/>
                    </a:solidFill>
                  </a:rPr>
                  <a:t>개 모델 동시 병행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7581EBA-9042-4C35-81AE-AABFC94B8346}"/>
                </a:ext>
              </a:extLst>
            </p:cNvPr>
            <p:cNvGrpSpPr/>
            <p:nvPr/>
          </p:nvGrpSpPr>
          <p:grpSpPr>
            <a:xfrm>
              <a:off x="6388101" y="287867"/>
              <a:ext cx="7487565" cy="5816596"/>
              <a:chOff x="6388101" y="287867"/>
              <a:chExt cx="7487565" cy="581659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6AB1414-71C7-435B-B4D8-905EDF4F64DC}"/>
                  </a:ext>
                </a:extLst>
              </p:cNvPr>
              <p:cNvSpPr/>
              <p:nvPr/>
            </p:nvSpPr>
            <p:spPr>
              <a:xfrm>
                <a:off x="6388101" y="2768596"/>
                <a:ext cx="3674535" cy="333586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/>
                  <a:t>관계자 실시간 공유 </a:t>
                </a:r>
                <a:r>
                  <a:rPr lang="en-US" altLang="ko-KR" dirty="0">
                    <a:highlight>
                      <a:srgbClr val="FFFF00"/>
                    </a:highlight>
                  </a:rPr>
                  <a:t>room</a:t>
                </a:r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/>
                  <a:t>그걸 크로스체크하고 통합해서 하나의 프론트엔드에 보여줌</a:t>
                </a:r>
                <a:endParaRPr lang="en-US" altLang="ko-KR" dirty="0"/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en-US" altLang="ko-KR" dirty="0"/>
                  <a:t>(</a:t>
                </a:r>
                <a:r>
                  <a:rPr lang="ko-KR" altLang="en-US" dirty="0"/>
                  <a:t>여기에 브리프</a:t>
                </a:r>
                <a:r>
                  <a:rPr lang="en-US" altLang="ko-KR" dirty="0"/>
                  <a:t>,</a:t>
                </a:r>
              </a:p>
              <a:p>
                <a:pPr algn="ctr"/>
                <a:r>
                  <a:rPr lang="ko-KR" altLang="en-US" dirty="0"/>
                  <a:t>향후 계획 및 가이드 추천</a:t>
                </a:r>
                <a:r>
                  <a:rPr lang="en-US" altLang="ko-KR" dirty="0"/>
                  <a:t>,</a:t>
                </a:r>
              </a:p>
              <a:p>
                <a:pPr algn="ctr"/>
                <a:r>
                  <a:rPr lang="ko-KR" altLang="en-US" dirty="0"/>
                  <a:t>사칭기관 추가 확인사항 정리 및 </a:t>
                </a:r>
                <a:r>
                  <a:rPr lang="en-US" altLang="ko-KR" dirty="0"/>
                  <a:t>ai</a:t>
                </a:r>
                <a:r>
                  <a:rPr lang="ko-KR" altLang="en-US" dirty="0"/>
                  <a:t>자동 공문 크로스체크</a:t>
                </a:r>
                <a:r>
                  <a:rPr lang="en-US" altLang="ko-KR" dirty="0"/>
                  <a:t>,</a:t>
                </a:r>
              </a:p>
              <a:p>
                <a:pPr algn="ctr"/>
                <a:r>
                  <a:rPr lang="ko-KR" altLang="en-US" dirty="0"/>
                  <a:t>실시간 대응 타임라인 추가</a:t>
                </a:r>
                <a:r>
                  <a:rPr lang="en-US" altLang="ko-KR" dirty="0"/>
                  <a:t>)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33B3B2A-BD70-42CE-BE5B-4813F0978A61}"/>
                  </a:ext>
                </a:extLst>
              </p:cNvPr>
              <p:cNvSpPr/>
              <p:nvPr/>
            </p:nvSpPr>
            <p:spPr>
              <a:xfrm>
                <a:off x="6832601" y="2319865"/>
                <a:ext cx="2785533" cy="592666"/>
              </a:xfrm>
              <a:prstGeom prst="rect">
                <a:avLst/>
              </a:prstGeom>
              <a:solidFill>
                <a:srgbClr val="FF0000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bg1"/>
                    </a:solidFill>
                  </a:rPr>
                  <a:t>업무 담당자들 용 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ROOM</a:t>
                </a:r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84C1A3E-F860-45D4-B4BD-0AA037DEBC10}"/>
                  </a:ext>
                </a:extLst>
              </p:cNvPr>
              <p:cNvSpPr/>
              <p:nvPr/>
            </p:nvSpPr>
            <p:spPr>
              <a:xfrm>
                <a:off x="10579095" y="287867"/>
                <a:ext cx="2455332" cy="85009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/>
                  <a:t>상담 당담자가 응답 가능</a:t>
                </a:r>
                <a:r>
                  <a:rPr lang="en-US" altLang="ko-KR" dirty="0"/>
                  <a:t>(ai </a:t>
                </a:r>
                <a:r>
                  <a:rPr lang="ko-KR" altLang="en-US" dirty="0"/>
                  <a:t>챗봇도 함께</a:t>
                </a:r>
                <a:r>
                  <a:rPr lang="en-US" altLang="ko-KR" dirty="0"/>
                  <a:t>)</a:t>
                </a:r>
                <a:endParaRPr lang="ko-KR" alt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29D99B-4EB6-4BFC-9657-8BB1122FFA1A}"/>
                  </a:ext>
                </a:extLst>
              </p:cNvPr>
              <p:cNvSpPr/>
              <p:nvPr/>
            </p:nvSpPr>
            <p:spPr>
              <a:xfrm>
                <a:off x="10579095" y="1701959"/>
                <a:ext cx="2455332" cy="32173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/>
                  <a:t>신뢰인 참여가능</a:t>
                </a:r>
                <a:r>
                  <a:rPr lang="en-US" altLang="ko-KR" dirty="0"/>
                  <a:t>?</a:t>
                </a:r>
                <a:endParaRPr lang="ko-KR" alt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4172CB-16AE-4C3A-9BEC-1E929CE8FDD5}"/>
                  </a:ext>
                </a:extLst>
              </p:cNvPr>
              <p:cNvSpPr/>
              <p:nvPr/>
            </p:nvSpPr>
            <p:spPr>
              <a:xfrm>
                <a:off x="10201131" y="2768596"/>
                <a:ext cx="3674535" cy="333586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/>
                  <a:t>현재 진행 사항</a:t>
                </a:r>
                <a:r>
                  <a:rPr lang="en-US" altLang="ko-KR" dirty="0"/>
                  <a:t>,</a:t>
                </a:r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/>
                  <a:t>문의 및 내용 공유 가능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채팅형</a:t>
                </a:r>
                <a:r>
                  <a:rPr lang="en-US" altLang="ko-KR" dirty="0"/>
                  <a:t>),</a:t>
                </a:r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/>
                  <a:t>만약 피해 당했다면</a:t>
                </a:r>
                <a:r>
                  <a:rPr lang="en-US" altLang="ko-KR" dirty="0"/>
                  <a:t>…</a:t>
                </a:r>
              </a:p>
              <a:p>
                <a:pPr algn="ctr"/>
                <a:r>
                  <a:rPr lang="ko-KR" altLang="en-US" dirty="0"/>
                  <a:t>관련 조치 추천</a:t>
                </a:r>
                <a:r>
                  <a:rPr lang="en-US" altLang="ko-KR" dirty="0"/>
                  <a:t>.</a:t>
                </a:r>
              </a:p>
              <a:p>
                <a:pPr algn="ctr"/>
                <a:endParaRPr lang="en-US" altLang="ko-KR" dirty="0"/>
              </a:p>
              <a:p>
                <a:pPr algn="ctr"/>
                <a:r>
                  <a:rPr lang="ko-KR" altLang="en-US" dirty="0">
                    <a:solidFill>
                      <a:srgbClr val="FF4B16"/>
                    </a:solidFill>
                  </a:rPr>
                  <a:t>챗봇</a:t>
                </a:r>
                <a:endParaRPr lang="en-US" altLang="ko-KR" dirty="0">
                  <a:solidFill>
                    <a:srgbClr val="FF4B16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5625A22-7CDF-4351-9A1F-21E882606E2E}"/>
                  </a:ext>
                </a:extLst>
              </p:cNvPr>
              <p:cNvSpPr/>
              <p:nvPr/>
            </p:nvSpPr>
            <p:spPr>
              <a:xfrm>
                <a:off x="10718799" y="2319865"/>
                <a:ext cx="2785533" cy="592666"/>
              </a:xfrm>
              <a:prstGeom prst="rect">
                <a:avLst/>
              </a:prstGeom>
              <a:solidFill>
                <a:srgbClr val="FF0000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bg1"/>
                    </a:solidFill>
                  </a:rPr>
                  <a:t>고객 용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83D392-DBC3-4C69-915F-484D166D6919}"/>
                  </a:ext>
                </a:extLst>
              </p:cNvPr>
              <p:cNvSpPr/>
              <p:nvPr/>
            </p:nvSpPr>
            <p:spPr>
              <a:xfrm>
                <a:off x="10579095" y="1273271"/>
                <a:ext cx="2455332" cy="32173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dirty="0"/>
                  <a:t>피해자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256EF4CD-2260-470D-B373-75B250F01778}"/>
                  </a:ext>
                </a:extLst>
              </p:cNvPr>
              <p:cNvGrpSpPr/>
              <p:nvPr/>
            </p:nvGrpSpPr>
            <p:grpSpPr>
              <a:xfrm>
                <a:off x="6938440" y="287867"/>
                <a:ext cx="2455332" cy="1936466"/>
                <a:chOff x="7653868" y="287867"/>
                <a:chExt cx="2455332" cy="1936466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EC2F8EB5-2043-4907-BCB7-F532E39CE332}"/>
                    </a:ext>
                  </a:extLst>
                </p:cNvPr>
                <p:cNvSpPr/>
                <p:nvPr/>
              </p:nvSpPr>
              <p:spPr>
                <a:xfrm>
                  <a:off x="7653868" y="287867"/>
                  <a:ext cx="2455332" cy="32173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E2746"/>
                  </a:solidFill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r>
                    <a:rPr lang="ko-KR" altLang="en-US"/>
                    <a:t>담당자</a:t>
                  </a:r>
                  <a:r>
                    <a:rPr lang="en-US" altLang="ko-KR" dirty="0"/>
                    <a:t>1</a:t>
                  </a:r>
                  <a:endParaRPr lang="ko-KR" alt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E1E1225F-3E37-47FE-AEF4-21187E620355}"/>
                    </a:ext>
                  </a:extLst>
                </p:cNvPr>
                <p:cNvSpPr/>
                <p:nvPr/>
              </p:nvSpPr>
              <p:spPr>
                <a:xfrm>
                  <a:off x="7653868" y="719667"/>
                  <a:ext cx="2455332" cy="32173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E2746"/>
                  </a:solidFill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r>
                    <a:rPr lang="ko-KR" altLang="en-US" dirty="0"/>
                    <a:t>담당자</a:t>
                  </a:r>
                  <a:r>
                    <a:rPr lang="en-US" altLang="ko-KR" dirty="0"/>
                    <a:t>2</a:t>
                  </a:r>
                  <a:endParaRPr lang="ko-KR" alt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0AD6C68F-A288-47D3-9C76-09D263856AF1}"/>
                    </a:ext>
                  </a:extLst>
                </p:cNvPr>
                <p:cNvSpPr/>
                <p:nvPr/>
              </p:nvSpPr>
              <p:spPr>
                <a:xfrm>
                  <a:off x="7653868" y="1117599"/>
                  <a:ext cx="2455332" cy="32173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E2746"/>
                  </a:solidFill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r>
                    <a:rPr lang="ko-KR" altLang="en-US"/>
                    <a:t>담당자</a:t>
                  </a:r>
                  <a:r>
                    <a:rPr lang="en-US" altLang="ko-KR" dirty="0"/>
                    <a:t>3</a:t>
                  </a:r>
                  <a:endParaRPr lang="ko-KR" alt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4871D67-8008-4C23-B7D4-FF950152DAF7}"/>
                    </a:ext>
                  </a:extLst>
                </p:cNvPr>
                <p:cNvSpPr/>
                <p:nvPr/>
              </p:nvSpPr>
              <p:spPr>
                <a:xfrm>
                  <a:off x="7653868" y="1562174"/>
                  <a:ext cx="2455332" cy="6621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E2746"/>
                  </a:solidFill>
                  <a:prstDash val="solid"/>
                </a:ln>
              </p:spPr>
              <p:txBody>
                <a:bodyPr rtlCol="0" anchor="ctr"/>
                <a:lstStyle/>
                <a:p>
                  <a:pPr algn="ctr"/>
                  <a:r>
                    <a:rPr lang="en-US" altLang="ko-KR" dirty="0"/>
                    <a:t>+ </a:t>
                  </a:r>
                  <a:r>
                    <a:rPr lang="ko-KR" altLang="en-US" dirty="0"/>
                    <a:t>만약 사칭이라면</a:t>
                  </a:r>
                  <a:endParaRPr lang="en-US" altLang="ko-KR" dirty="0"/>
                </a:p>
                <a:p>
                  <a:pPr algn="ctr"/>
                  <a:r>
                    <a:rPr lang="ko-KR" altLang="en-US" dirty="0"/>
                    <a:t>사칭 대상자도 초대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68380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B45E0D7-811C-4996-8A78-C0F352DFD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4906F-8B56-4384-9073-C89048434605}"/>
              </a:ext>
            </a:extLst>
          </p:cNvPr>
          <p:cNvSpPr txBox="1"/>
          <p:nvPr/>
        </p:nvSpPr>
        <p:spPr>
          <a:xfrm>
            <a:off x="3050628" y="538528"/>
            <a:ext cx="6101254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🚨 [ASAP 위기 감지] 6동작지점 이OO 고객 (71세) 대응 가이드</a:t>
            </a:r>
            <a:endParaRPr kumimoji="0" lang="ko-KR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[1. 현 상황 요약]</a:t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피해자는 현재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'서울중앙지검 김민수 검사'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를 사칭하는 조직에게 40분간 가스라이팅을 당해 극도의 공포 상태입니다. 범인이 은행원 대처용 대본을 학습시켰습니다.</a:t>
            </a:r>
            <a:endParaRPr kumimoji="0" lang="ko-KR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[2. 예상 고객 허위 진술]</a:t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고객에게 인출 목적을 물으면 높은 확률로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"친척 인테리어 잔금"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혹은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"자녀 전세 자금"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이라고 거짓말을 할 것입니다.</a:t>
            </a:r>
            <a:endParaRPr kumimoji="0" lang="ko-KR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[3. 직원의 핀포인트 타파 액션 가이드]</a:t>
            </a:r>
            <a:endParaRPr kumimoji="0" lang="ko-KR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❌ "보이스피싱입니다"라고 직접 말하지 마십시오. 방어벽이 작동합니다.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⭕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역-가스라이팅 멘트 투입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"고객님, 혹시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김민수 검사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가 은행 직원한테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인테리어 대금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이라고 말하라고 시켰나요? 지금 고객님이 그 사기꾼 대본대로 똑같이 말씀하고 계십니다."라고 사칭 기관명을 직접 뱉으십시오.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⭕ 즉시 우측의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[자녀(딸) 동시 소환]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버튼을 눌러 가족 영상통화를 연결하십시오.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960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348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0364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873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52874F7-2123-420B-8F7A-DFCE300457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48C937-4757-4129-A00E-855404E94F96}"/>
              </a:ext>
            </a:extLst>
          </p:cNvPr>
          <p:cNvSpPr txBox="1"/>
          <p:nvPr/>
        </p:nvSpPr>
        <p:spPr>
          <a:xfrm>
            <a:off x="3045759" y="2063520"/>
            <a:ext cx="6100482" cy="2977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② 심리적 장악: '터널 시야(Tunnel Vision) 현상'</a:t>
            </a:r>
            <a:endParaRPr kumimoji="0" lang="ko-KR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"당신 계좌가 범죄에 연루되어 당장 감옥에 갈 수 있다"는 강력한 협박을 받으면, 인간의 뇌는 극도의 공포 상태에 빠져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화면의 글씨나 경고 팝업이 눈에 보이지 않는 심리적 고립 상태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가 됩니다. 내 폰이 경고 진동을 울려도 인지하지 못하는 상태가 되는 것입니다.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빠른 분석</a:t>
            </a:r>
            <a:endParaRPr kumimoji="0" lang="en-US" altLang="ko-K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보이스피싱 단계 예측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체크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어떤 행동을 요구할 가능성이 높은지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…</a:t>
            </a:r>
            <a:r>
              <a:rPr lang="ko-KR" altLang="en-US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ko-KR" altLang="en-US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수치화 시키는 예측 </a:t>
            </a:r>
            <a:r>
              <a:rPr lang="en-US" altLang="ko-KR" sz="1050" dirty="0">
                <a:solidFill>
                  <a:srgbClr val="FF4B16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050" dirty="0">
              <a:solidFill>
                <a:srgbClr val="FF4B16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53768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ounded Rectangle 6">
            <a:extLst>
              <a:ext uri="{FF2B5EF4-FFF2-40B4-BE49-F238E27FC236}">
                <a16:creationId xmlns:a16="http://schemas.microsoft.com/office/drawing/2014/main" id="{5CC182F6-A69D-41C7-82CD-331A7BE73259}"/>
              </a:ext>
            </a:extLst>
          </p:cNvPr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A5A535E8-ED58-4DFC-B9AD-C846E9C41C81}"/>
              </a:ext>
            </a:extLst>
          </p:cNvPr>
          <p:cNvSpPr/>
          <p:nvPr/>
        </p:nvSpPr>
        <p:spPr>
          <a:xfrm>
            <a:off x="566928" y="1856231"/>
            <a:ext cx="3255264" cy="3493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C552DB-0C71-4D72-9499-54E99BBD6268}"/>
              </a:ext>
            </a:extLst>
          </p:cNvPr>
          <p:cNvSpPr txBox="1"/>
          <p:nvPr/>
        </p:nvSpPr>
        <p:spPr>
          <a:xfrm>
            <a:off x="786384" y="2048256"/>
            <a:ext cx="276148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>
                <a:solidFill>
                  <a:srgbClr val="0B2242"/>
                </a:solidFill>
                <a:latin typeface="페이퍼로지 7 Bold"/>
              </a:rPr>
              <a:t>2030 · 사회초년생</a:t>
            </a:r>
          </a:p>
        </p:txBody>
      </p:sp>
      <p:sp>
        <p:nvSpPr>
          <p:cNvPr id="9" name="Rounded Rectangle 12">
            <a:extLst>
              <a:ext uri="{FF2B5EF4-FFF2-40B4-BE49-F238E27FC236}">
                <a16:creationId xmlns:a16="http://schemas.microsoft.com/office/drawing/2014/main" id="{86AAB24B-E19D-4A90-B26A-12EBB23799DC}"/>
              </a:ext>
            </a:extLst>
          </p:cNvPr>
          <p:cNvSpPr/>
          <p:nvPr/>
        </p:nvSpPr>
        <p:spPr>
          <a:xfrm>
            <a:off x="786384" y="2432304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4FBD37-FA73-40DC-82EF-3F7AFD5EAD2B}"/>
              </a:ext>
            </a:extLst>
          </p:cNvPr>
          <p:cNvSpPr txBox="1"/>
          <p:nvPr/>
        </p:nvSpPr>
        <p:spPr>
          <a:xfrm>
            <a:off x="786384" y="2432304"/>
            <a:ext cx="13258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판단 기준의 공백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E08913-BC57-4CFC-B2FA-73999F5DF9D2}"/>
              </a:ext>
            </a:extLst>
          </p:cNvPr>
          <p:cNvSpPr txBox="1"/>
          <p:nvPr/>
        </p:nvSpPr>
        <p:spPr>
          <a:xfrm>
            <a:off x="786384" y="2852928"/>
            <a:ext cx="2761488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B3150"/>
                </a:solidFill>
                <a:latin typeface="페이퍼로지 7 Bold"/>
              </a:rPr>
              <a:t>낯선 금융·행정 상황에서
무엇이 정상 절차인지 비교할
기준점이 충분하지 않을 수 있음</a:t>
            </a:r>
          </a:p>
        </p:txBody>
      </p:sp>
      <p:cxnSp>
        <p:nvCxnSpPr>
          <p:cNvPr id="12" name="Connector 15">
            <a:extLst>
              <a:ext uri="{FF2B5EF4-FFF2-40B4-BE49-F238E27FC236}">
                <a16:creationId xmlns:a16="http://schemas.microsoft.com/office/drawing/2014/main" id="{14FA5301-805C-4818-AE2E-D55B0706B0DB}"/>
              </a:ext>
            </a:extLst>
          </p:cNvPr>
          <p:cNvCxnSpPr/>
          <p:nvPr/>
        </p:nvCxnSpPr>
        <p:spPr>
          <a:xfrm>
            <a:off x="786384" y="3840480"/>
            <a:ext cx="2779776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67771BC-ECB0-4B9A-8C75-E1A3DE1B8CFD}"/>
              </a:ext>
            </a:extLst>
          </p:cNvPr>
          <p:cNvSpPr txBox="1"/>
          <p:nvPr/>
        </p:nvSpPr>
        <p:spPr>
          <a:xfrm>
            <a:off x="786384" y="4005072"/>
            <a:ext cx="73152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B67FF"/>
                </a:solidFill>
                <a:latin typeface="페이퍼로지 7 Bold"/>
              </a:rPr>
              <a:t>근거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0B0528-58D3-4F78-8F35-773B125D8A65}"/>
              </a:ext>
            </a:extLst>
          </p:cNvPr>
          <p:cNvSpPr txBox="1"/>
          <p:nvPr/>
        </p:nvSpPr>
        <p:spPr>
          <a:xfrm>
            <a:off x="786384" y="4279392"/>
            <a:ext cx="274320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2024 전국민 금융이해력 조사에서
20대는 금융행위 영역이 상대적으로 취약</a:t>
            </a:r>
          </a:p>
        </p:txBody>
      </p:sp>
      <p:sp>
        <p:nvSpPr>
          <p:cNvPr id="15" name="Rounded Rectangle 18">
            <a:extLst>
              <a:ext uri="{FF2B5EF4-FFF2-40B4-BE49-F238E27FC236}">
                <a16:creationId xmlns:a16="http://schemas.microsoft.com/office/drawing/2014/main" id="{7612F89D-BF52-4BD5-81FD-CD24F47B4D60}"/>
              </a:ext>
            </a:extLst>
          </p:cNvPr>
          <p:cNvSpPr/>
          <p:nvPr/>
        </p:nvSpPr>
        <p:spPr>
          <a:xfrm>
            <a:off x="2551176" y="4974336"/>
            <a:ext cx="1024128" cy="237744"/>
          </a:xfrm>
          <a:prstGeom prst="roundRect">
            <a:avLst>
              <a:gd name="adj" fmla="val 8000"/>
            </a:avLst>
          </a:prstGeom>
          <a:solidFill>
            <a:srgbClr val="FFF8E3"/>
          </a:solidFill>
          <a:ln w="1016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D8C2EE-1C1C-46AC-A791-6481205E7F51}"/>
              </a:ext>
            </a:extLst>
          </p:cNvPr>
          <p:cNvSpPr txBox="1"/>
          <p:nvPr/>
        </p:nvSpPr>
        <p:spPr>
          <a:xfrm>
            <a:off x="2551176" y="4974336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E19D14"/>
                </a:solidFill>
                <a:latin typeface="페이퍼로지 7 Bold"/>
              </a:rPr>
              <a:t>보조근거</a:t>
            </a:r>
          </a:p>
        </p:txBody>
      </p:sp>
      <p:sp>
        <p:nvSpPr>
          <p:cNvPr id="17" name="Rounded Rectangle 20">
            <a:extLst>
              <a:ext uri="{FF2B5EF4-FFF2-40B4-BE49-F238E27FC236}">
                <a16:creationId xmlns:a16="http://schemas.microsoft.com/office/drawing/2014/main" id="{D27BC61D-7E07-43B6-96F9-E26D3DAF7521}"/>
              </a:ext>
            </a:extLst>
          </p:cNvPr>
          <p:cNvSpPr/>
          <p:nvPr/>
        </p:nvSpPr>
        <p:spPr>
          <a:xfrm>
            <a:off x="4133087" y="1856231"/>
            <a:ext cx="3255264" cy="3493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1BC092-83B8-4644-B90A-EA7CC93BB4CF}"/>
              </a:ext>
            </a:extLst>
          </p:cNvPr>
          <p:cNvSpPr txBox="1"/>
          <p:nvPr/>
        </p:nvSpPr>
        <p:spPr>
          <a:xfrm>
            <a:off x="4352544" y="2096071"/>
            <a:ext cx="1816203" cy="1969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dirty="0">
                <a:solidFill>
                  <a:srgbClr val="0B2242"/>
                </a:solidFill>
                <a:latin typeface="페이퍼로지 7 Bold"/>
              </a:rPr>
              <a:t>4050 · </a:t>
            </a:r>
            <a:r>
              <a:rPr sz="1280" b="1" dirty="0" err="1">
                <a:solidFill>
                  <a:srgbClr val="0B2242"/>
                </a:solidFill>
                <a:latin typeface="페이퍼로지 7 Bold"/>
              </a:rPr>
              <a:t>활발한</a:t>
            </a:r>
            <a:r>
              <a:rPr sz="128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280" b="1" dirty="0" err="1">
                <a:solidFill>
                  <a:srgbClr val="0B2242"/>
                </a:solidFill>
                <a:latin typeface="페이퍼로지 7 Bold"/>
              </a:rPr>
              <a:t>금융소비자</a:t>
            </a:r>
            <a:endParaRPr sz="1280" b="1" dirty="0">
              <a:solidFill>
                <a:srgbClr val="0B2242"/>
              </a:solidFill>
              <a:latin typeface="페이퍼로지 7 Bold"/>
            </a:endParaRPr>
          </a:p>
        </p:txBody>
      </p:sp>
      <p:sp>
        <p:nvSpPr>
          <p:cNvPr id="19" name="Rounded Rectangle 22">
            <a:extLst>
              <a:ext uri="{FF2B5EF4-FFF2-40B4-BE49-F238E27FC236}">
                <a16:creationId xmlns:a16="http://schemas.microsoft.com/office/drawing/2014/main" id="{B08599F5-AC30-439D-BB7E-E2F38887691C}"/>
              </a:ext>
            </a:extLst>
          </p:cNvPr>
          <p:cNvSpPr/>
          <p:nvPr/>
        </p:nvSpPr>
        <p:spPr>
          <a:xfrm>
            <a:off x="4352544" y="2432304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092B53-C8A2-4D24-9805-9A9C4D1DD37C}"/>
              </a:ext>
            </a:extLst>
          </p:cNvPr>
          <p:cNvSpPr txBox="1"/>
          <p:nvPr/>
        </p:nvSpPr>
        <p:spPr>
          <a:xfrm>
            <a:off x="4352544" y="2432304"/>
            <a:ext cx="13258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자기판단 과신의 공백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37D918-5375-4F4B-91EC-884ABE561A48}"/>
              </a:ext>
            </a:extLst>
          </p:cNvPr>
          <p:cNvSpPr txBox="1"/>
          <p:nvPr/>
        </p:nvSpPr>
        <p:spPr>
          <a:xfrm>
            <a:off x="4352544" y="2852928"/>
            <a:ext cx="2761488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B3150"/>
                </a:solidFill>
                <a:latin typeface="페이퍼로지 7 Bold"/>
              </a:rPr>
              <a:t>금융 경험과 지식이 있어도
“나는 구별할 수 있다”는 확신이
재확인 행동을 줄일 수 있음</a:t>
            </a:r>
          </a:p>
        </p:txBody>
      </p:sp>
      <p:cxnSp>
        <p:nvCxnSpPr>
          <p:cNvPr id="22" name="Connector 25">
            <a:extLst>
              <a:ext uri="{FF2B5EF4-FFF2-40B4-BE49-F238E27FC236}">
                <a16:creationId xmlns:a16="http://schemas.microsoft.com/office/drawing/2014/main" id="{7A13B017-7D9E-4FF6-AF34-78D5D5667CD5}"/>
              </a:ext>
            </a:extLst>
          </p:cNvPr>
          <p:cNvCxnSpPr/>
          <p:nvPr/>
        </p:nvCxnSpPr>
        <p:spPr>
          <a:xfrm>
            <a:off x="4352544" y="3840480"/>
            <a:ext cx="2779775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FCF95-157C-4B8F-9166-59F56631C2CB}"/>
              </a:ext>
            </a:extLst>
          </p:cNvPr>
          <p:cNvSpPr txBox="1"/>
          <p:nvPr/>
        </p:nvSpPr>
        <p:spPr>
          <a:xfrm>
            <a:off x="4352544" y="4005072"/>
            <a:ext cx="73152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B67FF"/>
                </a:solidFill>
                <a:latin typeface="페이퍼로지 7 Bold"/>
              </a:rPr>
              <a:t>근거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86A031-3A2D-4C96-8CCF-7A348A4E8A46}"/>
              </a:ext>
            </a:extLst>
          </p:cNvPr>
          <p:cNvSpPr txBox="1"/>
          <p:nvPr/>
        </p:nvSpPr>
        <p:spPr>
          <a:xfrm>
            <a:off x="4352544" y="4279392"/>
            <a:ext cx="274320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성인 2,000명 분석에서
매우 높은 자기평가 집단의 피해확률이 더 높음</a:t>
            </a:r>
          </a:p>
        </p:txBody>
      </p:sp>
      <p:sp>
        <p:nvSpPr>
          <p:cNvPr id="25" name="Rounded Rectangle 28">
            <a:extLst>
              <a:ext uri="{FF2B5EF4-FFF2-40B4-BE49-F238E27FC236}">
                <a16:creationId xmlns:a16="http://schemas.microsoft.com/office/drawing/2014/main" id="{1DB399EC-3302-4E8E-B97B-4D3B062266A9}"/>
              </a:ext>
            </a:extLst>
          </p:cNvPr>
          <p:cNvSpPr/>
          <p:nvPr/>
        </p:nvSpPr>
        <p:spPr>
          <a:xfrm>
            <a:off x="6117336" y="4974336"/>
            <a:ext cx="1024128" cy="237744"/>
          </a:xfrm>
          <a:prstGeom prst="roundRect">
            <a:avLst>
              <a:gd name="adj" fmla="val 8000"/>
            </a:avLst>
          </a:prstGeom>
          <a:solidFill>
            <a:srgbClr val="E9F9F4"/>
          </a:solidFill>
          <a:ln w="1016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FE1D8-6A7C-43C5-BABA-21530A063783}"/>
              </a:ext>
            </a:extLst>
          </p:cNvPr>
          <p:cNvSpPr txBox="1"/>
          <p:nvPr/>
        </p:nvSpPr>
        <p:spPr>
          <a:xfrm>
            <a:off x="6117336" y="4974336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1D9173"/>
                </a:solidFill>
                <a:latin typeface="페이퍼로지 7 Bold"/>
              </a:rPr>
              <a:t>직접근거</a:t>
            </a:r>
          </a:p>
        </p:txBody>
      </p:sp>
      <p:sp>
        <p:nvSpPr>
          <p:cNvPr id="27" name="Rounded Rectangle 30">
            <a:extLst>
              <a:ext uri="{FF2B5EF4-FFF2-40B4-BE49-F238E27FC236}">
                <a16:creationId xmlns:a16="http://schemas.microsoft.com/office/drawing/2014/main" id="{A3F9911A-30C9-43F2-B8CD-70A93DC7F5A7}"/>
              </a:ext>
            </a:extLst>
          </p:cNvPr>
          <p:cNvSpPr/>
          <p:nvPr/>
        </p:nvSpPr>
        <p:spPr>
          <a:xfrm>
            <a:off x="7699248" y="1856231"/>
            <a:ext cx="3255264" cy="3493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7FAC4-1DAB-49EE-8845-43565AA0B01F}"/>
              </a:ext>
            </a:extLst>
          </p:cNvPr>
          <p:cNvSpPr txBox="1"/>
          <p:nvPr/>
        </p:nvSpPr>
        <p:spPr>
          <a:xfrm>
            <a:off x="7918704" y="2048256"/>
            <a:ext cx="276148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>
                <a:solidFill>
                  <a:srgbClr val="0B2242"/>
                </a:solidFill>
                <a:latin typeface="페이퍼로지 7 Bold"/>
              </a:rPr>
              <a:t>60대+ · 고령층</a:t>
            </a:r>
          </a:p>
        </p:txBody>
      </p:sp>
      <p:sp>
        <p:nvSpPr>
          <p:cNvPr id="29" name="Rounded Rectangle 32">
            <a:extLst>
              <a:ext uri="{FF2B5EF4-FFF2-40B4-BE49-F238E27FC236}">
                <a16:creationId xmlns:a16="http://schemas.microsoft.com/office/drawing/2014/main" id="{A708A229-9E2F-45D9-A7CA-F6B3C1C2DBC9}"/>
              </a:ext>
            </a:extLst>
          </p:cNvPr>
          <p:cNvSpPr/>
          <p:nvPr/>
        </p:nvSpPr>
        <p:spPr>
          <a:xfrm>
            <a:off x="7918704" y="2432304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12338E-EF3D-4DA4-A3B7-8BC8D44E2733}"/>
              </a:ext>
            </a:extLst>
          </p:cNvPr>
          <p:cNvSpPr txBox="1"/>
          <p:nvPr/>
        </p:nvSpPr>
        <p:spPr>
          <a:xfrm>
            <a:off x="7918704" y="2432304"/>
            <a:ext cx="13258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정보 검증의 공백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9203CF-0731-4E3E-B05C-778AEC6E733E}"/>
              </a:ext>
            </a:extLst>
          </p:cNvPr>
          <p:cNvSpPr txBox="1"/>
          <p:nvPr/>
        </p:nvSpPr>
        <p:spPr>
          <a:xfrm>
            <a:off x="7918704" y="2852928"/>
            <a:ext cx="2761488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B3150"/>
                </a:solidFill>
                <a:latin typeface="페이퍼로지 7 Bold"/>
              </a:rPr>
              <a:t>디지털 정보를 즉시 탐색·비교하고
공식 채널과 교차확인하는 과정이
더 큰 부담이 될 수 있음</a:t>
            </a:r>
          </a:p>
        </p:txBody>
      </p:sp>
      <p:cxnSp>
        <p:nvCxnSpPr>
          <p:cNvPr id="32" name="Connector 35">
            <a:extLst>
              <a:ext uri="{FF2B5EF4-FFF2-40B4-BE49-F238E27FC236}">
                <a16:creationId xmlns:a16="http://schemas.microsoft.com/office/drawing/2014/main" id="{5C5EF4DE-BE02-4211-B856-35DB5983B594}"/>
              </a:ext>
            </a:extLst>
          </p:cNvPr>
          <p:cNvCxnSpPr/>
          <p:nvPr/>
        </p:nvCxnSpPr>
        <p:spPr>
          <a:xfrm>
            <a:off x="7918704" y="3840480"/>
            <a:ext cx="2779776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8A64CD1-9B4C-4BA3-AF71-E9C5E2715381}"/>
              </a:ext>
            </a:extLst>
          </p:cNvPr>
          <p:cNvSpPr txBox="1"/>
          <p:nvPr/>
        </p:nvSpPr>
        <p:spPr>
          <a:xfrm>
            <a:off x="7918704" y="4005072"/>
            <a:ext cx="73152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B67FF"/>
                </a:solidFill>
                <a:latin typeface="페이퍼로지 7 Bold"/>
              </a:rPr>
              <a:t>근거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1BEF94-E7F2-4417-9069-8E0CACEF1236}"/>
              </a:ext>
            </a:extLst>
          </p:cNvPr>
          <p:cNvSpPr txBox="1"/>
          <p:nvPr/>
        </p:nvSpPr>
        <p:spPr>
          <a:xfrm>
            <a:off x="7918704" y="4279392"/>
            <a:ext cx="274320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고령층 디지털역량은 연령별 유의한 차이,
75세 이후 기술·인지·사회 역량이 급격히 감소</a:t>
            </a:r>
          </a:p>
        </p:txBody>
      </p:sp>
      <p:sp>
        <p:nvSpPr>
          <p:cNvPr id="35" name="Rounded Rectangle 38">
            <a:extLst>
              <a:ext uri="{FF2B5EF4-FFF2-40B4-BE49-F238E27FC236}">
                <a16:creationId xmlns:a16="http://schemas.microsoft.com/office/drawing/2014/main" id="{F635DA2A-6703-47FF-B85E-7FDEB6D66A3B}"/>
              </a:ext>
            </a:extLst>
          </p:cNvPr>
          <p:cNvSpPr/>
          <p:nvPr/>
        </p:nvSpPr>
        <p:spPr>
          <a:xfrm>
            <a:off x="9683496" y="4974336"/>
            <a:ext cx="1024128" cy="237744"/>
          </a:xfrm>
          <a:prstGeom prst="roundRect">
            <a:avLst>
              <a:gd name="adj" fmla="val 8000"/>
            </a:avLst>
          </a:prstGeom>
          <a:solidFill>
            <a:srgbClr val="E9F9F4"/>
          </a:solidFill>
          <a:ln w="1016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F138E9-9508-4CC0-BD26-E21652EAD9EC}"/>
              </a:ext>
            </a:extLst>
          </p:cNvPr>
          <p:cNvSpPr txBox="1"/>
          <p:nvPr/>
        </p:nvSpPr>
        <p:spPr>
          <a:xfrm>
            <a:off x="9683496" y="4974336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1D9173"/>
                </a:solidFill>
                <a:latin typeface="페이퍼로지 7 Bold"/>
              </a:rPr>
              <a:t>직접근거</a:t>
            </a:r>
          </a:p>
        </p:txBody>
      </p:sp>
      <p:cxnSp>
        <p:nvCxnSpPr>
          <p:cNvPr id="37" name="Connector 40">
            <a:extLst>
              <a:ext uri="{FF2B5EF4-FFF2-40B4-BE49-F238E27FC236}">
                <a16:creationId xmlns:a16="http://schemas.microsoft.com/office/drawing/2014/main" id="{B978D5C2-FFA3-4F0A-B4FC-D012CC4BD1EB}"/>
              </a:ext>
            </a:extLst>
          </p:cNvPr>
          <p:cNvCxnSpPr/>
          <p:nvPr/>
        </p:nvCxnSpPr>
        <p:spPr>
          <a:xfrm>
            <a:off x="2194560" y="5358384"/>
            <a:ext cx="0" cy="201168"/>
          </a:xfrm>
          <a:prstGeom prst="line">
            <a:avLst/>
          </a:prstGeom>
          <a:ln w="1651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41">
            <a:extLst>
              <a:ext uri="{FF2B5EF4-FFF2-40B4-BE49-F238E27FC236}">
                <a16:creationId xmlns:a16="http://schemas.microsoft.com/office/drawing/2014/main" id="{F580A2EF-A512-4937-9C1F-9A6D2EAE90C4}"/>
              </a:ext>
            </a:extLst>
          </p:cNvPr>
          <p:cNvCxnSpPr/>
          <p:nvPr/>
        </p:nvCxnSpPr>
        <p:spPr>
          <a:xfrm>
            <a:off x="5760720" y="5358384"/>
            <a:ext cx="0" cy="201168"/>
          </a:xfrm>
          <a:prstGeom prst="line">
            <a:avLst/>
          </a:prstGeom>
          <a:ln w="1651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42">
            <a:extLst>
              <a:ext uri="{FF2B5EF4-FFF2-40B4-BE49-F238E27FC236}">
                <a16:creationId xmlns:a16="http://schemas.microsoft.com/office/drawing/2014/main" id="{15F1B9DC-3115-4758-AC8A-300043429AF4}"/>
              </a:ext>
            </a:extLst>
          </p:cNvPr>
          <p:cNvCxnSpPr/>
          <p:nvPr/>
        </p:nvCxnSpPr>
        <p:spPr>
          <a:xfrm>
            <a:off x="9326880" y="5358384"/>
            <a:ext cx="0" cy="201168"/>
          </a:xfrm>
          <a:prstGeom prst="line">
            <a:avLst/>
          </a:prstGeom>
          <a:ln w="1651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43">
            <a:extLst>
              <a:ext uri="{FF2B5EF4-FFF2-40B4-BE49-F238E27FC236}">
                <a16:creationId xmlns:a16="http://schemas.microsoft.com/office/drawing/2014/main" id="{A3BAB100-3455-4F06-AC0D-5C0A5087A504}"/>
              </a:ext>
            </a:extLst>
          </p:cNvPr>
          <p:cNvCxnSpPr/>
          <p:nvPr/>
        </p:nvCxnSpPr>
        <p:spPr>
          <a:xfrm>
            <a:off x="2194560" y="5559552"/>
            <a:ext cx="7132320" cy="0"/>
          </a:xfrm>
          <a:prstGeom prst="line">
            <a:avLst/>
          </a:prstGeom>
          <a:ln w="1651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4">
            <a:extLst>
              <a:ext uri="{FF2B5EF4-FFF2-40B4-BE49-F238E27FC236}">
                <a16:creationId xmlns:a16="http://schemas.microsoft.com/office/drawing/2014/main" id="{709AC857-5712-4AD3-B158-68D117AF98BE}"/>
              </a:ext>
            </a:extLst>
          </p:cNvPr>
          <p:cNvCxnSpPr/>
          <p:nvPr/>
        </p:nvCxnSpPr>
        <p:spPr>
          <a:xfrm>
            <a:off x="5760720" y="5559552"/>
            <a:ext cx="0" cy="182880"/>
          </a:xfrm>
          <a:prstGeom prst="line">
            <a:avLst/>
          </a:prstGeom>
          <a:ln w="2286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5">
            <a:extLst>
              <a:ext uri="{FF2B5EF4-FFF2-40B4-BE49-F238E27FC236}">
                <a16:creationId xmlns:a16="http://schemas.microsoft.com/office/drawing/2014/main" id="{69F198CB-0514-419F-8253-DB40259D6CCD}"/>
              </a:ext>
            </a:extLst>
          </p:cNvPr>
          <p:cNvSpPr/>
          <p:nvPr/>
        </p:nvSpPr>
        <p:spPr>
          <a:xfrm>
            <a:off x="1143000" y="5733288"/>
            <a:ext cx="9235440" cy="48463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BB0E9D-06EA-4981-B620-A4AE7D30980C}"/>
              </a:ext>
            </a:extLst>
          </p:cNvPr>
          <p:cNvSpPr txBox="1"/>
          <p:nvPr/>
        </p:nvSpPr>
        <p:spPr>
          <a:xfrm>
            <a:off x="1463040" y="5824728"/>
            <a:ext cx="85953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FCDFF"/>
                </a:solidFill>
                <a:latin typeface="페이퍼로지 7 Bold"/>
              </a:rPr>
              <a:t>공통 결과  |  </a:t>
            </a:r>
            <a:r>
              <a:rPr sz="1000" b="0">
                <a:solidFill>
                  <a:srgbClr val="FFFFFF"/>
                </a:solidFill>
                <a:latin typeface="페이퍼로지 4 Regular"/>
              </a:rPr>
              <a:t>서로 다른 이유로 </a:t>
            </a:r>
            <a:r>
              <a:rPr sz="1000" b="1">
                <a:solidFill>
                  <a:srgbClr val="FFFFFF"/>
                </a:solidFill>
                <a:latin typeface="페이퍼로지 7 Bold"/>
              </a:rPr>
              <a:t>“지금 이 상황이 진짜인지” 독립적으로 검증하기 어려운 순간</a:t>
            </a:r>
            <a:r>
              <a:rPr sz="1000" b="0">
                <a:solidFill>
                  <a:srgbClr val="FFFFFF"/>
                </a:solidFill>
                <a:latin typeface="페이퍼로지 4 Regular"/>
              </a:rPr>
              <a:t>이 생긴다.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1A02FA-D738-47EB-9391-79A6E2E95A29}"/>
              </a:ext>
            </a:extLst>
          </p:cNvPr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출처: [S2] 한국은행·금융감독원(2025) 「2024 전국민 금융이해력 조사」 / [S1] 한진수(2024) / [S3] 최미정·유병준(2025)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691B037-C58B-4A90-A8EE-6C9EA05BAB1F}"/>
              </a:ext>
            </a:extLst>
          </p:cNvPr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0CDE247-805A-4047-ACBF-E6AFEBDF21FE}"/>
              </a:ext>
            </a:extLst>
          </p:cNvPr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">
            <a:extLst>
              <a:ext uri="{FF2B5EF4-FFF2-40B4-BE49-F238E27FC236}">
                <a16:creationId xmlns:a16="http://schemas.microsoft.com/office/drawing/2014/main" id="{18F9BC29-E583-44D3-A521-9AC96AB774D1}"/>
              </a:ext>
            </a:extLst>
          </p:cNvPr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5">
            <a:extLst>
              <a:ext uri="{FF2B5EF4-FFF2-40B4-BE49-F238E27FC236}">
                <a16:creationId xmlns:a16="http://schemas.microsoft.com/office/drawing/2014/main" id="{4AAC1D7F-32AF-4B9E-9AAA-8627325FACCB}"/>
              </a:ext>
            </a:extLst>
          </p:cNvPr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3AA3E444-097A-414C-909F-6FF8D20313DC}"/>
              </a:ext>
            </a:extLst>
          </p:cNvPr>
          <p:cNvSpPr txBox="1"/>
          <p:nvPr/>
        </p:nvSpPr>
        <p:spPr>
          <a:xfrm>
            <a:off x="566928" y="822960"/>
            <a:ext cx="8696291" cy="86177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경험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경제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디지털 환경의 차이가 서로 다른 취약점을 만들지만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</a:t>
            </a:r>
          </a:p>
          <a:p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모든 취약점은 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‘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오판의 위험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’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과 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‘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송금 피해</a:t>
            </a:r>
            <a:r>
              <a:rPr lang="en-US" altLang="ko-KR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’</a:t>
            </a:r>
            <a:r>
              <a:rPr lang="ko-KR" altLang="en-US" sz="28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로 이어질 수 있다</a:t>
            </a:r>
            <a:endParaRPr lang="en-US" altLang="ko-KR" sz="28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6038C4-38FD-4917-9226-700730F4E271}"/>
              </a:ext>
            </a:extLst>
          </p:cNvPr>
          <p:cNvSpPr txBox="1"/>
          <p:nvPr/>
        </p:nvSpPr>
        <p:spPr>
          <a:xfrm>
            <a:off x="950945" y="435209"/>
            <a:ext cx="557845" cy="135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 dirty="0" err="1">
                <a:solidFill>
                  <a:srgbClr val="2B67FF"/>
                </a:solidFill>
                <a:latin typeface="페이퍼로지 7 Bold"/>
              </a:rPr>
              <a:t>빈틈</a:t>
            </a:r>
            <a:r>
              <a:rPr sz="880" b="1" dirty="0">
                <a:solidFill>
                  <a:srgbClr val="2B67FF"/>
                </a:solidFill>
                <a:latin typeface="페이퍼로지 7 Bold"/>
              </a:rPr>
              <a:t> </a:t>
            </a:r>
            <a:r>
              <a:rPr sz="880" b="1" dirty="0" err="1">
                <a:solidFill>
                  <a:srgbClr val="2B67FF"/>
                </a:solidFill>
                <a:latin typeface="페이퍼로지 7 Bold"/>
              </a:rPr>
              <a:t>분석</a:t>
            </a:r>
            <a:r>
              <a:rPr sz="880" b="1" dirty="0">
                <a:solidFill>
                  <a:srgbClr val="2B67FF"/>
                </a:solidFill>
                <a:latin typeface="페이퍼로지 7 Bold"/>
              </a:rPr>
              <a:t> </a:t>
            </a:r>
            <a:r>
              <a:rPr lang="ko-KR" altLang="en-US" sz="880" b="1" dirty="0">
                <a:solidFill>
                  <a:srgbClr val="2B67FF"/>
                </a:solidFill>
                <a:latin typeface="페이퍼로지 7 Bold"/>
              </a:rPr>
              <a:t>①</a:t>
            </a:r>
            <a:endParaRPr sz="880" b="1" dirty="0">
              <a:solidFill>
                <a:srgbClr val="2B67FF"/>
              </a:solidFill>
              <a:latin typeface="페이퍼로지 7 Bold"/>
            </a:endParaRPr>
          </a:p>
        </p:txBody>
      </p:sp>
    </p:spTree>
    <p:extLst>
      <p:ext uri="{BB962C8B-B14F-4D97-AF65-F5344CB8AC3E}">
        <p14:creationId xmlns:p14="http://schemas.microsoft.com/office/powerpoint/2010/main" val="833712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 dirty="0" err="1">
                <a:solidFill>
                  <a:srgbClr val="2B67FF"/>
                </a:solidFill>
                <a:latin typeface="페이퍼로지 7 Bold"/>
              </a:rPr>
              <a:t>빈틈</a:t>
            </a:r>
            <a:r>
              <a:rPr sz="880" b="1" dirty="0">
                <a:solidFill>
                  <a:srgbClr val="2B67FF"/>
                </a:solidFill>
                <a:latin typeface="페이퍼로지 7 Bold"/>
              </a:rPr>
              <a:t> </a:t>
            </a:r>
            <a:r>
              <a:rPr sz="880" b="1" dirty="0" err="1">
                <a:solidFill>
                  <a:srgbClr val="2B67FF"/>
                </a:solidFill>
                <a:latin typeface="페이퍼로지 7 Bold"/>
              </a:rPr>
              <a:t>분석</a:t>
            </a:r>
            <a:r>
              <a:rPr sz="880" b="1" dirty="0">
                <a:solidFill>
                  <a:srgbClr val="2B67FF"/>
                </a:solidFill>
                <a:latin typeface="페이퍼로지 7 Bold"/>
              </a:rPr>
              <a:t> 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8770030" cy="80021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보이스피싱 범죄 수법을 살펴보면</a:t>
            </a:r>
            <a:endParaRPr lang="en-US" altLang="ko-KR" sz="2600" b="1" dirty="0">
              <a:solidFill>
                <a:srgbClr val="0B2242"/>
              </a:solidFill>
              <a:latin typeface="페이퍼로지 7 Bold" pitchFamily="2" charset="-127"/>
              <a:ea typeface="페이퍼로지 7 Bold" pitchFamily="2" charset="-127"/>
            </a:endParaRPr>
          </a:p>
          <a:p>
            <a:pPr algn="l">
              <a:lnSpc>
                <a:spcPct val="100000"/>
              </a:lnSpc>
            </a:pP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‘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판단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장악</a:t>
            </a:r>
            <a:r>
              <a:rPr lang="ko-KR" alt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’을 위한 시도가 송금 등 금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융행동</a:t>
            </a:r>
            <a:r>
              <a:rPr 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ko-KR" alt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유도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보다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먼저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나타났다</a:t>
            </a:r>
            <a:endParaRPr sz="2600" b="1" dirty="0">
              <a:solidFill>
                <a:srgbClr val="0B2242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290779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020824"/>
            <a:ext cx="2505456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67FF"/>
                </a:solidFill>
                <a:latin typeface="페이퍼로지 7 Bold"/>
              </a:rPr>
              <a:t>67.1%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87168"/>
            <a:ext cx="2505456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3150"/>
                </a:solidFill>
                <a:latin typeface="페이퍼로지 7 Bold"/>
              </a:rPr>
              <a:t>판단환경 장악 신호가
1개 이상 나타난 사건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807208"/>
            <a:ext cx="2505456" cy="5669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팀 정의: 사칭·권위·공포·긴급성·고립 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2463" y="1874519"/>
            <a:ext cx="290779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13631" y="2020824"/>
            <a:ext cx="2505456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4A1E"/>
                </a:solidFill>
                <a:latin typeface="페이퍼로지 7 Bold"/>
              </a:rPr>
              <a:t>66.4%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3631" y="2487168"/>
            <a:ext cx="2505456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3150"/>
                </a:solidFill>
                <a:latin typeface="페이퍼로지 7 Bold"/>
              </a:rPr>
              <a:t>긴급성·시간압박
관찰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1" y="2807208"/>
            <a:ext cx="2505456" cy="5669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즉시 행동을 요구해 숙고 시간을 축소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1874519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59168" y="2020824"/>
            <a:ext cx="1517904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CB3944"/>
                </a:solidFill>
                <a:latin typeface="페이퍼로지 7 Bold"/>
              </a:rPr>
              <a:t>4.3%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2487168"/>
            <a:ext cx="1517904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3150"/>
                </a:solidFill>
                <a:latin typeface="페이퍼로지 7 Bold"/>
              </a:rPr>
              <a:t>고립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807208"/>
            <a:ext cx="1517904" cy="5669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표현 빈도는 낮아도
외부검증 차단의 의미가 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1874519"/>
            <a:ext cx="2596896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2041898"/>
            <a:ext cx="1623393" cy="3693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400" b="1" dirty="0">
                <a:solidFill>
                  <a:srgbClr val="1D9173"/>
                </a:solidFill>
                <a:latin typeface="페이퍼로지 7 Bold"/>
              </a:rPr>
              <a:t>사칭 </a:t>
            </a:r>
            <a:r>
              <a:rPr sz="2400" b="1" dirty="0">
                <a:solidFill>
                  <a:srgbClr val="1D9173"/>
                </a:solidFill>
                <a:latin typeface="페이퍼로지 7 Bold"/>
              </a:rPr>
              <a:t>TOP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487168"/>
            <a:ext cx="21945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3150"/>
                </a:solidFill>
                <a:latin typeface="페이퍼로지 7 Bold"/>
              </a:rPr>
              <a:t>은행 · 검찰 · 카드사 · 경찰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7152" y="2807208"/>
            <a:ext cx="2194560" cy="5669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권위와 신뢰를 빌리는 대표 사칭 대상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730752"/>
            <a:ext cx="6784848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3904487"/>
            <a:ext cx="192024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B67FF"/>
                </a:solidFill>
                <a:latin typeface="페이퍼로지 7 Bold"/>
              </a:rPr>
              <a:t>이벤트의 등장 순서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70832"/>
            <a:ext cx="1078992" cy="40233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" y="4370832"/>
            <a:ext cx="1078992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사칭</a:t>
            </a:r>
          </a:p>
        </p:txBody>
      </p:sp>
      <p:sp>
        <p:nvSpPr>
          <p:cNvPr id="31" name="Chevron 30"/>
          <p:cNvSpPr/>
          <p:nvPr/>
        </p:nvSpPr>
        <p:spPr>
          <a:xfrm>
            <a:off x="2103120" y="4462272"/>
            <a:ext cx="310896" cy="201168"/>
          </a:xfrm>
          <a:prstGeom prst="chevron">
            <a:avLst/>
          </a:prstGeom>
          <a:solidFill>
            <a:srgbClr val="CDDCF0"/>
          </a:solidFill>
          <a:ln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377440" y="4370832"/>
            <a:ext cx="1078992" cy="40233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0" y="4370832"/>
            <a:ext cx="1078992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심리전략</a:t>
            </a:r>
          </a:p>
        </p:txBody>
      </p:sp>
      <p:sp>
        <p:nvSpPr>
          <p:cNvPr id="34" name="Chevron 33"/>
          <p:cNvSpPr/>
          <p:nvPr/>
        </p:nvSpPr>
        <p:spPr>
          <a:xfrm>
            <a:off x="3547872" y="4462272"/>
            <a:ext cx="310896" cy="201168"/>
          </a:xfrm>
          <a:prstGeom prst="chevron">
            <a:avLst/>
          </a:prstGeom>
          <a:solidFill>
            <a:srgbClr val="CDDCF0"/>
          </a:solidFill>
          <a:ln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822191" y="4370832"/>
            <a:ext cx="1078992" cy="4023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22191" y="4370832"/>
            <a:ext cx="1078992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4A1E"/>
                </a:solidFill>
                <a:latin typeface="페이퍼로지 7 Bold"/>
              </a:rPr>
              <a:t>요구행동</a:t>
            </a:r>
          </a:p>
        </p:txBody>
      </p:sp>
      <p:sp>
        <p:nvSpPr>
          <p:cNvPr id="37" name="Chevron 36"/>
          <p:cNvSpPr/>
          <p:nvPr/>
        </p:nvSpPr>
        <p:spPr>
          <a:xfrm>
            <a:off x="4992624" y="4462272"/>
            <a:ext cx="310896" cy="201168"/>
          </a:xfrm>
          <a:prstGeom prst="chevron">
            <a:avLst/>
          </a:prstGeom>
          <a:solidFill>
            <a:srgbClr val="CDDCF0"/>
          </a:solidFill>
          <a:ln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266944" y="4370832"/>
            <a:ext cx="1078992" cy="4023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66944" y="4370832"/>
            <a:ext cx="1078992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4A1E"/>
                </a:solidFill>
                <a:latin typeface="페이퍼로지 7 Bold"/>
              </a:rPr>
              <a:t>금액·송금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4892040"/>
            <a:ext cx="617220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>
                <a:solidFill>
                  <a:srgbClr val="0B2242"/>
                </a:solidFill>
                <a:latin typeface="페이퍼로지 7 Bold"/>
              </a:rPr>
              <a:t>사칭·심리전략이 요구행동·금액보다 먼저 등장하는 경향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89520" y="3730752"/>
            <a:ext cx="4023360" cy="1572768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82127" y="3941063"/>
            <a:ext cx="345643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2CFFF"/>
                </a:solidFill>
                <a:latin typeface="페이퍼로지 7 Bold"/>
              </a:rPr>
              <a:t>데이터가 말하는 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4352544"/>
            <a:ext cx="2702663" cy="4862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dirty="0" err="1">
                <a:solidFill>
                  <a:srgbClr val="FFFFFF"/>
                </a:solidFill>
                <a:latin typeface="페이퍼로지 4 Regular"/>
              </a:rPr>
              <a:t>돈을</a:t>
            </a:r>
            <a:r>
              <a:rPr sz="11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페이퍼로지 4 Regular"/>
              </a:rPr>
              <a:t>요구하기</a:t>
            </a:r>
            <a:r>
              <a:rPr sz="11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페이퍼로지 4 Regular"/>
              </a:rPr>
              <a:t>전에</a:t>
            </a:r>
            <a:r>
              <a:rPr sz="1100" b="0" dirty="0">
                <a:solidFill>
                  <a:srgbClr val="FFFFFF"/>
                </a:solidFill>
                <a:latin typeface="페이퍼로지 4 Regular"/>
              </a:rPr>
              <a:t>
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“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믿게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만들고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·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서두르게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하고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·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외부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확인을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페이퍼로지 7 Bold"/>
              </a:rPr>
              <a:t>약화</a:t>
            </a:r>
            <a:r>
              <a:rPr sz="1100" b="1" dirty="0">
                <a:solidFill>
                  <a:srgbClr val="FFFFFF"/>
                </a:solidFill>
                <a:latin typeface="페이퍼로지 7 Bold"/>
              </a:rPr>
              <a:t>”</a:t>
            </a:r>
            <a:endParaRPr lang="en-US" sz="1100" b="1" dirty="0">
              <a:solidFill>
                <a:srgbClr val="FFFFFF"/>
              </a:solidFill>
              <a:latin typeface="페이퍼로지 7 Bold"/>
            </a:endParaRPr>
          </a:p>
          <a:p>
            <a:pPr algn="l">
              <a:lnSpc>
                <a:spcPct val="100000"/>
              </a:lnSpc>
            </a:pPr>
            <a:r>
              <a:rPr sz="960" b="0" dirty="0" err="1">
                <a:solidFill>
                  <a:srgbClr val="D2E1F3"/>
                </a:solidFill>
                <a:latin typeface="페이퍼로지 4 Regular"/>
              </a:rPr>
              <a:t>하는</a:t>
            </a:r>
            <a:r>
              <a:rPr sz="960" b="0" dirty="0">
                <a:solidFill>
                  <a:srgbClr val="D2E1F3"/>
                </a:solidFill>
                <a:latin typeface="페이퍼로지 4 Regular"/>
              </a:rPr>
              <a:t> </a:t>
            </a:r>
            <a:r>
              <a:rPr sz="960" b="0" dirty="0" err="1">
                <a:solidFill>
                  <a:srgbClr val="D2E1F3"/>
                </a:solidFill>
                <a:latin typeface="페이퍼로지 4 Regular"/>
              </a:rPr>
              <a:t>단계가</a:t>
            </a:r>
            <a:r>
              <a:rPr sz="960" b="0" dirty="0">
                <a:solidFill>
                  <a:srgbClr val="D2E1F3"/>
                </a:solidFill>
                <a:latin typeface="페이퍼로지 4 Regular"/>
              </a:rPr>
              <a:t> </a:t>
            </a:r>
            <a:r>
              <a:rPr sz="960" b="0" dirty="0" err="1">
                <a:solidFill>
                  <a:srgbClr val="D2E1F3"/>
                </a:solidFill>
                <a:latin typeface="페이퍼로지 4 Regular"/>
              </a:rPr>
              <a:t>먼저</a:t>
            </a:r>
            <a:r>
              <a:rPr sz="960" b="0" dirty="0">
                <a:solidFill>
                  <a:srgbClr val="D2E1F3"/>
                </a:solidFill>
                <a:latin typeface="페이퍼로지 4 Regular"/>
              </a:rPr>
              <a:t> </a:t>
            </a:r>
            <a:r>
              <a:rPr sz="960" b="0" dirty="0" err="1">
                <a:solidFill>
                  <a:srgbClr val="D2E1F3"/>
                </a:solidFill>
                <a:latin typeface="페이퍼로지 4 Regular"/>
              </a:rPr>
              <a:t>나타난다</a:t>
            </a:r>
            <a:r>
              <a:rPr sz="960" b="0" dirty="0">
                <a:solidFill>
                  <a:srgbClr val="D2E1F3"/>
                </a:solidFill>
                <a:latin typeface="페이퍼로지 4 Regular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0" y="5541264"/>
            <a:ext cx="9966960" cy="502920"/>
          </a:xfrm>
          <a:prstGeom prst="roundRect">
            <a:avLst>
              <a:gd name="adj" fmla="val 8000"/>
            </a:avLst>
          </a:prstGeom>
          <a:solidFill>
            <a:srgbClr val="FFF8E3"/>
          </a:solidFill>
          <a:ln w="1270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353312" y="5650992"/>
            <a:ext cx="945489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E19D14"/>
                </a:solidFill>
                <a:latin typeface="페이퍼로지 7 Bold"/>
              </a:rPr>
              <a:t>주의  |  팀 자체 Rule/Event 정의에 기반한 탐색 분석이며, 표본·정의·일반화 한계는 Appendix에 명시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출처: [T1] Team Guardrails 자체 보이스피싱 통화 이벤트 분석 — 사건 단위 판단환경 장악 신호, 심리전략, 사칭·요구행동 등장 순서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빈틈 분석 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7782580" cy="4001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즉</a:t>
            </a:r>
            <a:r>
              <a:rPr lang="en-US" altLang="ko-KR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범죄자는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돈을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요구하기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전에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먼저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판단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환경을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장악한다</a:t>
            </a:r>
            <a:endParaRPr sz="2600" b="1" dirty="0">
              <a:solidFill>
                <a:srgbClr val="0B2242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163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실제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수사기관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사칭형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대화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연구는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접근부터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인출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확인까지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,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피해자의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고립과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수직적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관계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형성이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단계적으로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진행됨을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/>
              </a:rPr>
              <a:t>확인했다</a:t>
            </a:r>
            <a:r>
              <a:rPr sz="1060" b="0" dirty="0">
                <a:solidFill>
                  <a:srgbClr val="697D98"/>
                </a:solidFill>
                <a:latin typeface="페이퍼로지 4 Regular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121408"/>
            <a:ext cx="438912" cy="438912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78992" y="2340863"/>
            <a:ext cx="1335024" cy="0"/>
          </a:xfrm>
          <a:prstGeom prst="line">
            <a:avLst/>
          </a:prstGeom>
          <a:ln w="1778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3775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접근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신뢰 형성</a:t>
            </a:r>
          </a:p>
        </p:txBody>
      </p:sp>
      <p:sp>
        <p:nvSpPr>
          <p:cNvPr id="16" name="Oval 15"/>
          <p:cNvSpPr/>
          <p:nvPr/>
        </p:nvSpPr>
        <p:spPr>
          <a:xfrm>
            <a:off x="2505456" y="2121408"/>
            <a:ext cx="438912" cy="438912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05456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44368" y="2340863"/>
            <a:ext cx="1335024" cy="0"/>
          </a:xfrm>
          <a:prstGeom prst="line">
            <a:avLst/>
          </a:prstGeom>
          <a:ln w="1778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359152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범죄 연루 위협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9152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공포 유발</a:t>
            </a:r>
          </a:p>
        </p:txBody>
      </p:sp>
      <p:sp>
        <p:nvSpPr>
          <p:cNvPr id="21" name="Oval 20"/>
          <p:cNvSpPr/>
          <p:nvPr/>
        </p:nvSpPr>
        <p:spPr>
          <a:xfrm>
            <a:off x="4370832" y="2121408"/>
            <a:ext cx="438912" cy="438912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70832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09744" y="2340863"/>
            <a:ext cx="1335024" cy="0"/>
          </a:xfrm>
          <a:prstGeom prst="line">
            <a:avLst/>
          </a:prstGeom>
          <a:ln w="1778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24528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사회적 고립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외부 확인 차단</a:t>
            </a:r>
          </a:p>
        </p:txBody>
      </p:sp>
      <p:sp>
        <p:nvSpPr>
          <p:cNvPr id="26" name="Oval 25"/>
          <p:cNvSpPr/>
          <p:nvPr/>
        </p:nvSpPr>
        <p:spPr>
          <a:xfrm>
            <a:off x="6236208" y="2121408"/>
            <a:ext cx="438912" cy="438912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36208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75120" y="2340863"/>
            <a:ext cx="1335024" cy="0"/>
          </a:xfrm>
          <a:prstGeom prst="line">
            <a:avLst/>
          </a:prstGeom>
          <a:ln w="1778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89904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수직관계 강화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권위·복종</a:t>
            </a:r>
          </a:p>
        </p:txBody>
      </p:sp>
      <p:sp>
        <p:nvSpPr>
          <p:cNvPr id="31" name="Oval 30"/>
          <p:cNvSpPr/>
          <p:nvPr/>
        </p:nvSpPr>
        <p:spPr>
          <a:xfrm>
            <a:off x="8101583" y="2121408"/>
            <a:ext cx="438912" cy="438912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01583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0496" y="2340863"/>
            <a:ext cx="1335023" cy="0"/>
          </a:xfrm>
          <a:prstGeom prst="line">
            <a:avLst/>
          </a:prstGeom>
          <a:ln w="1778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79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인출 유도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금융행동 요구</a:t>
            </a:r>
          </a:p>
        </p:txBody>
      </p:sp>
      <p:sp>
        <p:nvSpPr>
          <p:cNvPr id="36" name="Oval 35"/>
          <p:cNvSpPr/>
          <p:nvPr/>
        </p:nvSpPr>
        <p:spPr>
          <a:xfrm>
            <a:off x="9966959" y="2121408"/>
            <a:ext cx="438912" cy="438912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9" y="2121408"/>
            <a:ext cx="43891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0655" y="2688336"/>
            <a:ext cx="14173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인출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5" y="3054096"/>
            <a:ext cx="14173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97D98"/>
                </a:solidFill>
                <a:latin typeface="페이퍼로지 4 Regular"/>
              </a:rPr>
              <a:t>통제 유지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3703320"/>
            <a:ext cx="7242048" cy="121615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0392" y="3886200"/>
            <a:ext cx="12070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7FF"/>
                </a:solidFill>
                <a:latin typeface="페이퍼로지 7 Bold"/>
              </a:rPr>
              <a:t>판단환경 형성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93392" y="3840480"/>
            <a:ext cx="1664208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30552" y="3941063"/>
            <a:ext cx="13898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0B2242"/>
                </a:solidFill>
                <a:latin typeface="페이퍼로지 7 Bold"/>
              </a:rPr>
              <a:t>신뢰와 권위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10556" y="4215384"/>
            <a:ext cx="142987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기관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사칭으로</a:t>
            </a:r>
            <a:endParaRPr lang="en-US" sz="1000" dirty="0">
              <a:solidFill>
                <a:srgbClr val="697D98"/>
              </a:solidFill>
              <a:latin typeface="페이퍼로지 4 Regular"/>
            </a:endParaRPr>
          </a:p>
          <a:p>
            <a:pPr algn="ctr">
              <a:lnSpc>
                <a:spcPct val="100000"/>
              </a:lnSpc>
            </a:pP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“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상대가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더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정확하다”는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인상</a:t>
            </a:r>
            <a:endParaRPr sz="1000" b="0" dirty="0">
              <a:solidFill>
                <a:srgbClr val="697D98"/>
              </a:solidFill>
              <a:latin typeface="페이퍼로지 4 Regular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3803904" y="3840480"/>
            <a:ext cx="1664208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941064" y="3941063"/>
            <a:ext cx="13898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0B2242"/>
                </a:solidFill>
                <a:latin typeface="페이퍼로지 7 Bold"/>
              </a:rPr>
              <a:t>공포·긴급성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6103" y="4215384"/>
            <a:ext cx="11798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차분하게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비교할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시간과</a:t>
            </a:r>
            <a:endParaRPr lang="en-US" sz="1000" dirty="0">
              <a:solidFill>
                <a:srgbClr val="697D98"/>
              </a:solidFill>
              <a:latin typeface="페이퍼로지 4 Regular"/>
            </a:endParaRPr>
          </a:p>
          <a:p>
            <a:pPr algn="ctr">
              <a:lnSpc>
                <a:spcPct val="100000"/>
              </a:lnSpc>
            </a:pP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인지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자원을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축소</a:t>
            </a:r>
            <a:endParaRPr sz="1000" b="0" dirty="0">
              <a:solidFill>
                <a:srgbClr val="697D98"/>
              </a:solidFill>
              <a:latin typeface="페이퍼로지 4 Regular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614416" y="3840480"/>
            <a:ext cx="1664208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51576" y="3941063"/>
            <a:ext cx="13898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dirty="0" err="1">
                <a:solidFill>
                  <a:srgbClr val="0B2242"/>
                </a:solidFill>
                <a:latin typeface="페이퍼로지 7 Bold"/>
              </a:rPr>
              <a:t>정신·물리적</a:t>
            </a:r>
            <a:r>
              <a:rPr sz="93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930" b="1" dirty="0" err="1">
                <a:solidFill>
                  <a:srgbClr val="0B2242"/>
                </a:solidFill>
                <a:latin typeface="페이퍼로지 7 Bold"/>
              </a:rPr>
              <a:t>고립</a:t>
            </a:r>
            <a:endParaRPr sz="930" b="1" dirty="0">
              <a:solidFill>
                <a:srgbClr val="0B2242"/>
              </a:solidFill>
              <a:latin typeface="페이퍼로지 7 Bold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715551" y="4215384"/>
            <a:ext cx="146193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가족·기관의</a:t>
            </a:r>
            <a:endParaRPr lang="en-US" sz="1000" dirty="0">
              <a:solidFill>
                <a:srgbClr val="697D98"/>
              </a:solidFill>
              <a:latin typeface="페이퍼로지 4 Regular"/>
            </a:endParaRPr>
          </a:p>
          <a:p>
            <a:pPr algn="ctr">
              <a:lnSpc>
                <a:spcPct val="100000"/>
              </a:lnSpc>
            </a:pP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외부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확인과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검증을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00" b="0" dirty="0" err="1">
                <a:solidFill>
                  <a:srgbClr val="697D98"/>
                </a:solidFill>
                <a:latin typeface="페이퍼로지 4 Regular"/>
              </a:rPr>
              <a:t>어렵게</a:t>
            </a:r>
            <a:r>
              <a:rPr sz="1000" b="0" dirty="0">
                <a:solidFill>
                  <a:srgbClr val="697D98"/>
                </a:solidFill>
                <a:latin typeface="페이퍼로지 4 Regular"/>
              </a:rPr>
              <a:t> 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65008" y="3703320"/>
            <a:ext cx="3529584" cy="121615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39327" y="3886200"/>
            <a:ext cx="129844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4A1E"/>
                </a:solidFill>
                <a:latin typeface="페이퍼로지 7 Bold"/>
              </a:rPr>
              <a:t>금융행동 전환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4242816"/>
            <a:ext cx="2880360" cy="42062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4A1E"/>
                </a:solidFill>
                <a:latin typeface="페이퍼로지 7 Bold"/>
              </a:rPr>
              <a:t>판단 장악</a:t>
            </a:r>
            <a:r>
              <a:rPr sz="1200" b="0">
                <a:solidFill>
                  <a:srgbClr val="697D98"/>
                </a:solidFill>
                <a:latin typeface="페이퍼로지 4 Regular"/>
              </a:rPr>
              <a:t>  →  </a:t>
            </a:r>
            <a:r>
              <a:rPr sz="1200" b="1">
                <a:solidFill>
                  <a:srgbClr val="0B2242"/>
                </a:solidFill>
                <a:latin typeface="페이퍼로지 7 Bold"/>
              </a:rPr>
              <a:t>인출·송금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97280" y="5239512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417320" y="5424399"/>
            <a:ext cx="7606249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A0CFFF"/>
                </a:solidFill>
                <a:latin typeface="페이퍼로지 7 Bold"/>
              </a:rPr>
              <a:t>연구의</a:t>
            </a:r>
            <a:r>
              <a:rPr sz="1400" b="1" dirty="0">
                <a:solidFill>
                  <a:srgbClr val="A0CF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A0CFFF"/>
                </a:solidFill>
                <a:latin typeface="페이퍼로지 7 Bold"/>
              </a:rPr>
              <a:t>핵심</a:t>
            </a:r>
            <a:r>
              <a:rPr sz="1400" b="1" dirty="0">
                <a:solidFill>
                  <a:srgbClr val="A0CFFF"/>
                </a:solidFill>
                <a:latin typeface="페이퍼로지 7 Bold"/>
              </a:rPr>
              <a:t>  |  </a:t>
            </a:r>
            <a:r>
              <a:rPr sz="1400" b="0" dirty="0" err="1">
                <a:solidFill>
                  <a:srgbClr val="FFFFFF"/>
                </a:solidFill>
                <a:latin typeface="페이퍼로지 4 Regular"/>
              </a:rPr>
              <a:t>거짓</a:t>
            </a:r>
            <a:r>
              <a:rPr sz="14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페이퍼로지 4 Regular"/>
              </a:rPr>
              <a:t>정보</a:t>
            </a:r>
            <a:r>
              <a:rPr sz="14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페이퍼로지 4 Regular"/>
              </a:rPr>
              <a:t>전달보다</a:t>
            </a:r>
            <a:r>
              <a:rPr sz="1400" b="0" dirty="0">
                <a:solidFill>
                  <a:srgbClr val="FFFFFF"/>
                </a:solidFill>
                <a:latin typeface="페이퍼로지 4 Regular"/>
              </a:rPr>
              <a:t> 더 </a:t>
            </a:r>
            <a:r>
              <a:rPr sz="1400" b="0" dirty="0" err="1">
                <a:solidFill>
                  <a:srgbClr val="FFFFFF"/>
                </a:solidFill>
                <a:latin typeface="페이퍼로지 4 Regular"/>
              </a:rPr>
              <a:t>중요한</a:t>
            </a:r>
            <a:r>
              <a:rPr sz="14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페이퍼로지 4 Regular"/>
              </a:rPr>
              <a:t>것은</a:t>
            </a:r>
            <a:r>
              <a:rPr sz="1400" b="0" dirty="0">
                <a:solidFill>
                  <a:srgbClr val="FFFFFF"/>
                </a:solidFill>
                <a:latin typeface="페이퍼로지 4 Regular"/>
              </a:rPr>
              <a:t> 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피해자가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스스로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검증하기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어려운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FF4B16"/>
                </a:solidFill>
                <a:latin typeface="페이퍼로지 7 Bold"/>
              </a:rPr>
              <a:t>심리적</a:t>
            </a:r>
            <a:r>
              <a:rPr sz="1400" b="1" dirty="0">
                <a:solidFill>
                  <a:srgbClr val="FF4B16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FF4B16"/>
                </a:solidFill>
                <a:latin typeface="페이퍼로지 7 Bold"/>
              </a:rPr>
              <a:t>환경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을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49A8FF"/>
                </a:solidFill>
                <a:latin typeface="페이퍼로지 7 Bold"/>
              </a:rPr>
              <a:t>만드는</a:t>
            </a:r>
            <a:r>
              <a:rPr sz="1400" b="1" dirty="0">
                <a:solidFill>
                  <a:srgbClr val="49A8FF"/>
                </a:solidFill>
                <a:latin typeface="페이퍼로지 7 Bold"/>
              </a:rPr>
              <a:t> 것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출처: [S4] 배승희·최민경·이혜용(2023), 보이스피싱 대화 6단계 / [S5] 이영은·서준배(2024), 신뢰·권위·공포·고립과 판단오류 기제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6002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빈틈 분석 ①×②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6889707" cy="4001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취약성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×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판단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조작이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만나면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누구나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오판할</a:t>
            </a:r>
            <a:r>
              <a:rPr sz="26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수 </a:t>
            </a:r>
            <a:r>
              <a:rPr sz="26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있다</a:t>
            </a:r>
            <a:endParaRPr sz="2600" b="1" dirty="0">
              <a:solidFill>
                <a:srgbClr val="0B2242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6987490" cy="16312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피해자의</a:t>
            </a:r>
            <a:r>
              <a:rPr 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인구통계학적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특성</a:t>
            </a:r>
            <a:r>
              <a:rPr 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뿐만 아니라</a:t>
            </a:r>
            <a:r>
              <a:rPr lang="en-US" altLang="ko-KR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,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각 개인의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취약한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상태와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범죄자가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설계한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환경이</a:t>
            </a:r>
            <a:r>
              <a:rPr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sz="1060" b="0" dirty="0" err="1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결합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되며 발생하는 </a:t>
            </a:r>
            <a:r>
              <a:rPr lang="en-US" altLang="ko-KR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‘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판단의 오류</a:t>
            </a:r>
            <a:r>
              <a:rPr lang="en-US" altLang="ko-KR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’</a:t>
            </a:r>
            <a:r>
              <a:rPr lang="ko-KR" altLang="en-US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가 있다</a:t>
            </a:r>
            <a:r>
              <a:rPr lang="en-US" altLang="ko-KR" sz="1060" b="0" dirty="0">
                <a:solidFill>
                  <a:srgbClr val="697D98"/>
                </a:solidFill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sz="1060" b="0" dirty="0">
              <a:solidFill>
                <a:srgbClr val="697D98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1520" y="1965960"/>
            <a:ext cx="288036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60"/>
            <a:ext cx="23317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2242"/>
                </a:solidFill>
                <a:latin typeface="페이퍼로지 7 Bold"/>
              </a:rPr>
              <a:t>피해자의 취약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272491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272491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2B67FF"/>
                </a:solidFill>
                <a:latin typeface="페이퍼로지 7 Bold"/>
              </a:rPr>
              <a:t>판단 기준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5568" y="322783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15568" y="322783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2B67FF"/>
                </a:solidFill>
                <a:latin typeface="페이퍼로지 7 Bold"/>
              </a:rPr>
              <a:t>정서적 고통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15568" y="373075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5568" y="373075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2B67FF"/>
                </a:solidFill>
                <a:latin typeface="페이퍼로지 7 Bold"/>
              </a:rPr>
              <a:t>자기판단 과신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423367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423367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2B67FF"/>
                </a:solidFill>
                <a:latin typeface="페이퍼로지 7 Bold"/>
              </a:rPr>
              <a:t>정보 검증 부담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23317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697D98"/>
                </a:solidFill>
                <a:latin typeface="페이퍼로지 7 Bold"/>
              </a:rPr>
              <a:t>“나는 지금 무엇을 믿어야 하지?”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3632" y="3063240"/>
            <a:ext cx="47548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2B67FF"/>
                </a:solidFill>
                <a:latin typeface="페이퍼로지 7 Bold"/>
              </a:rPr>
              <a:t>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3712" y="1965960"/>
            <a:ext cx="288036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28032" y="2194560"/>
            <a:ext cx="23317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2242"/>
                </a:solidFill>
                <a:latin typeface="페이퍼로지 7 Bold"/>
              </a:rPr>
              <a:t>범죄자의 판단 조작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0" y="272491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60" y="272491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FF4A1E"/>
                </a:solidFill>
                <a:latin typeface="페이퍼로지 7 Bold"/>
              </a:rPr>
              <a:t>신뢰·권위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322783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37760" y="322783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FF4A1E"/>
                </a:solidFill>
                <a:latin typeface="페이퍼로지 7 Bold"/>
              </a:rPr>
              <a:t>공포·긴급성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373075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373075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FF4A1E"/>
                </a:solidFill>
                <a:latin typeface="페이퍼로지 7 Bold"/>
              </a:rPr>
              <a:t>정보비대칭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0" y="4233672"/>
            <a:ext cx="2103120" cy="329184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37760" y="423367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>
                <a:solidFill>
                  <a:srgbClr val="FF4A1E"/>
                </a:solidFill>
                <a:latin typeface="페이퍼로지 7 Bold"/>
              </a:rPr>
              <a:t>외부검증 차단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4617720"/>
            <a:ext cx="23317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 dirty="0">
                <a:solidFill>
                  <a:srgbClr val="697D98"/>
                </a:solidFill>
                <a:latin typeface="페이퍼로지 7 Bold"/>
              </a:rPr>
              <a:t>“</a:t>
            </a:r>
            <a:r>
              <a:rPr sz="880" b="1" dirty="0" err="1">
                <a:solidFill>
                  <a:srgbClr val="697D98"/>
                </a:solidFill>
                <a:latin typeface="페이퍼로지 7 Bold"/>
              </a:rPr>
              <a:t>지금</a:t>
            </a:r>
            <a:r>
              <a:rPr sz="880" b="1" dirty="0">
                <a:solidFill>
                  <a:srgbClr val="697D98"/>
                </a:solidFill>
                <a:latin typeface="페이퍼로지 7 Bold"/>
              </a:rPr>
              <a:t> </a:t>
            </a:r>
            <a:r>
              <a:rPr sz="880" b="1" dirty="0" err="1">
                <a:solidFill>
                  <a:srgbClr val="697D98"/>
                </a:solidFill>
                <a:latin typeface="페이퍼로지 7 Bold"/>
              </a:rPr>
              <a:t>당장</a:t>
            </a:r>
            <a:r>
              <a:rPr sz="880" b="1" dirty="0">
                <a:solidFill>
                  <a:srgbClr val="697D98"/>
                </a:solidFill>
                <a:latin typeface="페이퍼로지 7 Bold"/>
              </a:rPr>
              <a:t>, 내 </a:t>
            </a:r>
            <a:r>
              <a:rPr sz="880" b="1" dirty="0" err="1">
                <a:solidFill>
                  <a:srgbClr val="697D98"/>
                </a:solidFill>
                <a:latin typeface="페이퍼로지 7 Bold"/>
              </a:rPr>
              <a:t>지시만</a:t>
            </a:r>
            <a:r>
              <a:rPr sz="880" b="1" dirty="0">
                <a:solidFill>
                  <a:srgbClr val="697D98"/>
                </a:solidFill>
                <a:latin typeface="페이퍼로지 7 Bold"/>
              </a:rPr>
              <a:t> </a:t>
            </a:r>
            <a:r>
              <a:rPr sz="880" b="1" dirty="0" err="1">
                <a:solidFill>
                  <a:srgbClr val="697D98"/>
                </a:solidFill>
                <a:latin typeface="페이퍼로지 7 Bold"/>
              </a:rPr>
              <a:t>따르면</a:t>
            </a:r>
            <a:r>
              <a:rPr sz="880" b="1" dirty="0">
                <a:solidFill>
                  <a:srgbClr val="697D98"/>
                </a:solidFill>
                <a:latin typeface="페이퍼로지 7 Bold"/>
              </a:rPr>
              <a:t> </a:t>
            </a:r>
            <a:r>
              <a:rPr sz="880" b="1" dirty="0" err="1">
                <a:solidFill>
                  <a:srgbClr val="697D98"/>
                </a:solidFill>
                <a:latin typeface="페이퍼로지 7 Bold"/>
              </a:rPr>
              <a:t>된다</a:t>
            </a:r>
            <a:r>
              <a:rPr sz="880" b="1" dirty="0">
                <a:solidFill>
                  <a:srgbClr val="697D98"/>
                </a:solidFill>
                <a:latin typeface="페이퍼로지 7 Bold"/>
              </a:rPr>
              <a:t>”</a:t>
            </a:r>
          </a:p>
        </p:txBody>
      </p:sp>
      <p:sp>
        <p:nvSpPr>
          <p:cNvPr id="34" name="Chevron 33"/>
          <p:cNvSpPr/>
          <p:nvPr/>
        </p:nvSpPr>
        <p:spPr>
          <a:xfrm>
            <a:off x="7626096" y="3108960"/>
            <a:ext cx="475488" cy="34747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211312" y="1965960"/>
            <a:ext cx="3246120" cy="306324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2267712"/>
            <a:ext cx="257860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페이퍼로지 7 Bold"/>
              </a:rPr>
              <a:t>판단 환경의 왜곡</a:t>
            </a:r>
          </a:p>
        </p:txBody>
      </p:sp>
      <p:sp>
        <p:nvSpPr>
          <p:cNvPr id="37" name="Oval 36"/>
          <p:cNvSpPr/>
          <p:nvPr/>
        </p:nvSpPr>
        <p:spPr>
          <a:xfrm>
            <a:off x="9290304" y="2907792"/>
            <a:ext cx="1078992" cy="1078992"/>
          </a:xfrm>
          <a:prstGeom prst="ellipse">
            <a:avLst/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0304" y="2907792"/>
            <a:ext cx="1078992" cy="10789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페이퍼로지 7 Bold"/>
              </a:rPr>
              <a:t>오판
가능성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13648" y="4242816"/>
            <a:ext cx="246888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DDEF1"/>
                </a:solidFill>
                <a:latin typeface="페이퍼로지 4 Regular"/>
              </a:rPr>
              <a:t>독립적 확인 ↓
숙고 시간 ↓
자기통제 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8992" y="5376672"/>
            <a:ext cx="10012680" cy="64008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417320" y="5570702"/>
            <a:ext cx="8566448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2B67FF"/>
                </a:solidFill>
                <a:latin typeface="페이퍼로지 7 Bold"/>
              </a:rPr>
              <a:t>핵심</a:t>
            </a:r>
            <a:r>
              <a:rPr sz="1400" b="1" dirty="0">
                <a:solidFill>
                  <a:srgbClr val="2B67FF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2B67FF"/>
                </a:solidFill>
                <a:latin typeface="페이퍼로지 7 Bold"/>
              </a:rPr>
              <a:t>문제</a:t>
            </a:r>
            <a:r>
              <a:rPr sz="1400" b="1" dirty="0">
                <a:solidFill>
                  <a:srgbClr val="2B67FF"/>
                </a:solidFill>
                <a:latin typeface="페이퍼로지 7 Bold"/>
              </a:rPr>
              <a:t>  | 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지식이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부족한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사람이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아니라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, </a:t>
            </a:r>
            <a:r>
              <a:rPr lang="ko-KR" altLang="en-US" sz="1400" b="0" dirty="0">
                <a:solidFill>
                  <a:srgbClr val="1B3150"/>
                </a:solidFill>
                <a:latin typeface="페이퍼로지 7 Bold" pitchFamily="2" charset="-127"/>
                <a:ea typeface="페이퍼로지 7 Bold" pitchFamily="2" charset="-127"/>
              </a:rPr>
              <a:t>지금 당장 확인과 </a:t>
            </a:r>
            <a:r>
              <a:rPr sz="14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검증이</a:t>
            </a:r>
            <a:r>
              <a:rPr sz="14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1400" b="1" dirty="0" err="1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어려운</a:t>
            </a:r>
            <a:r>
              <a:rPr sz="1400" b="1" dirty="0">
                <a:solidFill>
                  <a:srgbClr val="0B2242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1400" b="1" dirty="0" err="1">
                <a:solidFill>
                  <a:srgbClr val="0B2242"/>
                </a:solidFill>
                <a:latin typeface="페이퍼로지 7 Bold"/>
              </a:rPr>
              <a:t>환경에</a:t>
            </a:r>
            <a:r>
              <a:rPr sz="140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0B2242"/>
                </a:solidFill>
                <a:latin typeface="페이퍼로지 7 Bold"/>
              </a:rPr>
              <a:t>놓인</a:t>
            </a:r>
            <a:r>
              <a:rPr sz="140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400" b="1" dirty="0" err="1">
                <a:solidFill>
                  <a:srgbClr val="0B2242"/>
                </a:solidFill>
                <a:latin typeface="페이퍼로지 7 Bold"/>
              </a:rPr>
              <a:t>사람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이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잘못된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결정을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내릴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 수 </a:t>
            </a:r>
            <a:r>
              <a:rPr sz="1400" b="0" dirty="0" err="1">
                <a:solidFill>
                  <a:srgbClr val="1B3150"/>
                </a:solidFill>
                <a:latin typeface="페이퍼로지 4 Regular"/>
              </a:rPr>
              <a:t>있다</a:t>
            </a:r>
            <a:r>
              <a:rPr sz="1400" b="0" dirty="0">
                <a:solidFill>
                  <a:srgbClr val="1B3150"/>
                </a:solidFill>
                <a:latin typeface="페이퍼로지 4 Regular"/>
              </a:rPr>
              <a:t>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근거 종합: [S1] 금융사기 취약성 연구 + [S4][S5] 실제 보이스피싱 대화·시나리오 연구 + [T1] 팀 데이터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빈틈 분석 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기존 보호체계는 통화 전부터 피해 이후까지 넓게 작동한다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017520"/>
            <a:ext cx="10424160" cy="0"/>
          </a:xfrm>
          <a:prstGeom prst="line">
            <a:avLst/>
          </a:prstGeom>
          <a:ln w="25400">
            <a:solidFill>
              <a:srgbClr val="ADC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60120" y="2761488"/>
            <a:ext cx="512064" cy="512064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029968"/>
            <a:ext cx="78638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3429000"/>
            <a:ext cx="1353312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통화 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840480"/>
            <a:ext cx="1536192" cy="6949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예방교육
위험번호·AI 차단</a:t>
            </a:r>
          </a:p>
        </p:txBody>
      </p:sp>
      <p:sp>
        <p:nvSpPr>
          <p:cNvPr id="16" name="Oval 15"/>
          <p:cNvSpPr/>
          <p:nvPr/>
        </p:nvSpPr>
        <p:spPr>
          <a:xfrm>
            <a:off x="2971800" y="2761488"/>
            <a:ext cx="512064" cy="512064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34640" y="2029968"/>
            <a:ext cx="78638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B67FF"/>
                </a:solidFill>
                <a:latin typeface="페이퍼로지 7 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3429000"/>
            <a:ext cx="1353312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통화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9736" y="3840480"/>
            <a:ext cx="1536192" cy="6949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에이닷·익시오
대화패턴 AI 분석</a:t>
            </a:r>
          </a:p>
        </p:txBody>
      </p:sp>
      <p:sp>
        <p:nvSpPr>
          <p:cNvPr id="20" name="Oval 19"/>
          <p:cNvSpPr/>
          <p:nvPr/>
        </p:nvSpPr>
        <p:spPr>
          <a:xfrm>
            <a:off x="4983480" y="2761488"/>
            <a:ext cx="512064" cy="512064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0" y="2029968"/>
            <a:ext cx="78638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CA4FF"/>
                </a:solidFill>
                <a:latin typeface="페이퍼로지 7 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3429000"/>
            <a:ext cx="1353312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제3자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840480"/>
            <a:ext cx="1536192" cy="6949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가족 케어
보호자 위험 알림</a:t>
            </a:r>
          </a:p>
        </p:txBody>
      </p:sp>
      <p:sp>
        <p:nvSpPr>
          <p:cNvPr id="24" name="Oval 23"/>
          <p:cNvSpPr/>
          <p:nvPr/>
        </p:nvSpPr>
        <p:spPr>
          <a:xfrm>
            <a:off x="6995160" y="2761488"/>
            <a:ext cx="512064" cy="512064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2029968"/>
            <a:ext cx="78638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4A1E"/>
                </a:solidFill>
                <a:latin typeface="페이퍼로지 7 Bol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429000"/>
            <a:ext cx="1353312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송금 시도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3840480"/>
            <a:ext cx="1536192" cy="6949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FDS·ASAP
추가확인·지연·중단</a:t>
            </a:r>
          </a:p>
        </p:txBody>
      </p:sp>
      <p:sp>
        <p:nvSpPr>
          <p:cNvPr id="28" name="Oval 27"/>
          <p:cNvSpPr/>
          <p:nvPr/>
        </p:nvSpPr>
        <p:spPr>
          <a:xfrm>
            <a:off x="9006840" y="2761488"/>
            <a:ext cx="512064" cy="512064"/>
          </a:xfrm>
          <a:prstGeom prst="ellipse">
            <a:avLst/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69680" y="2029968"/>
            <a:ext cx="78638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6215" y="3429000"/>
            <a:ext cx="1353312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거래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4776" y="3840480"/>
            <a:ext cx="1536192" cy="6949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지급정지
피해환급·구제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42032" y="4846320"/>
            <a:ext cx="7095744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62955" y="5035611"/>
            <a:ext cx="4244753" cy="4078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dirty="0" err="1">
                <a:solidFill>
                  <a:srgbClr val="2B67FF"/>
                </a:solidFill>
                <a:latin typeface="페이퍼로지 7 Bold"/>
              </a:rPr>
              <a:t>분석</a:t>
            </a:r>
            <a:r>
              <a:rPr sz="1100" b="1" dirty="0">
                <a:solidFill>
                  <a:srgbClr val="2B67FF"/>
                </a:solidFill>
                <a:latin typeface="페이퍼로지 7 Bold"/>
              </a:rPr>
              <a:t> </a:t>
            </a:r>
            <a:r>
              <a:rPr sz="1100" b="1" dirty="0" err="1">
                <a:solidFill>
                  <a:srgbClr val="2B67FF"/>
                </a:solidFill>
                <a:latin typeface="페이퍼로지 7 Bold"/>
              </a:rPr>
              <a:t>관점</a:t>
            </a:r>
            <a:r>
              <a:rPr sz="1100" b="1" dirty="0">
                <a:solidFill>
                  <a:srgbClr val="2B67FF"/>
                </a:solidFill>
                <a:latin typeface="페이퍼로지 7 Bold"/>
              </a:rPr>
              <a:t>  |  </a:t>
            </a:r>
            <a:r>
              <a:rPr sz="1600" b="1" dirty="0" err="1">
                <a:solidFill>
                  <a:srgbClr val="0B2242"/>
                </a:solidFill>
                <a:latin typeface="페이퍼로지 7 Bold"/>
              </a:rPr>
              <a:t>보호장치는</a:t>
            </a:r>
            <a:r>
              <a:rPr sz="160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600" b="1" dirty="0" err="1">
                <a:solidFill>
                  <a:srgbClr val="0B2242"/>
                </a:solidFill>
                <a:latin typeface="페이퍼로지 7 Bold"/>
              </a:rPr>
              <a:t>이미</a:t>
            </a:r>
            <a:r>
              <a:rPr sz="160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600" b="1" dirty="0" err="1">
                <a:solidFill>
                  <a:srgbClr val="0B2242"/>
                </a:solidFill>
                <a:latin typeface="페이퍼로지 7 Bold"/>
              </a:rPr>
              <a:t>넓게</a:t>
            </a:r>
            <a:r>
              <a:rPr sz="1600" b="1" dirty="0">
                <a:solidFill>
                  <a:srgbClr val="0B2242"/>
                </a:solidFill>
                <a:latin typeface="페이퍼로지 7 Bold"/>
              </a:rPr>
              <a:t> </a:t>
            </a:r>
            <a:r>
              <a:rPr sz="1600" b="1" dirty="0" err="1">
                <a:solidFill>
                  <a:srgbClr val="0B2242"/>
                </a:solidFill>
                <a:latin typeface="페이퍼로지 7 Bold"/>
              </a:rPr>
              <a:t>존재한다</a:t>
            </a:r>
            <a:r>
              <a:rPr sz="1600" b="1" dirty="0">
                <a:solidFill>
                  <a:srgbClr val="0B2242"/>
                </a:solidFill>
                <a:latin typeface="페이퍼로지 7 Bold"/>
              </a:rPr>
              <a:t>.
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남은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질문은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“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어디에서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보호가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없나”가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아니라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 </a:t>
            </a:r>
            <a:r>
              <a:rPr sz="1050" b="1" dirty="0">
                <a:solidFill>
                  <a:srgbClr val="FF4A1E"/>
                </a:solidFill>
                <a:latin typeface="페이퍼로지 7 Bold"/>
              </a:rPr>
              <a:t>“</a:t>
            </a:r>
            <a:r>
              <a:rPr sz="1050" b="1" dirty="0" err="1">
                <a:solidFill>
                  <a:srgbClr val="FF4A1E"/>
                </a:solidFill>
                <a:latin typeface="페이퍼로지 7 Bold"/>
              </a:rPr>
              <a:t>어디에서</a:t>
            </a:r>
            <a:r>
              <a:rPr sz="1050" b="1" dirty="0">
                <a:solidFill>
                  <a:srgbClr val="FF4A1E"/>
                </a:solidFill>
                <a:latin typeface="페이퍼로지 7 Bold"/>
              </a:rPr>
              <a:t> </a:t>
            </a:r>
            <a:r>
              <a:rPr sz="1050" b="1" dirty="0" err="1">
                <a:solidFill>
                  <a:srgbClr val="FF4A1E"/>
                </a:solidFill>
                <a:latin typeface="페이퍼로지 7 Bold" pitchFamily="2" charset="-127"/>
                <a:ea typeface="페이퍼로지 7 Bold" pitchFamily="2" charset="-127"/>
              </a:rPr>
              <a:t>다시</a:t>
            </a:r>
            <a:r>
              <a:rPr sz="1050" b="1" dirty="0">
                <a:solidFill>
                  <a:srgbClr val="FF4A1E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sz="1050" b="1" dirty="0" err="1">
                <a:solidFill>
                  <a:srgbClr val="FF4A1E"/>
                </a:solidFill>
                <a:latin typeface="페이퍼로지 7 Bold" pitchFamily="2" charset="-127"/>
                <a:ea typeface="페이퍼로지 7 Bold" pitchFamily="2" charset="-127"/>
              </a:rPr>
              <a:t>판단</a:t>
            </a:r>
            <a:r>
              <a:rPr lang="ko-KR" altLang="en-US" sz="1050" b="1" dirty="0">
                <a:solidFill>
                  <a:srgbClr val="FF4A1E"/>
                </a:solidFill>
                <a:latin typeface="페이퍼로지 7 Bold" pitchFamily="2" charset="-127"/>
                <a:ea typeface="페이퍼로지 7 Bold" pitchFamily="2" charset="-127"/>
              </a:rPr>
              <a:t>하는가</a:t>
            </a:r>
            <a:r>
              <a:rPr sz="1050" b="1" dirty="0">
                <a:solidFill>
                  <a:srgbClr val="FF4A1E"/>
                </a:solidFill>
                <a:latin typeface="페이퍼로지 7 Bold" pitchFamily="2" charset="-127"/>
                <a:ea typeface="페이퍼로지 7 Bold" pitchFamily="2" charset="-127"/>
              </a:rPr>
              <a:t>”</a:t>
            </a:r>
            <a:r>
              <a:rPr sz="1050" b="0" dirty="0" err="1">
                <a:solidFill>
                  <a:srgbClr val="697D98"/>
                </a:solidFill>
                <a:latin typeface="페이퍼로지 4 Regular"/>
              </a:rPr>
              <a:t>이다</a:t>
            </a:r>
            <a:r>
              <a:rPr sz="1050" b="0" dirty="0">
                <a:solidFill>
                  <a:srgbClr val="697D98"/>
                </a:solidFill>
                <a:latin typeface="페이퍼로지 4 Regular"/>
              </a:rPr>
              <a:t>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출처: [S6] SKT 에이닷 / [S7] SKT 가족 케어 / [S8] LG U+ 익시오 / [S9] 금융위원회 ASAP·FDS·지급정지 제도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빈틈 분석 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보호장치는 작동한다. 그러나 ‘재판단’의 순간은 남는다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공식자료에서 위험 탐지, 제3자 알림, 외부 개입 이후 피해자의 인식이 달라지는 세 장면을 확인했다.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20240"/>
            <a:ext cx="3529584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96112" y="2139696"/>
            <a:ext cx="402336" cy="402336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139696"/>
            <a:ext cx="402336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112264"/>
            <a:ext cx="2487168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1">
                <a:solidFill>
                  <a:srgbClr val="0B2242"/>
                </a:solidFill>
                <a:latin typeface="페이퍼로지 7 Bold"/>
              </a:rPr>
              <a:t>AI는 위험을 “알려준다”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2679192"/>
            <a:ext cx="1078992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2679192"/>
            <a:ext cx="107899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에이닷 전화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136392"/>
            <a:ext cx="1938031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150"/>
                </a:solidFill>
                <a:latin typeface="페이퍼로지 7 Bold"/>
              </a:rPr>
              <a:t>AI가 통화 중 위험을 감지해
화면 경고를 제공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6112" y="4087368"/>
            <a:ext cx="3035808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6112" y="4297680"/>
            <a:ext cx="30175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주요 판단 주체: 사용자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71416" y="1920240"/>
            <a:ext cx="3529584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709159" y="2139696"/>
            <a:ext cx="402336" cy="402336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09159" y="2139696"/>
            <a:ext cx="402336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4CA4FF"/>
                </a:solidFill>
                <a:latin typeface="페이퍼로지 7 Bol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2112264"/>
            <a:ext cx="2487168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1">
                <a:solidFill>
                  <a:srgbClr val="0B2242"/>
                </a:solidFill>
                <a:latin typeface="페이퍼로지 7 Bold"/>
              </a:rPr>
              <a:t>혼자 대응하기 어렵다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59" y="2679192"/>
            <a:ext cx="1078992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9159" y="2679192"/>
            <a:ext cx="107899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4CA4FF"/>
                </a:solidFill>
                <a:latin typeface="페이퍼로지 7 Bold"/>
              </a:rPr>
              <a:t>에이닷 가족 케어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3136392"/>
            <a:ext cx="2414122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150"/>
                </a:solidFill>
                <a:latin typeface="페이퍼로지 7 Bold"/>
              </a:rPr>
              <a:t>AI 탐지 결과를 보호자에게 전달해
신속한 외부 개입을 유도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09159" y="4087368"/>
            <a:ext cx="3035808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09159" y="4297680"/>
            <a:ext cx="30175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사업자 공식 설명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4464" y="1920240"/>
            <a:ext cx="3529584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522208" y="2139696"/>
            <a:ext cx="402336" cy="402336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22208" y="2139696"/>
            <a:ext cx="402336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2112264"/>
            <a:ext cx="2487168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1">
                <a:solidFill>
                  <a:srgbClr val="0B2242"/>
                </a:solidFill>
                <a:latin typeface="페이퍼로지 7 Bold"/>
              </a:rPr>
              <a:t>외부 개입 후 판단이 바뀐다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22208" y="2679192"/>
            <a:ext cx="1078992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22208" y="2679192"/>
            <a:ext cx="107899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FF4A1E"/>
                </a:solidFill>
                <a:latin typeface="페이퍼로지 7 Bold"/>
              </a:rPr>
              <a:t>ASAP·FDS 실제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136392"/>
            <a:ext cx="2580835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150"/>
                </a:solidFill>
                <a:latin typeface="페이퍼로지 7 Bold"/>
              </a:rPr>
              <a:t>피해자가 사기 설명을 믿고 송금 시도
→ 금융기관 중단·연락 후 피해 인지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22208" y="4087368"/>
            <a:ext cx="3035808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22208" y="4297680"/>
            <a:ext cx="301752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외부 개입의 효과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89888" y="5340096"/>
            <a:ext cx="9400032" cy="64008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755648" y="5477256"/>
            <a:ext cx="86868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0CFFF"/>
                </a:solidFill>
                <a:latin typeface="페이퍼로지 7 Bold"/>
              </a:rPr>
              <a:t>핵심 증거  |  </a:t>
            </a:r>
            <a:r>
              <a:rPr sz="1100" b="1">
                <a:solidFill>
                  <a:srgbClr val="FFFFFF"/>
                </a:solidFill>
                <a:latin typeface="페이퍼로지 7 Bold"/>
              </a:rPr>
              <a:t>위험을 탐지하는 것</a:t>
            </a:r>
            <a:r>
              <a:rPr sz="1100" b="0">
                <a:solidFill>
                  <a:srgbClr val="FFFFFF"/>
                </a:solidFill>
                <a:latin typeface="페이퍼로지 4 Regular"/>
              </a:rPr>
              <a:t>과 </a:t>
            </a:r>
            <a:r>
              <a:rPr sz="1100" b="1">
                <a:solidFill>
                  <a:srgbClr val="FF4A1E"/>
                </a:solidFill>
                <a:latin typeface="페이퍼로지 7 Bold"/>
              </a:rPr>
              <a:t>피해자가 그 위험을 믿고 올바르게 판단하는 것</a:t>
            </a:r>
            <a:r>
              <a:rPr sz="1100" b="0">
                <a:solidFill>
                  <a:srgbClr val="FFFFFF"/>
                </a:solidFill>
                <a:latin typeface="페이퍼로지 4 Regular"/>
              </a:rPr>
              <a:t>은 같은 문제가 아니다.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출처: [S6] SKT 에이닷 전화 / [S7] SKT 가족 케어 / [S9] 금융위원회 ASAP·FDS 실제 탐지·이체중단 사례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빈틈 분석 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현재 대응은 ‘판단 지원·제3자 알림·외부 개입’으로 나뉜다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각 유형은 분명한 보호 효과가 있다. 남은 과제는 기능의 부재보다 통화 맥락과 특정 거래를 연결하는 방식이다.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20240"/>
            <a:ext cx="28346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2834640" cy="512064"/>
          </a:xfrm>
          <a:prstGeom prst="roundRect">
            <a:avLst>
              <a:gd name="adj" fmla="val 8000"/>
            </a:avLst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1920240"/>
            <a:ext cx="283464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60" b="1">
                <a:solidFill>
                  <a:srgbClr val="FFFFFF"/>
                </a:solidFill>
                <a:latin typeface="페이퍼로지 7 Bold"/>
              </a:rPr>
              <a:t>판단 지원형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660904"/>
            <a:ext cx="23774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2242"/>
                </a:solidFill>
                <a:latin typeface="페이퍼로지 7 Bold"/>
              </a:rPr>
              <a:t>에이닷 · 익시오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072384"/>
            <a:ext cx="237744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0">
                <a:solidFill>
                  <a:srgbClr val="1B3150"/>
                </a:solidFill>
                <a:latin typeface="페이퍼로지 4 Regular"/>
              </a:rPr>
              <a:t>AI 위험탐지 → 사용자 경고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6968" y="3703320"/>
            <a:ext cx="237744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86968" y="3867912"/>
            <a:ext cx="237744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D9173"/>
                </a:solidFill>
                <a:latin typeface="페이퍼로지 7 Bold"/>
              </a:rPr>
              <a:t>강점: 빠른 인지 지원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297680"/>
            <a:ext cx="237744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1">
                <a:solidFill>
                  <a:srgbClr val="FF4A1E"/>
                </a:solidFill>
                <a:latin typeface="페이퍼로지 7 Bold"/>
              </a:rPr>
              <a:t>남는 순간: 경고 수용·재판단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0" y="1920240"/>
            <a:ext cx="28346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840480" y="1920240"/>
            <a:ext cx="2834640" cy="512064"/>
          </a:xfrm>
          <a:prstGeom prst="roundRect">
            <a:avLst>
              <a:gd name="adj" fmla="val 8000"/>
            </a:avLst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1920240"/>
            <a:ext cx="283464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60" b="1">
                <a:solidFill>
                  <a:srgbClr val="FFFFFF"/>
                </a:solidFill>
                <a:latin typeface="페이퍼로지 7 Bold"/>
              </a:rPr>
              <a:t>제3자 알림형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2660904"/>
            <a:ext cx="23774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2242"/>
                </a:solidFill>
                <a:latin typeface="페이퍼로지 7 Bold"/>
              </a:rPr>
              <a:t>에이닷 가족 케어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3072384"/>
            <a:ext cx="237744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0">
                <a:solidFill>
                  <a:srgbClr val="1B3150"/>
                </a:solidFill>
                <a:latin typeface="페이퍼로지 4 Regular"/>
              </a:rPr>
              <a:t>AI 탐지 → 보호자 위험 알림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9080" y="3703320"/>
            <a:ext cx="237744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69080" y="3867912"/>
            <a:ext cx="237744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D9173"/>
                </a:solidFill>
                <a:latin typeface="페이퍼로지 7 Bold"/>
              </a:rPr>
              <a:t>강점: 혼자 대응 완화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297680"/>
            <a:ext cx="237744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1">
                <a:solidFill>
                  <a:srgbClr val="FF4A1E"/>
                </a:solidFill>
                <a:latin typeface="페이퍼로지 7 Bold"/>
              </a:rPr>
              <a:t>남는 순간: 거래별 공동검토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22592" y="1920240"/>
            <a:ext cx="28346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022592" y="1920240"/>
            <a:ext cx="2834640" cy="512064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22592" y="1920240"/>
            <a:ext cx="283464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60" b="1">
                <a:solidFill>
                  <a:srgbClr val="FFFFFF"/>
                </a:solidFill>
                <a:latin typeface="페이퍼로지 7 Bold"/>
              </a:rPr>
              <a:t>외부 개입형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660904"/>
            <a:ext cx="23774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2242"/>
                </a:solidFill>
                <a:latin typeface="페이퍼로지 7 Bold"/>
              </a:rPr>
              <a:t>FDS · ASAP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072384"/>
            <a:ext cx="237744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0">
                <a:solidFill>
                  <a:srgbClr val="1B3150"/>
                </a:solidFill>
                <a:latin typeface="페이퍼로지 4 Regular"/>
              </a:rPr>
              <a:t>시스템·금융기관 → 지연·중단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51192" y="3703320"/>
            <a:ext cx="237744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51192" y="3867912"/>
            <a:ext cx="237744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D9173"/>
                </a:solidFill>
                <a:latin typeface="페이퍼로지 7 Bold"/>
              </a:rPr>
              <a:t>강점: 실제 금융행동 보호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1192" y="4297680"/>
            <a:ext cx="237744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1">
                <a:solidFill>
                  <a:srgbClr val="FF4A1E"/>
                </a:solidFill>
                <a:latin typeface="페이퍼로지 7 Bold"/>
              </a:rPr>
              <a:t>남는 순간: 통화 진위 맥락 연결</a:t>
            </a:r>
          </a:p>
        </p:txBody>
      </p:sp>
      <p:sp>
        <p:nvSpPr>
          <p:cNvPr id="35" name="Chevron 34"/>
          <p:cNvSpPr/>
          <p:nvPr/>
        </p:nvSpPr>
        <p:spPr>
          <a:xfrm>
            <a:off x="10021824" y="3090672"/>
            <a:ext cx="384048" cy="25603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0460736" y="1920240"/>
            <a:ext cx="1170432" cy="324612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79608" y="2212848"/>
            <a:ext cx="93268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0CFFF"/>
                </a:solidFill>
                <a:latin typeface="페이퍼로지 7 Bold"/>
              </a:rPr>
              <a:t>본 제안의
구조적 해석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70464" y="2962656"/>
            <a:ext cx="950976" cy="16824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페이퍼로지 7 Bold"/>
              </a:rPr>
              <a:t>통화 맥락
진위검증
+
특정 거래
공동검토
+
검증 완료 전
보류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" y="5458968"/>
            <a:ext cx="10332720" cy="5029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908944" y="5588990"/>
            <a:ext cx="8343631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2242"/>
                </a:solidFill>
                <a:latin typeface="페이퍼로지 7 Bold"/>
              </a:rPr>
              <a:t>기존 기능을 대체하는 것이 아니라, 이미 존재하는 탐지·알림·거래개입을 하나의 검증 흐름으로 연결하는 것이 남은 과제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공식자료 교차검증: [S6][S7][S8][S9] — 기능별 조치와 개입 주체를 분류하고, 마지막 열은 본 제안의 구조적 해석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0972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0972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문제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세 관점은 하나의 남은 빈틈을 가리킨다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피해자·범죄자·보호체계를 따로 보면 보이지 않던 문제가, 세 관점을 함께 놓으면 드러난다.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65960"/>
            <a:ext cx="3063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9536" y="2185416"/>
            <a:ext cx="384048" cy="384048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2185416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157984"/>
            <a:ext cx="2084831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피해자의 판단 취약성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2816352"/>
            <a:ext cx="242316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97D98"/>
                </a:solidFill>
                <a:latin typeface="페이퍼로지 4 Regular"/>
              </a:rPr>
              <a:t>기준 부족 · 정서적 고통
과신 · 정보검증 부담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578608"/>
            <a:ext cx="301752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2B67FF"/>
                </a:solidFill>
                <a:latin typeface="페이퍼로지 7 Bold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33087" y="1965960"/>
            <a:ext cx="3063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34255" y="2185416"/>
            <a:ext cx="384048" cy="38404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34255" y="2185416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157984"/>
            <a:ext cx="2084831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범죄자의 판단환경 조작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2816352"/>
            <a:ext cx="242316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97D98"/>
                </a:solidFill>
                <a:latin typeface="페이퍼로지 4 Regular"/>
              </a:rPr>
              <a:t>권위 · 공포 · 긴급성
정보비대칭 · 고립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2578608"/>
            <a:ext cx="301752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2B67FF"/>
                </a:solidFill>
                <a:latin typeface="페이퍼로지 7 Bold"/>
              </a:rPr>
              <a:t>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07808" y="1965960"/>
            <a:ext cx="3063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808976" y="2185416"/>
            <a:ext cx="384048" cy="384048"/>
          </a:xfrm>
          <a:prstGeom prst="ellipse">
            <a:avLst/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08976" y="2185416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57984"/>
            <a:ext cx="2084831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검증구조의 분절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848" y="2816352"/>
            <a:ext cx="2423160" cy="6766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97D98"/>
                </a:solidFill>
                <a:latin typeface="페이퍼로지 4 Regular"/>
              </a:rPr>
              <a:t>탐지 · 알림 · 거래개입이
서로 다른 시점·주체로 작동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194560" y="4041648"/>
            <a:ext cx="0" cy="329184"/>
          </a:xfrm>
          <a:prstGeom prst="line">
            <a:avLst/>
          </a:prstGeom>
          <a:ln w="1778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669280" y="4041648"/>
            <a:ext cx="0" cy="329184"/>
          </a:xfrm>
          <a:prstGeom prst="line">
            <a:avLst/>
          </a:prstGeom>
          <a:ln w="1778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4041648"/>
            <a:ext cx="0" cy="329184"/>
          </a:xfrm>
          <a:prstGeom prst="line">
            <a:avLst/>
          </a:prstGeom>
          <a:ln w="1778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94560" y="4370832"/>
            <a:ext cx="6949440" cy="0"/>
          </a:xfrm>
          <a:prstGeom prst="line">
            <a:avLst/>
          </a:prstGeom>
          <a:ln w="1778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0" y="4370832"/>
            <a:ext cx="0" cy="246888"/>
          </a:xfrm>
          <a:prstGeom prst="line">
            <a:avLst/>
          </a:prstGeom>
          <a:ln w="25400">
            <a:solidFill>
              <a:srgbClr val="2B6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856231" y="4590288"/>
            <a:ext cx="7635240" cy="11430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67712" y="4809744"/>
            <a:ext cx="68122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A0CFFF"/>
                </a:solidFill>
                <a:latin typeface="페이퍼로지 7 Bold"/>
              </a:rPr>
              <a:t>남은 빈틈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7712" y="5157216"/>
            <a:ext cx="681228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통화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속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판단을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,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금융행동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전에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독립적으로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다시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검증하는</a:t>
            </a:r>
            <a:r>
              <a:rPr sz="1500" b="1" dirty="0">
                <a:solidFill>
                  <a:srgbClr val="FFFFFF"/>
                </a:solidFill>
                <a:latin typeface="페이퍼로지 7 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페이퍼로지 7 Bold"/>
              </a:rPr>
              <a:t>구간</a:t>
            </a:r>
            <a:endParaRPr sz="1500" b="1" dirty="0">
              <a:solidFill>
                <a:srgbClr val="FFFFFF"/>
              </a:solidFill>
              <a:latin typeface="페이퍼로지 7 Bold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종합 해석: 앞선 피해자 취약성·범죄전략·기존 보호구조 분석을 결합한 본 제안의 문제정의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6304" y="173736"/>
            <a:ext cx="1554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78992"/>
            <a:ext cx="10360152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FFFFFF"/>
                </a:solidFill>
                <a:latin typeface="페이퍼로지 4 Regular"/>
              </a:rPr>
              <a:t>위험을 탐지하는 것과,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페이퍼로지 4 Regular"/>
              </a:rPr>
              <a:t>그 위험을 </a:t>
            </a:r>
            <a:r>
              <a:rPr sz="2800" b="1">
                <a:solidFill>
                  <a:srgbClr val="FF4A1E"/>
                </a:solidFill>
                <a:latin typeface="페이퍼로지 7 Bold"/>
              </a:rPr>
              <a:t>올바르게 판단하는 것</a:t>
            </a:r>
            <a:r>
              <a:rPr sz="2800" b="0">
                <a:solidFill>
                  <a:srgbClr val="FFFFFF"/>
                </a:solidFill>
                <a:latin typeface="페이퍼로지 4 Regular"/>
              </a:rPr>
              <a:t>은 다르다.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359152"/>
            <a:ext cx="6519672" cy="0"/>
          </a:xfrm>
          <a:prstGeom prst="line">
            <a:avLst/>
          </a:prstGeom>
          <a:ln w="12700">
            <a:solidFill>
              <a:srgbClr val="3C5A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91640" y="2743200"/>
            <a:ext cx="8805672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D5E3F5"/>
                </a:solidFill>
                <a:latin typeface="페이퍼로지 4 Regular"/>
              </a:rPr>
              <a:t>보이스피싱으로 판단이 흔들린 상황에서도
금융소비자가 경고를 받아들이고 다시 판단해야 하는 순간이 존재한다.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8528" y="4133087"/>
            <a:ext cx="1417320" cy="530352"/>
          </a:xfrm>
          <a:prstGeom prst="roundRect">
            <a:avLst>
              <a:gd name="adj" fmla="val 8000"/>
            </a:avLst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38528" y="4133087"/>
            <a:ext cx="141732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페이퍼로지 7 Bold"/>
              </a:rPr>
              <a:t>AI 탐지</a:t>
            </a:r>
          </a:p>
        </p:txBody>
      </p:sp>
      <p:sp>
        <p:nvSpPr>
          <p:cNvPr id="10" name="Chevron 9"/>
          <p:cNvSpPr/>
          <p:nvPr/>
        </p:nvSpPr>
        <p:spPr>
          <a:xfrm>
            <a:off x="3474720" y="4288536"/>
            <a:ext cx="384048" cy="201168"/>
          </a:xfrm>
          <a:prstGeom prst="chevron">
            <a:avLst/>
          </a:prstGeom>
          <a:solidFill>
            <a:srgbClr val="517094"/>
          </a:solidFill>
          <a:ln>
            <a:solidFill>
              <a:srgbClr val="517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087368" y="4133087"/>
            <a:ext cx="1417320" cy="530352"/>
          </a:xfrm>
          <a:prstGeom prst="roundRect">
            <a:avLst>
              <a:gd name="adj" fmla="val 8000"/>
            </a:avLst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87368" y="4133087"/>
            <a:ext cx="141732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페이퍼로지 7 Bold"/>
              </a:rPr>
              <a:t>경고</a:t>
            </a:r>
          </a:p>
        </p:txBody>
      </p:sp>
      <p:sp>
        <p:nvSpPr>
          <p:cNvPr id="13" name="Chevron 12"/>
          <p:cNvSpPr/>
          <p:nvPr/>
        </p:nvSpPr>
        <p:spPr>
          <a:xfrm>
            <a:off x="5623560" y="4288536"/>
            <a:ext cx="384048" cy="201168"/>
          </a:xfrm>
          <a:prstGeom prst="chevron">
            <a:avLst/>
          </a:prstGeom>
          <a:solidFill>
            <a:srgbClr val="517094"/>
          </a:solidFill>
          <a:ln>
            <a:solidFill>
              <a:srgbClr val="517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36208" y="4133087"/>
            <a:ext cx="1417320" cy="530352"/>
          </a:xfrm>
          <a:prstGeom prst="roundRect">
            <a:avLst>
              <a:gd name="adj" fmla="val 8000"/>
            </a:avLst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6208" y="4133087"/>
            <a:ext cx="141732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페이퍼로지 7 Bold"/>
              </a:rPr>
              <a:t>재판단</a:t>
            </a:r>
          </a:p>
        </p:txBody>
      </p:sp>
      <p:sp>
        <p:nvSpPr>
          <p:cNvPr id="16" name="Chevron 15"/>
          <p:cNvSpPr/>
          <p:nvPr/>
        </p:nvSpPr>
        <p:spPr>
          <a:xfrm>
            <a:off x="7772400" y="4288536"/>
            <a:ext cx="384048" cy="201168"/>
          </a:xfrm>
          <a:prstGeom prst="chevron">
            <a:avLst/>
          </a:prstGeom>
          <a:solidFill>
            <a:srgbClr val="517094"/>
          </a:solidFill>
          <a:ln>
            <a:solidFill>
              <a:srgbClr val="517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85048" y="4133087"/>
            <a:ext cx="1417320" cy="530352"/>
          </a:xfrm>
          <a:prstGeom prst="roundRect">
            <a:avLst>
              <a:gd name="adj" fmla="val 8000"/>
            </a:avLst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4133087"/>
            <a:ext cx="141732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페이퍼로지 7 Bold"/>
              </a:rPr>
              <a:t>송금</a:t>
            </a:r>
          </a:p>
        </p:txBody>
      </p:sp>
      <p:sp>
        <p:nvSpPr>
          <p:cNvPr id="19" name="Oval 18"/>
          <p:cNvSpPr/>
          <p:nvPr/>
        </p:nvSpPr>
        <p:spPr>
          <a:xfrm>
            <a:off x="5522976" y="3950208"/>
            <a:ext cx="329184" cy="329184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980944" y="5138928"/>
            <a:ext cx="6236208" cy="713232"/>
          </a:xfrm>
          <a:prstGeom prst="roundRect">
            <a:avLst>
              <a:gd name="adj" fmla="val 8000"/>
            </a:avLst>
          </a:prstGeom>
          <a:solidFill>
            <a:srgbClr val="0B2D52"/>
          </a:solidFill>
          <a:ln w="12700">
            <a:solidFill>
              <a:srgbClr val="244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63824" y="5330952"/>
            <a:ext cx="5870448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페이퍼로지 7 Bold"/>
              </a:rPr>
              <a:t>그 순간을 개인에게만 맡기지 않는다면?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304F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AFC2DA"/>
                </a:solidFill>
                <a:latin typeface="페이퍼로지 4 Regular"/>
              </a:rPr>
              <a:t>문제정의 근거: [S6][S7][S9] 공식 서비스·사례에서 확인된 경고, 보호자 알림, 외부 개입과 재판단의 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FC2DA"/>
                </a:solidFill>
                <a:latin typeface="페이퍼로지 4 Regular"/>
              </a:rPr>
              <a:t>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0972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0972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해결 원칙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더 많은 경고가 아니라, 탐지·독립검증·행동보류의 결합이 필요하다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판단을 대신하지 않되, 잘못된 판단이 즉시 피해로 연결되지 않도록 외부의 관점과 시간을 삽입한다.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057400"/>
            <a:ext cx="3310128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05840" y="2313432"/>
            <a:ext cx="411480" cy="41148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313432"/>
            <a:ext cx="41148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267712"/>
            <a:ext cx="213969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242"/>
                </a:solidFill>
                <a:latin typeface="페이퍼로지 7 Bold"/>
              </a:rPr>
              <a:t>탐지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89504"/>
            <a:ext cx="278892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B3150"/>
                </a:solidFill>
                <a:latin typeface="페이퍼로지 7 Bold"/>
              </a:rPr>
              <a:t>AI가 통화 맥락에서
위험 신호를 포착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685032"/>
            <a:ext cx="2615184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3886200"/>
            <a:ext cx="2615184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697D98"/>
                </a:solidFill>
                <a:latin typeface="페이퍼로지 4 Regular"/>
              </a:rPr>
              <a:t>사칭 · 권위 · 긴급성
금융행동 요구</a:t>
            </a:r>
          </a:p>
        </p:txBody>
      </p:sp>
      <p:sp>
        <p:nvSpPr>
          <p:cNvPr id="18" name="Chevron 17"/>
          <p:cNvSpPr/>
          <p:nvPr/>
        </p:nvSpPr>
        <p:spPr>
          <a:xfrm>
            <a:off x="4160520" y="3236976"/>
            <a:ext cx="329184" cy="219456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53128" y="2057400"/>
            <a:ext cx="3310128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709160" y="2313432"/>
            <a:ext cx="411480" cy="411480"/>
          </a:xfrm>
          <a:prstGeom prst="ellipse">
            <a:avLst/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60" y="2313432"/>
            <a:ext cx="41148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267712"/>
            <a:ext cx="213969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242"/>
                </a:solidFill>
                <a:latin typeface="페이퍼로지 7 Bold"/>
              </a:rPr>
              <a:t>독립검증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889504"/>
            <a:ext cx="278892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B3150"/>
                </a:solidFill>
                <a:latin typeface="페이퍼로지 7 Bold"/>
              </a:rPr>
              <a:t>상황 밖의 제3자가
사실과 맥락을 재확인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00600" y="3685032"/>
            <a:ext cx="2615183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00600" y="3886200"/>
            <a:ext cx="2615184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697D98"/>
                </a:solidFill>
                <a:latin typeface="페이퍼로지 4 Regular"/>
              </a:rPr>
              <a:t>신뢰인 공동검토
금융기관·공식기관 확인</a:t>
            </a:r>
          </a:p>
        </p:txBody>
      </p:sp>
      <p:sp>
        <p:nvSpPr>
          <p:cNvPr id="26" name="Chevron 25"/>
          <p:cNvSpPr/>
          <p:nvPr/>
        </p:nvSpPr>
        <p:spPr>
          <a:xfrm>
            <a:off x="7863840" y="3236976"/>
            <a:ext cx="329184" cy="219456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56448" y="2057400"/>
            <a:ext cx="3310128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12480" y="2313432"/>
            <a:ext cx="411480" cy="411480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0" y="2313432"/>
            <a:ext cx="41148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2267712"/>
            <a:ext cx="213969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242"/>
                </a:solidFill>
                <a:latin typeface="페이퍼로지 7 Bold"/>
              </a:rPr>
              <a:t>행동보류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889504"/>
            <a:ext cx="278892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B3150"/>
                </a:solidFill>
                <a:latin typeface="페이퍼로지 7 Bold"/>
              </a:rPr>
              <a:t>검증 중 위험 거래가
피해로 이어지지 않게 지연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03920" y="3685032"/>
            <a:ext cx="2615184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03920" y="3886200"/>
            <a:ext cx="2615184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697D98"/>
                </a:solidFill>
                <a:latin typeface="페이퍼로지 4 Regular"/>
              </a:rPr>
              <a:t>송금 일시 보류
승인·거절·추가조치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5285232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417320" y="5422392"/>
            <a:ext cx="932688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0CFFF"/>
                </a:solidFill>
                <a:latin typeface="페이퍼로지 7 Bold"/>
              </a:rPr>
              <a:t>서비스 설계 원칙  |  </a:t>
            </a:r>
            <a:r>
              <a:rPr sz="1060" b="1">
                <a:solidFill>
                  <a:srgbClr val="FFFFFF"/>
                </a:solidFill>
                <a:latin typeface="페이퍼로지 7 Bold"/>
              </a:rPr>
              <a:t>AI는 위험을 찾고, 사람과 기관은 상황을 검증하며, 시스템은 그동안 행동을 잠시 멈춘다.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해결원칙: 앞선 문제정의로부터 도출한 본 제안의 설계 원칙 — 탐지·검증·보류의 역할 분리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3258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서비스 포지션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우리는 기존 보호체계 사이를 연결한다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통화 AI와 금융권의 거래보호 사이에, 통화 맥락을 검증하고 특정 거래를 공동 검토하는 구간을 삽입한다.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3063240" cy="23317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2606040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B67FF"/>
                </a:solidFill>
                <a:latin typeface="페이퍼로지 7 Bold"/>
              </a:rPr>
              <a:t>통화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45536"/>
            <a:ext cx="260604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B3150"/>
                </a:solidFill>
                <a:latin typeface="페이퍼로지 7 Bold"/>
              </a:rPr>
              <a:t>위험 탐지 · 사용자 경고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96512"/>
            <a:ext cx="1417320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3040" y="4096512"/>
            <a:ext cx="141732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>
                <a:solidFill>
                  <a:srgbClr val="2B67FF"/>
                </a:solidFill>
                <a:latin typeface="페이퍼로지 7 Bold"/>
              </a:rPr>
              <a:t>에이닷 · 익시오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2240280"/>
            <a:ext cx="3063240" cy="233172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07992" y="2505456"/>
            <a:ext cx="2606040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페이퍼로지 7 Bold"/>
              </a:rPr>
              <a:t>AI 독립검증형
송금방지턱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145536"/>
            <a:ext cx="260604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D3E2F4"/>
                </a:solidFill>
                <a:latin typeface="페이퍼로지 7 Bold"/>
              </a:rPr>
              <a:t>통화 맥락 진위검증
+ 특정 거래 공동검토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4096512"/>
            <a:ext cx="14173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02352" y="4096512"/>
            <a:ext cx="141732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>
                <a:solidFill>
                  <a:srgbClr val="2B67FF"/>
                </a:solidFill>
                <a:latin typeface="페이퍼로지 7 Bold"/>
              </a:rPr>
              <a:t>우리의 연결 구간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2240280"/>
            <a:ext cx="3063240" cy="2331720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47304" y="2505456"/>
            <a:ext cx="2606040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4A1E"/>
                </a:solidFill>
                <a:latin typeface="페이퍼로지 7 Bold"/>
              </a:rPr>
              <a:t>금융 보호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7304" y="3145536"/>
            <a:ext cx="260604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B3150"/>
                </a:solidFill>
                <a:latin typeface="페이퍼로지 7 Bold"/>
              </a:rPr>
              <a:t>거래 분석 · 지연 · 중단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41664" y="4096512"/>
            <a:ext cx="1417320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741664" y="4096512"/>
            <a:ext cx="141732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>
                <a:solidFill>
                  <a:srgbClr val="FF4A1E"/>
                </a:solidFill>
                <a:latin typeface="페이퍼로지 7 Bold"/>
              </a:rPr>
              <a:t>FDS · ASAP</a:t>
            </a:r>
          </a:p>
        </p:txBody>
      </p:sp>
      <p:sp>
        <p:nvSpPr>
          <p:cNvPr id="26" name="Chevron 25"/>
          <p:cNvSpPr/>
          <p:nvPr/>
        </p:nvSpPr>
        <p:spPr>
          <a:xfrm>
            <a:off x="3840480" y="3154680"/>
            <a:ext cx="365760" cy="25603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evron 26"/>
          <p:cNvSpPr/>
          <p:nvPr/>
        </p:nvSpPr>
        <p:spPr>
          <a:xfrm>
            <a:off x="7479792" y="3154680"/>
            <a:ext cx="365760" cy="25603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60120" y="5102352"/>
            <a:ext cx="10241280" cy="66751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969264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B67FF"/>
                </a:solidFill>
                <a:latin typeface="페이퍼로지 7 Bold"/>
              </a:rPr>
              <a:t>차별점  |  </a:t>
            </a:r>
            <a:r>
              <a:rPr sz="1030" b="0">
                <a:solidFill>
                  <a:srgbClr val="1B3150"/>
                </a:solidFill>
                <a:latin typeface="페이퍼로지 4 Regular"/>
              </a:rPr>
              <a:t>“경고”를 추가하는 것이 아니라, </a:t>
            </a:r>
            <a:r>
              <a:rPr sz="1030" b="1">
                <a:solidFill>
                  <a:srgbClr val="0B2242"/>
                </a:solidFill>
                <a:latin typeface="페이퍼로지 7 Bold"/>
              </a:rPr>
              <a:t>탐지 결과를 외부 검증과 거래보류까지 연결</a:t>
            </a:r>
            <a:r>
              <a:rPr sz="1030" b="0">
                <a:solidFill>
                  <a:srgbClr val="1B3150"/>
                </a:solidFill>
                <a:latin typeface="페이퍼로지 4 Regular"/>
              </a:rPr>
              <a:t>한다.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포지션 해석: 기존 통화 AI·가족 알림·FDS·ASAP 기능을 대체하지 않고, 통화 맥락과 거래 검토를 연결하는 보완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18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6304" y="173736"/>
            <a:ext cx="1554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41832"/>
            <a:ext cx="10360152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1E1F3"/>
                </a:solidFill>
                <a:latin typeface="페이퍼로지 4 Regular"/>
              </a:rPr>
              <a:t>판단과 송금 사이에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53312"/>
            <a:ext cx="10360152" cy="6400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4A1E"/>
                </a:solidFill>
                <a:latin typeface="페이퍼로지 7 Bold"/>
              </a:rPr>
              <a:t>‘금융 방지턱’</a:t>
            </a:r>
            <a:r>
              <a:rPr sz="3400" b="1">
                <a:solidFill>
                  <a:srgbClr val="FFFFFF"/>
                </a:solidFill>
                <a:latin typeface="페이퍼로지 7 Bold"/>
              </a:rPr>
              <a:t>을 만든다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1874519" cy="621792"/>
          </a:xfrm>
          <a:prstGeom prst="roundRect">
            <a:avLst>
              <a:gd name="adj" fmla="val 8000"/>
            </a:avLst>
          </a:prstGeom>
          <a:solidFill>
            <a:srgbClr val="0F365E"/>
          </a:solidFill>
          <a:ln w="12700">
            <a:solidFill>
              <a:srgbClr val="0F3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874519" cy="6217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페이퍼로지 7 Bold"/>
              </a:rPr>
              <a:t>판단 흔들림</a:t>
            </a:r>
          </a:p>
        </p:txBody>
      </p:sp>
      <p:sp>
        <p:nvSpPr>
          <p:cNvPr id="8" name="Chevron 7"/>
          <p:cNvSpPr/>
          <p:nvPr/>
        </p:nvSpPr>
        <p:spPr>
          <a:xfrm>
            <a:off x="3182112" y="3081528"/>
            <a:ext cx="457200" cy="228600"/>
          </a:xfrm>
          <a:prstGeom prst="chevron">
            <a:avLst/>
          </a:prstGeom>
          <a:solidFill>
            <a:srgbClr val="4B6C90"/>
          </a:solidFill>
          <a:ln>
            <a:solidFill>
              <a:srgbClr val="4B6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49039" y="2487168"/>
            <a:ext cx="3337560" cy="1417320"/>
          </a:xfrm>
          <a:prstGeom prst="roundRect">
            <a:avLst>
              <a:gd name="adj" fmla="val 8000"/>
            </a:avLst>
          </a:prstGeom>
          <a:solidFill>
            <a:srgbClr val="0D3156"/>
          </a:solidFill>
          <a:ln w="12700">
            <a:solidFill>
              <a:srgbClr val="345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39" y="2688336"/>
            <a:ext cx="333756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페이퍼로지 7 Bold"/>
              </a:rPr>
              <a:t>AI 독립검증형 송금방지턱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3182112"/>
            <a:ext cx="457200" cy="164592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12080" y="3182112"/>
            <a:ext cx="658368" cy="164592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806440" y="3182112"/>
            <a:ext cx="457200" cy="164592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49039" y="3493008"/>
            <a:ext cx="333756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B5D7FB"/>
                </a:solidFill>
                <a:latin typeface="페이퍼로지 7 Bold"/>
              </a:rPr>
              <a:t>탐지  ·  검증  ·  보류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3760" y="3081528"/>
            <a:ext cx="457200" cy="228600"/>
          </a:xfrm>
          <a:prstGeom prst="chevron">
            <a:avLst/>
          </a:prstGeom>
          <a:solidFill>
            <a:srgbClr val="4B6C90"/>
          </a:solidFill>
          <a:ln>
            <a:solidFill>
              <a:srgbClr val="4B6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18120" y="2880360"/>
            <a:ext cx="1874519" cy="621792"/>
          </a:xfrm>
          <a:prstGeom prst="roundRect">
            <a:avLst>
              <a:gd name="adj" fmla="val 8000"/>
            </a:avLst>
          </a:prstGeom>
          <a:solidFill>
            <a:srgbClr val="186753"/>
          </a:solidFill>
          <a:ln w="12700">
            <a:solidFill>
              <a:srgbClr val="186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20" y="2880360"/>
            <a:ext cx="1874519" cy="6217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페이퍼로지 7 Bold"/>
              </a:rPr>
              <a:t>안전한 재판단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462272"/>
            <a:ext cx="8366760" cy="7498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페이퍼로지 7 Bold"/>
              </a:rPr>
              <a:t>판단을 대신하지 않는다.
피해로 연결되기 전에 한 번 더 멈춘다.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07792" y="5541264"/>
            <a:ext cx="6382512" cy="429768"/>
          </a:xfrm>
          <a:prstGeom prst="roundRect">
            <a:avLst>
              <a:gd name="adj" fmla="val 8000"/>
            </a:avLst>
          </a:prstGeom>
          <a:solidFill>
            <a:srgbClr val="0A2A4D"/>
          </a:solidFill>
          <a:ln w="12700">
            <a:solidFill>
              <a:srgbClr val="264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07792" y="5541264"/>
            <a:ext cx="6382512" cy="4297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BCD8F7"/>
                </a:solidFill>
                <a:latin typeface="페이퍼로지 7 Bold"/>
              </a:rPr>
              <a:t>AI 독립검증 기반 보이스피싱 금융안전 서비스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304F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AFC2DA"/>
                </a:solidFill>
                <a:latin typeface="페이퍼로지 4 Regular"/>
              </a:rPr>
              <a:t>서비스 컨셉: “판단과 송금 사이에 한 번 더 멈추는 보호구간”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FC2DA"/>
                </a:solidFill>
                <a:latin typeface="페이퍼로지 4 Regular"/>
              </a:rPr>
              <a:t>19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0972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0972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서비스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AI 독립검증형 송금방지턱 — 5단계 보호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탐지에서 끝나지 않고 근거 공유, 거래 보류, 외부 검증까지 하나의 흐름으로 연결한다.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1965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7512" y="2176272"/>
            <a:ext cx="384048" cy="384048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217627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761488"/>
            <a:ext cx="1636776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0" b="1">
                <a:solidFill>
                  <a:srgbClr val="0B2242"/>
                </a:solidFill>
                <a:latin typeface="페이퍼로지 7 Bold"/>
              </a:rPr>
              <a:t>AI 통화
위험 탐지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3611880"/>
            <a:ext cx="141732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2376" y="3867912"/>
            <a:ext cx="1527048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사칭·권위·긴급성
금융행동 요구 신호</a:t>
            </a:r>
          </a:p>
        </p:txBody>
      </p:sp>
      <p:sp>
        <p:nvSpPr>
          <p:cNvPr id="17" name="Chevron 16"/>
          <p:cNvSpPr/>
          <p:nvPr/>
        </p:nvSpPr>
        <p:spPr>
          <a:xfrm>
            <a:off x="2514600" y="3200400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34639" y="2011680"/>
            <a:ext cx="1965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999232" y="2176272"/>
            <a:ext cx="384048" cy="384048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99232" y="217627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9232" y="2761488"/>
            <a:ext cx="1636776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0" b="1">
                <a:solidFill>
                  <a:srgbClr val="0B2242"/>
                </a:solidFill>
                <a:latin typeface="페이퍼로지 7 Bold"/>
              </a:rPr>
              <a:t>위험도·근거
산출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08959" y="3611880"/>
            <a:ext cx="141732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054096" y="3867912"/>
            <a:ext cx="1527048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점수와 함께
왜 위험한지 제시</a:t>
            </a:r>
          </a:p>
        </p:txBody>
      </p:sp>
      <p:sp>
        <p:nvSpPr>
          <p:cNvPr id="24" name="Chevron 23"/>
          <p:cNvSpPr/>
          <p:nvPr/>
        </p:nvSpPr>
        <p:spPr>
          <a:xfrm>
            <a:off x="4846320" y="3200400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166359" y="2011680"/>
            <a:ext cx="1965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330951" y="2176272"/>
            <a:ext cx="384048" cy="384048"/>
          </a:xfrm>
          <a:prstGeom prst="ellipse">
            <a:avLst/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30951" y="217627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0951" y="2761488"/>
            <a:ext cx="1636776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0" b="1">
                <a:solidFill>
                  <a:srgbClr val="0B2242"/>
                </a:solidFill>
                <a:latin typeface="페이퍼로지 7 Bold"/>
              </a:rPr>
              <a:t>역할별
맞춤 브리프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40679" y="3611880"/>
            <a:ext cx="1417321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85816" y="3867912"/>
            <a:ext cx="1527048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피해자·신뢰인·
금융기관 정보 분리</a:t>
            </a:r>
          </a:p>
        </p:txBody>
      </p:sp>
      <p:sp>
        <p:nvSpPr>
          <p:cNvPr id="31" name="Chevron 30"/>
          <p:cNvSpPr/>
          <p:nvPr/>
        </p:nvSpPr>
        <p:spPr>
          <a:xfrm>
            <a:off x="7178040" y="3200400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498079" y="2011680"/>
            <a:ext cx="1965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662671" y="2176272"/>
            <a:ext cx="384048" cy="38404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62671" y="217627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1" y="2761488"/>
            <a:ext cx="1636776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0" b="1">
                <a:solidFill>
                  <a:srgbClr val="0B2242"/>
                </a:solidFill>
                <a:latin typeface="페이퍼로지 7 Bold"/>
              </a:rPr>
              <a:t>송금
방지턱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72400" y="3611880"/>
            <a:ext cx="1417319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17536" y="3867912"/>
            <a:ext cx="1527048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위험 거래
일시 보류·공동검토</a:t>
            </a:r>
          </a:p>
        </p:txBody>
      </p:sp>
      <p:sp>
        <p:nvSpPr>
          <p:cNvPr id="38" name="Chevron 37"/>
          <p:cNvSpPr/>
          <p:nvPr/>
        </p:nvSpPr>
        <p:spPr>
          <a:xfrm>
            <a:off x="9509759" y="3200400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829800" y="2011680"/>
            <a:ext cx="1965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994392" y="2176272"/>
            <a:ext cx="384048" cy="38404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994392" y="217627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4392" y="2761488"/>
            <a:ext cx="1636776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0" b="1">
                <a:solidFill>
                  <a:srgbClr val="0B2242"/>
                </a:solidFill>
                <a:latin typeface="페이퍼로지 7 Bold"/>
              </a:rPr>
              <a:t>독립검증
연결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04120" y="3611880"/>
            <a:ext cx="1417320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49256" y="3867912"/>
            <a:ext cx="1527048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금융기관·공식기관
진위 확인·조치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5468112"/>
            <a:ext cx="9838944" cy="53035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70432" y="5468112"/>
            <a:ext cx="983894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FFFFFF"/>
                </a:solidFill>
                <a:latin typeface="페이퍼로지 7 Bold"/>
              </a:rPr>
              <a:t>탐지  →  근거  →  공유  →  보류  →  검증  :  “판단”과 “금융행동”을 동시에 보호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서비스 설계: 위험탐지·설명·역할별 라우팅·거래보류·공식검증을 연결한 5단계 구조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0972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0972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서비스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관계자마다 필요한 정보와 권한만 제공한다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동일한 통화 내용을 모두에게 보내지 않고, 역할 수행에 필요한 최소 정보만 분리해 전달한다.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65376"/>
            <a:ext cx="1600200" cy="493776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865376"/>
            <a:ext cx="1600200" cy="4937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주체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65376"/>
            <a:ext cx="3063240" cy="493776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1865376"/>
            <a:ext cx="3063240" cy="4937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LLM 제공 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1865376"/>
            <a:ext cx="2724912" cy="493776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32120" y="1865376"/>
            <a:ext cx="2724912" cy="4937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핵심 역할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94192" y="1865376"/>
            <a:ext cx="3182112" cy="493776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1865376"/>
            <a:ext cx="3182112" cy="4937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접근 원칙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487168"/>
            <a:ext cx="1600200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" y="2551176"/>
            <a:ext cx="145389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피해자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31720" y="2487168"/>
            <a:ext cx="3063240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04872" y="2551176"/>
            <a:ext cx="291693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위험도 · 근거 · 즉시 행동 안내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32120" y="2487168"/>
            <a:ext cx="2724912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05272" y="2551176"/>
            <a:ext cx="25786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통화 종료 · 재확인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2487168"/>
            <a:ext cx="3182112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67344" y="2551176"/>
            <a:ext cx="30358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본인 의사결정 지원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319272"/>
            <a:ext cx="1600200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" y="3383280"/>
            <a:ext cx="145389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신뢰인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3319272"/>
            <a:ext cx="3063240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404872" y="3383280"/>
            <a:ext cx="291693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상황 요약 · 요구금액 · AI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32120" y="3319272"/>
            <a:ext cx="2724912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05272" y="3383280"/>
            <a:ext cx="25786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거래별 공동검토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94192" y="3319272"/>
            <a:ext cx="3182112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3383280"/>
            <a:ext cx="30358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최소 필요 정보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151376"/>
            <a:ext cx="1600200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" y="4215384"/>
            <a:ext cx="145389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금융기관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31720" y="4151376"/>
            <a:ext cx="3063240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404872" y="4215384"/>
            <a:ext cx="291693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거래위험 · 요구금액 · 계좌정보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32120" y="4151376"/>
            <a:ext cx="2724912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05272" y="4215384"/>
            <a:ext cx="25786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추가확인 · 보류 · 차단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94192" y="4151376"/>
            <a:ext cx="3182112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67344" y="4215384"/>
            <a:ext cx="30358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금융행동 보호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983480"/>
            <a:ext cx="1600200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7512" y="5047488"/>
            <a:ext cx="145389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기관 담당자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1720" y="4983480"/>
            <a:ext cx="3063240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404872" y="5047488"/>
            <a:ext cx="2916936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사칭기관 · 주장 · 확인요청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4983480"/>
            <a:ext cx="2724912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05272" y="5047488"/>
            <a:ext cx="25786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공식 진위검증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4192" y="4983480"/>
            <a:ext cx="3182112" cy="722376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467344" y="5047488"/>
            <a:ext cx="3035808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1B3150"/>
                </a:solidFill>
                <a:latin typeface="페이퍼로지 4 Regular"/>
              </a:rPr>
              <a:t>진위확인만 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2" y="5925312"/>
            <a:ext cx="10561320" cy="36576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4672" y="5925312"/>
            <a:ext cx="1056132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PRIVACY BY ROLE  |  필요한 정보만 · 필요한 주체에게 · 필요한 순간에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서비스 원칙: 역할별 최소정보 제공, 거래 단위 공동검토, 기관에는 진위확인에 필요한 정보만 전달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601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601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AI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AI는 위험을 탐지하고, 근거를 구조화하며, 행동을 연결한다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모델 하나가 모든 결정을 내리는 구조가 아니라, STT·ML·LLM·Rule Engine이 각기 다른 역할을 담당한다.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21207" y="2221992"/>
            <a:ext cx="347472" cy="347472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7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0B2242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통화 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실시간 음성
또는 녹음 파일</a:t>
            </a:r>
          </a:p>
        </p:txBody>
      </p:sp>
      <p:sp>
        <p:nvSpPr>
          <p:cNvPr id="16" name="Chevron 15"/>
          <p:cNvSpPr/>
          <p:nvPr/>
        </p:nvSpPr>
        <p:spPr>
          <a:xfrm>
            <a:off x="2029968" y="3072384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331720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468879" y="2221992"/>
            <a:ext cx="347472" cy="347472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79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STT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6312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화자 구분
텍스트 변환</a:t>
            </a:r>
          </a:p>
        </p:txBody>
      </p:sp>
      <p:sp>
        <p:nvSpPr>
          <p:cNvPr id="22" name="Chevron 21"/>
          <p:cNvSpPr/>
          <p:nvPr/>
        </p:nvSpPr>
        <p:spPr>
          <a:xfrm>
            <a:off x="3977639" y="3072384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79392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416552" y="2221992"/>
            <a:ext cx="347472" cy="347472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6552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3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Feature 추출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3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사칭·심리전략
요구행동·상호작용</a:t>
            </a:r>
          </a:p>
        </p:txBody>
      </p:sp>
      <p:sp>
        <p:nvSpPr>
          <p:cNvPr id="28" name="Chevron 27"/>
          <p:cNvSpPr/>
          <p:nvPr/>
        </p:nvSpPr>
        <p:spPr>
          <a:xfrm>
            <a:off x="5925312" y="3072384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27064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64224" y="2221992"/>
            <a:ext cx="347472" cy="347472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ML 위험분류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5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위험도·확률
Threshold 판정</a:t>
            </a:r>
          </a:p>
        </p:txBody>
      </p:sp>
      <p:sp>
        <p:nvSpPr>
          <p:cNvPr id="34" name="Chevron 33"/>
          <p:cNvSpPr/>
          <p:nvPr/>
        </p:nvSpPr>
        <p:spPr>
          <a:xfrm>
            <a:off x="7872983" y="3072384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174736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311896" y="2221992"/>
            <a:ext cx="347472" cy="347472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11896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LLM 브리프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근거 요약
역할별 설명</a:t>
            </a:r>
          </a:p>
        </p:txBody>
      </p:sp>
      <p:sp>
        <p:nvSpPr>
          <p:cNvPr id="40" name="Chevron 39"/>
          <p:cNvSpPr/>
          <p:nvPr/>
        </p:nvSpPr>
        <p:spPr>
          <a:xfrm>
            <a:off x="9820656" y="3072384"/>
            <a:ext cx="256032" cy="182880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122407" y="2057400"/>
            <a:ext cx="1609344" cy="2404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259567" y="2221992"/>
            <a:ext cx="347472" cy="347472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59567" y="2221992"/>
            <a:ext cx="34747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CB3944"/>
                </a:solidFill>
                <a:latin typeface="페이퍼로지 7 Bold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6999" y="2816352"/>
            <a:ext cx="12801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B2242"/>
                </a:solidFill>
                <a:latin typeface="페이퍼로지 7 Bold"/>
              </a:rPr>
              <a:t>Rule Engine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6999" y="3291840"/>
            <a:ext cx="12801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697D98"/>
                </a:solidFill>
                <a:latin typeface="페이퍼로지 4 Regular"/>
              </a:rPr>
              <a:t>알림 라우팅
송금보류·승인 흐름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80" y="4882896"/>
            <a:ext cx="10451592" cy="89611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43000" y="5047488"/>
            <a:ext cx="9902952" cy="5486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B67FF"/>
                </a:solidFill>
                <a:latin typeface="페이퍼로지 7 Bold"/>
              </a:rPr>
              <a:t>핵심 분리  |  </a:t>
            </a:r>
            <a:r>
              <a:rPr sz="1030" b="1">
                <a:solidFill>
                  <a:srgbClr val="0B2242"/>
                </a:solidFill>
                <a:latin typeface="페이퍼로지 7 Bold"/>
              </a:rPr>
              <a:t>ML은 “위험 가능성”을 분류</a:t>
            </a:r>
            <a:r>
              <a:rPr sz="1030" b="0">
                <a:solidFill>
                  <a:srgbClr val="1B3150"/>
                </a:solidFill>
                <a:latin typeface="페이퍼로지 4 Regular"/>
              </a:rPr>
              <a:t>하고, </a:t>
            </a:r>
            <a:r>
              <a:rPr sz="1030" b="1">
                <a:solidFill>
                  <a:srgbClr val="0B2242"/>
                </a:solidFill>
                <a:latin typeface="페이퍼로지 7 Bold"/>
              </a:rPr>
              <a:t>LLM은 “왜 위험한지”를 구조화</a:t>
            </a:r>
            <a:r>
              <a:rPr sz="1030" b="0">
                <a:solidFill>
                  <a:srgbClr val="1B3150"/>
                </a:solidFill>
                <a:latin typeface="페이퍼로지 4 Regular"/>
              </a:rPr>
              <a:t>하며, </a:t>
            </a:r>
            <a:r>
              <a:rPr sz="1030" b="1">
                <a:solidFill>
                  <a:srgbClr val="FF4A1E"/>
                </a:solidFill>
                <a:latin typeface="페이퍼로지 7 Bold"/>
              </a:rPr>
              <a:t>실제 행동은 명시적 Rule과 사람의 승인</a:t>
            </a:r>
            <a:r>
              <a:rPr sz="1030" b="0">
                <a:solidFill>
                  <a:srgbClr val="1B3150"/>
                </a:solidFill>
                <a:latin typeface="페이퍼로지 4 Regular"/>
              </a:rPr>
              <a:t>으로 통제한다.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기술 구조: STT → Feature → ML → LLM → Rule Engine. 모델별 책임을 분리해 설명가능성과 운영 통제를 확보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601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601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AI 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ML과 LLM의 역할을 분리해 신뢰성을 높인다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“LLM이 보이스피싱 여부를 마음대로 결정”하는 구조가 아니라, 예측·설명·행동 통제를 분리한다.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920240"/>
            <a:ext cx="5303520" cy="3456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2176272"/>
            <a:ext cx="1024128" cy="292608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176272"/>
            <a:ext cx="102412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B67FF"/>
                </a:solidFill>
                <a:latin typeface="페이퍼로지 7 Bold"/>
              </a:rPr>
              <a:t>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33472"/>
            <a:ext cx="473659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2242"/>
                </a:solidFill>
                <a:latin typeface="페이퍼로지 7 Bold"/>
              </a:rPr>
              <a:t>위험을 일관된 기준으로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1821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2B67FF"/>
                </a:solidFill>
                <a:latin typeface="페이퍼로지 7 Bold"/>
              </a:rPr>
              <a:t>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1821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사칭·권위·긴급성·요구행동 등 Feature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6393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6393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2B67FF"/>
                </a:solidFill>
                <a:latin typeface="페이퍼로지 7 Bold"/>
              </a:rPr>
              <a:t>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36393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위험확률·등급·Threshold 초과 여부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0965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0965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2B67FF"/>
                </a:solidFill>
                <a:latin typeface="페이퍼로지 7 Bold"/>
              </a:rPr>
              <a:t>평가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40965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Recall · F1 · PR-AUC · False Positive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5537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5537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2B67FF"/>
                </a:solidFill>
                <a:latin typeface="페이퍼로지 7 Bold"/>
              </a:rPr>
              <a:t>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344" y="45537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Train-only Feature selection · case 단위 분리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1920240"/>
            <a:ext cx="5303520" cy="3456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92240" y="2176272"/>
            <a:ext cx="1024128" cy="292608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2176272"/>
            <a:ext cx="102412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FF4A1E"/>
                </a:solidFill>
                <a:latin typeface="페이퍼로지 7 Bold"/>
              </a:rPr>
              <a:t>LARGE LANGUAGE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33472"/>
            <a:ext cx="473659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2242"/>
                </a:solidFill>
                <a:latin typeface="페이퍼로지 7 Bold"/>
              </a:rPr>
              <a:t>탐지 근거를 이해 가능한 언어로 전달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0528" y="31821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0528" y="31821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FF4A1E"/>
                </a:solidFill>
                <a:latin typeface="페이퍼로지 7 Bold"/>
              </a:rPr>
              <a:t>입력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31821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통화 핵심 문장 + ML 위험신호 + 거래 맥락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36393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36393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FF4A1E"/>
                </a:solidFill>
                <a:latin typeface="페이퍼로지 7 Bold"/>
              </a:rPr>
              <a:t>출력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5472" y="36393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상황 요약 · 위험근거 · 역할별 행동 브리프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0528" y="40965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10528" y="40965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FF4A1E"/>
                </a:solidFill>
                <a:latin typeface="페이퍼로지 7 Bold"/>
              </a:rPr>
              <a:t>금지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0965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단독 최종판정 · 근거 없는 기관 진위 단정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0528" y="4553712"/>
            <a:ext cx="566928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4553712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FF4A1E"/>
                </a:solidFill>
                <a:latin typeface="페이퍼로지 7 Bold"/>
              </a:rPr>
              <a:t>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5472" y="4553712"/>
            <a:ext cx="3886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1B3150"/>
                </a:solidFill>
                <a:latin typeface="페이퍼로지 4 Regular"/>
              </a:rPr>
              <a:t>근거 인용 · 템플릿 출력 · 최소정보 · 로그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011680" y="5577840"/>
            <a:ext cx="8165592" cy="4572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011680" y="5577840"/>
            <a:ext cx="8165592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페이퍼로지 7 Bold"/>
              </a:rPr>
              <a:t>최종 거래 조치는 “모델의 문장”이 아니라 Rule · 권한 · 사람의 승인으로 실행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기술 원칙: ML=분류, LLM=설명·브리프, Rule Engine=행동 통제. 성능 수치는 학습·검증 완료 후 최종본에 삽입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601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601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송금 로직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송금방지턱은 위험도만이 아니라 ‘위험 + 송금시도’에서 작동한다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경고 남발을 줄이기 위해 통화 위험과 실제 금융행동이 동시에 충족될 때 단계적으로 개입한다.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12848"/>
            <a:ext cx="1938528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98448" y="2432304"/>
            <a:ext cx="475488" cy="475488"/>
          </a:xfrm>
          <a:prstGeom prst="ellipse">
            <a:avLst/>
          </a:prstGeom>
          <a:solidFill>
            <a:srgbClr val="E9F3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98448" y="2432304"/>
            <a:ext cx="475488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B67FF"/>
                </a:solidFill>
                <a:latin typeface="페이퍼로지 7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026664"/>
            <a:ext cx="148132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0B2242"/>
                </a:solidFill>
                <a:latin typeface="페이퍼로지 7 Bold"/>
              </a:rPr>
              <a:t>통화 위험
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575304"/>
            <a:ext cx="148132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697D98"/>
                </a:solidFill>
                <a:latin typeface="페이퍼로지 4 Regular"/>
              </a:rPr>
              <a:t>ML 위험도
Threshold 초과</a:t>
            </a:r>
          </a:p>
        </p:txBody>
      </p:sp>
      <p:sp>
        <p:nvSpPr>
          <p:cNvPr id="16" name="Chevron 15"/>
          <p:cNvSpPr/>
          <p:nvPr/>
        </p:nvSpPr>
        <p:spPr>
          <a:xfrm>
            <a:off x="2532888" y="3072384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16352" y="2212848"/>
            <a:ext cx="1938528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547872" y="2432304"/>
            <a:ext cx="475488" cy="47548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432304"/>
            <a:ext cx="475488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4A1E"/>
                </a:solidFill>
                <a:latin typeface="페이퍼로지 7 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3026664"/>
            <a:ext cx="148132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0B2242"/>
                </a:solidFill>
                <a:latin typeface="페이퍼로지 7 Bold"/>
              </a:rPr>
              <a:t>송금 시도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4952" y="3575304"/>
            <a:ext cx="148132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697D98"/>
                </a:solidFill>
                <a:latin typeface="페이퍼로지 4 Regular"/>
              </a:rPr>
              <a:t>계좌·금액 입력
이체 버튼 직전</a:t>
            </a:r>
          </a:p>
        </p:txBody>
      </p:sp>
      <p:sp>
        <p:nvSpPr>
          <p:cNvPr id="22" name="Chevron 21"/>
          <p:cNvSpPr/>
          <p:nvPr/>
        </p:nvSpPr>
        <p:spPr>
          <a:xfrm>
            <a:off x="4782312" y="3072384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065776" y="2212848"/>
            <a:ext cx="1938528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797296" y="2432304"/>
            <a:ext cx="475488" cy="475488"/>
          </a:xfrm>
          <a:prstGeom prst="ellipse">
            <a:avLst/>
          </a:prstGeom>
          <a:solidFill>
            <a:srgbClr val="FFEFF2"/>
          </a:solidFill>
          <a:ln w="12700">
            <a:solidFill>
              <a:srgbClr val="CB3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97296" y="2432304"/>
            <a:ext cx="475488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B3944"/>
                </a:solidFill>
                <a:latin typeface="페이퍼로지 7 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026664"/>
            <a:ext cx="148132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0B2242"/>
                </a:solidFill>
                <a:latin typeface="페이퍼로지 7 Bold"/>
              </a:rPr>
              <a:t>일시 보류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3575304"/>
            <a:ext cx="148132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697D98"/>
                </a:solidFill>
                <a:latin typeface="페이퍼로지 4 Regular"/>
              </a:rPr>
              <a:t>거래 상태 HOLD
타이머·안내</a:t>
            </a:r>
          </a:p>
        </p:txBody>
      </p:sp>
      <p:sp>
        <p:nvSpPr>
          <p:cNvPr id="28" name="Chevron 27"/>
          <p:cNvSpPr/>
          <p:nvPr/>
        </p:nvSpPr>
        <p:spPr>
          <a:xfrm>
            <a:off x="7031736" y="3072384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15200" y="2212848"/>
            <a:ext cx="1938528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046720" y="2432304"/>
            <a:ext cx="475488" cy="475488"/>
          </a:xfrm>
          <a:prstGeom prst="ellipse">
            <a:avLst/>
          </a:prstGeom>
          <a:solidFill>
            <a:srgbClr val="E9F9F4"/>
          </a:solidFill>
          <a:ln w="12700">
            <a:solidFill>
              <a:srgbClr val="1D91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0" y="2432304"/>
            <a:ext cx="475488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D9173"/>
                </a:solidFill>
                <a:latin typeface="페이퍼로지 7 Bol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026664"/>
            <a:ext cx="148132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0B2242"/>
                </a:solidFill>
                <a:latin typeface="페이퍼로지 7 Bold"/>
              </a:rPr>
              <a:t>공동 검토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575304"/>
            <a:ext cx="148132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697D98"/>
                </a:solidFill>
                <a:latin typeface="페이퍼로지 4 Regular"/>
              </a:rPr>
              <a:t>신뢰인 승인·거절
금융기관 추가확인</a:t>
            </a:r>
          </a:p>
        </p:txBody>
      </p:sp>
      <p:sp>
        <p:nvSpPr>
          <p:cNvPr id="34" name="Chevron 33"/>
          <p:cNvSpPr/>
          <p:nvPr/>
        </p:nvSpPr>
        <p:spPr>
          <a:xfrm>
            <a:off x="9281160" y="3072384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564624" y="2212848"/>
            <a:ext cx="1938528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296144" y="2432304"/>
            <a:ext cx="475488" cy="475488"/>
          </a:xfrm>
          <a:prstGeom prst="ellipse">
            <a:avLst/>
          </a:prstGeom>
          <a:solidFill>
            <a:srgbClr val="E9F3FF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296144" y="2432304"/>
            <a:ext cx="475488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B2242"/>
                </a:solidFill>
                <a:latin typeface="페이퍼로지 7 Bold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93224" y="3026664"/>
            <a:ext cx="148132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0B2242"/>
                </a:solidFill>
                <a:latin typeface="페이퍼로지 7 Bold"/>
              </a:rPr>
              <a:t>결과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93224" y="3575304"/>
            <a:ext cx="148132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697D98"/>
                </a:solidFill>
                <a:latin typeface="페이퍼로지 4 Regular"/>
              </a:rPr>
              <a:t>승인 → 진행
거절 → 차단·안내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70916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" y="4882896"/>
            <a:ext cx="292608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2B67FF"/>
                </a:solidFill>
                <a:latin typeface="페이퍼로지 7 Bold"/>
              </a:rPr>
              <a:t>오탐 최소화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230368"/>
            <a:ext cx="292608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B3150"/>
                </a:solidFill>
                <a:latin typeface="페이퍼로지 4 Regular"/>
              </a:rPr>
              <a:t>위험도만으로 강제 차단하지 않고
금융행동 이벤트와 결합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89120" y="470916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45152" y="4882896"/>
            <a:ext cx="292608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1D9173"/>
                </a:solidFill>
                <a:latin typeface="페이퍼로지 7 Bold"/>
              </a:rPr>
              <a:t>권한 분리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5152" y="5230368"/>
            <a:ext cx="292608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B3150"/>
                </a:solidFill>
                <a:latin typeface="페이퍼로지 4 Regular"/>
              </a:rPr>
              <a:t>신뢰인은 거래별 공동검토
금융기관은 보류·차단 권한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470916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11312" y="4882896"/>
            <a:ext cx="292608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FF4A1E"/>
                </a:solidFill>
                <a:latin typeface="페이퍼로지 7 Bold"/>
              </a:rPr>
              <a:t>Fail-safe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5230368"/>
            <a:ext cx="292608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B3150"/>
                </a:solidFill>
                <a:latin typeface="페이퍼로지 4 Regular"/>
              </a:rPr>
              <a:t>시간초과·신뢰인 미응답 시
금융기관 추가확인으로 전환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서비스 로직: 위험탐지와 송금시도를 결합한 단계적 개입. 실제 금융 연동 시 법·약관·금융회사 권한 설계 필요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23444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사용자 시나리오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검찰 사칭 통화 — 송금 직전까지 어떻게 보호하는가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피해자가 이미 상대의 설명을 믿은 상황을 가정하고, 탐지 이후 실제 금융행동까지의 개입 흐름을 보여준다.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12064" y="2194560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통화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“범죄에 연루됐다”
검찰 사칭·공포 유발</a:t>
            </a:r>
          </a:p>
        </p:txBody>
      </p:sp>
      <p:sp>
        <p:nvSpPr>
          <p:cNvPr id="16" name="Chevron 15"/>
          <p:cNvSpPr/>
          <p:nvPr/>
        </p:nvSpPr>
        <p:spPr>
          <a:xfrm>
            <a:off x="2011680" y="3154680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295144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459736" y="2194560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59736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9736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AI 탐지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9736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권위·긴급성·
비밀유지 신호 탐지</a:t>
            </a:r>
          </a:p>
        </p:txBody>
      </p:sp>
      <p:sp>
        <p:nvSpPr>
          <p:cNvPr id="22" name="Chevron 21"/>
          <p:cNvSpPr/>
          <p:nvPr/>
        </p:nvSpPr>
        <p:spPr>
          <a:xfrm>
            <a:off x="3959352" y="3154680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42816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407407" y="2194560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07407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브리프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7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“공식기관은 안전계좌
송금을 요구하지 않음”</a:t>
            </a:r>
          </a:p>
        </p:txBody>
      </p:sp>
      <p:sp>
        <p:nvSpPr>
          <p:cNvPr id="28" name="Chevron 27"/>
          <p:cNvSpPr/>
          <p:nvPr/>
        </p:nvSpPr>
        <p:spPr>
          <a:xfrm>
            <a:off x="5907024" y="3154680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190488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5079" y="2194560"/>
            <a:ext cx="365760" cy="365760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79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송금 시도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피해자가 앱에서
3,000만원 이체 시도</a:t>
            </a:r>
          </a:p>
        </p:txBody>
      </p:sp>
      <p:sp>
        <p:nvSpPr>
          <p:cNvPr id="34" name="Chevron 33"/>
          <p:cNvSpPr/>
          <p:nvPr/>
        </p:nvSpPr>
        <p:spPr>
          <a:xfrm>
            <a:off x="7854696" y="3154680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138160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302752" y="2194560"/>
            <a:ext cx="365760" cy="365760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02752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CB3944"/>
                </a:solidFill>
                <a:latin typeface="페이퍼로지 7 Bol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방지턱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거래 HOLD
신뢰인 공동검토</a:t>
            </a:r>
          </a:p>
        </p:txBody>
      </p:sp>
      <p:sp>
        <p:nvSpPr>
          <p:cNvPr id="40" name="Chevron 39"/>
          <p:cNvSpPr/>
          <p:nvPr/>
        </p:nvSpPr>
        <p:spPr>
          <a:xfrm>
            <a:off x="9802368" y="3154680"/>
            <a:ext cx="237744" cy="164592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085832" y="1993392"/>
            <a:ext cx="1636776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250424" y="2194560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50424" y="2194560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0B2242"/>
                </a:solidFill>
                <a:latin typeface="페이퍼로지 7 Bold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50424" y="2816352"/>
            <a:ext cx="1298448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0B2242"/>
                </a:solidFill>
                <a:latin typeface="페이퍼로지 7 Bold"/>
              </a:rPr>
              <a:t>검증 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50424" y="3273552"/>
            <a:ext cx="1298448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0" b="0">
                <a:solidFill>
                  <a:srgbClr val="697D98"/>
                </a:solidFill>
                <a:latin typeface="페이퍼로지 4 Regular"/>
              </a:rPr>
              <a:t>거절·금융기관 확인
통화 종료·신고 안내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0160" y="5394960"/>
            <a:ext cx="9646920" cy="566928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80160" y="5394960"/>
            <a:ext cx="964692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페이퍼로지 7 Bold"/>
              </a:rPr>
              <a:t>핵심 변화  |  “피해자가 경고를 믿을지”에만 의존하지 않고, 거래가 피해로 전환되기 전에 외부 검증을 강제로 한 번 더 삽입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시나리오: 기관사칭형 대화 연구와 금융위원회 실제 탐지사례를 기반으로 구성한 서비스 이용 예시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7315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7315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MVP는 4개 화면으로 핵심 가설을 검증한다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“탐지 정확도”뿐 아니라, 근거 전달·공동검토·거래보류가 실제 사용자 흐름에서 작동하는지 검증한다.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47088"/>
            <a:ext cx="2359152" cy="36393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04672" y="2011680"/>
            <a:ext cx="2121408" cy="3255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517904" y="1901952"/>
            <a:ext cx="694944" cy="82296"/>
          </a:xfrm>
          <a:prstGeom prst="roundRect">
            <a:avLst>
              <a:gd name="adj" fmla="val 8000"/>
            </a:avLst>
          </a:prstGeom>
          <a:solidFill>
            <a:srgbClr val="6A7E97"/>
          </a:solidFill>
          <a:ln w="12700">
            <a:solidFill>
              <a:srgbClr val="6A7E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87552" y="2267712"/>
            <a:ext cx="475488" cy="22860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2267712"/>
            <a:ext cx="4754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2624328"/>
            <a:ext cx="1755648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통화 위험 분석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4983" y="3246120"/>
            <a:ext cx="1700785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14983" y="3456432"/>
            <a:ext cx="1700784" cy="960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697D98"/>
                </a:solidFill>
                <a:latin typeface="페이퍼로지 4 Regular"/>
              </a:rPr>
              <a:t>실시간 위험도
근거 문장 3개
즉시 행동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6424" y="4709160"/>
            <a:ext cx="1517904" cy="347472"/>
          </a:xfrm>
          <a:prstGeom prst="roundRect">
            <a:avLst>
              <a:gd name="adj" fmla="val 8000"/>
            </a:avLst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06424" y="4709160"/>
            <a:ext cx="151790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>
                <a:solidFill>
                  <a:srgbClr val="FFFFFF"/>
                </a:solidFill>
                <a:latin typeface="페이퍼로지 7 Bold"/>
              </a:rPr>
              <a:t>핵심 행동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1847088"/>
            <a:ext cx="2359152" cy="36393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93591" y="2011680"/>
            <a:ext cx="2121408" cy="3255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306824" y="1901952"/>
            <a:ext cx="694944" cy="82296"/>
          </a:xfrm>
          <a:prstGeom prst="roundRect">
            <a:avLst>
              <a:gd name="adj" fmla="val 8000"/>
            </a:avLst>
          </a:prstGeom>
          <a:solidFill>
            <a:srgbClr val="6A7E97"/>
          </a:solidFill>
          <a:ln w="12700">
            <a:solidFill>
              <a:srgbClr val="6A7E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776472" y="2267712"/>
            <a:ext cx="475488" cy="228600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76472" y="2267712"/>
            <a:ext cx="4754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" b="1">
                <a:solidFill>
                  <a:srgbClr val="FF4A1E"/>
                </a:solidFill>
                <a:latin typeface="페이퍼로지 7 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624328"/>
            <a:ext cx="1755648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송금 일시 보류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03904" y="3246120"/>
            <a:ext cx="1700784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03904" y="3456432"/>
            <a:ext cx="1700784" cy="960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697D98"/>
                </a:solidFill>
                <a:latin typeface="페이퍼로지 4 Regular"/>
              </a:rPr>
              <a:t>금액·계좌 표시
보류 사유
검토 요청 상태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95344" y="4709160"/>
            <a:ext cx="1517904" cy="347472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95344" y="4709160"/>
            <a:ext cx="151790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>
                <a:solidFill>
                  <a:srgbClr val="FFFFFF"/>
                </a:solidFill>
                <a:latin typeface="페이퍼로지 7 Bold"/>
              </a:rPr>
              <a:t>핵심 행동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1847088"/>
            <a:ext cx="2359152" cy="36393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382512" y="2011680"/>
            <a:ext cx="2121408" cy="3255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095744" y="1901952"/>
            <a:ext cx="694944" cy="82296"/>
          </a:xfrm>
          <a:prstGeom prst="roundRect">
            <a:avLst>
              <a:gd name="adj" fmla="val 8000"/>
            </a:avLst>
          </a:prstGeom>
          <a:solidFill>
            <a:srgbClr val="6A7E97"/>
          </a:solidFill>
          <a:ln w="12700">
            <a:solidFill>
              <a:srgbClr val="6A7E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565392" y="2267712"/>
            <a:ext cx="475488" cy="22860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65392" y="2267712"/>
            <a:ext cx="4754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" b="1">
                <a:solidFill>
                  <a:srgbClr val="1D9173"/>
                </a:solidFill>
                <a:latin typeface="페이퍼로지 7 Bold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2624328"/>
            <a:ext cx="1755648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신뢰인 공동검토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92824" y="3246120"/>
            <a:ext cx="1700784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592824" y="3456432"/>
            <a:ext cx="1700784" cy="960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697D98"/>
                </a:solidFill>
                <a:latin typeface="페이퍼로지 4 Regular"/>
              </a:rPr>
              <a:t>상황 5줄 요약
승인·거절
통화 요청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84264" y="4709160"/>
            <a:ext cx="1517904" cy="347472"/>
          </a:xfrm>
          <a:prstGeom prst="roundRect">
            <a:avLst>
              <a:gd name="adj" fmla="val 8000"/>
            </a:avLst>
          </a:prstGeom>
          <a:solidFill>
            <a:srgbClr val="1D9173"/>
          </a:solidFill>
          <a:ln w="12700">
            <a:solidFill>
              <a:srgbClr val="1D91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84264" y="4709160"/>
            <a:ext cx="151790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>
                <a:solidFill>
                  <a:srgbClr val="FFFFFF"/>
                </a:solidFill>
                <a:latin typeface="페이퍼로지 7 Bold"/>
              </a:rPr>
              <a:t>핵심 행동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59" y="1847088"/>
            <a:ext cx="2359152" cy="36393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9171432" y="2011680"/>
            <a:ext cx="2121408" cy="3255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884663" y="1901952"/>
            <a:ext cx="694944" cy="82296"/>
          </a:xfrm>
          <a:prstGeom prst="roundRect">
            <a:avLst>
              <a:gd name="adj" fmla="val 8000"/>
            </a:avLst>
          </a:prstGeom>
          <a:solidFill>
            <a:srgbClr val="6A7E97"/>
          </a:solidFill>
          <a:ln w="12700">
            <a:solidFill>
              <a:srgbClr val="6A7E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354311" y="2267712"/>
            <a:ext cx="475488" cy="22860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54311" y="2267712"/>
            <a:ext cx="47548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" b="1">
                <a:solidFill>
                  <a:srgbClr val="0B2242"/>
                </a:solidFill>
                <a:latin typeface="페이퍼로지 7 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1" y="2624328"/>
            <a:ext cx="1755648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1">
                <a:solidFill>
                  <a:srgbClr val="0B2242"/>
                </a:solidFill>
                <a:latin typeface="페이퍼로지 7 Bold"/>
              </a:rPr>
              <a:t>금융기관 브리프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381743" y="3246120"/>
            <a:ext cx="1700785" cy="0"/>
          </a:xfrm>
          <a:prstGeom prst="line">
            <a:avLst/>
          </a:prstGeom>
          <a:ln w="1270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381743" y="3456432"/>
            <a:ext cx="1700784" cy="960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697D98"/>
                </a:solidFill>
                <a:latin typeface="페이퍼로지 4 Regular"/>
              </a:rPr>
              <a:t>거래위험·요구금액
탐지근거
추가확인·차단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73184" y="4709160"/>
            <a:ext cx="1517904" cy="34747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73184" y="4709160"/>
            <a:ext cx="151790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>
                <a:solidFill>
                  <a:srgbClr val="FFFFFF"/>
                </a:solidFill>
                <a:latin typeface="페이퍼로지 7 Bold"/>
              </a:rPr>
              <a:t>핵심 행동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MVP 화면 범위: 통화 분석 · 거래보류 · 신뢰인 검토 · 금융기관 브리프. 실제 은행 API는 데모에서 모의 연동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109728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109728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실현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MVP와 실제 금융 연동의 범위를 분리한다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공모전에서는 작동하는 보호 흐름을 검증하고, 상용화 단계에서는 금융·통신·기관 API와 법적 권한을 연결한다.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01952"/>
            <a:ext cx="5285232" cy="3639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2139696"/>
            <a:ext cx="1005840" cy="274320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139696"/>
            <a:ext cx="10058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>
                <a:solidFill>
                  <a:srgbClr val="2B67FF"/>
                </a:solidFill>
                <a:latin typeface="페이퍼로지 7 Bold"/>
              </a:rPr>
              <a:t>MVP ·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78608"/>
            <a:ext cx="466344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2242"/>
                </a:solidFill>
                <a:latin typeface="페이퍼로지 7 Bold"/>
              </a:rPr>
              <a:t>현재 구현 가능한 범위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2724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52144" y="306324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녹음/실시간 음성 STT 및 화자 구분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349300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52144" y="342900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ML 위험분류 + 근거 Feature 표시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385876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52144" y="379476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LLM 역할별 브리프 자동 생성</a:t>
            </a:r>
          </a:p>
        </p:txBody>
      </p:sp>
      <p:sp>
        <p:nvSpPr>
          <p:cNvPr id="21" name="Oval 20"/>
          <p:cNvSpPr/>
          <p:nvPr/>
        </p:nvSpPr>
        <p:spPr>
          <a:xfrm>
            <a:off x="932688" y="422452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52144" y="416052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웹 기반 신뢰인 승인·거절 흐름</a:t>
            </a:r>
          </a:p>
        </p:txBody>
      </p:sp>
      <p:sp>
        <p:nvSpPr>
          <p:cNvPr id="23" name="Oval 22"/>
          <p:cNvSpPr/>
          <p:nvPr/>
        </p:nvSpPr>
        <p:spPr>
          <a:xfrm>
            <a:off x="932688" y="459028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52144" y="452628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송금보류·금융기관 조치의 모의 API</a:t>
            </a:r>
          </a:p>
        </p:txBody>
      </p:sp>
      <p:sp>
        <p:nvSpPr>
          <p:cNvPr id="25" name="Oval 24"/>
          <p:cNvSpPr/>
          <p:nvPr/>
        </p:nvSpPr>
        <p:spPr>
          <a:xfrm>
            <a:off x="932688" y="4956048"/>
            <a:ext cx="109728" cy="109728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52144" y="489204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로그·대시보드·시나리오 테스트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1901952"/>
            <a:ext cx="5285232" cy="3639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92240" y="2139696"/>
            <a:ext cx="1234440" cy="274320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2139696"/>
            <a:ext cx="12344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>
                <a:solidFill>
                  <a:srgbClr val="FF4A1E"/>
                </a:solidFill>
                <a:latin typeface="페이퍼로지 7 Bold"/>
              </a:rPr>
              <a:t>DEPLOY ·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78608"/>
            <a:ext cx="466344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2242"/>
                </a:solidFill>
                <a:latin typeface="페이퍼로지 7 Bold"/>
              </a:rPr>
              <a:t>실서비스에 필요한 연동</a:t>
            </a:r>
          </a:p>
        </p:txBody>
      </p:sp>
      <p:sp>
        <p:nvSpPr>
          <p:cNvPr id="31" name="Oval 30"/>
          <p:cNvSpPr/>
          <p:nvPr/>
        </p:nvSpPr>
        <p:spPr>
          <a:xfrm>
            <a:off x="6510528" y="312724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29984" y="306324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통신사 통화 분석 권한·온디바이스 처리</a:t>
            </a:r>
          </a:p>
        </p:txBody>
      </p:sp>
      <p:sp>
        <p:nvSpPr>
          <p:cNvPr id="33" name="Oval 32"/>
          <p:cNvSpPr/>
          <p:nvPr/>
        </p:nvSpPr>
        <p:spPr>
          <a:xfrm>
            <a:off x="6510528" y="349300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9984" y="342900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금융회사 이체 보류·해제 API 및 인증</a:t>
            </a:r>
          </a:p>
        </p:txBody>
      </p:sp>
      <p:sp>
        <p:nvSpPr>
          <p:cNvPr id="35" name="Oval 34"/>
          <p:cNvSpPr/>
          <p:nvPr/>
        </p:nvSpPr>
        <p:spPr>
          <a:xfrm>
            <a:off x="6510528" y="385876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9984" y="379476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신뢰인 사전등록·위임범위·철회 절차</a:t>
            </a:r>
          </a:p>
        </p:txBody>
      </p:sp>
      <p:sp>
        <p:nvSpPr>
          <p:cNvPr id="37" name="Oval 36"/>
          <p:cNvSpPr/>
          <p:nvPr/>
        </p:nvSpPr>
        <p:spPr>
          <a:xfrm>
            <a:off x="6510528" y="422452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9984" y="416052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공식기관 진위확인 채널·업무협약</a:t>
            </a:r>
          </a:p>
        </p:txBody>
      </p:sp>
      <p:sp>
        <p:nvSpPr>
          <p:cNvPr id="39" name="Oval 38"/>
          <p:cNvSpPr/>
          <p:nvPr/>
        </p:nvSpPr>
        <p:spPr>
          <a:xfrm>
            <a:off x="6510528" y="459028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29984" y="452628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통신사기피해환급법·약관·책임구조 검토</a:t>
            </a:r>
          </a:p>
        </p:txBody>
      </p:sp>
      <p:sp>
        <p:nvSpPr>
          <p:cNvPr id="41" name="Oval 40"/>
          <p:cNvSpPr/>
          <p:nvPr/>
        </p:nvSpPr>
        <p:spPr>
          <a:xfrm>
            <a:off x="6510528" y="4956048"/>
            <a:ext cx="109728" cy="109728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29984" y="4892040"/>
            <a:ext cx="425196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보안·개인정보 영향평가와 운영 모니터링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70432" y="5742432"/>
            <a:ext cx="9857232" cy="39319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70432" y="5742432"/>
            <a:ext cx="9857232" cy="3931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B2242"/>
                </a:solidFill>
                <a:latin typeface="페이퍼로지 7 Bold"/>
              </a:rPr>
              <a:t>현실성의 핵심  |  MVP는 “서비스 흐름의 유효성”을 증명하고, 강제 거래개입은 금융기관과의 제도·API 연동 단계에서 구현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실현 가능성 구분: 현재 기술로 구현 가능한 분석·브리프·워크플로우와, 상용화에 필요한 금융·통신 제도 연동을 분리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601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601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성과 지표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성과는 ‘탐지 정확도’가 아니라 피해 전환 차단으로 측정한다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모델·서비스·금융보호·신뢰의 지표를 함께 봐야 실제 효과와 부작용을 동시에 관리할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057400"/>
            <a:ext cx="2002536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2249424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249424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2B67FF"/>
                </a:solidFill>
                <a:latin typeface="페이퍼로지 7 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98064"/>
            <a:ext cx="167335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모델 성능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28416"/>
            <a:ext cx="1673352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Recall · F1 · PR-AUC
오탐률 · 탐지 지연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16552"/>
            <a:ext cx="1216152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416552"/>
            <a:ext cx="121615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2B67FF"/>
                </a:solidFill>
                <a:latin typeface="페이퍼로지 7 Bold"/>
              </a:rPr>
              <a:t>운영 대시보드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07208" y="2057400"/>
            <a:ext cx="2002536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971800" y="2249424"/>
            <a:ext cx="365760" cy="365760"/>
          </a:xfrm>
          <a:prstGeom prst="ellipse">
            <a:avLst/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71800" y="2249424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1D9173"/>
                </a:solidFill>
                <a:latin typeface="페이퍼로지 7 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798064"/>
            <a:ext cx="167335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검증 흐름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328416"/>
            <a:ext cx="1673352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신뢰인 응답률
평균 검토시간 · 미응답률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4416552"/>
            <a:ext cx="1216152" cy="256032"/>
          </a:xfrm>
          <a:prstGeom prst="roundRect">
            <a:avLst>
              <a:gd name="adj" fmla="val 8000"/>
            </a:avLst>
          </a:prstGeom>
          <a:solidFill>
            <a:srgbClr val="E9F9F4"/>
          </a:solidFill>
          <a:ln w="1016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4416552"/>
            <a:ext cx="121615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1D9173"/>
                </a:solidFill>
                <a:latin typeface="페이퍼로지 7 Bold"/>
              </a:rPr>
              <a:t>운영 대시보드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38927" y="2057400"/>
            <a:ext cx="2002536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303519" y="2249424"/>
            <a:ext cx="365760" cy="365760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19" y="2249424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4A1E"/>
                </a:solidFill>
                <a:latin typeface="페이퍼로지 7 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19" y="2798064"/>
            <a:ext cx="167335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피해 차단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19" y="3328416"/>
            <a:ext cx="1673352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보류 후 취소율
차단 건수·예방 금액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19" y="4416552"/>
            <a:ext cx="1216152" cy="25603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016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32119" y="4416552"/>
            <a:ext cx="121615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FF4A1E"/>
                </a:solidFill>
                <a:latin typeface="페이퍼로지 7 Bold"/>
              </a:rPr>
              <a:t>운영 대시보드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70648" y="2057400"/>
            <a:ext cx="2002536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635240" y="2249424"/>
            <a:ext cx="365760" cy="365760"/>
          </a:xfrm>
          <a:prstGeom prst="ellipse">
            <a:avLst/>
          </a:prstGeom>
          <a:solidFill>
            <a:srgbClr val="FFF8E3"/>
          </a:solidFill>
          <a:ln w="1270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35240" y="2249424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E19D14"/>
                </a:solidFill>
                <a:latin typeface="페이퍼로지 7 Bold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798064"/>
            <a:ext cx="167335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고객 영향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3328416"/>
            <a:ext cx="1673352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정상거래 불편률
재시도·이탈 · 만족도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63840" y="4416552"/>
            <a:ext cx="1216152" cy="256032"/>
          </a:xfrm>
          <a:prstGeom prst="roundRect">
            <a:avLst>
              <a:gd name="adj" fmla="val 8000"/>
            </a:avLst>
          </a:prstGeom>
          <a:solidFill>
            <a:srgbClr val="FFF8E3"/>
          </a:solidFill>
          <a:ln w="1016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0" y="4416552"/>
            <a:ext cx="121615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E19D14"/>
                </a:solidFill>
                <a:latin typeface="페이퍼로지 7 Bold"/>
              </a:rPr>
              <a:t>운영 대시보드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7" y="2057400"/>
            <a:ext cx="2002536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966959" y="2249424"/>
            <a:ext cx="365760" cy="3657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966959" y="2249424"/>
            <a:ext cx="365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0B2242"/>
                </a:solidFill>
                <a:latin typeface="페이퍼로지 7 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59" y="2798064"/>
            <a:ext cx="1673352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2242"/>
                </a:solidFill>
                <a:latin typeface="페이퍼로지 7 Bold"/>
              </a:rPr>
              <a:t>신뢰·보안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59" y="3328416"/>
            <a:ext cx="1673352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697D98"/>
                </a:solidFill>
                <a:latin typeface="페이퍼로지 4 Regular"/>
              </a:rPr>
              <a:t>개인정보 최소화
감사로그 · 이의제기 처리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59" y="4416552"/>
            <a:ext cx="1216152" cy="25603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95559" y="4416552"/>
            <a:ext cx="1216152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1">
                <a:solidFill>
                  <a:srgbClr val="0B2242"/>
                </a:solidFill>
                <a:latin typeface="페이퍼로지 7 Bold"/>
              </a:rPr>
              <a:t>운영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" y="5321808"/>
            <a:ext cx="9738360" cy="57607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34440" y="5321808"/>
            <a:ext cx="9738360" cy="5760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페이퍼로지 7 Bold"/>
              </a:rPr>
              <a:t>North Star Metric  |  “보이스피싱 위험 통화가 실제 송금 피해로 전환되는 비율” 감소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성과평가 제안: 분류모델 성능과 거래·사용자 지표를 결합해 탐지 효과와 정상거래 불편을 함께 측정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6012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601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리스크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강한 개입일수록, 더 강한 통제 원칙이 필요하다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송금보류와 제3자 공동검토는 피해를 막을 수 있지만, 오탐·프라이버시·권한남용 위험을 함께 설계해야 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938528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2039112"/>
            <a:ext cx="2944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오탐·정상거래 지연</a:t>
            </a:r>
          </a:p>
        </p:txBody>
      </p:sp>
      <p:sp>
        <p:nvSpPr>
          <p:cNvPr id="13" name="Chevron 12"/>
          <p:cNvSpPr/>
          <p:nvPr/>
        </p:nvSpPr>
        <p:spPr>
          <a:xfrm>
            <a:off x="4270248" y="2139696"/>
            <a:ext cx="402336" cy="201168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28032" y="1938528"/>
            <a:ext cx="6583680" cy="60350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74920" y="2020824"/>
            <a:ext cx="60807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B67FF"/>
                </a:solidFill>
                <a:latin typeface="페이퍼로지 7 Bold"/>
              </a:rPr>
              <a:t>위험+송금시도 이중조건
단계적 개입·즉시 이의제기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697480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2798064"/>
            <a:ext cx="2944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개인정보 과다공유</a:t>
            </a:r>
          </a:p>
        </p:txBody>
      </p:sp>
      <p:sp>
        <p:nvSpPr>
          <p:cNvPr id="18" name="Chevron 17"/>
          <p:cNvSpPr/>
          <p:nvPr/>
        </p:nvSpPr>
        <p:spPr>
          <a:xfrm>
            <a:off x="4270248" y="2898648"/>
            <a:ext cx="402336" cy="201168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28032" y="2697480"/>
            <a:ext cx="6583680" cy="603504"/>
          </a:xfrm>
          <a:prstGeom prst="roundRect">
            <a:avLst>
              <a:gd name="adj" fmla="val 8000"/>
            </a:avLst>
          </a:prstGeom>
          <a:solidFill>
            <a:srgbClr val="E9F9F4"/>
          </a:solidFill>
          <a:ln w="12700">
            <a:solidFill>
              <a:srgbClr val="E9F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2779776"/>
            <a:ext cx="60807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1D9173"/>
                </a:solidFill>
                <a:latin typeface="페이퍼로지 7 Bold"/>
              </a:rPr>
              <a:t>역할별 최소정보
원문 대신 구조화 요약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456432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3557016"/>
            <a:ext cx="2944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신뢰인 권한 남용</a:t>
            </a:r>
          </a:p>
        </p:txBody>
      </p:sp>
      <p:sp>
        <p:nvSpPr>
          <p:cNvPr id="23" name="Chevron 22"/>
          <p:cNvSpPr/>
          <p:nvPr/>
        </p:nvSpPr>
        <p:spPr>
          <a:xfrm>
            <a:off x="4270248" y="3657600"/>
            <a:ext cx="402336" cy="201168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828032" y="3456432"/>
            <a:ext cx="6583680" cy="603504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74920" y="3538728"/>
            <a:ext cx="60807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FF4A1E"/>
                </a:solidFill>
                <a:latin typeface="페이퍼로지 7 Bold"/>
              </a:rPr>
              <a:t>거래별 한정 승인
사전등록·철회·감사로그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215383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4315968"/>
            <a:ext cx="2944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AI 설명 오류</a:t>
            </a:r>
          </a:p>
        </p:txBody>
      </p:sp>
      <p:sp>
        <p:nvSpPr>
          <p:cNvPr id="28" name="Chevron 27"/>
          <p:cNvSpPr/>
          <p:nvPr/>
        </p:nvSpPr>
        <p:spPr>
          <a:xfrm>
            <a:off x="4270248" y="4416551"/>
            <a:ext cx="402336" cy="201168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28032" y="4215383"/>
            <a:ext cx="6583680" cy="603504"/>
          </a:xfrm>
          <a:prstGeom prst="roundRect">
            <a:avLst>
              <a:gd name="adj" fmla="val 8000"/>
            </a:avLst>
          </a:prstGeom>
          <a:solidFill>
            <a:srgbClr val="FFEFF2"/>
          </a:solidFill>
          <a:ln w="12700">
            <a:solidFill>
              <a:srgbClr val="FF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74920" y="4297679"/>
            <a:ext cx="60807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CB3944"/>
                </a:solidFill>
                <a:latin typeface="페이퍼로지 7 Bold"/>
              </a:rPr>
              <a:t>ML 근거와 원문 인용
템플릿 출력·진위 단정 금지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974336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5074920"/>
            <a:ext cx="2944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0B2242"/>
                </a:solidFill>
                <a:latin typeface="페이퍼로지 7 Bold"/>
              </a:rPr>
              <a:t>미응답·서비스 장애</a:t>
            </a:r>
          </a:p>
        </p:txBody>
      </p:sp>
      <p:sp>
        <p:nvSpPr>
          <p:cNvPr id="33" name="Chevron 32"/>
          <p:cNvSpPr/>
          <p:nvPr/>
        </p:nvSpPr>
        <p:spPr>
          <a:xfrm>
            <a:off x="4270248" y="5175503"/>
            <a:ext cx="402336" cy="201168"/>
          </a:xfrm>
          <a:prstGeom prst="chevron">
            <a:avLst/>
          </a:prstGeom>
          <a:solidFill>
            <a:srgbClr val="2B67FF"/>
          </a:solidFill>
          <a:ln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828032" y="4974336"/>
            <a:ext cx="6583680" cy="603504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74920" y="5056631"/>
            <a:ext cx="60807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0B2242"/>
                </a:solidFill>
                <a:latin typeface="페이퍼로지 7 Bold"/>
              </a:rPr>
              <a:t>시간초과 시 금융기관 확인
Fail-safe·복구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9888" y="5806440"/>
            <a:ext cx="9418320" cy="39319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89888" y="5806440"/>
            <a:ext cx="9418320" cy="3931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페이퍼로지 7 Bold"/>
              </a:rPr>
              <a:t>원칙  |  필요한 순간에만 · 필요한 거래에만 · 필요한 정보와 권한만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리스크 통제안: 오탐, 개인정보, 신뢰인 권한, AI 설명, 서비스 장애를 사전 통제하는 운영·기술 원칙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29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6304" y="173736"/>
            <a:ext cx="1554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페이퍼로지 7 Bold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078992"/>
            <a:ext cx="10268712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FFFFFF"/>
                </a:solidFill>
                <a:latin typeface="페이퍼로지 4 Regular"/>
              </a:rPr>
              <a:t>판단을 대신하지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26871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0">
                <a:solidFill>
                  <a:srgbClr val="FFFFFF"/>
                </a:solidFill>
                <a:latin typeface="페이퍼로지 4 Regular"/>
              </a:rPr>
              <a:t>피해로 연결되기 전에
</a:t>
            </a:r>
            <a:r>
              <a:rPr sz="3100" b="1">
                <a:solidFill>
                  <a:srgbClr val="FF4A1E"/>
                </a:solidFill>
                <a:latin typeface="페이퍼로지 7 Bold"/>
              </a:rPr>
              <a:t>한 번 더 멈춘다.</a:t>
            </a:r>
          </a:p>
        </p:txBody>
      </p:sp>
      <p:sp>
        <p:nvSpPr>
          <p:cNvPr id="6" name="Oval 5"/>
          <p:cNvSpPr/>
          <p:nvPr/>
        </p:nvSpPr>
        <p:spPr>
          <a:xfrm>
            <a:off x="2880360" y="3218688"/>
            <a:ext cx="804672" cy="804672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80360" y="3218688"/>
            <a:ext cx="804672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페이퍼로지 7 Bold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4187952"/>
            <a:ext cx="168249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CADCF0"/>
                </a:solidFill>
                <a:latin typeface="페이퍼로지 7 Bold"/>
              </a:rPr>
              <a:t>위험 탐지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21608" y="3621024"/>
            <a:ext cx="1216152" cy="0"/>
          </a:xfrm>
          <a:prstGeom prst="line">
            <a:avLst/>
          </a:prstGeom>
          <a:ln w="20320">
            <a:solidFill>
              <a:srgbClr val="3F5E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029200" y="3218688"/>
            <a:ext cx="804672" cy="804672"/>
          </a:xfrm>
          <a:prstGeom prst="ellipse">
            <a:avLst/>
          </a:prstGeom>
          <a:solidFill>
            <a:srgbClr val="1D9173"/>
          </a:solidFill>
          <a:ln w="12700">
            <a:solidFill>
              <a:srgbClr val="1D91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0" y="3218688"/>
            <a:ext cx="804672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페이퍼로지 7 Bold"/>
              </a:rPr>
              <a:t>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4187952"/>
            <a:ext cx="168249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CADCF0"/>
                </a:solidFill>
                <a:latin typeface="페이퍼로지 7 Bold"/>
              </a:rPr>
              <a:t>독립적 재확인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70448" y="3621024"/>
            <a:ext cx="1216152" cy="0"/>
          </a:xfrm>
          <a:prstGeom prst="line">
            <a:avLst/>
          </a:prstGeom>
          <a:ln w="20320">
            <a:solidFill>
              <a:srgbClr val="3F5E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178040" y="3218688"/>
            <a:ext cx="804672" cy="804672"/>
          </a:xfrm>
          <a:prstGeom prst="ellipse">
            <a:avLst/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3218688"/>
            <a:ext cx="804672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페이퍼로지 7 Bold"/>
              </a:rPr>
              <a:t>송금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7" y="4187952"/>
            <a:ext cx="168249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>
                <a:solidFill>
                  <a:srgbClr val="CADCF0"/>
                </a:solidFill>
                <a:latin typeface="페이퍼로지 7 Bold"/>
              </a:rPr>
              <a:t>금융 방지턱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55464"/>
            <a:ext cx="8357616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20" b="0">
                <a:solidFill>
                  <a:srgbClr val="D3E2F4"/>
                </a:solidFill>
                <a:latin typeface="페이퍼로지 4 Regular"/>
              </a:rPr>
              <a:t>AI가 위험을 탐지하고, 외부의 독립적인 주체가 상황을 검증하며,
검증이 끝날 때까지 위험한 금융거래를 잠시 보류하는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5779008"/>
            <a:ext cx="6245352" cy="457200"/>
          </a:xfrm>
          <a:prstGeom prst="roundRect">
            <a:avLst>
              <a:gd name="adj" fmla="val 8000"/>
            </a:avLst>
          </a:prstGeom>
          <a:solidFill>
            <a:srgbClr val="0A2B4E"/>
          </a:solidFill>
          <a:ln w="12700">
            <a:solidFill>
              <a:srgbClr val="254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71800" y="5779008"/>
            <a:ext cx="6245352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페이퍼로지 7 Bold"/>
              </a:rPr>
              <a:t>AI 독립검증형 송금방지턱  |  Team. 가드레일즈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304F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AFC2DA"/>
                </a:solidFill>
                <a:latin typeface="페이퍼로지 4 Regular"/>
              </a:rPr>
              <a:t>AI 독립검증 기반 보이스피싱 금융안전 서비스 제안서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FC2DA"/>
                </a:solidFill>
                <a:latin typeface="페이퍼로지 4 Regular"/>
              </a:rPr>
              <a:t>30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144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144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근거 지도 — 어떤 자료가 어떤 주장을 지지하는가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직접 실증, 보조 근거, 팀 자체 분석을 분리해 해석 범위를 명확히 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773936"/>
            <a:ext cx="530352" cy="4389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773936"/>
            <a:ext cx="530352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FFFFFF"/>
                </a:solidFill>
                <a:latin typeface="페이퍼로지 7 Bold"/>
              </a:rPr>
              <a:t>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1773936"/>
            <a:ext cx="3383280" cy="4389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70432" y="1773936"/>
            <a:ext cx="3383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FFFFFF"/>
                </a:solidFill>
                <a:latin typeface="페이퍼로지 7 Bold"/>
              </a:rPr>
              <a:t>자료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81728" y="1773936"/>
            <a:ext cx="4572000" cy="4389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81728" y="1773936"/>
            <a:ext cx="457200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FFFFFF"/>
                </a:solidFill>
                <a:latin typeface="페이퍼로지 7 Bold"/>
              </a:rPr>
              <a:t>직접 지지하는 주장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32" y="1773936"/>
            <a:ext cx="2157984" cy="43891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00032" y="1773936"/>
            <a:ext cx="2157984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FFFFFF"/>
                </a:solidFill>
                <a:latin typeface="페이퍼로지 7 Bold"/>
              </a:rPr>
              <a:t>사용 위치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304288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2350008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S1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70432" y="2304288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25296" y="2350008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한진수(2024) 성인 2,000명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2304288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36592" y="2350008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정서적 고통·금융역량 부족·고령·불안정 소득·과신과 금융사기 취약성의 관련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00032" y="2304288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54896" y="2350008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7·8P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962656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" y="3008376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S2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70432" y="2962656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25296" y="3008376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한은·금감원 2024 금융이해력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1728" y="2962656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3008376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20대·고령층의 금융이해력 및 금융행위의 상대적 취약 맥락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00032" y="2962656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54896" y="3008376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8P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621024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3666744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S3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70432" y="3621024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25296" y="3666744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최미정·유병준(2025)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81728" y="3621024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36592" y="3666744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고령층 디지털역량의 연령별 차이, 75세 이후 급격한 감소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0032" y="3621024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454896" y="3666744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8P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279392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1792" y="4325112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S4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4279392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225296" y="4325112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배승희 외(2023)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81728" y="4279392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736592" y="4325112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접근→위협→고립→수직관계→인출 유도→확인의 6단계 대화구조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00032" y="4279392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54896" y="4325112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9P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37759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4983479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S5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0432" y="4937759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4983479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이영은·서준배(2024)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81728" y="4937759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736592" y="4983479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신뢰·권위→공포→고립→자기통제 부족→판단오류 기제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400032" y="4937759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454896" y="4983479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9P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596127"/>
            <a:ext cx="530352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" y="5641847"/>
            <a:ext cx="420623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2B67FF"/>
                </a:solidFill>
                <a:latin typeface="페이퍼로지 7 Bold"/>
              </a:rPr>
              <a:t>T1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70432" y="5596127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225296" y="5641847"/>
            <a:ext cx="327355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Team Guardrails 자체 분석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681728" y="5596127"/>
            <a:ext cx="4572000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736592" y="5641847"/>
            <a:ext cx="4462272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판단환경 장악 신호, 긴급성·고립, 사칭·심리전략의 선행 경향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00032" y="5596127"/>
            <a:ext cx="2157984" cy="566928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454896" y="5641847"/>
            <a:ext cx="2048255" cy="4754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0">
                <a:solidFill>
                  <a:srgbClr val="1B3150"/>
                </a:solidFill>
                <a:latin typeface="페이퍼로지 4 Regular"/>
              </a:rPr>
              <a:t>10P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6327648"/>
            <a:ext cx="10533888" cy="292608"/>
          </a:xfrm>
          <a:prstGeom prst="roundRect">
            <a:avLst>
              <a:gd name="adj" fmla="val 8000"/>
            </a:avLst>
          </a:prstGeom>
          <a:solidFill>
            <a:srgbClr val="FFF8E3"/>
          </a:solidFill>
          <a:ln w="1270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22960" y="6327648"/>
            <a:ext cx="1053388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30" b="1">
                <a:solidFill>
                  <a:srgbClr val="E19D14"/>
                </a:solidFill>
                <a:latin typeface="페이퍼로지 7 Bold"/>
              </a:rPr>
              <a:t>주의: 20대의 “수사경험 부족 → 오판”은 직접 인과근거가 제한적이므로, 본문에서는 대표 맥락·보조근거로만 표현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Appendix — 근거와 해석 범위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31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144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144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공식자료 교차검증 — 기존 보호체계의 실제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기존 서비스 전체가 사용자 판단에만 의존한다는 뜻이 아니다. 직접 거래에 개입하는 보호수단도 존재한다.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783080"/>
            <a:ext cx="1335024" cy="4572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783080"/>
            <a:ext cx="1335024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FFFFFF"/>
                </a:solidFill>
                <a:latin typeface="페이퍼로지 7 Bold"/>
              </a:rPr>
              <a:t>대응수단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1783080"/>
            <a:ext cx="4389120" cy="4572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48256" y="1783080"/>
            <a:ext cx="4389120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FFFFFF"/>
                </a:solidFill>
                <a:latin typeface="페이퍼로지 7 Bold"/>
              </a:rPr>
              <a:t>공식자료에서 확인된 조치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7830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783080"/>
            <a:ext cx="2542032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FFFFFF"/>
                </a:solidFill>
                <a:latin typeface="페이퍼로지 7 Bold"/>
              </a:rPr>
              <a:t>주요 판단·개입 주체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1783080"/>
            <a:ext cx="2340864" cy="457200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72016" y="1783080"/>
            <a:ext cx="2340864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FFFFFF"/>
                </a:solidFill>
                <a:latin typeface="페이퍼로지 7 Bold"/>
              </a:rPr>
              <a:t>분류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359152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2414016"/>
            <a:ext cx="124358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SKT 에이닷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48256" y="2359152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93976" y="2414016"/>
            <a:ext cx="429768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AI 위험탐지·사용자 경고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2359152"/>
            <a:ext cx="254203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2414016"/>
            <a:ext cx="2450591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사용자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72016" y="2359152"/>
            <a:ext cx="23408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17736" y="2414016"/>
            <a:ext cx="224942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판단 지원형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0896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163824"/>
            <a:ext cx="124358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LG U+ 익시오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48256" y="3108960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93976" y="3163824"/>
            <a:ext cx="429768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통화패턴·성문 분석·사용자 알림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3108960"/>
            <a:ext cx="2542032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3163824"/>
            <a:ext cx="2450591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사용자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72016" y="3108960"/>
            <a:ext cx="2340864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17736" y="3163824"/>
            <a:ext cx="224942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판단 지원형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858768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2648" y="3913631"/>
            <a:ext cx="124358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SKT 가족 케어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48256" y="3858768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93976" y="3913631"/>
            <a:ext cx="429768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보호자에게 위험 알림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3858768"/>
            <a:ext cx="254203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3913631"/>
            <a:ext cx="2450591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사용자 + 보호자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72016" y="3858768"/>
            <a:ext cx="23408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17736" y="3913631"/>
            <a:ext cx="224942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제3자 알림형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08576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2648" y="4663440"/>
            <a:ext cx="124358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FDS Rule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48256" y="4608576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093976" y="4663440"/>
            <a:ext cx="429768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자동 거래지연 + 금융회사 직원 확인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4608576"/>
            <a:ext cx="2542032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29400" y="4663440"/>
            <a:ext cx="2450591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시스템 + 금융기관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72016" y="4608576"/>
            <a:ext cx="2340864" cy="6400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17736" y="4663440"/>
            <a:ext cx="224942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외부 개입형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5358384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2648" y="5413248"/>
            <a:ext cx="124358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>
                <a:solidFill>
                  <a:srgbClr val="2B67FF"/>
                </a:solidFill>
                <a:latin typeface="페이퍼로지 7 Bold"/>
              </a:rPr>
              <a:t>ASAP + FDS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048256" y="5358384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093976" y="5413248"/>
            <a:ext cx="4297680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위험정보 확인 후 이체중단·지급정지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0" y="5358384"/>
            <a:ext cx="254203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29400" y="5413248"/>
            <a:ext cx="2450591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시스템 + 금융기관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72016" y="5358384"/>
            <a:ext cx="23408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317736" y="5413248"/>
            <a:ext cx="2249424" cy="5303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1B3150"/>
                </a:solidFill>
                <a:latin typeface="페이퍼로지 4 Regular"/>
              </a:rPr>
              <a:t>외부 개입형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6236208"/>
            <a:ext cx="105156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2960" y="6236208"/>
            <a:ext cx="105156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>
                <a:solidFill>
                  <a:srgbClr val="2B67FF"/>
                </a:solidFill>
                <a:latin typeface="페이퍼로지 7 Bold"/>
              </a:rPr>
              <a:t>해석 원칙: 기존 대응의 효과를 인정한 뒤, 통화 맥락 진위검증·거래별 공동검토·검증 중 보류의 연결성을 제안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Appendix — [S6] SKT / [S7] 가족 케어 / [S8] LG U+ / [S9] 금융위원회 공식자료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32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144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144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팀 자체 데이터 분석 — 정의와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정량 결과를 과장하지 않기 위해 분석 단위·정의·일반화 한계를 함께 제시한다.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874519"/>
            <a:ext cx="1920240" cy="80467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1874519"/>
            <a:ext cx="1920240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페이퍼로지 7 Bold"/>
              </a:rPr>
              <a:t>분석 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52928" y="1874519"/>
            <a:ext cx="53218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54096" y="1965960"/>
            <a:ext cx="491947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보이스피싱 통화 텍스트에서 추출한 이벤트·심리전략·요구행동 신호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6" y="1874519"/>
            <a:ext cx="3090672" cy="80467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0496" y="1965960"/>
            <a:ext cx="272491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2B67FF"/>
                </a:solidFill>
                <a:latin typeface="페이퍼로지 7 Bold"/>
              </a:rPr>
              <a:t>모델 학습용 원자료와 EDA 결과 기반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862072"/>
            <a:ext cx="1920240" cy="80467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2862072"/>
            <a:ext cx="1920240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페이퍼로지 7 Bold"/>
              </a:rPr>
              <a:t>판단환경 장악 신호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52928" y="2862072"/>
            <a:ext cx="53218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54096" y="2953512"/>
            <a:ext cx="491947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사칭, 권위·신뢰, 공포, 긴급성, 고립, 정보추출 등 팀 정의 Rule/Event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2862072"/>
            <a:ext cx="3090672" cy="80467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40496" y="2953512"/>
            <a:ext cx="272491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2B67FF"/>
                </a:solidFill>
                <a:latin typeface="페이퍼로지 7 Bold"/>
              </a:rPr>
              <a:t>하나 이상 출현 사건 비중 67.1%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849624"/>
            <a:ext cx="1920240" cy="804672"/>
          </a:xfrm>
          <a:prstGeom prst="roundRect">
            <a:avLst>
              <a:gd name="adj" fmla="val 8000"/>
            </a:avLst>
          </a:prstGeom>
          <a:solidFill>
            <a:srgbClr val="0B2242"/>
          </a:solidFill>
          <a:ln w="12700">
            <a:solidFill>
              <a:srgbClr val="0B2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3849624"/>
            <a:ext cx="1920240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페이퍼로지 7 Bold"/>
              </a:rPr>
              <a:t>등장 순서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52928" y="3849624"/>
            <a:ext cx="53218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54096" y="3941063"/>
            <a:ext cx="491947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사칭·심리전략과 요구행동·금액 이벤트의 선후관계를 비교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7616" y="3849624"/>
            <a:ext cx="3090672" cy="804672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40496" y="3941063"/>
            <a:ext cx="272491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2B67FF"/>
                </a:solidFill>
                <a:latin typeface="페이퍼로지 7 Bold"/>
              </a:rPr>
              <a:t>앞 단계 신호가 먼저 나타나는 경향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4837176"/>
            <a:ext cx="1920240" cy="804672"/>
          </a:xfrm>
          <a:prstGeom prst="roundRect">
            <a:avLst>
              <a:gd name="adj" fmla="val 8000"/>
            </a:avLst>
          </a:prstGeom>
          <a:solidFill>
            <a:srgbClr val="FF4A1E"/>
          </a:solidFill>
          <a:ln w="12700">
            <a:solidFill>
              <a:srgbClr val="FF4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4837176"/>
            <a:ext cx="1920240" cy="8046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페이퍼로지 7 Bold"/>
              </a:rPr>
              <a:t>주의사항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52928" y="4837176"/>
            <a:ext cx="53218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54096" y="4928616"/>
            <a:ext cx="491947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1B3150"/>
                </a:solidFill>
                <a:latin typeface="페이퍼로지 4 Regular"/>
              </a:rPr>
              <a:t>표본 크기·라벨링 기준·정상 대조군에 따라 수치가 변할 수 있음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4837176"/>
            <a:ext cx="3090672" cy="804672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12700">
            <a:solidFill>
              <a:srgbClr val="FFF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40496" y="4928616"/>
            <a:ext cx="2724912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FF4A1E"/>
                </a:solidFill>
                <a:latin typeface="페이퍼로지 7 Bold"/>
              </a:rPr>
              <a:t>외부 일반화 전 재현·검증 필요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6016752"/>
            <a:ext cx="10104120" cy="402336"/>
          </a:xfrm>
          <a:prstGeom prst="roundRect">
            <a:avLst>
              <a:gd name="adj" fmla="val 8000"/>
            </a:avLst>
          </a:prstGeom>
          <a:solidFill>
            <a:srgbClr val="FFF8E3"/>
          </a:solidFill>
          <a:ln w="12700">
            <a:solidFill>
              <a:srgbClr val="FFF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6016752"/>
            <a:ext cx="10104120" cy="4023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70" b="1">
                <a:solidFill>
                  <a:srgbClr val="E19D14"/>
                </a:solidFill>
                <a:latin typeface="페이퍼로지 7 Bold"/>
              </a:rPr>
              <a:t>최종 제출 전 체크: case 단위 분리 · Train-only Feature selection · 동일 extractor 대조군 적용 · 성능과 오탐 함께 보고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Appendix — 팀 데이터 분석은 문제발견·모델개발 근거이며, 외부 일반화는 후속 검증 범위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33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"/>
          </a:xfrm>
          <a:prstGeom prst="rect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18520" y="164592"/>
            <a:ext cx="1051560" cy="1051560"/>
          </a:xfrm>
          <a:prstGeom prst="ellipse">
            <a:avLst/>
          </a:prstGeom>
          <a:solidFill>
            <a:srgbClr val="E9F3FF"/>
          </a:solidFill>
          <a:ln w="1270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11712" y="329184"/>
            <a:ext cx="310896" cy="310896"/>
          </a:xfrm>
          <a:prstGeom prst="ellipse">
            <a:avLst/>
          </a:prstGeom>
          <a:solidFill>
            <a:srgbClr val="4CA4FF"/>
          </a:solidFill>
          <a:ln w="12700">
            <a:solidFill>
              <a:srgbClr val="4C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991088" y="1051560"/>
            <a:ext cx="877824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97864"/>
            <a:ext cx="713232" cy="0"/>
          </a:xfrm>
          <a:prstGeom prst="line">
            <a:avLst/>
          </a:prstGeom>
          <a:ln w="11430">
            <a:solidFill>
              <a:srgbClr val="BED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347472"/>
            <a:ext cx="914400" cy="310896"/>
          </a:xfrm>
          <a:prstGeom prst="roundRect">
            <a:avLst>
              <a:gd name="adj" fmla="val 8000"/>
            </a:avLst>
          </a:prstGeom>
          <a:solidFill>
            <a:srgbClr val="E9F3FF"/>
          </a:solidFill>
          <a:ln w="10160">
            <a:solidFill>
              <a:srgbClr val="E9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47472"/>
            <a:ext cx="91440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2B67FF"/>
                </a:solidFill>
                <a:latin typeface="페이퍼로지 7 Bold"/>
              </a:rP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822960"/>
            <a:ext cx="1014984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2242"/>
                </a:solidFill>
                <a:latin typeface="페이퍼로지 7 Bold"/>
              </a:rPr>
              <a:t>확인 가능한 원문 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1051560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97D98"/>
                </a:solidFill>
                <a:latin typeface="페이퍼로지 4 Regular"/>
              </a:rPr>
              <a:t>제안서 본문의 핵심 근거와 기존 서비스 공식자료를 직접 확인할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865376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41247" y="2066544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7" y="2066544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1947672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2"/>
              </a:rPr>
              <a:t>[S1] 한진수(2024) 금융사기 취약성과 개인 특성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660904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41247" y="2862072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7" y="2862072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2743200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3"/>
              </a:rPr>
              <a:t>[S2] 한국은행·금융감독원 2024 전국민 금융이해력 조사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56432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1247" y="3657600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657600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538728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4"/>
              </a:rPr>
              <a:t>[S3] 최미정·유병준(2025) 고령층 디지털 역량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51960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1247" y="4453128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7" y="4453128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4334256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5"/>
              </a:rPr>
              <a:t>[S4] 배승희 외(2023) 보이스피싱 대화 6단계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47488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1247" y="5248655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7" y="5248655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19" y="5129783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6"/>
              </a:rPr>
              <a:t>[S5] 이영은·서준배(2024) 기관사칭 심리기제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1928" y="1865376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64808" y="2066544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8" y="2066544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1947672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7"/>
              </a:rPr>
              <a:t>[S6] SKT 에이닷 전화 보이스피싱 탐지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2660904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64808" y="2862072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64808" y="2862072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2743200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8"/>
              </a:rPr>
              <a:t>[S7] SKT 에이닷 가족 케어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81928" y="3456432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464808" y="3657600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64808" y="3657600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3538728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9"/>
              </a:rPr>
              <a:t>[S8] LG U+ 익시오 보이스피싱 탐지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81928" y="4251960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464808" y="4453128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64808" y="4453128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4334256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10"/>
              </a:rPr>
              <a:t>[S9] 금융위원회 ASAP 12주 성과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1928" y="5047488"/>
            <a:ext cx="5285232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464808" y="5248655"/>
            <a:ext cx="219456" cy="219456"/>
          </a:xfrm>
          <a:prstGeom prst="ellipse">
            <a:avLst/>
          </a:prstGeom>
          <a:solidFill>
            <a:srgbClr val="2B67FF"/>
          </a:solidFill>
          <a:ln w="12700">
            <a:solidFill>
              <a:srgbClr val="2B6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64808" y="5248655"/>
            <a:ext cx="2194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페이퍼로지 7 Bold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5129783"/>
            <a:ext cx="45262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B2242"/>
                </a:solidFill>
                <a:latin typeface="페이퍼로지 7 Bold"/>
                <a:hlinkClick r:id="rId11"/>
              </a:rPr>
              <a:t>[S10] 금융위원회 피싱범죄 계좌 임시조치·FDS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6437376"/>
            <a:ext cx="11064240" cy="0"/>
          </a:xfrm>
          <a:prstGeom prst="line">
            <a:avLst/>
          </a:prstGeom>
          <a:ln w="10160">
            <a:solidFill>
              <a:srgbClr val="CDD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6528816"/>
            <a:ext cx="10561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>
                <a:solidFill>
                  <a:srgbClr val="697D98"/>
                </a:solidFill>
                <a:latin typeface="페이퍼로지 4 Regular"/>
              </a:rPr>
              <a:t>Appendix — PowerPoint에서 각 항목을 클릭하면 원문 페이지로 이동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48288" y="6510528"/>
            <a:ext cx="22860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97D98"/>
                </a:solidFill>
                <a:latin typeface="페이퍼로지 4 Regular"/>
              </a:rPr>
              <a:t>34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FF1E19-700A-45CC-AEC7-3F9661A6913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446814"/>
          <a:ext cx="10515600" cy="31089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1091261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5179615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835943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종류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무엇을 멈추는가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해제 시점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7679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b="1"/>
                        <a:t>FDS </a:t>
                      </a:r>
                      <a:r>
                        <a:rPr lang="ko-KR" altLang="en-US" b="1"/>
                        <a:t>거래지연</a:t>
                      </a:r>
                      <a:r>
                        <a:rPr lang="en-US" altLang="ko-KR" b="1"/>
                        <a:t>·</a:t>
                      </a:r>
                      <a:r>
                        <a:rPr lang="ko-KR" altLang="en-US" b="1"/>
                        <a:t>임시조치</a:t>
                      </a: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피해가 의심되는 고객의 특정 이체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은행 내부 기준과 고객 확인 결과에 따라 해제</a:t>
                      </a:r>
                      <a:r>
                        <a:rPr lang="en-US" altLang="ko-KR"/>
                        <a:t>. </a:t>
                      </a:r>
                      <a:r>
                        <a:rPr lang="ko-KR" altLang="en-US"/>
                        <a:t>법정 통일시간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0813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신종피싱 의심계좌 임시정지</a:t>
                      </a: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범죄에 이용된 것으로 의심되는 수취계좌 전체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분류 전 최대 </a:t>
                      </a:r>
                      <a:r>
                        <a:rPr lang="en-US" altLang="ko-KR"/>
                        <a:t>72</a:t>
                      </a:r>
                      <a:r>
                        <a:rPr lang="ko-KR" altLang="en-US"/>
                        <a:t>시간 → 신종피싱 확인 시 </a:t>
                      </a:r>
                      <a:r>
                        <a:rPr lang="en-US" altLang="ko-KR"/>
                        <a:t>7</a:t>
                      </a:r>
                      <a:r>
                        <a:rPr lang="ko-KR" altLang="en-US"/>
                        <a:t>영업일 → 필요 시 </a:t>
                      </a:r>
                      <a:r>
                        <a:rPr lang="en-US" altLang="ko-KR"/>
                        <a:t>30</a:t>
                      </a:r>
                      <a:r>
                        <a:rPr lang="ko-KR" altLang="en-US"/>
                        <a:t>영업일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경찰 요청 시 </a:t>
                      </a:r>
                      <a:r>
                        <a:rPr lang="en-US" altLang="ko-KR"/>
                        <a:t>30</a:t>
                      </a:r>
                      <a:r>
                        <a:rPr lang="ko-KR" altLang="en-US"/>
                        <a:t>영업일 추가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809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법률상 지급정지</a:t>
                      </a: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사기이용계좌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법정 종료 사유 또는 계좌명의인의 이의제기가 인정될 때 종료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418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4629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2087</TotalTime>
  <Words>5945</Words>
  <Application>Microsoft Office PowerPoint</Application>
  <PresentationFormat>Widescreen</PresentationFormat>
  <Paragraphs>889</Paragraphs>
  <Slides>47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 Unicode MS</vt:lpstr>
      <vt:lpstr>NanumSquare</vt:lpstr>
      <vt:lpstr>NanumSquare Bold</vt:lpstr>
      <vt:lpstr>Noto Sans KR</vt:lpstr>
      <vt:lpstr>맑은 고딕</vt:lpstr>
      <vt:lpstr>페이퍼로지 4 Regular</vt:lpstr>
      <vt:lpstr>페이퍼로지 7 Bold</vt:lpstr>
      <vt:lpstr>페이퍼로지 9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272</cp:revision>
  <dcterms:created xsi:type="dcterms:W3CDTF">2026-08-25T03:40:06Z</dcterms:created>
  <dcterms:modified xsi:type="dcterms:W3CDTF">2026-08-28T12:17:16Z</dcterms:modified>
</cp:coreProperties>
</file>