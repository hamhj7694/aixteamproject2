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9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41987-525D-4EE9-B82F-973D6F4A7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88403-886F-4254-90CB-62C489B6A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CDC27-2B1C-4446-A37E-3255CA97C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A28C-B306-4E18-8EC3-CE76510356D6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1FDD3-4AF7-4365-B1B5-01FC5B33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EAE19-2C5D-4441-BE32-7DEBF0CC7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23F2-AF8A-4F95-A390-31231A2A7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553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BC175-52C7-43ED-ACDE-6074ED62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0690A-4E97-4E2D-B60C-38120906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ABDC0-0E1D-4A82-BE70-BEA8E64D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A28C-B306-4E18-8EC3-CE76510356D6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0F42C-F636-46F4-BF60-A4A85BB8B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210E2-AB40-43B4-A04E-ADF435BBD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23F2-AF8A-4F95-A390-31231A2A7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169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D55F-3B6B-4C59-991A-CD04B1BE7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07610-C909-4B5F-98EB-3C67E4714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FB6AB-AF6B-4EDE-8FE7-F64471385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A28C-B306-4E18-8EC3-CE76510356D6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BC397-EEA5-4360-A357-AC46D338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FD9CD-036D-42A5-85FA-54F57F06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23F2-AF8A-4F95-A390-31231A2A7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79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F029-3337-4944-920D-0B1A1A1F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D37B1-FC7A-47A0-BC14-BFB343C31C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0BF4C-E275-4CE4-B9EB-4E0F33A1F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2F123-E49F-4A97-A325-386A6EAB5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A28C-B306-4E18-8EC3-CE76510356D6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4B11E-C1EE-4394-ABF7-8F2085E60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171C6-E1C8-4C21-A581-1782CCC29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23F2-AF8A-4F95-A390-31231A2A7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985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AE814-0967-4BEE-B42E-B095F954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EEDD6-8DDD-4EB6-8F3E-9706ECF78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A7026-66D6-457A-AEAD-BC03721A7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B9DED-29E5-4780-A143-10D52E6BA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1F340-D2F0-4258-9414-7BE8F5AA75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D8B5D-5215-4BDB-B7B1-1F45BE3DD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A28C-B306-4E18-8EC3-CE76510356D6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3D8837-59B3-451B-A4AD-F3627D4B3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2C75A-E75B-4F51-943D-66939D8BD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23F2-AF8A-4F95-A390-31231A2A7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14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4F05-FAB3-4578-BC8F-4256C761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73E68-7BB3-4A0B-9E07-BE7DA0B6D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A28C-B306-4E18-8EC3-CE76510356D6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C6586-DFC4-4796-B6D5-CD8392158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4B888-291F-4F34-9E62-2E1DD9080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23F2-AF8A-4F95-A390-31231A2A7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383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CAE9D-AA8A-46D5-B0D7-02EF2851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A28C-B306-4E18-8EC3-CE76510356D6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495743-A019-42A9-978E-C0A9E75D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CB8C3-C906-4FF8-BF37-FFAD6723A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23F2-AF8A-4F95-A390-31231A2A7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89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2DFFF-5D3A-46B2-ABC6-DF78A77D4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F5326-BB30-4108-ABB5-5B0CACBB4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1978C-4FC3-4B26-8A1E-C7CB61247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7865C-5A99-42B6-B6C1-A07DCD30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A28C-B306-4E18-8EC3-CE76510356D6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1AE2C-0E62-4015-A9D4-926490997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591BB-2027-4752-959F-319A1679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23F2-AF8A-4F95-A390-31231A2A7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468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5A84-4CAD-4645-98C2-F5916658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30AE0-91A4-4BB7-B48A-8AF52528D5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2BAF1-3C0D-4168-9A99-9BF2C1A3B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B9080-4BBC-4C79-A4AC-EE500DEE7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A28C-B306-4E18-8EC3-CE76510356D6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BC46F-107B-4E79-A0A9-3FB4C096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F4598-1B67-4F9A-8CFC-5714A94C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23F2-AF8A-4F95-A390-31231A2A7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611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B5779-2989-4BDB-803C-0B4958D66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421A2-2F10-4A13-A2C5-733C8082C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76009-969F-4CD6-B1E6-605D6DC30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A28C-B306-4E18-8EC3-CE76510356D6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17EC1-6CD7-4774-8DE1-F7E07A52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B6BDB-6362-4AEB-8C32-BA1D175C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23F2-AF8A-4F95-A390-31231A2A7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96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4BE49-2781-436B-8504-FC5C45601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974F3-3161-4C7E-B859-88BEFD805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C525D-D96A-4846-8C47-77504CAB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FA28C-B306-4E18-8EC3-CE76510356D6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A077A-D160-4D77-9F2E-B95B69C9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7EFEF-2272-4D20-9377-B1A9EEC86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423F2-AF8A-4F95-A390-31231A2A7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834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9BABCA-8F5D-4C86-A07A-BAECAF610FF4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DCE8F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4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728778-0D0B-42F4-91AC-567F28319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2D64A-3873-440D-80CE-5DD55EFB8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A408-C0E2-4A86-8BCE-963343B629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FA28C-B306-4E18-8EC3-CE76510356D6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AE199-9C1B-4A5D-88BA-9203F5890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B9F5-8DEB-4135-965B-BC2CDA9EA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423F2-AF8A-4F95-A390-31231A2A77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2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29BEA1-659A-4303-B467-D3FB5DCD412F}"/>
              </a:ext>
            </a:extLst>
          </p:cNvPr>
          <p:cNvSpPr txBox="1"/>
          <p:nvPr/>
        </p:nvSpPr>
        <p:spPr>
          <a:xfrm>
            <a:off x="254000" y="118454"/>
            <a:ext cx="1105623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Mvp</a:t>
            </a:r>
            <a:r>
              <a:rPr lang="en-US" altLang="ko-KR" sz="1400" dirty="0"/>
              <a:t> </a:t>
            </a:r>
            <a:r>
              <a:rPr lang="ko-KR" altLang="en-US" sz="1400" dirty="0"/>
              <a:t>제작 뭐 해야하는가</a:t>
            </a:r>
            <a:r>
              <a:rPr lang="en-US" altLang="ko-KR" sz="1400" dirty="0"/>
              <a:t>?</a:t>
            </a:r>
          </a:p>
          <a:p>
            <a:endParaRPr lang="en-US" altLang="ko-KR" sz="1400" dirty="0"/>
          </a:p>
          <a:p>
            <a:r>
              <a:rPr lang="ko-KR" altLang="en-US" sz="1400" dirty="0"/>
              <a:t>웹 </a:t>
            </a:r>
            <a:r>
              <a:rPr lang="en-US" altLang="ko-KR" sz="1400" dirty="0"/>
              <a:t>0: </a:t>
            </a:r>
            <a:r>
              <a:rPr lang="ko-KR" altLang="en-US" sz="1400" dirty="0"/>
              <a:t>텍스트</a:t>
            </a:r>
            <a:r>
              <a:rPr lang="en-US" altLang="ko-KR" sz="1400" dirty="0"/>
              <a:t>/</a:t>
            </a:r>
            <a:r>
              <a:rPr lang="ko-KR" altLang="en-US" sz="1400" dirty="0"/>
              <a:t>음성</a:t>
            </a:r>
            <a:r>
              <a:rPr lang="en-US" altLang="ko-KR" sz="1400" dirty="0"/>
              <a:t> </a:t>
            </a:r>
            <a:r>
              <a:rPr lang="ko-KR" altLang="en-US" sz="1400" dirty="0"/>
              <a:t>인풋</a:t>
            </a:r>
            <a:r>
              <a:rPr lang="en-US" altLang="ko-KR" sz="1400" dirty="0"/>
              <a:t>, </a:t>
            </a:r>
            <a:r>
              <a:rPr lang="ko-KR" altLang="en-US" sz="1400" dirty="0"/>
              <a:t>결과 아웃풋 페이지</a:t>
            </a:r>
            <a:r>
              <a:rPr lang="en-US" altLang="ko-KR" sz="1400" dirty="0"/>
              <a:t>(</a:t>
            </a:r>
            <a:r>
              <a:rPr lang="ko-KR" altLang="en-US" sz="1400" dirty="0"/>
              <a:t>실제 서비스에서는 기타 트리거 발동되겠지만</a:t>
            </a:r>
            <a:r>
              <a:rPr lang="en-US" altLang="ko-KR" sz="1400" dirty="0"/>
              <a:t>, </a:t>
            </a:r>
            <a:r>
              <a:rPr lang="ko-KR" altLang="en-US" sz="1400" dirty="0"/>
              <a:t>우리는 </a:t>
            </a:r>
            <a:r>
              <a:rPr lang="en-US" altLang="ko-KR" sz="1400" dirty="0"/>
              <a:t>MVP</a:t>
            </a:r>
            <a:r>
              <a:rPr lang="ko-KR" altLang="en-US" sz="1400" dirty="0"/>
              <a:t>니까</a:t>
            </a:r>
            <a:r>
              <a:rPr lang="en-US" altLang="ko-KR" sz="1400" dirty="0"/>
              <a:t>,,,)</a:t>
            </a:r>
          </a:p>
          <a:p>
            <a:r>
              <a:rPr lang="ko-KR" altLang="en-US" sz="1400" dirty="0"/>
              <a:t>웹 </a:t>
            </a:r>
            <a:r>
              <a:rPr lang="en-US" altLang="ko-KR" sz="1400" dirty="0"/>
              <a:t>1: </a:t>
            </a:r>
            <a:r>
              <a:rPr lang="ko-KR" altLang="en-US" sz="1400" dirty="0"/>
              <a:t>은행</a:t>
            </a:r>
            <a:r>
              <a:rPr lang="en-US" altLang="ko-KR" sz="1400" dirty="0"/>
              <a:t>, </a:t>
            </a:r>
            <a:r>
              <a:rPr lang="ko-KR" altLang="en-US" sz="1400" dirty="0"/>
              <a:t>경찰 등이 보관하고 볼 수 있는 사건 정보 저장된 리스트</a:t>
            </a:r>
            <a:r>
              <a:rPr lang="en-US" altLang="ko-KR" sz="1400" dirty="0"/>
              <a:t>(</a:t>
            </a:r>
            <a:r>
              <a:rPr lang="ko-KR" altLang="en-US" sz="1400" dirty="0"/>
              <a:t>게시판 같은 개념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en-US" altLang="ko-KR" sz="1400" dirty="0"/>
              <a:t>--</a:t>
            </a:r>
            <a:r>
              <a:rPr lang="ko-KR" altLang="en-US" sz="1400" dirty="0"/>
              <a:t> 사건 리스트 등 저장되는 공간</a:t>
            </a:r>
            <a:endParaRPr lang="en-US" altLang="ko-KR" sz="1400" dirty="0"/>
          </a:p>
          <a:p>
            <a:r>
              <a:rPr lang="ko-KR" altLang="en-US" sz="1400" dirty="0"/>
              <a:t>웹 </a:t>
            </a:r>
            <a:r>
              <a:rPr lang="en-US" altLang="ko-KR" sz="1400" dirty="0"/>
              <a:t>2: </a:t>
            </a:r>
            <a:r>
              <a:rPr lang="ko-KR" altLang="en-US" sz="1400" dirty="0"/>
              <a:t>각 사건 하나에 대한 내용들을 확인할 수 있는 페이지</a:t>
            </a:r>
            <a:r>
              <a:rPr lang="en-US" altLang="ko-KR" sz="1400" dirty="0"/>
              <a:t>(</a:t>
            </a:r>
            <a:r>
              <a:rPr lang="ko-KR" altLang="en-US" sz="1400" dirty="0"/>
              <a:t>게시글 같은 개념</a:t>
            </a:r>
            <a:r>
              <a:rPr lang="en-US" altLang="ko-KR" sz="1400" dirty="0"/>
              <a:t>) – </a:t>
            </a:r>
            <a:r>
              <a:rPr lang="ko-KR" altLang="en-US" sz="1400" dirty="0"/>
              <a:t>하나의 사건에 대한 모든 정보들을 모아볼 수 있는 공간</a:t>
            </a:r>
            <a:endParaRPr lang="en-US" altLang="ko-KR" sz="1400" dirty="0"/>
          </a:p>
          <a:p>
            <a:r>
              <a:rPr lang="ko-KR" altLang="en-US" sz="1400" dirty="0"/>
              <a:t>웹 </a:t>
            </a:r>
            <a:r>
              <a:rPr lang="en-US" altLang="ko-KR" sz="1400" dirty="0"/>
              <a:t>3~6: </a:t>
            </a:r>
            <a:r>
              <a:rPr lang="ko-KR" altLang="en-US" sz="1400" dirty="0"/>
              <a:t>실제 사용자</a:t>
            </a:r>
            <a:r>
              <a:rPr lang="en-US" altLang="ko-KR" sz="1400" dirty="0"/>
              <a:t>(</a:t>
            </a:r>
            <a:r>
              <a:rPr lang="ko-KR" altLang="en-US" sz="1400" dirty="0"/>
              <a:t>피해자</a:t>
            </a:r>
            <a:r>
              <a:rPr lang="en-US" altLang="ko-KR" sz="1400" dirty="0"/>
              <a:t>, </a:t>
            </a:r>
            <a:r>
              <a:rPr lang="ko-KR" altLang="en-US" sz="1400" dirty="0"/>
              <a:t>신뢰인</a:t>
            </a:r>
            <a:r>
              <a:rPr lang="en-US" altLang="ko-KR" sz="1400" dirty="0"/>
              <a:t>, </a:t>
            </a:r>
            <a:r>
              <a:rPr lang="ko-KR" altLang="en-US" sz="1400" dirty="0"/>
              <a:t>은행</a:t>
            </a:r>
            <a:r>
              <a:rPr lang="en-US" altLang="ko-KR" sz="1400" dirty="0"/>
              <a:t>, </a:t>
            </a:r>
            <a:r>
              <a:rPr lang="ko-KR" altLang="en-US" sz="1400" dirty="0"/>
              <a:t>사칭 대상 기관에게 보여지는 스마트폰이나 웹 페이지 모습</a:t>
            </a:r>
            <a:r>
              <a:rPr lang="en-US" altLang="ko-KR" sz="1400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6B95CA-4D24-4B7D-98D9-7599F7036E1B}"/>
              </a:ext>
            </a:extLst>
          </p:cNvPr>
          <p:cNvSpPr/>
          <p:nvPr/>
        </p:nvSpPr>
        <p:spPr>
          <a:xfrm>
            <a:off x="263026" y="1776482"/>
            <a:ext cx="3141343" cy="4893733"/>
          </a:xfrm>
          <a:prstGeom prst="rect">
            <a:avLst/>
          </a:prstGeom>
          <a:solidFill>
            <a:schemeClr val="bg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265AE7-C49A-47C5-AD80-645030A1DDF8}"/>
              </a:ext>
            </a:extLst>
          </p:cNvPr>
          <p:cNvSpPr/>
          <p:nvPr/>
        </p:nvSpPr>
        <p:spPr>
          <a:xfrm>
            <a:off x="9954297" y="1769534"/>
            <a:ext cx="5689600" cy="4893733"/>
          </a:xfrm>
          <a:prstGeom prst="rect">
            <a:avLst/>
          </a:prstGeom>
          <a:solidFill>
            <a:schemeClr val="bg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83D6F41-4CEE-4EC5-9E6A-629B03FE33EE}"/>
              </a:ext>
            </a:extLst>
          </p:cNvPr>
          <p:cNvGrpSpPr/>
          <p:nvPr/>
        </p:nvGrpSpPr>
        <p:grpSpPr>
          <a:xfrm>
            <a:off x="10156439" y="2025651"/>
            <a:ext cx="5285316" cy="4468284"/>
            <a:chOff x="3378200" y="1530603"/>
            <a:chExt cx="6828365" cy="359808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4C5DECB-B2BC-4C1C-A09B-745CC7CC7846}"/>
                </a:ext>
              </a:extLst>
            </p:cNvPr>
            <p:cNvSpPr/>
            <p:nvPr/>
          </p:nvSpPr>
          <p:spPr>
            <a:xfrm>
              <a:off x="3378200" y="1530603"/>
              <a:ext cx="3344333" cy="899585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0E2746"/>
              </a:solidFill>
              <a:prstDash val="solid"/>
            </a:ln>
          </p:spPr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</a:rPr>
                <a:t>피싱 의심</a:t>
              </a:r>
              <a:r>
                <a:rPr lang="en-US" altLang="ko-KR" sz="1200" dirty="0">
                  <a:solidFill>
                    <a:schemeClr val="bg1"/>
                  </a:solidFill>
                </a:rPr>
                <a:t>/</a:t>
              </a:r>
              <a:r>
                <a:rPr lang="ko-KR" altLang="en-US" sz="1200" dirty="0">
                  <a:solidFill>
                    <a:schemeClr val="bg1"/>
                  </a:solidFill>
                </a:rPr>
                <a:t>안전</a:t>
              </a:r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bg1"/>
                  </a:solidFill>
                </a:rPr>
                <a:t>결과 나오는 창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4DEADB5-A53E-4C2C-A059-DCD83008E007}"/>
                </a:ext>
              </a:extLst>
            </p:cNvPr>
            <p:cNvSpPr/>
            <p:nvPr/>
          </p:nvSpPr>
          <p:spPr>
            <a:xfrm>
              <a:off x="6862232" y="1530603"/>
              <a:ext cx="3344333" cy="899585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0E2746"/>
              </a:solidFill>
              <a:prstDash val="solid"/>
            </a:ln>
          </p:spPr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</a:rPr>
                <a:t>보이스피싱 판단 근거</a:t>
              </a:r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bg1"/>
                  </a:solidFill>
                </a:rPr>
                <a:t>요약 나오는 창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E93233A-434B-4C24-8F27-E03F8D74C963}"/>
                </a:ext>
              </a:extLst>
            </p:cNvPr>
            <p:cNvSpPr/>
            <p:nvPr/>
          </p:nvSpPr>
          <p:spPr>
            <a:xfrm>
              <a:off x="3378200" y="2506303"/>
              <a:ext cx="6828365" cy="2622381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0E2746"/>
              </a:solidFill>
              <a:prstDash val="solid"/>
            </a:ln>
          </p:spPr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</a:rPr>
                <a:t>4</a:t>
              </a:r>
              <a:r>
                <a:rPr lang="ko-KR" altLang="en-US" sz="1200" dirty="0">
                  <a:solidFill>
                    <a:schemeClr val="bg1"/>
                  </a:solidFill>
                </a:rPr>
                <a:t>가지 대상 맞춤 화면 미리보기 나오는 곳</a:t>
              </a:r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BBA3C27D-5C46-44F8-8A5F-A005ADD8E952}"/>
              </a:ext>
            </a:extLst>
          </p:cNvPr>
          <p:cNvSpPr/>
          <p:nvPr/>
        </p:nvSpPr>
        <p:spPr>
          <a:xfrm>
            <a:off x="10319422" y="4283733"/>
            <a:ext cx="1133819" cy="2074819"/>
          </a:xfrm>
          <a:prstGeom prst="rect">
            <a:avLst/>
          </a:prstGeom>
          <a:solidFill>
            <a:schemeClr val="bg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/>
              <a:t>당사자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FAD300-EB3F-44E8-8D97-F0CD3D366C9C}"/>
              </a:ext>
            </a:extLst>
          </p:cNvPr>
          <p:cNvSpPr/>
          <p:nvPr/>
        </p:nvSpPr>
        <p:spPr>
          <a:xfrm>
            <a:off x="11625842" y="4283733"/>
            <a:ext cx="1133819" cy="2074819"/>
          </a:xfrm>
          <a:prstGeom prst="rect">
            <a:avLst/>
          </a:prstGeom>
          <a:solidFill>
            <a:schemeClr val="bg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/>
              <a:t>신뢰인</a:t>
            </a:r>
            <a:endParaRPr lang="ko-KR" alt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BAF450-3AC8-45FB-96F7-F1C3F77BADE9}"/>
              </a:ext>
            </a:extLst>
          </p:cNvPr>
          <p:cNvSpPr/>
          <p:nvPr/>
        </p:nvSpPr>
        <p:spPr>
          <a:xfrm>
            <a:off x="12906001" y="4283733"/>
            <a:ext cx="1133819" cy="2074819"/>
          </a:xfrm>
          <a:prstGeom prst="rect">
            <a:avLst/>
          </a:prstGeom>
          <a:solidFill>
            <a:schemeClr val="bg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/>
              <a:t>은행</a:t>
            </a:r>
            <a:endParaRPr lang="ko-KR" alt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0AC691-7DEA-4DDB-863B-27AAFCCB6706}"/>
              </a:ext>
            </a:extLst>
          </p:cNvPr>
          <p:cNvSpPr/>
          <p:nvPr/>
        </p:nvSpPr>
        <p:spPr>
          <a:xfrm>
            <a:off x="14186160" y="4283733"/>
            <a:ext cx="1133819" cy="2074819"/>
          </a:xfrm>
          <a:prstGeom prst="rect">
            <a:avLst/>
          </a:prstGeom>
          <a:solidFill>
            <a:schemeClr val="bg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/>
              <a:t>사칭 대상 기관</a:t>
            </a:r>
            <a:endParaRPr lang="en-US" altLang="ko-KR" dirty="0"/>
          </a:p>
          <a:p>
            <a:pPr algn="ctr"/>
            <a:r>
              <a:rPr lang="ko-KR" altLang="en-US" dirty="0"/>
              <a:t>확인 위해서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DF262C-FBA3-43BA-947D-490132F5FC62}"/>
              </a:ext>
            </a:extLst>
          </p:cNvPr>
          <p:cNvSpPr/>
          <p:nvPr/>
        </p:nvSpPr>
        <p:spPr>
          <a:xfrm>
            <a:off x="16045503" y="1921533"/>
            <a:ext cx="2685672" cy="4572401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피해자에게 보여지는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앱</a:t>
            </a:r>
            <a:r>
              <a:rPr lang="en-US" altLang="ko-KR" dirty="0">
                <a:solidFill>
                  <a:schemeClr val="bg1"/>
                </a:solidFill>
              </a:rPr>
              <a:t>/pc </a:t>
            </a:r>
            <a:r>
              <a:rPr lang="ko-KR" altLang="en-US" dirty="0">
                <a:solidFill>
                  <a:schemeClr val="bg1"/>
                </a:solidFill>
              </a:rPr>
              <a:t>페이지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분석 레포트와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버튼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BA6600-6569-4984-A160-8928419711F9}"/>
              </a:ext>
            </a:extLst>
          </p:cNvPr>
          <p:cNvSpPr/>
          <p:nvPr/>
        </p:nvSpPr>
        <p:spPr>
          <a:xfrm>
            <a:off x="18903776" y="1921533"/>
            <a:ext cx="2438188" cy="4572401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신뢰인에게 보여지는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앱</a:t>
            </a:r>
            <a:r>
              <a:rPr lang="en-US" altLang="ko-KR" dirty="0">
                <a:solidFill>
                  <a:schemeClr val="bg1"/>
                </a:solidFill>
              </a:rPr>
              <a:t>/pc </a:t>
            </a:r>
            <a:r>
              <a:rPr lang="ko-KR" altLang="en-US" dirty="0">
                <a:solidFill>
                  <a:schemeClr val="bg1"/>
                </a:solidFill>
              </a:rPr>
              <a:t>페이지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분석 레포트와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버튼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55A55D0-2026-4E58-911D-85BCBC187C32}"/>
              </a:ext>
            </a:extLst>
          </p:cNvPr>
          <p:cNvSpPr/>
          <p:nvPr/>
        </p:nvSpPr>
        <p:spPr>
          <a:xfrm>
            <a:off x="14636364" y="5897034"/>
            <a:ext cx="2693638" cy="1395256"/>
          </a:xfrm>
          <a:custGeom>
            <a:avLst/>
            <a:gdLst>
              <a:gd name="connsiteX0" fmla="*/ 0 w 2693638"/>
              <a:gd name="connsiteY0" fmla="*/ 0 h 1395256"/>
              <a:gd name="connsiteX1" fmla="*/ 228600 w 2693638"/>
              <a:gd name="connsiteY1" fmla="*/ 609600 h 1395256"/>
              <a:gd name="connsiteX2" fmla="*/ 533400 w 2693638"/>
              <a:gd name="connsiteY2" fmla="*/ 1104900 h 1395256"/>
              <a:gd name="connsiteX3" fmla="*/ 850900 w 2693638"/>
              <a:gd name="connsiteY3" fmla="*/ 1371600 h 1395256"/>
              <a:gd name="connsiteX4" fmla="*/ 1231900 w 2693638"/>
              <a:gd name="connsiteY4" fmla="*/ 1384300 h 1395256"/>
              <a:gd name="connsiteX5" fmla="*/ 2032000 w 2693638"/>
              <a:gd name="connsiteY5" fmla="*/ 1104900 h 1395256"/>
              <a:gd name="connsiteX6" fmla="*/ 2247900 w 2693638"/>
              <a:gd name="connsiteY6" fmla="*/ 901700 h 1395256"/>
              <a:gd name="connsiteX7" fmla="*/ 2565400 w 2693638"/>
              <a:gd name="connsiteY7" fmla="*/ 457200 h 1395256"/>
              <a:gd name="connsiteX8" fmla="*/ 2057400 w 2693638"/>
              <a:gd name="connsiteY8" fmla="*/ 571500 h 1395256"/>
              <a:gd name="connsiteX9" fmla="*/ 1892300 w 2693638"/>
              <a:gd name="connsiteY9" fmla="*/ 635000 h 1395256"/>
              <a:gd name="connsiteX10" fmla="*/ 2565400 w 2693638"/>
              <a:gd name="connsiteY10" fmla="*/ 342900 h 1395256"/>
              <a:gd name="connsiteX11" fmla="*/ 2667000 w 2693638"/>
              <a:gd name="connsiteY11" fmla="*/ 381000 h 1395256"/>
              <a:gd name="connsiteX12" fmla="*/ 2692400 w 2693638"/>
              <a:gd name="connsiteY12" fmla="*/ 1092200 h 1395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3638" h="1395256">
                <a:moveTo>
                  <a:pt x="0" y="0"/>
                </a:moveTo>
                <a:cubicBezTo>
                  <a:pt x="67145" y="201435"/>
                  <a:pt x="146780" y="443915"/>
                  <a:pt x="228600" y="609600"/>
                </a:cubicBezTo>
                <a:cubicBezTo>
                  <a:pt x="314436" y="783418"/>
                  <a:pt x="410779" y="954751"/>
                  <a:pt x="533400" y="1104900"/>
                </a:cubicBezTo>
                <a:cubicBezTo>
                  <a:pt x="620827" y="1211953"/>
                  <a:pt x="722569" y="1320268"/>
                  <a:pt x="850900" y="1371600"/>
                </a:cubicBezTo>
                <a:cubicBezTo>
                  <a:pt x="968882" y="1418793"/>
                  <a:pt x="1104900" y="1380067"/>
                  <a:pt x="1231900" y="1384300"/>
                </a:cubicBezTo>
                <a:cubicBezTo>
                  <a:pt x="1355669" y="1345401"/>
                  <a:pt x="1894457" y="1187426"/>
                  <a:pt x="2032000" y="1104900"/>
                </a:cubicBezTo>
                <a:cubicBezTo>
                  <a:pt x="2116744" y="1054053"/>
                  <a:pt x="2185074" y="977988"/>
                  <a:pt x="2247900" y="901700"/>
                </a:cubicBezTo>
                <a:cubicBezTo>
                  <a:pt x="2363651" y="761145"/>
                  <a:pt x="2743042" y="417231"/>
                  <a:pt x="2565400" y="457200"/>
                </a:cubicBezTo>
                <a:cubicBezTo>
                  <a:pt x="2396067" y="495300"/>
                  <a:pt x="2225211" y="527173"/>
                  <a:pt x="2057400" y="571500"/>
                </a:cubicBezTo>
                <a:cubicBezTo>
                  <a:pt x="2000392" y="586559"/>
                  <a:pt x="1839561" y="661369"/>
                  <a:pt x="1892300" y="635000"/>
                </a:cubicBezTo>
                <a:cubicBezTo>
                  <a:pt x="2415016" y="373642"/>
                  <a:pt x="2273208" y="415948"/>
                  <a:pt x="2565400" y="342900"/>
                </a:cubicBezTo>
                <a:cubicBezTo>
                  <a:pt x="2599267" y="355600"/>
                  <a:pt x="2655209" y="346806"/>
                  <a:pt x="2667000" y="381000"/>
                </a:cubicBezTo>
                <a:cubicBezTo>
                  <a:pt x="2702140" y="482907"/>
                  <a:pt x="2692400" y="1009123"/>
                  <a:pt x="2692400" y="1092200"/>
                </a:cubicBezTo>
              </a:path>
            </a:pathLst>
          </a:custGeom>
          <a:noFill/>
          <a:ln w="12700">
            <a:solidFill>
              <a:srgbClr val="FF4B16"/>
            </a:solidFill>
            <a:prstDash val="solid"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4AD3E7-394D-4AEA-82A3-AD4F334388FB}"/>
              </a:ext>
            </a:extLst>
          </p:cNvPr>
          <p:cNvSpPr txBox="1"/>
          <p:nvPr/>
        </p:nvSpPr>
        <p:spPr>
          <a:xfrm>
            <a:off x="13735748" y="7438883"/>
            <a:ext cx="3594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4B16"/>
                </a:solidFill>
              </a:rPr>
              <a:t>클릭하면 하나씩 </a:t>
            </a:r>
            <a:r>
              <a:rPr lang="ko-KR" altLang="en-US">
                <a:solidFill>
                  <a:srgbClr val="FF4B16"/>
                </a:solidFill>
              </a:rPr>
              <a:t>실제 볼 수 있음</a:t>
            </a:r>
            <a:endParaRPr lang="ko-KR" altLang="en-US" dirty="0">
              <a:solidFill>
                <a:srgbClr val="FF4B16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8E481C-55F0-48A8-AD98-89081F9A1EBE}"/>
              </a:ext>
            </a:extLst>
          </p:cNvPr>
          <p:cNvSpPr/>
          <p:nvPr/>
        </p:nvSpPr>
        <p:spPr>
          <a:xfrm>
            <a:off x="411530" y="4503228"/>
            <a:ext cx="2847095" cy="941286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입력창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DEC77E-7FB7-4C91-B14D-EE77D834E53F}"/>
              </a:ext>
            </a:extLst>
          </p:cNvPr>
          <p:cNvSpPr/>
          <p:nvPr/>
        </p:nvSpPr>
        <p:spPr>
          <a:xfrm>
            <a:off x="1926296" y="5640018"/>
            <a:ext cx="1249569" cy="744913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실시간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음성 분석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ED0A2A-9D4E-4F6C-980D-C76831BDA296}"/>
              </a:ext>
            </a:extLst>
          </p:cNvPr>
          <p:cNvSpPr/>
          <p:nvPr/>
        </p:nvSpPr>
        <p:spPr>
          <a:xfrm>
            <a:off x="504127" y="5640019"/>
            <a:ext cx="1249569" cy="744913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텍스트로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분석하기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418208-11DA-41B2-9D12-6C06079934CC}"/>
              </a:ext>
            </a:extLst>
          </p:cNvPr>
          <p:cNvSpPr/>
          <p:nvPr/>
        </p:nvSpPr>
        <p:spPr>
          <a:xfrm>
            <a:off x="3834533" y="1730920"/>
            <a:ext cx="5689600" cy="4893733"/>
          </a:xfrm>
          <a:prstGeom prst="rect">
            <a:avLst/>
          </a:prstGeom>
          <a:solidFill>
            <a:schemeClr val="bg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/>
              <a:t>게시판 같은 곳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8FA0517-B3D8-416F-92FA-4438C71879C0}"/>
              </a:ext>
            </a:extLst>
          </p:cNvPr>
          <p:cNvSpPr/>
          <p:nvPr/>
        </p:nvSpPr>
        <p:spPr>
          <a:xfrm>
            <a:off x="4461701" y="4283733"/>
            <a:ext cx="4435263" cy="219495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사건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CC59A95-8783-4F6F-8A8A-08274C2708FC}"/>
              </a:ext>
            </a:extLst>
          </p:cNvPr>
          <p:cNvSpPr/>
          <p:nvPr/>
        </p:nvSpPr>
        <p:spPr>
          <a:xfrm>
            <a:off x="4461701" y="4857482"/>
            <a:ext cx="4435263" cy="219495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사건 </a:t>
            </a:r>
            <a:r>
              <a:rPr lang="en-US" altLang="ko-KR" sz="1200" dirty="0">
                <a:solidFill>
                  <a:schemeClr val="bg1"/>
                </a:solidFill>
              </a:rPr>
              <a:t>3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604C1D2-58FE-41E4-9C16-0E76FC22DA95}"/>
              </a:ext>
            </a:extLst>
          </p:cNvPr>
          <p:cNvSpPr/>
          <p:nvPr/>
        </p:nvSpPr>
        <p:spPr>
          <a:xfrm>
            <a:off x="4461701" y="4588079"/>
            <a:ext cx="4435263" cy="219495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사건 </a:t>
            </a:r>
            <a:r>
              <a:rPr lang="en-US" altLang="ko-KR" sz="1200" dirty="0">
                <a:solidFill>
                  <a:schemeClr val="bg1"/>
                </a:solidFill>
              </a:rPr>
              <a:t>2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B71EF7-09F1-4E49-B57D-CBA042D2723A}"/>
              </a:ext>
            </a:extLst>
          </p:cNvPr>
          <p:cNvSpPr/>
          <p:nvPr/>
        </p:nvSpPr>
        <p:spPr>
          <a:xfrm>
            <a:off x="4461701" y="5126885"/>
            <a:ext cx="4435263" cy="219495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사건 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33B4FD-D5EE-49FA-9B2D-DEC7A18AF698}"/>
              </a:ext>
            </a:extLst>
          </p:cNvPr>
          <p:cNvGrpSpPr/>
          <p:nvPr/>
        </p:nvGrpSpPr>
        <p:grpSpPr>
          <a:xfrm>
            <a:off x="4461700" y="2802094"/>
            <a:ext cx="4439372" cy="899049"/>
            <a:chOff x="4461701" y="2802094"/>
            <a:chExt cx="3273768" cy="899049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FD23108-4076-4DD2-87C9-BF98A0285427}"/>
                </a:ext>
              </a:extLst>
            </p:cNvPr>
            <p:cNvSpPr/>
            <p:nvPr/>
          </p:nvSpPr>
          <p:spPr>
            <a:xfrm>
              <a:off x="4461702" y="3290678"/>
              <a:ext cx="2476128" cy="410465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0E2746"/>
              </a:solidFill>
              <a:prstDash val="solid"/>
            </a:ln>
          </p:spPr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chemeClr val="bg1"/>
                  </a:solidFill>
                </a:rPr>
                <a:t>검색창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25DDB2A-2985-4BA8-9F80-CAED30BC28C5}"/>
                </a:ext>
              </a:extLst>
            </p:cNvPr>
            <p:cNvSpPr/>
            <p:nvPr/>
          </p:nvSpPr>
          <p:spPr>
            <a:xfrm>
              <a:off x="7003817" y="3290677"/>
              <a:ext cx="731652" cy="410465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0E2746"/>
              </a:solidFill>
              <a:prstDash val="solid"/>
            </a:ln>
          </p:spPr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</a:rPr>
                <a:t>버튼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EDC6039-E5AE-4A1B-BFDC-572D47B6B608}"/>
                </a:ext>
              </a:extLst>
            </p:cNvPr>
            <p:cNvSpPr/>
            <p:nvPr/>
          </p:nvSpPr>
          <p:spPr>
            <a:xfrm>
              <a:off x="4461701" y="2802094"/>
              <a:ext cx="3273767" cy="410465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0E2746"/>
              </a:solidFill>
              <a:prstDash val="solid"/>
            </a:ln>
          </p:spPr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</a:rPr>
                <a:t>필터링</a:t>
              </a:r>
              <a:r>
                <a:rPr lang="en-US" altLang="ko-KR" sz="1200" dirty="0">
                  <a:solidFill>
                    <a:schemeClr val="bg1"/>
                  </a:solidFill>
                </a:rPr>
                <a:t>, </a:t>
              </a:r>
              <a:r>
                <a:rPr lang="ko-KR" altLang="en-US" sz="1200" dirty="0">
                  <a:solidFill>
                    <a:schemeClr val="bg1"/>
                  </a:solidFill>
                </a:rPr>
                <a:t>필터링 설정된 정보</a:t>
              </a:r>
              <a:r>
                <a:rPr lang="en-US" altLang="ko-KR" sz="1200" dirty="0">
                  <a:solidFill>
                    <a:schemeClr val="bg1"/>
                  </a:solidFill>
                </a:rPr>
                <a:t>…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46B1E870-3622-4C33-BA12-2F78349E2D2C}"/>
              </a:ext>
            </a:extLst>
          </p:cNvPr>
          <p:cNvSpPr/>
          <p:nvPr/>
        </p:nvSpPr>
        <p:spPr>
          <a:xfrm>
            <a:off x="7908920" y="2071849"/>
            <a:ext cx="992151" cy="410465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오늘 날짜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456A260-E99D-48DB-9958-D38BCE4ADFD8}"/>
              </a:ext>
            </a:extLst>
          </p:cNvPr>
          <p:cNvSpPr/>
          <p:nvPr/>
        </p:nvSpPr>
        <p:spPr>
          <a:xfrm>
            <a:off x="849290" y="2411137"/>
            <a:ext cx="1968813" cy="1457436"/>
          </a:xfrm>
          <a:prstGeom prst="rect">
            <a:avLst/>
          </a:prstGeom>
          <a:solidFill>
            <a:srgbClr val="FFFF00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4B16"/>
                </a:solidFill>
              </a:rPr>
              <a:t>로고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F5CD146-8D19-4C8D-A78F-A3942B14F621}"/>
              </a:ext>
            </a:extLst>
          </p:cNvPr>
          <p:cNvSpPr/>
          <p:nvPr/>
        </p:nvSpPr>
        <p:spPr>
          <a:xfrm>
            <a:off x="21553468" y="1921533"/>
            <a:ext cx="2438188" cy="4572401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은행에게 보여지는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앱</a:t>
            </a:r>
            <a:r>
              <a:rPr lang="en-US" altLang="ko-KR" dirty="0">
                <a:solidFill>
                  <a:schemeClr val="bg1"/>
                </a:solidFill>
              </a:rPr>
              <a:t>/pc </a:t>
            </a:r>
            <a:r>
              <a:rPr lang="ko-KR" altLang="en-US" dirty="0">
                <a:solidFill>
                  <a:schemeClr val="bg1"/>
                </a:solidFill>
              </a:rPr>
              <a:t>페이지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분석 레포트와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버튼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A2FD778-A135-4C9B-86B1-AE2C2934F9AA}"/>
              </a:ext>
            </a:extLst>
          </p:cNvPr>
          <p:cNvSpPr/>
          <p:nvPr/>
        </p:nvSpPr>
        <p:spPr>
          <a:xfrm>
            <a:off x="24093714" y="1921533"/>
            <a:ext cx="2580036" cy="4572401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사칭 대상 기관에게 보여지는 앱</a:t>
            </a:r>
            <a:r>
              <a:rPr lang="en-US" altLang="ko-KR" dirty="0">
                <a:solidFill>
                  <a:schemeClr val="bg1"/>
                </a:solidFill>
              </a:rPr>
              <a:t>/pc </a:t>
            </a:r>
            <a:r>
              <a:rPr lang="ko-KR" altLang="en-US" dirty="0">
                <a:solidFill>
                  <a:schemeClr val="bg1"/>
                </a:solidFill>
              </a:rPr>
              <a:t>페이지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분석 레포트와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버튼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D5D970-D505-4A34-A252-8735C0C0994F}"/>
              </a:ext>
            </a:extLst>
          </p:cNvPr>
          <p:cNvSpPr/>
          <p:nvPr/>
        </p:nvSpPr>
        <p:spPr>
          <a:xfrm>
            <a:off x="16116278" y="927004"/>
            <a:ext cx="10451372" cy="787491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4B16"/>
                </a:solidFill>
              </a:rPr>
              <a:t>각자 맞춤형으로</a:t>
            </a:r>
            <a:r>
              <a:rPr lang="en-US" altLang="ko-KR" dirty="0">
                <a:solidFill>
                  <a:srgbClr val="FF4B16"/>
                </a:solidFill>
              </a:rPr>
              <a:t>, </a:t>
            </a:r>
            <a:r>
              <a:rPr lang="ko-KR" altLang="en-US" dirty="0">
                <a:solidFill>
                  <a:srgbClr val="FF4B16"/>
                </a:solidFill>
              </a:rPr>
              <a:t>그리고 긴급성 있으니</a:t>
            </a:r>
            <a:r>
              <a:rPr lang="en-US" altLang="ko-KR" dirty="0">
                <a:solidFill>
                  <a:srgbClr val="FF4B16"/>
                </a:solidFill>
              </a:rPr>
              <a:t>… </a:t>
            </a:r>
            <a:r>
              <a:rPr lang="ko-KR" altLang="en-US" dirty="0">
                <a:solidFill>
                  <a:srgbClr val="FF4B16"/>
                </a:solidFill>
              </a:rPr>
              <a:t>간결하고 직관성으로</a:t>
            </a:r>
            <a:r>
              <a:rPr lang="en-US" altLang="ko-KR" dirty="0">
                <a:solidFill>
                  <a:srgbClr val="FF4B16"/>
                </a:solidFill>
              </a:rPr>
              <a:t>!</a:t>
            </a:r>
            <a:endParaRPr lang="ko-KR" altLang="en-US" dirty="0">
              <a:solidFill>
                <a:srgbClr val="FF4B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781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Widescreen</PresentationFormat>
  <Paragraphs>81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NanumSquare</vt:lpstr>
      <vt:lpstr>맑은 고딕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mbc</dc:creator>
  <cp:lastModifiedBy>mbc</cp:lastModifiedBy>
  <cp:revision>1</cp:revision>
  <dcterms:created xsi:type="dcterms:W3CDTF">2026-08-28T01:12:21Z</dcterms:created>
  <dcterms:modified xsi:type="dcterms:W3CDTF">2026-08-28T01:12:44Z</dcterms:modified>
</cp:coreProperties>
</file>