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94C2C-DE73-45C1-BA1F-AB56F673D5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708468-4724-4881-963F-53BABAD69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8C4E91-E115-44FA-960E-C9C81AF11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F83-EAB9-43B3-B51E-EE2A745154B4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86B842-BB4D-41B1-8242-250494DDD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6D85B-F868-409B-9DD5-14E5A0909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218BA-0230-45FD-8748-AEFFE8EAB1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8398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B9FE1-4611-411B-ABED-98CEB1C52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91F50-F463-4F4F-8845-9A18F3F53B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9B37F-E058-43E7-AC96-DA2EA368F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F83-EAB9-43B3-B51E-EE2A745154B4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4E94B4-CC0F-44D3-85C0-CC49B2B57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7CDE7F-20D7-439D-9488-62E8446D9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218BA-0230-45FD-8748-AEFFE8EAB1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0039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93136-F6CC-4452-BD48-D7D35E80B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03432D-274C-4725-906B-5EA860C78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66247-6889-4324-8204-E2C3F67E5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F83-EAB9-43B3-B51E-EE2A745154B4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3E7B3-58C8-4EFF-A908-D6EDF4748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3580E-867F-4FA9-BBAB-9B96E4892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218BA-0230-45FD-8748-AEFFE8EAB1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9643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EEB0C-AAA5-4E52-AFA7-EA310AACA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715AF-24B1-4A20-B1FF-4D236B2DBF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3975BE-7D3D-4713-B550-684C8B6AE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E23BD3-E980-4423-BA32-C324E23F6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F83-EAB9-43B3-B51E-EE2A745154B4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8E9AB9-8B50-4678-9924-9C659099A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4E85D9-E958-4009-BCEF-BBBE46AB7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218BA-0230-45FD-8748-AEFFE8EAB1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0843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864A8-E4C5-4D2D-9A44-A2D4EFEAB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7B0BBA-DB14-4248-A306-99867DC914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D57C38-C322-4F8E-B891-24B8BCBDB0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95F487-D580-4D68-8088-926F803109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859B7D-68E7-46A7-90A8-5D060B32A6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6A483F-6E72-4DBE-9F67-EE3EEE847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F83-EAB9-43B3-B51E-EE2A745154B4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D4B517-D8A5-47DF-8CBD-045803927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966D0E-665D-418F-8636-D2BFCCD09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218BA-0230-45FD-8748-AEFFE8EAB1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8710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2B211-7CCC-46BC-9C3A-54C0DAE6A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C59E32-7108-462E-94CE-E33124B07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F83-EAB9-43B3-B51E-EE2A745154B4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876035-3DF9-4EAA-B7DC-7F07E9992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29BACE-589A-43E0-8F1D-10A8A0AB0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218BA-0230-45FD-8748-AEFFE8EAB1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9634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CDDB30-B534-4049-91C5-04E119CA7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F83-EAB9-43B3-B51E-EE2A745154B4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94935C-A3B1-458E-A26D-3A14C3453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323806-4D6E-4DFD-802C-10AF290A2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218BA-0230-45FD-8748-AEFFE8EAB1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6750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93228-6301-4F50-BBE5-9D55CA819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DD139-449C-4D8A-8BBD-1BD37877F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8ACA29-8A9C-41EC-B1CB-B7331CE379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6BE12E-6A97-4D8F-B89C-0802CB434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F83-EAB9-43B3-B51E-EE2A745154B4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777114-2EC1-435B-89F9-EED92E45C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FE424-8BCE-41C3-9736-0A33C4A2D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218BA-0230-45FD-8748-AEFFE8EAB1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3074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1A759-E34B-4468-B314-891B8C7E9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448589-48B0-4339-B95F-88D1BB0EC9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A2F595-AFA2-4FB1-AF0B-C50965919B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450344-3C06-4209-84EA-1C831E7B2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F83-EAB9-43B3-B51E-EE2A745154B4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F256EF-E710-47DF-8E93-0F36BE869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D8A444-F704-4C4C-8832-A4751A84B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218BA-0230-45FD-8748-AEFFE8EAB1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2558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55866-FDD3-4BEE-8139-F2E9B6BD6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F118A1-2B05-49A2-8561-9CB6A58A9C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F6FD7-4D6A-4263-8680-9E6F8951B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F83-EAB9-43B3-B51E-EE2A745154B4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128803-F7B6-4C4A-ADB8-146B86833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2A4C8-8677-4833-B438-1C6F756F2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218BA-0230-45FD-8748-AEFFE8EAB1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7052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12FE1F-1AD3-40F8-946E-CFB629F5DD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F0E02B-0402-4819-B91E-78568FBAA7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04E24-81E1-4666-8BD4-D111290C7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F83-EAB9-43B3-B51E-EE2A745154B4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E0BE1-0D48-4494-9505-388DE7654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1143E-618B-4419-8DB2-6A9CA17AF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218BA-0230-45FD-8748-AEFFE8EAB1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6248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958376-8D70-49DE-8D90-F879D3481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F8E94-FA2A-418C-B721-1B9A9959A5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8E92B-6FB7-4BF3-80B8-1D38031193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CAAF83-EAB9-43B3-B51E-EE2A745154B4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3372E8-1F48-4D80-B206-7AA77FFCCC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92A54-E67B-423A-923A-80F39DFAA4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A218BA-0230-45FD-8748-AEFFE8EAB1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1660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ci.go.kr/kciportal/landing/article.kci?arti_id=ART002716015&amp;utm_source=chatgpt.com" TargetMode="External"/><Relationship Id="rId2" Type="http://schemas.openxmlformats.org/officeDocument/2006/relationships/hyperlink" Target="https://www.kci.go.kr/kciportal/ci/sereArticleSearch/ciSereArtiView.kci?sereArticleSearchBean.artiId=ART002902272&amp;utm_source=chatgpt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korea.kr/news/policyNewsView.do?newsId=148935404&amp;utm_source=chatgpt.com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orea.kr/briefing/policyBriefingView.do?newsId=148831334&amp;utm_source=chatgpt.com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orea.kr/news/policyNewsView.do?newsId=148935404&amp;utm_source=chatgpt.com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ci.go.kr/kciportal/landing/article.kci?arti_id=ART003095543&amp;utm_source=chatgpt.com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ci.go.kr/kciportal/landing/article.kci?arti_id=ART002716015&amp;utm_source=chatgpt.com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FB7FD-65A7-42B5-8A14-5DD661F9E0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제안서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72473C-9B04-407E-9D38-64E47D57EE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흐름</a:t>
            </a:r>
          </a:p>
        </p:txBody>
      </p:sp>
    </p:spTree>
    <p:extLst>
      <p:ext uri="{BB962C8B-B14F-4D97-AF65-F5344CB8AC3E}">
        <p14:creationId xmlns:p14="http://schemas.microsoft.com/office/powerpoint/2010/main" val="130510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79E3925-C40E-42BA-8418-62AB6C0A973B}"/>
              </a:ext>
            </a:extLst>
          </p:cNvPr>
          <p:cNvSpPr txBox="1"/>
          <p:nvPr/>
        </p:nvSpPr>
        <p:spPr>
          <a:xfrm>
            <a:off x="304800" y="289679"/>
            <a:ext cx="11113940" cy="62478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보이스피싱 </a:t>
            </a:r>
            <a:r>
              <a:rPr lang="en-US" altLang="ko-KR" sz="1600" dirty="0"/>
              <a:t>&gt; </a:t>
            </a:r>
            <a:r>
              <a:rPr lang="ko-KR" altLang="en-US" sz="1600" dirty="0"/>
              <a:t>심함 </a:t>
            </a:r>
            <a:r>
              <a:rPr lang="en-US" altLang="ko-KR" sz="1600" dirty="0"/>
              <a:t>… </a:t>
            </a:r>
            <a:r>
              <a:rPr lang="ko-KR" altLang="en-US" sz="1600" dirty="0"/>
              <a:t>심하지 않아도 해결해야 할 문제이다</a:t>
            </a:r>
            <a:r>
              <a:rPr lang="en-US" altLang="ko-KR" sz="1600" dirty="0"/>
              <a:t>.  </a:t>
            </a:r>
            <a:r>
              <a:rPr lang="ko-KR" altLang="en-US" sz="1600" dirty="0"/>
              <a:t>단 </a:t>
            </a:r>
            <a:r>
              <a:rPr lang="en-US" altLang="ko-KR" sz="1600" dirty="0"/>
              <a:t>1</a:t>
            </a:r>
            <a:r>
              <a:rPr lang="ko-KR" altLang="en-US" sz="1600" dirty="0"/>
              <a:t>원이라도</a:t>
            </a:r>
            <a:r>
              <a:rPr lang="en-US" altLang="ko-KR" sz="1600" dirty="0"/>
              <a:t>! </a:t>
            </a:r>
            <a:r>
              <a:rPr lang="ko-KR" altLang="en-US" sz="1600" dirty="0"/>
              <a:t>그 어떤 누구라도 피해봐서는 안된다</a:t>
            </a:r>
            <a:r>
              <a:rPr lang="en-US" altLang="ko-KR" sz="1600" dirty="0"/>
              <a:t>!</a:t>
            </a:r>
          </a:p>
          <a:p>
            <a:r>
              <a:rPr lang="ko-KR" altLang="en-US" sz="1600" dirty="0"/>
              <a:t>그렇기에 은행에서 해야할 노력과 역할이 있다</a:t>
            </a:r>
            <a:r>
              <a:rPr lang="en-US" altLang="ko-KR" sz="1600" dirty="0"/>
              <a:t>!(</a:t>
            </a:r>
            <a:r>
              <a:rPr lang="ko-KR" altLang="en-US" sz="1600" dirty="0"/>
              <a:t>실제로 하고 있기도하고</a:t>
            </a:r>
            <a:r>
              <a:rPr lang="en-US" altLang="ko-KR" sz="1600" dirty="0"/>
              <a:t>!, </a:t>
            </a:r>
            <a:r>
              <a:rPr lang="ko-KR" altLang="en-US" sz="1600" dirty="0"/>
              <a:t>은행 뿐 아니라 다양한 부분에서도 하고있다</a:t>
            </a:r>
            <a:r>
              <a:rPr lang="en-US" altLang="ko-KR" sz="1600" dirty="0"/>
              <a:t>!)</a:t>
            </a:r>
          </a:p>
          <a:p>
            <a:r>
              <a:rPr lang="ko-KR" altLang="en-US" sz="1600" dirty="0"/>
              <a:t>이미 현장에서 많은 노력을 하고 있다</a:t>
            </a:r>
            <a:r>
              <a:rPr lang="en-US" altLang="ko-KR" sz="1600" dirty="0"/>
              <a:t>. </a:t>
            </a:r>
            <a:r>
              <a:rPr lang="ko-KR" altLang="en-US" sz="1600" dirty="0"/>
              <a:t>실제 많은 서비스도 만들어졌고</a:t>
            </a:r>
            <a:r>
              <a:rPr lang="en-US" altLang="ko-KR" sz="1600" dirty="0"/>
              <a:t> </a:t>
            </a:r>
            <a:r>
              <a:rPr lang="ko-KR" altLang="en-US" sz="1600" dirty="0"/>
              <a:t>실제 효과도 높더라</a:t>
            </a:r>
            <a:r>
              <a:rPr lang="en-US" altLang="ko-KR" sz="1600" dirty="0"/>
              <a:t>.</a:t>
            </a:r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r>
              <a:rPr lang="ko-KR" altLang="en-US" sz="1600" dirty="0"/>
              <a:t>그런데</a:t>
            </a:r>
            <a:r>
              <a:rPr lang="en-US" altLang="ko-KR" sz="1600" dirty="0"/>
              <a:t>, </a:t>
            </a:r>
            <a:r>
              <a:rPr lang="ko-KR" altLang="en-US" sz="1600" dirty="0"/>
              <a:t>이러한 노력에도 계속해서 늘어가는 보이스피싱 피해</a:t>
            </a:r>
            <a:r>
              <a:rPr lang="en-US" altLang="ko-KR" sz="1600" dirty="0"/>
              <a:t>…</a:t>
            </a:r>
          </a:p>
          <a:p>
            <a:r>
              <a:rPr lang="ko-KR" altLang="en-US" sz="1600" dirty="0"/>
              <a:t>언제 누구에게 어떻게 왜</a:t>
            </a:r>
            <a:r>
              <a:rPr lang="en-US" altLang="ko-KR" sz="1600" dirty="0"/>
              <a:t>?</a:t>
            </a:r>
          </a:p>
          <a:p>
            <a:r>
              <a:rPr lang="ko-KR" altLang="en-US" sz="1600" dirty="0"/>
              <a:t>통계데이터</a:t>
            </a:r>
            <a:r>
              <a:rPr lang="en-US" altLang="ko-KR" sz="1600" dirty="0"/>
              <a:t>(20</a:t>
            </a:r>
            <a:r>
              <a:rPr lang="ko-KR" altLang="en-US" sz="1600" dirty="0"/>
              <a:t>대와 고령자</a:t>
            </a:r>
            <a:r>
              <a:rPr lang="en-US" altLang="ko-KR" sz="1600" dirty="0"/>
              <a:t>… </a:t>
            </a:r>
            <a:r>
              <a:rPr lang="ko-KR" altLang="en-US" sz="1600" dirty="0"/>
              <a:t>양극 </a:t>
            </a:r>
            <a:r>
              <a:rPr lang="en-US" altLang="ko-KR" sz="1600" dirty="0"/>
              <a:t>-&gt; </a:t>
            </a:r>
            <a:r>
              <a:rPr lang="ko-KR" altLang="en-US" sz="1600" dirty="0"/>
              <a:t>둘다 경험 부족과 알지못함에서 오는 혼란</a:t>
            </a:r>
            <a:r>
              <a:rPr lang="en-US" altLang="ko-KR" sz="1600" dirty="0"/>
              <a:t>… -&gt;</a:t>
            </a:r>
            <a:r>
              <a:rPr lang="ko-KR" altLang="en-US" sz="1600" dirty="0"/>
              <a:t> 심리적으로 취약</a:t>
            </a:r>
            <a:r>
              <a:rPr lang="en-US" altLang="ko-KR" sz="1600" dirty="0"/>
              <a:t>?),</a:t>
            </a:r>
          </a:p>
          <a:p>
            <a:r>
              <a:rPr lang="ko-KR" altLang="en-US" sz="1600" dirty="0"/>
              <a:t>패르소나</a:t>
            </a:r>
            <a:r>
              <a:rPr lang="en-US" altLang="ko-KR" sz="1600" dirty="0"/>
              <a:t>(</a:t>
            </a:r>
            <a:r>
              <a:rPr lang="ko-KR" altLang="en-US" sz="1600" dirty="0"/>
              <a:t>실제 설문까지 하면 좋을듯</a:t>
            </a:r>
            <a:r>
              <a:rPr lang="en-US" altLang="ko-KR" sz="1600" dirty="0"/>
              <a:t>) </a:t>
            </a:r>
            <a:r>
              <a:rPr lang="ko-KR" altLang="en-US" sz="1600" dirty="0"/>
              <a:t>살펴보았다</a:t>
            </a:r>
            <a:r>
              <a:rPr lang="en-US" altLang="ko-KR" sz="1600" dirty="0"/>
              <a:t>.</a:t>
            </a:r>
          </a:p>
          <a:p>
            <a:endParaRPr lang="en-US" altLang="ko-KR" sz="1600" dirty="0"/>
          </a:p>
          <a:p>
            <a:r>
              <a:rPr lang="ko-KR" altLang="en-US" sz="1600" dirty="0"/>
              <a:t>수법은 이랬다</a:t>
            </a:r>
            <a:r>
              <a:rPr lang="en-US" altLang="ko-KR" sz="1600" dirty="0"/>
              <a:t>! </a:t>
            </a:r>
            <a:r>
              <a:rPr lang="ko-KR" altLang="en-US" sz="1600" dirty="0"/>
              <a:t>이런 수법에 의해 피해가 큰게 아닐까</a:t>
            </a:r>
            <a:r>
              <a:rPr lang="en-US" altLang="ko-KR" sz="1600" dirty="0"/>
              <a:t>?</a:t>
            </a:r>
          </a:p>
          <a:p>
            <a:endParaRPr lang="en-US" altLang="ko-KR" sz="1600" dirty="0"/>
          </a:p>
          <a:p>
            <a:r>
              <a:rPr lang="ko-KR" altLang="en-US" sz="1600" dirty="0"/>
              <a:t>가장 큰 문제점</a:t>
            </a:r>
            <a:r>
              <a:rPr lang="en-US" altLang="ko-KR" sz="1600" dirty="0"/>
              <a:t>&amp;</a:t>
            </a:r>
            <a:r>
              <a:rPr lang="ko-KR" altLang="en-US" sz="1600" dirty="0"/>
              <a:t>해결해야 할 내용 </a:t>
            </a:r>
            <a:r>
              <a:rPr lang="en-US" altLang="ko-KR" sz="1600" dirty="0"/>
              <a:t>:</a:t>
            </a:r>
          </a:p>
          <a:p>
            <a:r>
              <a:rPr lang="ko-KR" altLang="en-US" sz="1600" dirty="0">
                <a:solidFill>
                  <a:srgbClr val="FF0000"/>
                </a:solidFill>
              </a:rPr>
              <a:t>보이스피싱 범인의 수법으로 인해</a:t>
            </a:r>
            <a:r>
              <a:rPr lang="en-US" altLang="ko-KR" sz="1600" dirty="0">
                <a:solidFill>
                  <a:srgbClr val="FF0000"/>
                </a:solidFill>
              </a:rPr>
              <a:t>… </a:t>
            </a:r>
            <a:r>
              <a:rPr lang="ko-KR" altLang="en-US" sz="1600" dirty="0">
                <a:solidFill>
                  <a:srgbClr val="FF0000"/>
                </a:solidFill>
              </a:rPr>
              <a:t>보이스피싱인지 조차도</a:t>
            </a:r>
            <a:r>
              <a:rPr lang="en-US" altLang="ko-KR" sz="1600" dirty="0">
                <a:solidFill>
                  <a:srgbClr val="FF0000"/>
                </a:solidFill>
              </a:rPr>
              <a:t> </a:t>
            </a:r>
            <a:r>
              <a:rPr lang="ko-KR" altLang="en-US" sz="1600" dirty="0">
                <a:solidFill>
                  <a:srgbClr val="FF0000"/>
                </a:solidFill>
              </a:rPr>
              <a:t>스스로 판단하기 어렵다는 것</a:t>
            </a:r>
            <a:r>
              <a:rPr lang="en-US" altLang="ko-KR" sz="1600" dirty="0">
                <a:solidFill>
                  <a:srgbClr val="FF0000"/>
                </a:solidFill>
              </a:rPr>
              <a:t>!</a:t>
            </a:r>
          </a:p>
          <a:p>
            <a:endParaRPr lang="en-US" altLang="ko-KR" sz="1600" dirty="0"/>
          </a:p>
          <a:p>
            <a:r>
              <a:rPr lang="ko-KR" altLang="en-US" sz="1600" dirty="0"/>
              <a:t>해결 방법 </a:t>
            </a:r>
            <a:r>
              <a:rPr lang="en-US" altLang="ko-KR" sz="1600" dirty="0"/>
              <a:t>: </a:t>
            </a:r>
            <a:r>
              <a:rPr lang="ko-KR" altLang="en-US" sz="1600" dirty="0"/>
              <a:t>그것을 </a:t>
            </a:r>
            <a:r>
              <a:rPr lang="en-US" altLang="ko-KR" sz="1600" dirty="0"/>
              <a:t>AI</a:t>
            </a:r>
            <a:r>
              <a:rPr lang="ko-KR" altLang="en-US" sz="1600" dirty="0"/>
              <a:t>가 진단하고</a:t>
            </a:r>
            <a:r>
              <a:rPr lang="en-US" altLang="ko-KR" sz="1600" dirty="0"/>
              <a:t>, </a:t>
            </a:r>
            <a:r>
              <a:rPr lang="ko-KR" altLang="en-US" sz="1600" dirty="0"/>
              <a:t>타인</a:t>
            </a:r>
            <a:r>
              <a:rPr lang="en-US" altLang="ko-KR" sz="1600" dirty="0"/>
              <a:t>(</a:t>
            </a:r>
            <a:r>
              <a:rPr lang="ko-KR" altLang="en-US" sz="1600" dirty="0"/>
              <a:t>신뢰인</a:t>
            </a:r>
            <a:r>
              <a:rPr lang="en-US" altLang="ko-KR" sz="1600" dirty="0"/>
              <a:t>, </a:t>
            </a:r>
            <a:r>
              <a:rPr lang="ko-KR" altLang="en-US" sz="1600" dirty="0"/>
              <a:t>담당 은행 직원</a:t>
            </a:r>
            <a:r>
              <a:rPr lang="en-US" altLang="ko-KR" sz="1600" dirty="0"/>
              <a:t>)</a:t>
            </a:r>
            <a:r>
              <a:rPr lang="ko-KR" altLang="en-US" sz="1600" dirty="0"/>
              <a:t>들에게 검토와 도움의 역할을 부여하는 것</a:t>
            </a:r>
            <a:r>
              <a:rPr lang="en-US" altLang="ko-KR" sz="1600" dirty="0"/>
              <a:t>!</a:t>
            </a:r>
          </a:p>
          <a:p>
            <a:r>
              <a:rPr lang="ko-KR" altLang="en-US" sz="1600" dirty="0"/>
              <a:t>구체적인 구현 기능 </a:t>
            </a:r>
            <a:r>
              <a:rPr lang="en-US" altLang="ko-KR" sz="1600" dirty="0"/>
              <a:t>: </a:t>
            </a:r>
          </a:p>
          <a:p>
            <a:endParaRPr lang="en-US" altLang="ko-KR" sz="1600" dirty="0"/>
          </a:p>
          <a:p>
            <a:r>
              <a:rPr lang="en-US" altLang="ko-KR" sz="1600" dirty="0"/>
              <a:t>*</a:t>
            </a:r>
            <a:r>
              <a:rPr lang="ko-KR" altLang="en-US" sz="1600" dirty="0"/>
              <a:t>생각보다 지인 사칭이 많지 않아서 제외해도 될 것으로 보임</a:t>
            </a:r>
            <a:r>
              <a:rPr lang="en-US" altLang="ko-KR" sz="1600" dirty="0"/>
              <a:t>!</a:t>
            </a:r>
          </a:p>
          <a:p>
            <a:r>
              <a:rPr lang="ko-KR" altLang="en-US" sz="1600" dirty="0"/>
              <a:t>대신 더 사칭이 많은 조직</a:t>
            </a:r>
            <a:r>
              <a:rPr lang="en-US" altLang="ko-KR" sz="1600" dirty="0"/>
              <a:t>(</a:t>
            </a:r>
            <a:r>
              <a:rPr lang="ko-KR" altLang="en-US" sz="1600" dirty="0"/>
              <a:t>기관</a:t>
            </a:r>
            <a:r>
              <a:rPr lang="en-US" altLang="ko-KR" sz="1600" dirty="0"/>
              <a:t>) </a:t>
            </a:r>
            <a:r>
              <a:rPr lang="ko-KR" altLang="en-US" sz="1600" dirty="0"/>
              <a:t>사칭에 대한 대비로 확인 요청 사항 전달될 수 있도록 하면 어떨까</a:t>
            </a:r>
            <a:r>
              <a:rPr lang="en-US" altLang="ko-KR" sz="1600" dirty="0"/>
              <a:t>?</a:t>
            </a:r>
          </a:p>
          <a:p>
            <a:r>
              <a:rPr lang="ko-KR" altLang="en-US" sz="1600" dirty="0"/>
              <a:t>방법</a:t>
            </a:r>
            <a:r>
              <a:rPr lang="en-US" altLang="ko-KR" sz="1600" dirty="0"/>
              <a:t>1. </a:t>
            </a:r>
            <a:r>
              <a:rPr lang="ko-KR" altLang="en-US" sz="1600" dirty="0"/>
              <a:t>기관 협업</a:t>
            </a:r>
            <a:r>
              <a:rPr lang="en-US" altLang="ko-KR" sz="1600" dirty="0"/>
              <a:t>(</a:t>
            </a:r>
            <a:r>
              <a:rPr lang="ko-KR" altLang="en-US" sz="1600" dirty="0"/>
              <a:t>미리 문서화해두기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방법</a:t>
            </a:r>
            <a:r>
              <a:rPr lang="en-US" altLang="ko-KR" sz="1600" dirty="0"/>
              <a:t>2. AI LLM </a:t>
            </a:r>
            <a:r>
              <a:rPr lang="ko-KR" altLang="en-US" sz="1600" dirty="0"/>
              <a:t>활용 기관 연락처 검색 및 연락하기</a:t>
            </a:r>
            <a:r>
              <a:rPr lang="en-US" altLang="ko-KR" sz="1600" dirty="0"/>
              <a:t>(</a:t>
            </a:r>
            <a:r>
              <a:rPr lang="ko-KR" altLang="en-US" sz="1600" dirty="0"/>
              <a:t>문서에 없는 기관일 시</a:t>
            </a:r>
            <a:r>
              <a:rPr lang="en-US" altLang="ko-KR" sz="1600" dirty="0"/>
              <a:t>, </a:t>
            </a:r>
            <a:r>
              <a:rPr lang="ko-KR" altLang="en-US" sz="1600" dirty="0"/>
              <a:t>인터넷 검색을 통해</a:t>
            </a:r>
            <a:r>
              <a:rPr lang="en-US" altLang="ko-KR" sz="1600" dirty="0"/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282CC9-2818-4462-BBE8-AC94E9F1AC8E}"/>
              </a:ext>
            </a:extLst>
          </p:cNvPr>
          <p:cNvSpPr/>
          <p:nvPr/>
        </p:nvSpPr>
        <p:spPr>
          <a:xfrm>
            <a:off x="406400" y="1115530"/>
            <a:ext cx="4842933" cy="10942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/>
              <a:t>•(</a:t>
            </a:r>
            <a:r>
              <a:rPr lang="ko-KR" altLang="en-US" sz="1200" dirty="0"/>
              <a:t>보이스피싱을 막기위한 노력과 서비스들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•(1. </a:t>
            </a:r>
            <a:r>
              <a:rPr lang="ko-KR" altLang="en-US" sz="1200" dirty="0"/>
              <a:t>은행 </a:t>
            </a:r>
            <a:r>
              <a:rPr lang="en-US" altLang="ko-KR" sz="1200" dirty="0"/>
              <a:t>: </a:t>
            </a:r>
            <a:r>
              <a:rPr lang="ko-KR" altLang="en-US" sz="1200" dirty="0"/>
              <a:t>지연이체서비스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•(2. </a:t>
            </a:r>
            <a:r>
              <a:rPr lang="ko-KR" altLang="en-US" sz="1200" dirty="0"/>
              <a:t>지자체 </a:t>
            </a:r>
            <a:r>
              <a:rPr lang="en-US" altLang="ko-KR" sz="1200" dirty="0"/>
              <a:t>: )</a:t>
            </a:r>
          </a:p>
          <a:p>
            <a:r>
              <a:rPr lang="en-US" altLang="ko-KR" sz="1200" dirty="0"/>
              <a:t>•(3. </a:t>
            </a:r>
            <a:r>
              <a:rPr lang="ko-KR" altLang="en-US" sz="1200" dirty="0"/>
              <a:t>은행 외 보안 기업</a:t>
            </a:r>
            <a:r>
              <a:rPr lang="en-US" altLang="ko-KR" sz="1200" dirty="0"/>
              <a:t>, </a:t>
            </a:r>
            <a:r>
              <a:rPr lang="ko-KR" altLang="en-US" sz="1200" dirty="0"/>
              <a:t>통신사 등 </a:t>
            </a:r>
            <a:r>
              <a:rPr lang="en-US" altLang="ko-KR" sz="1200" dirty="0"/>
              <a:t>: )</a:t>
            </a:r>
          </a:p>
        </p:txBody>
      </p:sp>
    </p:spTree>
    <p:extLst>
      <p:ext uri="{BB962C8B-B14F-4D97-AF65-F5344CB8AC3E}">
        <p14:creationId xmlns:p14="http://schemas.microsoft.com/office/powerpoint/2010/main" val="1926315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4021D11-08E9-45C1-B0D5-F66DAA75D366}"/>
              </a:ext>
            </a:extLst>
          </p:cNvPr>
          <p:cNvSpPr txBox="1"/>
          <p:nvPr/>
        </p:nvSpPr>
        <p:spPr>
          <a:xfrm>
            <a:off x="449179" y="284020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현황분석</a:t>
            </a:r>
            <a:endParaRPr lang="en-US" altLang="ko-KR" sz="1800" dirty="0"/>
          </a:p>
          <a:p>
            <a:r>
              <a:rPr lang="ko-KR" altLang="en-US" sz="1800" dirty="0"/>
              <a:t>문제인식</a:t>
            </a:r>
          </a:p>
          <a:p>
            <a:r>
              <a:rPr lang="ko-KR" altLang="en-US" sz="1800" dirty="0"/>
              <a:t>타겟분석</a:t>
            </a:r>
          </a:p>
          <a:p>
            <a:r>
              <a:rPr lang="ko-KR" altLang="en-US" sz="1800" dirty="0"/>
              <a:t>인사이트</a:t>
            </a:r>
          </a:p>
          <a:p>
            <a:r>
              <a:rPr lang="ko-KR" altLang="en-US" sz="1800" dirty="0"/>
              <a:t>해결방안</a:t>
            </a:r>
            <a:r>
              <a:rPr lang="en-US" altLang="ko-KR" sz="1800" dirty="0"/>
              <a:t>(</a:t>
            </a:r>
            <a:r>
              <a:rPr lang="ko-KR" altLang="en-US" sz="1800" dirty="0"/>
              <a:t>컨셉</a:t>
            </a:r>
            <a:r>
              <a:rPr lang="en-US" altLang="ko-KR" sz="1800" dirty="0"/>
              <a:t>, </a:t>
            </a:r>
            <a:r>
              <a:rPr lang="ko-KR" altLang="en-US" sz="1800" dirty="0"/>
              <a:t>기술 </a:t>
            </a:r>
            <a:r>
              <a:rPr lang="en-US" altLang="ko-KR" sz="1800" dirty="0"/>
              <a:t>MVP </a:t>
            </a:r>
            <a:r>
              <a:rPr lang="ko-KR" altLang="en-US" sz="1800" dirty="0"/>
              <a:t>방향</a:t>
            </a:r>
            <a:r>
              <a:rPr lang="en-US" altLang="ko-KR" sz="1800" dirty="0"/>
              <a:t>)</a:t>
            </a:r>
            <a:endParaRPr lang="ko-KR" alt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4F83124-F027-4144-B778-86FA1C3ADE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9585222"/>
              </p:ext>
            </p:extLst>
          </p:nvPr>
        </p:nvGraphicFramePr>
        <p:xfrm>
          <a:off x="385233" y="3635535"/>
          <a:ext cx="11421533" cy="2194560"/>
        </p:xfrm>
        <a:graphic>
          <a:graphicData uri="http://schemas.openxmlformats.org/drawingml/2006/table">
            <a:tbl>
              <a:tblPr/>
              <a:tblGrid>
                <a:gridCol w="1535745">
                  <a:extLst>
                    <a:ext uri="{9D8B030D-6E8A-4147-A177-3AD203B41FA5}">
                      <a16:colId xmlns:a16="http://schemas.microsoft.com/office/drawing/2014/main" val="3673174892"/>
                    </a:ext>
                  </a:extLst>
                </a:gridCol>
                <a:gridCol w="4263923">
                  <a:extLst>
                    <a:ext uri="{9D8B030D-6E8A-4147-A177-3AD203B41FA5}">
                      <a16:colId xmlns:a16="http://schemas.microsoft.com/office/drawing/2014/main" val="1581058062"/>
                    </a:ext>
                  </a:extLst>
                </a:gridCol>
                <a:gridCol w="5621865">
                  <a:extLst>
                    <a:ext uri="{9D8B030D-6E8A-4147-A177-3AD203B41FA5}">
                      <a16:colId xmlns:a16="http://schemas.microsoft.com/office/drawing/2014/main" val="20120263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dirty="0"/>
                        <a:t>구성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핵심 질문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핵심 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5510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b="1"/>
                        <a:t>현황분석</a:t>
                      </a: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지금 얼마나 심각한가</a:t>
                      </a:r>
                      <a:r>
                        <a:rPr lang="en-US" altLang="ko-KR" dirty="0"/>
                        <a:t>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피해 통계 </a:t>
                      </a:r>
                      <a:r>
                        <a:rPr lang="en-US" altLang="ko-KR"/>
                        <a:t>+ </a:t>
                      </a:r>
                      <a:r>
                        <a:rPr lang="ko-KR" altLang="en-US"/>
                        <a:t>현재 시행 중인 대응책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0308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b="1"/>
                        <a:t>문제인식</a:t>
                      </a: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기존 노력에도 왜 피해가 발생하는가</a:t>
                      </a:r>
                      <a:r>
                        <a:rPr lang="en-US" altLang="ko-KR"/>
                        <a:t>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피해 순간 스스로 사기 여부를 판단하기 어려움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7005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b="1"/>
                        <a:t>타겟분석</a:t>
                      </a: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누가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어떤 상황에서 특히 어려운가</a:t>
                      </a:r>
                      <a:r>
                        <a:rPr lang="en-US" altLang="ko-KR" dirty="0"/>
                        <a:t>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연령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피해유형 데이터 </a:t>
                      </a:r>
                      <a:r>
                        <a:rPr lang="en-US" altLang="ko-KR"/>
                        <a:t>+ </a:t>
                      </a:r>
                      <a:r>
                        <a:rPr lang="ko-KR" altLang="en-US"/>
                        <a:t>설문 </a:t>
                      </a:r>
                      <a:r>
                        <a:rPr lang="en-US" altLang="ko-KR"/>
                        <a:t>+ Persona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63267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b="1"/>
                        <a:t>인사이트</a:t>
                      </a: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조사해서 무엇을 발견했는가</a:t>
                      </a:r>
                      <a:r>
                        <a:rPr lang="en-US" altLang="ko-KR"/>
                        <a:t>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정보 제공보다 ‘판단 보조 </a:t>
                      </a:r>
                      <a:r>
                        <a:rPr lang="en-US" altLang="ko-KR"/>
                        <a:t>+ </a:t>
                      </a:r>
                      <a:r>
                        <a:rPr lang="ko-KR" altLang="en-US"/>
                        <a:t>제</a:t>
                      </a:r>
                      <a:r>
                        <a:rPr lang="en-US" altLang="ko-KR"/>
                        <a:t>3</a:t>
                      </a:r>
                      <a:r>
                        <a:rPr lang="ko-KR" altLang="en-US"/>
                        <a:t>자 검증’이 필요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52730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b="1"/>
                        <a:t>해결방안</a:t>
                      </a: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그래서 무엇을 만들 것인가</a:t>
                      </a:r>
                      <a:r>
                        <a:rPr lang="en-US" altLang="ko-KR"/>
                        <a:t>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/>
                        <a:t>AI </a:t>
                      </a:r>
                      <a:r>
                        <a:rPr lang="ko-KR" altLang="en-US" dirty="0"/>
                        <a:t>위험진단 </a:t>
                      </a:r>
                      <a:r>
                        <a:rPr lang="en-US" altLang="ko-KR" dirty="0"/>
                        <a:t>+ </a:t>
                      </a:r>
                      <a:r>
                        <a:rPr lang="ko-KR" altLang="en-US" dirty="0"/>
                        <a:t>공식기관 확인 </a:t>
                      </a:r>
                      <a:r>
                        <a:rPr lang="en-US" altLang="ko-KR" dirty="0"/>
                        <a:t>+ </a:t>
                      </a:r>
                      <a:r>
                        <a:rPr lang="ko-KR" altLang="en-US" dirty="0"/>
                        <a:t>신뢰인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은행 연결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7936213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0DC96BB7-C39A-4D23-85F4-546AC88B93E5}"/>
              </a:ext>
            </a:extLst>
          </p:cNvPr>
          <p:cNvSpPr/>
          <p:nvPr/>
        </p:nvSpPr>
        <p:spPr>
          <a:xfrm>
            <a:off x="449179" y="2387600"/>
            <a:ext cx="5461000" cy="1041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가해자의 </a:t>
            </a:r>
            <a:r>
              <a:rPr lang="en-US" altLang="ko-KR" dirty="0"/>
              <a:t>: </a:t>
            </a:r>
            <a:r>
              <a:rPr lang="ko-KR" altLang="en-US" dirty="0"/>
              <a:t>비대칭 전략</a:t>
            </a:r>
            <a:r>
              <a:rPr lang="en-US" altLang="ko-KR" dirty="0"/>
              <a:t>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96915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89A4A6F-533F-46B7-8101-5E925A17E362}"/>
              </a:ext>
            </a:extLst>
          </p:cNvPr>
          <p:cNvSpPr txBox="1"/>
          <p:nvPr/>
        </p:nvSpPr>
        <p:spPr>
          <a:xfrm>
            <a:off x="385011" y="321711"/>
            <a:ext cx="758791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400" dirty="0"/>
              <a:t>제안서 첫 장의 문제의식</a:t>
            </a:r>
            <a:r>
              <a:rPr lang="en-US" altLang="ko-KR" sz="1400" dirty="0"/>
              <a:t>/</a:t>
            </a:r>
            <a:r>
              <a:rPr lang="ko-KR" altLang="en-US" sz="1400" dirty="0"/>
              <a:t>비전 메시지</a:t>
            </a:r>
            <a:endParaRPr lang="en-US" altLang="ko-KR" sz="1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400" dirty="0"/>
              <a:t>“단 </a:t>
            </a:r>
            <a:r>
              <a:rPr lang="en-US" altLang="ko-KR" sz="1400" dirty="0"/>
              <a:t>1</a:t>
            </a:r>
            <a:r>
              <a:rPr lang="ko-KR" altLang="en-US" sz="1400" dirty="0"/>
              <a:t>원이라도</a:t>
            </a:r>
            <a:r>
              <a:rPr lang="en-US" altLang="ko-KR" sz="1400" dirty="0"/>
              <a:t>, </a:t>
            </a:r>
            <a:r>
              <a:rPr lang="ko-KR" altLang="en-US" sz="1400" dirty="0"/>
              <a:t>그 누구도 피해를 봐서는 안 된다”</a:t>
            </a:r>
            <a:endParaRPr lang="en-US" altLang="ko-KR" sz="1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제안서 전체 논리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보이스피싱 피해는 지속된다</a:t>
            </a:r>
            <a:endParaRPr kumimoji="0" lang="en-US" altLang="ko-K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이미 사회·금융권이 많은 대응을 하고 있다</a:t>
            </a:r>
            <a:endParaRPr kumimoji="0" lang="en-US" altLang="ko-K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그런데도 피해자가 ‘사기인지 판단하지 못하는 순간’이 존재한다</a:t>
            </a:r>
            <a:endParaRPr kumimoji="0" lang="en-US" altLang="ko-K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특히 특정 집단에서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판단의 어려움이 나타난다</a:t>
            </a:r>
            <a:endParaRPr kumimoji="0" lang="en-US" altLang="ko-K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기존 예방책은 이 판단 공백을 완전히 메우지 못한다</a:t>
            </a:r>
            <a:endParaRPr kumimoji="0" lang="en-US" altLang="ko-K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AI + 신뢰인/은행/기관 검증 구조로 보완한다.</a:t>
            </a:r>
            <a:endParaRPr kumimoji="0" lang="en-US" altLang="ko-K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[</a:t>
            </a: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제안서의 역할</a:t>
            </a: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b="1" dirty="0">
                <a:solidFill>
                  <a:srgbClr val="FF0000"/>
                </a:solidFill>
              </a:rPr>
              <a:t>“많은 대응에도 남아 있는 판단 공백”</a:t>
            </a:r>
            <a:r>
              <a:rPr lang="ko-KR" altLang="en-US" dirty="0">
                <a:solidFill>
                  <a:srgbClr val="FF0000"/>
                </a:solidFill>
              </a:rPr>
              <a:t>을 증명하는 방향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1498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B83D95-FB1D-498E-95DA-28318ABE62B9}"/>
              </a:ext>
            </a:extLst>
          </p:cNvPr>
          <p:cNvSpPr txBox="1"/>
          <p:nvPr/>
        </p:nvSpPr>
        <p:spPr>
          <a:xfrm>
            <a:off x="1588168" y="1618435"/>
            <a:ext cx="928837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1. </a:t>
            </a:r>
            <a:r>
              <a:rPr lang="ko-KR" altLang="en-US" b="1" dirty="0"/>
              <a:t>현황분석</a:t>
            </a:r>
          </a:p>
          <a:p>
            <a:r>
              <a:rPr lang="ko-KR" altLang="en-US" b="1" dirty="0"/>
              <a:t>“지금 보이스피싱 문제가 어느 정도이고</a:t>
            </a:r>
            <a:r>
              <a:rPr lang="en-US" altLang="ko-KR" b="1" dirty="0"/>
              <a:t>, </a:t>
            </a:r>
            <a:r>
              <a:rPr lang="ko-KR" altLang="en-US" b="1" dirty="0"/>
              <a:t>현재 어떤 대응을 하고 있는가</a:t>
            </a:r>
            <a:r>
              <a:rPr lang="en-US" altLang="ko-KR" b="1" dirty="0"/>
              <a:t>?”</a:t>
            </a:r>
          </a:p>
          <a:p>
            <a:endParaRPr lang="ko-KR" altLang="en-US" dirty="0"/>
          </a:p>
          <a:p>
            <a:r>
              <a:rPr lang="ko-KR" altLang="en-US" dirty="0"/>
              <a:t>들어갈 내용</a:t>
            </a:r>
            <a:r>
              <a:rPr lang="en-US" altLang="ko-KR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최근 보이스피싱 </a:t>
            </a:r>
            <a:r>
              <a:rPr lang="ko-KR" altLang="en-US" b="1" dirty="0"/>
              <a:t>피해 건수</a:t>
            </a:r>
            <a:r>
              <a:rPr lang="en-US" altLang="ko-KR" b="1" dirty="0"/>
              <a:t>·</a:t>
            </a:r>
            <a:r>
              <a:rPr lang="ko-KR" altLang="en-US" b="1" dirty="0"/>
              <a:t>피해액</a:t>
            </a:r>
            <a:r>
              <a:rPr lang="en-US" altLang="ko-KR" b="1" dirty="0"/>
              <a:t>·</a:t>
            </a:r>
            <a:r>
              <a:rPr lang="ko-KR" altLang="en-US" b="1" dirty="0"/>
              <a:t>증감 추이</a:t>
            </a:r>
            <a:r>
              <a:rPr lang="ko-KR" alt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연령별</a:t>
            </a:r>
            <a:r>
              <a:rPr lang="en-US" altLang="ko-KR" dirty="0"/>
              <a:t>/</a:t>
            </a:r>
            <a:r>
              <a:rPr lang="ko-KR" altLang="en-US" dirty="0"/>
              <a:t>유형별</a:t>
            </a:r>
            <a:r>
              <a:rPr lang="en-US" altLang="ko-KR" dirty="0"/>
              <a:t>/</a:t>
            </a:r>
            <a:r>
              <a:rPr lang="ko-KR" altLang="en-US" dirty="0"/>
              <a:t>사칭기관별 피해 현황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은행</a:t>
            </a:r>
            <a:r>
              <a:rPr lang="en-US" altLang="ko-KR" dirty="0"/>
              <a:t>·</a:t>
            </a:r>
            <a:r>
              <a:rPr lang="ko-KR" altLang="en-US" dirty="0"/>
              <a:t>정부</a:t>
            </a:r>
            <a:r>
              <a:rPr lang="en-US" altLang="ko-KR" dirty="0"/>
              <a:t>·</a:t>
            </a:r>
            <a:r>
              <a:rPr lang="ko-KR" altLang="en-US" dirty="0"/>
              <a:t>지자체</a:t>
            </a:r>
            <a:r>
              <a:rPr lang="en-US" altLang="ko-KR" dirty="0"/>
              <a:t>·</a:t>
            </a:r>
            <a:r>
              <a:rPr lang="ko-KR" altLang="en-US" dirty="0"/>
              <a:t>통신사</a:t>
            </a:r>
            <a:r>
              <a:rPr lang="en-US" altLang="ko-KR" dirty="0"/>
              <a:t>·</a:t>
            </a:r>
            <a:r>
              <a:rPr lang="ko-KR" altLang="en-US" dirty="0"/>
              <a:t>보안기업의 기존 대응 </a:t>
            </a:r>
            <a:r>
              <a:rPr lang="en-US" altLang="ko-KR" dirty="0"/>
              <a:t>(</a:t>
            </a:r>
            <a:r>
              <a:rPr lang="ko-KR" altLang="en-US" dirty="0"/>
              <a:t>실제 성과가 높다는 거도 언급</a:t>
            </a:r>
            <a:r>
              <a:rPr lang="en-US" altLang="ko-KR" dirty="0"/>
              <a:t>)</a:t>
            </a:r>
            <a:endParaRPr lang="ko-KR" alt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은행</a:t>
            </a:r>
            <a:r>
              <a:rPr lang="en-US" altLang="ko-KR" dirty="0"/>
              <a:t>: </a:t>
            </a:r>
            <a:r>
              <a:rPr lang="ko-KR" altLang="en-US" dirty="0"/>
              <a:t>지연이체</a:t>
            </a:r>
            <a:r>
              <a:rPr lang="en-US" altLang="ko-KR" dirty="0"/>
              <a:t>, </a:t>
            </a:r>
            <a:r>
              <a:rPr lang="ko-KR" altLang="en-US" dirty="0"/>
              <a:t>이상거래탐지</a:t>
            </a:r>
            <a:r>
              <a:rPr lang="en-US" altLang="ko-KR" dirty="0"/>
              <a:t>, </a:t>
            </a:r>
            <a:r>
              <a:rPr lang="ko-KR" altLang="en-US" dirty="0"/>
              <a:t>지급정지 등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정부</a:t>
            </a:r>
            <a:r>
              <a:rPr lang="en-US" altLang="ko-KR" dirty="0"/>
              <a:t>/</a:t>
            </a:r>
            <a:r>
              <a:rPr lang="ko-KR" altLang="en-US" dirty="0"/>
              <a:t>기관</a:t>
            </a:r>
            <a:r>
              <a:rPr lang="en-US" altLang="ko-KR" dirty="0"/>
              <a:t>: </a:t>
            </a:r>
            <a:r>
              <a:rPr lang="ko-KR" altLang="en-US" dirty="0"/>
              <a:t>예방교육</a:t>
            </a:r>
            <a:r>
              <a:rPr lang="en-US" altLang="ko-KR" dirty="0"/>
              <a:t>, </a:t>
            </a:r>
            <a:r>
              <a:rPr lang="ko-KR" altLang="en-US" dirty="0"/>
              <a:t>신고체계 등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통신사</a:t>
            </a:r>
            <a:r>
              <a:rPr lang="en-US" altLang="ko-KR" dirty="0"/>
              <a:t>·</a:t>
            </a:r>
            <a:r>
              <a:rPr lang="ko-KR" altLang="en-US" dirty="0"/>
              <a:t>보안기업</a:t>
            </a:r>
            <a:r>
              <a:rPr lang="en-US" altLang="ko-KR" dirty="0"/>
              <a:t>: </a:t>
            </a:r>
            <a:r>
              <a:rPr lang="ko-KR" altLang="en-US" dirty="0"/>
              <a:t>번호 탐지</a:t>
            </a:r>
            <a:r>
              <a:rPr lang="en-US" altLang="ko-KR" dirty="0"/>
              <a:t>, </a:t>
            </a:r>
            <a:r>
              <a:rPr lang="ko-KR" altLang="en-US" dirty="0"/>
              <a:t>스팸</a:t>
            </a:r>
            <a:r>
              <a:rPr lang="en-US" altLang="ko-KR" dirty="0"/>
              <a:t>·</a:t>
            </a:r>
            <a:r>
              <a:rPr lang="ko-KR" altLang="en-US" dirty="0"/>
              <a:t>악성앱 차단 등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많은 대응책이 있음에도 피해가 지속되는 현상</a:t>
            </a:r>
            <a:r>
              <a:rPr lang="ko-KR" altLang="en-US" dirty="0"/>
              <a:t> </a:t>
            </a:r>
          </a:p>
          <a:p>
            <a:r>
              <a:rPr lang="ko-KR" altLang="en-US" dirty="0"/>
              <a:t>여기에서는 감성적인 주장보다는 </a:t>
            </a:r>
            <a:r>
              <a:rPr lang="ko-KR" altLang="en-US" b="1" dirty="0"/>
              <a:t>통계와 기존 서비스 현황</a:t>
            </a:r>
            <a:r>
              <a:rPr lang="ko-KR" altLang="en-US" dirty="0"/>
              <a:t>이 중심이어야 해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00551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7A361D1-D75B-44B8-A5A0-C6F5107A63E4}"/>
              </a:ext>
            </a:extLst>
          </p:cNvPr>
          <p:cNvSpPr txBox="1"/>
          <p:nvPr/>
        </p:nvSpPr>
        <p:spPr>
          <a:xfrm>
            <a:off x="657727" y="1166842"/>
            <a:ext cx="1153427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문제인식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“그런데 왜 기존 대응만으로 해결되지 않는가?”</a:t>
            </a:r>
            <a:endParaRPr kumimoji="0" lang="en-US" altLang="ko-K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핵심 문제를 하나로 좁히면: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피해자가 보이스피싱 상황 안에 들어간 순간에는, 그것이 사기인지 스스로 판단하기 어렵다.</a:t>
            </a:r>
            <a:endParaRPr kumimoji="0" lang="en-US" altLang="ko-K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들어갈 내용: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범죄자가 사용하는 압박·권위·긴급성·기관사칭 등의 수법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사용자가 이미 통화에 몰입된 이후에는 기존 예방교육을 떠올리기 어려움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기존 서비스는 주로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사전에 알려주거나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의심 번호를 차단하거나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송금 이후 피해를 막는 방향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그러나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“현재 이 대화가 정상인지 사기인지 판단하는 단계”에 공백이 존재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여기가 제안서에서 가장 중요해.</a:t>
            </a:r>
            <a:b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보이스피싱은 나쁘다 → 막아야 한다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가 문제가 아니라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기존 대응이 놓치고 있는 구체적인 공백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을 정의</a:t>
            </a: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필</a:t>
            </a:r>
            <a:r>
              <a:rPr lang="ko-KR" altLang="en-US" dirty="0">
                <a:latin typeface="Arial" panose="020B0604020202020204" pitchFamily="34" charset="0"/>
              </a:rPr>
              <a:t>요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5449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23570-512E-461F-B194-95B320861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36788"/>
            <a:ext cx="10515600" cy="1325563"/>
          </a:xfrm>
        </p:spPr>
        <p:txBody>
          <a:bodyPr/>
          <a:lstStyle/>
          <a:p>
            <a:r>
              <a:rPr lang="ko-KR" altLang="en-US" b="1" dirty="0">
                <a:solidFill>
                  <a:srgbClr val="FF0000"/>
                </a:solidFill>
              </a:rPr>
              <a:t>그런데 잠깐</a:t>
            </a:r>
            <a:r>
              <a:rPr lang="en-US" altLang="ko-KR" b="1" dirty="0">
                <a:solidFill>
                  <a:srgbClr val="FF0000"/>
                </a:solidFill>
              </a:rPr>
              <a:t>!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6F1CDD-0A31-41CD-A70E-AABDE9D88247}"/>
              </a:ext>
            </a:extLst>
          </p:cNvPr>
          <p:cNvSpPr txBox="1"/>
          <p:nvPr/>
        </p:nvSpPr>
        <p:spPr>
          <a:xfrm>
            <a:off x="533400" y="1562351"/>
            <a:ext cx="92883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“범죄자의 심리전략 때문에 판단이 흐려진다”만으로는 원인 설명이 부족한게 아닐까</a:t>
            </a:r>
            <a:r>
              <a:rPr lang="en-US" altLang="ko-KR" dirty="0"/>
              <a:t>??!</a:t>
            </a:r>
          </a:p>
          <a:p>
            <a:r>
              <a:rPr lang="ko-KR" altLang="en-US" dirty="0"/>
              <a:t>그 심리 전략에도</a:t>
            </a:r>
            <a:r>
              <a:rPr lang="en-US" altLang="ko-KR" dirty="0"/>
              <a:t>... 3040</a:t>
            </a:r>
            <a:r>
              <a:rPr lang="ko-KR" altLang="en-US" dirty="0"/>
              <a:t>보다 유독 </a:t>
            </a:r>
            <a:r>
              <a:rPr lang="en-US" altLang="ko-KR" dirty="0"/>
              <a:t>20</a:t>
            </a:r>
            <a:r>
              <a:rPr lang="ko-KR" altLang="en-US" dirty="0"/>
              <a:t>대</a:t>
            </a:r>
            <a:r>
              <a:rPr lang="en-US" altLang="ko-KR" dirty="0"/>
              <a:t>&amp;</a:t>
            </a:r>
            <a:r>
              <a:rPr lang="ko-KR" altLang="en-US" dirty="0"/>
              <a:t>고령층이 당하는 원인이 더 있을 것이다</a:t>
            </a:r>
            <a:r>
              <a:rPr lang="en-US" altLang="ko-KR" dirty="0"/>
              <a:t>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46060A-48D1-4D4D-A40D-17F5F299B3B4}"/>
              </a:ext>
            </a:extLst>
          </p:cNvPr>
          <p:cNvSpPr txBox="1"/>
          <p:nvPr/>
        </p:nvSpPr>
        <p:spPr>
          <a:xfrm>
            <a:off x="677333" y="2247531"/>
            <a:ext cx="7908758" cy="646331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더 정확한 구조는 </a:t>
            </a:r>
            <a:r>
              <a:rPr lang="ko-KR" altLang="en-US" b="1" dirty="0">
                <a:solidFill>
                  <a:schemeClr val="bg1"/>
                </a:solidFill>
              </a:rPr>
              <a:t>범죄자의 조작 전략 </a:t>
            </a:r>
            <a:r>
              <a:rPr lang="en-US" altLang="ko-KR" b="1" dirty="0">
                <a:solidFill>
                  <a:schemeClr val="bg1"/>
                </a:solidFill>
              </a:rPr>
              <a:t>× </a:t>
            </a:r>
            <a:r>
              <a:rPr lang="ko-KR" altLang="en-US" b="1" dirty="0">
                <a:solidFill>
                  <a:schemeClr val="bg1"/>
                </a:solidFill>
              </a:rPr>
              <a:t>피해자의 취약요인 </a:t>
            </a:r>
            <a:r>
              <a:rPr lang="en-US" altLang="ko-KR" b="1" dirty="0">
                <a:solidFill>
                  <a:schemeClr val="bg1"/>
                </a:solidFill>
              </a:rPr>
              <a:t>× </a:t>
            </a:r>
            <a:r>
              <a:rPr lang="ko-KR" altLang="en-US" b="1" dirty="0">
                <a:solidFill>
                  <a:schemeClr val="bg1"/>
                </a:solidFill>
              </a:rPr>
              <a:t>당시 상황</a:t>
            </a:r>
            <a:r>
              <a:rPr lang="ko-KR" altLang="en-US" dirty="0">
                <a:solidFill>
                  <a:schemeClr val="bg1"/>
                </a:solidFill>
              </a:rPr>
              <a:t>이 결합하면서 판단이 무너진다고 보는게 맞지 않을까</a:t>
            </a:r>
            <a:r>
              <a:rPr lang="en-US" altLang="ko-KR" dirty="0">
                <a:solidFill>
                  <a:schemeClr val="bg1"/>
                </a:solidFill>
              </a:rPr>
              <a:t>?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62DA3C-36B4-484A-9991-7771D4FEFAFA}"/>
              </a:ext>
            </a:extLst>
          </p:cNvPr>
          <p:cNvSpPr txBox="1"/>
          <p:nvPr/>
        </p:nvSpPr>
        <p:spPr>
          <a:xfrm>
            <a:off x="677332" y="3374801"/>
            <a:ext cx="1003879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/>
              <a:t>기관사칭형</a:t>
            </a:r>
            <a:r>
              <a:rPr lang="ko-KR" altLang="en-US" dirty="0"/>
              <a:t>에서는 </a:t>
            </a:r>
            <a:r>
              <a:rPr lang="en-US" altLang="ko-KR" dirty="0"/>
              <a:t>20</a:t>
            </a:r>
            <a:r>
              <a:rPr lang="ko-KR" altLang="en-US" dirty="0"/>
              <a:t>대가 취약한 경향이 확인됐고 최근에는 </a:t>
            </a:r>
            <a:r>
              <a:rPr lang="en-US" altLang="ko-KR" dirty="0"/>
              <a:t>60</a:t>
            </a:r>
            <a:r>
              <a:rPr lang="ko-KR" altLang="en-US" dirty="0"/>
              <a:t>대 이상 피해도 크게 증가했다</a:t>
            </a:r>
            <a:r>
              <a:rPr lang="en-US" altLang="ko-KR" dirty="0"/>
              <a:t>. </a:t>
            </a:r>
            <a:r>
              <a:rPr lang="ko-KR" altLang="en-US" dirty="0"/>
              <a:t>즉 </a:t>
            </a:r>
            <a:r>
              <a:rPr lang="ko-KR" altLang="en-US" b="1" dirty="0"/>
              <a:t>연령 그 자체보다 ‘어떤 수법에 어떤 취약성이 결합하느냐’가 핵심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en-US" altLang="ko-KR" b="1" dirty="0">
                <a:hlinkClick r:id="rId2"/>
              </a:rPr>
              <a:t>https://www.kci.go.kr/kciportal/ci/sereArticleSearch/ciSereArtiView.kci?sereArticleSearchBean.artiId=ART002902272&amp;utm_source=chatgpt.com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en-US" altLang="ko-KR" b="1" dirty="0">
                <a:hlinkClick r:id="rId3"/>
              </a:rPr>
              <a:t>https://www.kci.go.kr/kciportal/landing/article.kci?arti_id=ART002716015&amp;utm_source=chatgpt.com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en-US" altLang="ko-KR" b="1" dirty="0">
                <a:hlinkClick r:id="rId4"/>
              </a:rPr>
              <a:t>https://www.korea.kr/news/policyNewsView.do?newsId=148935404&amp;utm_source=chatgpt.com</a:t>
            </a:r>
            <a:endParaRPr lang="en-US" altLang="ko-KR" b="1" dirty="0"/>
          </a:p>
          <a:p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702753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5A18DF-E435-4997-A6BF-90E91B675557}"/>
              </a:ext>
            </a:extLst>
          </p:cNvPr>
          <p:cNvSpPr txBox="1"/>
          <p:nvPr/>
        </p:nvSpPr>
        <p:spPr>
          <a:xfrm>
            <a:off x="445056" y="1422690"/>
            <a:ext cx="1130188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20</a:t>
            </a:r>
            <a:r>
              <a:rPr lang="ko-KR" altLang="en-US" b="1" dirty="0">
                <a:solidFill>
                  <a:srgbClr val="FF0000"/>
                </a:solidFill>
              </a:rPr>
              <a:t>대 사회초년생</a:t>
            </a:r>
            <a:r>
              <a:rPr lang="ko-KR" altLang="en-US" dirty="0">
                <a:solidFill>
                  <a:srgbClr val="FF0000"/>
                </a:solidFill>
              </a:rPr>
              <a:t>의 경우 제도</a:t>
            </a:r>
            <a:r>
              <a:rPr lang="en-US" altLang="ko-KR" dirty="0">
                <a:solidFill>
                  <a:srgbClr val="FF0000"/>
                </a:solidFill>
              </a:rPr>
              <a:t>·</a:t>
            </a:r>
            <a:r>
              <a:rPr lang="ko-KR" altLang="en-US" dirty="0">
                <a:solidFill>
                  <a:srgbClr val="FF0000"/>
                </a:solidFill>
              </a:rPr>
              <a:t>금융</a:t>
            </a:r>
            <a:r>
              <a:rPr lang="en-US" altLang="ko-KR" dirty="0">
                <a:solidFill>
                  <a:srgbClr val="FF0000"/>
                </a:solidFill>
              </a:rPr>
              <a:t>·</a:t>
            </a:r>
            <a:r>
              <a:rPr lang="ko-KR" altLang="en-US" dirty="0">
                <a:solidFill>
                  <a:srgbClr val="FF0000"/>
                </a:solidFill>
              </a:rPr>
              <a:t>수사 절차에 대한 경험 부족에서 오는 ‘진위판별 기준의 부족’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b="1" dirty="0">
                <a:solidFill>
                  <a:srgbClr val="FF0000"/>
                </a:solidFill>
              </a:rPr>
              <a:t>정상 절차에 대한 기준점</a:t>
            </a:r>
            <a:r>
              <a:rPr lang="ko-KR" altLang="en-US" dirty="0">
                <a:solidFill>
                  <a:srgbClr val="FF0000"/>
                </a:solidFill>
              </a:rPr>
              <a:t>이 없기 때문에 사기범이 제공하는 설명을 기준으로 상황을 이해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</a:p>
          <a:p>
            <a:r>
              <a:rPr lang="ko-KR" altLang="en-US" dirty="0"/>
              <a:t>경험 부족 → 정상 절차에 대한 기준 부족 → 범죄자가 만든 가짜 상황을 검증하기 어려움 → 권위</a:t>
            </a:r>
            <a:r>
              <a:rPr lang="en-US" altLang="ko-KR" dirty="0"/>
              <a:t>·</a:t>
            </a:r>
            <a:r>
              <a:rPr lang="ko-KR" altLang="en-US" dirty="0"/>
              <a:t>긴급성에 압박 → 판단 실패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+ </a:t>
            </a:r>
            <a:r>
              <a:rPr lang="ko-KR" altLang="en-US" dirty="0"/>
              <a:t>과거 경찰청도 </a:t>
            </a:r>
            <a:r>
              <a:rPr lang="en-US" altLang="ko-KR" dirty="0"/>
              <a:t>20~30</a:t>
            </a:r>
            <a:r>
              <a:rPr lang="ko-KR" altLang="en-US" dirty="0"/>
              <a:t>대의 기관사칭 피해와 관련해 사회초년생이 범죄사건 등에 대한 직</a:t>
            </a:r>
            <a:r>
              <a:rPr lang="en-US" altLang="ko-KR" dirty="0"/>
              <a:t>·</a:t>
            </a:r>
            <a:r>
              <a:rPr lang="ko-KR" altLang="en-US" dirty="0"/>
              <a:t>간접 경험이 적고</a:t>
            </a:r>
            <a:r>
              <a:rPr lang="en-US" altLang="ko-KR" dirty="0"/>
              <a:t>, </a:t>
            </a:r>
            <a:r>
              <a:rPr lang="ko-KR" altLang="en-US" dirty="0"/>
              <a:t>고압적인 상황에서 사건에 몰입하게 되는 점을 원인으로 분석한 바 있음</a:t>
            </a:r>
            <a:endParaRPr lang="en-US" altLang="ko-KR" dirty="0"/>
          </a:p>
          <a:p>
            <a:r>
              <a:rPr lang="en-US" altLang="ko-KR" dirty="0">
                <a:hlinkClick r:id="rId2"/>
              </a:rPr>
              <a:t>https://www.korea.kr/briefing/policyBriefingView.do?newsId=148831334&amp;utm_source=chatgpt.com</a:t>
            </a:r>
            <a:r>
              <a:rPr lang="en-US" altLang="ko-KR" dirty="0"/>
              <a:t>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656DAAD-DEBB-4D46-90F4-9CEF48E21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36788"/>
            <a:ext cx="10515600" cy="1325563"/>
          </a:xfrm>
        </p:spPr>
        <p:txBody>
          <a:bodyPr/>
          <a:lstStyle/>
          <a:p>
            <a:r>
              <a:rPr lang="ko-KR" altLang="en-US" b="1" dirty="0">
                <a:solidFill>
                  <a:srgbClr val="FF0000"/>
                </a:solidFill>
              </a:rPr>
              <a:t>그런데 잠깐</a:t>
            </a:r>
            <a:r>
              <a:rPr lang="en-US" altLang="ko-KR" b="1" dirty="0">
                <a:solidFill>
                  <a:srgbClr val="FF0000"/>
                </a:solidFill>
              </a:rPr>
              <a:t>! – 20</a:t>
            </a:r>
            <a:r>
              <a:rPr lang="ko-KR" altLang="en-US" b="1" dirty="0">
                <a:solidFill>
                  <a:srgbClr val="FF0000"/>
                </a:solidFill>
              </a:rPr>
              <a:t>대</a:t>
            </a:r>
          </a:p>
        </p:txBody>
      </p:sp>
    </p:spTree>
    <p:extLst>
      <p:ext uri="{BB962C8B-B14F-4D97-AF65-F5344CB8AC3E}">
        <p14:creationId xmlns:p14="http://schemas.microsoft.com/office/powerpoint/2010/main" val="654928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5A18DF-E435-4997-A6BF-90E91B675557}"/>
              </a:ext>
            </a:extLst>
          </p:cNvPr>
          <p:cNvSpPr txBox="1"/>
          <p:nvPr/>
        </p:nvSpPr>
        <p:spPr>
          <a:xfrm>
            <a:off x="445056" y="1422690"/>
            <a:ext cx="1130188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연구에서는 고령층의 사기 취약성과 관련해 </a:t>
            </a:r>
            <a:r>
              <a:rPr lang="ko-KR" altLang="en-US" b="1" dirty="0"/>
              <a:t>처리속도</a:t>
            </a:r>
            <a:r>
              <a:rPr lang="en-US" altLang="ko-KR" b="1" dirty="0"/>
              <a:t>·</a:t>
            </a:r>
            <a:r>
              <a:rPr lang="ko-KR" altLang="en-US" b="1" dirty="0"/>
              <a:t>기억</a:t>
            </a:r>
            <a:r>
              <a:rPr lang="en-US" altLang="ko-KR" b="1" dirty="0"/>
              <a:t>·</a:t>
            </a:r>
            <a:r>
              <a:rPr lang="ko-KR" altLang="en-US" b="1" dirty="0"/>
              <a:t>추론</a:t>
            </a:r>
            <a:r>
              <a:rPr lang="en-US" altLang="ko-KR" b="1" dirty="0"/>
              <a:t>·</a:t>
            </a:r>
            <a:r>
              <a:rPr lang="ko-KR" altLang="en-US" b="1" dirty="0"/>
              <a:t>집행기능 등의 인지기능 저하</a:t>
            </a:r>
            <a:r>
              <a:rPr lang="en-US" altLang="ko-KR" b="1" dirty="0"/>
              <a:t>, </a:t>
            </a:r>
            <a:r>
              <a:rPr lang="ko-KR" altLang="en-US" b="1" dirty="0"/>
              <a:t>금융</a:t>
            </a:r>
            <a:r>
              <a:rPr lang="en-US" altLang="ko-KR" b="1" dirty="0"/>
              <a:t>·</a:t>
            </a:r>
            <a:r>
              <a:rPr lang="ko-KR" altLang="en-US" b="1" dirty="0"/>
              <a:t>디지털 리터러시 부족</a:t>
            </a:r>
            <a:r>
              <a:rPr lang="en-US" altLang="ko-KR" b="1" dirty="0"/>
              <a:t>, </a:t>
            </a:r>
            <a:r>
              <a:rPr lang="ko-KR" altLang="en-US" b="1" dirty="0"/>
              <a:t>사회적 고립</a:t>
            </a:r>
            <a:r>
              <a:rPr lang="en-US" altLang="ko-KR" b="1" dirty="0"/>
              <a:t>, </a:t>
            </a:r>
            <a:r>
              <a:rPr lang="ko-KR" altLang="en-US" b="1" dirty="0"/>
              <a:t>낮은 사회적 지원</a:t>
            </a:r>
            <a:r>
              <a:rPr lang="ko-KR" altLang="en-US" dirty="0"/>
              <a:t> 등이 연관되는 것으로 나타남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특히 경도인지저하가 있는 고령자의 경우 사기 취약성이 더 높다는 연구도 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b="1" dirty="0">
                <a:highlight>
                  <a:srgbClr val="FFFF00"/>
                </a:highlight>
              </a:rPr>
              <a:t>검사 → 금감원 직원 → 카드사 직원 </a:t>
            </a:r>
            <a:r>
              <a:rPr lang="en-US" altLang="ko-KR" b="1" dirty="0">
                <a:highlight>
                  <a:srgbClr val="FFFF00"/>
                </a:highlight>
              </a:rPr>
              <a:t>(</a:t>
            </a:r>
            <a:r>
              <a:rPr lang="ko-KR" altLang="en-US" b="1" dirty="0">
                <a:highlight>
                  <a:srgbClr val="FFFF00"/>
                </a:highlight>
              </a:rPr>
              <a:t>관련 전략 내용 확인 가능한지 살펴보고 데이터화하기</a:t>
            </a:r>
            <a:r>
              <a:rPr lang="en-US" altLang="ko-KR" b="1" dirty="0">
                <a:highlight>
                  <a:srgbClr val="FFFF00"/>
                </a:highlight>
              </a:rPr>
              <a:t>)</a:t>
            </a:r>
            <a:endParaRPr lang="ko-KR" altLang="en-US" dirty="0">
              <a:highlight>
                <a:srgbClr val="FFFF00"/>
              </a:highlight>
            </a:endParaRPr>
          </a:p>
          <a:p>
            <a:r>
              <a:rPr lang="ko-KR" altLang="en-US" dirty="0"/>
              <a:t>처럼 여러 사람이 등장하도록 만들어 가짜 상황의 일관성을 높이고</a:t>
            </a:r>
            <a:r>
              <a:rPr lang="en-US" altLang="ko-KR" dirty="0"/>
              <a:t>, </a:t>
            </a:r>
            <a:r>
              <a:rPr lang="ko-KR" altLang="en-US" dirty="0"/>
              <a:t>악성 앱 등을 이용해 피해자가 외부에 확인하지 못하도록 고립시키기도 한다</a:t>
            </a:r>
            <a:r>
              <a:rPr lang="en-US" altLang="ko-KR" dirty="0"/>
              <a:t>. </a:t>
            </a:r>
            <a:r>
              <a:rPr lang="ko-KR" altLang="en-US" dirty="0"/>
              <a:t>실제 경찰청도 </a:t>
            </a:r>
            <a:r>
              <a:rPr lang="en-US" altLang="ko-KR" dirty="0"/>
              <a:t>60</a:t>
            </a:r>
            <a:r>
              <a:rPr lang="ko-KR" altLang="en-US" dirty="0"/>
              <a:t>대 이상 기관사칭 피해 증가와 관련해 사회활동 감소에 따른 정보 부족과 심리적 압박 등을 지적</a:t>
            </a:r>
          </a:p>
          <a:p>
            <a:r>
              <a:rPr lang="en-US" altLang="ko-KR" dirty="0">
                <a:hlinkClick r:id="rId2"/>
              </a:rPr>
              <a:t>https://www.korea.kr/news/policyNewsView.do?newsId=148935404&amp;utm_source=chatgpt.com</a:t>
            </a:r>
            <a:r>
              <a:rPr lang="en-US" altLang="ko-KR" dirty="0"/>
              <a:t> </a:t>
            </a:r>
          </a:p>
          <a:p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en-US" dirty="0">
                <a:solidFill>
                  <a:srgbClr val="FF0000"/>
                </a:solidFill>
              </a:rPr>
              <a:t>디지털</a:t>
            </a:r>
            <a:r>
              <a:rPr lang="en-US" altLang="ko-KR" dirty="0">
                <a:solidFill>
                  <a:srgbClr val="FF0000"/>
                </a:solidFill>
              </a:rPr>
              <a:t>·</a:t>
            </a:r>
            <a:r>
              <a:rPr lang="ko-KR" altLang="en-US" dirty="0">
                <a:solidFill>
                  <a:srgbClr val="FF0000"/>
                </a:solidFill>
              </a:rPr>
              <a:t>금융환경 변화에 대한 정보격차 </a:t>
            </a:r>
            <a:r>
              <a:rPr lang="en-US" altLang="ko-KR" dirty="0">
                <a:solidFill>
                  <a:srgbClr val="FF0000"/>
                </a:solidFill>
              </a:rPr>
              <a:t>+ </a:t>
            </a:r>
            <a:r>
              <a:rPr lang="ko-KR" altLang="en-US" dirty="0">
                <a:solidFill>
                  <a:srgbClr val="FF0000"/>
                </a:solidFill>
              </a:rPr>
              <a:t>일부 고령자의 인지처리 부담 </a:t>
            </a:r>
            <a:r>
              <a:rPr lang="en-US" altLang="ko-KR" dirty="0">
                <a:solidFill>
                  <a:srgbClr val="FF0000"/>
                </a:solidFill>
              </a:rPr>
              <a:t>+ </a:t>
            </a:r>
            <a:r>
              <a:rPr lang="ko-KR" altLang="en-US" dirty="0">
                <a:solidFill>
                  <a:srgbClr val="FF0000"/>
                </a:solidFill>
              </a:rPr>
              <a:t>사회적 고립 → 복잡한 정보를 빠르게 검증하기 어려움 → 범죄자의 권위</a:t>
            </a:r>
            <a:r>
              <a:rPr lang="en-US" altLang="ko-KR" dirty="0">
                <a:solidFill>
                  <a:srgbClr val="FF0000"/>
                </a:solidFill>
              </a:rPr>
              <a:t>·</a:t>
            </a:r>
            <a:r>
              <a:rPr lang="ko-KR" altLang="en-US" dirty="0">
                <a:solidFill>
                  <a:srgbClr val="FF0000"/>
                </a:solidFill>
              </a:rPr>
              <a:t>공포 전략이 효과적으로 작동</a:t>
            </a:r>
            <a:endParaRPr lang="en-US" altLang="ko-KR" dirty="0">
              <a:solidFill>
                <a:srgbClr val="FF0000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656DAAD-DEBB-4D46-90F4-9CEF48E21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36788"/>
            <a:ext cx="10515600" cy="1325563"/>
          </a:xfrm>
        </p:spPr>
        <p:txBody>
          <a:bodyPr/>
          <a:lstStyle/>
          <a:p>
            <a:r>
              <a:rPr lang="ko-KR" altLang="en-US" b="1" dirty="0">
                <a:solidFill>
                  <a:srgbClr val="FF0000"/>
                </a:solidFill>
              </a:rPr>
              <a:t>그런데 잠깐</a:t>
            </a:r>
            <a:r>
              <a:rPr lang="en-US" altLang="ko-KR" b="1" dirty="0">
                <a:solidFill>
                  <a:srgbClr val="FF0000"/>
                </a:solidFill>
              </a:rPr>
              <a:t>! – </a:t>
            </a:r>
            <a:r>
              <a:rPr lang="ko-KR" altLang="en-US" b="1" dirty="0">
                <a:solidFill>
                  <a:srgbClr val="FF0000"/>
                </a:solidFill>
              </a:rPr>
              <a:t>고령</a:t>
            </a:r>
          </a:p>
        </p:txBody>
      </p:sp>
    </p:spTree>
    <p:extLst>
      <p:ext uri="{BB962C8B-B14F-4D97-AF65-F5344CB8AC3E}">
        <p14:creationId xmlns:p14="http://schemas.microsoft.com/office/powerpoint/2010/main" val="15354289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5A18DF-E435-4997-A6BF-90E91B675557}"/>
              </a:ext>
            </a:extLst>
          </p:cNvPr>
          <p:cNvSpPr txBox="1"/>
          <p:nvPr/>
        </p:nvSpPr>
        <p:spPr>
          <a:xfrm>
            <a:off x="6332510" y="714903"/>
            <a:ext cx="3757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그래서 핵심은 </a:t>
            </a:r>
            <a:r>
              <a:rPr lang="en-US" altLang="ko-KR" dirty="0"/>
              <a:t>'</a:t>
            </a:r>
            <a:r>
              <a:rPr lang="ko-KR" altLang="en-US" dirty="0"/>
              <a:t>연령</a:t>
            </a:r>
            <a:r>
              <a:rPr lang="en-US" altLang="ko-KR" dirty="0"/>
              <a:t>'</a:t>
            </a:r>
            <a:r>
              <a:rPr lang="ko-KR" altLang="en-US" dirty="0"/>
              <a:t>이 아니다</a:t>
            </a:r>
            <a:r>
              <a:rPr lang="en-US" altLang="ko-KR" dirty="0"/>
              <a:t>!</a:t>
            </a:r>
            <a:endParaRPr lang="en-US" altLang="ko-KR" dirty="0">
              <a:solidFill>
                <a:srgbClr val="FF0000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656DAAD-DEBB-4D46-90F4-9CEF48E21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36788"/>
            <a:ext cx="10515600" cy="1325563"/>
          </a:xfrm>
        </p:spPr>
        <p:txBody>
          <a:bodyPr/>
          <a:lstStyle/>
          <a:p>
            <a:r>
              <a:rPr lang="ko-KR" altLang="en-US" b="1" dirty="0">
                <a:solidFill>
                  <a:srgbClr val="FF0000"/>
                </a:solidFill>
              </a:rPr>
              <a:t>그런데 잠깐</a:t>
            </a:r>
            <a:r>
              <a:rPr lang="en-US" altLang="ko-KR" b="1" dirty="0">
                <a:solidFill>
                  <a:srgbClr val="FF0000"/>
                </a:solidFill>
              </a:rPr>
              <a:t>! – </a:t>
            </a:r>
            <a:r>
              <a:rPr lang="ko-KR" altLang="en-US" b="1" dirty="0">
                <a:solidFill>
                  <a:srgbClr val="FF0000"/>
                </a:solidFill>
              </a:rPr>
              <a:t>핵심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21158E-D112-4BA9-BE8E-86D3BB5983A1}"/>
              </a:ext>
            </a:extLst>
          </p:cNvPr>
          <p:cNvSpPr txBox="1"/>
          <p:nvPr/>
        </p:nvSpPr>
        <p:spPr>
          <a:xfrm>
            <a:off x="533400" y="137768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제안서의 문제 구조를 </a:t>
            </a:r>
            <a:r>
              <a:rPr lang="en-US" altLang="ko-KR" b="1" dirty="0"/>
              <a:t>3</a:t>
            </a:r>
            <a:r>
              <a:rPr lang="ko-KR" altLang="en-US" b="1" dirty="0"/>
              <a:t>단계로 잡기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D7188B-0CE1-452C-A828-193062B90582}"/>
              </a:ext>
            </a:extLst>
          </p:cNvPr>
          <p:cNvSpPr txBox="1"/>
          <p:nvPr/>
        </p:nvSpPr>
        <p:spPr>
          <a:xfrm>
            <a:off x="400942" y="1964582"/>
            <a:ext cx="623636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dirty="0"/>
              <a:t>① 개인의 판단 취약성</a:t>
            </a:r>
            <a:endParaRPr lang="ko-KR" altLang="en-US" sz="1400" dirty="0"/>
          </a:p>
          <a:p>
            <a:r>
              <a:rPr lang="en-US" altLang="ko-KR" sz="1400" dirty="0"/>
              <a:t>20</a:t>
            </a:r>
            <a:r>
              <a:rPr lang="ko-KR" altLang="en-US" sz="1400" dirty="0"/>
              <a:t>대</a:t>
            </a:r>
            <a:br>
              <a:rPr lang="ko-KR" altLang="en-US" sz="1400" dirty="0"/>
            </a:br>
            <a:r>
              <a:rPr lang="ko-KR" altLang="en-US" sz="1400" dirty="0"/>
              <a:t>→ 금융</a:t>
            </a:r>
            <a:r>
              <a:rPr lang="en-US" altLang="ko-KR" sz="1400" dirty="0"/>
              <a:t>·</a:t>
            </a:r>
            <a:r>
              <a:rPr lang="ko-KR" altLang="en-US" sz="1400" dirty="0"/>
              <a:t>행정</a:t>
            </a:r>
            <a:r>
              <a:rPr lang="en-US" altLang="ko-KR" sz="1400" dirty="0"/>
              <a:t>·</a:t>
            </a:r>
            <a:r>
              <a:rPr lang="ko-KR" altLang="en-US" sz="1400" dirty="0"/>
              <a:t>수사 절차 경험 부족</a:t>
            </a:r>
            <a:br>
              <a:rPr lang="ko-KR" altLang="en-US" sz="1400" dirty="0"/>
            </a:br>
            <a:r>
              <a:rPr lang="ko-KR" altLang="en-US" sz="1400" dirty="0"/>
              <a:t>→ </a:t>
            </a:r>
            <a:r>
              <a:rPr lang="ko-KR" altLang="en-US" sz="1400" b="1" dirty="0"/>
              <a:t>“정상적인 상황이 무엇인지 모름”</a:t>
            </a:r>
            <a:endParaRPr lang="en-US" altLang="ko-KR" sz="1400" b="1" dirty="0"/>
          </a:p>
          <a:p>
            <a:endParaRPr lang="ko-KR" altLang="en-US" sz="1400" dirty="0"/>
          </a:p>
          <a:p>
            <a:r>
              <a:rPr lang="ko-KR" altLang="en-US" sz="1400" dirty="0"/>
              <a:t>고령층</a:t>
            </a:r>
            <a:br>
              <a:rPr lang="ko-KR" altLang="en-US" sz="1400" dirty="0"/>
            </a:br>
            <a:r>
              <a:rPr lang="ko-KR" altLang="en-US" sz="1400" dirty="0"/>
              <a:t>→ 디지털</a:t>
            </a:r>
            <a:r>
              <a:rPr lang="en-US" altLang="ko-KR" sz="1400" dirty="0"/>
              <a:t>·</a:t>
            </a:r>
            <a:r>
              <a:rPr lang="ko-KR" altLang="en-US" sz="1400" dirty="0"/>
              <a:t>금융 정보격차 </a:t>
            </a:r>
            <a:r>
              <a:rPr lang="en-US" altLang="ko-KR" sz="1400" dirty="0"/>
              <a:t>+ </a:t>
            </a:r>
            <a:r>
              <a:rPr lang="ko-KR" altLang="en-US" sz="1400" dirty="0"/>
              <a:t>경우에 따른 인지처리 부담</a:t>
            </a:r>
            <a:br>
              <a:rPr lang="ko-KR" altLang="en-US" sz="1400" dirty="0"/>
            </a:br>
            <a:r>
              <a:rPr lang="ko-KR" altLang="en-US" sz="1400" dirty="0"/>
              <a:t>→ </a:t>
            </a:r>
            <a:r>
              <a:rPr lang="ko-KR" altLang="en-US" sz="1400" b="1" dirty="0"/>
              <a:t>“정보의 진위를 빠르게 확인하기 어려움”</a:t>
            </a:r>
            <a:endParaRPr lang="ko-KR" alt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D3F68F-0AFD-4AA2-BFD8-E52DB478AAEB}"/>
              </a:ext>
            </a:extLst>
          </p:cNvPr>
          <p:cNvSpPr txBox="1"/>
          <p:nvPr/>
        </p:nvSpPr>
        <p:spPr>
          <a:xfrm>
            <a:off x="5470358" y="1872249"/>
            <a:ext cx="6096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dirty="0"/>
              <a:t>② 범죄자의 심리</a:t>
            </a:r>
            <a:r>
              <a:rPr lang="en-US" altLang="ko-KR" sz="1400" b="1" dirty="0"/>
              <a:t>·</a:t>
            </a:r>
            <a:r>
              <a:rPr lang="ko-KR" altLang="en-US" sz="1400" b="1" dirty="0"/>
              <a:t>환경 조작</a:t>
            </a:r>
            <a:endParaRPr lang="ko-KR" altLang="en-US" sz="1400" dirty="0"/>
          </a:p>
          <a:p>
            <a:r>
              <a:rPr lang="ko-KR" altLang="en-US" sz="1400" dirty="0"/>
              <a:t>→ 권위</a:t>
            </a:r>
            <a:r>
              <a:rPr lang="en-US" altLang="ko-KR" sz="1400" dirty="0"/>
              <a:t>: </a:t>
            </a:r>
            <a:r>
              <a:rPr lang="ko-KR" altLang="en-US" sz="1400" dirty="0"/>
              <a:t>경찰</a:t>
            </a:r>
            <a:r>
              <a:rPr lang="en-US" altLang="ko-KR" sz="1400" dirty="0"/>
              <a:t>·</a:t>
            </a:r>
            <a:r>
              <a:rPr lang="ko-KR" altLang="en-US" sz="1400" dirty="0"/>
              <a:t>검찰</a:t>
            </a:r>
            <a:r>
              <a:rPr lang="en-US" altLang="ko-KR" sz="1400" dirty="0"/>
              <a:t>·</a:t>
            </a:r>
            <a:r>
              <a:rPr lang="ko-KR" altLang="en-US" sz="1400" dirty="0"/>
              <a:t>금감원</a:t>
            </a:r>
            <a:r>
              <a:rPr lang="en-US" altLang="ko-KR" sz="1400" dirty="0"/>
              <a:t>·</a:t>
            </a:r>
            <a:r>
              <a:rPr lang="ko-KR" altLang="en-US" sz="1400" dirty="0"/>
              <a:t>은행</a:t>
            </a:r>
            <a:br>
              <a:rPr lang="ko-KR" altLang="en-US" sz="1400" dirty="0"/>
            </a:br>
            <a:r>
              <a:rPr lang="ko-KR" altLang="en-US" sz="1400" dirty="0"/>
              <a:t>→ 공포</a:t>
            </a:r>
            <a:r>
              <a:rPr lang="en-US" altLang="ko-KR" sz="1400" dirty="0"/>
              <a:t>: </a:t>
            </a:r>
            <a:r>
              <a:rPr lang="ko-KR" altLang="en-US" sz="1400" dirty="0"/>
              <a:t>체포</a:t>
            </a:r>
            <a:r>
              <a:rPr lang="en-US" altLang="ko-KR" sz="1400" dirty="0"/>
              <a:t>, </a:t>
            </a:r>
            <a:r>
              <a:rPr lang="ko-KR" altLang="en-US" sz="1400" dirty="0"/>
              <a:t>계좌동결</a:t>
            </a:r>
            <a:r>
              <a:rPr lang="en-US" altLang="ko-KR" sz="1400" dirty="0"/>
              <a:t>, </a:t>
            </a:r>
            <a:r>
              <a:rPr lang="ko-KR" altLang="en-US" sz="1400" dirty="0"/>
              <a:t>범죄연루</a:t>
            </a:r>
            <a:br>
              <a:rPr lang="ko-KR" altLang="en-US" sz="1400" dirty="0"/>
            </a:br>
            <a:r>
              <a:rPr lang="ko-KR" altLang="en-US" sz="1400" dirty="0"/>
              <a:t>→ 긴급성</a:t>
            </a:r>
            <a:r>
              <a:rPr lang="en-US" altLang="ko-KR" sz="1400" dirty="0"/>
              <a:t>: </a:t>
            </a:r>
            <a:r>
              <a:rPr lang="ko-KR" altLang="en-US" sz="1400" dirty="0"/>
              <a:t>지금 바로 처리해야 함</a:t>
            </a:r>
            <a:br>
              <a:rPr lang="ko-KR" altLang="en-US" sz="1400" dirty="0"/>
            </a:br>
            <a:r>
              <a:rPr lang="ko-KR" altLang="en-US" sz="1400" dirty="0"/>
              <a:t>→ 비밀유지</a:t>
            </a:r>
            <a:r>
              <a:rPr lang="en-US" altLang="ko-KR" sz="1400" dirty="0"/>
              <a:t>: </a:t>
            </a:r>
            <a:r>
              <a:rPr lang="ko-KR" altLang="en-US" sz="1400" dirty="0"/>
              <a:t>가족에게 말하지 마라</a:t>
            </a:r>
            <a:br>
              <a:rPr lang="ko-KR" altLang="en-US" sz="1400" dirty="0"/>
            </a:br>
            <a:r>
              <a:rPr lang="ko-KR" altLang="en-US" sz="1400" dirty="0"/>
              <a:t>→ 정보비대칭</a:t>
            </a:r>
            <a:r>
              <a:rPr lang="en-US" altLang="ko-KR" sz="1400" dirty="0"/>
              <a:t>: </a:t>
            </a:r>
            <a:r>
              <a:rPr lang="ko-KR" altLang="en-US" sz="1400" dirty="0"/>
              <a:t>피해자는 실제 기관 절차를 잘 모름</a:t>
            </a:r>
            <a:br>
              <a:rPr lang="ko-KR" altLang="en-US" sz="1400" dirty="0"/>
            </a:br>
            <a:r>
              <a:rPr lang="ko-KR" altLang="en-US" sz="1400" dirty="0"/>
              <a:t>→ 고립</a:t>
            </a:r>
            <a:r>
              <a:rPr lang="en-US" altLang="ko-KR" sz="1400" dirty="0"/>
              <a:t>: </a:t>
            </a:r>
            <a:r>
              <a:rPr lang="ko-KR" altLang="en-US" sz="1400" dirty="0"/>
              <a:t>외부에 전화</a:t>
            </a:r>
            <a:r>
              <a:rPr lang="en-US" altLang="ko-KR" sz="1400" dirty="0"/>
              <a:t>·</a:t>
            </a:r>
            <a:r>
              <a:rPr lang="ko-KR" altLang="en-US" sz="1400" dirty="0"/>
              <a:t>검색</a:t>
            </a:r>
            <a:r>
              <a:rPr lang="en-US" altLang="ko-KR" sz="1400" dirty="0"/>
              <a:t>·</a:t>
            </a:r>
            <a:r>
              <a:rPr lang="ko-KR" altLang="en-US" sz="1400" dirty="0"/>
              <a:t>상담하지 못하도록 통제</a:t>
            </a:r>
            <a:endParaRPr lang="en-US" altLang="ko-KR" sz="1400" dirty="0"/>
          </a:p>
          <a:p>
            <a:endParaRPr lang="ko-KR" altLang="en-US" sz="1400" dirty="0"/>
          </a:p>
          <a:p>
            <a:r>
              <a:rPr lang="ko-KR" altLang="en-US" sz="1400" dirty="0"/>
              <a:t>기관사칭형 보이스피싱을 다룬 국내 연구에서도 </a:t>
            </a:r>
            <a:r>
              <a:rPr lang="ko-KR" altLang="en-US" sz="1400" b="1" dirty="0"/>
              <a:t>범죄조직과 개인 사이의 정보비대칭</a:t>
            </a:r>
            <a:r>
              <a:rPr lang="ko-KR" altLang="en-US" sz="1400" dirty="0"/>
              <a:t>을 중요한 피해 원인으로 분석하고 있어</a:t>
            </a:r>
            <a:r>
              <a:rPr lang="en-US" altLang="ko-KR" sz="1400" dirty="0"/>
              <a:t>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818126-543A-45E9-8A70-A218C38CAC82}"/>
              </a:ext>
            </a:extLst>
          </p:cNvPr>
          <p:cNvSpPr txBox="1"/>
          <p:nvPr/>
        </p:nvSpPr>
        <p:spPr>
          <a:xfrm>
            <a:off x="533400" y="5473235"/>
            <a:ext cx="1085649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③ 판단 실패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결국 피해자는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“뭔가 이상한데?”</a:t>
            </a:r>
            <a:r>
              <a:rPr kumimoji="0" lang="en-US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까지는 느껴도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“이것이 진짜인지 사기인지 객관적으로 검증하는 것”</a:t>
            </a:r>
            <a:r>
              <a:rPr kumimoji="0" lang="en-US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을 혼자 해내기 어려워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짐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345D95-8BF4-4DCD-A4C8-A162C95FFB1D}"/>
              </a:ext>
            </a:extLst>
          </p:cNvPr>
          <p:cNvSpPr txBox="1"/>
          <p:nvPr/>
        </p:nvSpPr>
        <p:spPr>
          <a:xfrm>
            <a:off x="5470358" y="4182695"/>
            <a:ext cx="46201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hlinkClick r:id="rId2"/>
              </a:rPr>
              <a:t>https://www.kci.go.kr/kciportal/landing/article.kci?arti_id=ART003095543&amp;utm_source=chatgpt.com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1481126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28C35-F074-4B14-9C58-D443E8CA4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다시 하는 문제 정의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FC56D-0886-4D2C-BB54-0ACB3B085E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문제정의</a:t>
            </a:r>
            <a:r>
              <a:rPr lang="en-US" altLang="ko-KR" sz="2400" dirty="0"/>
              <a:t>:</a:t>
            </a:r>
          </a:p>
          <a:p>
            <a:r>
              <a:rPr lang="ko-KR" altLang="en-US" sz="2400" dirty="0"/>
              <a:t>보이스피싱 피해의 핵심은 단순한 정보 부족이 아니라</a:t>
            </a:r>
            <a:r>
              <a:rPr lang="en-US" altLang="ko-KR" sz="2400" dirty="0"/>
              <a:t>, </a:t>
            </a:r>
            <a:r>
              <a:rPr lang="ko-KR" altLang="en-US" sz="2400" dirty="0"/>
              <a:t>범죄자가 피해자의 경험</a:t>
            </a:r>
            <a:r>
              <a:rPr lang="en-US" altLang="ko-KR" sz="2400" dirty="0"/>
              <a:t>·</a:t>
            </a:r>
            <a:r>
              <a:rPr lang="ko-KR" altLang="en-US" sz="2400" dirty="0"/>
              <a:t>정보</a:t>
            </a:r>
            <a:r>
              <a:rPr lang="en-US" altLang="ko-KR" sz="2400" dirty="0"/>
              <a:t>·</a:t>
            </a:r>
            <a:r>
              <a:rPr lang="ko-KR" altLang="en-US" sz="2400" dirty="0"/>
              <a:t>인지적 취약성을 이용해 외부 검증을 차단하고 판단 환경 자체를 조작한다는 데 있다</a:t>
            </a:r>
            <a:r>
              <a:rPr lang="en-US" altLang="ko-KR" sz="2400" dirty="0"/>
              <a:t>.</a:t>
            </a:r>
          </a:p>
          <a:p>
            <a:endParaRPr lang="en-US" altLang="ko-KR" sz="2400" dirty="0"/>
          </a:p>
          <a:p>
            <a:r>
              <a:rPr lang="ko-KR" altLang="en-US" sz="2400" dirty="0"/>
              <a:t>인사이트</a:t>
            </a:r>
            <a:r>
              <a:rPr lang="en-US" altLang="ko-KR" sz="2400" dirty="0"/>
              <a:t>:</a:t>
            </a:r>
          </a:p>
          <a:p>
            <a:r>
              <a:rPr lang="ko-KR" altLang="en-US" sz="2400" dirty="0"/>
              <a:t>따라서 피해자에게 보이스피싱 정보를 더 많이 알려주는 것만으로는 부족하다</a:t>
            </a:r>
            <a:r>
              <a:rPr lang="en-US" altLang="ko-KR" sz="2400" dirty="0"/>
              <a:t>. </a:t>
            </a:r>
            <a:r>
              <a:rPr lang="ko-KR" altLang="en-US" sz="2400" dirty="0"/>
              <a:t>판단이 어려워지는 바로 그 순간</a:t>
            </a:r>
            <a:r>
              <a:rPr lang="en-US" altLang="ko-KR" sz="2400" dirty="0"/>
              <a:t>, </a:t>
            </a:r>
            <a:r>
              <a:rPr lang="ko-KR" altLang="en-US" sz="2400" dirty="0"/>
              <a:t>피해자 대신 상황을 객관적으로 검증해 줄 외부 판단 장치가 필요하다</a:t>
            </a:r>
            <a:r>
              <a:rPr lang="en-US" altLang="ko-KR" sz="2400" dirty="0"/>
              <a:t>.</a:t>
            </a:r>
          </a:p>
          <a:p>
            <a:pPr marL="0" indent="0">
              <a:buNone/>
            </a:pPr>
            <a:r>
              <a:rPr lang="en-US" altLang="ko-KR" sz="2400" dirty="0">
                <a:highlight>
                  <a:srgbClr val="FFFF00"/>
                </a:highlight>
              </a:rPr>
              <a:t>(AI + </a:t>
            </a:r>
            <a:r>
              <a:rPr lang="ko-KR" altLang="en-US" sz="2400" dirty="0">
                <a:highlight>
                  <a:srgbClr val="FFFF00"/>
                </a:highlight>
              </a:rPr>
              <a:t>신뢰인</a:t>
            </a:r>
            <a:r>
              <a:rPr lang="en-US" altLang="ko-KR" sz="2400" dirty="0">
                <a:highlight>
                  <a:srgbClr val="FFFF00"/>
                </a:highlight>
              </a:rPr>
              <a:t>/</a:t>
            </a:r>
            <a:r>
              <a:rPr lang="ko-KR" altLang="en-US" sz="2400" dirty="0">
                <a:highlight>
                  <a:srgbClr val="FFFF00"/>
                </a:highlight>
              </a:rPr>
              <a:t>은행</a:t>
            </a:r>
            <a:r>
              <a:rPr lang="en-US" altLang="ko-KR" sz="2400" dirty="0">
                <a:highlight>
                  <a:srgbClr val="FFFF00"/>
                </a:highlight>
              </a:rPr>
              <a:t>/</a:t>
            </a:r>
            <a:r>
              <a:rPr lang="ko-KR" altLang="en-US" sz="2400" dirty="0">
                <a:highlight>
                  <a:srgbClr val="FFFF00"/>
                </a:highlight>
              </a:rPr>
              <a:t>공식기관 연결 서비스가 필요한 이유</a:t>
            </a:r>
            <a:r>
              <a:rPr lang="en-US" altLang="ko-KR" sz="2400" dirty="0">
                <a:highlight>
                  <a:srgbClr val="FFFF00"/>
                </a:highlight>
              </a:rPr>
              <a:t>)</a:t>
            </a:r>
            <a:endParaRPr lang="ko-KR" altLang="en-US" sz="24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0824573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C29CA2F-6225-47CB-8B67-0D47CFC96575}"/>
              </a:ext>
            </a:extLst>
          </p:cNvPr>
          <p:cNvSpPr txBox="1"/>
          <p:nvPr/>
        </p:nvSpPr>
        <p:spPr>
          <a:xfrm>
            <a:off x="643467" y="1546008"/>
            <a:ext cx="3361266" cy="923330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범죄자의 심리조작</a:t>
            </a:r>
            <a:b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</a:b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→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개인의 취약성 자극</a:t>
            </a:r>
            <a:b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</a:b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→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자기판단 능력 약화</a:t>
            </a: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ko-KR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문</a:t>
            </a:r>
            <a:r>
              <a:rPr kumimoji="0" lang="ko-KR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제</a:t>
            </a: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30FF59D-93BE-4404-99C3-1441ABAB9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dirty="0"/>
              <a:t>문제 해결 방식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A6B2D3-F25D-45A1-97D8-9684989F093D}"/>
              </a:ext>
            </a:extLst>
          </p:cNvPr>
          <p:cNvSpPr txBox="1"/>
          <p:nvPr/>
        </p:nvSpPr>
        <p:spPr>
          <a:xfrm>
            <a:off x="643467" y="5066958"/>
            <a:ext cx="83058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b="1" dirty="0"/>
              <a:t>AI</a:t>
            </a:r>
            <a:r>
              <a:rPr lang="ko-KR" altLang="en-US" sz="2800" b="1" dirty="0"/>
              <a:t>가 사람보다 똑똑해서 대신 결정한다가 아니라</a:t>
            </a:r>
            <a:r>
              <a:rPr lang="en-US" altLang="ko-KR" sz="2800" b="1" dirty="0"/>
              <a:t>,</a:t>
            </a:r>
          </a:p>
          <a:p>
            <a:r>
              <a:rPr lang="ko-KR" altLang="en-US" sz="2800" b="1" dirty="0"/>
              <a:t>범죄자가 의도적으로 무너뜨린 ‘외부 검증 경로’를 </a:t>
            </a:r>
            <a:r>
              <a:rPr lang="en-US" altLang="ko-KR" sz="2800" b="1" dirty="0"/>
              <a:t>AI</a:t>
            </a:r>
            <a:r>
              <a:rPr lang="ko-KR" altLang="en-US" sz="2800" b="1" dirty="0"/>
              <a:t>가 다시 만들어준다는 컨셉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34AA2BB7-EBAE-43A7-82C5-2DE392D5DD1D}"/>
              </a:ext>
            </a:extLst>
          </p:cNvPr>
          <p:cNvSpPr/>
          <p:nvPr/>
        </p:nvSpPr>
        <p:spPr>
          <a:xfrm>
            <a:off x="1952906" y="2707017"/>
            <a:ext cx="592666" cy="111256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5B82A0-604F-4947-B52A-96FA11DFEF73}"/>
              </a:ext>
            </a:extLst>
          </p:cNvPr>
          <p:cNvSpPr txBox="1"/>
          <p:nvPr/>
        </p:nvSpPr>
        <p:spPr>
          <a:xfrm>
            <a:off x="1063906" y="3940707"/>
            <a:ext cx="2370665" cy="369332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보이스피싱 피해 발생 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A7FC5AD-726D-4501-A253-F738CB514BB5}"/>
              </a:ext>
            </a:extLst>
          </p:cNvPr>
          <p:cNvGrpSpPr/>
          <p:nvPr/>
        </p:nvGrpSpPr>
        <p:grpSpPr>
          <a:xfrm>
            <a:off x="4921495" y="1546008"/>
            <a:ext cx="6767853" cy="2909370"/>
            <a:chOff x="5099295" y="1546008"/>
            <a:chExt cx="6767853" cy="2909370"/>
          </a:xfrm>
        </p:grpSpPr>
        <p:sp>
          <p:nvSpPr>
            <p:cNvPr id="14" name="Arrow: Down 13">
              <a:extLst>
                <a:ext uri="{FF2B5EF4-FFF2-40B4-BE49-F238E27FC236}">
                  <a16:creationId xmlns:a16="http://schemas.microsoft.com/office/drawing/2014/main" id="{D549F72B-4D9B-4449-B6C6-9F20D5311521}"/>
                </a:ext>
              </a:extLst>
            </p:cNvPr>
            <p:cNvSpPr/>
            <p:nvPr/>
          </p:nvSpPr>
          <p:spPr>
            <a:xfrm rot="16200000">
              <a:off x="5359245" y="2577642"/>
              <a:ext cx="592666" cy="1112566"/>
            </a:xfrm>
            <a:prstGeom prst="down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개입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A6F573F-638A-404A-8B96-103DC75408B2}"/>
                </a:ext>
              </a:extLst>
            </p:cNvPr>
            <p:cNvSpPr txBox="1"/>
            <p:nvPr/>
          </p:nvSpPr>
          <p:spPr>
            <a:xfrm>
              <a:off x="7313530" y="4086046"/>
              <a:ext cx="3592761" cy="369332"/>
            </a:xfrm>
            <a:prstGeom prst="rect">
              <a:avLst/>
            </a:prstGeom>
            <a:solidFill>
              <a:srgbClr val="FF0000"/>
            </a:solidFill>
          </p:spPr>
          <p:txBody>
            <a:bodyPr wrap="squar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en-US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 Unicode MS"/>
                </a:rPr>
                <a:t>보이스피싱 피해 발생 예방 </a:t>
              </a:r>
              <a:endParaRPr kumimoji="0" lang="ko-KR" altLang="ko-K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19" name="Arrow: Down 18">
              <a:extLst>
                <a:ext uri="{FF2B5EF4-FFF2-40B4-BE49-F238E27FC236}">
                  <a16:creationId xmlns:a16="http://schemas.microsoft.com/office/drawing/2014/main" id="{B2BCD9BD-04BD-4C7D-A291-045FAE609A84}"/>
                </a:ext>
              </a:extLst>
            </p:cNvPr>
            <p:cNvSpPr/>
            <p:nvPr/>
          </p:nvSpPr>
          <p:spPr>
            <a:xfrm>
              <a:off x="8761552" y="2150733"/>
              <a:ext cx="592666" cy="1892844"/>
            </a:xfrm>
            <a:prstGeom prst="down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4431240-7D41-4FC9-8E05-A1E01DEFB8EF}"/>
                </a:ext>
              </a:extLst>
            </p:cNvPr>
            <p:cNvSpPr txBox="1"/>
            <p:nvPr/>
          </p:nvSpPr>
          <p:spPr>
            <a:xfrm>
              <a:off x="6352674" y="1546008"/>
              <a:ext cx="5514474" cy="923330"/>
            </a:xfrm>
            <a:prstGeom prst="rect">
              <a:avLst/>
            </a:prstGeom>
            <a:solidFill>
              <a:srgbClr val="002060"/>
            </a:solidFill>
          </p:spPr>
          <p:txBody>
            <a:bodyPr wrap="squar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 Unicode MS"/>
                </a:rPr>
                <a:t>범죄자의 심리조작</a:t>
              </a:r>
              <a:br>
                <a:rPr kumimoji="0" lang="ko-KR" altLang="ko-KR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</a:rPr>
              </a:br>
              <a:r>
                <a:rPr kumimoji="0" lang="ko-KR" altLang="ko-KR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</a:rPr>
                <a:t>→ </a:t>
              </a:r>
              <a:r>
                <a:rPr kumimoji="0" lang="ko-KR" altLang="ko-KR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 Unicode MS"/>
                </a:rPr>
                <a:t>개인의 취약성 자극</a:t>
              </a:r>
              <a:br>
                <a:rPr kumimoji="0" lang="ko-KR" altLang="ko-KR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</a:rPr>
              </a:br>
              <a:r>
                <a:rPr kumimoji="0" lang="ko-KR" altLang="ko-KR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</a:rPr>
                <a:t>→ </a:t>
              </a:r>
              <a:r>
                <a:rPr kumimoji="0" lang="ko-KR" altLang="ko-KR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Arial" panose="020B0604020202020204" pitchFamily="34" charset="0"/>
                </a:rPr>
                <a:t>자기판단 능력 약화</a:t>
              </a:r>
              <a:r>
                <a:rPr kumimoji="0" lang="en-US" altLang="ko-KR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Arial" panose="020B0604020202020204" pitchFamily="34" charset="0"/>
                </a:rPr>
                <a:t>(</a:t>
              </a:r>
              <a:r>
                <a:rPr lang="ko-KR" altLang="en-US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문</a:t>
              </a:r>
              <a:r>
                <a:rPr kumimoji="0" lang="ko-KR" altLang="en-US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Arial" panose="020B0604020202020204" pitchFamily="34" charset="0"/>
                </a:rPr>
                <a:t>제</a:t>
              </a:r>
              <a:r>
                <a:rPr kumimoji="0" lang="en-US" altLang="ko-KR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Arial" panose="020B0604020202020204" pitchFamily="34" charset="0"/>
                </a:rPr>
                <a:t>)</a:t>
              </a:r>
              <a:endParaRPr kumimoji="0" lang="ko-KR" altLang="ko-K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95FA175-01B7-4CB9-AD39-FC1A364B635C}"/>
                </a:ext>
              </a:extLst>
            </p:cNvPr>
            <p:cNvSpPr txBox="1"/>
            <p:nvPr/>
          </p:nvSpPr>
          <p:spPr>
            <a:xfrm>
              <a:off x="6352674" y="2672259"/>
              <a:ext cx="5514474" cy="923330"/>
            </a:xfrm>
            <a:prstGeom prst="rect">
              <a:avLst/>
            </a:prstGeom>
            <a:solidFill>
              <a:srgbClr val="002060"/>
            </a:solidFill>
          </p:spPr>
          <p:txBody>
            <a:bodyPr wrap="squar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panose="020B0604020202020204" pitchFamily="34" charset="0"/>
                </a:rPr>
                <a:t>→ </a:t>
              </a:r>
              <a:r>
                <a:rPr kumimoji="0" lang="ko-KR" altLang="ko-KR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 Unicode MS"/>
                </a:rPr>
                <a:t>AI가 객관적 위험신호 탐지</a:t>
              </a:r>
              <a:br>
                <a:rPr kumimoji="0" lang="ko-KR" altLang="ko-KR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</a:rPr>
              </a:br>
              <a:r>
                <a:rPr kumimoji="0" lang="ko-KR" altLang="ko-KR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</a:rPr>
                <a:t>→ </a:t>
              </a:r>
              <a:r>
                <a:rPr kumimoji="0" lang="ko-KR" altLang="ko-KR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panose="020B0604020202020204" pitchFamily="34" charset="0"/>
                </a:rPr>
                <a:t>외부 판단 기준 제공</a:t>
              </a:r>
              <a:br>
                <a:rPr kumimoji="0" lang="ko-KR" altLang="ko-KR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panose="020B0604020202020204" pitchFamily="34" charset="0"/>
                </a:rPr>
              </a:br>
              <a:r>
                <a:rPr kumimoji="0" lang="ko-KR" altLang="ko-KR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panose="020B0604020202020204" pitchFamily="34" charset="0"/>
                </a:rPr>
                <a:t>→ </a:t>
              </a:r>
              <a:r>
                <a:rPr kumimoji="0" lang="ko-KR" altLang="ko-KR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 Unicode MS"/>
                </a:rPr>
                <a:t>필요 시 신뢰인·은행·기관에 교차검증</a:t>
              </a:r>
              <a:endParaRPr kumimoji="0" lang="ko-KR" altLang="ko-K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23792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AB00D-BBC0-4F58-BD37-63D4202FE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FF0000"/>
                </a:solidFill>
              </a:rPr>
              <a:t>주의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E1DF5-4A91-4E74-927E-D23F3EA1C7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30~40</a:t>
            </a:r>
            <a:r>
              <a:rPr lang="ko-KR" altLang="en-US" b="1" dirty="0"/>
              <a:t>대를 제외하는 방향으로 가면 안 돼</a:t>
            </a:r>
            <a:r>
              <a:rPr lang="en-US" altLang="ko-KR" b="1" dirty="0"/>
              <a:t>.</a:t>
            </a:r>
          </a:p>
          <a:p>
            <a:r>
              <a:rPr lang="ko-KR" altLang="en-US" dirty="0"/>
              <a:t>연구상 보이스피싱은 학력이 높고 금융지식이 있는 사람도 피해를 입으며</a:t>
            </a:r>
            <a:r>
              <a:rPr lang="en-US" altLang="ko-KR" dirty="0"/>
              <a:t>, </a:t>
            </a:r>
            <a:r>
              <a:rPr lang="ko-KR" altLang="en-US" dirty="0"/>
              <a:t>연령 자체가 항상 독립적인 위험요인은 아니었다</a:t>
            </a:r>
            <a:r>
              <a:rPr lang="en-US" altLang="ko-KR" dirty="0"/>
              <a:t>. </a:t>
            </a:r>
            <a:r>
              <a:rPr lang="ko-KR" altLang="en-US" dirty="0"/>
              <a:t>따라서 제안서에서는 </a:t>
            </a:r>
            <a:r>
              <a:rPr lang="ko-KR" altLang="en-US" b="1" dirty="0"/>
              <a:t>“취약계층 전용 서비스”보다 “누구나 취약해질 수 있지만</a:t>
            </a:r>
            <a:r>
              <a:rPr lang="en-US" altLang="ko-KR" b="1" dirty="0"/>
              <a:t>, </a:t>
            </a:r>
            <a:r>
              <a:rPr lang="ko-KR" altLang="en-US" b="1" dirty="0"/>
              <a:t>연령별로 취약해지는 이유가 다르다”</a:t>
            </a:r>
            <a:r>
              <a:rPr lang="ko-KR" altLang="en-US" dirty="0"/>
              <a:t>는 프레임이 데이터상 더 방어력이 높음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>
                <a:hlinkClick r:id="rId2"/>
              </a:rPr>
              <a:t>https://www.kci.go.kr/kciportal/landing/article.kci?arti_id=ART002716015&amp;utm_source=chatgpt.com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358230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9709FCC-A97D-4AD3-BE36-A2D221985C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446387"/>
              </p:ext>
            </p:extLst>
          </p:nvPr>
        </p:nvGraphicFramePr>
        <p:xfrm>
          <a:off x="838200" y="500105"/>
          <a:ext cx="10515600" cy="22860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90348443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14135438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6897600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구분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핵심 질문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들어갈 내용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4703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b="1"/>
                        <a:t>문제인식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왜 기존 대응에도 피해가 계속 발생하는가</a:t>
                      </a:r>
                      <a:r>
                        <a:rPr lang="en-US" altLang="ko-KR"/>
                        <a:t>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보이스피싱 상황에서 피해자의 판단 환경이 무너지는 구조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1839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b="1"/>
                        <a:t>타겟분석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누가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왜 더 취약한가</a:t>
                      </a:r>
                      <a:r>
                        <a:rPr lang="en-US" altLang="ko-KR"/>
                        <a:t>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연령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경험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디지털</a:t>
                      </a:r>
                      <a:r>
                        <a:rPr lang="en-US" altLang="ko-KR"/>
                        <a:t>/</a:t>
                      </a:r>
                      <a:r>
                        <a:rPr lang="ko-KR" altLang="en-US"/>
                        <a:t>금융 이해도 등에 따른 취약성 차이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3655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b="1"/>
                        <a:t>인사이트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그래서 무엇이 필요하다는 결론인가</a:t>
                      </a:r>
                      <a:r>
                        <a:rPr lang="en-US" altLang="ko-KR"/>
                        <a:t>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예방정보만이 아니라 ‘실시간 외부 검증 장치’가 필요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4946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54499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515BB42-F0DB-4CE1-B415-21165653FCB3}"/>
              </a:ext>
            </a:extLst>
          </p:cNvPr>
          <p:cNvSpPr txBox="1"/>
          <p:nvPr/>
        </p:nvSpPr>
        <p:spPr>
          <a:xfrm>
            <a:off x="1219199" y="1676552"/>
            <a:ext cx="1007533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New - 3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문제인식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사람별 차이보다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보이스피싱 자체의 구조적 문제</a:t>
            </a:r>
            <a:endParaRPr kumimoji="0" lang="en-US" altLang="ko-KR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ko-KR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정보부족에 대한 비대칭전략 </a:t>
            </a: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+ </a:t>
            </a:r>
            <a:r>
              <a:rPr kumimoji="0" lang="ko-KR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심리적 취약성 자극 </a:t>
            </a: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-&gt; </a:t>
            </a:r>
            <a:r>
              <a:rPr kumimoji="0" lang="ko-KR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확인 못하게</a:t>
            </a: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고립 </a:t>
            </a: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-&gt; </a:t>
            </a:r>
            <a:r>
              <a:rPr kumimoji="0" lang="ko-KR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주도권을 가져옴</a:t>
            </a: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핵심: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범죄자는 기관사칭, 권위, 공포, 긴급성, 비밀유지 등을 이용함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피해자가 주변에 확인하거나 스스로 검증할 시간을 줄임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결국 피해자는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사기 여부를 객관적으로 판단하기 어려운 환경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에 놓임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기존 예방교육·차단·송금단계 보호만으로는 이 순간을 완전히 해결하기 어려움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한 줄 정의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보이스피싱의 핵심 문제는 범죄자가 피해자의 판단 환경을 조작해, 피해자가 사기 여부를 스스로 검증하기 어렵게 만든다는 것이다.</a:t>
            </a:r>
          </a:p>
        </p:txBody>
      </p:sp>
    </p:spTree>
    <p:extLst>
      <p:ext uri="{BB962C8B-B14F-4D97-AF65-F5344CB8AC3E}">
        <p14:creationId xmlns:p14="http://schemas.microsoft.com/office/powerpoint/2010/main" val="7635626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BB8704E-3351-4CC2-8237-178A0D2213D5}"/>
              </a:ext>
            </a:extLst>
          </p:cNvPr>
          <p:cNvSpPr txBox="1"/>
          <p:nvPr/>
        </p:nvSpPr>
        <p:spPr>
          <a:xfrm>
            <a:off x="1267325" y="751344"/>
            <a:ext cx="9272337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b="1" dirty="0">
                <a:latin typeface="Arial" panose="020B0604020202020204" pitchFamily="34" charset="0"/>
              </a:rPr>
              <a:t>4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타겟분석</a:t>
            </a:r>
            <a:endParaRPr kumimoji="0" lang="en-US" altLang="ko-K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“그 판단 어려움이 누구에게, 어떤 이유로 더 크게 발생하는가?”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를 분석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예를 들어: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20대·사회초년생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금융·행정·수사 절차 경험 부족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정상적인 기관 업무 방식에 대한 기준 부족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기관사칭 상황의 진위를 판별하기 어려움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고령층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디지털·금융환경 변화에 대한 정보격차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복잡한 정보의 즉각적 확인 과정에 어려움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일부에서는 인지처리 부담이나 사회적 고립도 위험요인이 될 수 있음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그 외 연령층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피해에서 자유로운 것은 아님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고도화된 수법, 개인정보 활용, 긴급한 상황에서는 누구나 취약해질 수 있음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같은 심리전략이라도 사람마다 취약해지는 이유가 다르다.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59217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553F41A-EAF9-4989-8A73-1A6CDF185B1F}"/>
              </a:ext>
            </a:extLst>
          </p:cNvPr>
          <p:cNvSpPr txBox="1"/>
          <p:nvPr/>
        </p:nvSpPr>
        <p:spPr>
          <a:xfrm>
            <a:off x="433137" y="335845"/>
            <a:ext cx="10940715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인사이트</a:t>
            </a:r>
            <a:endParaRPr kumimoji="0" lang="en-US" altLang="ko-K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앞의 두 분석에서 얻은 결론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을 서비스 관점으로 바꾸는 단계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인사이트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보이스피싱은 단순히 “수법을 몰라서” 당하는 문제가 아니다.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예방교육을 받은 사람이라도 실제 상황에서는 판단이 흔들릴 수 있음.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인사이트 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사람마다 취약한 원인은 다르지만, 공통적으로 필요한 것은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외부의 객관적인 판단 기준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이다.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20대에게는</a:t>
            </a:r>
            <a:b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“실제 기관은 이렇게 행동하는가?”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고령층에게는</a:t>
            </a:r>
            <a:b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“이 요청·연락처·행동이 정상적인가?”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등을 대신 검증해줄 수 있어야 함.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인사이트 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따라서 AI의 역할은 단순한 ‘사기 판정’보다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판단 보조 + 외부 검증 연결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이어야 한다.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AI가 위험 신호를 발견하고</a:t>
            </a:r>
            <a:b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근거를 설명하고</a:t>
            </a:r>
            <a:b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공식기관 정보와 확인하고</a:t>
            </a:r>
            <a:b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필요하면 가족·신뢰인·은행 직원 등의 검토까지 연결하는 구조.</a:t>
            </a:r>
          </a:p>
        </p:txBody>
      </p:sp>
    </p:spTree>
    <p:extLst>
      <p:ext uri="{BB962C8B-B14F-4D97-AF65-F5344CB8AC3E}">
        <p14:creationId xmlns:p14="http://schemas.microsoft.com/office/powerpoint/2010/main" val="42305324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32ACF-8829-4735-A6C3-C87CC096B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제안서 흐름 다시 보기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5AEC26-6761-43C2-B2A5-456D832B08B9}"/>
              </a:ext>
            </a:extLst>
          </p:cNvPr>
          <p:cNvSpPr txBox="1"/>
          <p:nvPr/>
        </p:nvSpPr>
        <p:spPr>
          <a:xfrm>
            <a:off x="838200" y="2542882"/>
            <a:ext cx="107442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문제인식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범죄자는 심리적 압박과 정보비대칭을 이용해 피해자가 스스로 상황을 검증하기 어려운 환경을 만든다.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타겟분석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특히 사회초년생은 경험 부족, 고령층은 디지털·금융 정보격차 등 서로 다른 이유로 이러한 상황에 더욱 취약할 수 있다.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인사이트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따라서 더 많은 예방정보를 제공하는 것만으로는 부족하다. 피해자가 판단하기 어려워지는 바로 그 순간, 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객관적인 외부 판단과 검증을 개입시키는 장치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가 필요하다.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해결방안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위험진단</a:t>
            </a:r>
            <a:r>
              <a:rPr kumimoji="0" lang="en-US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(ML)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판단 근거 제공</a:t>
            </a:r>
            <a:r>
              <a:rPr lang="en-US" altLang="ko-KR" b="1" dirty="0">
                <a:latin typeface="Arial" panose="020B0604020202020204" pitchFamily="34" charset="0"/>
              </a:rPr>
              <a:t>(LLM)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공식기관 확인 → 신뢰인·은행·기관 교차검</a:t>
            </a:r>
            <a:r>
              <a:rPr kumimoji="0" lang="ko-KR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증</a:t>
            </a:r>
            <a:r>
              <a:rPr kumimoji="0" lang="en-US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ko-KR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가드레</a:t>
            </a:r>
            <a:r>
              <a:rPr lang="ko-KR" altLang="en-US" b="1" dirty="0">
                <a:latin typeface="Arial" panose="020B0604020202020204" pitchFamily="34" charset="0"/>
              </a:rPr>
              <a:t>일</a:t>
            </a:r>
            <a:r>
              <a:rPr lang="en-US" altLang="ko-KR" b="1" dirty="0">
                <a:latin typeface="Arial" panose="020B0604020202020204" pitchFamily="34" charset="0"/>
              </a:rPr>
              <a:t>)</a:t>
            </a:r>
            <a:endParaRPr kumimoji="0" lang="en-US" altLang="ko-K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579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1963</Words>
  <Application>Microsoft Office PowerPoint</Application>
  <PresentationFormat>Widescreen</PresentationFormat>
  <Paragraphs>231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 Unicode MS</vt:lpstr>
      <vt:lpstr>맑은 고딕</vt:lpstr>
      <vt:lpstr>Arial</vt:lpstr>
      <vt:lpstr>Office Theme</vt:lpstr>
      <vt:lpstr>제안서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그런데 잠깐!</vt:lpstr>
      <vt:lpstr>그런데 잠깐! – 20대</vt:lpstr>
      <vt:lpstr>그런데 잠깐! – 고령</vt:lpstr>
      <vt:lpstr>그런데 잠깐! – 핵심</vt:lpstr>
      <vt:lpstr>다시 하는 문제 정의</vt:lpstr>
      <vt:lpstr>문제 해결 방식</vt:lpstr>
      <vt:lpstr>주의</vt:lpstr>
      <vt:lpstr>PowerPoint Presentation</vt:lpstr>
      <vt:lpstr>PowerPoint Presentation</vt:lpstr>
      <vt:lpstr>PowerPoint Presentation</vt:lpstr>
      <vt:lpstr>PowerPoint Presentation</vt:lpstr>
      <vt:lpstr>제안서 흐름 다시 보기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제안서</dc:title>
  <dc:creator>mbc</dc:creator>
  <cp:lastModifiedBy>mbc</cp:lastModifiedBy>
  <cp:revision>12</cp:revision>
  <dcterms:created xsi:type="dcterms:W3CDTF">2026-08-24T02:16:18Z</dcterms:created>
  <dcterms:modified xsi:type="dcterms:W3CDTF">2026-08-24T03:57:35Z</dcterms:modified>
</cp:coreProperties>
</file>