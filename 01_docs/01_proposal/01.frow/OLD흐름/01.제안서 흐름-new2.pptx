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74" r:id="rId4"/>
    <p:sldId id="275" r:id="rId5"/>
    <p:sldId id="276" r:id="rId6"/>
    <p:sldId id="277" r:id="rId7"/>
    <p:sldId id="279" r:id="rId8"/>
    <p:sldId id="307" r:id="rId9"/>
    <p:sldId id="308" r:id="rId10"/>
    <p:sldId id="309" r:id="rId11"/>
    <p:sldId id="310" r:id="rId12"/>
    <p:sldId id="311" r:id="rId13"/>
    <p:sldId id="312" r:id="rId14"/>
    <p:sldId id="313" r:id="rId15"/>
    <p:sldId id="314" r:id="rId16"/>
    <p:sldId id="315" r:id="rId17"/>
    <p:sldId id="316" r:id="rId18"/>
    <p:sldId id="317" r:id="rId19"/>
    <p:sldId id="318" r:id="rId20"/>
    <p:sldId id="319" r:id="rId21"/>
    <p:sldId id="320" r:id="rId22"/>
    <p:sldId id="321" r:id="rId23"/>
    <p:sldId id="322" r:id="rId24"/>
    <p:sldId id="323" r:id="rId25"/>
    <p:sldId id="324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71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94C2C-DE73-45C1-BA1F-AB56F673D5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708468-4724-4881-963F-53BABAD69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8C4E91-E115-44FA-960E-C9C81AF11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F83-EAB9-43B3-B51E-EE2A745154B4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6B842-BB4D-41B1-8242-250494DDD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6D85B-F868-409B-9DD5-14E5A0909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218BA-0230-45FD-8748-AEFFE8EAB1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8398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B9FE1-4611-411B-ABED-98CEB1C52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91F50-F463-4F4F-8845-9A18F3F53B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9B37F-E058-43E7-AC96-DA2EA368F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F83-EAB9-43B3-B51E-EE2A745154B4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4E94B4-CC0F-44D3-85C0-CC49B2B57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7CDE7F-20D7-439D-9488-62E8446D9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218BA-0230-45FD-8748-AEFFE8EAB1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0039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93136-F6CC-4452-BD48-D7D35E80B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03432D-274C-4725-906B-5EA860C78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66247-6889-4324-8204-E2C3F67E5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F83-EAB9-43B3-B51E-EE2A745154B4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3E7B3-58C8-4EFF-A908-D6EDF4748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3580E-867F-4FA9-BBAB-9B96E4892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218BA-0230-45FD-8748-AEFFE8EAB1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9643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EEB0C-AAA5-4E52-AFA7-EA310AACA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715AF-24B1-4A20-B1FF-4D236B2DBF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3975BE-7D3D-4713-B550-684C8B6AE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E23BD3-E980-4423-BA32-C324E23F6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F83-EAB9-43B3-B51E-EE2A745154B4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8E9AB9-8B50-4678-9924-9C659099A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4E85D9-E958-4009-BCEF-BBBE46AB7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218BA-0230-45FD-8748-AEFFE8EAB1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0843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864A8-E4C5-4D2D-9A44-A2D4EFEAB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7B0BBA-DB14-4248-A306-99867DC914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D57C38-C322-4F8E-B891-24B8BCBDB0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95F487-D580-4D68-8088-926F803109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859B7D-68E7-46A7-90A8-5D060B32A6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6A483F-6E72-4DBE-9F67-EE3EEE847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F83-EAB9-43B3-B51E-EE2A745154B4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D4B517-D8A5-47DF-8CBD-045803927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966D0E-665D-418F-8636-D2BFCCD09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218BA-0230-45FD-8748-AEFFE8EAB1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8710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2B211-7CCC-46BC-9C3A-54C0DAE6A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C59E32-7108-462E-94CE-E33124B07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F83-EAB9-43B3-B51E-EE2A745154B4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876035-3DF9-4EAA-B7DC-7F07E9992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29BACE-589A-43E0-8F1D-10A8A0AB0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218BA-0230-45FD-8748-AEFFE8EAB1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9634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CDDB30-B534-4049-91C5-04E119CA7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F83-EAB9-43B3-B51E-EE2A745154B4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94935C-A3B1-458E-A26D-3A14C3453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323806-4D6E-4DFD-802C-10AF290A2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218BA-0230-45FD-8748-AEFFE8EAB1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6750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93228-6301-4F50-BBE5-9D55CA819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DD139-449C-4D8A-8BBD-1BD37877F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8ACA29-8A9C-41EC-B1CB-B7331CE379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6BE12E-6A97-4D8F-B89C-0802CB434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F83-EAB9-43B3-B51E-EE2A745154B4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777114-2EC1-435B-89F9-EED92E45C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FE424-8BCE-41C3-9736-0A33C4A2D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218BA-0230-45FD-8748-AEFFE8EAB1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3074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1A759-E34B-4468-B314-891B8C7E9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448589-48B0-4339-B95F-88D1BB0EC9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A2F595-AFA2-4FB1-AF0B-C50965919B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450344-3C06-4209-84EA-1C831E7B2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F83-EAB9-43B3-B51E-EE2A745154B4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F256EF-E710-47DF-8E93-0F36BE869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D8A444-F704-4C4C-8832-A4751A84B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218BA-0230-45FD-8748-AEFFE8EAB1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2558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55866-FDD3-4BEE-8139-F2E9B6BD6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F118A1-2B05-49A2-8561-9CB6A58A9C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F6FD7-4D6A-4263-8680-9E6F8951B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F83-EAB9-43B3-B51E-EE2A745154B4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128803-F7B6-4C4A-ADB8-146B86833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2A4C8-8677-4833-B438-1C6F756F2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218BA-0230-45FD-8748-AEFFE8EAB1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7052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12FE1F-1AD3-40F8-946E-CFB629F5DD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F0E02B-0402-4819-B91E-78568FBAA7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04E24-81E1-4666-8BD4-D111290C7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F83-EAB9-43B3-B51E-EE2A745154B4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E0BE1-0D48-4494-9505-388DE7654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1143E-618B-4419-8DB2-6A9CA17AF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218BA-0230-45FD-8748-AEFFE8EAB1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6248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958376-8D70-49DE-8D90-F879D3481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F8E94-FA2A-418C-B721-1B9A9959A5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8E92B-6FB7-4BF3-80B8-1D38031193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CAAF83-EAB9-43B3-B51E-EE2A745154B4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3372E8-1F48-4D80-B206-7AA77FFCCC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92A54-E67B-423A-923A-80F39DFAA4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A218BA-0230-45FD-8748-AEFFE8EAB1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1660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FB7FD-65A7-42B5-8A14-5DD661F9E0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제안서</a:t>
            </a:r>
            <a:r>
              <a:rPr lang="en-US" altLang="ko-KR" dirty="0"/>
              <a:t>&amp;</a:t>
            </a:r>
            <a:r>
              <a:rPr lang="ko-KR" altLang="en-US" dirty="0"/>
              <a:t>기능</a:t>
            </a:r>
          </a:p>
        </p:txBody>
      </p:sp>
    </p:spTree>
    <p:extLst>
      <p:ext uri="{BB962C8B-B14F-4D97-AF65-F5344CB8AC3E}">
        <p14:creationId xmlns:p14="http://schemas.microsoft.com/office/powerpoint/2010/main" val="130510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0AB4A-2487-4F5A-AA9D-9C09C2AB9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778" y="4106778"/>
            <a:ext cx="3509210" cy="2252163"/>
          </a:xfrm>
        </p:spPr>
        <p:txBody>
          <a:bodyPr>
            <a:normAutofit/>
          </a:bodyPr>
          <a:lstStyle/>
          <a:p>
            <a:r>
              <a:rPr lang="ko-KR" altLang="en-US" sz="2800" dirty="0"/>
              <a:t>현황분석</a:t>
            </a:r>
            <a:br>
              <a:rPr lang="en-US" altLang="ko-KR" sz="2800" dirty="0"/>
            </a:br>
            <a:r>
              <a:rPr lang="ko-KR" altLang="en-US" sz="2800" dirty="0"/>
              <a:t>문제인식</a:t>
            </a:r>
            <a:br>
              <a:rPr lang="en-US" altLang="ko-KR" sz="2800" dirty="0"/>
            </a:br>
            <a:r>
              <a:rPr lang="ko-KR" altLang="en-US" sz="2800" dirty="0"/>
              <a:t>타겟분석</a:t>
            </a:r>
            <a:br>
              <a:rPr lang="en-US" altLang="ko-KR" sz="2800" dirty="0"/>
            </a:br>
            <a:r>
              <a:rPr lang="ko-KR" altLang="en-US" sz="2800" dirty="0"/>
              <a:t>인사이트</a:t>
            </a:r>
            <a:br>
              <a:rPr lang="en-US" altLang="ko-KR" sz="2800" dirty="0"/>
            </a:br>
            <a:r>
              <a:rPr lang="ko-KR" altLang="en-US" sz="2800" dirty="0"/>
              <a:t>해결방안</a:t>
            </a:r>
          </a:p>
        </p:txBody>
      </p:sp>
    </p:spTree>
    <p:extLst>
      <p:ext uri="{BB962C8B-B14F-4D97-AF65-F5344CB8AC3E}">
        <p14:creationId xmlns:p14="http://schemas.microsoft.com/office/powerpoint/2010/main" val="44097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8A89638-E8C0-4346-A9F8-551EE78C4A79}"/>
              </a:ext>
            </a:extLst>
          </p:cNvPr>
          <p:cNvSpPr txBox="1"/>
          <p:nvPr/>
        </p:nvSpPr>
        <p:spPr>
          <a:xfrm>
            <a:off x="529389" y="479446"/>
            <a:ext cx="770021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전체 제안서 흐름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ko-KR" altLang="en-US" dirty="0"/>
              <a:t>심각하다 → 이미 많이 막고 있다 → 그런데 왜 아직도 피해가 생기지</a:t>
            </a:r>
            <a:r>
              <a:rPr lang="en-US" altLang="ko-KR" dirty="0"/>
              <a:t>? → </a:t>
            </a:r>
            <a:r>
              <a:rPr lang="ko-KR" altLang="en-US" dirty="0"/>
              <a:t>기존 대응이 놓치는 지점이 있다 → 그 지점을 분석해보니 ‘판단이 무너지는 순간’이었다 → 스스로 판단이 어려우니 →</a:t>
            </a:r>
            <a:r>
              <a:rPr lang="en-US" altLang="ko-KR" dirty="0"/>
              <a:t> </a:t>
            </a:r>
            <a:r>
              <a:rPr lang="ko-KR" altLang="en-US" dirty="0"/>
              <a:t>그 순간에 방지턱을 넣자</a:t>
            </a:r>
          </a:p>
        </p:txBody>
      </p:sp>
    </p:spTree>
    <p:extLst>
      <p:ext uri="{BB962C8B-B14F-4D97-AF65-F5344CB8AC3E}">
        <p14:creationId xmlns:p14="http://schemas.microsoft.com/office/powerpoint/2010/main" val="1395715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C72C21D-1B0D-4DD3-8C85-4693EDDCDE5A}"/>
              </a:ext>
            </a:extLst>
          </p:cNvPr>
          <p:cNvSpPr txBox="1"/>
          <p:nvPr/>
        </p:nvSpPr>
        <p:spPr>
          <a:xfrm>
            <a:off x="641684" y="381815"/>
            <a:ext cx="60960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1P. Cover / 문제의식</a:t>
            </a:r>
            <a:endParaRPr kumimoji="0" lang="en-US" altLang="ko-K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단 1원이라도, 그 누구도 피해를 봐서는 안 된다</a:t>
            </a:r>
            <a:endParaRPr kumimoji="0" lang="en-US" altLang="ko-K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보이스피싱으로부터 금융소비자의</a:t>
            </a:r>
            <a:b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‘판단’과 ‘송금’을 함께 보호하는 AI 금융안전 서비스</a:t>
            </a:r>
            <a:endParaRPr kumimoji="0" lang="en-US" altLang="ko-K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서비스명:</a:t>
            </a:r>
            <a:r>
              <a:rPr lang="en-US" altLang="ko-KR" sz="1600" b="1" dirty="0">
                <a:latin typeface="Arial" panose="020B0604020202020204" pitchFamily="34" charset="0"/>
              </a:rPr>
              <a:t> 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독립검증형 송금방지턱</a:t>
            </a:r>
            <a:r>
              <a:rPr lang="en-US" altLang="ko-KR" sz="1600" b="1" dirty="0">
                <a:latin typeface="Arial" panose="020B0604020202020204" pitchFamily="34" charset="0"/>
              </a:rPr>
              <a:t>(</a:t>
            </a:r>
            <a:r>
              <a:rPr kumimoji="0" lang="ko-KR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가칭</a:t>
            </a:r>
            <a:r>
              <a:rPr lang="en-US" altLang="ko-KR" sz="1600" b="1" dirty="0">
                <a:latin typeface="Arial" panose="020B0604020202020204" pitchFamily="34" charset="0"/>
              </a:rPr>
              <a:t>)</a:t>
            </a:r>
            <a:endParaRPr kumimoji="0" lang="en-US" altLang="ko-K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2800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4B65677-FD71-4FBA-B4EF-4518D22075E6}"/>
              </a:ext>
            </a:extLst>
          </p:cNvPr>
          <p:cNvSpPr txBox="1"/>
          <p:nvPr/>
        </p:nvSpPr>
        <p:spPr>
          <a:xfrm>
            <a:off x="513348" y="546438"/>
            <a:ext cx="609600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Ⅰ. 현황분석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2P. 보이스피싱은 여전히 심각한 금융범죄다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질문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“얼마나 심각한가?”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여기는 순수하게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통계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넣을 것: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연도별 피해금액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피해건수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1인당 피해금액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주요 피해유형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기관사칭 등 주요 유형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연령별 피해 현황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한 줄 메시지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보이스피싱은 지금도 개인의 금융자산과 금융 신뢰를 위협하는 중대한 문제다.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단,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계속 증가하고 있다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는 표현은 실제 최신 통계가 증가 추세를 보여줄 때만 사용해야 해.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0CFCD0-102F-4E67-B9E0-DAC959035476}"/>
              </a:ext>
            </a:extLst>
          </p:cNvPr>
          <p:cNvSpPr/>
          <p:nvPr/>
        </p:nvSpPr>
        <p:spPr>
          <a:xfrm>
            <a:off x="10710181" y="392765"/>
            <a:ext cx="964748" cy="6087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종열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523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4B65677-FD71-4FBA-B4EF-4518D22075E6}"/>
              </a:ext>
            </a:extLst>
          </p:cNvPr>
          <p:cNvSpPr txBox="1"/>
          <p:nvPr/>
        </p:nvSpPr>
        <p:spPr>
          <a:xfrm>
            <a:off x="487948" y="228600"/>
            <a:ext cx="8440152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Ⅰ. 현황분석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3P. 그래서 금융권과 사회는 이미 많은 노력을 하고 있다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“아무도 해결하지 않고 있다”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는 식으로 가면 안 돼.</a:t>
            </a:r>
            <a:endParaRPr kumimoji="0" lang="ko-KR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금융기관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FDS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ko-KR" sz="1400" dirty="0">
                <a:latin typeface="Arial" panose="020B0604020202020204" pitchFamily="34" charset="0"/>
              </a:rPr>
              <a:t>ASAP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지연이체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지급정지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고액이체 추가확인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여신거래 안심차단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보이스피싱 예방 기능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정부·공공기관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신고체계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예방교육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피해구제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계좌 지급정지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통신사·보안기업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스팸번호 탐지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악성앱 차단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의심 문자/전화 탐지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“실제로 이러한 대응은 일정한 예방 성과를 내고 있다.”</a:t>
            </a:r>
            <a:r>
              <a:rPr lang="en-US" altLang="ko-KR" sz="1400" dirty="0">
                <a:latin typeface="Arial" panose="020B0604020202020204" pitchFamily="34" charset="0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데이터로 제시.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메시지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이미 다양한 주체가 보이스피싱을 막기 위한 강력한 안전장치를 구축하고 있다.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35CB1F-4A6B-4EB3-B202-DF62B3C4A910}"/>
              </a:ext>
            </a:extLst>
          </p:cNvPr>
          <p:cNvSpPr/>
          <p:nvPr/>
        </p:nvSpPr>
        <p:spPr>
          <a:xfrm>
            <a:off x="10710181" y="392765"/>
            <a:ext cx="964748" cy="6087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정희</a:t>
            </a:r>
          </a:p>
        </p:txBody>
      </p:sp>
    </p:spTree>
    <p:extLst>
      <p:ext uri="{BB962C8B-B14F-4D97-AF65-F5344CB8AC3E}">
        <p14:creationId xmlns:p14="http://schemas.microsoft.com/office/powerpoint/2010/main" val="1460900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4B65677-FD71-4FBA-B4EF-4518D22075E6}"/>
              </a:ext>
            </a:extLst>
          </p:cNvPr>
          <p:cNvSpPr txBox="1"/>
          <p:nvPr/>
        </p:nvSpPr>
        <p:spPr>
          <a:xfrm>
            <a:off x="487948" y="228600"/>
            <a:ext cx="844015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4P. 그런데도 피해는 사라지지 않는다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“그런데, 왜 아직도 피해가 발생할까?”</a:t>
            </a:r>
            <a:endParaRPr kumimoji="0" lang="en-US" altLang="ko-K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이미 다양한 예방·탐지·차단 장치가 있음 </a:t>
            </a: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실제 성과도 있음 </a:t>
            </a: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그럼에도 피해는 계속 발생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기존 안전장치가 충분히 보호하지 못하는 순간이 있는 것은 아닐까?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1517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D18968F0-5536-4EEF-832C-9EB4E92D6B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3010"/>
            <a:ext cx="421621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Ⅱ. 피해 발생 메커니즘 분석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기존의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문제인식 + 타겟분석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을 여기서 하나로 묶</a:t>
            </a: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기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BFCE73-1C14-41E5-B7A8-24E7362B631A}"/>
              </a:ext>
            </a:extLst>
          </p:cNvPr>
          <p:cNvSpPr txBox="1"/>
          <p:nvPr/>
        </p:nvSpPr>
        <p:spPr>
          <a:xfrm>
            <a:off x="359229" y="901183"/>
            <a:ext cx="61068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5P. </a:t>
            </a:r>
            <a:r>
              <a:rPr lang="ko-KR" altLang="en-US" dirty="0"/>
              <a:t>기존 대응이 놓치는 ‘통화 맥락의 판단 공백’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49E009-58EB-49C3-91E7-1227A256CFC9}"/>
              </a:ext>
            </a:extLst>
          </p:cNvPr>
          <p:cNvSpPr txBox="1"/>
          <p:nvPr/>
        </p:nvSpPr>
        <p:spPr>
          <a:xfrm>
            <a:off x="359229" y="1509449"/>
            <a:ext cx="5372101" cy="42473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/>
              <a:t>예방 단계</a:t>
            </a:r>
          </a:p>
          <a:p>
            <a:r>
              <a:rPr lang="ko-KR" altLang="en-US" dirty="0"/>
              <a:t>예방교육 / 스팸차단</a:t>
            </a:r>
          </a:p>
          <a:p>
            <a:r>
              <a:rPr lang="ko-KR" altLang="en-US" dirty="0"/>
              <a:t>        ↓</a:t>
            </a:r>
          </a:p>
          <a:p>
            <a:r>
              <a:rPr lang="ko-KR" altLang="en-US" dirty="0"/>
              <a:t>접촉 단계</a:t>
            </a:r>
          </a:p>
          <a:p>
            <a:r>
              <a:rPr lang="ko-KR" altLang="en-US" dirty="0"/>
              <a:t>위험번호 / 악성앱 탐지</a:t>
            </a:r>
          </a:p>
          <a:p>
            <a:r>
              <a:rPr lang="ko-KR" altLang="en-US" dirty="0"/>
              <a:t>        ↓</a:t>
            </a:r>
          </a:p>
          <a:p>
            <a:r>
              <a:rPr lang="ko-KR" altLang="en-US" dirty="0"/>
              <a:t>━━━━━━━━━━━━━━━━━━━━</a:t>
            </a:r>
          </a:p>
          <a:p>
            <a:r>
              <a:rPr lang="ko-KR" altLang="en-US" dirty="0"/>
              <a:t>     통화·설득 단계</a:t>
            </a:r>
          </a:p>
          <a:p>
            <a:r>
              <a:rPr lang="ko-KR" altLang="en-US" dirty="0"/>
              <a:t>"이 사람이 하는 말이 진짜인가?"</a:t>
            </a:r>
          </a:p>
          <a:p>
            <a:r>
              <a:rPr lang="ko-KR" altLang="en-US" dirty="0"/>
              <a:t>        ↑</a:t>
            </a:r>
          </a:p>
          <a:p>
            <a:r>
              <a:rPr lang="ko-KR" altLang="en-US" dirty="0"/>
              <a:t>   통화 맥락의 판단 공백</a:t>
            </a:r>
          </a:p>
          <a:p>
            <a:r>
              <a:rPr lang="ko-KR" altLang="en-US" dirty="0"/>
              <a:t>━━━━━━━━━━━━━━━━━━━━</a:t>
            </a:r>
          </a:p>
          <a:p>
            <a:r>
              <a:rPr lang="ko-KR" altLang="en-US" dirty="0"/>
              <a:t>        ↓</a:t>
            </a:r>
          </a:p>
          <a:p>
            <a:r>
              <a:rPr lang="ko-KR" altLang="en-US" dirty="0"/>
              <a:t>금융거래 단계</a:t>
            </a:r>
          </a:p>
          <a:p>
            <a:r>
              <a:rPr lang="ko-KR" altLang="en-US" dirty="0"/>
              <a:t>FDS / ASAP / 지연이체 / 추가확인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ABC30D-D959-4351-8C51-9CB9539EED18}"/>
              </a:ext>
            </a:extLst>
          </p:cNvPr>
          <p:cNvSpPr txBox="1"/>
          <p:nvPr/>
        </p:nvSpPr>
        <p:spPr>
          <a:xfrm>
            <a:off x="6096000" y="4156328"/>
            <a:ext cx="4963887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핵심 문장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금융거래 단계에서는 다양한 보호장치가 작동하지만,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통화 속 상대방의 주장과 상황 자체가 진짜인지 판단하는 과정은 여전히 사용자 판단에 크게 의존한다.</a:t>
            </a:r>
            <a:endParaRPr kumimoji="0" lang="en-US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그리고 질문: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그런데 범죄자는 바로 이 ‘판단’ 자체를 공격하고 있다면?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4672BF-05E0-4D53-AE33-D99C9E64DF0A}"/>
              </a:ext>
            </a:extLst>
          </p:cNvPr>
          <p:cNvSpPr/>
          <p:nvPr/>
        </p:nvSpPr>
        <p:spPr>
          <a:xfrm>
            <a:off x="10710181" y="392765"/>
            <a:ext cx="964748" cy="6087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종열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6239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A14173-3EC4-478A-878C-8CB64D26D9A3}"/>
              </a:ext>
            </a:extLst>
          </p:cNvPr>
          <p:cNvSpPr txBox="1"/>
          <p:nvPr/>
        </p:nvSpPr>
        <p:spPr>
          <a:xfrm>
            <a:off x="240847" y="288862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6P. </a:t>
            </a:r>
            <a:r>
              <a:rPr lang="ko-KR" altLang="en-US" dirty="0"/>
              <a:t>보이스피싱은 피해자의 ‘판단 환경’을 공격한다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345C9A-C486-4A8C-BFDF-B3B64F5A8272}"/>
              </a:ext>
            </a:extLst>
          </p:cNvPr>
          <p:cNvSpPr txBox="1"/>
          <p:nvPr/>
        </p:nvSpPr>
        <p:spPr>
          <a:xfrm>
            <a:off x="240847" y="658194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범죄자 수법 </a:t>
            </a:r>
            <a:r>
              <a:rPr lang="en-US" altLang="ko-KR" b="1" dirty="0"/>
              <a:t>+ </a:t>
            </a:r>
            <a:r>
              <a:rPr lang="ko-KR" altLang="en-US" b="1" dirty="0"/>
              <a:t>관련 데이터</a:t>
            </a:r>
            <a:r>
              <a:rPr lang="ko-KR" altLang="en-US" dirty="0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1D5306-3076-4878-ADDC-4820A40B51DD}"/>
              </a:ext>
            </a:extLst>
          </p:cNvPr>
          <p:cNvSpPr txBox="1"/>
          <p:nvPr/>
        </p:nvSpPr>
        <p:spPr>
          <a:xfrm>
            <a:off x="492874" y="1375733"/>
            <a:ext cx="609872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범죄자의 전략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정보비대칭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실제 기관 절차를 잘 모르는 점 이용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권위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검찰·경찰·금감원·은행 등 사칭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공포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체포·범죄연루·계좌동결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긴급성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즉각적인 행동 요구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비밀유지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가족·지인에게 알리지 못하게 함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외부검증 차단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검색·상담·재확인을 어렵게 함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한 줄 결론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정보 우위 + 심리적 압박 + 검증 차단을 통해 피해자의 판단 환경 자체를 장악한다.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여기까지만.</a:t>
            </a:r>
          </a:p>
        </p:txBody>
      </p:sp>
    </p:spTree>
    <p:extLst>
      <p:ext uri="{BB962C8B-B14F-4D97-AF65-F5344CB8AC3E}">
        <p14:creationId xmlns:p14="http://schemas.microsoft.com/office/powerpoint/2010/main" val="1810694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50BCCE8-847C-443E-9475-139D2ADE9A4F}"/>
              </a:ext>
            </a:extLst>
          </p:cNvPr>
          <p:cNvSpPr txBox="1"/>
          <p:nvPr/>
        </p:nvSpPr>
        <p:spPr>
          <a:xfrm>
            <a:off x="387803" y="405391"/>
            <a:ext cx="999716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7P. 실제 피해 데이터에서도 집단별 차이가 나타난다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넣을 것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연령별 피해건수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연령별 피해금액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가능하면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연령 × 보이스피싱 유형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기관사칭형 피해 특성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고령층 피해 변화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20대 피해 특성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여기서는 원인을 설명하지 마.</a:t>
            </a:r>
            <a:endParaRPr kumimoji="0" lang="ko-KR" altLang="ko-K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결론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피해는 모든 연령에서 발생하지만, 피해 유형과 양상에는 차이가 나타난다.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그렇다면 같은 범죄수법에도 왜 사람마다 취약해지는 방식이 다를까?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설문조사를 한다면 이 페이지 또는 다음 페이지에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보조 증거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로 넣으면 돼.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A562D2-3EA0-4666-9ED8-B3233B8CE440}"/>
              </a:ext>
            </a:extLst>
          </p:cNvPr>
          <p:cNvSpPr/>
          <p:nvPr/>
        </p:nvSpPr>
        <p:spPr>
          <a:xfrm>
            <a:off x="10710181" y="392765"/>
            <a:ext cx="964748" cy="6087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종열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0409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092041E-C3BC-4DD5-A5DE-6F1147C72B37}"/>
              </a:ext>
            </a:extLst>
          </p:cNvPr>
          <p:cNvSpPr txBox="1"/>
          <p:nvPr/>
        </p:nvSpPr>
        <p:spPr>
          <a:xfrm>
            <a:off x="725262" y="428178"/>
            <a:ext cx="609872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8P. 사람마다 ‘취약해지는 지점’이 다르다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타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겟분석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ko-KR" altLang="ko-K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20대·사회초년생</a:t>
            </a:r>
            <a:endParaRPr kumimoji="0" lang="en-US" altLang="ko-K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판단 기준의 공백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금융·행정·수사 경험 부족</a:t>
            </a:r>
            <a:b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정상적인 기관 절차 기준 부족</a:t>
            </a:r>
            <a:b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상대 주장과 정상 상황을 비교하기 어려움</a:t>
            </a:r>
            <a:b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기관사칭·권위 전략에 취약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6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600" b="1" dirty="0">
                <a:latin typeface="Arial" panose="020B0604020202020204" pitchFamily="34" charset="0"/>
              </a:rPr>
              <a:t>---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고령층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정보·검증의 공백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디지털·금융환경 변화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공식정보 검색·확인의 어려움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복잡한 정보를 빠르게 비교하는 부담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일부 사회적 고립·인지처리 부담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즉각적인 진위확인이 어려워질 수 있음</a:t>
            </a:r>
            <a:endParaRPr kumimoji="0" lang="ko-KR" altLang="ko-K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1099DD-1EF2-4E1C-B9EE-FAD73B388ED8}"/>
              </a:ext>
            </a:extLst>
          </p:cNvPr>
          <p:cNvSpPr txBox="1"/>
          <p:nvPr/>
        </p:nvSpPr>
        <p:spPr>
          <a:xfrm>
            <a:off x="5514975" y="1170720"/>
            <a:ext cx="609872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6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일반 금융소비자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상황적 취약성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정교한 개인정보 활용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실제 기관과 유사한 시나리오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갑작스러운 공포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시간 압박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누구나 순간적으로 취약상태에 놓일 수 있음</a:t>
            </a:r>
            <a:endParaRPr kumimoji="0" lang="en-US" altLang="ko-K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6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6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결론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연령 자체가 원인이 아니라, 각 개인의 취약성이 범죄자의 공격 방식과 다르게 결합한다.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040029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F7F558F-B78F-496B-A570-51535159C04E}"/>
              </a:ext>
            </a:extLst>
          </p:cNvPr>
          <p:cNvSpPr txBox="1"/>
          <p:nvPr/>
        </p:nvSpPr>
        <p:spPr>
          <a:xfrm>
            <a:off x="469447" y="321520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9P. </a:t>
            </a:r>
            <a:r>
              <a:rPr lang="ko-KR" altLang="en-US" dirty="0"/>
              <a:t>결국 피해는 세 요소가 결합하면서 발생한다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85065F-FB65-4019-AC61-650579B5FEE9}"/>
              </a:ext>
            </a:extLst>
          </p:cNvPr>
          <p:cNvSpPr txBox="1"/>
          <p:nvPr/>
        </p:nvSpPr>
        <p:spPr>
          <a:xfrm>
            <a:off x="618444" y="757918"/>
            <a:ext cx="5800725" cy="53553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/>
              <a:t>① 범죄자의 전략</a:t>
            </a:r>
          </a:p>
          <a:p>
            <a:r>
              <a:rPr lang="ko-KR" altLang="en-US" dirty="0"/>
              <a:t>정보비대칭 · 권위 · 공포 · 긴급성</a:t>
            </a:r>
          </a:p>
          <a:p>
            <a:r>
              <a:rPr lang="ko-KR" altLang="en-US" dirty="0"/>
              <a:t>             ×</a:t>
            </a:r>
          </a:p>
          <a:p>
            <a:r>
              <a:rPr lang="ko-KR" altLang="en-US" dirty="0"/>
              <a:t>② 피해자의 취약성</a:t>
            </a:r>
          </a:p>
          <a:p>
            <a:r>
              <a:rPr lang="ko-KR" altLang="en-US" dirty="0"/>
              <a:t>경험 부족 · 정보격차 · 상황적 부담</a:t>
            </a:r>
          </a:p>
          <a:p>
            <a:r>
              <a:rPr lang="ko-KR" altLang="en-US" dirty="0"/>
              <a:t>             ×</a:t>
            </a:r>
          </a:p>
          <a:p>
            <a:r>
              <a:rPr lang="ko-KR" altLang="en-US" dirty="0"/>
              <a:t>③ 외부검증의 제한</a:t>
            </a:r>
          </a:p>
          <a:p>
            <a:r>
              <a:rPr lang="ko-KR" altLang="en-US" dirty="0"/>
              <a:t>시간압박 · 비밀유지 · 상담/확인 차단</a:t>
            </a:r>
          </a:p>
          <a:p>
            <a:r>
              <a:rPr lang="ko-KR" altLang="en-US" dirty="0"/>
              <a:t>             ↓</a:t>
            </a:r>
          </a:p>
          <a:p>
            <a:r>
              <a:rPr lang="ko-KR" altLang="en-US" dirty="0"/>
              <a:t>━━━━━━━━━━━━━━━━━━</a:t>
            </a:r>
          </a:p>
          <a:p>
            <a:r>
              <a:rPr lang="ko-KR" altLang="en-US" dirty="0"/>
              <a:t>       판단 환경 붕괴</a:t>
            </a:r>
          </a:p>
          <a:p>
            <a:r>
              <a:rPr lang="ko-KR" altLang="en-US" dirty="0"/>
              <a:t>━━━━━━━━━━━━━━━━━━</a:t>
            </a:r>
          </a:p>
          <a:p>
            <a:r>
              <a:rPr lang="ko-KR" altLang="en-US" dirty="0"/>
              <a:t>             ↓</a:t>
            </a:r>
          </a:p>
          <a:p>
            <a:r>
              <a:rPr lang="ko-KR" altLang="en-US" dirty="0"/>
              <a:t>"이 상황이 진짜인지 사기인지</a:t>
            </a:r>
          </a:p>
          <a:p>
            <a:r>
              <a:rPr lang="ko-KR" altLang="en-US" dirty="0"/>
              <a:t> 스스로 검증하기 어려움"</a:t>
            </a:r>
          </a:p>
          <a:p>
            <a:r>
              <a:rPr lang="ko-KR" altLang="en-US" dirty="0"/>
              <a:t>             ↓</a:t>
            </a:r>
          </a:p>
          <a:p>
            <a:r>
              <a:rPr lang="ko-KR" altLang="en-US" dirty="0"/>
              <a:t>        잘못된 금융행동</a:t>
            </a:r>
          </a:p>
          <a:p>
            <a:r>
              <a:rPr lang="ko-KR" altLang="en-US" dirty="0"/>
              <a:t>             ↓</a:t>
            </a:r>
          </a:p>
          <a:p>
            <a:r>
              <a:rPr lang="ko-KR" altLang="en-US" dirty="0"/>
              <a:t>             피해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B626D6-9EB8-4553-B339-306C4B213257}"/>
              </a:ext>
            </a:extLst>
          </p:cNvPr>
          <p:cNvSpPr txBox="1"/>
          <p:nvPr/>
        </p:nvSpPr>
        <p:spPr>
          <a:xfrm>
            <a:off x="618444" y="6234333"/>
            <a:ext cx="6098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* </a:t>
            </a:r>
            <a:r>
              <a:rPr lang="ko-KR" altLang="en-US" sz="1000" dirty="0">
                <a:solidFill>
                  <a:srgbClr val="FF0000"/>
                </a:solidFill>
              </a:rPr>
              <a:t>피해 발생 메커니즘의 최종 모델</a:t>
            </a:r>
          </a:p>
        </p:txBody>
      </p:sp>
    </p:spTree>
    <p:extLst>
      <p:ext uri="{BB962C8B-B14F-4D97-AF65-F5344CB8AC3E}">
        <p14:creationId xmlns:p14="http://schemas.microsoft.com/office/powerpoint/2010/main" val="8183711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31AB117-25D4-4D4C-86DC-17E70DB68BB7}"/>
              </a:ext>
            </a:extLst>
          </p:cNvPr>
          <p:cNvSpPr txBox="1"/>
          <p:nvPr/>
        </p:nvSpPr>
        <p:spPr>
          <a:xfrm>
            <a:off x="306161" y="305191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10P. </a:t>
            </a:r>
            <a:r>
              <a:rPr lang="ko-KR" altLang="en-US" dirty="0"/>
              <a:t>최종 문제정의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B83F5A-0DE4-4B79-B862-0AB86233B81C}"/>
              </a:ext>
            </a:extLst>
          </p:cNvPr>
          <p:cNvSpPr txBox="1"/>
          <p:nvPr/>
        </p:nvSpPr>
        <p:spPr>
          <a:xfrm>
            <a:off x="306161" y="821009"/>
            <a:ext cx="60987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보이스피싱 피해의 핵심은 단순한 정보 부족이 아니라, 범죄자가 피해자의 취약성을 이용해 판단 환경을 장악하고 외부 검증을 제한하는 상황에서도 최종 판단과 금융행동이 피해자 개인에게 크게 의존한다는 것이다.</a:t>
            </a:r>
            <a:endParaRPr kumimoji="0" lang="ko-KR" altLang="ko-KR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2277D6-852D-4C85-B0A4-7983E6021DF7}"/>
              </a:ext>
            </a:extLst>
          </p:cNvPr>
          <p:cNvSpPr txBox="1"/>
          <p:nvPr/>
        </p:nvSpPr>
        <p:spPr>
          <a:xfrm>
            <a:off x="1728787" y="2868777"/>
            <a:ext cx="302486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범죄자의 조작</a:t>
            </a:r>
          </a:p>
          <a:p>
            <a:r>
              <a:rPr lang="ko-KR" altLang="en-US" dirty="0"/>
              <a:t>       ↓</a:t>
            </a:r>
          </a:p>
          <a:p>
            <a:r>
              <a:rPr lang="ko-KR" altLang="en-US" dirty="0"/>
              <a:t>피해자의 판단 흔들림</a:t>
            </a:r>
          </a:p>
          <a:p>
            <a:r>
              <a:rPr lang="ko-KR" altLang="en-US" dirty="0"/>
              <a:t>       ↓</a:t>
            </a:r>
          </a:p>
          <a:p>
            <a:r>
              <a:rPr lang="ko-KR" altLang="en-US" dirty="0"/>
              <a:t>   혼자 판단</a:t>
            </a:r>
          </a:p>
          <a:p>
            <a:r>
              <a:rPr lang="ko-KR" altLang="en-US" dirty="0"/>
              <a:t>       ↓</a:t>
            </a:r>
          </a:p>
          <a:p>
            <a:r>
              <a:rPr lang="ko-KR" altLang="en-US" dirty="0"/>
              <a:t>      송금</a:t>
            </a:r>
          </a:p>
          <a:p>
            <a:r>
              <a:rPr lang="ko-KR" altLang="en-US" dirty="0"/>
              <a:t>       ↓</a:t>
            </a:r>
          </a:p>
          <a:p>
            <a:r>
              <a:rPr lang="ko-KR" altLang="en-US" dirty="0"/>
              <a:t>      피해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B9D22F-BEA0-4174-A735-0AA1485B5140}"/>
              </a:ext>
            </a:extLst>
          </p:cNvPr>
          <p:cNvSpPr txBox="1"/>
          <p:nvPr/>
        </p:nvSpPr>
        <p:spPr>
          <a:xfrm>
            <a:off x="534761" y="5852325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“객관적인 제</a:t>
            </a:r>
            <a:r>
              <a:rPr lang="en-US" altLang="ko-KR" dirty="0">
                <a:solidFill>
                  <a:srgbClr val="FF0000"/>
                </a:solidFill>
              </a:rPr>
              <a:t>3</a:t>
            </a:r>
            <a:r>
              <a:rPr lang="ko-KR" altLang="en-US" dirty="0">
                <a:solidFill>
                  <a:srgbClr val="FF0000"/>
                </a:solidFill>
              </a:rPr>
              <a:t>자의 판단을 개입시킬 수 있다면</a:t>
            </a:r>
            <a:r>
              <a:rPr lang="en-US" altLang="ko-KR" dirty="0">
                <a:solidFill>
                  <a:srgbClr val="FF0000"/>
                </a:solidFill>
              </a:rPr>
              <a:t>?”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5520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49AD12-F4AE-4C99-9D50-1DA2242149EE}"/>
              </a:ext>
            </a:extLst>
          </p:cNvPr>
          <p:cNvSpPr txBox="1"/>
          <p:nvPr/>
        </p:nvSpPr>
        <p:spPr>
          <a:xfrm>
            <a:off x="730704" y="797510"/>
            <a:ext cx="955629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Ⅲ. 인사이트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11P. 더 많은 ‘경고’만으로는 부족하다</a:t>
            </a:r>
            <a:endParaRPr kumimoji="0" lang="en-US" altLang="ko-K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6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정보 부족만의 문제가 아니다.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알고 있어도 실제 압박 상황에서는 판단이 흔들릴 수 있음.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 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판단이 흔들릴 때 혼자 판단하게 두어서는 안 된다.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필요한 것: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독립적인 외부 검증</a:t>
            </a:r>
            <a:endParaRPr kumimoji="0" lang="en-US" altLang="ko-K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 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검증하는 동안 금융행동도 멈출 수 있어야 한다.</a:t>
            </a:r>
            <a:endParaRPr kumimoji="0" lang="en-US" altLang="ko-K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그래서: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위험탐지</a:t>
            </a:r>
            <a:b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외부 검증</a:t>
            </a:r>
            <a:b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검증되는 동안 거래보류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라는 서비스 원칙이 도출됨.</a:t>
            </a:r>
          </a:p>
        </p:txBody>
      </p:sp>
    </p:spTree>
    <p:extLst>
      <p:ext uri="{BB962C8B-B14F-4D97-AF65-F5344CB8AC3E}">
        <p14:creationId xmlns:p14="http://schemas.microsoft.com/office/powerpoint/2010/main" val="35114113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8177D77-20F4-463D-9A27-671D43DACFC6}"/>
              </a:ext>
            </a:extLst>
          </p:cNvPr>
          <p:cNvSpPr txBox="1"/>
          <p:nvPr/>
        </p:nvSpPr>
        <p:spPr>
          <a:xfrm>
            <a:off x="420461" y="419491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12P. </a:t>
            </a:r>
            <a:r>
              <a:rPr lang="ko-KR" altLang="en-US"/>
              <a:t>판단과 송금 사이에 ‘방지턱’을 만든다</a:t>
            </a:r>
            <a:endParaRPr lang="ko-KR" alt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7C04E39-960F-497A-BFBC-22459EE0F257}"/>
              </a:ext>
            </a:extLst>
          </p:cNvPr>
          <p:cNvGrpSpPr/>
          <p:nvPr/>
        </p:nvGrpSpPr>
        <p:grpSpPr>
          <a:xfrm>
            <a:off x="2463574" y="635871"/>
            <a:ext cx="7349898" cy="4524315"/>
            <a:chOff x="2463574" y="635871"/>
            <a:chExt cx="7349898" cy="452431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D32834C-77F0-4187-9D74-793F1740AE3A}"/>
                </a:ext>
              </a:extLst>
            </p:cNvPr>
            <p:cNvSpPr txBox="1"/>
            <p:nvPr/>
          </p:nvSpPr>
          <p:spPr>
            <a:xfrm>
              <a:off x="2463574" y="1517614"/>
              <a:ext cx="2143124" cy="230832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altLang="ko-KR" dirty="0"/>
                <a:t>(</a:t>
              </a:r>
              <a:r>
                <a:rPr lang="ko-KR" altLang="en-US" dirty="0"/>
                <a:t>기존</a:t>
              </a:r>
              <a:r>
                <a:rPr lang="en-US" altLang="ko-KR" dirty="0"/>
                <a:t>)</a:t>
              </a:r>
            </a:p>
            <a:p>
              <a:r>
                <a:rPr lang="ko-KR" altLang="en-US" dirty="0"/>
                <a:t>범죄자의 조작</a:t>
              </a:r>
            </a:p>
            <a:p>
              <a:r>
                <a:rPr lang="ko-KR" altLang="en-US" dirty="0"/>
                <a:t>↓</a:t>
              </a:r>
            </a:p>
            <a:p>
              <a:r>
                <a:rPr lang="ko-KR" altLang="en-US" dirty="0"/>
                <a:t>판단 흔들림</a:t>
              </a:r>
            </a:p>
            <a:p>
              <a:r>
                <a:rPr lang="ko-KR" altLang="en-US" dirty="0"/>
                <a:t>↓</a:t>
              </a:r>
            </a:p>
            <a:p>
              <a:r>
                <a:rPr lang="ko-KR" altLang="en-US" dirty="0"/>
                <a:t>송금</a:t>
              </a:r>
            </a:p>
            <a:p>
              <a:r>
                <a:rPr lang="ko-KR" altLang="en-US" dirty="0"/>
                <a:t>↓</a:t>
              </a:r>
            </a:p>
            <a:p>
              <a:r>
                <a:rPr lang="ko-KR" altLang="en-US" dirty="0"/>
                <a:t>피해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9047BE9-6C25-436F-9487-8EC55067E74C}"/>
                </a:ext>
              </a:extLst>
            </p:cNvPr>
            <p:cNvSpPr txBox="1"/>
            <p:nvPr/>
          </p:nvSpPr>
          <p:spPr>
            <a:xfrm>
              <a:off x="5514976" y="635871"/>
              <a:ext cx="4298496" cy="452431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altLang="ko-KR" dirty="0"/>
                <a:t>(</a:t>
              </a:r>
              <a:r>
                <a:rPr lang="ko-KR" altLang="en-US" dirty="0"/>
                <a:t>제안</a:t>
              </a:r>
              <a:r>
                <a:rPr lang="en-US" altLang="ko-KR" dirty="0"/>
                <a:t>)</a:t>
              </a:r>
            </a:p>
            <a:p>
              <a:r>
                <a:rPr lang="ko-KR" altLang="en-US" dirty="0"/>
                <a:t>범죄자의 조작</a:t>
              </a:r>
            </a:p>
            <a:p>
              <a:r>
                <a:rPr lang="ko-KR" altLang="en-US" dirty="0"/>
                <a:t>↓</a:t>
              </a:r>
            </a:p>
            <a:p>
              <a:r>
                <a:rPr lang="ko-KR" altLang="en-US" dirty="0"/>
                <a:t>판단 흔들림</a:t>
              </a:r>
            </a:p>
            <a:p>
              <a:r>
                <a:rPr lang="ko-KR" altLang="en-US" dirty="0"/>
                <a:t>↓</a:t>
              </a:r>
            </a:p>
            <a:p>
              <a:r>
                <a:rPr lang="ko-KR" altLang="en-US" dirty="0"/>
                <a:t>━━━━━━━━━━━━━━━━</a:t>
              </a:r>
            </a:p>
            <a:p>
              <a:r>
                <a:rPr lang="ko-KR" altLang="en-US" dirty="0"/>
                <a:t> AI 위험 탐지</a:t>
              </a:r>
            </a:p>
            <a:p>
              <a:r>
                <a:rPr lang="ko-KR" altLang="en-US" dirty="0"/>
                <a:t> +</a:t>
              </a:r>
            </a:p>
            <a:p>
              <a:r>
                <a:rPr lang="ko-KR" altLang="en-US" dirty="0"/>
                <a:t> 외부 검증</a:t>
              </a:r>
            </a:p>
            <a:p>
              <a:r>
                <a:rPr lang="ko-KR" altLang="en-US" dirty="0"/>
                <a:t> +</a:t>
              </a:r>
            </a:p>
            <a:p>
              <a:r>
                <a:rPr lang="ko-KR" altLang="en-US" dirty="0"/>
                <a:t> 거래 일시보류</a:t>
              </a:r>
            </a:p>
            <a:p>
              <a:r>
                <a:rPr lang="ko-KR" altLang="en-US" dirty="0"/>
                <a:t>━━━━━━━━━━━━━━━━</a:t>
              </a:r>
            </a:p>
            <a:p>
              <a:r>
                <a:rPr lang="ko-KR" altLang="en-US" dirty="0"/>
                <a:t>↓</a:t>
              </a:r>
            </a:p>
            <a:p>
              <a:r>
                <a:rPr lang="ko-KR" altLang="en-US" dirty="0"/>
                <a:t>재검토</a:t>
              </a:r>
            </a:p>
            <a:p>
              <a:r>
                <a:rPr lang="ko-KR" altLang="en-US" dirty="0"/>
                <a:t>↓</a:t>
              </a:r>
            </a:p>
            <a:p>
              <a:r>
                <a:rPr lang="ko-KR" altLang="en-US" dirty="0"/>
                <a:t>송금 / 중단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3660596-1EC1-4B8B-9EDA-09F56C564933}"/>
              </a:ext>
            </a:extLst>
          </p:cNvPr>
          <p:cNvSpPr txBox="1"/>
          <p:nvPr/>
        </p:nvSpPr>
        <p:spPr>
          <a:xfrm>
            <a:off x="2036990" y="5575798"/>
            <a:ext cx="77764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피해자의 판단을 대신하는 것이 아니라</a:t>
            </a:r>
            <a:r>
              <a:rPr lang="en-US" altLang="ko-KR" dirty="0"/>
              <a:t>, </a:t>
            </a:r>
            <a:r>
              <a:rPr lang="ko-KR" altLang="en-US" dirty="0"/>
              <a:t>잘못된 판단이 곧바로 금융피해로 이어지지 않도록 ‘판단과 송금 사이’에 금융 방지턱을 만든다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39756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F72B5CE-FAF6-4750-A330-0E8100B5D032}"/>
              </a:ext>
            </a:extLst>
          </p:cNvPr>
          <p:cNvSpPr txBox="1"/>
          <p:nvPr/>
        </p:nvSpPr>
        <p:spPr>
          <a:xfrm>
            <a:off x="289832" y="256205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Ⅳ. </a:t>
            </a:r>
            <a:r>
              <a:rPr lang="ko-KR" altLang="en-US" b="1" dirty="0"/>
              <a:t>해결방안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8E2E2B-0B46-4F9A-92A9-935DEC30513C}"/>
              </a:ext>
            </a:extLst>
          </p:cNvPr>
          <p:cNvSpPr txBox="1"/>
          <p:nvPr/>
        </p:nvSpPr>
        <p:spPr>
          <a:xfrm>
            <a:off x="534761" y="1443841"/>
            <a:ext cx="609872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13P. Solution — AI 독립검증형 송금방지턱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서비스 정의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통화 중 AI가 보이스피싱 위험을 탐지하고, 고위험 송금 발생 시 거래를 즉시 실행하지 않고 신뢰인의 사전 설정된 거래 검토와 금융기관의 독립적인 보호조치를 거치도록 하는 다중검증형 금융안전 서</a:t>
            </a:r>
            <a:r>
              <a:rPr kumimoji="0" lang="ko-KR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비스</a:t>
            </a:r>
            <a:endParaRPr kumimoji="0" lang="en-US" altLang="ko-K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5대 기능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통화 위험 탐지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위험도·판단근거 산출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역할별 맞춤 알림·브리프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신뢰인 공동검토형 송금방지턱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금융기관·공식기관 독립검</a:t>
            </a: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증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9146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BCEEA14-635E-4BCC-9C9C-A80851334527}"/>
              </a:ext>
            </a:extLst>
          </p:cNvPr>
          <p:cNvSpPr txBox="1"/>
          <p:nvPr/>
        </p:nvSpPr>
        <p:spPr>
          <a:xfrm>
            <a:off x="355146" y="272534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14P. </a:t>
            </a:r>
            <a:r>
              <a:rPr lang="ko-KR" altLang="en-US" dirty="0"/>
              <a:t>서비스 전체 작동 흐름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156040-32F3-49AF-92DE-4F3C34B4DC8D}"/>
              </a:ext>
            </a:extLst>
          </p:cNvPr>
          <p:cNvSpPr txBox="1"/>
          <p:nvPr/>
        </p:nvSpPr>
        <p:spPr>
          <a:xfrm>
            <a:off x="355146" y="818062"/>
            <a:ext cx="3841296" cy="59093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 dirty="0"/>
              <a:t>통화</a:t>
            </a:r>
          </a:p>
          <a:p>
            <a:r>
              <a:rPr lang="ko-KR" altLang="en-US" sz="1400" dirty="0"/>
              <a:t>↓</a:t>
            </a:r>
          </a:p>
          <a:p>
            <a:r>
              <a:rPr lang="ko-KR" altLang="en-US" sz="1400" dirty="0"/>
              <a:t>STT</a:t>
            </a:r>
          </a:p>
          <a:p>
            <a:r>
              <a:rPr lang="ko-KR" altLang="en-US" sz="1400" dirty="0"/>
              <a:t>↓</a:t>
            </a:r>
          </a:p>
          <a:p>
            <a:r>
              <a:rPr lang="ko-KR" altLang="en-US" sz="1400" dirty="0"/>
              <a:t>AI 통화 위험분석</a:t>
            </a:r>
          </a:p>
          <a:p>
            <a:r>
              <a:rPr lang="ko-KR" altLang="en-US" sz="1400" dirty="0"/>
              <a:t>↓</a:t>
            </a:r>
          </a:p>
          <a:p>
            <a:r>
              <a:rPr lang="ko-KR" altLang="en-US" sz="1400" dirty="0"/>
              <a:t>위험도 + 판단근거</a:t>
            </a:r>
          </a:p>
          <a:p>
            <a:r>
              <a:rPr lang="ko-KR" altLang="en-US" sz="1400" dirty="0"/>
              <a:t>↓</a:t>
            </a:r>
          </a:p>
          <a:p>
            <a:r>
              <a:rPr lang="ko-KR" altLang="en-US" sz="1400" dirty="0"/>
              <a:t>역할별 맞춤 알림</a:t>
            </a:r>
          </a:p>
          <a:p>
            <a:r>
              <a:rPr lang="ko-KR" altLang="en-US" sz="1400" dirty="0"/>
              <a:t>↓</a:t>
            </a:r>
          </a:p>
          <a:p>
            <a:r>
              <a:rPr lang="ko-KR" altLang="en-US" sz="1400" dirty="0"/>
              <a:t>사용자 송금 시도</a:t>
            </a:r>
          </a:p>
          <a:p>
            <a:r>
              <a:rPr lang="ko-KR" altLang="en-US" sz="1400" dirty="0"/>
              <a:t>↓</a:t>
            </a:r>
          </a:p>
          <a:p>
            <a:r>
              <a:rPr lang="ko-KR" altLang="en-US" sz="1400" dirty="0"/>
              <a:t>━━━━━━━━━━━━</a:t>
            </a:r>
          </a:p>
          <a:p>
            <a:r>
              <a:rPr lang="ko-KR" altLang="en-US" sz="1400" dirty="0"/>
              <a:t>  Transaction Guard</a:t>
            </a:r>
          </a:p>
          <a:p>
            <a:r>
              <a:rPr lang="ko-KR" altLang="en-US" sz="1400" dirty="0"/>
              <a:t>     거래 보류</a:t>
            </a:r>
          </a:p>
          <a:p>
            <a:r>
              <a:rPr lang="ko-KR" altLang="en-US" sz="1400" dirty="0"/>
              <a:t>━━━━━━━━━━━━</a:t>
            </a:r>
          </a:p>
          <a:p>
            <a:r>
              <a:rPr lang="ko-KR" altLang="en-US" sz="1400" dirty="0"/>
              <a:t>↓</a:t>
            </a:r>
          </a:p>
          <a:p>
            <a:r>
              <a:rPr lang="ko-KR" altLang="en-US" sz="1400" dirty="0"/>
              <a:t>┌─────┬─────┐</a:t>
            </a:r>
          </a:p>
          <a:p>
            <a:r>
              <a:rPr lang="ko-KR" altLang="en-US" sz="1400" dirty="0"/>
              <a:t>↓               ↓              ↓</a:t>
            </a:r>
          </a:p>
          <a:p>
            <a:r>
              <a:rPr lang="ko-KR" altLang="en-US" sz="1400" dirty="0"/>
              <a:t>신뢰인     금융기관     공식기관</a:t>
            </a:r>
            <a:r>
              <a:rPr lang="en-US" altLang="ko-KR" sz="1400" dirty="0"/>
              <a:t>(</a:t>
            </a:r>
            <a:r>
              <a:rPr lang="ko-KR" altLang="en-US" sz="1400" dirty="0"/>
              <a:t>필요 시</a:t>
            </a:r>
            <a:r>
              <a:rPr lang="en-US" altLang="ko-KR" sz="1400" dirty="0"/>
              <a:t>)</a:t>
            </a:r>
          </a:p>
          <a:p>
            <a:r>
              <a:rPr lang="ko-KR" altLang="en-US" sz="1400" dirty="0"/>
              <a:t>↓               ↓              ↓</a:t>
            </a:r>
          </a:p>
          <a:p>
            <a:r>
              <a:rPr lang="ko-KR" altLang="en-US" sz="1400" dirty="0"/>
              <a:t>└─────┴─────┘</a:t>
            </a:r>
          </a:p>
          <a:p>
            <a:r>
              <a:rPr lang="ko-KR" altLang="en-US" sz="1400" dirty="0"/>
              <a:t>            ↓</a:t>
            </a:r>
          </a:p>
          <a:p>
            <a:r>
              <a:rPr lang="ko-KR" altLang="en-US" sz="1400" dirty="0"/>
              <a:t>       최종 거래처리</a:t>
            </a:r>
          </a:p>
          <a:p>
            <a:r>
              <a:rPr lang="ko-KR" altLang="en-US" sz="1400" dirty="0"/>
              <a:t>            ↓</a:t>
            </a:r>
          </a:p>
          <a:p>
            <a:r>
              <a:rPr lang="ko-KR" altLang="en-US" sz="1400" dirty="0"/>
              <a:t>송금 / 추가확인 / 보류 / 중단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AE1FD6-7268-406D-A7F8-F4D308749F36}"/>
              </a:ext>
            </a:extLst>
          </p:cNvPr>
          <p:cNvSpPr txBox="1"/>
          <p:nvPr/>
        </p:nvSpPr>
        <p:spPr>
          <a:xfrm>
            <a:off x="4196442" y="6434044"/>
            <a:ext cx="6098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* </a:t>
            </a:r>
            <a:r>
              <a:rPr lang="ko-KR" altLang="en-US" sz="1200" dirty="0">
                <a:solidFill>
                  <a:srgbClr val="FF0000"/>
                </a:solidFill>
              </a:rPr>
              <a:t>신뢰인 → 금융기관 순차가 아니라 병렬 검증 구조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610331-1D74-4E48-9B48-7235AD4B3068}"/>
              </a:ext>
            </a:extLst>
          </p:cNvPr>
          <p:cNvSpPr txBox="1"/>
          <p:nvPr/>
        </p:nvSpPr>
        <p:spPr>
          <a:xfrm>
            <a:off x="5057774" y="272534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15P. AI</a:t>
            </a:r>
            <a:r>
              <a:rPr lang="ko-KR" altLang="en-US" dirty="0"/>
              <a:t>는 ‘통화 속 새로운 위험신호’를 만든다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9854A0-4275-4EF9-BE85-8CA4C431B516}"/>
              </a:ext>
            </a:extLst>
          </p:cNvPr>
          <p:cNvSpPr txBox="1"/>
          <p:nvPr/>
        </p:nvSpPr>
        <p:spPr>
          <a:xfrm>
            <a:off x="5057774" y="956269"/>
            <a:ext cx="4200526" cy="37548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/>
              <a:t>통화 음성</a:t>
            </a:r>
          </a:p>
          <a:p>
            <a:pPr algn="ctr"/>
            <a:r>
              <a:rPr lang="ko-KR" altLang="en-US" sz="1400" dirty="0"/>
              <a:t>↓</a:t>
            </a:r>
          </a:p>
          <a:p>
            <a:pPr algn="ctr"/>
            <a:r>
              <a:rPr lang="ko-KR" altLang="en-US" sz="1400" dirty="0"/>
              <a:t>STT</a:t>
            </a:r>
          </a:p>
          <a:p>
            <a:pPr algn="ctr"/>
            <a:r>
              <a:rPr lang="ko-KR" altLang="en-US" sz="1400" dirty="0"/>
              <a:t>↓</a:t>
            </a:r>
          </a:p>
          <a:p>
            <a:pPr algn="ctr"/>
            <a:r>
              <a:rPr lang="ko-KR" altLang="en-US" sz="1400" dirty="0"/>
              <a:t>LLM / Rule Event Extraction</a:t>
            </a:r>
          </a:p>
          <a:p>
            <a:pPr algn="ctr"/>
            <a:r>
              <a:rPr lang="ko-KR" altLang="en-US" sz="1400" dirty="0"/>
              <a:t>↓</a:t>
            </a:r>
          </a:p>
          <a:p>
            <a:pPr algn="ctr"/>
            <a:r>
              <a:rPr lang="ko-KR" altLang="en-US" sz="1400" dirty="0"/>
              <a:t>Feature Builder</a:t>
            </a:r>
          </a:p>
          <a:p>
            <a:pPr algn="ctr"/>
            <a:r>
              <a:rPr lang="ko-KR" altLang="en-US" sz="1400" dirty="0"/>
              <a:t>↓</a:t>
            </a:r>
          </a:p>
          <a:p>
            <a:pPr algn="ctr"/>
            <a:r>
              <a:rPr lang="ko-KR" altLang="en-US" sz="1400" dirty="0"/>
              <a:t>┌─────────────────┐</a:t>
            </a:r>
          </a:p>
          <a:p>
            <a:pPr algn="ctr"/>
            <a:r>
              <a:rPr lang="ko-KR" altLang="en-US" sz="1400" dirty="0"/>
              <a:t>Window ML                           Cumulative ML</a:t>
            </a:r>
          </a:p>
          <a:p>
            <a:pPr algn="ctr"/>
            <a:r>
              <a:rPr lang="ko-KR" altLang="en-US" sz="1400" dirty="0"/>
              <a:t>└────────┬────────┘</a:t>
            </a:r>
          </a:p>
          <a:p>
            <a:pPr algn="ctr"/>
            <a:r>
              <a:rPr lang="ko-KR" altLang="en-US" sz="1400" dirty="0"/>
              <a:t>↓</a:t>
            </a:r>
          </a:p>
          <a:p>
            <a:pPr algn="ctr"/>
            <a:r>
              <a:rPr lang="ko-KR" altLang="en-US" sz="1400" dirty="0"/>
              <a:t>   Call Risk Score</a:t>
            </a:r>
          </a:p>
          <a:p>
            <a:pPr algn="ctr"/>
            <a:r>
              <a:rPr lang="ko-KR" altLang="en-US" sz="1400" dirty="0"/>
              <a:t>↓</a:t>
            </a:r>
          </a:p>
          <a:p>
            <a:pPr algn="ctr"/>
            <a:r>
              <a:rPr lang="ko-KR" altLang="en-US" sz="1400" dirty="0"/>
              <a:t>LLM Context Review / Explanation</a:t>
            </a:r>
          </a:p>
          <a:p>
            <a:pPr algn="ctr"/>
            <a:r>
              <a:rPr lang="ko-KR" altLang="en-US" sz="1400" dirty="0"/>
              <a:t>↓</a:t>
            </a:r>
          </a:p>
          <a:p>
            <a:pPr algn="ctr"/>
            <a:r>
              <a:rPr lang="ko-KR" altLang="en-US" sz="1400" dirty="0"/>
              <a:t>위험도 + 판단근거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AEFA00-C221-4879-9E21-D33E8671A26F}"/>
              </a:ext>
            </a:extLst>
          </p:cNvPr>
          <p:cNvSpPr txBox="1"/>
          <p:nvPr/>
        </p:nvSpPr>
        <p:spPr>
          <a:xfrm>
            <a:off x="5057774" y="5025546"/>
            <a:ext cx="48699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기존 </a:t>
            </a:r>
            <a:r>
              <a:rPr lang="en-US" altLang="ko-KR" dirty="0"/>
              <a:t>FDS</a:t>
            </a:r>
            <a:r>
              <a:rPr lang="ko-KR" altLang="en-US" dirty="0"/>
              <a:t>가 보지 못했던 ‘통화 내용과 맥락’을 새로운 </a:t>
            </a:r>
            <a:r>
              <a:rPr lang="en-US" altLang="ko-KR" dirty="0"/>
              <a:t>Risk Signal</a:t>
            </a:r>
            <a:r>
              <a:rPr lang="ko-KR" altLang="en-US" dirty="0"/>
              <a:t>로 생성한다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9201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0D7B3FD-FA16-4FD9-95E9-3B2E55D8FF74}"/>
              </a:ext>
            </a:extLst>
          </p:cNvPr>
          <p:cNvSpPr txBox="1"/>
          <p:nvPr/>
        </p:nvSpPr>
        <p:spPr>
          <a:xfrm>
            <a:off x="371475" y="354177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16P. </a:t>
            </a:r>
            <a:r>
              <a:rPr lang="ko-KR" altLang="en-US" dirty="0"/>
              <a:t>위험도에 따라 개입 수준이 달라진다 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보류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443D83A-BB9B-463F-BF1C-E6C0766F10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1255345"/>
              </p:ext>
            </p:extLst>
          </p:nvPr>
        </p:nvGraphicFramePr>
        <p:xfrm>
          <a:off x="371475" y="892334"/>
          <a:ext cx="5016954" cy="2103120"/>
        </p:xfrm>
        <a:graphic>
          <a:graphicData uri="http://schemas.openxmlformats.org/drawingml/2006/table">
            <a:tbl>
              <a:tblPr/>
              <a:tblGrid>
                <a:gridCol w="1783896">
                  <a:extLst>
                    <a:ext uri="{9D8B030D-6E8A-4147-A177-3AD203B41FA5}">
                      <a16:colId xmlns:a16="http://schemas.microsoft.com/office/drawing/2014/main" val="13229094"/>
                    </a:ext>
                  </a:extLst>
                </a:gridCol>
                <a:gridCol w="3233058">
                  <a:extLst>
                    <a:ext uri="{9D8B030D-6E8A-4147-A177-3AD203B41FA5}">
                      <a16:colId xmlns:a16="http://schemas.microsoft.com/office/drawing/2014/main" val="19564466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수준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개입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4704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낮음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결과 안내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61901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의심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사용자 경고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18391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높음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사용자 </a:t>
                      </a:r>
                      <a:r>
                        <a:rPr lang="en-US" altLang="ko-KR"/>
                        <a:t>+ </a:t>
                      </a:r>
                      <a:r>
                        <a:rPr lang="ko-KR" altLang="en-US"/>
                        <a:t>신뢰인 알림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29295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매우 높음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거래보류 </a:t>
                      </a:r>
                      <a:r>
                        <a:rPr lang="en-US" altLang="ko-KR" dirty="0"/>
                        <a:t>+ </a:t>
                      </a:r>
                      <a:r>
                        <a:rPr lang="ko-KR" altLang="en-US" dirty="0"/>
                        <a:t>신뢰인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금융기관 개입 </a:t>
                      </a:r>
                      <a:r>
                        <a:rPr lang="en-US" altLang="ko-KR" dirty="0"/>
                        <a:t>+ </a:t>
                      </a:r>
                      <a:r>
                        <a:rPr lang="ko-KR" altLang="en-US" dirty="0"/>
                        <a:t>필요 시 기관검증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874960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B717DD0-BF24-47DC-B576-04DF14616594}"/>
              </a:ext>
            </a:extLst>
          </p:cNvPr>
          <p:cNvSpPr txBox="1"/>
          <p:nvPr/>
        </p:nvSpPr>
        <p:spPr>
          <a:xfrm>
            <a:off x="485776" y="3121223"/>
            <a:ext cx="609872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흐름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Call Risk → Bank Risk Engine → Intervention</a:t>
            </a:r>
            <a:endParaRPr kumimoji="0" lang="ko-KR" altLang="ko-KR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92C9E2-8965-4150-ACBE-76C69E490D71}"/>
              </a:ext>
            </a:extLst>
          </p:cNvPr>
          <p:cNvSpPr txBox="1"/>
          <p:nvPr/>
        </p:nvSpPr>
        <p:spPr>
          <a:xfrm>
            <a:off x="485776" y="4175062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AI</a:t>
            </a:r>
            <a:r>
              <a:rPr lang="ko-KR" altLang="en-US" dirty="0">
                <a:solidFill>
                  <a:srgbClr val="FF0000"/>
                </a:solidFill>
              </a:rPr>
              <a:t>가 판단한 위험도가 실제 서비스 행동으로 연결된다</a:t>
            </a:r>
          </a:p>
        </p:txBody>
      </p:sp>
    </p:spTree>
    <p:extLst>
      <p:ext uri="{BB962C8B-B14F-4D97-AF65-F5344CB8AC3E}">
        <p14:creationId xmlns:p14="http://schemas.microsoft.com/office/powerpoint/2010/main" val="9331056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E8223D0-F44C-426A-A80D-C60ECD2658C7}"/>
              </a:ext>
            </a:extLst>
          </p:cNvPr>
          <p:cNvSpPr txBox="1"/>
          <p:nvPr/>
        </p:nvSpPr>
        <p:spPr>
          <a:xfrm>
            <a:off x="273504" y="321519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17P. </a:t>
            </a:r>
            <a:r>
              <a:rPr lang="ko-KR" altLang="en-US" dirty="0"/>
              <a:t>관계자마다 서로 다른 역할로 개입한다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6846DE4-DBE7-40F1-8BC1-D25F25C17E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2339135"/>
              </p:ext>
            </p:extLst>
          </p:nvPr>
        </p:nvGraphicFramePr>
        <p:xfrm>
          <a:off x="1887378" y="928029"/>
          <a:ext cx="8417243" cy="2377440"/>
        </p:xfrm>
        <a:graphic>
          <a:graphicData uri="http://schemas.openxmlformats.org/drawingml/2006/table">
            <a:tbl>
              <a:tblPr/>
              <a:tblGrid>
                <a:gridCol w="1406843">
                  <a:extLst>
                    <a:ext uri="{9D8B030D-6E8A-4147-A177-3AD203B41FA5}">
                      <a16:colId xmlns:a16="http://schemas.microsoft.com/office/drawing/2014/main" val="101558334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4618403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7651997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주체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제공 정보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역할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8786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dirty="0"/>
                        <a:t>피해자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위험도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근거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>
                          <a:solidFill>
                            <a:srgbClr val="FF0000"/>
                          </a:solidFill>
                        </a:rPr>
                        <a:t>행동안내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통화 종료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재확인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1998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dirty="0"/>
                        <a:t>신뢰인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상황요약</a:t>
                      </a:r>
                      <a:r>
                        <a:rPr lang="en-US" altLang="ko-KR" dirty="0"/>
                        <a:t>·AI</a:t>
                      </a:r>
                      <a:r>
                        <a:rPr lang="ko-KR" altLang="en-US" dirty="0"/>
                        <a:t>분석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요구 금액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대화 안에서 나오는 요구하는 금액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b="1" dirty="0"/>
                        <a:t>거래별 필수 공동검토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18065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dirty="0"/>
                        <a:t>금융기관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거래위험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요구 금액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대화 안에서 나오는 요구하는 금액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추가확인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보류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차단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3509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dirty="0"/>
                        <a:t>기관담당자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사칭정보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확인요청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공식 진위검증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699065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024D0C9-2498-4F02-ADCC-840991FFB7A4}"/>
              </a:ext>
            </a:extLst>
          </p:cNvPr>
          <p:cNvSpPr txBox="1"/>
          <p:nvPr/>
        </p:nvSpPr>
        <p:spPr>
          <a:xfrm>
            <a:off x="681718" y="3552532"/>
            <a:ext cx="6098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동일한 정보를 모두에게 보내는 것이 아니라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각 주체에게 필요한 정보와 권한만 제공한다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9A9BC6-D866-496A-AC29-181CC0150F75}"/>
              </a:ext>
            </a:extLst>
          </p:cNvPr>
          <p:cNvSpPr/>
          <p:nvPr/>
        </p:nvSpPr>
        <p:spPr>
          <a:xfrm>
            <a:off x="518727" y="4326458"/>
            <a:ext cx="8247644" cy="16035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행동안내</a:t>
            </a:r>
            <a:r>
              <a:rPr lang="en-US" altLang="ko-KR" dirty="0"/>
              <a:t> : </a:t>
            </a:r>
            <a:r>
              <a:rPr lang="ko-KR" altLang="en-US" dirty="0"/>
              <a:t>보이스피싱 당하고 있다면</a:t>
            </a:r>
            <a:r>
              <a:rPr lang="en-US" altLang="ko-KR" dirty="0"/>
              <a:t>? -- </a:t>
            </a:r>
            <a:r>
              <a:rPr lang="ko-KR" altLang="en-US" dirty="0"/>
              <a:t>행동수칙</a:t>
            </a:r>
            <a:r>
              <a:rPr lang="en-US" altLang="ko-KR" dirty="0"/>
              <a:t>! </a:t>
            </a:r>
            <a:r>
              <a:rPr lang="ko-KR" altLang="en-US" dirty="0"/>
              <a:t>찾기</a:t>
            </a:r>
            <a:endParaRPr lang="en-US" altLang="ko-K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A5A640-7D27-4BBC-867C-0F2633B4E9E1}"/>
              </a:ext>
            </a:extLst>
          </p:cNvPr>
          <p:cNvSpPr/>
          <p:nvPr/>
        </p:nvSpPr>
        <p:spPr>
          <a:xfrm>
            <a:off x="10710181" y="392765"/>
            <a:ext cx="964748" cy="6087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정희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4F9BE79D-AC1C-493D-BF94-21114226E997}"/>
              </a:ext>
            </a:extLst>
          </p:cNvPr>
          <p:cNvSpPr/>
          <p:nvPr/>
        </p:nvSpPr>
        <p:spPr>
          <a:xfrm>
            <a:off x="1410985" y="1837267"/>
            <a:ext cx="330200" cy="6463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5B6E5F-00FC-481B-9C0E-75C9DC529628}"/>
              </a:ext>
            </a:extLst>
          </p:cNvPr>
          <p:cNvSpPr txBox="1"/>
          <p:nvPr/>
        </p:nvSpPr>
        <p:spPr>
          <a:xfrm>
            <a:off x="248708" y="1975766"/>
            <a:ext cx="1173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우리 </a:t>
            </a:r>
            <a:r>
              <a:rPr lang="en-US" altLang="ko-KR" dirty="0"/>
              <a:t>AI</a:t>
            </a:r>
            <a:r>
              <a:rPr lang="ko-KR" altLang="en-US" dirty="0"/>
              <a:t>가</a:t>
            </a:r>
          </a:p>
        </p:txBody>
      </p:sp>
    </p:spTree>
    <p:extLst>
      <p:ext uri="{BB962C8B-B14F-4D97-AF65-F5344CB8AC3E}">
        <p14:creationId xmlns:p14="http://schemas.microsoft.com/office/powerpoint/2010/main" val="21272003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4F2031-4064-4C63-AC6A-1C723AB66AE4}"/>
              </a:ext>
            </a:extLst>
          </p:cNvPr>
          <p:cNvSpPr txBox="1"/>
          <p:nvPr/>
        </p:nvSpPr>
        <p:spPr>
          <a:xfrm>
            <a:off x="420461" y="280992"/>
            <a:ext cx="83969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18P. </a:t>
            </a:r>
            <a:r>
              <a:rPr lang="ko-KR" altLang="en-US" dirty="0"/>
              <a:t>핵심 차별점 </a:t>
            </a:r>
            <a:r>
              <a:rPr lang="en-US" altLang="ko-KR" dirty="0"/>
              <a:t>— </a:t>
            </a:r>
            <a:r>
              <a:rPr lang="ko-KR" altLang="en-US" dirty="0"/>
              <a:t>송금 버튼을 눌러도 바로 실행되지 않는다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8846F3-BCB7-4E6C-A5DA-81F11F69121D}"/>
              </a:ext>
            </a:extLst>
          </p:cNvPr>
          <p:cNvSpPr txBox="1"/>
          <p:nvPr/>
        </p:nvSpPr>
        <p:spPr>
          <a:xfrm>
            <a:off x="776968" y="1312626"/>
            <a:ext cx="3550103" cy="34163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/>
              <a:t>고위험 상태</a:t>
            </a:r>
          </a:p>
          <a:p>
            <a:r>
              <a:rPr lang="ko-KR" altLang="en-US" dirty="0"/>
              <a:t>+</a:t>
            </a:r>
          </a:p>
          <a:p>
            <a:r>
              <a:rPr lang="ko-KR" altLang="en-US" dirty="0"/>
              <a:t>사용자의 송금 요청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거래 일시보류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신뢰인에게</a:t>
            </a:r>
          </a:p>
          <a:p>
            <a:r>
              <a:rPr lang="ko-KR" altLang="en-US" dirty="0"/>
              <a:t>해당 거래 검토 요청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AI 분석 + 거래정보 확인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승인 / 거절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AC0098-B579-4D7E-A8BE-954A4159F2D1}"/>
              </a:ext>
            </a:extLst>
          </p:cNvPr>
          <p:cNvSpPr txBox="1"/>
          <p:nvPr/>
        </p:nvSpPr>
        <p:spPr>
          <a:xfrm>
            <a:off x="4858433" y="1312626"/>
            <a:ext cx="60129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단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신뢰인 승인 ≠ 자동 송금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+ </a:t>
            </a:r>
            <a:r>
              <a:rPr lang="ko-KR" altLang="en-US" dirty="0"/>
              <a:t>금융기관의 자체 </a:t>
            </a:r>
            <a:r>
              <a:rPr lang="en-US" altLang="ko-KR" dirty="0"/>
              <a:t>FDS/</a:t>
            </a:r>
            <a:r>
              <a:rPr lang="ko-KR" altLang="en-US" dirty="0"/>
              <a:t>보안 검증도 독립적으로 작동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02CC0F-E33C-4242-A043-08AFD62262E3}"/>
              </a:ext>
            </a:extLst>
          </p:cNvPr>
          <p:cNvSpPr txBox="1"/>
          <p:nvPr/>
        </p:nvSpPr>
        <p:spPr>
          <a:xfrm>
            <a:off x="4858433" y="4160380"/>
            <a:ext cx="6093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“혼자 판단하고</a:t>
            </a:r>
            <a:r>
              <a:rPr lang="en-US" altLang="ko-KR" dirty="0">
                <a:highlight>
                  <a:srgbClr val="FFFF00"/>
                </a:highlight>
              </a:rPr>
              <a:t>, </a:t>
            </a:r>
            <a:r>
              <a:rPr lang="ko-KR" altLang="en-US" dirty="0">
                <a:highlight>
                  <a:srgbClr val="FFFF00"/>
                </a:highlight>
              </a:rPr>
              <a:t>혼자 송금하지 않도록</a:t>
            </a:r>
            <a:r>
              <a:rPr lang="en-US" altLang="ko-KR" dirty="0">
                <a:highlight>
                  <a:srgbClr val="FFFF00"/>
                </a:highlight>
              </a:rPr>
              <a:t>.”</a:t>
            </a:r>
            <a:endParaRPr lang="ko-KR" alt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0044288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1848422-4928-46E1-AD54-9C21BAFD004C}"/>
              </a:ext>
            </a:extLst>
          </p:cNvPr>
          <p:cNvSpPr txBox="1"/>
          <p:nvPr/>
        </p:nvSpPr>
        <p:spPr>
          <a:xfrm>
            <a:off x="336666" y="388912"/>
            <a:ext cx="6093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19P. </a:t>
            </a:r>
            <a:r>
              <a:rPr lang="ko-KR" altLang="en-US" dirty="0"/>
              <a:t>금융기관</a:t>
            </a:r>
            <a:r>
              <a:rPr lang="en-US" altLang="ko-KR" dirty="0"/>
              <a:t>·</a:t>
            </a:r>
            <a:r>
              <a:rPr lang="ko-KR" altLang="en-US" dirty="0"/>
              <a:t>공식기관까지 이어지는 다중 안전장치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B142B4-27E2-4431-9F3F-4ED3553C584D}"/>
              </a:ext>
            </a:extLst>
          </p:cNvPr>
          <p:cNvSpPr txBox="1"/>
          <p:nvPr/>
        </p:nvSpPr>
        <p:spPr>
          <a:xfrm>
            <a:off x="669175" y="1120676"/>
            <a:ext cx="60932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/>
              <a:t>신뢰인</a:t>
            </a:r>
          </a:p>
          <a:p>
            <a:r>
              <a:rPr lang="ko-KR" altLang="en-US"/>
              <a:t>사용자 측 </a:t>
            </a:r>
            <a:r>
              <a:rPr lang="ko-KR" altLang="en-US" b="1"/>
              <a:t>공동검토</a:t>
            </a:r>
            <a:endParaRPr lang="en-US" altLang="ko-KR" b="1"/>
          </a:p>
          <a:p>
            <a:endParaRPr lang="ko-KR" altLang="en-US"/>
          </a:p>
          <a:p>
            <a:r>
              <a:rPr lang="ko-KR" altLang="en-US" b="1"/>
              <a:t>금융기관</a:t>
            </a:r>
          </a:p>
          <a:p>
            <a:r>
              <a:rPr lang="en-US" altLang="ko-KR"/>
              <a:t>FDS / ASAP / </a:t>
            </a:r>
            <a:r>
              <a:rPr lang="ko-KR" altLang="en-US"/>
              <a:t>거래정보 기반 </a:t>
            </a:r>
            <a:r>
              <a:rPr lang="ko-KR" altLang="en-US" b="1"/>
              <a:t>독립 금융검증</a:t>
            </a:r>
            <a:endParaRPr lang="en-US" altLang="ko-KR" b="1"/>
          </a:p>
          <a:p>
            <a:endParaRPr lang="ko-KR" altLang="en-US"/>
          </a:p>
          <a:p>
            <a:r>
              <a:rPr lang="ko-KR" altLang="en-US" b="1"/>
              <a:t>공식기관</a:t>
            </a:r>
          </a:p>
          <a:p>
            <a:r>
              <a:rPr lang="ko-KR" altLang="en-US"/>
              <a:t>기관사칭 시 </a:t>
            </a:r>
            <a:r>
              <a:rPr lang="ko-KR" altLang="en-US" b="1"/>
              <a:t>공식 진위확인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AF30B2-34EA-45BE-8011-C058F7D77E08}"/>
              </a:ext>
            </a:extLst>
          </p:cNvPr>
          <p:cNvSpPr txBox="1"/>
          <p:nvPr/>
        </p:nvSpPr>
        <p:spPr>
          <a:xfrm>
            <a:off x="6690359" y="1206109"/>
            <a:ext cx="4013661" cy="25853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dirty="0"/>
              <a:t> 거래보류</a:t>
            </a:r>
          </a:p>
          <a:p>
            <a:pPr algn="ctr"/>
            <a:r>
              <a:rPr lang="ko-KR" altLang="en-US" dirty="0"/>
              <a:t>↓</a:t>
            </a:r>
          </a:p>
          <a:p>
            <a:pPr algn="ctr"/>
            <a:r>
              <a:rPr lang="ko-KR" altLang="en-US" dirty="0"/>
              <a:t>┌─────┼─────┐</a:t>
            </a:r>
          </a:p>
          <a:p>
            <a:pPr algn="ctr"/>
            <a:r>
              <a:rPr lang="ko-KR" altLang="en-US" dirty="0"/>
              <a:t>↓              ↓              ↓</a:t>
            </a:r>
          </a:p>
          <a:p>
            <a:pPr algn="ctr"/>
            <a:r>
              <a:rPr lang="ko-KR" altLang="en-US" dirty="0"/>
              <a:t>신뢰인     금융기관     기관*</a:t>
            </a:r>
          </a:p>
          <a:p>
            <a:pPr algn="ctr"/>
            <a:r>
              <a:rPr lang="ko-KR" altLang="en-US" dirty="0"/>
              <a:t>공동검토    금융검증    진위확인</a:t>
            </a:r>
          </a:p>
          <a:p>
            <a:pPr algn="ctr"/>
            <a:r>
              <a:rPr lang="ko-KR" altLang="en-US" dirty="0"/>
              <a:t>└─────┼─────┘</a:t>
            </a:r>
          </a:p>
          <a:p>
            <a:pPr algn="ctr"/>
            <a:r>
              <a:rPr lang="ko-KR" altLang="en-US" dirty="0"/>
              <a:t>↓</a:t>
            </a:r>
          </a:p>
          <a:p>
            <a:pPr algn="ctr"/>
            <a:r>
              <a:rPr lang="ko-KR" altLang="en-US" dirty="0"/>
              <a:t>최종 거래처리</a:t>
            </a:r>
          </a:p>
        </p:txBody>
      </p:sp>
    </p:spTree>
    <p:extLst>
      <p:ext uri="{BB962C8B-B14F-4D97-AF65-F5344CB8AC3E}">
        <p14:creationId xmlns:p14="http://schemas.microsoft.com/office/powerpoint/2010/main" val="38267720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212131C-CA4C-4390-91CF-A6E4A575A67E}"/>
              </a:ext>
            </a:extLst>
          </p:cNvPr>
          <p:cNvSpPr txBox="1"/>
          <p:nvPr/>
        </p:nvSpPr>
        <p:spPr>
          <a:xfrm>
            <a:off x="419794" y="289679"/>
            <a:ext cx="539911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20P. 언제 서비스가 작동하는가 — Trigger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Earliest Available Risk Trigger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위험번호 / ASAP 신호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사용자가 직접 의심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통화 중 은행앱 진입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송금화면 진입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FDS 이상거래 발생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가장 먼저 발견된 위험신호부터 분석·개입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1CFF74-021D-4736-9963-1172BF2CC523}"/>
              </a:ext>
            </a:extLst>
          </p:cNvPr>
          <p:cNvSpPr txBox="1"/>
          <p:nvPr/>
        </p:nvSpPr>
        <p:spPr>
          <a:xfrm>
            <a:off x="6096000" y="497427"/>
            <a:ext cx="41289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21P. </a:t>
            </a:r>
            <a:r>
              <a:rPr lang="ko-KR" altLang="en-US" dirty="0"/>
              <a:t>기존 </a:t>
            </a:r>
            <a:r>
              <a:rPr lang="en-US" altLang="ko-KR" dirty="0"/>
              <a:t>FDS</a:t>
            </a:r>
            <a:r>
              <a:rPr lang="ko-KR" altLang="en-US" dirty="0"/>
              <a:t>와 어떻게 결합되는가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55C154-B663-48EC-A2C3-6A6D22B576BE}"/>
              </a:ext>
            </a:extLst>
          </p:cNvPr>
          <p:cNvSpPr txBox="1"/>
          <p:nvPr/>
        </p:nvSpPr>
        <p:spPr>
          <a:xfrm>
            <a:off x="6096000" y="1074508"/>
            <a:ext cx="3636817" cy="42473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/>
              <a:t>ASAP / 통신사</a:t>
            </a:r>
          </a:p>
          <a:p>
            <a:r>
              <a:rPr lang="ko-KR" altLang="en-US" dirty="0"/>
              <a:t>       ↓</a:t>
            </a:r>
          </a:p>
          <a:p>
            <a:r>
              <a:rPr lang="ko-KR" altLang="en-US" dirty="0"/>
              <a:t>   Risk Signal</a:t>
            </a:r>
          </a:p>
          <a:p>
            <a:r>
              <a:rPr lang="ko-KR" altLang="en-US" dirty="0"/>
              <a:t>       ↓</a:t>
            </a:r>
          </a:p>
          <a:p>
            <a:r>
              <a:rPr lang="ko-KR" altLang="en-US" dirty="0"/>
              <a:t>통화 AI → Call Risk</a:t>
            </a:r>
          </a:p>
          <a:p>
            <a:r>
              <a:rPr lang="ko-KR" altLang="en-US" dirty="0"/>
              <a:t>       ↓</a:t>
            </a:r>
          </a:p>
          <a:p>
            <a:r>
              <a:rPr lang="ko-KR" altLang="en-US" dirty="0"/>
              <a:t>은행앱 행동 → FDS</a:t>
            </a:r>
          </a:p>
          <a:p>
            <a:r>
              <a:rPr lang="ko-KR" altLang="en-US" dirty="0"/>
              <a:t>       ↓</a:t>
            </a:r>
          </a:p>
          <a:p>
            <a:r>
              <a:rPr lang="ko-KR" altLang="en-US" dirty="0"/>
              <a:t>거래정보</a:t>
            </a:r>
          </a:p>
          <a:p>
            <a:r>
              <a:rPr lang="ko-KR" altLang="en-US" dirty="0"/>
              <a:t>       ↓</a:t>
            </a:r>
          </a:p>
          <a:p>
            <a:r>
              <a:rPr lang="ko-KR" altLang="en-US" dirty="0"/>
              <a:t>━━━━━━━━━━━━━━</a:t>
            </a:r>
          </a:p>
          <a:p>
            <a:r>
              <a:rPr lang="ko-KR" altLang="en-US" dirty="0"/>
              <a:t>Bank Integrated Risk</a:t>
            </a:r>
          </a:p>
          <a:p>
            <a:r>
              <a:rPr lang="ko-KR" altLang="en-US" dirty="0"/>
              <a:t>━━━━━━━━━━━━━━</a:t>
            </a:r>
          </a:p>
          <a:p>
            <a:r>
              <a:rPr lang="ko-KR" altLang="en-US" dirty="0"/>
              <a:t>       ↓</a:t>
            </a:r>
          </a:p>
          <a:p>
            <a:r>
              <a:rPr lang="ko-KR" altLang="en-US" dirty="0"/>
              <a:t>경고 / 추가확인 / 거래보류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9A104D-1BED-42AA-A1D5-529C6B5F77C1}"/>
              </a:ext>
            </a:extLst>
          </p:cNvPr>
          <p:cNvSpPr txBox="1"/>
          <p:nvPr/>
        </p:nvSpPr>
        <p:spPr>
          <a:xfrm>
            <a:off x="719052" y="5737323"/>
            <a:ext cx="81090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기존 </a:t>
            </a:r>
            <a:r>
              <a:rPr lang="en-US" altLang="ko-KR" dirty="0">
                <a:solidFill>
                  <a:srgbClr val="FF0000"/>
                </a:solidFill>
              </a:rPr>
              <a:t>FDS</a:t>
            </a:r>
            <a:r>
              <a:rPr lang="ko-KR" altLang="en-US" dirty="0">
                <a:solidFill>
                  <a:srgbClr val="FF0000"/>
                </a:solidFill>
              </a:rPr>
              <a:t>를 대체하지 않는다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  <a:br>
              <a:rPr lang="en-US" altLang="ko-KR" dirty="0">
                <a:solidFill>
                  <a:srgbClr val="FF0000"/>
                </a:solidFill>
              </a:rPr>
            </a:br>
            <a:r>
              <a:rPr lang="en-US" altLang="ko-KR" dirty="0">
                <a:solidFill>
                  <a:srgbClr val="FF0000"/>
                </a:solidFill>
              </a:rPr>
              <a:t>FDS</a:t>
            </a:r>
            <a:r>
              <a:rPr lang="ko-KR" altLang="en-US" dirty="0">
                <a:solidFill>
                  <a:srgbClr val="FF0000"/>
                </a:solidFill>
              </a:rPr>
              <a:t>가 보지 못했던 ‘통화 맥락’을 새로운 위험신호로 추가한다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EE83B2-1C0F-42F2-9F62-99BC82496A53}"/>
              </a:ext>
            </a:extLst>
          </p:cNvPr>
          <p:cNvSpPr/>
          <p:nvPr/>
        </p:nvSpPr>
        <p:spPr>
          <a:xfrm>
            <a:off x="10710181" y="392765"/>
            <a:ext cx="964748" cy="6087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종열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80267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42B91E9-BE65-4A19-8F13-7EC8895119CF}"/>
              </a:ext>
            </a:extLst>
          </p:cNvPr>
          <p:cNvSpPr txBox="1"/>
          <p:nvPr/>
        </p:nvSpPr>
        <p:spPr>
          <a:xfrm>
            <a:off x="369917" y="104493"/>
            <a:ext cx="6093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22P. MVP </a:t>
            </a:r>
            <a:r>
              <a:rPr lang="ko-KR" altLang="en-US"/>
              <a:t>구현과 실제 금융사 도입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8D4705-8CD3-418C-A034-0AE14F050CF8}"/>
              </a:ext>
            </a:extLst>
          </p:cNvPr>
          <p:cNvSpPr txBox="1"/>
          <p:nvPr/>
        </p:nvSpPr>
        <p:spPr>
          <a:xfrm>
            <a:off x="835429" y="1173817"/>
            <a:ext cx="425196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가상/녹취 통화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STT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Event / Feature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Window + Cumulative ML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LLM 판단근거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가상 송금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거래보류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신뢰인 Web 공동검토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가상 거래처리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90C7BE-C48B-4CE2-87E6-8499A801A304}"/>
              </a:ext>
            </a:extLst>
          </p:cNvPr>
          <p:cNvSpPr txBox="1"/>
          <p:nvPr/>
        </p:nvSpPr>
        <p:spPr>
          <a:xfrm>
            <a:off x="6754091" y="1480153"/>
            <a:ext cx="325443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실시간 위험신호</a:t>
            </a:r>
          </a:p>
          <a:p>
            <a:r>
              <a:rPr lang="ko-KR" altLang="en-US" dirty="0"/>
              <a:t>+</a:t>
            </a:r>
          </a:p>
          <a:p>
            <a:r>
              <a:rPr lang="ko-KR" altLang="en-US" dirty="0"/>
              <a:t>ASAP</a:t>
            </a:r>
          </a:p>
          <a:p>
            <a:r>
              <a:rPr lang="ko-KR" altLang="en-US" dirty="0"/>
              <a:t>+</a:t>
            </a:r>
          </a:p>
          <a:p>
            <a:r>
              <a:rPr lang="ko-KR" altLang="en-US" dirty="0"/>
              <a:t>FDS</a:t>
            </a:r>
          </a:p>
          <a:p>
            <a:r>
              <a:rPr lang="ko-KR" altLang="en-US" dirty="0"/>
              <a:t>+</a:t>
            </a:r>
          </a:p>
          <a:p>
            <a:r>
              <a:rPr lang="ko-KR" altLang="en-US" dirty="0"/>
              <a:t>실제 거래정보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통합 Risk Engine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실제 거래보류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다중검증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실제 거래처리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0C9406-398A-4954-8538-F1CBF38F6113}"/>
              </a:ext>
            </a:extLst>
          </p:cNvPr>
          <p:cNvSpPr txBox="1"/>
          <p:nvPr/>
        </p:nvSpPr>
        <p:spPr>
          <a:xfrm>
            <a:off x="6754090" y="971906"/>
            <a:ext cx="32544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금융사 도입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4161C8-5E04-4874-A7CF-AEBDA458BD8A}"/>
              </a:ext>
            </a:extLst>
          </p:cNvPr>
          <p:cNvSpPr txBox="1"/>
          <p:nvPr/>
        </p:nvSpPr>
        <p:spPr>
          <a:xfrm>
            <a:off x="835429" y="602574"/>
            <a:ext cx="32544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공모전 </a:t>
            </a:r>
            <a:r>
              <a:rPr lang="en-US" altLang="ko-KR" dirty="0">
                <a:highlight>
                  <a:srgbClr val="FFFF00"/>
                </a:highlight>
              </a:rPr>
              <a:t>MVP</a:t>
            </a:r>
            <a:endParaRPr lang="ko-KR" altLang="en-US" dirty="0">
              <a:highlight>
                <a:srgbClr val="FFFF00"/>
              </a:highligh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443092-024B-40DC-A20C-9643C91D2D8C}"/>
              </a:ext>
            </a:extLst>
          </p:cNvPr>
          <p:cNvSpPr txBox="1"/>
          <p:nvPr/>
        </p:nvSpPr>
        <p:spPr>
          <a:xfrm>
            <a:off x="1562792" y="6177042"/>
            <a:ext cx="77530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실시간 통화분석은 통신</a:t>
            </a:r>
            <a:r>
              <a:rPr lang="en-US" altLang="ko-KR" dirty="0"/>
              <a:t>·</a:t>
            </a:r>
            <a:r>
              <a:rPr lang="ko-KR" altLang="en-US" dirty="0"/>
              <a:t>단말</a:t>
            </a:r>
            <a:r>
              <a:rPr lang="en-US" altLang="ko-KR" dirty="0"/>
              <a:t>·</a:t>
            </a:r>
            <a:r>
              <a:rPr lang="ko-KR" altLang="en-US" dirty="0"/>
              <a:t>금융 시스템 연계 환경으로 확장</a:t>
            </a:r>
          </a:p>
        </p:txBody>
      </p:sp>
    </p:spTree>
    <p:extLst>
      <p:ext uri="{BB962C8B-B14F-4D97-AF65-F5344CB8AC3E}">
        <p14:creationId xmlns:p14="http://schemas.microsoft.com/office/powerpoint/2010/main" val="17588373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975D1A8-BADD-4D33-A772-34ABB9534E14}"/>
              </a:ext>
            </a:extLst>
          </p:cNvPr>
          <p:cNvSpPr txBox="1"/>
          <p:nvPr/>
        </p:nvSpPr>
        <p:spPr>
          <a:xfrm>
            <a:off x="1949335" y="1305341"/>
            <a:ext cx="609322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23P. 기대효과 / 금융사 가치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고객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판단 부담 감소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독립적 검증 확보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송금 직전 마지막 보호기회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금융회사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피해 사후대응 →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사전 개입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FDS에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통화 맥락 Risk Signal 추가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금융소비자 보호 강화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고객·신뢰인·금융기관 간 다중 안전망 구축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보이스피싱을 더 잘 알려주는 것을 넘어, 피해가 발생하기 직전 금융행동 자체에 한 번 더 개입한다.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00128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02A6E-A7C9-474C-A06B-AF8B69AEA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전체 구도 메모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EECF9BA-D7AA-4888-95E1-6A586B3E7A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77196" y="181957"/>
            <a:ext cx="6333785" cy="6494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현황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심각하다</a:t>
            </a:r>
            <a:b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이미 많이 막고 있다</a:t>
            </a:r>
            <a:b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그런데도 피해가 있다</a:t>
            </a:r>
            <a:endParaRPr kumimoji="0" lang="en-US" altLang="ko-K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피해 메커니즘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어디가 비어 있지?</a:t>
            </a:r>
            <a:b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통화 맥락의 판단 공백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왜 판단이 어려워지지?</a:t>
            </a:r>
            <a:b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범죄자의 판단환경 조작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누가 왜 취약하지?</a:t>
            </a:r>
            <a:b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사람마다 취약지점이 다름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결국 무슨 일이 생기지?</a:t>
            </a:r>
            <a:b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범죄전략 × 개인취약성 × 검증제한 → 판단실패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문제정의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조작된 상황에서도 판단과 금융행동이 개인에게 과도하게 의존한다.</a:t>
            </a:r>
            <a:endParaRPr kumimoji="0" lang="en-US" altLang="ko-K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인사이트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혼자 판단시키지 말자. 그리고 검증되는 동안 돈도 멈추자.</a:t>
            </a:r>
            <a:endParaRPr kumimoji="0" lang="en-US" altLang="ko-K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해결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위험탐지 → 외부 다중검증 → 거래보류 → 안전한 거래처리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5937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</TotalTime>
  <Words>1719</Words>
  <Application>Microsoft Office PowerPoint</Application>
  <PresentationFormat>Widescreen</PresentationFormat>
  <Paragraphs>475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 Unicode MS</vt:lpstr>
      <vt:lpstr>맑은 고딕</vt:lpstr>
      <vt:lpstr>Arial</vt:lpstr>
      <vt:lpstr>Office Theme</vt:lpstr>
      <vt:lpstr>제안서&amp;기능</vt:lpstr>
      <vt:lpstr>현황분석 문제인식 타겟분석 인사이트 해결방안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전체 구도 메모!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제안서</dc:title>
  <dc:creator>mbc</dc:creator>
  <cp:lastModifiedBy>mbc</cp:lastModifiedBy>
  <cp:revision>69</cp:revision>
  <dcterms:created xsi:type="dcterms:W3CDTF">2026-08-24T02:16:18Z</dcterms:created>
  <dcterms:modified xsi:type="dcterms:W3CDTF">2026-08-25T01:52:08Z</dcterms:modified>
</cp:coreProperties>
</file>