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4" r:id="rId3"/>
    <p:sldId id="275" r:id="rId4"/>
    <p:sldId id="277" r:id="rId5"/>
    <p:sldId id="322" r:id="rId6"/>
    <p:sldId id="325" r:id="rId7"/>
    <p:sldId id="327" r:id="rId8"/>
    <p:sldId id="328" r:id="rId9"/>
    <p:sldId id="330" r:id="rId10"/>
    <p:sldId id="332" r:id="rId11"/>
    <p:sldId id="333" r:id="rId12"/>
    <p:sldId id="334" r:id="rId13"/>
    <p:sldId id="320" r:id="rId14"/>
    <p:sldId id="318" r:id="rId15"/>
    <p:sldId id="278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4F970-549F-460A-A189-5BBF57E724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C42A27-1033-4705-B82A-3EE2E051C6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EDC1A-2FCD-4F43-B1E1-68ACB599A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4580A-4283-456F-9D49-EADE91943695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C9B1F-FAA8-4B5B-8083-36109C8EA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8F5F1-80B2-4C8E-9988-4BD9B88C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07876-8B9B-4AD3-A444-000B407995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2348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DB313-C64E-4D64-A48E-18C46247B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0CA6C-6A0F-467F-87DF-69B1E0494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06033-B9D9-4BE7-83C0-99E2ACA95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4580A-4283-456F-9D49-EADE91943695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87828-D38F-47F6-BD86-EBDF15F5C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83826-A0D1-48B1-B703-487911CFE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07876-8B9B-4AD3-A444-000B407995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1514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80E38-7846-4434-A2B4-D3A6E740E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4126B-67CB-4FC4-80A9-2FB37DA6A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8EF96-1080-4942-A804-5218F44C8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4580A-4283-456F-9D49-EADE91943695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A3FC1-E5AE-4824-A75C-22E9BE87C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4F808-5CA6-46B0-90A8-CEC487184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07876-8B9B-4AD3-A444-000B407995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0156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A38E-F7F4-4A1D-9907-625B8ECAF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FD96B-A9A8-4FF0-A47E-6FC9A5541E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E2CC4-860E-489F-88DE-98F1228B75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73A9AC-878F-4AF0-8485-F96ABD344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4580A-4283-456F-9D49-EADE91943695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7EBAA1-4804-4E61-8A31-7212DA577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5C855-E9A9-4DD5-8E23-82CD0BF05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07876-8B9B-4AD3-A444-000B407995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954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D9DC1-9FEE-4B92-9516-BAFE4C86B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BDB2E-D601-4335-B126-8CE4B8D0B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0AEA18-6D2F-44E2-BDE7-9C98216CF0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F9E452-DD9B-4147-9480-0CF0F1F9AF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08ED1A-D40F-414F-AE47-7B81F8DA03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8EB462-C52C-4BA2-B08C-E5F9AE871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4580A-4283-456F-9D49-EADE91943695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B17CD0-BB17-47BD-BE57-76E20A71B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DF78AD-10F4-4C6B-B316-46EC6DA70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07876-8B9B-4AD3-A444-000B407995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035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4CF80-DC0A-4AF7-B805-E4C9DCBBE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783A2F-2972-497A-80E5-627E50FDC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4580A-4283-456F-9D49-EADE91943695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0B8AE-AA6D-4A2D-89AE-09AF96BA2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23BC32-FCD6-4EC5-8450-313F8E32F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07876-8B9B-4AD3-A444-000B407995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2776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60E1A-3F40-4764-94DC-A4873025E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4580A-4283-456F-9D49-EADE91943695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66E87E-6F58-4491-81AB-B7DA86C93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50ADC-6477-4880-AAEA-5BE52A95B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07876-8B9B-4AD3-A444-000B407995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303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081B4-510F-42FB-A3CF-D1F4592F6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109DE-02BC-4ED3-9465-603FCE138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CEF6D7-75D8-4F7B-96D7-BA4DDFF34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F02F73-35B9-455E-98A0-80DDED30C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4580A-4283-456F-9D49-EADE91943695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A6B7E-41AD-4FBE-8087-634813EF2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DDC2F-CB16-4D89-8B1C-BDD0791E8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07876-8B9B-4AD3-A444-000B407995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7767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11781-DCF3-4671-BC82-F9FB3B9AC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FD719D-65A5-4499-98D5-BBD48AE1C7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882D75-17FC-47A6-AA7C-C662F898A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25210-3CC1-4E1F-985E-20BF2537D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4580A-4283-456F-9D49-EADE91943695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C508F-5D5C-47BC-8DCF-D97EBB075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EEA905-DDA8-4E40-B33A-ABE4096C6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07876-8B9B-4AD3-A444-000B407995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9884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798AB-9A82-454A-A31B-0481235B4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DD6A93-DD22-4732-A083-26B26B9D1C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C84E4-C16B-4304-A70E-0A16DB8E1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4580A-4283-456F-9D49-EADE91943695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9243D-2F9C-4689-8784-BB26FB490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6ACE5-6A93-4347-918A-26217A9E2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07876-8B9B-4AD3-A444-000B407995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084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769820-D534-46CA-BF22-1F5DFC8DA1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8D25CB-A9D0-408D-936D-2A4D2C55C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D5461-2834-4BD1-B481-561A90D77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4580A-4283-456F-9D49-EADE91943695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27539-8828-43BF-B797-C8E645178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4F18F-8791-46FA-AF07-B9995AC79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07876-8B9B-4AD3-A444-000B407995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010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218F51-90CE-477E-AD80-4E82E00D5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732D0-B3F5-4898-A92F-D115F3806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1D2F1-FA09-4091-98DA-E7E3DA15E7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14580A-4283-456F-9D49-EADE91943695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CD2EA-4E3C-40AA-9919-F7B013E5D0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02D7B-82D4-41E1-BF0D-1AA46E3E8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07876-8B9B-4AD3-A444-000B407995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6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090E2A4-4752-4CAD-A75E-5F999F5BD76F}"/>
              </a:ext>
            </a:extLst>
          </p:cNvPr>
          <p:cNvSpPr txBox="1"/>
          <p:nvPr/>
        </p:nvSpPr>
        <p:spPr>
          <a:xfrm>
            <a:off x="1164771" y="3244334"/>
            <a:ext cx="9862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zh-CN" altLang="ko-KR" sz="1800" b="1" dirty="0">
                <a:solidFill>
                  <a:srgbClr val="0F4761"/>
                </a:solidFill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단</a:t>
            </a:r>
            <a:r>
              <a:rPr lang="en-US" altLang="ko-KR" sz="1800" b="1" dirty="0">
                <a:solidFill>
                  <a:srgbClr val="0F4761"/>
                </a:solidFill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 1</a:t>
            </a:r>
            <a:r>
              <a:rPr lang="zh-CN" altLang="ko-KR" sz="1800" b="1" dirty="0">
                <a:solidFill>
                  <a:srgbClr val="0F4761"/>
                </a:solidFill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원</a:t>
            </a:r>
            <a:r>
              <a:rPr lang="ko-KR" altLang="en-US" sz="1800" b="1" dirty="0">
                <a:solidFill>
                  <a:srgbClr val="0F4761"/>
                </a:solidFill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도</a:t>
            </a:r>
            <a:r>
              <a:rPr lang="en-US" altLang="ko-KR" sz="1800" b="1" dirty="0">
                <a:solidFill>
                  <a:srgbClr val="0F4761"/>
                </a:solidFill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800" b="1" dirty="0">
                <a:solidFill>
                  <a:srgbClr val="0F4761"/>
                </a:solidFill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그 누구도</a:t>
            </a:r>
            <a:r>
              <a:rPr lang="en-US" altLang="zh-CN" sz="1800" b="1" dirty="0">
                <a:solidFill>
                  <a:srgbClr val="0F4761"/>
                </a:solidFill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800" b="1" dirty="0">
                <a:solidFill>
                  <a:srgbClr val="0F4761"/>
                </a:solidFill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보이스피싱 </a:t>
            </a:r>
            <a:r>
              <a:rPr lang="zh-CN" altLang="ko-KR" sz="1800" b="1" dirty="0">
                <a:solidFill>
                  <a:srgbClr val="0F4761"/>
                </a:solidFill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피</a:t>
            </a:r>
            <a:r>
              <a:rPr lang="ko-KR" altLang="en-US" sz="1800" b="1" dirty="0">
                <a:solidFill>
                  <a:srgbClr val="0F4761"/>
                </a:solidFill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해로 이어지면 </a:t>
            </a:r>
            <a:r>
              <a:rPr lang="zh-CN" altLang="ko-KR" sz="1800" b="1" dirty="0">
                <a:solidFill>
                  <a:srgbClr val="0F4761"/>
                </a:solidFill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안 된다</a:t>
            </a:r>
            <a:r>
              <a:rPr lang="en-US" altLang="ko-KR" sz="1800" b="1" dirty="0">
                <a:solidFill>
                  <a:srgbClr val="0F4761"/>
                </a:solidFill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b="1" dirty="0">
              <a:solidFill>
                <a:srgbClr val="0F4761"/>
              </a:solidFill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74BB1B-1E5B-43E9-8981-03741B2B06B7}"/>
              </a:ext>
            </a:extLst>
          </p:cNvPr>
          <p:cNvSpPr txBox="1"/>
          <p:nvPr/>
        </p:nvSpPr>
        <p:spPr>
          <a:xfrm>
            <a:off x="266700" y="1582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2026 </a:t>
            </a:r>
            <a:r>
              <a:rPr lang="ko-KR" altLang="en-US" dirty="0"/>
              <a:t>금융 </a:t>
            </a:r>
            <a:r>
              <a:rPr lang="en-US" altLang="ko-KR" dirty="0"/>
              <a:t>AI Challenge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471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56F3D24-63BF-4444-A316-3D360B773D05}"/>
              </a:ext>
            </a:extLst>
          </p:cNvPr>
          <p:cNvSpPr/>
          <p:nvPr/>
        </p:nvSpPr>
        <p:spPr>
          <a:xfrm>
            <a:off x="1222296" y="1828800"/>
            <a:ext cx="9930118" cy="46699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7F872A-D277-4956-ACAE-05C277686A64}"/>
              </a:ext>
            </a:extLst>
          </p:cNvPr>
          <p:cNvSpPr txBox="1"/>
          <p:nvPr/>
        </p:nvSpPr>
        <p:spPr>
          <a:xfrm>
            <a:off x="114300" y="16328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형황분석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90E2A4-4752-4CAD-A75E-5F999F5BD76F}"/>
              </a:ext>
            </a:extLst>
          </p:cNvPr>
          <p:cNvSpPr txBox="1"/>
          <p:nvPr/>
        </p:nvSpPr>
        <p:spPr>
          <a:xfrm>
            <a:off x="3049361" y="909349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  <a:spcAft>
                <a:spcPts val="400"/>
              </a:spcAft>
            </a:pP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보이스피싱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문제의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심각성</a:t>
            </a:r>
            <a:endParaRPr lang="ko-KR" altLang="ko-KR" sz="1800" b="1" dirty="0">
              <a:solidFill>
                <a:srgbClr val="0F4761"/>
              </a:solidFill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96EBF7-439D-4E3F-B968-14F042ADAB4D}"/>
              </a:ext>
            </a:extLst>
          </p:cNvPr>
          <p:cNvSpPr txBox="1"/>
          <p:nvPr/>
        </p:nvSpPr>
        <p:spPr>
          <a:xfrm>
            <a:off x="3049361" y="2205532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피해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현황을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ko-KR" altLang="en-US" sz="1800" dirty="0">
                <a:effectLst/>
                <a:ea typeface="Aptos"/>
                <a:cs typeface="Times New Roman" panose="02020603050405020304" pitchFamily="18" charset="0"/>
              </a:rPr>
              <a:t>살펴보볼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객관적인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데이터</a:t>
            </a:r>
            <a:r>
              <a:rPr lang="ko-KR" altLang="en-US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들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85977C-1095-495E-9393-4E2AC6BAF6C6}"/>
              </a:ext>
            </a:extLst>
          </p:cNvPr>
          <p:cNvSpPr txBox="1"/>
          <p:nvPr/>
        </p:nvSpPr>
        <p:spPr>
          <a:xfrm>
            <a:off x="3046640" y="3429000"/>
            <a:ext cx="60987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연도별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피해금액과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피해건수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b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인당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피해금액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</a:t>
            </a:r>
          </a:p>
          <a:p>
            <a:pPr algn="ctr"/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주요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피해유형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</a:t>
            </a:r>
          </a:p>
          <a:p>
            <a:pPr algn="ctr"/>
            <a:endParaRPr lang="en-US" altLang="ko-KR" dirty="0"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ko-KR" altLang="en-US" dirty="0"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그 외 우리가 보유하거나</a:t>
            </a:r>
            <a:r>
              <a:rPr lang="en-US" altLang="ko-KR" dirty="0"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없는 내용 중에 피해의 심각성을 보여줄 수 있는 데이터들 리스트업 요청</a:t>
            </a:r>
            <a:endParaRPr lang="en-US" altLang="ko-KR" dirty="0"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zh-CN" altLang="ko-KR" sz="1800" strike="sngStrike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기관사칭</a:t>
            </a:r>
            <a:r>
              <a:rPr lang="zh-CN" altLang="ko-KR" sz="1800" strike="sngStrike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strike="sngStrike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등</a:t>
            </a:r>
            <a:r>
              <a:rPr lang="zh-CN" altLang="ko-KR" sz="1800" strike="sngStrike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strike="sngStrike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범죄유형별</a:t>
            </a:r>
            <a:r>
              <a:rPr lang="zh-CN" altLang="ko-KR" sz="1800" strike="sngStrike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strike="sngStrike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현황</a:t>
            </a:r>
            <a:r>
              <a:rPr lang="en-US" altLang="zh-CN" sz="1800" strike="sngStrike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800" strike="sngStrike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뒤에 나오면 될듯</a:t>
            </a:r>
            <a:r>
              <a:rPr lang="en-US" altLang="ko-KR" sz="1800" strike="sngStrike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zh-CN" altLang="ko-KR" sz="1800" strike="sngStrike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연령별</a:t>
            </a:r>
            <a:r>
              <a:rPr lang="zh-CN" altLang="ko-KR" sz="1800" strike="sngStrike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strike="sngStrike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피해현황</a:t>
            </a:r>
            <a:r>
              <a:rPr lang="zh-CN" altLang="ko-KR" sz="1800" strike="sngStrike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strike="sngStrike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등</a:t>
            </a:r>
            <a:r>
              <a:rPr lang="en-US" altLang="zh-CN" sz="1800" strike="sngStrike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800" strike="sngStrike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뒤에 나오면 될듯</a:t>
            </a:r>
            <a:r>
              <a:rPr lang="en-US" altLang="ko-KR" sz="1800" strike="sngStrike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altLang="en-US" strike="sngStrik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1F1319-B86B-47CE-8723-ABBFDECD95D6}"/>
              </a:ext>
            </a:extLst>
          </p:cNvPr>
          <p:cNvSpPr/>
          <p:nvPr/>
        </p:nvSpPr>
        <p:spPr>
          <a:xfrm>
            <a:off x="10710181" y="392765"/>
            <a:ext cx="964748" cy="6087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종열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267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56F3D24-63BF-4444-A316-3D360B773D05}"/>
              </a:ext>
            </a:extLst>
          </p:cNvPr>
          <p:cNvSpPr/>
          <p:nvPr/>
        </p:nvSpPr>
        <p:spPr>
          <a:xfrm>
            <a:off x="1222296" y="1567542"/>
            <a:ext cx="4873704" cy="46699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7F872A-D277-4956-ACAE-05C277686A64}"/>
              </a:ext>
            </a:extLst>
          </p:cNvPr>
          <p:cNvSpPr txBox="1"/>
          <p:nvPr/>
        </p:nvSpPr>
        <p:spPr>
          <a:xfrm>
            <a:off x="114300" y="16328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형황분석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90E2A4-4752-4CAD-A75E-5F999F5BD76F}"/>
              </a:ext>
            </a:extLst>
          </p:cNvPr>
          <p:cNvSpPr txBox="1"/>
          <p:nvPr/>
        </p:nvSpPr>
        <p:spPr>
          <a:xfrm>
            <a:off x="3046640" y="676042"/>
            <a:ext cx="609872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  <a:spcAft>
                <a:spcPts val="400"/>
              </a:spcAft>
            </a:pP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이미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사회가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이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문제를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방치하고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있지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않다</a:t>
            </a:r>
            <a:endParaRPr lang="en-US" altLang="zh-CN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800"/>
              </a:spcBef>
              <a:spcAft>
                <a:spcPts val="400"/>
              </a:spcAft>
            </a:pPr>
            <a:r>
              <a:rPr lang="ko-KR" altLang="en-US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많은 노력을 기울이고 있다</a:t>
            </a:r>
            <a:endParaRPr lang="en-US" altLang="zh-CN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96EBF7-439D-4E3F-B968-14F042ADAB4D}"/>
              </a:ext>
            </a:extLst>
          </p:cNvPr>
          <p:cNvSpPr txBox="1"/>
          <p:nvPr/>
        </p:nvSpPr>
        <p:spPr>
          <a:xfrm>
            <a:off x="1222297" y="1655113"/>
            <a:ext cx="4873704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안전 장치들 리스트업 </a:t>
            </a:r>
            <a:r>
              <a:rPr lang="en-US" altLang="ko-KR" dirty="0"/>
              <a:t>+ </a:t>
            </a:r>
            <a:r>
              <a:rPr lang="ko-KR" altLang="en-US" dirty="0"/>
              <a:t>간단 설명</a:t>
            </a:r>
            <a:endParaRPr lang="en-US" altLang="ko-KR" dirty="0"/>
          </a:p>
          <a:p>
            <a:pPr algn="ctr">
              <a:spcBef>
                <a:spcPts val="800"/>
              </a:spcBef>
              <a:spcAft>
                <a:spcPts val="400"/>
              </a:spcAft>
            </a:pPr>
            <a:r>
              <a:rPr lang="ko-KR" altLang="en-US" b="1" dirty="0">
                <a:solidFill>
                  <a:srgbClr val="0F4761"/>
                </a:solidFill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크게 </a:t>
            </a:r>
            <a:r>
              <a:rPr lang="en-US" altLang="ko-KR" b="1" dirty="0">
                <a:solidFill>
                  <a:srgbClr val="0F4761"/>
                </a:solidFill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3</a:t>
            </a:r>
            <a:r>
              <a:rPr lang="ko-KR" altLang="en-US" b="1" dirty="0">
                <a:solidFill>
                  <a:srgbClr val="0F4761"/>
                </a:solidFill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가지로 나누어서</a:t>
            </a:r>
            <a:r>
              <a:rPr lang="en-US" altLang="ko-KR" b="1" dirty="0">
                <a:solidFill>
                  <a:srgbClr val="0F4761"/>
                </a:solidFill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…</a:t>
            </a:r>
          </a:p>
          <a:p>
            <a:pPr algn="ctr">
              <a:spcBef>
                <a:spcPts val="800"/>
              </a:spcBef>
              <a:spcAft>
                <a:spcPts val="400"/>
              </a:spcAft>
            </a:pPr>
            <a:r>
              <a:rPr lang="en-US" altLang="ko-KR" b="1" dirty="0">
                <a:solidFill>
                  <a:srgbClr val="0F4761"/>
                </a:solidFill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b="1" dirty="0">
                <a:solidFill>
                  <a:srgbClr val="0F4761"/>
                </a:solidFill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금융기관</a:t>
            </a:r>
            <a:endParaRPr lang="en-US" altLang="ko-KR" b="1" dirty="0">
              <a:solidFill>
                <a:srgbClr val="0F4761"/>
              </a:solidFill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800"/>
              </a:spcBef>
              <a:spcAft>
                <a:spcPts val="400"/>
              </a:spcAft>
            </a:pPr>
            <a:r>
              <a:rPr lang="ko-KR" altLang="en-US" b="1" dirty="0">
                <a:solidFill>
                  <a:srgbClr val="0F4761"/>
                </a:solidFill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정부</a:t>
            </a:r>
            <a:r>
              <a:rPr lang="en-US" altLang="ko-KR" b="1" dirty="0">
                <a:solidFill>
                  <a:srgbClr val="0F4761"/>
                </a:solidFill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%</a:t>
            </a:r>
            <a:r>
              <a:rPr lang="ko-KR" altLang="en-US" b="1" dirty="0">
                <a:solidFill>
                  <a:srgbClr val="0F4761"/>
                </a:solidFill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공공기관</a:t>
            </a:r>
            <a:endParaRPr lang="en-US" altLang="ko-KR" b="1" dirty="0">
              <a:solidFill>
                <a:srgbClr val="0F4761"/>
              </a:solidFill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800"/>
              </a:spcBef>
              <a:spcAft>
                <a:spcPts val="400"/>
              </a:spcAft>
            </a:pPr>
            <a:r>
              <a:rPr lang="ko-KR" altLang="en-US" b="1" dirty="0">
                <a:solidFill>
                  <a:srgbClr val="0F4761"/>
                </a:solidFill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통신사</a:t>
            </a:r>
            <a:r>
              <a:rPr lang="en-US" altLang="ko-KR" b="1" dirty="0">
                <a:solidFill>
                  <a:srgbClr val="0F4761"/>
                </a:solidFill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&amp;</a:t>
            </a:r>
            <a:r>
              <a:rPr lang="ko-KR" altLang="en-US" b="1" dirty="0">
                <a:solidFill>
                  <a:srgbClr val="0F4761"/>
                </a:solidFill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보안업체</a:t>
            </a:r>
            <a:r>
              <a:rPr lang="en-US" altLang="ko-KR" b="1" dirty="0">
                <a:solidFill>
                  <a:srgbClr val="0F4761"/>
                </a:solidFill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altLang="ko-KR" sz="1800" b="1" dirty="0">
              <a:solidFill>
                <a:srgbClr val="0F4761"/>
              </a:solidFill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85977C-1095-495E-9393-4E2AC6BAF6C6}"/>
              </a:ext>
            </a:extLst>
          </p:cNvPr>
          <p:cNvSpPr txBox="1"/>
          <p:nvPr/>
        </p:nvSpPr>
        <p:spPr>
          <a:xfrm>
            <a:off x="1555672" y="3735999"/>
            <a:ext cx="420695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금융기관에서는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FDS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를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통한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이상거래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탐지</a:t>
            </a:r>
            <a:r>
              <a:rPr lang="en-US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ASAP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등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외부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위험정보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활용</a:t>
            </a:r>
            <a:r>
              <a:rPr lang="en-US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지연이체</a:t>
            </a:r>
            <a:r>
              <a:rPr lang="en-US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지급정지</a:t>
            </a:r>
            <a:r>
              <a:rPr lang="en-US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고액이체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추가확인</a:t>
            </a:r>
            <a:r>
              <a:rPr lang="en-US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여신거래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안심차단</a:t>
            </a:r>
            <a:r>
              <a:rPr lang="en-US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보이스피싱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예방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기능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등을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운영하고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있다</a:t>
            </a:r>
            <a:r>
              <a:rPr lang="en-US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en-US" altLang="zh-CN" sz="1400" dirty="0"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정부와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공공기관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역시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신고체계</a:t>
            </a:r>
            <a:r>
              <a:rPr lang="en-US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예방교육</a:t>
            </a:r>
            <a:r>
              <a:rPr lang="en-US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피해구제</a:t>
            </a:r>
            <a:r>
              <a:rPr lang="en-US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계좌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지급정지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등의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제도를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마련하고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있으며</a:t>
            </a:r>
            <a:r>
              <a:rPr lang="en-US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</a:t>
            </a:r>
          </a:p>
          <a:p>
            <a:pPr algn="ctr"/>
            <a:endParaRPr lang="en-US" altLang="ko-KR" sz="1400" dirty="0"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통신사와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보안기업도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스팸번호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탐지</a:t>
            </a:r>
            <a:r>
              <a:rPr lang="en-US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악성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앱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차단</a:t>
            </a:r>
            <a:r>
              <a:rPr lang="en-US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의심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문자와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전화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탐지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등의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기술을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제공하고</a:t>
            </a:r>
            <a:r>
              <a:rPr lang="zh-CN" altLang="ko-KR" sz="14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4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있다</a:t>
            </a:r>
            <a:endParaRPr lang="ko-KR" altLang="en-US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4CFA65-7A4D-4B58-A67E-4188EFC54C3D}"/>
              </a:ext>
            </a:extLst>
          </p:cNvPr>
          <p:cNvSpPr/>
          <p:nvPr/>
        </p:nvSpPr>
        <p:spPr>
          <a:xfrm>
            <a:off x="6203803" y="1567542"/>
            <a:ext cx="4873704" cy="46699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6AD28D-D287-49E9-B375-EFF6888E7CD9}"/>
              </a:ext>
            </a:extLst>
          </p:cNvPr>
          <p:cNvSpPr txBox="1"/>
          <p:nvPr/>
        </p:nvSpPr>
        <p:spPr>
          <a:xfrm>
            <a:off x="7307836" y="1809002"/>
            <a:ext cx="2665639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  <a:spcAft>
                <a:spcPts val="400"/>
              </a:spcAft>
            </a:pPr>
            <a:r>
              <a:rPr lang="ko-KR" altLang="en-US" sz="1800" dirty="0">
                <a:solidFill>
                  <a:srgbClr val="0F4761"/>
                </a:solidFill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금융 관련해서</a:t>
            </a:r>
            <a:endParaRPr lang="en-US" altLang="ko-KR" sz="1800" dirty="0">
              <a:solidFill>
                <a:srgbClr val="0F4761"/>
              </a:solidFill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800"/>
              </a:spcBef>
              <a:spcAft>
                <a:spcPts val="400"/>
              </a:spcAft>
            </a:pPr>
            <a:r>
              <a:rPr lang="ko-KR" altLang="en-US" sz="1800" dirty="0">
                <a:solidFill>
                  <a:srgbClr val="0F4761"/>
                </a:solidFill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안전 장치들의 효과</a:t>
            </a:r>
            <a:endParaRPr lang="ko-KR" altLang="ko-KR" sz="1800" dirty="0">
              <a:solidFill>
                <a:srgbClr val="0F4761"/>
              </a:solidFill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4CCDC4-3F52-42B1-8991-D8C09A20E46E}"/>
              </a:ext>
            </a:extLst>
          </p:cNvPr>
          <p:cNvSpPr txBox="1"/>
          <p:nvPr/>
        </p:nvSpPr>
        <p:spPr>
          <a:xfrm>
            <a:off x="7161125" y="3588391"/>
            <a:ext cx="29590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대표적인 성과</a:t>
            </a:r>
            <a:endParaRPr lang="en-US" altLang="ko-KR" dirty="0"/>
          </a:p>
          <a:p>
            <a:pPr algn="ctr"/>
            <a:r>
              <a:rPr lang="en-US" altLang="ko-KR" dirty="0"/>
              <a:t>FDS, ASAP </a:t>
            </a:r>
            <a:r>
              <a:rPr lang="ko-KR" altLang="en-US" dirty="0"/>
              <a:t>등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1~3</a:t>
            </a:r>
            <a:r>
              <a:rPr lang="ko-KR" altLang="en-US" dirty="0"/>
              <a:t>건 이내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35340D-16E3-48F9-A26C-1B84EDA07A40}"/>
              </a:ext>
            </a:extLst>
          </p:cNvPr>
          <p:cNvSpPr/>
          <p:nvPr/>
        </p:nvSpPr>
        <p:spPr>
          <a:xfrm>
            <a:off x="10710181" y="392765"/>
            <a:ext cx="964748" cy="6087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정희</a:t>
            </a:r>
          </a:p>
        </p:txBody>
      </p:sp>
    </p:spTree>
    <p:extLst>
      <p:ext uri="{BB962C8B-B14F-4D97-AF65-F5344CB8AC3E}">
        <p14:creationId xmlns:p14="http://schemas.microsoft.com/office/powerpoint/2010/main" val="179649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7F872A-D277-4956-ACAE-05C277686A64}"/>
              </a:ext>
            </a:extLst>
          </p:cNvPr>
          <p:cNvSpPr txBox="1"/>
          <p:nvPr/>
        </p:nvSpPr>
        <p:spPr>
          <a:xfrm>
            <a:off x="114300" y="16328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dirty="0"/>
              <a:t>문제도출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90E2A4-4752-4CAD-A75E-5F999F5BD76F}"/>
              </a:ext>
            </a:extLst>
          </p:cNvPr>
          <p:cNvSpPr txBox="1"/>
          <p:nvPr/>
        </p:nvSpPr>
        <p:spPr>
          <a:xfrm>
            <a:off x="1551213" y="2990418"/>
            <a:ext cx="9095016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en-US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“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이렇게 많은 안전장치가 이미 존재하고 실제 효과도 있는데</a:t>
            </a:r>
            <a:r>
              <a:rPr lang="en-US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</a:t>
            </a: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그 사이에 아직 충분히 보호하지 못하고 있는 순간이 있는 것은 아닐까</a:t>
            </a:r>
            <a:r>
              <a:rPr lang="en-US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?”</a:t>
            </a:r>
            <a:endParaRPr lang="ko-KR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196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7F872A-D277-4956-ACAE-05C277686A64}"/>
              </a:ext>
            </a:extLst>
          </p:cNvPr>
          <p:cNvSpPr txBox="1"/>
          <p:nvPr/>
        </p:nvSpPr>
        <p:spPr>
          <a:xfrm>
            <a:off x="114300" y="16328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문제도출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90E2A4-4752-4CAD-A75E-5F999F5BD76F}"/>
              </a:ext>
            </a:extLst>
          </p:cNvPr>
          <p:cNvSpPr txBox="1"/>
          <p:nvPr/>
        </p:nvSpPr>
        <p:spPr>
          <a:xfrm>
            <a:off x="1976625" y="532617"/>
            <a:ext cx="7979228" cy="45243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  <a:spcAft>
                <a:spcPts val="400"/>
              </a:spcAft>
            </a:pPr>
            <a:r>
              <a:rPr lang="ko-KR" altLang="en-US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목적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기존 서비스의 구조를 보여주는 페이지</a:t>
            </a:r>
            <a:endParaRPr lang="en-US" altLang="ko-KR" dirty="0"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800"/>
              </a:spcBef>
              <a:spcAft>
                <a:spcPts val="400"/>
              </a:spcAft>
            </a:pP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트리거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개입하거나 그런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… -- </a:t>
            </a:r>
            <a:r>
              <a:rPr lang="ko-KR" altLang="en-US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기술적인 관점에서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pPr algn="ctr">
              <a:spcBef>
                <a:spcPts val="800"/>
              </a:spcBef>
              <a:spcAft>
                <a:spcPts val="400"/>
              </a:spcAft>
            </a:pPr>
            <a:endParaRPr lang="en-US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800"/>
              </a:spcBef>
              <a:spcAft>
                <a:spcPts val="400"/>
              </a:spcAft>
            </a:pPr>
            <a:r>
              <a:rPr lang="ko-KR" altLang="en-US" dirty="0"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실제 </a:t>
            </a:r>
            <a:r>
              <a:rPr lang="ko-KR" altLang="en-US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통화 내용에서 실제 이 서비스들이 실행되거나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</a:t>
            </a:r>
          </a:p>
          <a:p>
            <a:pPr algn="ctr">
              <a:spcBef>
                <a:spcPts val="800"/>
              </a:spcBef>
              <a:spcAft>
                <a:spcPts val="400"/>
              </a:spcAft>
            </a:pPr>
            <a:r>
              <a:rPr lang="ko-KR" altLang="en-US" dirty="0"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혹은 실행된다면 어떤 구간에서 역할을 하는지 정리한 페이지</a:t>
            </a:r>
            <a:endParaRPr lang="en-US" altLang="ko-KR" dirty="0"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800"/>
              </a:spcBef>
              <a:spcAft>
                <a:spcPts val="400"/>
              </a:spcAft>
            </a:pPr>
            <a:endParaRPr lang="en-US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800"/>
              </a:spcBef>
              <a:spcAft>
                <a:spcPts val="400"/>
              </a:spcAft>
            </a:pPr>
            <a:r>
              <a:rPr lang="ko-KR" altLang="en-US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찾아볼만한 자료</a:t>
            </a:r>
            <a:endParaRPr lang="en-US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indent="-342900" algn="ctr">
              <a:spcBef>
                <a:spcPts val="800"/>
              </a:spcBef>
              <a:spcAft>
                <a:spcPts val="400"/>
              </a:spcAft>
              <a:buAutoNum type="arabicPeriod"/>
            </a:pPr>
            <a:r>
              <a:rPr lang="ko-KR" altLang="en-US" dirty="0"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논문 </a:t>
            </a:r>
            <a:r>
              <a:rPr lang="en-US" altLang="ko-KR" dirty="0"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– </a:t>
            </a:r>
            <a:r>
              <a:rPr lang="ko-KR" altLang="en-US" dirty="0"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보이스피싱 빈틈에 대한 논문</a:t>
            </a:r>
            <a:r>
              <a:rPr lang="en-US" altLang="ko-KR" dirty="0"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dirty="0"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있거나 필요하면</a:t>
            </a:r>
            <a:r>
              <a:rPr lang="en-US" altLang="ko-KR" dirty="0"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pPr marL="342900" indent="-342900" algn="ctr">
              <a:spcBef>
                <a:spcPts val="800"/>
              </a:spcBef>
              <a:spcAft>
                <a:spcPts val="400"/>
              </a:spcAft>
              <a:buAutoNum type="arabicPeriod"/>
            </a:pPr>
            <a:r>
              <a:rPr lang="ko-KR" altLang="en-US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기능명세서</a:t>
            </a:r>
            <a:r>
              <a:rPr lang="en-US" altLang="ko-KR" dirty="0"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dirty="0"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작동방식</a:t>
            </a:r>
            <a:r>
              <a:rPr lang="en-US" altLang="ko-KR" dirty="0"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기능 설명</a:t>
            </a:r>
            <a:r>
              <a:rPr lang="en-US" altLang="ko-KR" dirty="0"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pPr marL="342900" indent="-342900" algn="ctr">
              <a:spcBef>
                <a:spcPts val="800"/>
              </a:spcBef>
              <a:spcAft>
                <a:spcPts val="400"/>
              </a:spcAft>
              <a:buAutoNum type="arabicPeriod"/>
            </a:pPr>
            <a:r>
              <a:rPr lang="ko-KR" altLang="en-US" dirty="0"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실제 혹은 가상 보이스피싱 사례</a:t>
            </a:r>
            <a:r>
              <a:rPr lang="en-US" altLang="ko-KR" dirty="0"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dirty="0"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예시</a:t>
            </a:r>
            <a:r>
              <a:rPr lang="en-US" altLang="ko-KR" dirty="0"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) </a:t>
            </a:r>
            <a:r>
              <a:rPr lang="ko-KR" altLang="en-US" dirty="0"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보여줄 필요 있음</a:t>
            </a:r>
            <a:br>
              <a:rPr lang="en-US" altLang="zh-CN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ko-KR" altLang="en-US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예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구조적으로 보여주기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 (</a:t>
            </a:r>
            <a:r>
              <a:rPr lang="ko-KR" altLang="en-US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구조도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en-US" altLang="zh-CN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35340D-16E3-48F9-A26C-1B84EDA07A40}"/>
              </a:ext>
            </a:extLst>
          </p:cNvPr>
          <p:cNvSpPr/>
          <p:nvPr/>
        </p:nvSpPr>
        <p:spPr>
          <a:xfrm>
            <a:off x="10710181" y="392765"/>
            <a:ext cx="964748" cy="6087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종열</a:t>
            </a:r>
          </a:p>
        </p:txBody>
      </p:sp>
    </p:spTree>
    <p:extLst>
      <p:ext uri="{BB962C8B-B14F-4D97-AF65-F5344CB8AC3E}">
        <p14:creationId xmlns:p14="http://schemas.microsoft.com/office/powerpoint/2010/main" val="2448343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56F3D24-63BF-4444-A316-3D360B773D05}"/>
              </a:ext>
            </a:extLst>
          </p:cNvPr>
          <p:cNvSpPr/>
          <p:nvPr/>
        </p:nvSpPr>
        <p:spPr>
          <a:xfrm>
            <a:off x="1222296" y="1828800"/>
            <a:ext cx="9930118" cy="46699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90E2A4-4752-4CAD-A75E-5F999F5BD76F}"/>
              </a:ext>
            </a:extLst>
          </p:cNvPr>
          <p:cNvSpPr txBox="1"/>
          <p:nvPr/>
        </p:nvSpPr>
        <p:spPr>
          <a:xfrm>
            <a:off x="3049361" y="909349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  <a:spcAft>
                <a:spcPts val="400"/>
              </a:spcAft>
            </a:pP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보이스피</a:t>
            </a:r>
            <a:r>
              <a:rPr lang="ko-KR" altLang="en-US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싱은 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‘</a:t>
            </a:r>
            <a:r>
              <a:rPr lang="ko-KR" altLang="en-US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거짓 정보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’</a:t>
            </a:r>
            <a:r>
              <a:rPr lang="ko-KR" altLang="en-US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뿐 아니라 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‘</a:t>
            </a:r>
            <a:r>
              <a:rPr lang="ko-KR" altLang="en-US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거짓 판단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’</a:t>
            </a:r>
            <a:r>
              <a:rPr lang="ko-KR" altLang="en-US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을 유도한다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endParaRPr lang="ko-KR" altLang="ko-KR" sz="1800" b="1" dirty="0">
              <a:solidFill>
                <a:srgbClr val="0F4761"/>
              </a:solidFill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96EBF7-439D-4E3F-B968-14F042ADAB4D}"/>
              </a:ext>
            </a:extLst>
          </p:cNvPr>
          <p:cNvSpPr txBox="1"/>
          <p:nvPr/>
        </p:nvSpPr>
        <p:spPr>
          <a:xfrm>
            <a:off x="1487261" y="2205532"/>
            <a:ext cx="92229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보이스피싱 범죄 전략적 특정 살펴보는 데이터</a:t>
            </a:r>
            <a:endParaRPr lang="en-US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dirty="0"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정보비대칭</a:t>
            </a:r>
            <a:r>
              <a:rPr lang="en-US" altLang="zh-CN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권위</a:t>
            </a:r>
            <a:r>
              <a:rPr lang="en-US" altLang="zh-CN" b="1" dirty="0"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긴급성</a:t>
            </a:r>
            <a:r>
              <a:rPr lang="en-US" altLang="zh-CN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비밀유지</a:t>
            </a:r>
            <a:r>
              <a:rPr lang="en-US" altLang="zh-CN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외부</a:t>
            </a:r>
            <a:r>
              <a:rPr lang="zh-CN" altLang="ko-KR" sz="1800" b="1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검증</a:t>
            </a:r>
            <a:r>
              <a:rPr lang="zh-CN" altLang="ko-KR" sz="1800" b="1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과정</a:t>
            </a:r>
            <a:r>
              <a:rPr lang="zh-CN" altLang="ko-KR" sz="1800" b="1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자체를</a:t>
            </a:r>
            <a:r>
              <a:rPr lang="zh-CN" altLang="ko-KR" sz="1800" b="1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제한</a:t>
            </a:r>
            <a:r>
              <a:rPr lang="en-US" altLang="zh-CN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</a:t>
            </a:r>
          </a:p>
          <a:p>
            <a:pPr algn="ctr"/>
            <a:r>
              <a:rPr lang="ko-KR" altLang="en-US" b="1" dirty="0"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유리한 혹은 설계한 상황으로 몰입시키기도 함</a:t>
            </a:r>
            <a:r>
              <a:rPr lang="en-US" altLang="ko-KR" b="1" dirty="0"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…,</a:t>
            </a:r>
          </a:p>
          <a:p>
            <a:pPr algn="ctr"/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정보 우위</a:t>
            </a:r>
            <a:r>
              <a:rPr lang="en-US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 + 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심리적 압박</a:t>
            </a:r>
            <a:r>
              <a:rPr lang="en-US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 + 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외부 검증 차단</a:t>
            </a:r>
            <a:endParaRPr lang="en-US" altLang="zh-CN" b="1" dirty="0"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sz="1800" b="1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세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가지가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결합하면서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범죄자는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피해자의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판단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환경을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점차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장악</a:t>
            </a:r>
            <a:endParaRPr lang="en-US" altLang="zh-CN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그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거짓말을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검증하기</a:t>
            </a:r>
            <a:r>
              <a:rPr lang="zh-CN" altLang="ko-KR" sz="1800" b="1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어려운</a:t>
            </a:r>
            <a:r>
              <a:rPr lang="zh-CN" altLang="ko-KR" sz="1800" b="1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환경까지</a:t>
            </a:r>
            <a:r>
              <a:rPr lang="zh-CN" altLang="ko-KR" sz="1800" b="1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함께</a:t>
            </a:r>
            <a:r>
              <a:rPr lang="zh-CN" altLang="ko-KR" sz="1800" b="1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만들어낸다</a:t>
            </a:r>
            <a:r>
              <a:rPr lang="en-US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1F1319-B86B-47CE-8723-ABBFDECD95D6}"/>
              </a:ext>
            </a:extLst>
          </p:cNvPr>
          <p:cNvSpPr/>
          <p:nvPr/>
        </p:nvSpPr>
        <p:spPr>
          <a:xfrm>
            <a:off x="10710181" y="392765"/>
            <a:ext cx="964748" cy="6087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종열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851ACA-5F3C-4897-B0F9-CBB735CA1162}"/>
              </a:ext>
            </a:extLst>
          </p:cNvPr>
          <p:cNvSpPr txBox="1"/>
          <p:nvPr/>
        </p:nvSpPr>
        <p:spPr>
          <a:xfrm>
            <a:off x="114300" y="163285"/>
            <a:ext cx="242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보이스피싱 전략 분석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3632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56F3D24-63BF-4444-A316-3D360B773D05}"/>
              </a:ext>
            </a:extLst>
          </p:cNvPr>
          <p:cNvSpPr/>
          <p:nvPr/>
        </p:nvSpPr>
        <p:spPr>
          <a:xfrm>
            <a:off x="4294484" y="1987804"/>
            <a:ext cx="3610961" cy="4438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90E2A4-4752-4CAD-A75E-5F999F5BD76F}"/>
              </a:ext>
            </a:extLst>
          </p:cNvPr>
          <p:cNvSpPr txBox="1"/>
          <p:nvPr/>
        </p:nvSpPr>
        <p:spPr>
          <a:xfrm>
            <a:off x="3049361" y="590650"/>
            <a:ext cx="609872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  <a:spcAft>
                <a:spcPts val="400"/>
              </a:spcAft>
            </a:pPr>
            <a:r>
              <a:rPr lang="ko-KR" altLang="en-US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연령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</a:t>
            </a:r>
            <a:r>
              <a:rPr lang="ko-KR" altLang="en-US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유형별 취약점과 판단 오류</a:t>
            </a:r>
            <a:endParaRPr lang="en-US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800"/>
              </a:spcBef>
              <a:spcAft>
                <a:spcPts val="400"/>
              </a:spcAft>
            </a:pPr>
            <a:r>
              <a:rPr lang="en-US" altLang="ko-KR" b="1" dirty="0">
                <a:solidFill>
                  <a:srgbClr val="0F4761"/>
                </a:solidFill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b="1" dirty="0">
                <a:solidFill>
                  <a:srgbClr val="0F4761"/>
                </a:solidFill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설문</a:t>
            </a:r>
            <a:r>
              <a:rPr lang="en-US" altLang="ko-KR" b="1" dirty="0">
                <a:solidFill>
                  <a:srgbClr val="0F4761"/>
                </a:solidFill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b="1" dirty="0">
                <a:solidFill>
                  <a:srgbClr val="0F4761"/>
                </a:solidFill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논문</a:t>
            </a:r>
            <a:r>
              <a:rPr lang="en-US" altLang="ko-KR" b="1" dirty="0">
                <a:solidFill>
                  <a:srgbClr val="0F4761"/>
                </a:solidFill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b="1" dirty="0">
                <a:solidFill>
                  <a:srgbClr val="0F4761"/>
                </a:solidFill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실 사례</a:t>
            </a:r>
            <a:r>
              <a:rPr lang="en-US" altLang="ko-KR" b="1" dirty="0">
                <a:solidFill>
                  <a:srgbClr val="0F4761"/>
                </a:solidFill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b="1" dirty="0">
                <a:solidFill>
                  <a:srgbClr val="0F4761"/>
                </a:solidFill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등</a:t>
            </a:r>
            <a:r>
              <a:rPr lang="en-US" altLang="ko-KR" b="1" dirty="0">
                <a:solidFill>
                  <a:srgbClr val="0F4761"/>
                </a:solidFill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altLang="ko-KR" sz="1800" b="1" dirty="0">
              <a:solidFill>
                <a:srgbClr val="0F4761"/>
              </a:solidFill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96EBF7-439D-4E3F-B968-14F042ADAB4D}"/>
              </a:ext>
            </a:extLst>
          </p:cNvPr>
          <p:cNvSpPr txBox="1"/>
          <p:nvPr/>
        </p:nvSpPr>
        <p:spPr>
          <a:xfrm>
            <a:off x="4991780" y="2387674"/>
            <a:ext cx="22084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20</a:t>
            </a:r>
            <a:r>
              <a:rPr lang="ko-KR" altLang="en-US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대</a:t>
            </a:r>
            <a:endParaRPr lang="en-US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ko-KR" altLang="en-US" dirty="0"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판단 기준의 공백</a:t>
            </a:r>
            <a:endParaRPr lang="ko-KR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1F1319-B86B-47CE-8723-ABBFDECD95D6}"/>
              </a:ext>
            </a:extLst>
          </p:cNvPr>
          <p:cNvSpPr/>
          <p:nvPr/>
        </p:nvSpPr>
        <p:spPr>
          <a:xfrm>
            <a:off x="10710181" y="392765"/>
            <a:ext cx="964748" cy="6087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종열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851ACA-5F3C-4897-B0F9-CBB735CA1162}"/>
              </a:ext>
            </a:extLst>
          </p:cNvPr>
          <p:cNvSpPr txBox="1"/>
          <p:nvPr/>
        </p:nvSpPr>
        <p:spPr>
          <a:xfrm>
            <a:off x="114300" y="163285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피해자 취약점 분석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5978C7-2FB9-4F56-B2FA-1580BBAFD886}"/>
              </a:ext>
            </a:extLst>
          </p:cNvPr>
          <p:cNvSpPr txBox="1"/>
          <p:nvPr/>
        </p:nvSpPr>
        <p:spPr>
          <a:xfrm>
            <a:off x="8761264" y="2387674"/>
            <a:ext cx="22084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고령</a:t>
            </a:r>
            <a:endParaRPr lang="en-US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정보</a:t>
            </a:r>
            <a:r>
              <a:rPr lang="en-US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·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검증의</a:t>
            </a:r>
            <a:r>
              <a:rPr lang="zh-CN" altLang="ko-KR" sz="1800" b="1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공백</a:t>
            </a:r>
            <a:endParaRPr lang="ko-KR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0BFA00-93F2-4B7F-8BD6-AAB010002132}"/>
              </a:ext>
            </a:extLst>
          </p:cNvPr>
          <p:cNvSpPr/>
          <p:nvPr/>
        </p:nvSpPr>
        <p:spPr>
          <a:xfrm>
            <a:off x="8063968" y="1987804"/>
            <a:ext cx="3610961" cy="4438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8B9D28-9654-412F-BE1B-39693F2652BD}"/>
              </a:ext>
            </a:extLst>
          </p:cNvPr>
          <p:cNvSpPr txBox="1"/>
          <p:nvPr/>
        </p:nvSpPr>
        <p:spPr>
          <a:xfrm>
            <a:off x="8173435" y="3463713"/>
            <a:ext cx="338409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원인</a:t>
            </a:r>
            <a:r>
              <a:rPr lang="en-US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디지털</a:t>
            </a:r>
            <a:r>
              <a:rPr lang="en-US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·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금융환경이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빠르게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변화하면서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공식적인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정보를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검색하고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확인하는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과정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자체가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어려울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수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있으며</a:t>
            </a:r>
            <a:r>
              <a:rPr lang="en-US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복잡한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상황에서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여러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정보를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즉시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비교하고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판단해야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하는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부담도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존재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69F289-2A35-4079-BF60-B0379AF449C4}"/>
              </a:ext>
            </a:extLst>
          </p:cNvPr>
          <p:cNvSpPr txBox="1"/>
          <p:nvPr/>
        </p:nvSpPr>
        <p:spPr>
          <a:xfrm>
            <a:off x="4403951" y="3277288"/>
            <a:ext cx="338409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원인</a:t>
            </a:r>
            <a:r>
              <a:rPr lang="en-US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금융</a:t>
            </a:r>
            <a:r>
              <a:rPr lang="en-US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행정</a:t>
            </a:r>
            <a:r>
              <a:rPr lang="en-US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수사절차에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대한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경험이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많지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않으면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실제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검찰이나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금융기관이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어떤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방식으로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업무를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처리하는지에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대한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기준점이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부족할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수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있다</a:t>
            </a:r>
            <a:r>
              <a:rPr lang="en-US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정상적인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상황에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대한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기준이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충분하지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않다면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범죄자가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제시하는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가짜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상황과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실제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상황을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비교하기</a:t>
            </a:r>
            <a:r>
              <a:rPr lang="zh-CN" altLang="ko-KR" sz="12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어렵다</a:t>
            </a:r>
            <a:endParaRPr lang="ko-KR" altLang="en-US" sz="1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18617E-29DC-4909-8861-F3DAFEB5D7C9}"/>
              </a:ext>
            </a:extLst>
          </p:cNvPr>
          <p:cNvSpPr/>
          <p:nvPr/>
        </p:nvSpPr>
        <p:spPr>
          <a:xfrm>
            <a:off x="444342" y="1987804"/>
            <a:ext cx="3610961" cy="4438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0AD8C8-1957-4D64-95E0-1B5CC41B7A63}"/>
              </a:ext>
            </a:extLst>
          </p:cNvPr>
          <p:cNvSpPr txBox="1"/>
          <p:nvPr/>
        </p:nvSpPr>
        <p:spPr>
          <a:xfrm>
            <a:off x="529084" y="2387674"/>
            <a:ext cx="3340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연령별 피해 현황 그래프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76E387-BE23-4CFF-B6D4-33C07577EC98}"/>
              </a:ext>
            </a:extLst>
          </p:cNvPr>
          <p:cNvSpPr txBox="1"/>
          <p:nvPr/>
        </p:nvSpPr>
        <p:spPr>
          <a:xfrm>
            <a:off x="4615541" y="5296978"/>
            <a:ext cx="28139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주요 관련 수법 및 전략사례</a:t>
            </a:r>
            <a:endParaRPr lang="en-US" altLang="ko-KR" sz="1200" dirty="0"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ko-KR" altLang="en-US" dirty="0"/>
              <a:t>권위</a:t>
            </a:r>
            <a:r>
              <a:rPr lang="en-US" altLang="ko-KR" dirty="0"/>
              <a:t>, </a:t>
            </a:r>
            <a:r>
              <a:rPr lang="ko-KR" altLang="en-US" dirty="0"/>
              <a:t>사칭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판단오류</a:t>
            </a:r>
            <a:endParaRPr lang="en-US" altLang="ko-KR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81C497-E659-4852-B694-831CA2909198}"/>
              </a:ext>
            </a:extLst>
          </p:cNvPr>
          <p:cNvSpPr txBox="1"/>
          <p:nvPr/>
        </p:nvSpPr>
        <p:spPr>
          <a:xfrm>
            <a:off x="8499325" y="4914135"/>
            <a:ext cx="280004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주요 관련 수법 및 전략사례</a:t>
            </a:r>
            <a:endParaRPr lang="en-US" altLang="ko-KR" sz="1200" dirty="0"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ko-KR" altLang="en-US" dirty="0"/>
              <a:t>하나의 사건에서도 여러 통화</a:t>
            </a:r>
            <a:r>
              <a:rPr lang="en-US" altLang="ko-KR" dirty="0"/>
              <a:t>, </a:t>
            </a:r>
            <a:r>
              <a:rPr lang="ko-KR" altLang="en-US" dirty="0"/>
              <a:t>여러 기관 사칭으로 혼돈고 신뢰성 야기</a:t>
            </a:r>
            <a:r>
              <a:rPr lang="en-US" altLang="ko-KR" dirty="0"/>
              <a:t>…</a:t>
            </a:r>
          </a:p>
          <a:p>
            <a:r>
              <a:rPr lang="en-US" altLang="ko-KR" dirty="0"/>
              <a:t>-&gt; </a:t>
            </a:r>
            <a:r>
              <a:rPr lang="ko-KR" altLang="en-US" dirty="0"/>
              <a:t>판단 오류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77459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27A2D5-D44B-496D-9C87-5370A9704A18}"/>
              </a:ext>
            </a:extLst>
          </p:cNvPr>
          <p:cNvSpPr txBox="1"/>
          <p:nvPr/>
        </p:nvSpPr>
        <p:spPr>
          <a:xfrm>
            <a:off x="469447" y="2059217"/>
            <a:ext cx="6098720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zh-CN" altLang="ko-KR" sz="1800" dirty="0">
                <a:solidFill>
                  <a:srgbClr val="FF0000"/>
                </a:solidFill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이것이</a:t>
            </a:r>
            <a:r>
              <a:rPr lang="en-US" altLang="ko-KR" sz="1800" dirty="0">
                <a:solidFill>
                  <a:srgbClr val="FF0000"/>
                </a:solidFill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 20</a:t>
            </a:r>
            <a:r>
              <a:rPr lang="zh-CN" altLang="ko-KR" sz="1800" dirty="0">
                <a:solidFill>
                  <a:srgbClr val="FF0000"/>
                </a:solidFill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대와 고령층만의 문제라는 의미는 아니다</a:t>
            </a:r>
            <a:r>
              <a:rPr lang="en-US" altLang="ko-KR" sz="1800" dirty="0">
                <a:solidFill>
                  <a:srgbClr val="FF0000"/>
                </a:solidFill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dirty="0">
              <a:solidFill>
                <a:srgbClr val="FF0000"/>
              </a:solidFill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일반 금융소비자 역시 정교한 개인정보를 활용한 시나리오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실제 기관과 매우 유사한 설명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갑작스러운 공포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충분한 확인시간을 주지 않는 긴급한 상황 등에 놓이면 순간적으로 판단이 흔들릴 수 있다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결국 핵심은 연령이 아니다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사람마다 서로 다른 취약성이 존재하며</a:t>
            </a:r>
            <a:r>
              <a:rPr lang="en-US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그 취약성이 범죄자의 공격방식과 결합하는 방식이 다르다는 것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이다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B07D55-E24A-45C2-866C-4C1F707B1439}"/>
              </a:ext>
            </a:extLst>
          </p:cNvPr>
          <p:cNvSpPr/>
          <p:nvPr/>
        </p:nvSpPr>
        <p:spPr>
          <a:xfrm>
            <a:off x="7184571" y="2091874"/>
            <a:ext cx="4537982" cy="43107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20</a:t>
            </a:r>
            <a:r>
              <a:rPr lang="ko-KR" altLang="en-US" dirty="0"/>
              <a:t>대</a:t>
            </a:r>
            <a:r>
              <a:rPr lang="en-US" altLang="ko-KR" dirty="0"/>
              <a:t>, </a:t>
            </a:r>
            <a:r>
              <a:rPr lang="ko-KR" altLang="en-US" dirty="0"/>
              <a:t>고령이 아닌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3040 </a:t>
            </a:r>
            <a:r>
              <a:rPr lang="ko-KR" altLang="en-US" dirty="0"/>
              <a:t>중에서 이런 상황에 놓인 다른 사레 예시 간단하게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7C20EE-B6C1-4EE0-97F4-814157E3EEF3}"/>
              </a:ext>
            </a:extLst>
          </p:cNvPr>
          <p:cNvSpPr txBox="1"/>
          <p:nvPr/>
        </p:nvSpPr>
        <p:spPr>
          <a:xfrm>
            <a:off x="114300" y="163285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피해자 취약점 분석</a:t>
            </a:r>
          </a:p>
        </p:txBody>
      </p:sp>
    </p:spTree>
    <p:extLst>
      <p:ext uri="{BB962C8B-B14F-4D97-AF65-F5344CB8AC3E}">
        <p14:creationId xmlns:p14="http://schemas.microsoft.com/office/powerpoint/2010/main" val="2146348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94EF80-F2AE-4A28-BBDD-4D985112CC5E}"/>
              </a:ext>
            </a:extLst>
          </p:cNvPr>
          <p:cNvSpPr txBox="1"/>
          <p:nvPr/>
        </p:nvSpPr>
        <p:spPr>
          <a:xfrm>
            <a:off x="114300" y="16328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문제정리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488D2A-5FEC-460B-8730-7931939956C9}"/>
              </a:ext>
            </a:extLst>
          </p:cNvPr>
          <p:cNvSpPr txBox="1"/>
          <p:nvPr/>
        </p:nvSpPr>
        <p:spPr>
          <a:xfrm>
            <a:off x="2364921" y="347951"/>
            <a:ext cx="7462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400"/>
              </a:spcAft>
            </a:pPr>
            <a:r>
              <a:rPr lang="zh-CN" altLang="ko-KR" sz="1800" b="1" kern="0" dirty="0">
                <a:solidFill>
                  <a:srgbClr val="0F4761"/>
                </a:solidFill>
                <a:effectLst/>
                <a:latin typeface="Aptos Display"/>
                <a:ea typeface="맑은 고딕" panose="020B0503020000020004" pitchFamily="50" charset="-127"/>
                <a:cs typeface="Times New Roman" panose="02020603050405020304" pitchFamily="18" charset="0"/>
              </a:rPr>
              <a:t>보이스피싱 피해가 발생하는 구조</a:t>
            </a:r>
            <a:r>
              <a:rPr lang="ko-KR" altLang="en-US" sz="1800" b="1" kern="0" dirty="0">
                <a:solidFill>
                  <a:srgbClr val="0F4761"/>
                </a:solidFill>
                <a:effectLst/>
                <a:latin typeface="Aptos Display"/>
                <a:ea typeface="맑은 고딕" panose="020B0503020000020004" pitchFamily="50" charset="-127"/>
                <a:cs typeface="Times New Roman" panose="02020603050405020304" pitchFamily="18" charset="0"/>
              </a:rPr>
              <a:t>를 종합적으로 정리해 보면</a:t>
            </a:r>
            <a:r>
              <a:rPr lang="en-US" altLang="ko-KR" sz="1800" b="1" kern="0" dirty="0">
                <a:solidFill>
                  <a:srgbClr val="0F4761"/>
                </a:solidFill>
                <a:effectLst/>
                <a:latin typeface="Aptos Display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  <a:endParaRPr lang="ko-KR" altLang="ko-KR" sz="1800" b="1" kern="0" dirty="0">
              <a:solidFill>
                <a:srgbClr val="0F4761"/>
              </a:solidFill>
              <a:effectLst/>
              <a:latin typeface="Aptos Display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2FA9E9-EDC3-4050-8E91-446A06CFDF77}"/>
              </a:ext>
            </a:extLst>
          </p:cNvPr>
          <p:cNvSpPr txBox="1"/>
          <p:nvPr/>
        </p:nvSpPr>
        <p:spPr>
          <a:xfrm>
            <a:off x="114300" y="1293236"/>
            <a:ext cx="11483068" cy="521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첫 번째 요소는 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범죄자의 전략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이다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정보비대칭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권위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공포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긴급성 등의 전략을 통해 범죄자는 피해자의 판단에 영향을 미친다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두 번째 요소는 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피해자의 취약성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이다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경험 부족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정보격차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순간적인 상황 부담 등은 사람마다 다른 형태로 나타난다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세 번째 요소는 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외부 검증의 제한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이다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시간압박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비밀유지 요구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상담과 확인을 방해하는 행위 등을 통해 피해자가 다른 사람이나 공식기관을 통해 상황을 다시 확인하기 어렵게 만든다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이 세 가지가 결합하면 피해자의 판단 환경이 무너지기 시작한다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범죄자의 전략</a:t>
            </a:r>
            <a:r>
              <a:rPr lang="en-US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 × 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피해자의 취약성</a:t>
            </a:r>
            <a:r>
              <a:rPr lang="en-US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 × 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외부 검증의 제한</a:t>
            </a:r>
            <a:endParaRPr lang="ko-KR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그 결과 피해자는 현재 상황이 정상인지 보이스피싱인지 스스로 검증하기 어려워진다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그리고 이러한 잘못된 판단이 송금과 같은 금융행동으로 이어지면서 실제 피해가 발생한다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535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94EF80-F2AE-4A28-BBDD-4D985112CC5E}"/>
              </a:ext>
            </a:extLst>
          </p:cNvPr>
          <p:cNvSpPr txBox="1"/>
          <p:nvPr/>
        </p:nvSpPr>
        <p:spPr>
          <a:xfrm>
            <a:off x="359229" y="16328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문제정의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488D2A-5FEC-460B-8730-7931939956C9}"/>
              </a:ext>
            </a:extLst>
          </p:cNvPr>
          <p:cNvSpPr txBox="1"/>
          <p:nvPr/>
        </p:nvSpPr>
        <p:spPr>
          <a:xfrm>
            <a:off x="2124755" y="532617"/>
            <a:ext cx="7462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400"/>
              </a:spcAft>
            </a:pPr>
            <a:r>
              <a:rPr lang="zh-CN" altLang="ko-KR" sz="1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조작된</a:t>
            </a:r>
            <a:r>
              <a:rPr lang="zh-CN" altLang="ko-KR" sz="1800" dirty="0">
                <a:solidFill>
                  <a:srgbClr val="FF0000"/>
                </a:solidFill>
                <a:effectLst/>
                <a:highlight>
                  <a:srgbClr val="FFFF00"/>
                </a:highlight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상황에서도</a:t>
            </a:r>
            <a:r>
              <a:rPr lang="zh-CN" altLang="ko-KR" sz="1800" dirty="0">
                <a:solidFill>
                  <a:srgbClr val="FF0000"/>
                </a:solidFill>
                <a:effectLst/>
                <a:highlight>
                  <a:srgbClr val="FFFF00"/>
                </a:highlight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피해자는</a:t>
            </a:r>
            <a:r>
              <a:rPr lang="zh-CN" altLang="ko-KR" sz="1800" dirty="0">
                <a:solidFill>
                  <a:srgbClr val="FF0000"/>
                </a:solidFill>
                <a:effectLst/>
                <a:highlight>
                  <a:srgbClr val="FFFF00"/>
                </a:highlight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혼자</a:t>
            </a:r>
            <a:r>
              <a:rPr lang="zh-CN" altLang="ko-KR" sz="1800" dirty="0">
                <a:solidFill>
                  <a:srgbClr val="FF0000"/>
                </a:solidFill>
                <a:effectLst/>
                <a:highlight>
                  <a:srgbClr val="FFFF00"/>
                </a:highlight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판단한다</a:t>
            </a:r>
            <a:endParaRPr lang="ko-KR" altLang="ko-KR" sz="1800" b="1" kern="0" dirty="0">
              <a:solidFill>
                <a:srgbClr val="FF0000"/>
              </a:solidFill>
              <a:effectLst/>
              <a:highlight>
                <a:srgbClr val="FFFF00"/>
              </a:highlight>
              <a:latin typeface="Aptos Display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2FA9E9-EDC3-4050-8E91-446A06CFDF77}"/>
              </a:ext>
            </a:extLst>
          </p:cNvPr>
          <p:cNvSpPr txBox="1"/>
          <p:nvPr/>
        </p:nvSpPr>
        <p:spPr>
          <a:xfrm>
            <a:off x="1975077" y="1946378"/>
            <a:ext cx="8241846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따라서 우리가 정의한 문제는 단순한 정보 부족이 아니다</a:t>
            </a:r>
            <a:r>
              <a:rPr lang="en-US" altLang="zh-CN" dirty="0"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en-US" altLang="ko-KR" dirty="0"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보이스피싱 피해의 핵심은 범죄자가 피해자의 취약성을 이용해 판단 환경을 장악하고 외부 검증을 제한하는 상황에서도</a:t>
            </a:r>
            <a:r>
              <a:rPr lang="en-US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최종 판단과 금융행동이 피해자 개인에게 크게 의존한다는 것이다</a:t>
            </a:r>
            <a:r>
              <a:rPr lang="en-US" altLang="zh-CN" b="1" dirty="0"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endParaRPr lang="en-US" altLang="ko-KR" sz="1800" b="1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범죄자의 조작</a:t>
            </a:r>
            <a:r>
              <a:rPr lang="en-US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 → 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피해자의 판단 흔들림</a:t>
            </a:r>
            <a:r>
              <a:rPr lang="en-US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 → 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혼자 판단</a:t>
            </a:r>
            <a:r>
              <a:rPr lang="en-US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 → 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송금</a:t>
            </a:r>
            <a:r>
              <a:rPr lang="en-US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 → 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피해</a:t>
            </a:r>
            <a:endParaRPr lang="ko-KR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endParaRPr lang="en-US" altLang="ko-KR" b="1" dirty="0"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endParaRPr lang="ko-KR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976D00-7004-4D65-ABA6-F0C5D6790EDF}"/>
              </a:ext>
            </a:extLst>
          </p:cNvPr>
          <p:cNvSpPr txBox="1"/>
          <p:nvPr/>
        </p:nvSpPr>
        <p:spPr>
          <a:xfrm>
            <a:off x="2262529" y="5408864"/>
            <a:ext cx="779757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이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과정에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객관적인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제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3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자의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판단을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개입시킬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수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있다면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어떨까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  <a:endParaRPr lang="ko-KR" altLang="en-US" dirty="0"/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01D32EA6-03FF-4AE6-B31C-1F2AC087CBF0}"/>
              </a:ext>
            </a:extLst>
          </p:cNvPr>
          <p:cNvSpPr/>
          <p:nvPr/>
        </p:nvSpPr>
        <p:spPr>
          <a:xfrm>
            <a:off x="6577354" y="4429679"/>
            <a:ext cx="460262" cy="75111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323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9FBC8F-F0AD-4004-8DDC-936E4CFAFE4B}"/>
              </a:ext>
            </a:extLst>
          </p:cNvPr>
          <p:cNvSpPr txBox="1"/>
          <p:nvPr/>
        </p:nvSpPr>
        <p:spPr>
          <a:xfrm>
            <a:off x="359229" y="16328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인사이트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624CF5-DDF1-4312-B7CC-C5242BD19C40}"/>
              </a:ext>
            </a:extLst>
          </p:cNvPr>
          <p:cNvSpPr txBox="1"/>
          <p:nvPr/>
        </p:nvSpPr>
        <p:spPr>
          <a:xfrm>
            <a:off x="913227" y="1162735"/>
            <a:ext cx="43474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첫 번째 인사이트는 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보이스피싱이 단순한 정보 부족의 문제가 아니라는 것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이다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2F6C98-CDA4-46FE-9B3F-523DF02A94BC}"/>
              </a:ext>
            </a:extLst>
          </p:cNvPr>
          <p:cNvSpPr txBox="1"/>
          <p:nvPr/>
        </p:nvSpPr>
        <p:spPr>
          <a:xfrm>
            <a:off x="913227" y="2637357"/>
            <a:ext cx="43474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두 번째 인사이트는 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판단이 흔들리는 순간 피해자를 혼자 판단하게 두어서는 안 된다는 것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이다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5FFC6D-4D0F-40E9-8E51-11D870DAD87C}"/>
              </a:ext>
            </a:extLst>
          </p:cNvPr>
          <p:cNvSpPr txBox="1"/>
          <p:nvPr/>
        </p:nvSpPr>
        <p:spPr>
          <a:xfrm>
            <a:off x="913227" y="4069807"/>
            <a:ext cx="43474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세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번째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인사이트는</a:t>
            </a:r>
            <a:r>
              <a:rPr lang="en-US" altLang="zh-CN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외부에서 상황을 검토하는 동안에도 피해자가 바로 송금을 실행할 수 있다면 검증은 늦을 수 있다</a:t>
            </a:r>
            <a:r>
              <a:rPr lang="ko-KR" altLang="en-US" dirty="0"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는 것</a:t>
            </a:r>
            <a:endParaRPr lang="ko-KR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744E83-1092-431A-B65B-B08CB6695411}"/>
              </a:ext>
            </a:extLst>
          </p:cNvPr>
          <p:cNvSpPr txBox="1"/>
          <p:nvPr/>
        </p:nvSpPr>
        <p:spPr>
          <a:xfrm>
            <a:off x="6931291" y="1162735"/>
            <a:ext cx="43474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예방정보나 경고 메시지를 더 많이 제공하는 것만으로는 충분하지 않을 수 있다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925BC6A-EEC8-4F31-B53F-06790AC95969}"/>
              </a:ext>
            </a:extLst>
          </p:cNvPr>
          <p:cNvSpPr/>
          <p:nvPr/>
        </p:nvSpPr>
        <p:spPr>
          <a:xfrm>
            <a:off x="5655128" y="1234510"/>
            <a:ext cx="881743" cy="5027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4A3C0F5-CECE-4C21-A810-1A4BA2766A36}"/>
              </a:ext>
            </a:extLst>
          </p:cNvPr>
          <p:cNvSpPr/>
          <p:nvPr/>
        </p:nvSpPr>
        <p:spPr>
          <a:xfrm>
            <a:off x="5655128" y="2686343"/>
            <a:ext cx="881743" cy="5027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F7DF7699-FC06-4998-AB6A-BF54BBD757B3}"/>
              </a:ext>
            </a:extLst>
          </p:cNvPr>
          <p:cNvSpPr/>
          <p:nvPr/>
        </p:nvSpPr>
        <p:spPr>
          <a:xfrm>
            <a:off x="5655128" y="4213358"/>
            <a:ext cx="881743" cy="5027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14C334-07E7-4C2E-AF9E-263BFFE42189}"/>
              </a:ext>
            </a:extLst>
          </p:cNvPr>
          <p:cNvSpPr txBox="1"/>
          <p:nvPr/>
        </p:nvSpPr>
        <p:spPr>
          <a:xfrm>
            <a:off x="6931291" y="2686343"/>
            <a:ext cx="43474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새로운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정보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하나가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아니라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상황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밖에서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바라보는</a:t>
            </a:r>
            <a:r>
              <a:rPr lang="zh-CN" altLang="ko-KR" sz="1800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독립적인</a:t>
            </a:r>
            <a:r>
              <a:rPr lang="zh-CN" altLang="ko-KR" sz="1800" b="1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외부</a:t>
            </a:r>
            <a:r>
              <a:rPr lang="zh-CN" altLang="ko-KR" sz="1800" b="1" dirty="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검증</a:t>
            </a:r>
            <a:endParaRPr lang="ko-KR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C957E6-A307-47C6-B58D-D70BFBEFAC7C}"/>
              </a:ext>
            </a:extLst>
          </p:cNvPr>
          <p:cNvSpPr txBox="1"/>
          <p:nvPr/>
        </p:nvSpPr>
        <p:spPr>
          <a:xfrm>
            <a:off x="6807648" y="4216062"/>
            <a:ext cx="4347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ko-KR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외부 검증이 이루어지는 동안 금융행동도 잠시 멈출 수 있어야 한다</a:t>
            </a:r>
            <a:r>
              <a:rPr lang="en-US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DC9F58-8390-43C4-8A0E-3C23115E8049}"/>
              </a:ext>
            </a:extLst>
          </p:cNvPr>
          <p:cNvSpPr txBox="1"/>
          <p:nvPr/>
        </p:nvSpPr>
        <p:spPr>
          <a:xfrm>
            <a:off x="2606105" y="5502257"/>
            <a:ext cx="74369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AI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가 위험을 탐지한다</a:t>
            </a:r>
            <a:r>
              <a:rPr lang="en-US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b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외부의 독립적인 주체가 상황을 검증한다</a:t>
            </a:r>
            <a:r>
              <a:rPr lang="en-US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b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그리고 검증이 완료될 때까지 위험한 금융거래를 잠시 보류한다</a:t>
            </a:r>
            <a:r>
              <a:rPr lang="en-US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068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D06966F-6DEA-4463-AB1F-4B64A1455F0E}"/>
              </a:ext>
            </a:extLst>
          </p:cNvPr>
          <p:cNvSpPr txBox="1"/>
          <p:nvPr/>
        </p:nvSpPr>
        <p:spPr>
          <a:xfrm>
            <a:off x="3049361" y="762391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400"/>
              </a:spcAft>
            </a:pPr>
            <a:r>
              <a:rPr lang="en-US" altLang="ko-KR" sz="1800" b="1" kern="0" dirty="0">
                <a:solidFill>
                  <a:srgbClr val="0F4761"/>
                </a:solidFill>
                <a:effectLst/>
                <a:latin typeface="Aptos Display"/>
                <a:ea typeface="맑은 고딕" panose="020B0503020000020004" pitchFamily="50" charset="-127"/>
                <a:cs typeface="Times New Roman" panose="02020603050405020304" pitchFamily="18" charset="0"/>
              </a:rPr>
              <a:t>9. </a:t>
            </a:r>
            <a:r>
              <a:rPr lang="zh-CN" altLang="ko-KR" sz="1800" b="1" kern="0" dirty="0">
                <a:solidFill>
                  <a:srgbClr val="0F4761"/>
                </a:solidFill>
                <a:effectLst/>
                <a:latin typeface="Aptos Display"/>
                <a:ea typeface="맑은 고딕" panose="020B0503020000020004" pitchFamily="50" charset="-127"/>
                <a:cs typeface="Times New Roman" panose="02020603050405020304" pitchFamily="18" charset="0"/>
              </a:rPr>
              <a:t>판단과 송금 사이에</a:t>
            </a:r>
            <a:r>
              <a:rPr lang="en-US" altLang="ko-KR" sz="1800" b="1" kern="0" dirty="0">
                <a:solidFill>
                  <a:srgbClr val="0F4761"/>
                </a:solidFill>
                <a:effectLst/>
                <a:latin typeface="Aptos Display"/>
                <a:ea typeface="맑은 고딕" panose="020B0503020000020004" pitchFamily="50" charset="-127"/>
                <a:cs typeface="Times New Roman" panose="02020603050405020304" pitchFamily="18" charset="0"/>
              </a:rPr>
              <a:t> ‘</a:t>
            </a:r>
            <a:r>
              <a:rPr lang="zh-CN" altLang="ko-KR" sz="1800" b="1" kern="0" dirty="0">
                <a:solidFill>
                  <a:srgbClr val="0F4761"/>
                </a:solidFill>
                <a:effectLst/>
                <a:latin typeface="Aptos Display"/>
                <a:ea typeface="맑은 고딕" panose="020B0503020000020004" pitchFamily="50" charset="-127"/>
                <a:cs typeface="Times New Roman" panose="02020603050405020304" pitchFamily="18" charset="0"/>
              </a:rPr>
              <a:t>금융 방지턱</a:t>
            </a:r>
            <a:r>
              <a:rPr lang="en-US" altLang="ko-KR" sz="1800" b="1" kern="0" dirty="0">
                <a:solidFill>
                  <a:srgbClr val="0F4761"/>
                </a:solidFill>
                <a:effectLst/>
                <a:latin typeface="Aptos Display"/>
                <a:ea typeface="맑은 고딕" panose="020B0503020000020004" pitchFamily="50" charset="-127"/>
                <a:cs typeface="Times New Roman" panose="02020603050405020304" pitchFamily="18" charset="0"/>
              </a:rPr>
              <a:t>’</a:t>
            </a:r>
            <a:r>
              <a:rPr lang="zh-CN" altLang="ko-KR" sz="1800" b="1" kern="0" dirty="0">
                <a:solidFill>
                  <a:srgbClr val="0F4761"/>
                </a:solidFill>
                <a:effectLst/>
                <a:latin typeface="Aptos Display"/>
                <a:ea typeface="맑은 고딕" panose="020B0503020000020004" pitchFamily="50" charset="-127"/>
                <a:cs typeface="Times New Roman" panose="02020603050405020304" pitchFamily="18" charset="0"/>
              </a:rPr>
              <a:t>을 만든다</a:t>
            </a:r>
            <a:endParaRPr lang="ko-KR" altLang="ko-KR" sz="1800" b="1" kern="0" dirty="0">
              <a:solidFill>
                <a:srgbClr val="0F4761"/>
              </a:solidFill>
              <a:effectLst/>
              <a:latin typeface="Aptos Display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5C85C8-A2A9-40BD-A344-BAFAB77D4192}"/>
              </a:ext>
            </a:extLst>
          </p:cNvPr>
          <p:cNvSpPr txBox="1"/>
          <p:nvPr/>
        </p:nvSpPr>
        <p:spPr>
          <a:xfrm>
            <a:off x="359229" y="163285"/>
            <a:ext cx="2626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해결방안 </a:t>
            </a:r>
            <a:r>
              <a:rPr lang="en-US" altLang="ko-KR" dirty="0"/>
              <a:t>– </a:t>
            </a:r>
            <a:r>
              <a:rPr lang="ko-KR" altLang="en-US" dirty="0"/>
              <a:t>서비스 제아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953889-3279-4872-85FE-E79D5B517789}"/>
              </a:ext>
            </a:extLst>
          </p:cNvPr>
          <p:cNvSpPr txBox="1"/>
          <p:nvPr/>
        </p:nvSpPr>
        <p:spPr>
          <a:xfrm>
            <a:off x="1595437" y="1229694"/>
            <a:ext cx="9001125" cy="2423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zh-CN" altLang="ko-KR" sz="120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기존 구조에서는 피해자의 판단이 흔들려도 곧바로 송금으로 이어질 수 있다</a:t>
            </a:r>
            <a:r>
              <a:rPr lang="en-US" altLang="ko-KR" sz="120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20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zh-CN" altLang="ko-KR" sz="120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범죄자의 조작이 발생하고</a:t>
            </a:r>
            <a:r>
              <a:rPr lang="en-US" altLang="ko-KR" sz="120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20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피해자의 판단이 흔들리고</a:t>
            </a:r>
            <a:r>
              <a:rPr lang="en-US" altLang="ko-KR" sz="120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20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그 상태에서 송금이 이루어지면 피해가 발생한다</a:t>
            </a:r>
            <a:r>
              <a:rPr lang="en-US" altLang="ko-KR" sz="120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20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zh-CN" altLang="ko-KR" sz="120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우리는 이 과정의 </a:t>
            </a:r>
            <a:r>
              <a:rPr lang="en-US" altLang="ko-KR" sz="1200" b="1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‘</a:t>
            </a:r>
            <a:r>
              <a:rPr lang="zh-CN" altLang="ko-KR" sz="1200" b="1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판단과 송금 사이</a:t>
            </a:r>
            <a:r>
              <a:rPr lang="en-US" altLang="ko-KR" sz="1200" b="1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’</a:t>
            </a:r>
            <a:r>
              <a:rPr lang="zh-CN" altLang="ko-KR" sz="120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에 새로운 보호구간을 넣고자 한다</a:t>
            </a:r>
            <a:r>
              <a:rPr lang="en-US" altLang="ko-KR" sz="120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20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en-US" altLang="ko-KR" sz="120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AI</a:t>
            </a:r>
            <a:r>
              <a:rPr lang="zh-CN" altLang="ko-KR" sz="120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가 통화 속 위험신호를 탐지하고</a:t>
            </a:r>
            <a:r>
              <a:rPr lang="en-US" altLang="ko-KR" sz="120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20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피해자 외부의 신뢰인과 금융기관 등이 상황을 검토하며</a:t>
            </a:r>
            <a:r>
              <a:rPr lang="en-US" altLang="ko-KR" sz="120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20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그 과정이 끝날 때까지 위험한 거래를 일시적으로 보류하는 것이다</a:t>
            </a:r>
            <a:r>
              <a:rPr lang="en-US" altLang="ko-KR" sz="120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20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zh-CN" altLang="ko-KR" sz="120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이 서비스는 피해자의 판단을 완전히 대신하는 시스템을 목표로 하지 않는다</a:t>
            </a:r>
            <a:r>
              <a:rPr lang="en-US" altLang="ko-KR" sz="120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20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zh-CN" altLang="ko-KR" sz="120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대신</a:t>
            </a:r>
            <a:r>
              <a:rPr lang="zh-CN" altLang="ko-KR" sz="120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b="1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잘못된</a:t>
            </a:r>
            <a:r>
              <a:rPr lang="zh-CN" altLang="ko-KR" sz="1200" b="1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b="1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판단이</a:t>
            </a:r>
            <a:r>
              <a:rPr lang="zh-CN" altLang="ko-KR" sz="1200" b="1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b="1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즉시</a:t>
            </a:r>
            <a:r>
              <a:rPr lang="zh-CN" altLang="ko-KR" sz="1200" b="1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b="1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금융피해로</a:t>
            </a:r>
            <a:r>
              <a:rPr lang="zh-CN" altLang="ko-KR" sz="1200" b="1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b="1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연결되지</a:t>
            </a:r>
            <a:r>
              <a:rPr lang="zh-CN" altLang="ko-KR" sz="1200" b="1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b="1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않도록</a:t>
            </a:r>
            <a:r>
              <a:rPr lang="zh-CN" altLang="ko-KR" sz="1200" b="1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b="1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한</a:t>
            </a:r>
            <a:r>
              <a:rPr lang="zh-CN" altLang="ko-KR" sz="1200" b="1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b="1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번</a:t>
            </a:r>
            <a:r>
              <a:rPr lang="zh-CN" altLang="ko-KR" sz="1200" b="1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b="1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더</a:t>
            </a:r>
            <a:r>
              <a:rPr lang="zh-CN" altLang="ko-KR" sz="1200" b="1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b="1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멈춰</a:t>
            </a:r>
            <a:r>
              <a:rPr lang="zh-CN" altLang="ko-KR" sz="1200" b="1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b="1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세우는</a:t>
            </a:r>
            <a:r>
              <a:rPr lang="zh-CN" altLang="ko-KR" sz="1200" b="1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b="1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금융</a:t>
            </a:r>
            <a:r>
              <a:rPr lang="zh-CN" altLang="ko-KR" sz="1200" b="1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 b="1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방지턱</a:t>
            </a:r>
            <a:r>
              <a:rPr lang="zh-CN" altLang="ko-KR" sz="120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을</a:t>
            </a:r>
            <a:r>
              <a:rPr lang="zh-CN" altLang="ko-KR" sz="120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만드는</a:t>
            </a:r>
            <a:r>
              <a:rPr lang="zh-CN" altLang="ko-KR" sz="120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것을</a:t>
            </a:r>
            <a:r>
              <a:rPr lang="zh-CN" altLang="ko-KR" sz="120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목표로</a:t>
            </a:r>
            <a:r>
              <a:rPr lang="zh-CN" altLang="ko-KR" sz="120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zh-CN" altLang="ko-KR" sz="120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한다</a:t>
            </a:r>
            <a:r>
              <a:rPr lang="en-US" altLang="ko-KR" sz="120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E7355F-6CF5-4D9D-84C0-2C4AFFF3C8A9}"/>
              </a:ext>
            </a:extLst>
          </p:cNvPr>
          <p:cNvSpPr txBox="1"/>
          <p:nvPr/>
        </p:nvSpPr>
        <p:spPr>
          <a:xfrm>
            <a:off x="1122589" y="4729342"/>
            <a:ext cx="9952264" cy="553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  <a:spcAft>
                <a:spcPts val="400"/>
              </a:spcAft>
            </a:pPr>
            <a:r>
              <a:rPr lang="en-US" altLang="ko-KR" sz="3200" b="1" kern="0" dirty="0">
                <a:solidFill>
                  <a:srgbClr val="0F4761"/>
                </a:solidFill>
                <a:effectLst/>
                <a:latin typeface="Aptos Display"/>
                <a:ea typeface="맑은 고딕" panose="020B0503020000020004" pitchFamily="50" charset="-127"/>
                <a:cs typeface="Times New Roman" panose="02020603050405020304" pitchFamily="18" charset="0"/>
              </a:rPr>
              <a:t>10. </a:t>
            </a:r>
            <a:r>
              <a:rPr lang="zh-CN" altLang="ko-KR" sz="3200" b="1" kern="0" dirty="0">
                <a:solidFill>
                  <a:srgbClr val="0F4761"/>
                </a:solidFill>
                <a:effectLst/>
                <a:latin typeface="Aptos Display"/>
                <a:ea typeface="맑은 고딕" panose="020B0503020000020004" pitchFamily="50" charset="-127"/>
                <a:cs typeface="Times New Roman" panose="02020603050405020304" pitchFamily="18" charset="0"/>
              </a:rPr>
              <a:t>해결방안</a:t>
            </a:r>
            <a:r>
              <a:rPr lang="en-US" altLang="ko-KR" sz="3200" b="1" kern="0" dirty="0">
                <a:solidFill>
                  <a:srgbClr val="0F4761"/>
                </a:solidFill>
                <a:effectLst/>
                <a:latin typeface="Aptos Display"/>
                <a:ea typeface="맑은 고딕" panose="020B0503020000020004" pitchFamily="50" charset="-127"/>
                <a:cs typeface="Times New Roman" panose="02020603050405020304" pitchFamily="18" charset="0"/>
              </a:rPr>
              <a:t> — AI </a:t>
            </a:r>
            <a:r>
              <a:rPr lang="zh-CN" altLang="ko-KR" sz="3200" b="1" kern="0" dirty="0">
                <a:solidFill>
                  <a:srgbClr val="0F4761"/>
                </a:solidFill>
                <a:effectLst/>
                <a:latin typeface="Aptos Display"/>
                <a:ea typeface="맑은 고딕" panose="020B0503020000020004" pitchFamily="50" charset="-127"/>
                <a:cs typeface="Times New Roman" panose="02020603050405020304" pitchFamily="18" charset="0"/>
              </a:rPr>
              <a:t>독립검증형 송금방지턱</a:t>
            </a:r>
            <a:endParaRPr lang="ko-KR" altLang="ko-KR" sz="3200" b="1" kern="0" dirty="0">
              <a:solidFill>
                <a:srgbClr val="0F4761"/>
              </a:solidFill>
              <a:effectLst/>
              <a:latin typeface="Aptos Display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이를 구현하기 위해 제안하는 서비스가 </a:t>
            </a:r>
            <a:r>
              <a:rPr lang="en-US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‘AI </a:t>
            </a:r>
            <a:r>
              <a:rPr lang="zh-CN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독립검증형 송금방지턱</a:t>
            </a:r>
            <a:r>
              <a:rPr lang="en-US" altLang="ko-KR" sz="18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’</a:t>
            </a:r>
            <a:r>
              <a:rPr lang="zh-CN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이다</a:t>
            </a:r>
            <a:r>
              <a:rPr lang="en-US" altLang="ko-KR" sz="18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endParaRPr lang="en-US" altLang="ko-KR" sz="1000" dirty="0"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zh-CN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이를 구현하기 위해 제안하는 서비스가 </a:t>
            </a:r>
            <a:r>
              <a:rPr lang="en-US" altLang="ko-KR" sz="10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‘AI </a:t>
            </a:r>
            <a:r>
              <a:rPr lang="zh-CN" altLang="ko-KR" sz="10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독립검증형 송금방지턱</a:t>
            </a:r>
            <a:r>
              <a:rPr lang="en-US" altLang="ko-KR" sz="10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’</a:t>
            </a:r>
            <a:r>
              <a:rPr lang="zh-CN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이다</a:t>
            </a:r>
            <a: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0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zh-CN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이 서비스는 통화 중</a:t>
            </a:r>
            <a: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 AI</a:t>
            </a:r>
            <a:r>
              <a:rPr lang="zh-CN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가 보이스피싱 위험을 탐지하고</a:t>
            </a:r>
            <a: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고위험 송금이 발생할 경우 거래를 즉시 실행하지 않는다</a:t>
            </a:r>
            <a: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0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zh-CN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대신 사전에 등록된 신뢰인의 거래 검토와 금융기관의 독립적인 보호조치를 거치도록 한다</a:t>
            </a:r>
            <a: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zh-CN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기관사칭과 같이 추가적인 확인이 필요한 경우에는 공식기관의 진위확인까지 연결하는 다중검증형 금융안전 구조를 지향한다</a:t>
            </a:r>
            <a: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0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zh-CN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서비스의 핵심 기능은 크게 다섯 가지다</a:t>
            </a:r>
            <a: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0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zh-CN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첫째</a:t>
            </a:r>
            <a: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en-US" altLang="ko-KR" sz="10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AI </a:t>
            </a:r>
            <a:r>
              <a:rPr lang="zh-CN" altLang="ko-KR" sz="10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통화 위험 탐지</a:t>
            </a:r>
            <a:r>
              <a:rPr lang="zh-CN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다</a:t>
            </a:r>
            <a: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0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zh-CN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둘째</a:t>
            </a:r>
            <a: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0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위험도와 판단근거 산출</a:t>
            </a:r>
            <a:r>
              <a:rPr lang="zh-CN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이다</a:t>
            </a:r>
            <a: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0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zh-CN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셋째</a:t>
            </a:r>
            <a: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0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피해자와 신뢰인</a:t>
            </a:r>
            <a:r>
              <a:rPr lang="en-US" altLang="ko-KR" sz="10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0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금융기관 등 각 관계자에게 필요한 역할별 맞춤 알림과 브리프 제공</a:t>
            </a:r>
            <a:r>
              <a:rPr lang="zh-CN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이다</a:t>
            </a:r>
            <a: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0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zh-CN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넷째</a:t>
            </a:r>
            <a: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0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신뢰인의 공동검토를 포함한 송금방지턱</a:t>
            </a:r>
            <a:r>
              <a:rPr lang="zh-CN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이다</a:t>
            </a:r>
            <a: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0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r>
              <a:rPr lang="zh-CN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다섯째</a:t>
            </a:r>
            <a: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zh-CN" altLang="ko-KR" sz="1000" b="1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금융기관 및 필요 시 공식기관까지 연결되는 독립검증 구조</a:t>
            </a:r>
            <a:r>
              <a:rPr lang="zh-CN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다</a:t>
            </a:r>
            <a:r>
              <a:rPr lang="en-US" altLang="ko-KR" sz="1000" dirty="0">
                <a:effectLst/>
                <a:latin typeface="Aptos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0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900"/>
              </a:spcAft>
            </a:pPr>
            <a:endParaRPr lang="ko-KR" altLang="ko-KR" sz="1800" dirty="0">
              <a:effectLst/>
              <a:latin typeface="Aptos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155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9409-D428-4C60-8233-CA56BBD21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97CA8-6BCD-4642-ADA3-500972405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102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8223D0-F44C-426A-A80D-C60ECD2658C7}"/>
              </a:ext>
            </a:extLst>
          </p:cNvPr>
          <p:cNvSpPr txBox="1"/>
          <p:nvPr/>
        </p:nvSpPr>
        <p:spPr>
          <a:xfrm>
            <a:off x="273504" y="321519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17P. </a:t>
            </a:r>
            <a:r>
              <a:rPr lang="ko-KR" altLang="en-US" dirty="0"/>
              <a:t>관계자마다 서로 다른 역할로 개입한다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846DE4-DBE7-40F1-8BC1-D25F25C17E5F}"/>
              </a:ext>
            </a:extLst>
          </p:cNvPr>
          <p:cNvGraphicFramePr>
            <a:graphicFrameLocks noGrp="1"/>
          </p:cNvGraphicFramePr>
          <p:nvPr/>
        </p:nvGraphicFramePr>
        <p:xfrm>
          <a:off x="1887378" y="928029"/>
          <a:ext cx="8417243" cy="2377440"/>
        </p:xfrm>
        <a:graphic>
          <a:graphicData uri="http://schemas.openxmlformats.org/drawingml/2006/table">
            <a:tbl>
              <a:tblPr/>
              <a:tblGrid>
                <a:gridCol w="1406843">
                  <a:extLst>
                    <a:ext uri="{9D8B030D-6E8A-4147-A177-3AD203B41FA5}">
                      <a16:colId xmlns:a16="http://schemas.microsoft.com/office/drawing/2014/main" val="101558334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4618403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651997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주체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제공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786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피해자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위험도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근거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</a:rPr>
                        <a:t>행동안내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통화 종료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재확인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998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신뢰인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상황요약</a:t>
                      </a:r>
                      <a:r>
                        <a:rPr lang="en-US" altLang="ko-KR" dirty="0"/>
                        <a:t>·AI</a:t>
                      </a:r>
                      <a:r>
                        <a:rPr lang="ko-KR" altLang="en-US" dirty="0"/>
                        <a:t>분석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요구 금액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대화 안에서 나오는 요구하는 금액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거래별 필수 공동검토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1806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금융기관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거래위험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요구 금액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대화 안에서 나오는 요구하는 금액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추가확인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보류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차단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3509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기관담당자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사칭정보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확인요청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공식 진위검증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699065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024D0C9-2498-4F02-ADCC-840991FFB7A4}"/>
              </a:ext>
            </a:extLst>
          </p:cNvPr>
          <p:cNvSpPr txBox="1"/>
          <p:nvPr/>
        </p:nvSpPr>
        <p:spPr>
          <a:xfrm>
            <a:off x="681718" y="3552532"/>
            <a:ext cx="6098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동일한 정보를 모두에게 보내는 것이 아니라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각 주체에게 필요한 정보와 권한만 제공한다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9A9BC6-D866-496A-AC29-181CC0150F75}"/>
              </a:ext>
            </a:extLst>
          </p:cNvPr>
          <p:cNvSpPr/>
          <p:nvPr/>
        </p:nvSpPr>
        <p:spPr>
          <a:xfrm>
            <a:off x="518727" y="4326458"/>
            <a:ext cx="8247644" cy="16035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행동안내</a:t>
            </a:r>
            <a:r>
              <a:rPr lang="en-US" altLang="ko-KR" dirty="0"/>
              <a:t> : </a:t>
            </a:r>
            <a:r>
              <a:rPr lang="ko-KR" altLang="en-US" dirty="0"/>
              <a:t>보이스피싱 당하고 있다면</a:t>
            </a:r>
            <a:r>
              <a:rPr lang="en-US" altLang="ko-KR" dirty="0"/>
              <a:t>? -- </a:t>
            </a:r>
            <a:r>
              <a:rPr lang="ko-KR" altLang="en-US" dirty="0"/>
              <a:t>행동수칙</a:t>
            </a:r>
            <a:r>
              <a:rPr lang="en-US" altLang="ko-KR" dirty="0"/>
              <a:t>! </a:t>
            </a:r>
            <a:r>
              <a:rPr lang="ko-KR" altLang="en-US" dirty="0"/>
              <a:t>찾기</a:t>
            </a:r>
            <a:endParaRPr lang="en-US" altLang="ko-K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A5A640-7D27-4BBC-867C-0F2633B4E9E1}"/>
              </a:ext>
            </a:extLst>
          </p:cNvPr>
          <p:cNvSpPr/>
          <p:nvPr/>
        </p:nvSpPr>
        <p:spPr>
          <a:xfrm>
            <a:off x="10710181" y="392765"/>
            <a:ext cx="964748" cy="6087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정희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4F9BE79D-AC1C-493D-BF94-21114226E997}"/>
              </a:ext>
            </a:extLst>
          </p:cNvPr>
          <p:cNvSpPr/>
          <p:nvPr/>
        </p:nvSpPr>
        <p:spPr>
          <a:xfrm>
            <a:off x="1410985" y="1837267"/>
            <a:ext cx="330200" cy="6463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5B6E5F-00FC-481B-9C0E-75C9DC529628}"/>
              </a:ext>
            </a:extLst>
          </p:cNvPr>
          <p:cNvSpPr txBox="1"/>
          <p:nvPr/>
        </p:nvSpPr>
        <p:spPr>
          <a:xfrm>
            <a:off x="248708" y="1975766"/>
            <a:ext cx="1173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우리 </a:t>
            </a:r>
            <a:r>
              <a:rPr lang="en-US" altLang="ko-KR" dirty="0"/>
              <a:t>AI</a:t>
            </a:r>
            <a:r>
              <a:rPr lang="ko-KR" altLang="en-US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2127200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9114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2533</Words>
  <Application>Microsoft Office PowerPoint</Application>
  <PresentationFormat>Widescreen</PresentationFormat>
  <Paragraphs>154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맑은 고딕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mbc</dc:creator>
  <cp:lastModifiedBy>mbc</cp:lastModifiedBy>
  <cp:revision>4</cp:revision>
  <dcterms:created xsi:type="dcterms:W3CDTF">2026-08-25T03:26:28Z</dcterms:created>
  <dcterms:modified xsi:type="dcterms:W3CDTF">2026-08-25T06:10:13Z</dcterms:modified>
</cp:coreProperties>
</file>