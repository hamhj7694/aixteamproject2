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89" r:id="rId3"/>
    <p:sldId id="282" r:id="rId4"/>
    <p:sldId id="283" r:id="rId5"/>
    <p:sldId id="284" r:id="rId6"/>
    <p:sldId id="285" r:id="rId7"/>
    <p:sldId id="286" r:id="rId8"/>
    <p:sldId id="298" r:id="rId9"/>
    <p:sldId id="288" r:id="rId10"/>
    <p:sldId id="257" r:id="rId11"/>
    <p:sldId id="258" r:id="rId12"/>
    <p:sldId id="259" r:id="rId13"/>
    <p:sldId id="261" r:id="rId14"/>
    <p:sldId id="262" r:id="rId15"/>
    <p:sldId id="263" r:id="rId16"/>
    <p:sldId id="264" r:id="rId17"/>
    <p:sldId id="265" r:id="rId18"/>
    <p:sldId id="268" r:id="rId19"/>
    <p:sldId id="266" r:id="rId20"/>
    <p:sldId id="267" r:id="rId21"/>
    <p:sldId id="269" r:id="rId22"/>
    <p:sldId id="270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4C2C-DE73-45C1-BA1F-AB56F673D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08468-4724-4881-963F-53BABAD69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C4E91-E115-44FA-960E-C9C81AF11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6B842-BB4D-41B1-8242-250494DD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D85B-F868-409B-9DD5-14E5A090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39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9FE1-4611-411B-ABED-98CEB1C5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1F50-F463-4F4F-8845-9A18F3F53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9B37F-E058-43E7-AC96-DA2EA368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E94B4-CC0F-44D3-85C0-CC49B2B5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CDE7F-20D7-439D-9488-62E8446D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039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3136-F6CC-4452-BD48-D7D35E80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3432D-274C-4725-906B-5EA860C78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6247-6889-4324-8204-E2C3F67E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3E7B3-58C8-4EFF-A908-D6EDF4748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3580E-867F-4FA9-BBAB-9B96E489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643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EB0C-AAA5-4E52-AFA7-EA310AAC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715AF-24B1-4A20-B1FF-4D236B2DB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975BE-7D3D-4713-B550-684C8B6A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23BD3-E980-4423-BA32-C324E23F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E9AB9-8B50-4678-9924-9C659099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E85D9-E958-4009-BCEF-BBBE46AB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84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64A8-E4C5-4D2D-9A44-A2D4EFEAB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B0BBA-DB14-4248-A306-99867DC91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57C38-C322-4F8E-B891-24B8BCBD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5F487-D580-4D68-8088-926F80310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59B7D-68E7-46A7-90A8-5D060B32A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A483F-6E72-4DBE-9F67-EE3EEE84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4B517-D8A5-47DF-8CBD-04580392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66D0E-665D-418F-8636-D2BFCCD0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71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2B211-7CCC-46BC-9C3A-54C0DAE6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59E32-7108-462E-94CE-E33124B0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76035-3DF9-4EAA-B7DC-7F07E9992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9BACE-589A-43E0-8F1D-10A8A0AB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634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DDB30-B534-4049-91C5-04E119CA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4935C-A3B1-458E-A26D-3A14C345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23806-4D6E-4DFD-802C-10AF290A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75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3228-6301-4F50-BBE5-9D55CA81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DD139-449C-4D8A-8BBD-1BD37877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ACA29-8A9C-41EC-B1CB-B7331CE37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BE12E-6A97-4D8F-B89C-0802CB43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77114-2EC1-435B-89F9-EED92E45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FE424-8BCE-41C3-9736-0A33C4A2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07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759-E34B-4468-B314-891B8C7E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48589-48B0-4339-B95F-88D1BB0EC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2F595-AFA2-4FB1-AF0B-C50965919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50344-3C06-4209-84EA-1C831E7B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256EF-E710-47DF-8E93-0F36BE86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8A444-F704-4C4C-8832-A4751A84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55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5866-FDD3-4BEE-8139-F2E9B6BD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118A1-2B05-49A2-8561-9CB6A58A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F6FD7-4D6A-4263-8680-9E6F8951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28803-F7B6-4C4A-ADB8-146B8683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2A4C8-8677-4833-B438-1C6F756F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05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2FE1F-1AD3-40F8-946E-CFB629F5D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0E02B-0402-4819-B91E-78568FBA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4E24-81E1-4666-8BD4-D111290C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E0BE1-0D48-4494-9505-388DE765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1143E-618B-4419-8DB2-6A9CA17A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4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58376-8D70-49DE-8D90-F879D348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F8E94-FA2A-418C-B721-1B9A9959A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8E92B-6FB7-4BF3-80B8-1D3803119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AAF83-EAB9-43B3-B51E-EE2A745154B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372E8-1F48-4D80-B206-7AA77FFCC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92A54-E67B-423A-923A-80F39DFAA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6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AB4A-2487-4F5A-AA9D-9C09C2AB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37" y="5113589"/>
            <a:ext cx="10515600" cy="1325563"/>
          </a:xfrm>
        </p:spPr>
        <p:txBody>
          <a:bodyPr/>
          <a:lstStyle/>
          <a:p>
            <a:r>
              <a:rPr lang="ko-KR" altLang="en-US"/>
              <a:t>기능</a:t>
            </a:r>
            <a:r>
              <a:rPr lang="en-US" altLang="ko-KR" dirty="0"/>
              <a:t>&amp;</a:t>
            </a:r>
            <a:r>
              <a:rPr lang="ko-KR" altLang="en-US" dirty="0"/>
              <a:t>기술</a:t>
            </a:r>
          </a:p>
        </p:txBody>
      </p:sp>
    </p:spTree>
    <p:extLst>
      <p:ext uri="{BB962C8B-B14F-4D97-AF65-F5344CB8AC3E}">
        <p14:creationId xmlns:p14="http://schemas.microsoft.com/office/powerpoint/2010/main" val="4271462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AB4A-2487-4F5A-AA9D-9C09C2AB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37" y="5113589"/>
            <a:ext cx="10515600" cy="1325563"/>
          </a:xfrm>
        </p:spPr>
        <p:txBody>
          <a:bodyPr/>
          <a:lstStyle/>
          <a:p>
            <a:r>
              <a:rPr lang="ko-KR" altLang="en-US" dirty="0"/>
              <a:t>작동 트리거</a:t>
            </a:r>
          </a:p>
        </p:txBody>
      </p:sp>
    </p:spTree>
    <p:extLst>
      <p:ext uri="{BB962C8B-B14F-4D97-AF65-F5344CB8AC3E}">
        <p14:creationId xmlns:p14="http://schemas.microsoft.com/office/powerpoint/2010/main" val="4064862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2D0994-16C3-4AA6-9249-7CBFC4120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31186"/>
              </p:ext>
            </p:extLst>
          </p:nvPr>
        </p:nvGraphicFramePr>
        <p:xfrm>
          <a:off x="334879" y="330660"/>
          <a:ext cx="10515600" cy="2743200"/>
        </p:xfrm>
        <a:graphic>
          <a:graphicData uri="http://schemas.openxmlformats.org/drawingml/2006/table">
            <a:tbl>
              <a:tblPr/>
              <a:tblGrid>
                <a:gridCol w="2578768">
                  <a:extLst>
                    <a:ext uri="{9D8B030D-6E8A-4147-A177-3AD203B41FA5}">
                      <a16:colId xmlns:a16="http://schemas.microsoft.com/office/drawing/2014/main" val="658096133"/>
                    </a:ext>
                  </a:extLst>
                </a:gridCol>
                <a:gridCol w="4431632">
                  <a:extLst>
                    <a:ext uri="{9D8B030D-6E8A-4147-A177-3AD203B41FA5}">
                      <a16:colId xmlns:a16="http://schemas.microsoft.com/office/drawing/2014/main" val="18925356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11697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시점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감지하는 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서비스 동작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066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전화 수신 전</a:t>
                      </a:r>
                      <a:r>
                        <a:rPr lang="en-US" altLang="ko-KR" b="1"/>
                        <a:t>/</a:t>
                      </a:r>
                      <a:r>
                        <a:rPr lang="ko-KR" altLang="en-US" b="1"/>
                        <a:t>직후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ASAP·</a:t>
                      </a:r>
                      <a:r>
                        <a:rPr lang="ko-KR" altLang="en-US"/>
                        <a:t>통신사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신고이력 등에서 위험번호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주의가 필요한 전화입니다 → 위험분석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79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통화 중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사용자가 직접 의심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통화 위험분석 버튼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161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통화 중 은행앱 실행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통화하면서 은행앱 진입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강한 경고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분석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834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송금 화면 진입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신규 수취인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고액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이상거래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FDS </a:t>
                      </a:r>
                      <a:r>
                        <a:rPr lang="ko-KR" altLang="en-US"/>
                        <a:t>판단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분석 시작 제안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200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FDS/ASAP </a:t>
                      </a:r>
                      <a:r>
                        <a:rPr lang="ko-KR" altLang="en-US" b="1"/>
                        <a:t>위험 탐지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의심계좌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의심번호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이상거래 결합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거래 보류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추가확인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필요하면 통화분석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2898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60EBBE-B749-4F78-ACD8-DFD47B0207AF}"/>
              </a:ext>
            </a:extLst>
          </p:cNvPr>
          <p:cNvSpPr txBox="1"/>
          <p:nvPr/>
        </p:nvSpPr>
        <p:spPr>
          <a:xfrm>
            <a:off x="334879" y="3517441"/>
            <a:ext cx="4920916" cy="4247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전화가 옴</a:t>
            </a:r>
          </a:p>
          <a:p>
            <a:r>
              <a:rPr lang="ko-KR" altLang="en-US" dirty="0"/>
              <a:t> ↓</a:t>
            </a:r>
          </a:p>
          <a:p>
            <a:r>
              <a:rPr lang="ko-KR" altLang="en-US" dirty="0"/>
              <a:t>[녹음 X]</a:t>
            </a:r>
          </a:p>
          <a:p>
            <a:endParaRPr lang="ko-KR" altLang="en-US" dirty="0"/>
          </a:p>
          <a:p>
            <a:r>
              <a:rPr lang="ko-KR" altLang="en-US" dirty="0"/>
              <a:t>번호 / ASAP / 통신사 정보 확인</a:t>
            </a:r>
          </a:p>
          <a:p>
            <a:r>
              <a:rPr lang="ko-KR" altLang="en-US" dirty="0"/>
              <a:t> ↓</a:t>
            </a:r>
          </a:p>
          <a:p>
            <a:r>
              <a:rPr lang="ko-KR" altLang="en-US" dirty="0"/>
              <a:t>위험 신호 있음?</a:t>
            </a:r>
          </a:p>
          <a:p>
            <a:r>
              <a:rPr lang="ko-KR" altLang="en-US" dirty="0"/>
              <a:t> ├─ NO → 아무것도 하지 않음</a:t>
            </a:r>
          </a:p>
          <a:p>
            <a:r>
              <a:rPr lang="ko-KR" altLang="en-US" dirty="0"/>
              <a:t> └─ YES</a:t>
            </a:r>
          </a:p>
          <a:p>
            <a:r>
              <a:rPr lang="ko-KR" altLang="en-US" dirty="0"/>
              <a:t>         ↓</a:t>
            </a:r>
          </a:p>
          <a:p>
            <a:r>
              <a:rPr lang="ko-KR" altLang="en-US" dirty="0"/>
              <a:t> "보이스피싱 위험분석을 시작할까요?"</a:t>
            </a:r>
          </a:p>
          <a:p>
            <a:r>
              <a:rPr lang="ko-KR" altLang="en-US" dirty="0"/>
              <a:t>         ↓</a:t>
            </a:r>
          </a:p>
          <a:p>
            <a:r>
              <a:rPr lang="ko-KR" altLang="en-US" dirty="0"/>
              <a:t> 사용자 1회 선택</a:t>
            </a:r>
          </a:p>
          <a:p>
            <a:r>
              <a:rPr lang="ko-KR" altLang="en-US" dirty="0"/>
              <a:t>         ↓</a:t>
            </a:r>
          </a:p>
          <a:p>
            <a:r>
              <a:rPr lang="ko-KR" altLang="en-US" dirty="0"/>
              <a:t> 가능한 환경에서 통화 분석 시작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AACCDB-1096-4B75-A3F9-0DA85A48F34A}"/>
              </a:ext>
            </a:extLst>
          </p:cNvPr>
          <p:cNvSpPr txBox="1"/>
          <p:nvPr/>
        </p:nvSpPr>
        <p:spPr>
          <a:xfrm>
            <a:off x="5592679" y="351744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2026</a:t>
            </a:r>
            <a:r>
              <a:rPr lang="ko-KR" altLang="en-US"/>
              <a:t>년 </a:t>
            </a:r>
            <a:r>
              <a:rPr lang="en-US" altLang="ko-KR"/>
              <a:t>8</a:t>
            </a:r>
            <a:r>
              <a:rPr lang="ko-KR" altLang="en-US"/>
              <a:t>월 </a:t>
            </a:r>
            <a:r>
              <a:rPr lang="en-US" altLang="ko-KR"/>
              <a:t>4</a:t>
            </a:r>
            <a:r>
              <a:rPr lang="ko-KR" altLang="en-US"/>
              <a:t>일부터 </a:t>
            </a:r>
            <a:r>
              <a:rPr lang="en-US" altLang="ko-KR"/>
              <a:t>ASAP</a:t>
            </a:r>
            <a:r>
              <a:rPr lang="ko-KR" altLang="en-US"/>
              <a:t>은 금융회사뿐 아니라 </a:t>
            </a:r>
            <a:r>
              <a:rPr lang="ko-KR" altLang="en-US" b="1"/>
              <a:t>통신</a:t>
            </a:r>
            <a:r>
              <a:rPr lang="en-US" altLang="ko-KR" b="1"/>
              <a:t>·</a:t>
            </a:r>
            <a:r>
              <a:rPr lang="ko-KR" altLang="en-US" b="1"/>
              <a:t>수사기관의 보이스피싱 의심정보까지 공유하는 체계</a:t>
            </a:r>
            <a:r>
              <a:rPr lang="ko-KR" altLang="en-US"/>
              <a:t>로 확대됐고</a:t>
            </a:r>
            <a:r>
              <a:rPr lang="en-US" altLang="ko-KR"/>
              <a:t>, 8</a:t>
            </a:r>
            <a:r>
              <a:rPr lang="ko-KR" altLang="en-US"/>
              <a:t>월 </a:t>
            </a:r>
            <a:r>
              <a:rPr lang="en-US" altLang="ko-KR"/>
              <a:t>20</a:t>
            </a:r>
            <a:r>
              <a:rPr lang="ko-KR" altLang="en-US"/>
              <a:t>일 금융위 발표를 보면 은행들이 </a:t>
            </a:r>
            <a:r>
              <a:rPr lang="en-US" altLang="ko-KR"/>
              <a:t>ASAP </a:t>
            </a:r>
            <a:r>
              <a:rPr lang="ko-KR" altLang="en-US"/>
              <a:t>정보를 </a:t>
            </a:r>
            <a:r>
              <a:rPr lang="en-US" altLang="ko-KR" b="1"/>
              <a:t>FDS</a:t>
            </a:r>
            <a:r>
              <a:rPr lang="ko-KR" altLang="en-US" b="1"/>
              <a:t>와 연계하는 고도화</a:t>
            </a:r>
            <a:r>
              <a:rPr lang="ko-KR" altLang="en-US"/>
              <a:t>를 진행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6B4328-5E43-44A3-B19D-AE383134A704}"/>
              </a:ext>
            </a:extLst>
          </p:cNvPr>
          <p:cNvSpPr txBox="1"/>
          <p:nvPr/>
        </p:nvSpPr>
        <p:spPr>
          <a:xfrm>
            <a:off x="5753100" y="490243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전화번호</a:t>
            </a:r>
          </a:p>
          <a:p>
            <a:r>
              <a:rPr lang="ko-KR" altLang="en-US" dirty="0"/>
              <a:t>   ↓</a:t>
            </a:r>
          </a:p>
          <a:p>
            <a:r>
              <a:rPr lang="ko-KR" altLang="en-US" dirty="0"/>
              <a:t>통신사 / ASAP</a:t>
            </a:r>
          </a:p>
          <a:p>
            <a:r>
              <a:rPr lang="ko-KR" altLang="en-US" dirty="0"/>
              <a:t>   ↓</a:t>
            </a:r>
          </a:p>
          <a:p>
            <a:r>
              <a:rPr lang="ko-KR" altLang="en-US" dirty="0"/>
              <a:t>위험도 높음</a:t>
            </a:r>
          </a:p>
          <a:p>
            <a:r>
              <a:rPr lang="ko-KR" altLang="en-US" dirty="0"/>
              <a:t>   ↓</a:t>
            </a:r>
          </a:p>
          <a:p>
            <a:r>
              <a:rPr lang="ko-KR" altLang="en-US" dirty="0"/>
              <a:t>은행 앱 Push</a:t>
            </a:r>
          </a:p>
          <a:p>
            <a:endParaRPr lang="ko-KR" altLang="en-US" dirty="0"/>
          </a:p>
          <a:p>
            <a:r>
              <a:rPr lang="ko-KR" altLang="en-US" dirty="0"/>
              <a:t>⚠ 보이스피싱 관련 위험신호가 있는 전화입니다.</a:t>
            </a:r>
          </a:p>
          <a:p>
            <a:r>
              <a:rPr lang="ko-KR" altLang="en-US" dirty="0"/>
              <a:t>[실시간 위험분석]</a:t>
            </a:r>
          </a:p>
        </p:txBody>
      </p:sp>
    </p:spTree>
    <p:extLst>
      <p:ext uri="{BB962C8B-B14F-4D97-AF65-F5344CB8AC3E}">
        <p14:creationId xmlns:p14="http://schemas.microsoft.com/office/powerpoint/2010/main" val="378697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CD2CAC-BF1C-4C34-B307-7FF49499B872}"/>
              </a:ext>
            </a:extLst>
          </p:cNvPr>
          <p:cNvSpPr txBox="1"/>
          <p:nvPr/>
        </p:nvSpPr>
        <p:spPr>
          <a:xfrm>
            <a:off x="481263" y="910441"/>
            <a:ext cx="3352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사용자 통화 중</a:t>
            </a:r>
          </a:p>
          <a:p>
            <a:endParaRPr lang="ko-KR" altLang="en-US"/>
          </a:p>
          <a:p>
            <a:r>
              <a:rPr lang="ko-KR" altLang="en-US"/>
              <a:t>         ↓</a:t>
            </a:r>
          </a:p>
          <a:p>
            <a:endParaRPr lang="ko-KR" altLang="en-US"/>
          </a:p>
          <a:p>
            <a:r>
              <a:rPr lang="ko-KR" altLang="en-US"/>
              <a:t>은행앱 실행</a:t>
            </a:r>
          </a:p>
          <a:p>
            <a:r>
              <a:rPr lang="ko-KR" altLang="en-US"/>
              <a:t>         ↓</a:t>
            </a:r>
          </a:p>
          <a:p>
            <a:endParaRPr lang="ko-KR" altLang="en-US"/>
          </a:p>
          <a:p>
            <a:r>
              <a:rPr lang="ko-KR" altLang="en-US"/>
              <a:t>이체 메뉴 진입</a:t>
            </a:r>
          </a:p>
          <a:p>
            <a:r>
              <a:rPr lang="ko-KR" altLang="en-US"/>
              <a:t>         ↓</a:t>
            </a:r>
          </a:p>
          <a:p>
            <a:endParaRPr lang="ko-KR" altLang="en-US"/>
          </a:p>
          <a:p>
            <a:r>
              <a:rPr lang="ko-KR" altLang="en-US"/>
              <a:t>신규 계좌 입력</a:t>
            </a:r>
          </a:p>
          <a:p>
            <a:r>
              <a:rPr lang="ko-KR" altLang="en-US"/>
              <a:t>         ↓</a:t>
            </a:r>
          </a:p>
          <a:p>
            <a:endParaRPr lang="ko-KR" altLang="en-US"/>
          </a:p>
          <a:p>
            <a:r>
              <a:rPr lang="ko-KR" altLang="en-US"/>
              <a:t>2천만원 송금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D557F-6741-4BF6-92A2-A01B18F90733}"/>
              </a:ext>
            </a:extLst>
          </p:cNvPr>
          <p:cNvSpPr txBox="1"/>
          <p:nvPr/>
        </p:nvSpPr>
        <p:spPr>
          <a:xfrm>
            <a:off x="481263" y="4058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“통화 중 </a:t>
            </a:r>
            <a:r>
              <a:rPr lang="en-US" altLang="ko-KR" b="1" dirty="0"/>
              <a:t>+ </a:t>
            </a:r>
            <a:r>
              <a:rPr lang="ko-KR" altLang="en-US" b="1" dirty="0"/>
              <a:t>금융행동”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D8BD9-0F81-4505-A8BB-5FF65FC30145}"/>
              </a:ext>
            </a:extLst>
          </p:cNvPr>
          <p:cNvSpPr txBox="1"/>
          <p:nvPr/>
        </p:nvSpPr>
        <p:spPr>
          <a:xfrm>
            <a:off x="3834063" y="2888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"</a:t>
            </a:r>
            <a:r>
              <a:rPr lang="ko-KR" altLang="en-US" dirty="0"/>
              <a:t>근데 이미 통화 후반이면 앞부분을 못 듣잖아</a:t>
            </a:r>
            <a:r>
              <a:rPr lang="en-US" altLang="ko-KR" dirty="0"/>
              <a:t>?"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25CDB7-26DA-4244-BEEA-6F59F6076B27}"/>
              </a:ext>
            </a:extLst>
          </p:cNvPr>
          <p:cNvSpPr txBox="1"/>
          <p:nvPr/>
        </p:nvSpPr>
        <p:spPr>
          <a:xfrm>
            <a:off x="4019550" y="121524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 모델은 원래 통화 전체가 없어도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“지금 최근 몇 Turn만 봐도 위험한가?”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판단하도록 만든 모델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우리 윈도우 모델의 장점으로 일부 진단 가능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979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26DC61-5E96-4D8B-B927-D6645C73E86F}"/>
              </a:ext>
            </a:extLst>
          </p:cNvPr>
          <p:cNvSpPr txBox="1"/>
          <p:nvPr/>
        </p:nvSpPr>
        <p:spPr>
          <a:xfrm>
            <a:off x="3048000" y="18814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그래서 녹취 시작 시점 고정된 한 지점을 정하면 안됨</a:t>
            </a:r>
            <a:r>
              <a:rPr lang="en-US" altLang="ko-KR" dirty="0"/>
              <a:t>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43FDC-A411-46A9-984E-8FDCB3CF1350}"/>
              </a:ext>
            </a:extLst>
          </p:cNvPr>
          <p:cNvSpPr txBox="1"/>
          <p:nvPr/>
        </p:nvSpPr>
        <p:spPr>
          <a:xfrm>
            <a:off x="3048000" y="28602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위험번호/ASAP 신호가 통화 전부터 있으면 → 통화 시작 시 사용자에게 분석 제안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중 FDS/ASAP 위험신호 발생 → 즉시 분석 제안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중 은행앱/송금 화면 진입 → 분석 제안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사용자가 먼저 이상하다고 느끼면 → 언제든 수동 분석 버튼</a:t>
            </a: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즉,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Earliest available risk trigger부터 분석한다.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396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C1A880-B948-45EC-9F74-609A4D0CD407}"/>
              </a:ext>
            </a:extLst>
          </p:cNvPr>
          <p:cNvSpPr txBox="1"/>
          <p:nvPr/>
        </p:nvSpPr>
        <p:spPr>
          <a:xfrm>
            <a:off x="266700" y="324535"/>
            <a:ext cx="89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FDS</a:t>
            </a:r>
            <a:r>
              <a:rPr lang="ko-KR" altLang="en-US" dirty="0"/>
              <a:t>가 강하게 걸린 상황에서는 굳이 통화 </a:t>
            </a:r>
            <a:r>
              <a:rPr lang="en-US" altLang="ko-KR" dirty="0"/>
              <a:t>ML </a:t>
            </a:r>
            <a:r>
              <a:rPr lang="ko-KR" altLang="en-US" dirty="0"/>
              <a:t>결과를 기다리면 안 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E53CB-60C0-43E2-A30B-B8472F66665F}"/>
              </a:ext>
            </a:extLst>
          </p:cNvPr>
          <p:cNvSpPr txBox="1"/>
          <p:nvPr/>
        </p:nvSpPr>
        <p:spPr>
          <a:xfrm>
            <a:off x="552450" y="1041738"/>
            <a:ext cx="6096000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ASAP 의심계좌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신규 수취인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평소와 다른 고액 송금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의심 전화번호와 통화 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18602-B9DC-4B0E-A9B5-E75435686F27}"/>
              </a:ext>
            </a:extLst>
          </p:cNvPr>
          <p:cNvSpPr txBox="1"/>
          <p:nvPr/>
        </p:nvSpPr>
        <p:spPr>
          <a:xfrm>
            <a:off x="552450" y="3784938"/>
            <a:ext cx="6096000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FDS / ASAP </a:t>
            </a:r>
            <a:r>
              <a:rPr lang="ko-KR" altLang="en-US" dirty="0"/>
              <a:t>위험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우선 거래 보류 또는 추가 인증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통화 </a:t>
            </a:r>
            <a:r>
              <a:rPr lang="en-US" altLang="ko-KR" dirty="0"/>
              <a:t>ML = </a:t>
            </a:r>
            <a:r>
              <a:rPr lang="ko-KR" altLang="en-US" dirty="0"/>
              <a:t>추가 판단 근거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5A01D02-651A-437C-8008-2FAB55599356}"/>
              </a:ext>
            </a:extLst>
          </p:cNvPr>
          <p:cNvSpPr/>
          <p:nvPr/>
        </p:nvSpPr>
        <p:spPr>
          <a:xfrm>
            <a:off x="2552700" y="3251031"/>
            <a:ext cx="685800" cy="35593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46D545-BBAB-4D25-9AA7-DF247AF50D15}"/>
              </a:ext>
            </a:extLst>
          </p:cNvPr>
          <p:cNvSpPr txBox="1"/>
          <p:nvPr/>
        </p:nvSpPr>
        <p:spPr>
          <a:xfrm>
            <a:off x="552450" y="6050695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FDS가 볼 수 없었던 “통화 내용이라는 새로운 위험 신호”를 추가하는 모델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 포지셔닝</a:t>
            </a:r>
          </a:p>
        </p:txBody>
      </p:sp>
    </p:spTree>
    <p:extLst>
      <p:ext uri="{BB962C8B-B14F-4D97-AF65-F5344CB8AC3E}">
        <p14:creationId xmlns:p14="http://schemas.microsoft.com/office/powerpoint/2010/main" val="3915329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AD07F2-6B34-4E04-A26B-14F8D3C9BB70}"/>
              </a:ext>
            </a:extLst>
          </p:cNvPr>
          <p:cNvSpPr txBox="1"/>
          <p:nvPr/>
        </p:nvSpPr>
        <p:spPr>
          <a:xfrm>
            <a:off x="495300" y="693867"/>
            <a:ext cx="4057650" cy="3139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lang="ko-KR" altLang="en-US" dirty="0"/>
              <a:t> ASAP / 통신사</a:t>
            </a:r>
          </a:p>
          <a:p>
            <a:pPr algn="r"/>
            <a:r>
              <a:rPr lang="ko-KR" altLang="en-US" dirty="0"/>
              <a:t>                     ↓</a:t>
            </a:r>
          </a:p>
          <a:p>
            <a:pPr algn="r"/>
            <a:r>
              <a:rPr lang="ko-KR" altLang="en-US" dirty="0"/>
              <a:t>전화 ───────→ 위험 Trigger</a:t>
            </a:r>
          </a:p>
          <a:p>
            <a:pPr algn="r"/>
            <a:r>
              <a:rPr lang="ko-KR" altLang="en-US" dirty="0"/>
              <a:t>                     ↓</a:t>
            </a:r>
          </a:p>
          <a:p>
            <a:pPr algn="r"/>
            <a:r>
              <a:rPr lang="ko-KR" altLang="en-US" dirty="0"/>
              <a:t>              통화 AI 분석</a:t>
            </a:r>
          </a:p>
          <a:p>
            <a:pPr algn="r"/>
            <a:r>
              <a:rPr lang="ko-KR" altLang="en-US" dirty="0"/>
              <a:t>                     ↓</a:t>
            </a:r>
          </a:p>
          <a:p>
            <a:pPr algn="r"/>
            <a:r>
              <a:rPr lang="ko-KR" altLang="en-US" dirty="0"/>
              <a:t>은행앱 행동 → FDS ──┤</a:t>
            </a:r>
          </a:p>
          <a:p>
            <a:pPr algn="r"/>
            <a:r>
              <a:rPr lang="ko-KR" altLang="en-US" dirty="0"/>
              <a:t>                     ↓</a:t>
            </a:r>
          </a:p>
          <a:p>
            <a:pPr algn="r"/>
            <a:r>
              <a:rPr lang="ko-KR" altLang="en-US" dirty="0"/>
              <a:t>              종합 위험 판단</a:t>
            </a:r>
          </a:p>
          <a:p>
            <a:pPr algn="r"/>
            <a:r>
              <a:rPr lang="ko-KR" altLang="en-US" dirty="0"/>
              <a:t>                     ↓</a:t>
            </a:r>
          </a:p>
          <a:p>
            <a:pPr algn="r"/>
            <a:r>
              <a:rPr lang="ko-KR" altLang="en-US" dirty="0"/>
              <a:t>       경고 / 거래 추가확인 / 중단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9F8BC-7026-41B2-91E3-D49F36BE9DDA}"/>
              </a:ext>
            </a:extLst>
          </p:cNvPr>
          <p:cNvSpPr txBox="1"/>
          <p:nvPr/>
        </p:nvSpPr>
        <p:spPr>
          <a:xfrm>
            <a:off x="495300" y="324535"/>
            <a:ext cx="89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트리거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55A3F5-F829-4FB8-917A-1819EE82C7D8}"/>
              </a:ext>
            </a:extLst>
          </p:cNvPr>
          <p:cNvSpPr txBox="1"/>
          <p:nvPr/>
        </p:nvSpPr>
        <p:spPr>
          <a:xfrm>
            <a:off x="5429250" y="804744"/>
            <a:ext cx="6096000" cy="5909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 스마트폰</a:t>
            </a:r>
          </a:p>
          <a:p>
            <a:r>
              <a:rPr lang="ko-KR" altLang="en-US" sz="1400" dirty="0"/>
              <a:t>────────────────────────────</a:t>
            </a:r>
          </a:p>
          <a:p>
            <a:r>
              <a:rPr lang="ko-KR" altLang="en-US" sz="1400" dirty="0"/>
              <a:t>통화</a:t>
            </a:r>
          </a:p>
          <a:p>
            <a:r>
              <a:rPr lang="ko-KR" altLang="en-US" sz="1400" dirty="0"/>
              <a:t> ↓</a:t>
            </a:r>
          </a:p>
          <a:p>
            <a:r>
              <a:rPr lang="en-US" altLang="ko-KR" sz="1400" dirty="0"/>
              <a:t>STT</a:t>
            </a:r>
          </a:p>
          <a:p>
            <a:r>
              <a:rPr lang="en-US" altLang="ko-KR" sz="1400" dirty="0"/>
              <a:t> ↓</a:t>
            </a:r>
          </a:p>
          <a:p>
            <a:r>
              <a:rPr lang="en-US" altLang="ko-KR" sz="1400" dirty="0"/>
              <a:t>LLM Event </a:t>
            </a:r>
            <a:r>
              <a:rPr lang="ko-KR" altLang="en-US" sz="1400" dirty="0"/>
              <a:t>추출</a:t>
            </a:r>
          </a:p>
          <a:p>
            <a:r>
              <a:rPr lang="ko-KR" altLang="en-US" sz="1400" dirty="0"/>
              <a:t> ↓</a:t>
            </a:r>
          </a:p>
          <a:p>
            <a:r>
              <a:rPr lang="en-US" altLang="ko-KR" sz="1400" dirty="0"/>
              <a:t>Feature Builder</a:t>
            </a:r>
          </a:p>
          <a:p>
            <a:r>
              <a:rPr lang="en-US" altLang="ko-KR" sz="1400" dirty="0"/>
              <a:t> ↓</a:t>
            </a:r>
          </a:p>
          <a:p>
            <a:r>
              <a:rPr lang="en-US" altLang="ko-KR" sz="1400" dirty="0"/>
              <a:t>Window ML</a:t>
            </a:r>
          </a:p>
          <a:p>
            <a:r>
              <a:rPr lang="en-US" altLang="ko-KR" sz="1400" dirty="0"/>
              <a:t> +</a:t>
            </a:r>
          </a:p>
          <a:p>
            <a:r>
              <a:rPr lang="en-US" altLang="ko-KR" sz="1400" dirty="0"/>
              <a:t>Cumulative ML</a:t>
            </a:r>
          </a:p>
          <a:p>
            <a:r>
              <a:rPr lang="en-US" altLang="ko-KR" sz="1400" dirty="0"/>
              <a:t> ↓</a:t>
            </a:r>
          </a:p>
          <a:p>
            <a:r>
              <a:rPr lang="en-US" altLang="ko-KR" sz="1400" dirty="0"/>
              <a:t>Risk Result</a:t>
            </a:r>
          </a:p>
          <a:p>
            <a:r>
              <a:rPr lang="en-US" altLang="ko-KR" sz="1400" dirty="0"/>
              <a:t>────────────────────────────</a:t>
            </a:r>
          </a:p>
          <a:p>
            <a:r>
              <a:rPr lang="en-US" altLang="ko-KR" sz="1400" dirty="0"/>
              <a:t>         ↓ </a:t>
            </a:r>
            <a:r>
              <a:rPr lang="ko-KR" altLang="en-US" sz="1400" dirty="0"/>
              <a:t>최소 정보 전송</a:t>
            </a:r>
          </a:p>
          <a:p>
            <a:r>
              <a:rPr lang="ko-KR" altLang="en-US" sz="1400" dirty="0"/>
              <a:t>────────────────────────────</a:t>
            </a:r>
          </a:p>
          <a:p>
            <a:r>
              <a:rPr lang="ko-KR" altLang="en-US" sz="1400" dirty="0"/>
              <a:t>               은행</a:t>
            </a:r>
          </a:p>
          <a:p>
            <a:r>
              <a:rPr lang="en-US" altLang="ko-KR" sz="1400" dirty="0"/>
              <a:t>Event / Feature / Score</a:t>
            </a:r>
          </a:p>
          <a:p>
            <a:r>
              <a:rPr lang="en-US" altLang="ko-KR" sz="1400" dirty="0"/>
              <a:t>         ↓</a:t>
            </a:r>
          </a:p>
          <a:p>
            <a:r>
              <a:rPr lang="en-US" altLang="ko-KR" sz="1400" dirty="0"/>
              <a:t>ASAP + FDS + </a:t>
            </a:r>
            <a:r>
              <a:rPr lang="ko-KR" altLang="en-US" sz="1400" dirty="0"/>
              <a:t>거래정보</a:t>
            </a:r>
          </a:p>
          <a:p>
            <a:r>
              <a:rPr lang="ko-KR" altLang="en-US" sz="1400" dirty="0"/>
              <a:t>         ↓</a:t>
            </a:r>
          </a:p>
          <a:p>
            <a:r>
              <a:rPr lang="ko-KR" altLang="en-US" sz="1400" dirty="0"/>
              <a:t>통합 </a:t>
            </a:r>
            <a:r>
              <a:rPr lang="en-US" altLang="ko-KR" sz="1400" dirty="0"/>
              <a:t>Risk </a:t>
            </a:r>
            <a:r>
              <a:rPr lang="ko-KR" altLang="en-US" sz="1400" dirty="0"/>
              <a:t>판단</a:t>
            </a:r>
          </a:p>
          <a:p>
            <a:r>
              <a:rPr lang="ko-KR" altLang="en-US" sz="1400" dirty="0"/>
              <a:t>         ↓</a:t>
            </a:r>
          </a:p>
          <a:p>
            <a:r>
              <a:rPr lang="ko-KR" altLang="en-US" sz="1400" dirty="0"/>
              <a:t>┌────────┬─────────┬─────────┐</a:t>
            </a:r>
          </a:p>
          <a:p>
            <a:r>
              <a:rPr lang="ko-KR" altLang="en-US" sz="1400" dirty="0"/>
              <a:t>      고객경고                상담원 </a:t>
            </a:r>
            <a:r>
              <a:rPr lang="en-US" altLang="ko-KR" sz="1400" dirty="0"/>
              <a:t>Brief             </a:t>
            </a:r>
            <a:r>
              <a:rPr lang="ko-KR" altLang="en-US" sz="1400" dirty="0"/>
              <a:t>거래개입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D1732-EA25-4135-8BD8-3156D83A99F7}"/>
              </a:ext>
            </a:extLst>
          </p:cNvPr>
          <p:cNvSpPr txBox="1"/>
          <p:nvPr/>
        </p:nvSpPr>
        <p:spPr>
          <a:xfrm>
            <a:off x="5429250" y="324535"/>
            <a:ext cx="398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은행 서버 전송</a:t>
            </a:r>
            <a:r>
              <a:rPr lang="en-US" altLang="ko-KR" dirty="0"/>
              <a:t>/</a:t>
            </a:r>
            <a:r>
              <a:rPr lang="ko-KR" altLang="en-US" dirty="0"/>
              <a:t>미전송 데이터 구분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1254C-3F62-453C-A4F8-F98E7F79F08E}"/>
              </a:ext>
            </a:extLst>
          </p:cNvPr>
          <p:cNvSpPr txBox="1"/>
          <p:nvPr/>
        </p:nvSpPr>
        <p:spPr>
          <a:xfrm>
            <a:off x="495300" y="423478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은행 서버에 보내지 않는 것을 기본값</a:t>
            </a: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원본 음성 전체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전체 녹취문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위험판정과 관계없는 일상 대화 </a:t>
            </a:r>
          </a:p>
        </p:txBody>
      </p:sp>
    </p:spTree>
    <p:extLst>
      <p:ext uri="{BB962C8B-B14F-4D97-AF65-F5344CB8AC3E}">
        <p14:creationId xmlns:p14="http://schemas.microsoft.com/office/powerpoint/2010/main" val="358961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F0BCA0-5EAE-4761-88D0-ECF7BC484B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057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AB4A-2487-4F5A-AA9D-9C09C2AB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37" y="5113589"/>
            <a:ext cx="10515600" cy="1325563"/>
          </a:xfrm>
        </p:spPr>
        <p:txBody>
          <a:bodyPr/>
          <a:lstStyle/>
          <a:p>
            <a:r>
              <a:rPr lang="ko-KR" altLang="en-US"/>
              <a:t>작동 후 파이프라인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7625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F6A9AB-A187-4DB2-B9B0-F6301AEE61FA}"/>
              </a:ext>
            </a:extLst>
          </p:cNvPr>
          <p:cNvSpPr txBox="1"/>
          <p:nvPr/>
        </p:nvSpPr>
        <p:spPr>
          <a:xfrm>
            <a:off x="433137" y="518281"/>
            <a:ext cx="6096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1P. 서비스 핵심 개념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독립검증형 송금방지턱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중 AI가 보이스피싱 위험을 탐지하고, 위험 송금 발생 시 거래를 즉시 실행하지 않고 사전 등록된 신뢰인의 최종 검토와 금융기관의 독립적인 보호조치를 거치도록 하는 다중 검증형 금융 안전 서비스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기능 5개: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① 실시간 AI 통화 위험 탐지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② 위험도·판단근거 산출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③ 역할별 맞춤 알림·리포트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④ 신뢰인 최종검토형 송금방지턱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⑤ 금융기관·공식기관 독립 검증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페이지는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“우리 서비스가 뭘 하는가”만 보여주는 페이지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117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7E6DD1-8F84-4704-A58C-EE97F98F9665}"/>
              </a:ext>
            </a:extLst>
          </p:cNvPr>
          <p:cNvSpPr txBox="1"/>
          <p:nvPr/>
        </p:nvSpPr>
        <p:spPr>
          <a:xfrm>
            <a:off x="224589" y="184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2P. </a:t>
            </a:r>
            <a:r>
              <a:rPr lang="ko-KR" altLang="en-US" dirty="0"/>
              <a:t>서비스 전체 작동 흐름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B9A44-9136-4E72-AF92-7F59E50BB9B3}"/>
              </a:ext>
            </a:extLst>
          </p:cNvPr>
          <p:cNvSpPr txBox="1"/>
          <p:nvPr/>
        </p:nvSpPr>
        <p:spPr>
          <a:xfrm>
            <a:off x="320841" y="661601"/>
            <a:ext cx="2951748" cy="6124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통화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STT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AI 위험 분석</a:t>
            </a:r>
          </a:p>
          <a:p>
            <a:r>
              <a:rPr lang="ko-KR" altLang="en-US" sz="1400" dirty="0"/>
              <a:t>ML + LLM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최종 위험도 / 판단근거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역할별 맞춤 알림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피해자가 송금 시도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━━━━━━━━━━━━━━</a:t>
            </a:r>
          </a:p>
          <a:p>
            <a:r>
              <a:rPr lang="ko-KR" altLang="en-US" sz="1400" dirty="0"/>
              <a:t>  송금방지턱 작동</a:t>
            </a:r>
          </a:p>
          <a:p>
            <a:r>
              <a:rPr lang="ko-KR" altLang="en-US" sz="1400" dirty="0"/>
              <a:t>   거래 일시 보류</a:t>
            </a:r>
          </a:p>
          <a:p>
            <a:r>
              <a:rPr lang="ko-KR" altLang="en-US" sz="1400" dirty="0"/>
              <a:t>━━━━━━━━━━━━━━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사전 등록 신뢰인에게</a:t>
            </a:r>
          </a:p>
          <a:p>
            <a:r>
              <a:rPr lang="ko-KR" altLang="en-US" sz="1400" dirty="0"/>
              <a:t>해당 거래 최종검토권 부여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 승인 / 거절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금융기관 독립 검증·보호조치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필요 시 공식기관 진위확인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송금 실행 / 추가보류 / 중단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3464B-2E20-40A9-A93A-A367400DD6B5}"/>
              </a:ext>
            </a:extLst>
          </p:cNvPr>
          <p:cNvSpPr txBox="1"/>
          <p:nvPr/>
        </p:nvSpPr>
        <p:spPr>
          <a:xfrm>
            <a:off x="3384884" y="368968"/>
            <a:ext cx="46682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강조할 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경고만 하는 서비스가 아니다.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 상황에서 실제 송금 단계에 한 번 더 개입하는 구조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라는 게 차별점</a:t>
            </a:r>
          </a:p>
        </p:txBody>
      </p:sp>
    </p:spTree>
    <p:extLst>
      <p:ext uri="{BB962C8B-B14F-4D97-AF65-F5344CB8AC3E}">
        <p14:creationId xmlns:p14="http://schemas.microsoft.com/office/powerpoint/2010/main" val="133479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4445FA-9682-440B-B47E-2610C4F870EB}"/>
              </a:ext>
            </a:extLst>
          </p:cNvPr>
          <p:cNvSpPr txBox="1"/>
          <p:nvPr/>
        </p:nvSpPr>
        <p:spPr>
          <a:xfrm>
            <a:off x="417094" y="369544"/>
            <a:ext cx="405865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/>
              <a:t>3P. A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통화 위험 분석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기술만 설명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1. 음성 데이터 처리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통화 음성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→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→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대화 텍스트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→ 전처리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→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Feature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추출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추출 정보 예: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기관사칭 / 송금요구 / 긴급성 / 비밀유지 / 위협·압박 / 개인정보 요구 / 외부확인 차단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6D35A-7C9F-4E1C-9B2A-3C5EE5F2E824}"/>
              </a:ext>
            </a:extLst>
          </p:cNvPr>
          <p:cNvSpPr txBox="1"/>
          <p:nvPr/>
        </p:nvSpPr>
        <p:spPr>
          <a:xfrm>
            <a:off x="4812632" y="1182231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2. ML + LLM 독립 분석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정형 Feature 기반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 위험확률 산출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대화 전체 맥락에서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위험요인과 판단근거 분석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94867D-E7E1-4DAF-A3D1-4146700E0C7A}"/>
              </a:ext>
            </a:extLst>
          </p:cNvPr>
          <p:cNvSpPr txBox="1"/>
          <p:nvPr/>
        </p:nvSpPr>
        <p:spPr>
          <a:xfrm>
            <a:off x="417094" y="407533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3. 결과 종합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ML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위험확률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LLM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맥락분석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최종 위험도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판단근거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= 얼마나 위험한가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= 왜 위험한가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072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A61E97-AA07-42D0-A953-85EAD623A43F}"/>
              </a:ext>
            </a:extLst>
          </p:cNvPr>
          <p:cNvSpPr txBox="1"/>
          <p:nvPr/>
        </p:nvSpPr>
        <p:spPr>
          <a:xfrm>
            <a:off x="320842" y="27627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4P. </a:t>
            </a:r>
            <a:r>
              <a:rPr lang="ko-KR" altLang="en-US" b="1" dirty="0"/>
              <a:t>위험도 기반 자동 개입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가 단순 분석으로 끝나는 게 아니라</a:t>
            </a:r>
            <a:endParaRPr lang="en-US" altLang="ko-KR" dirty="0"/>
          </a:p>
          <a:p>
            <a:r>
              <a:rPr lang="ko-KR" altLang="en-US" b="1" dirty="0"/>
              <a:t>위험 수준에 따라 시스템 행동이 달라짐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909A9C-F039-4396-A7AE-196B7781F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34934"/>
              </p:ext>
            </p:extLst>
          </p:nvPr>
        </p:nvGraphicFramePr>
        <p:xfrm>
          <a:off x="320842" y="1325880"/>
          <a:ext cx="6862012" cy="210312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740759045"/>
                    </a:ext>
                  </a:extLst>
                </a:gridCol>
                <a:gridCol w="4957012">
                  <a:extLst>
                    <a:ext uri="{9D8B030D-6E8A-4147-A177-3AD203B41FA5}">
                      <a16:colId xmlns:a16="http://schemas.microsoft.com/office/drawing/2014/main" val="2956143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위험 수준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시스템 개입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05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사용자에게 분석결과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3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의심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 경고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재확인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28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신뢰인 알림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325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매우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신뢰인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금융관계자 즉시 개입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필요 시 기관검증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747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1E4F6B2-593A-4B02-BCA4-814FCD1FFCFF}"/>
              </a:ext>
            </a:extLst>
          </p:cNvPr>
          <p:cNvSpPr txBox="1"/>
          <p:nvPr/>
        </p:nvSpPr>
        <p:spPr>
          <a:xfrm>
            <a:off x="7924800" y="449178"/>
            <a:ext cx="39463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AI 분석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Risk / Intervention Engine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위험등급 결정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누구에게 알릴지 결정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어떤 정보를 전달할지 결정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어떤 조치를 실행할지 결정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4BEB1-B346-4FA6-AB70-BFD9F7B7E152}"/>
              </a:ext>
            </a:extLst>
          </p:cNvPr>
          <p:cNvSpPr txBox="1"/>
          <p:nvPr/>
        </p:nvSpPr>
        <p:spPr>
          <a:xfrm>
            <a:off x="703848" y="58952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“</a:t>
            </a:r>
            <a:r>
              <a:rPr lang="en-US" altLang="ko-KR" b="1" dirty="0"/>
              <a:t>AI</a:t>
            </a:r>
            <a:r>
              <a:rPr lang="ko-KR" altLang="en-US" b="1" dirty="0"/>
              <a:t>가 판단한 다음 서비스가 어떻게 움직이는가”</a:t>
            </a:r>
            <a:r>
              <a:rPr lang="ko-KR" altLang="en-US" dirty="0"/>
              <a:t>를 설명</a:t>
            </a:r>
          </a:p>
        </p:txBody>
      </p:sp>
    </p:spTree>
    <p:extLst>
      <p:ext uri="{BB962C8B-B14F-4D97-AF65-F5344CB8AC3E}">
        <p14:creationId xmlns:p14="http://schemas.microsoft.com/office/powerpoint/2010/main" val="301009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614904-0F97-4C9F-9C41-61D93B3059F3}"/>
              </a:ext>
            </a:extLst>
          </p:cNvPr>
          <p:cNvSpPr txBox="1"/>
          <p:nvPr/>
        </p:nvSpPr>
        <p:spPr>
          <a:xfrm>
            <a:off x="240632" y="2965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5P. </a:t>
            </a:r>
            <a:r>
              <a:rPr lang="ko-KR" altLang="en-US" dirty="0"/>
              <a:t>역할별 맞춤 알림 및 검증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DDC27E-50EF-41DF-9A78-7FA06521C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107843"/>
              </p:ext>
            </p:extLst>
          </p:nvPr>
        </p:nvGraphicFramePr>
        <p:xfrm>
          <a:off x="240632" y="1051560"/>
          <a:ext cx="10515600" cy="2377440"/>
        </p:xfrm>
        <a:graphic>
          <a:graphicData uri="http://schemas.openxmlformats.org/drawingml/2006/table">
            <a:tbl>
              <a:tblPr/>
              <a:tblGrid>
                <a:gridCol w="1909010">
                  <a:extLst>
                    <a:ext uri="{9D8B030D-6E8A-4147-A177-3AD203B41FA5}">
                      <a16:colId xmlns:a16="http://schemas.microsoft.com/office/drawing/2014/main" val="2630619720"/>
                    </a:ext>
                  </a:extLst>
                </a:gridCol>
                <a:gridCol w="5101390">
                  <a:extLst>
                    <a:ext uri="{9D8B030D-6E8A-4147-A177-3AD203B41FA5}">
                      <a16:colId xmlns:a16="http://schemas.microsoft.com/office/drawing/2014/main" val="14210796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32404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전달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역할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권한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53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피해자 본인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위험도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핵심 위험근거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즉시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통화 종료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송금 취소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재확인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882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신뢰인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위험상황 요약</a:t>
                      </a:r>
                      <a:r>
                        <a:rPr lang="en-US" altLang="ko-KR"/>
                        <a:t>, AI </a:t>
                      </a:r>
                      <a:r>
                        <a:rPr lang="ko-KR" altLang="en-US"/>
                        <a:t>판단근거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거래정보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해당 송금의 최종 검토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승인</a:t>
                      </a:r>
                      <a:r>
                        <a:rPr lang="en-US" altLang="ko-KR" b="1"/>
                        <a:t>/</a:t>
                      </a:r>
                      <a:r>
                        <a:rPr lang="ko-KR" altLang="en-US" b="1"/>
                        <a:t>거절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4323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금융관계자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거래위험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의심유형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금융 핵심정보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거래보류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추가확인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차단 등 보호조치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205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기관담당자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사칭내용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상대 주장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확인사항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실제 기관 연락인지 공식 검증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7461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12265AC-643E-4631-A558-BCD3D7372A7E}"/>
              </a:ext>
            </a:extLst>
          </p:cNvPr>
          <p:cNvSpPr txBox="1"/>
          <p:nvPr/>
        </p:nvSpPr>
        <p:spPr>
          <a:xfrm>
            <a:off x="401052" y="4863514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문구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같은 분석 결과를 모두에게 전달하는 것이 아니라, 각 관계자에게 필요한 정보와 권한을 다르게 제공한다.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개인정보 관점에서도: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필요한 정보만 최소 전달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428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6F9770-2664-4867-B41E-2D3AC8E5BBDB}"/>
              </a:ext>
            </a:extLst>
          </p:cNvPr>
          <p:cNvSpPr txBox="1"/>
          <p:nvPr/>
        </p:nvSpPr>
        <p:spPr>
          <a:xfrm>
            <a:off x="304800" y="2484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6P. </a:t>
            </a:r>
            <a:r>
              <a:rPr lang="ko-KR" altLang="en-US"/>
              <a:t>핵심 차별 기능 </a:t>
            </a:r>
            <a:r>
              <a:rPr lang="en-US" altLang="ko-KR"/>
              <a:t>— </a:t>
            </a:r>
            <a:r>
              <a:rPr lang="ko-KR" altLang="en-US"/>
              <a:t>신뢰인 최종검토형 송금방지턱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E1103-B2FE-4616-BA03-158360CCD99C}"/>
              </a:ext>
            </a:extLst>
          </p:cNvPr>
          <p:cNvSpPr txBox="1"/>
          <p:nvPr/>
        </p:nvSpPr>
        <p:spPr>
          <a:xfrm>
            <a:off x="304800" y="84790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사전 설정</a:t>
            </a:r>
          </a:p>
          <a:p>
            <a:r>
              <a:rPr lang="ko-KR" altLang="en-US"/>
              <a:t>사용자가 평상시에</a:t>
            </a:r>
            <a:r>
              <a:rPr lang="en-US" altLang="ko-KR"/>
              <a:t>: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434890-B292-40A4-AD0F-8DCE2B09F958}"/>
              </a:ext>
            </a:extLst>
          </p:cNvPr>
          <p:cNvSpPr txBox="1"/>
          <p:nvPr/>
        </p:nvSpPr>
        <p:spPr>
          <a:xfrm>
            <a:off x="304800" y="1724345"/>
            <a:ext cx="3769895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/>
              <a:t>가족 / 보호자 / 신뢰인 등록</a:t>
            </a:r>
          </a:p>
          <a:p>
            <a:r>
              <a:rPr lang="ko-KR" altLang="en-US"/>
              <a:t>+</a:t>
            </a:r>
          </a:p>
          <a:p>
            <a:r>
              <a:rPr lang="ko-KR" altLang="en-US"/>
              <a:t>거래 최종검토 권한 사전 설정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A192E-5702-40B8-90A7-289BE78EBEE1}"/>
              </a:ext>
            </a:extLst>
          </p:cNvPr>
          <p:cNvSpPr txBox="1"/>
          <p:nvPr/>
        </p:nvSpPr>
        <p:spPr>
          <a:xfrm>
            <a:off x="4892842" y="98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위험 상황에서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1D3E5B-3999-4B0D-AFE5-5A86EC28F5E2}"/>
              </a:ext>
            </a:extLst>
          </p:cNvPr>
          <p:cNvSpPr txBox="1"/>
          <p:nvPr/>
        </p:nvSpPr>
        <p:spPr>
          <a:xfrm>
            <a:off x="4892842" y="1494238"/>
            <a:ext cx="3048000" cy="397031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피해자가 송금 시도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즉시 송금하지 않음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[거래 일시 보류]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신뢰인에게 검토 요청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AI 분석 + 거래정보 확인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 ┌─────────┐</a:t>
            </a:r>
          </a:p>
          <a:p>
            <a:r>
              <a:rPr lang="ko-KR" altLang="en-US" dirty="0"/>
              <a:t> 승인       거절</a:t>
            </a:r>
          </a:p>
          <a:p>
            <a:r>
              <a:rPr lang="ko-KR" altLang="en-US" dirty="0"/>
              <a:t> ↓          ↓</a:t>
            </a:r>
          </a:p>
          <a:p>
            <a:r>
              <a:rPr lang="ko-KR" altLang="en-US" dirty="0"/>
              <a:t>추가진행    송금중단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745B5-89F9-4F5F-B479-ABE3AC119177}"/>
              </a:ext>
            </a:extLst>
          </p:cNvPr>
          <p:cNvSpPr txBox="1"/>
          <p:nvPr/>
        </p:nvSpPr>
        <p:spPr>
          <a:xfrm>
            <a:off x="4716378" y="6010092"/>
            <a:ext cx="7716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주의 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“송금권한 인계”보다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사전 위임된 ‘해당 거래별 최종 검토권한’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87DABD-8279-4827-A6DA-6B3837A14E11}"/>
              </a:ext>
            </a:extLst>
          </p:cNvPr>
          <p:cNvSpPr txBox="1"/>
          <p:nvPr/>
        </p:nvSpPr>
        <p:spPr>
          <a:xfrm>
            <a:off x="8149389" y="4541226"/>
            <a:ext cx="34971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신뢰인이 계좌 전체를 관리하는 게 아니고</a:t>
            </a:r>
            <a:r>
              <a:rPr lang="en-US" altLang="ko-KR" dirty="0"/>
              <a:t>, </a:t>
            </a:r>
            <a:r>
              <a:rPr lang="ko-KR" altLang="en-US" b="1" dirty="0"/>
              <a:t>위험 상황의 특정 송금 건만 검토</a:t>
            </a:r>
            <a:r>
              <a:rPr lang="ko-KR" altLang="en-US" dirty="0"/>
              <a:t>하는 구조</a:t>
            </a:r>
          </a:p>
        </p:txBody>
      </p:sp>
    </p:spTree>
    <p:extLst>
      <p:ext uri="{BB962C8B-B14F-4D97-AF65-F5344CB8AC3E}">
        <p14:creationId xmlns:p14="http://schemas.microsoft.com/office/powerpoint/2010/main" val="1030430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65229B-314D-4236-AA5A-4FAC928CC8D5}"/>
              </a:ext>
            </a:extLst>
          </p:cNvPr>
          <p:cNvSpPr txBox="1"/>
          <p:nvPr/>
        </p:nvSpPr>
        <p:spPr>
          <a:xfrm>
            <a:off x="401053" y="370999"/>
            <a:ext cx="92723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7P. 금융기관·공식기관까지 이어지는 다중 안전장치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신뢰인 한 명에게 모든 책임을 넘기는 구조가 아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님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금융기관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신뢰인이 승인해도: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금융기관의 보안 판단은 별도로 작동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신뢰인 승인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금융기관 독립 검증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정상 → 송금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의심 → 추가 인증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·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확인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고위험 → 보류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·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차단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·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보호조치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즉,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신뢰인 승인 ≠ 금융보안 우회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F3AA7-40C0-4539-A8AE-386136FF2AB2}"/>
              </a:ext>
            </a:extLst>
          </p:cNvPr>
          <p:cNvSpPr txBox="1"/>
          <p:nvPr/>
        </p:nvSpPr>
        <p:spPr>
          <a:xfrm>
            <a:off x="4572000" y="1433769"/>
            <a:ext cx="6096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공식기관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기관사칭 탐지 시: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기관명 추출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공식기관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DB / RAG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정상 절차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·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공식 연락처 비교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자동 진위검증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필요 시 실제 기관담당자 확인</a:t>
            </a:r>
            <a:endParaRPr lang="en-US" altLang="ko-KR" sz="16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기관은 송금을 승인하는 사람이 아니라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“실제로 우리 기관이 연락한 것이 맞는가?”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확인하는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 진위검증 주체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8330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1510B7-C1BF-4930-B552-4B71CB33AC2A}"/>
              </a:ext>
            </a:extLst>
          </p:cNvPr>
          <p:cNvSpPr txBox="1"/>
          <p:nvPr/>
        </p:nvSpPr>
        <p:spPr>
          <a:xfrm>
            <a:off x="3048000" y="1584158"/>
            <a:ext cx="60960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highlight>
                  <a:srgbClr val="FFFF00"/>
                </a:highlight>
              </a:rPr>
              <a:t>전체 흐름</a:t>
            </a:r>
            <a:endParaRPr lang="en-US" altLang="ko-KR" sz="2000" dirty="0">
              <a:highlight>
                <a:srgbClr val="FFFF00"/>
              </a:highlight>
            </a:endParaRPr>
          </a:p>
          <a:p>
            <a:pPr algn="ctr"/>
            <a:endParaRPr lang="en-US" altLang="ko-KR" sz="1400" dirty="0"/>
          </a:p>
          <a:p>
            <a:pPr algn="ctr"/>
            <a:r>
              <a:rPr lang="ko-KR" altLang="en-US" sz="1400" dirty="0"/>
              <a:t>AI 1차 독립분석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위험 상황 탐지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┌───────────┼───────────┐</a:t>
            </a:r>
          </a:p>
          <a:p>
            <a:pPr algn="ctr"/>
            <a:r>
              <a:rPr lang="ko-KR" altLang="en-US" sz="1400" dirty="0"/>
              <a:t>↓                                ↓                                ↓</a:t>
            </a:r>
          </a:p>
          <a:p>
            <a:pPr algn="ctr"/>
            <a:r>
              <a:rPr lang="ko-KR" altLang="en-US" sz="1400" dirty="0"/>
              <a:t>피해자                         신뢰인                        금융기관</a:t>
            </a:r>
          </a:p>
          <a:p>
            <a:pPr algn="ctr"/>
            <a:r>
              <a:rPr lang="ko-KR" altLang="en-US" sz="1400" dirty="0"/>
              <a:t>경고                          거래검토                      금융조치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필요 시 기관</a:t>
            </a:r>
          </a:p>
          <a:p>
            <a:pPr algn="ctr"/>
            <a:r>
              <a:rPr lang="ko-KR" altLang="en-US" sz="1400" dirty="0"/>
              <a:t>공식 진위검증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최종 거래 보호</a:t>
            </a:r>
          </a:p>
        </p:txBody>
      </p:sp>
    </p:spTree>
    <p:extLst>
      <p:ext uri="{BB962C8B-B14F-4D97-AF65-F5344CB8AC3E}">
        <p14:creationId xmlns:p14="http://schemas.microsoft.com/office/powerpoint/2010/main" val="770141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5899F-DFA1-4A8D-AD47-A26B3FC58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727575"/>
            <a:ext cx="10515600" cy="1325563"/>
          </a:xfrm>
        </p:spPr>
        <p:txBody>
          <a:bodyPr/>
          <a:lstStyle/>
          <a:p>
            <a:r>
              <a:rPr lang="ko-KR" altLang="en-US" dirty="0"/>
              <a:t>구현 기술 </a:t>
            </a:r>
            <a:r>
              <a:rPr lang="ko-KR" altLang="en-US"/>
              <a:t>및 파이프라인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8887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408DFC-6F83-48DF-9A2F-96E6E6457AE4}"/>
              </a:ext>
            </a:extLst>
          </p:cNvPr>
          <p:cNvSpPr txBox="1"/>
          <p:nvPr/>
        </p:nvSpPr>
        <p:spPr>
          <a:xfrm>
            <a:off x="266700" y="308870"/>
            <a:ext cx="6096000" cy="38595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[0. 사전 설정]</a:t>
            </a:r>
          </a:p>
          <a:p>
            <a:r>
              <a:rPr lang="ko-KR" altLang="en-US" dirty="0"/>
              <a:t>사용자 가입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신뢰인 등록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거래별 최종검토 권한 사전 동의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알림 대상 / 금융기관 연계정보 설정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━━━━━━━━━━ 통화 위험 분석 ━━━━━━━━━━</a:t>
            </a:r>
          </a:p>
          <a:p>
            <a:endParaRPr lang="ko-KR" altLang="en-US" dirty="0"/>
          </a:p>
          <a:p>
            <a:r>
              <a:rPr lang="ko-KR" altLang="en-US" dirty="0"/>
              <a:t>[1. 통화 데이터 수집]</a:t>
            </a:r>
          </a:p>
          <a:p>
            <a:r>
              <a:rPr lang="ko-KR" altLang="en-US" dirty="0"/>
              <a:t>통화 음성 / 녹음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STT API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대화 텍스트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[2. 데이터 전처리·Feature 생성]</a:t>
            </a:r>
          </a:p>
          <a:p>
            <a:r>
              <a:rPr lang="ko-KR" altLang="en-US" dirty="0"/>
              <a:t>텍스트 정제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기관명 / 송금요구 / 긴급성 /</a:t>
            </a:r>
          </a:p>
          <a:p>
            <a:r>
              <a:rPr lang="ko-KR" altLang="en-US" dirty="0"/>
              <a:t>비밀유지 / 위협 / 개인정보요구 등 추출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ML 입력 Feature 생성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[3. AI 독립 분석]</a:t>
            </a:r>
          </a:p>
          <a:p>
            <a:r>
              <a:rPr lang="ko-KR" altLang="en-US" dirty="0"/>
              <a:t>       ┌──────────────┐</a:t>
            </a:r>
          </a:p>
          <a:p>
            <a:r>
              <a:rPr lang="ko-KR" altLang="en-US" dirty="0"/>
              <a:t>       ↓              ↓</a:t>
            </a:r>
          </a:p>
          <a:p>
            <a:r>
              <a:rPr lang="ko-KR" altLang="en-US" dirty="0"/>
              <a:t>      ML             LLM</a:t>
            </a:r>
          </a:p>
          <a:p>
            <a:r>
              <a:rPr lang="ko-KR" altLang="en-US" dirty="0"/>
              <a:t> 위험확률 산출     맥락·수법 분석</a:t>
            </a:r>
          </a:p>
          <a:p>
            <a:r>
              <a:rPr lang="ko-KR" altLang="en-US" dirty="0"/>
              <a:t>       ↓              ↓</a:t>
            </a:r>
          </a:p>
          <a:p>
            <a:r>
              <a:rPr lang="ko-KR" altLang="en-US" dirty="0"/>
              <a:t>       └──────┬───────┘</a:t>
            </a:r>
          </a:p>
          <a:p>
            <a:r>
              <a:rPr lang="ko-KR" altLang="en-US" dirty="0"/>
              <a:t>              ↓</a:t>
            </a:r>
          </a:p>
          <a:p>
            <a:r>
              <a:rPr lang="ko-KR" altLang="en-US" dirty="0"/>
              <a:t>       Risk Fusion Engine</a:t>
            </a:r>
          </a:p>
          <a:p>
            <a:r>
              <a:rPr lang="ko-KR" altLang="en-US" dirty="0"/>
              <a:t>              ↓</a:t>
            </a:r>
          </a:p>
          <a:p>
            <a:r>
              <a:rPr lang="ko-KR" altLang="en-US" dirty="0"/>
              <a:t>     최종 위험도 + 판단근거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[4. 위험 수준별 개입 결정]</a:t>
            </a:r>
          </a:p>
          <a:p>
            <a:r>
              <a:rPr lang="ko-KR" altLang="en-US" dirty="0"/>
              <a:t>Risk / Intervention Engine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LOW / MEDIUM / HIGH / CRITICAL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누구에게 알릴지</a:t>
            </a:r>
          </a:p>
          <a:p>
            <a:r>
              <a:rPr lang="ko-KR" altLang="en-US" dirty="0"/>
              <a:t>무엇을 전달할지</a:t>
            </a:r>
          </a:p>
          <a:p>
            <a:r>
              <a:rPr lang="ko-KR" altLang="en-US" dirty="0"/>
              <a:t>어떤 조치를 취할지 결정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[5. 역할별 맞춤 알림]</a:t>
            </a:r>
          </a:p>
          <a:p>
            <a:r>
              <a:rPr lang="ko-KR" altLang="en-US" dirty="0"/>
              <a:t>       ┌────────┬────────┬────────┐</a:t>
            </a:r>
          </a:p>
          <a:p>
            <a:r>
              <a:rPr lang="ko-KR" altLang="en-US" dirty="0"/>
              <a:t>       ↓        ↓        ↓        ↓</a:t>
            </a:r>
          </a:p>
          <a:p>
            <a:r>
              <a:rPr lang="ko-KR" altLang="en-US" dirty="0"/>
              <a:t>     피해자    신뢰인   금융관계자 기관담당자*</a:t>
            </a:r>
          </a:p>
          <a:p>
            <a:r>
              <a:rPr lang="ko-KR" altLang="en-US" dirty="0"/>
              <a:t>       ↓        ↓        ↓        ↓</a:t>
            </a:r>
          </a:p>
          <a:p>
            <a:r>
              <a:rPr lang="ko-KR" altLang="en-US" dirty="0"/>
              <a:t>      경고     상황요약   거래위험   사칭확인</a:t>
            </a:r>
          </a:p>
          <a:p>
            <a:r>
              <a:rPr lang="ko-KR" altLang="en-US" dirty="0"/>
              <a:t>      행동안내  검토준비   보호조치   진위검증</a:t>
            </a:r>
          </a:p>
          <a:p>
            <a:endParaRPr lang="ko-KR" altLang="en-US" dirty="0"/>
          </a:p>
          <a:p>
            <a:r>
              <a:rPr lang="ko-KR" altLang="en-US" dirty="0"/>
              <a:t>* 기관담당자는 필요한 경우에만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━━━━━━━━━━ 실제 송금 개입 ━━━━━━━━━━</a:t>
            </a:r>
          </a:p>
          <a:p>
            <a:endParaRPr lang="ko-KR" altLang="en-US" dirty="0"/>
          </a:p>
          <a:p>
            <a:r>
              <a:rPr lang="ko-KR" altLang="en-US" dirty="0"/>
              <a:t>[6. 사용자가 송금 시도]</a:t>
            </a:r>
          </a:p>
          <a:p>
            <a:r>
              <a:rPr lang="ko-KR" altLang="en-US" dirty="0"/>
              <a:t>송금 요청 발생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위험 상태 조회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고위험 조건 해당 여부 판단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[7. 송금방지턱 작동]</a:t>
            </a:r>
          </a:p>
          <a:p>
            <a:r>
              <a:rPr lang="ko-KR" altLang="en-US" dirty="0"/>
              <a:t>고위험이면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즉시 송금 X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거래 일시 보류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해당 송금 Transaction 생성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[8. 신뢰인 최종검토]</a:t>
            </a:r>
          </a:p>
          <a:p>
            <a:r>
              <a:rPr lang="ko-KR" altLang="en-US" dirty="0"/>
              <a:t>사전 등록 신뢰인에게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거래정보 + AI 위험분석 전달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[승인] / [거절]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거절 → 송금 중단</a:t>
            </a:r>
          </a:p>
          <a:p>
            <a:r>
              <a:rPr lang="ko-KR" altLang="en-US" dirty="0"/>
              <a:t>승인 → 다음 검증 단계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[9. 금융기관 독립 검증]</a:t>
            </a:r>
          </a:p>
          <a:p>
            <a:r>
              <a:rPr lang="ko-KR" altLang="en-US" dirty="0"/>
              <a:t>은행/FDS/보안담당자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AI 위험정보 + 거래정보 확인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정상 / 추가확인 / 보류 / 차단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금융기관 자체 보호조치</a:t>
            </a:r>
          </a:p>
          <a:p>
            <a:endParaRPr lang="ko-KR" altLang="en-US" dirty="0"/>
          </a:p>
          <a:p>
            <a:r>
              <a:rPr lang="ko-KR" altLang="en-US" dirty="0"/>
              <a:t>※ 신뢰인 승인 ≠ 자동 송금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[10. 필요 시 공식기관 검증]</a:t>
            </a:r>
          </a:p>
          <a:p>
            <a:r>
              <a:rPr lang="ko-KR" altLang="en-US" dirty="0"/>
              <a:t>기관사칭 탐지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기관 DB/RAG 조회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공식 절차·연락처 검증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필요 시 기관담당자 확인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검증 결과 관계자에게 전달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[11. 최종 거래 처리]</a:t>
            </a:r>
          </a:p>
          <a:p>
            <a:r>
              <a:rPr lang="ko-KR" altLang="en-US" dirty="0"/>
              <a:t>모든 필요한 검증 결과 종합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송금 실행</a:t>
            </a:r>
          </a:p>
          <a:p>
            <a:r>
              <a:rPr lang="ko-KR" altLang="en-US" dirty="0"/>
              <a:t>OR</a:t>
            </a:r>
          </a:p>
          <a:p>
            <a:r>
              <a:rPr lang="ko-KR" altLang="en-US" dirty="0"/>
              <a:t>추가 보류</a:t>
            </a:r>
          </a:p>
          <a:p>
            <a:r>
              <a:rPr lang="ko-KR" altLang="en-US" dirty="0"/>
              <a:t>OR</a:t>
            </a:r>
          </a:p>
          <a:p>
            <a:r>
              <a:rPr lang="ko-KR" altLang="en-US" dirty="0"/>
              <a:t>송금 취소·차단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[12. 사후 리포트]</a:t>
            </a:r>
          </a:p>
          <a:p>
            <a:r>
              <a:rPr lang="ko-KR" altLang="en-US" dirty="0"/>
              <a:t>LLM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피해자 / 신뢰인 / 금융관계자별</a:t>
            </a:r>
          </a:p>
          <a:p>
            <a:r>
              <a:rPr lang="ko-KR" altLang="en-US" dirty="0"/>
              <a:t>맞춤 분석 리포트 생성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기록 저장</a:t>
            </a:r>
          </a:p>
        </p:txBody>
      </p:sp>
    </p:spTree>
    <p:extLst>
      <p:ext uri="{BB962C8B-B14F-4D97-AF65-F5344CB8AC3E}">
        <p14:creationId xmlns:p14="http://schemas.microsoft.com/office/powerpoint/2010/main" val="2053590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340983-5EDB-4C9A-8184-60F2592275E8}"/>
              </a:ext>
            </a:extLst>
          </p:cNvPr>
          <p:cNvSpPr txBox="1"/>
          <p:nvPr/>
        </p:nvSpPr>
        <p:spPr>
          <a:xfrm>
            <a:off x="209550" y="2534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기술 모듈로 나누면 </a:t>
            </a:r>
            <a:r>
              <a:rPr lang="en-US" altLang="ko-KR" dirty="0"/>
              <a:t>8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3F363E-7689-442D-954E-98442BDAC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690900"/>
              </p:ext>
            </p:extLst>
          </p:nvPr>
        </p:nvGraphicFramePr>
        <p:xfrm>
          <a:off x="209550" y="823754"/>
          <a:ext cx="10515600" cy="3840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570860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559529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29260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모듈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주요 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719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① 사용자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권한 관리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신뢰인 등록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검토권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DB, </a:t>
                      </a:r>
                      <a:r>
                        <a:rPr lang="ko-KR" altLang="en-US"/>
                        <a:t>인증</a:t>
                      </a:r>
                      <a:r>
                        <a:rPr lang="en-US" altLang="ko-KR"/>
                        <a:t>, </a:t>
                      </a:r>
                      <a:r>
                        <a:rPr lang="en-US"/>
                        <a:t>CRUD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68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② 음성 처리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통화 → 텍스트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STT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089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③ Feature Engine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ML</a:t>
                      </a:r>
                      <a:r>
                        <a:rPr lang="ko-KR" altLang="en-US"/>
                        <a:t>용 위험 피처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Python/NLP/Rule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151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④ AI Detection Engine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위험확률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맥락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ML + LLM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647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⑤ Risk Engine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최종 위험도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개입수준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ML </a:t>
                      </a:r>
                      <a:r>
                        <a:rPr lang="ko-KR" altLang="en-US"/>
                        <a:t>결과 </a:t>
                      </a:r>
                      <a:r>
                        <a:rPr lang="en-US" altLang="ko-KR"/>
                        <a:t>+ </a:t>
                      </a:r>
                      <a:r>
                        <a:rPr lang="en-US"/>
                        <a:t>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100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⑥ Notification Engine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대상별 맞춤 알림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Push/WebSocket/API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31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⑦ Transaction Guard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송금 보류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신뢰인 승인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거절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Backend + DB + </a:t>
                      </a:r>
                      <a:r>
                        <a:rPr lang="ko-KR" altLang="en-US"/>
                        <a:t>금융 </a:t>
                      </a:r>
                      <a:r>
                        <a:rPr lang="en-US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374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⑧ Verification Engine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금융기관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공식기관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금융사 연계 </a:t>
                      </a:r>
                      <a:r>
                        <a:rPr lang="en-US" altLang="ko-KR" dirty="0"/>
                        <a:t>+ RAG/</a:t>
                      </a:r>
                      <a:r>
                        <a:rPr lang="ko-KR" altLang="en-US" dirty="0"/>
                        <a:t>공식 </a:t>
                      </a:r>
                      <a:r>
                        <a:rPr lang="en-US" altLang="ko-KR" dirty="0"/>
                        <a:t>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080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352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A2B7B1-8978-4C52-971F-0A0D8E33D693}"/>
              </a:ext>
            </a:extLst>
          </p:cNvPr>
          <p:cNvSpPr txBox="1"/>
          <p:nvPr/>
        </p:nvSpPr>
        <p:spPr>
          <a:xfrm>
            <a:off x="297180" y="355848"/>
            <a:ext cx="6096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특히 중요한 부분: AI와 송금방지턱은 별도 시스템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PPT에서 구분해주는 게 좋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음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AI Detection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→ STT → Feature → ML + LLM → 위험도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여기까지는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“위험을 발견하는 기술”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Intervention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위험도 → 알림 → 송금 시도 감지 → 거래보류 → 신뢰인 검토 → 금융기관 독립검증 → 거래 처리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>
                <a:latin typeface="Arial" panose="020B0604020202020204" pitchFamily="34" charset="0"/>
              </a:rPr>
              <a:t>(</a:t>
            </a:r>
            <a:r>
              <a:rPr lang="ko-KR" altLang="en-US" sz="1400" b="1" dirty="0">
                <a:latin typeface="Arial" panose="020B0604020202020204" pitchFamily="34" charset="0"/>
              </a:rPr>
              <a:t>거래보류 </a:t>
            </a:r>
            <a:r>
              <a:rPr lang="en-US" altLang="ko-KR" sz="1400" b="1" dirty="0">
                <a:latin typeface="Arial" panose="020B0604020202020204" pitchFamily="34" charset="0"/>
              </a:rPr>
              <a:t>~ </a:t>
            </a:r>
            <a:r>
              <a:rPr lang="ko-KR" altLang="en-US" sz="1400" b="1" dirty="0">
                <a:latin typeface="Arial" panose="020B0604020202020204" pitchFamily="34" charset="0"/>
              </a:rPr>
              <a:t>독립검증 사이 단계는 동시에 병행되어야 함</a:t>
            </a:r>
            <a:r>
              <a:rPr lang="en-US" altLang="ko-KR" sz="1400" b="1" dirty="0"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여기가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“실제로 피해를 막는 기술”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즉 이 서비스의 핵심은 단순히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AI가 보이스피싱을 잘 맞힌다</a:t>
            </a:r>
            <a:r>
              <a:rPr lang="en-US" altLang="ko-KR" sz="1400" dirty="0"/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아니라,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AI의 판단 결과가 실제 금융거래의 실행 흐름을 변경한다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것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728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07813D-B55B-46A3-968C-432722585B3D}"/>
              </a:ext>
            </a:extLst>
          </p:cNvPr>
          <p:cNvSpPr txBox="1"/>
          <p:nvPr/>
        </p:nvSpPr>
        <p:spPr>
          <a:xfrm>
            <a:off x="137160" y="127754"/>
            <a:ext cx="609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기능 구현 </a:t>
            </a:r>
            <a:r>
              <a:rPr lang="en-US" altLang="ko-KR" dirty="0"/>
              <a:t>Pipeline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BEF7E-CC74-47CD-BCCB-A6ED86191372}"/>
              </a:ext>
            </a:extLst>
          </p:cNvPr>
          <p:cNvSpPr txBox="1"/>
          <p:nvPr/>
        </p:nvSpPr>
        <p:spPr>
          <a:xfrm>
            <a:off x="266700" y="816551"/>
            <a:ext cx="6096000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① 사전 설정</a:t>
            </a:r>
          </a:p>
          <a:p>
            <a:r>
              <a:rPr lang="ko-KR" altLang="en-US" dirty="0"/>
              <a:t>사용자 · 신뢰인 · 검토권 등록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② 통화 분석</a:t>
            </a:r>
          </a:p>
          <a:p>
            <a:r>
              <a:rPr lang="ko-KR" altLang="en-US" dirty="0"/>
              <a:t>음성 → STT → Feature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③ AI 위험 탐지</a:t>
            </a:r>
          </a:p>
          <a:p>
            <a:r>
              <a:rPr lang="ko-KR" altLang="en-US" dirty="0"/>
              <a:t>ML 위험확률 + LLM 맥락분석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④ Risk Engine</a:t>
            </a:r>
          </a:p>
          <a:p>
            <a:r>
              <a:rPr lang="ko-KR" altLang="en-US" dirty="0"/>
              <a:t>최종 위험도 · 개입 수준 결정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⑤ 역할별 맞춤 알림</a:t>
            </a:r>
            <a:r>
              <a:rPr lang="en-US" altLang="ko-KR" dirty="0"/>
              <a:t>(</a:t>
            </a:r>
            <a:r>
              <a:rPr lang="ko-KR" altLang="en-US" dirty="0"/>
              <a:t>레포트</a:t>
            </a:r>
            <a:r>
              <a:rPr lang="en-US" altLang="ko-KR" dirty="0"/>
              <a:t>&amp;</a:t>
            </a:r>
            <a:r>
              <a:rPr lang="ko-KR" altLang="en-US" dirty="0"/>
              <a:t>브리프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ko-KR" altLang="en-US" dirty="0"/>
              <a:t>피해자 · 신뢰인 · 금융관계자 · 기관*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⑥ 피해자의 송금 시도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⑦ Transaction Guard</a:t>
            </a:r>
          </a:p>
          <a:p>
            <a:r>
              <a:rPr lang="ko-KR" altLang="en-US" dirty="0"/>
              <a:t>고위험 거래 일시 보류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⑧ 다중 검증</a:t>
            </a:r>
          </a:p>
          <a:p>
            <a:r>
              <a:rPr lang="ko-KR" altLang="en-US" dirty="0"/>
              <a:t>신뢰인 최종검토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금융기관 독립검증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필요 시 공식기관 검증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⑨ 최종 처리</a:t>
            </a:r>
          </a:p>
          <a:p>
            <a:r>
              <a:rPr lang="ko-KR" altLang="en-US" dirty="0"/>
              <a:t>송금 / 추가보류 / 취소·차단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⑩ 맞춤 리포트·기록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990909-B98C-4EBE-817F-7EA574A7ECAD}"/>
              </a:ext>
            </a:extLst>
          </p:cNvPr>
          <p:cNvSpPr txBox="1"/>
          <p:nvPr/>
        </p:nvSpPr>
        <p:spPr>
          <a:xfrm>
            <a:off x="5422900" y="497086"/>
            <a:ext cx="39243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실시간 통화 분석 → 실제 은행 송금 이벤트 연동 → 거래 일시보류 → 신뢰인 공동검토 → 금융기관 보안 시스템</a:t>
            </a:r>
            <a:r>
              <a:rPr lang="en-US" altLang="ko-KR" dirty="0">
                <a:highlight>
                  <a:srgbClr val="FFFF00"/>
                </a:highlight>
              </a:rPr>
              <a:t>/FDS → </a:t>
            </a:r>
            <a:r>
              <a:rPr lang="ko-KR" altLang="en-US" dirty="0">
                <a:highlight>
                  <a:srgbClr val="FFFF00"/>
                </a:highlight>
              </a:rPr>
              <a:t>실제 거래 처리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/>
              <a:t>“전체 구조를 작동하는 가상 금융거래로 구현하고 실제 도입 시 은행 거래시스템에 연계한다”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1594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1951</Words>
  <Application>Microsoft Office PowerPoint</Application>
  <PresentationFormat>Widescreen</PresentationFormat>
  <Paragraphs>536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 Unicode MS</vt:lpstr>
      <vt:lpstr>맑은 고딕</vt:lpstr>
      <vt:lpstr>Arial</vt:lpstr>
      <vt:lpstr>Office Theme</vt:lpstr>
      <vt:lpstr>기능&amp;기술</vt:lpstr>
      <vt:lpstr>작동 트리거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작동 후 파이프라인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구현 기술 및 파이프라인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mbc</dc:creator>
  <cp:lastModifiedBy>mbc</cp:lastModifiedBy>
  <cp:revision>57</cp:revision>
  <dcterms:created xsi:type="dcterms:W3CDTF">2026-08-24T02:16:18Z</dcterms:created>
  <dcterms:modified xsi:type="dcterms:W3CDTF">2026-08-27T05:32:05Z</dcterms:modified>
</cp:coreProperties>
</file>